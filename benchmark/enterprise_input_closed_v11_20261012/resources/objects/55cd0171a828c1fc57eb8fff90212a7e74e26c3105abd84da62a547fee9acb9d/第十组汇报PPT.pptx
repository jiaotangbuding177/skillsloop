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1" r:id="rId11"/>
    <p:sldId id="262" r:id="rId12"/>
    <p:sldId id="263" r:id="rId13"/>
    <p:sldId id="268" r:id="rId14"/>
    <p:sldId id="265" r:id="rId15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dingtalk.com/qidian/home" TargetMode="External"/><Relationship Id="rId8" Type="http://schemas.openxmlformats.org/officeDocument/2006/relationships/hyperlink" Target="https://open.dingtalk.com/document/" TargetMode="External"/><Relationship Id="rId7" Type="http://schemas.openxmlformats.org/officeDocument/2006/relationships/hyperlink" Target="https://www.dingtalk.com/" TargetMode="External"/><Relationship Id="rId6" Type="http://schemas.openxmlformats.org/officeDocument/2006/relationships/hyperlink" Target="https://work.weixin.qq.com/nl/index/service" TargetMode="External"/><Relationship Id="rId5" Type="http://schemas.openxmlformats.org/officeDocument/2006/relationships/hyperlink" Target="https://open.work.weixin.qq.com/help2/pc/" TargetMode="External"/><Relationship Id="rId4" Type="http://schemas.openxmlformats.org/officeDocument/2006/relationships/hyperlink" Target="https://work.weixin.qq.com/" TargetMode="External"/><Relationship Id="rId3" Type="http://schemas.openxmlformats.org/officeDocument/2006/relationships/hyperlink" Target="https://open.feishu.cn/document/home/index" TargetMode="External"/><Relationship Id="rId28" Type="http://schemas.openxmlformats.org/officeDocument/2006/relationships/slideLayout" Target="../slideLayouts/slideLayout1.xml"/><Relationship Id="rId27" Type="http://schemas.openxmlformats.org/officeDocument/2006/relationships/hyperlink" Target="https://docs.glean.com/" TargetMode="External"/><Relationship Id="rId26" Type="http://schemas.openxmlformats.org/officeDocument/2006/relationships/hyperlink" Target="https://www.notion.so/help/guides/category/ai" TargetMode="External"/><Relationship Id="rId25" Type="http://schemas.openxmlformats.org/officeDocument/2006/relationships/hyperlink" Target="https://www.notion.so/product/ai" TargetMode="External"/><Relationship Id="rId24" Type="http://schemas.openxmlformats.org/officeDocument/2006/relationships/hyperlink" Target="https://www.kingdee.com/products/" TargetMode="External"/><Relationship Id="rId23" Type="http://schemas.openxmlformats.org/officeDocument/2006/relationships/hyperlink" Target="https://www.yonyou.com/product" TargetMode="External"/><Relationship Id="rId22" Type="http://schemas.openxmlformats.org/officeDocument/2006/relationships/hyperlink" Target="https://www.yonyou.com/" TargetMode="External"/><Relationship Id="rId21" Type="http://schemas.openxmlformats.org/officeDocument/2006/relationships/hyperlink" Target="https://press.siemens.com/" TargetMode="External"/><Relationship Id="rId20" Type="http://schemas.openxmlformats.org/officeDocument/2006/relationships/hyperlink" Target="https://www.siemens.com/global/en/products/automation/topic-areas/industrial-ai.html" TargetMode="External"/><Relationship Id="rId2" Type="http://schemas.openxmlformats.org/officeDocument/2006/relationships/hyperlink" Target="https://www.feishu.cn/product/aily" TargetMode="External"/><Relationship Id="rId19" Type="http://schemas.openxmlformats.org/officeDocument/2006/relationships/hyperlink" Target="https://www.siemens.com/global/en/products/automation/topic-areas/industrial-ai/industrial-copilot.html" TargetMode="External"/><Relationship Id="rId18" Type="http://schemas.openxmlformats.org/officeDocument/2006/relationships/hyperlink" Target="https://www.microsoft.com/microsoft-viva" TargetMode="External"/><Relationship Id="rId17" Type="http://schemas.openxmlformats.org/officeDocument/2006/relationships/hyperlink" Target="https://learn.microsoft.com/microsoft-365-copilot/" TargetMode="External"/><Relationship Id="rId16" Type="http://schemas.openxmlformats.org/officeDocument/2006/relationships/hyperlink" Target="https://www.microsoft.com/microsoft-365/copilot" TargetMode="External"/><Relationship Id="rId15" Type="http://schemas.openxmlformats.org/officeDocument/2006/relationships/hyperlink" Target="https://help.aliyun.com/zh/model-studio/user-guide/rag-knowledge-base" TargetMode="External"/><Relationship Id="rId14" Type="http://schemas.openxmlformats.org/officeDocument/2006/relationships/hyperlink" Target="https://help.aliyun.com/zh/model-studio/" TargetMode="External"/><Relationship Id="rId13" Type="http://schemas.openxmlformats.org/officeDocument/2006/relationships/hyperlink" Target="https://bailian.console.aliyun.com/" TargetMode="External"/><Relationship Id="rId12" Type="http://schemas.openxmlformats.org/officeDocument/2006/relationships/hyperlink" Target="https://cloud.tencent.com/document/product" TargetMode="External"/><Relationship Id="rId11" Type="http://schemas.openxmlformats.org/officeDocument/2006/relationships/hyperlink" Target="https://cloud.tencent.com/product/lexiang" TargetMode="External"/><Relationship Id="rId10" Type="http://schemas.openxmlformats.org/officeDocument/2006/relationships/hyperlink" Target="https://lexiang.tencent.com/" TargetMode="External"/><Relationship Id="rId1" Type="http://schemas.openxmlformats.org/officeDocument/2006/relationships/hyperlink" Target="https://www.feishu.cn/hc/zh-CN/articles/360043473877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line-top"/>
          <p:cNvSpPr/>
          <p:nvPr/>
        </p:nvSpPr>
        <p:spPr>
          <a:xfrm>
            <a:off x="762000" y="635000"/>
            <a:ext cx="10668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" name="cover-title"/>
          <p:cNvSpPr txBox="1"/>
          <p:nvPr/>
        </p:nvSpPr>
        <p:spPr>
          <a:xfrm>
            <a:off x="762000" y="1778000"/>
            <a:ext cx="10668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800" b="1">
                <a:solidFill>
                  <a:srgbClr val="1B5E3A"/>
                </a:solidFill>
                <a:latin typeface="MiSans"/>
                <a:ea typeface="MiSans"/>
              </a:rPr>
              <a:t>百雀羚工厂生产管理</a:t>
            </a:r>
            <a:endParaRPr lang="en-US" sz="4800"/>
          </a:p>
          <a:p>
            <a:pPr algn="ctr">
              <a:lnSpc>
                <a:spcPct val="130000"/>
              </a:lnSpc>
            </a:pPr>
            <a:r>
              <a:rPr lang="en-US" sz="4800" b="1">
                <a:solidFill>
                  <a:srgbClr val="1B5E3A"/>
                </a:solidFill>
                <a:latin typeface="MiSans"/>
                <a:ea typeface="MiSans"/>
              </a:rPr>
              <a:t>AI 知识库</a:t>
            </a:r>
            <a:endParaRPr lang="en-US" sz="4800"/>
          </a:p>
        </p:txBody>
      </p:sp>
      <p:sp>
        <p:nvSpPr>
          <p:cNvPr id="4" name="cover-subtitle"/>
          <p:cNvSpPr txBox="1"/>
          <p:nvPr/>
        </p:nvSpPr>
        <p:spPr>
          <a:xfrm>
            <a:off x="762000" y="4064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>
                <a:solidFill>
                  <a:srgbClr val="6B7280"/>
                </a:solidFill>
                <a:latin typeface="MiSans"/>
                <a:ea typeface="MiSans"/>
              </a:rPr>
              <a:t>AI × Design Thinking Bootcamp </a:t>
            </a:r>
            <a:r>
              <a:rPr lang="zh-CN" altLang="en-US" sz="2400">
                <a:solidFill>
                  <a:srgbClr val="6B7280"/>
                </a:solidFill>
                <a:latin typeface="MiSans"/>
                <a:ea typeface="MiSans"/>
              </a:rPr>
              <a:t>第十组</a:t>
            </a:r>
            <a:endParaRPr lang="zh-CN" altLang="en-US" sz="2400">
              <a:solidFill>
                <a:srgbClr val="6B7280"/>
              </a:solidFill>
              <a:latin typeface="MiSans"/>
              <a:ea typeface="MiSans"/>
            </a:endParaRPr>
          </a:p>
        </p:txBody>
      </p:sp>
      <p:sp>
        <p:nvSpPr>
          <p:cNvPr id="5" name="cover-names"/>
          <p:cNvSpPr txBox="1"/>
          <p:nvPr/>
        </p:nvSpPr>
        <p:spPr>
          <a:xfrm>
            <a:off x="762000" y="4826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1B5E3A"/>
                </a:solidFill>
                <a:latin typeface="MiSans"/>
                <a:ea typeface="MiSans"/>
              </a:rPr>
              <a:t>杨云天　　周楚涵　　沈天恩</a:t>
            </a:r>
            <a:endParaRPr lang="en-US" sz="2600"/>
          </a:p>
        </p:txBody>
      </p:sp>
      <p:sp>
        <p:nvSpPr>
          <p:cNvPr id="6" name="cover-date"/>
          <p:cNvSpPr txBox="1"/>
          <p:nvPr/>
        </p:nvSpPr>
        <p:spPr>
          <a:xfrm>
            <a:off x="762000" y="558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sz="1800"/>
          </a:p>
        </p:txBody>
      </p:sp>
      <p:sp>
        <p:nvSpPr>
          <p:cNvPr id="7" name="accent-line-bottom"/>
          <p:cNvSpPr/>
          <p:nvPr/>
        </p:nvSpPr>
        <p:spPr>
          <a:xfrm>
            <a:off x="762000" y="6223000"/>
            <a:ext cx="10668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背景与挑战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pain-1-num"/>
          <p:cNvSpPr txBox="1"/>
          <p:nvPr/>
        </p:nvSpPr>
        <p:spPr>
          <a:xfrm>
            <a:off x="762000" y="165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C9A227"/>
                </a:solidFill>
                <a:latin typeface="MiSans"/>
                <a:ea typeface="MiSans"/>
              </a:rPr>
              <a:t>01</a:t>
            </a:r>
            <a:endParaRPr lang="en-US" sz="3600"/>
          </a:p>
        </p:txBody>
      </p:sp>
      <p:sp>
        <p:nvSpPr>
          <p:cNvPr id="5" name="pain-1-text"/>
          <p:cNvSpPr txBox="1"/>
          <p:nvPr/>
        </p:nvSpPr>
        <p:spPr>
          <a:xfrm>
            <a:off x="1778000" y="1651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版本混乱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：一份 SOP 同时存在纸质夹、共享盘、微信群，版本不一致是常态</a:t>
            </a:r>
            <a:endParaRPr lang="en-US" sz="2200"/>
          </a:p>
        </p:txBody>
      </p:sp>
      <p:sp>
        <p:nvSpPr>
          <p:cNvPr id="6" name="divider-1"/>
          <p:cNvSpPr/>
          <p:nvPr/>
        </p:nvSpPr>
        <p:spPr>
          <a:xfrm>
            <a:off x="762000" y="2603500"/>
            <a:ext cx="1066800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7" name="pain-2-num"/>
          <p:cNvSpPr txBox="1"/>
          <p:nvPr/>
        </p:nvSpPr>
        <p:spPr>
          <a:xfrm>
            <a:off x="762000" y="292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C9A227"/>
                </a:solidFill>
                <a:latin typeface="MiSans"/>
                <a:ea typeface="MiSans"/>
              </a:rPr>
              <a:t>02</a:t>
            </a:r>
            <a:endParaRPr lang="en-US" sz="3600"/>
          </a:p>
        </p:txBody>
      </p:sp>
      <p:sp>
        <p:nvSpPr>
          <p:cNvPr id="8" name="pain-2-text"/>
          <p:cNvSpPr txBox="1"/>
          <p:nvPr/>
        </p:nvSpPr>
        <p:spPr>
          <a:xfrm>
            <a:off x="1778000" y="2921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响应滞后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：夜班故障时等答复平均超半小时，停线每分钟都在计损失</a:t>
            </a:r>
            <a:endParaRPr lang="en-US" sz="2200"/>
          </a:p>
        </p:txBody>
      </p:sp>
      <p:sp>
        <p:nvSpPr>
          <p:cNvPr id="9" name="divider-2"/>
          <p:cNvSpPr/>
          <p:nvPr/>
        </p:nvSpPr>
        <p:spPr>
          <a:xfrm>
            <a:off x="762000" y="3873500"/>
            <a:ext cx="1066800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pain-3-num"/>
          <p:cNvSpPr txBox="1"/>
          <p:nvPr/>
        </p:nvSpPr>
        <p:spPr>
          <a:xfrm>
            <a:off x="762000" y="419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C9A227"/>
                </a:solidFill>
                <a:latin typeface="MiSans"/>
                <a:ea typeface="MiSans"/>
              </a:rPr>
              <a:t>03</a:t>
            </a:r>
            <a:endParaRPr lang="en-US" sz="3600"/>
          </a:p>
        </p:txBody>
      </p:sp>
      <p:sp>
        <p:nvSpPr>
          <p:cNvPr id="11" name="pain-3-text"/>
          <p:cNvSpPr txBox="1"/>
          <p:nvPr/>
        </p:nvSpPr>
        <p:spPr>
          <a:xfrm>
            <a:off x="1778000" y="4191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知识流失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：经验绑在老员工脑子里，人走经验就走，新人培养周期长</a:t>
            </a:r>
            <a:endParaRPr lang="en-US" sz="2200"/>
          </a:p>
        </p:txBody>
      </p:sp>
      <p:sp>
        <p:nvSpPr>
          <p:cNvPr id="12" name="divider-3"/>
          <p:cNvSpPr/>
          <p:nvPr/>
        </p:nvSpPr>
        <p:spPr>
          <a:xfrm>
            <a:off x="762000" y="5143500"/>
            <a:ext cx="1066800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3" name="summary"/>
          <p:cNvSpPr txBox="1"/>
          <p:nvPr/>
        </p:nvSpPr>
        <p:spPr>
          <a:xfrm>
            <a:off x="762000" y="5461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1B5E3A"/>
                </a:solidFill>
                <a:latin typeface="MiSans"/>
                <a:ea typeface="MiSans"/>
              </a:rPr>
              <a:t>这不是"再做一个搜索框"，而是知识治理 + 权限边界 + 信任建立的问题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用户画像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left-label"/>
          <p:cNvSpPr txBox="1"/>
          <p:nvPr/>
        </p:nvSpPr>
        <p:spPr>
          <a:xfrm>
            <a:off x="762000" y="1524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一线执行岗</a:t>
            </a:r>
            <a:endParaRPr lang="en-US" sz="2800"/>
          </a:p>
        </p:txBody>
      </p:sp>
      <p:sp>
        <p:nvSpPr>
          <p:cNvPr id="5" name="left-desc"/>
          <p:cNvSpPr txBox="1"/>
          <p:nvPr/>
        </p:nvSpPr>
        <p:spPr>
          <a:xfrm>
            <a:off x="762000" y="2095500"/>
            <a:ext cx="508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生产操作工、质检员、设备维保工程师</a:t>
            </a:r>
            <a:endParaRPr lang="en-US" sz="220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文档分散，版本对不上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异常时第一反应是问人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知识绑在老员工脑子里</a:t>
            </a:r>
            <a:endParaRPr lang="en-US" sz="2200"/>
          </a:p>
        </p:txBody>
      </p:sp>
      <p:sp>
        <p:nvSpPr>
          <p:cNvPr id="6" name="left-need"/>
          <p:cNvSpPr txBox="1"/>
          <p:nvPr/>
        </p:nvSpPr>
        <p:spPr>
          <a:xfrm>
            <a:off x="762000" y="4445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核心诉求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一句话问出标准答案，带出处、敢照着做</a:t>
            </a:r>
            <a:endParaRPr lang="en-US" sz="2200"/>
          </a:p>
        </p:txBody>
      </p:sp>
      <p:sp>
        <p:nvSpPr>
          <p:cNvPr id="7" name="center-line"/>
          <p:cNvSpPr/>
          <p:nvPr/>
        </p:nvSpPr>
        <p:spPr>
          <a:xfrm>
            <a:off x="6096000" y="1524000"/>
            <a:ext cx="25400" cy="35560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8" name="right-label"/>
          <p:cNvSpPr txBox="1"/>
          <p:nvPr/>
        </p:nvSpPr>
        <p:spPr>
          <a:xfrm>
            <a:off x="6604000" y="1524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部门管理岗</a:t>
            </a:r>
            <a:endParaRPr lang="en-US" sz="2800"/>
          </a:p>
        </p:txBody>
      </p:sp>
      <p:sp>
        <p:nvSpPr>
          <p:cNvPr id="9" name="right-desc"/>
          <p:cNvSpPr txBox="1"/>
          <p:nvPr/>
        </p:nvSpPr>
        <p:spPr>
          <a:xfrm>
            <a:off x="6604000" y="2095500"/>
            <a:ext cx="508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班组长、车间主管</a:t>
            </a:r>
            <a:endParaRPr lang="en-US" sz="220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一天被重复问很多次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带新人反复讲同样内容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跨部门口径不一致</a:t>
            </a:r>
            <a:endParaRPr lang="en-US" sz="2200"/>
          </a:p>
        </p:txBody>
      </p:sp>
      <p:sp>
        <p:nvSpPr>
          <p:cNvPr id="10" name="right-need"/>
          <p:cNvSpPr txBox="1"/>
          <p:nvPr/>
        </p:nvSpPr>
        <p:spPr>
          <a:xfrm>
            <a:off x="6604000" y="4445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核心诉求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有个"嘴替"先答常见问，自己只做复核</a:t>
            </a:r>
            <a:endParaRPr lang="en-US" sz="2200"/>
          </a:p>
        </p:txBody>
      </p:sp>
      <p:sp>
        <p:nvSpPr>
          <p:cNvPr id="11" name="bottom-summary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1B5E3A"/>
                </a:solidFill>
                <a:latin typeface="MiSans"/>
                <a:ea typeface="MiSans"/>
              </a:rPr>
              <a:t>共同痛点：文档分散 · 检索低效 · 知识绑人 · 口径不一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问题定义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pov-label"/>
          <p:cNvSpPr txBox="1"/>
          <p:nvPr/>
        </p:nvSpPr>
        <p:spPr>
          <a:xfrm>
            <a:off x="762000" y="1524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POV</a:t>
            </a:r>
            <a:endParaRPr lang="en-US" sz="2800"/>
          </a:p>
        </p:txBody>
      </p:sp>
      <p:sp>
        <p:nvSpPr>
          <p:cNvPr id="5" name="pov-box"/>
          <p:cNvSpPr/>
          <p:nvPr/>
        </p:nvSpPr>
        <p:spPr>
          <a:xfrm>
            <a:off x="762000" y="2095500"/>
            <a:ext cx="10668000" cy="165100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6" name="pov-text"/>
          <p:cNvSpPr txBox="1"/>
          <p:nvPr/>
        </p:nvSpPr>
        <p:spPr>
          <a:xfrm>
            <a:off x="1016000" y="2159000"/>
            <a:ext cx="1016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一线员工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需要在产线异常时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秒级获得本岗位可执行的标准答案</a:t>
            </a:r>
            <a:endParaRPr lang="en-US" sz="220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真正缺的不是搜索引擎，而是一个懂部门边界、回答带出处、不编造规程的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"岗位嘴替"</a:t>
            </a:r>
            <a:endParaRPr lang="en-US" sz="2200"/>
          </a:p>
        </p:txBody>
      </p:sp>
      <p:sp>
        <p:nvSpPr>
          <p:cNvPr id="7" name="hmw-label"/>
          <p:cNvSpPr txBox="1"/>
          <p:nvPr/>
        </p:nvSpPr>
        <p:spPr>
          <a:xfrm>
            <a:off x="762000" y="4064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HMW</a:t>
            </a:r>
            <a:endParaRPr lang="en-US" sz="2800"/>
          </a:p>
        </p:txBody>
      </p:sp>
      <p:sp>
        <p:nvSpPr>
          <p:cNvPr id="8" name="hmw-1"/>
          <p:cNvSpPr txBox="1"/>
          <p:nvPr/>
        </p:nvSpPr>
        <p:spPr>
          <a:xfrm>
            <a:off x="762000" y="4635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HMW 1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　如何让员工只问一句话，拿到合并后的标准答案？</a:t>
            </a:r>
            <a:endParaRPr lang="en-US" sz="2200"/>
          </a:p>
        </p:txBody>
      </p:sp>
      <p:sp>
        <p:nvSpPr>
          <p:cNvPr id="9" name="hmw-2"/>
          <p:cNvSpPr txBox="1"/>
          <p:nvPr/>
        </p:nvSpPr>
        <p:spPr>
          <a:xfrm>
            <a:off x="762000" y="5397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C9A227"/>
                </a:solidFill>
                <a:latin typeface="MiSans"/>
                <a:ea typeface="MiSans"/>
              </a:rPr>
              <a:t>HMW 2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　如何让 AI 回答自带证据，让主管愿意让它先答一轮？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技术方案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core-idea"/>
          <p:cNvSpPr txBox="1"/>
          <p:nvPr/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1B5E3A"/>
                </a:solidFill>
                <a:latin typeface="MiSans"/>
                <a:ea typeface="MiSans"/>
              </a:rPr>
              <a:t>核心思路：部门化 RAG + 意图路由 + 引用溯源</a:t>
            </a:r>
            <a:endParaRPr lang="en-US" sz="2400"/>
          </a:p>
        </p:txBody>
      </p:sp>
      <p:sp>
        <p:nvSpPr>
          <p:cNvPr id="5" name="flow-bg1"/>
          <p:cNvSpPr/>
          <p:nvPr/>
        </p:nvSpPr>
        <p:spPr>
          <a:xfrm>
            <a:off x="762000" y="2159000"/>
            <a:ext cx="1651000" cy="457200"/>
          </a:xfrm>
          <a:prstGeom prst="rect">
            <a:avLst/>
          </a:prstGeom>
          <a:solidFill>
            <a:srgbClr val="1B5E3A"/>
          </a:solidFill>
          <a:ln>
            <a:noFill/>
          </a:ln>
        </p:spPr>
      </p:sp>
      <p:sp>
        <p:nvSpPr>
          <p:cNvPr id="6" name="flow-step1"/>
          <p:cNvSpPr txBox="1"/>
          <p:nvPr/>
        </p:nvSpPr>
        <p:spPr>
          <a:xfrm>
            <a:off x="762000" y="2159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用户登录</a:t>
            </a:r>
            <a:endParaRPr lang="en-US" sz="1800"/>
          </a:p>
        </p:txBody>
      </p:sp>
      <p:sp>
        <p:nvSpPr>
          <p:cNvPr id="7" name="flow-arrow1"/>
          <p:cNvSpPr txBox="1"/>
          <p:nvPr/>
        </p:nvSpPr>
        <p:spPr>
          <a:xfrm>
            <a:off x="2476500" y="2159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6B7280"/>
                </a:solidFill>
                <a:latin typeface="MiSans"/>
                <a:ea typeface="MiSans"/>
              </a:rPr>
              <a:t>→</a:t>
            </a:r>
            <a:endParaRPr lang="en-US" sz="2000"/>
          </a:p>
        </p:txBody>
      </p:sp>
      <p:sp>
        <p:nvSpPr>
          <p:cNvPr id="8" name="flow-bg2"/>
          <p:cNvSpPr/>
          <p:nvPr/>
        </p:nvSpPr>
        <p:spPr>
          <a:xfrm>
            <a:off x="2921000" y="2159000"/>
            <a:ext cx="1651000" cy="457200"/>
          </a:xfrm>
          <a:prstGeom prst="rect">
            <a:avLst/>
          </a:prstGeom>
          <a:solidFill>
            <a:srgbClr val="1B5E3A"/>
          </a:solidFill>
          <a:ln>
            <a:noFill/>
          </a:ln>
        </p:spPr>
      </p:sp>
      <p:sp>
        <p:nvSpPr>
          <p:cNvPr id="9" name="flow-step2"/>
          <p:cNvSpPr txBox="1"/>
          <p:nvPr/>
        </p:nvSpPr>
        <p:spPr>
          <a:xfrm>
            <a:off x="2921000" y="2159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意图路由</a:t>
            </a:r>
            <a:endParaRPr lang="en-US" sz="1800"/>
          </a:p>
        </p:txBody>
      </p:sp>
      <p:sp>
        <p:nvSpPr>
          <p:cNvPr id="10" name="flow-arrow2"/>
          <p:cNvSpPr txBox="1"/>
          <p:nvPr/>
        </p:nvSpPr>
        <p:spPr>
          <a:xfrm>
            <a:off x="4635500" y="2159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6B7280"/>
                </a:solidFill>
                <a:latin typeface="MiSans"/>
                <a:ea typeface="MiSans"/>
              </a:rPr>
              <a:t>→</a:t>
            </a:r>
            <a:endParaRPr lang="en-US" sz="2000"/>
          </a:p>
        </p:txBody>
      </p:sp>
      <p:sp>
        <p:nvSpPr>
          <p:cNvPr id="11" name="flow-bg3"/>
          <p:cNvSpPr/>
          <p:nvPr/>
        </p:nvSpPr>
        <p:spPr>
          <a:xfrm>
            <a:off x="5080000" y="2159000"/>
            <a:ext cx="1651000" cy="457200"/>
          </a:xfrm>
          <a:prstGeom prst="rect">
            <a:avLst/>
          </a:prstGeom>
          <a:solidFill>
            <a:srgbClr val="1B5E3A"/>
          </a:solidFill>
          <a:ln>
            <a:noFill/>
          </a:ln>
        </p:spPr>
      </p:sp>
      <p:sp>
        <p:nvSpPr>
          <p:cNvPr id="12" name="flow-step3"/>
          <p:cNvSpPr txBox="1"/>
          <p:nvPr/>
        </p:nvSpPr>
        <p:spPr>
          <a:xfrm>
            <a:off x="5080000" y="2159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部门化检索</a:t>
            </a:r>
            <a:endParaRPr lang="en-US" sz="1800"/>
          </a:p>
        </p:txBody>
      </p:sp>
      <p:sp>
        <p:nvSpPr>
          <p:cNvPr id="13" name="flow-arrow3"/>
          <p:cNvSpPr txBox="1"/>
          <p:nvPr/>
        </p:nvSpPr>
        <p:spPr>
          <a:xfrm>
            <a:off x="6794500" y="2159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6B7280"/>
                </a:solidFill>
                <a:latin typeface="MiSans"/>
                <a:ea typeface="MiSans"/>
              </a:rPr>
              <a:t>→</a:t>
            </a:r>
            <a:endParaRPr lang="en-US" sz="2000"/>
          </a:p>
        </p:txBody>
      </p:sp>
      <p:sp>
        <p:nvSpPr>
          <p:cNvPr id="14" name="flow-bg4"/>
          <p:cNvSpPr/>
          <p:nvPr/>
        </p:nvSpPr>
        <p:spPr>
          <a:xfrm>
            <a:off x="7239000" y="2159000"/>
            <a:ext cx="1651000" cy="457200"/>
          </a:xfrm>
          <a:prstGeom prst="rect">
            <a:avLst/>
          </a:prstGeom>
          <a:solidFill>
            <a:srgbClr val="1B5E3A"/>
          </a:solidFill>
          <a:ln>
            <a:noFill/>
          </a:ln>
        </p:spPr>
      </p:sp>
      <p:sp>
        <p:nvSpPr>
          <p:cNvPr id="15" name="flow-step4"/>
          <p:cNvSpPr txBox="1"/>
          <p:nvPr/>
        </p:nvSpPr>
        <p:spPr>
          <a:xfrm>
            <a:off x="7239000" y="2159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拼 Prompt</a:t>
            </a:r>
            <a:endParaRPr lang="en-US" sz="1800"/>
          </a:p>
        </p:txBody>
      </p:sp>
      <p:sp>
        <p:nvSpPr>
          <p:cNvPr id="16" name="flow-arrow4"/>
          <p:cNvSpPr txBox="1"/>
          <p:nvPr/>
        </p:nvSpPr>
        <p:spPr>
          <a:xfrm>
            <a:off x="8953500" y="2159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6B7280"/>
                </a:solidFill>
                <a:latin typeface="MiSans"/>
                <a:ea typeface="MiSans"/>
              </a:rPr>
              <a:t>→</a:t>
            </a:r>
            <a:endParaRPr lang="en-US" sz="2000"/>
          </a:p>
        </p:txBody>
      </p:sp>
      <p:sp>
        <p:nvSpPr>
          <p:cNvPr id="17" name="flow-bg5"/>
          <p:cNvSpPr/>
          <p:nvPr/>
        </p:nvSpPr>
        <p:spPr>
          <a:xfrm>
            <a:off x="9398000" y="2159000"/>
            <a:ext cx="203200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8" name="flow-step5"/>
          <p:cNvSpPr txBox="1"/>
          <p:nvPr/>
        </p:nvSpPr>
        <p:spPr>
          <a:xfrm>
            <a:off x="9398000" y="215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流式回答+引用</a:t>
            </a:r>
            <a:endParaRPr lang="en-US" sz="1800"/>
          </a:p>
        </p:txBody>
      </p:sp>
      <p:sp>
        <p:nvSpPr>
          <p:cNvPr id="19" name="design-label"/>
          <p:cNvSpPr txBox="1"/>
          <p:nvPr/>
        </p:nvSpPr>
        <p:spPr>
          <a:xfrm>
            <a:off x="762000" y="29845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三个关键设计</a:t>
            </a:r>
            <a:endParaRPr lang="en-US" sz="2800"/>
          </a:p>
        </p:txBody>
      </p:sp>
      <p:sp>
        <p:nvSpPr>
          <p:cNvPr id="20" name="design-1-num"/>
          <p:cNvSpPr txBox="1"/>
          <p:nvPr/>
        </p:nvSpPr>
        <p:spPr>
          <a:xfrm>
            <a:off x="762000" y="3619500"/>
            <a:ext cx="63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C9A227"/>
                </a:solidFill>
                <a:latin typeface="MiSans"/>
                <a:ea typeface="MiSans"/>
              </a:rPr>
              <a:t>1</a:t>
            </a:r>
            <a:endParaRPr lang="en-US" sz="2800"/>
          </a:p>
        </p:txBody>
      </p:sp>
      <p:sp>
        <p:nvSpPr>
          <p:cNvPr id="21" name="design-1"/>
          <p:cNvSpPr txBox="1"/>
          <p:nvPr/>
        </p:nvSpPr>
        <p:spPr>
          <a:xfrm>
            <a:off x="1397000" y="3619500"/>
            <a:ext cx="1003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两层知识范围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：公司总体库 ∪ 本部门库，部门私有库严格隔离</a:t>
            </a:r>
            <a:endParaRPr lang="en-US" sz="2200"/>
          </a:p>
        </p:txBody>
      </p:sp>
      <p:sp>
        <p:nvSpPr>
          <p:cNvPr id="22" name="design-2-num"/>
          <p:cNvSpPr txBox="1"/>
          <p:nvPr/>
        </p:nvSpPr>
        <p:spPr>
          <a:xfrm>
            <a:off x="762000" y="4318000"/>
            <a:ext cx="63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C9A227"/>
                </a:solidFill>
                <a:latin typeface="MiSans"/>
                <a:ea typeface="MiSans"/>
              </a:rPr>
              <a:t>2</a:t>
            </a:r>
            <a:endParaRPr lang="en-US" sz="2800"/>
          </a:p>
        </p:txBody>
      </p:sp>
      <p:sp>
        <p:nvSpPr>
          <p:cNvPr id="23" name="design-2"/>
          <p:cNvSpPr txBox="1"/>
          <p:nvPr/>
        </p:nvSpPr>
        <p:spPr>
          <a:xfrm>
            <a:off x="1397000" y="4318000"/>
            <a:ext cx="1003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回答必须带出处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：附文档名 + 原文片段，可直接截图留痕</a:t>
            </a:r>
            <a:endParaRPr lang="en-US" sz="2200"/>
          </a:p>
        </p:txBody>
      </p:sp>
      <p:sp>
        <p:nvSpPr>
          <p:cNvPr id="24" name="design-3-num"/>
          <p:cNvSpPr txBox="1"/>
          <p:nvPr/>
        </p:nvSpPr>
        <p:spPr>
          <a:xfrm>
            <a:off x="762000" y="5016500"/>
            <a:ext cx="63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C9A227"/>
                </a:solidFill>
                <a:latin typeface="MiSans"/>
                <a:ea typeface="MiSans"/>
              </a:rPr>
              <a:t>3</a:t>
            </a:r>
            <a:endParaRPr lang="en-US" sz="2800"/>
          </a:p>
        </p:txBody>
      </p:sp>
      <p:sp>
        <p:nvSpPr>
          <p:cNvPr id="25" name="design-3"/>
          <p:cNvSpPr txBox="1"/>
          <p:nvPr/>
        </p:nvSpPr>
        <p:spPr>
          <a:xfrm>
            <a:off x="1397000" y="5016500"/>
            <a:ext cx="1003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流式输出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：逐字出现，减少等待焦虑，贴合产线场景</a:t>
            </a:r>
            <a:endParaRPr lang="en-US" sz="2200"/>
          </a:p>
        </p:txBody>
      </p:sp>
      <p:sp>
        <p:nvSpPr>
          <p:cNvPr id="26" name="tech-stack"/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6B7280"/>
                </a:solidFill>
                <a:latin typeface="MiSans"/>
                <a:ea typeface="MiSans"/>
              </a:rPr>
              <a:t>Vue 3 · FastAPI · FAISS · SQLite · 通义千问 / 华东师大网关大模型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57200"/>
            <a:ext cx="6217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B5E3A"/>
                </a:solidFill>
                <a:latin typeface="MiSans"/>
              </a:rPr>
              <a:t>功能架构图</a:t>
            </a:r>
            <a:endParaRPr sz="3200" b="1">
              <a:solidFill>
                <a:srgbClr val="1B5E3A"/>
              </a:solidFill>
              <a:latin typeface="Mi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8952" y="1115568"/>
            <a:ext cx="1527048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4A7C59"/>
                </a:solidFill>
                <a:latin typeface="MiSans"/>
              </a:rPr>
              <a:t>身份与部门决定功能入口，检索范围收敛到“公司总体 + 当前部门”</a:t>
            </a:r>
            <a:endParaRPr sz="1600" b="0">
              <a:solidFill>
                <a:srgbClr val="4A7C59"/>
              </a:solidFill>
              <a:latin typeface="MiSans"/>
            </a:endParaRPr>
          </a:p>
        </p:txBody>
      </p:sp>
      <p:pic>
        <p:nvPicPr>
          <p:cNvPr id="5" name="Picture 4" descr="b4a49559f3b70baed951104b3eb63043(1)_cropp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166" y="1700784"/>
            <a:ext cx="7648619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57200"/>
            <a:ext cx="6217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B5E3A"/>
                </a:solidFill>
                <a:latin typeface="MiSans"/>
              </a:rPr>
              <a:t>RAG 流程图</a:t>
            </a:r>
            <a:endParaRPr sz="3200" b="1">
              <a:solidFill>
                <a:srgbClr val="1B5E3A"/>
              </a:solidFill>
              <a:latin typeface="Mi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8952" y="1115568"/>
            <a:ext cx="1527048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4A7C59"/>
                </a:solidFill>
                <a:latin typeface="MiSans"/>
              </a:rPr>
              <a:t>意图路由、部门过滤、引用溯源与后台离线入库形成闭环</a:t>
            </a:r>
            <a:endParaRPr sz="1600" b="0">
              <a:solidFill>
                <a:srgbClr val="4A7C59"/>
              </a:solidFill>
              <a:latin typeface="MiSans"/>
            </a:endParaRPr>
          </a:p>
        </p:txBody>
      </p:sp>
      <p:pic>
        <p:nvPicPr>
          <p:cNvPr id="5" name="Picture 4" descr="94707d3d12080dc64a419999ae39bb57_cropp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6" y="1700784"/>
            <a:ext cx="10831238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原型展示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feature-1"/>
          <p:cNvSpPr txBox="1"/>
          <p:nvPr/>
        </p:nvSpPr>
        <p:spPr>
          <a:xfrm>
            <a:off x="762000" y="169164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登录绑定部门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决定可见范围与功能入口</a:t>
            </a:r>
            <a:endParaRPr lang="en-US" sz="2200"/>
          </a:p>
        </p:txBody>
      </p:sp>
      <p:sp>
        <p:nvSpPr>
          <p:cNvPr id="6" name="feature-2"/>
          <p:cNvSpPr txBox="1"/>
          <p:nvPr/>
        </p:nvSpPr>
        <p:spPr>
          <a:xfrm>
            <a:off x="6604000" y="169164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流式回答 + 引用溯源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逐字输出，右侧 chip 可悬停查看原文</a:t>
            </a:r>
            <a:endParaRPr lang="en-US" sz="2200"/>
          </a:p>
        </p:txBody>
      </p:sp>
      <p:sp>
        <p:nvSpPr>
          <p:cNvPr id="7" name="feature-3"/>
          <p:cNvSpPr txBox="1"/>
          <p:nvPr/>
        </p:nvSpPr>
        <p:spPr>
          <a:xfrm>
            <a:off x="762000" y="283464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部门隔离生效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同问题不同部门，回答范围自动变化</a:t>
            </a:r>
            <a:endParaRPr lang="en-US" sz="2200"/>
          </a:p>
        </p:txBody>
      </p:sp>
      <p:sp>
        <p:nvSpPr>
          <p:cNvPr id="8" name="feature-4"/>
          <p:cNvSpPr txBox="1"/>
          <p:nvPr/>
        </p:nvSpPr>
        <p:spPr>
          <a:xfrm>
            <a:off x="6604000" y="283464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知识问答 + 主管审核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随机抽题即时判分，反馈闭环带未读角标</a:t>
            </a:r>
            <a:endParaRPr lang="en-US" sz="2200"/>
          </a:p>
        </p:txBody>
      </p:sp>
      <p:sp>
        <p:nvSpPr>
          <p:cNvPr id="9" name="divider-mid"/>
          <p:cNvSpPr/>
          <p:nvPr/>
        </p:nvSpPr>
        <p:spPr>
          <a:xfrm>
            <a:off x="762000" y="3977640"/>
            <a:ext cx="1066800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trust-quote"/>
          <p:cNvSpPr txBox="1"/>
          <p:nvPr/>
        </p:nvSpPr>
        <p:spPr>
          <a:xfrm>
            <a:off x="762000" y="463931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1B5E3A"/>
                </a:solidFill>
                <a:latin typeface="MiSans"/>
                <a:ea typeface="MiSans"/>
              </a:rPr>
              <a:t>用户不是不会问，而是不敢信</a:t>
            </a:r>
            <a:endParaRPr lang="en-US" sz="2400"/>
          </a:p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1B5E3A"/>
                </a:solidFill>
                <a:latin typeface="MiSans"/>
                <a:ea typeface="MiSans"/>
              </a:rPr>
              <a:t>引用溯源是建立信任的第一步</a:t>
            </a: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AI 协同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ai-role-label"/>
          <p:cNvSpPr txBox="1"/>
          <p:nvPr/>
        </p:nvSpPr>
        <p:spPr>
          <a:xfrm>
            <a:off x="762000" y="1524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AI 扮演的角色</a:t>
            </a:r>
            <a:endParaRPr lang="en-US" sz="2800"/>
          </a:p>
        </p:txBody>
      </p:sp>
      <p:sp>
        <p:nvSpPr>
          <p:cNvPr id="5" name="ai-discover"/>
          <p:cNvSpPr txBox="1"/>
          <p:nvPr/>
        </p:nvSpPr>
        <p:spPr>
          <a:xfrm>
            <a:off x="762000" y="2095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Research Partner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辅助整理访谈、提炼痛点</a:t>
            </a:r>
            <a:endParaRPr lang="en-US" sz="2200"/>
          </a:p>
        </p:txBody>
      </p:sp>
      <p:sp>
        <p:nvSpPr>
          <p:cNvPr id="6" name="ai-create"/>
          <p:cNvSpPr txBox="1"/>
          <p:nvPr/>
        </p:nvSpPr>
        <p:spPr>
          <a:xfrm>
            <a:off x="762000" y="3111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Creative Partner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发散 HMW、起草用户画像</a:t>
            </a:r>
            <a:endParaRPr lang="en-US" sz="2200"/>
          </a:p>
        </p:txBody>
      </p:sp>
      <p:sp>
        <p:nvSpPr>
          <p:cNvPr id="7" name="ai-build"/>
          <p:cNvSpPr txBox="1"/>
          <p:nvPr/>
        </p:nvSpPr>
        <p:spPr>
          <a:xfrm>
            <a:off x="762000" y="4127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Pair Programmer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辅助生成代码骨架与分块逻辑</a:t>
            </a:r>
            <a:endParaRPr lang="en-US" sz="2200"/>
          </a:p>
        </p:txBody>
      </p:sp>
      <p:sp>
        <p:nvSpPr>
          <p:cNvPr id="8" name="center-line"/>
          <p:cNvSpPr/>
          <p:nvPr/>
        </p:nvSpPr>
        <p:spPr>
          <a:xfrm>
            <a:off x="6096000" y="1524000"/>
            <a:ext cx="25400" cy="35560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9" name="human-label"/>
          <p:cNvSpPr txBox="1"/>
          <p:nvPr/>
        </p:nvSpPr>
        <p:spPr>
          <a:xfrm>
            <a:off x="6604000" y="1524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人做的关键判断</a:t>
            </a:r>
            <a:endParaRPr lang="en-US" sz="2800"/>
          </a:p>
        </p:txBody>
      </p:sp>
      <p:sp>
        <p:nvSpPr>
          <p:cNvPr id="10" name="human-1"/>
          <p:cNvSpPr txBox="1"/>
          <p:nvPr/>
        </p:nvSpPr>
        <p:spPr>
          <a:xfrm>
            <a:off x="6604000" y="2095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面对面访谈、观察真实反应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判断原话是客套还是真实痛点</a:t>
            </a:r>
            <a:endParaRPr lang="en-US" sz="2200"/>
          </a:p>
        </p:txBody>
      </p:sp>
      <p:sp>
        <p:nvSpPr>
          <p:cNvPr id="11" name="human-2"/>
          <p:cNvSpPr txBox="1"/>
          <p:nvPr/>
        </p:nvSpPr>
        <p:spPr>
          <a:xfrm>
            <a:off x="6604000" y="3111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决定方向选择、功能取舍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按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职位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而非年龄分层用户</a:t>
            </a:r>
            <a:endParaRPr lang="en-US" sz="2200"/>
          </a:p>
        </p:txBody>
      </p:sp>
      <p:sp>
        <p:nvSpPr>
          <p:cNvPr id="12" name="human-3"/>
          <p:cNvSpPr txBox="1"/>
          <p:nvPr/>
        </p:nvSpPr>
        <p:spPr>
          <a:xfrm>
            <a:off x="6604000" y="41275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现场判断回答"敢不敢照着做"</a:t>
            </a:r>
            <a:endParaRPr lang="en-US" sz="2200"/>
          </a:p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保留引用溯源作为基本项</a:t>
            </a:r>
            <a:endParaRPr lang="en-US" sz="2200"/>
          </a:p>
        </p:txBody>
      </p:sp>
      <p:sp>
        <p:nvSpPr>
          <p:cNvPr id="13" name="bottom-summary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1B5E3A"/>
                </a:solidFill>
                <a:latin typeface="MiSans"/>
                <a:ea typeface="MiSans"/>
              </a:rPr>
              <a:t>AI 生成候选方案，团队承担决策责任</a:t>
            </a:r>
            <a:endParaRPr 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/>
          <p:cNvSpPr txBox="1"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1B5E3A"/>
                </a:solidFill>
                <a:latin typeface="MiSans"/>
                <a:ea typeface="MiSans"/>
              </a:rPr>
              <a:t>价值与下一步</a:t>
            </a:r>
            <a:endParaRPr lang="en-US" sz="3600"/>
          </a:p>
        </p:txBody>
      </p:sp>
      <p:sp>
        <p:nvSpPr>
          <p:cNvPr id="3" name="title-underline"/>
          <p:cNvSpPr/>
          <p:nvPr/>
        </p:nvSpPr>
        <p:spPr>
          <a:xfrm>
            <a:off x="762000" y="1206500"/>
            <a:ext cx="1524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value-label"/>
          <p:cNvSpPr txBox="1"/>
          <p:nvPr/>
        </p:nvSpPr>
        <p:spPr>
          <a:xfrm>
            <a:off x="762000" y="1524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对企业的价值</a:t>
            </a:r>
            <a:endParaRPr lang="en-US" sz="2800"/>
          </a:p>
        </p:txBody>
      </p:sp>
      <p:sp>
        <p:nvSpPr>
          <p:cNvPr id="5" name="value-1"/>
          <p:cNvSpPr txBox="1"/>
          <p:nvPr/>
        </p:nvSpPr>
        <p:spPr>
          <a:xfrm>
            <a:off x="420370" y="2095500"/>
            <a:ext cx="589978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找到被忽略的场景：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查规程是信任与权限问题</a:t>
            </a:r>
            <a:endParaRPr lang="en-US" sz="2200"/>
          </a:p>
        </p:txBody>
      </p:sp>
      <p:sp>
        <p:nvSpPr>
          <p:cNvPr id="6" name="value-2"/>
          <p:cNvSpPr txBox="1"/>
          <p:nvPr/>
        </p:nvSpPr>
        <p:spPr>
          <a:xfrm>
            <a:off x="420370" y="2984500"/>
            <a:ext cx="60547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验证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部门化 RAG + 引用溯源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在工厂场景的可行性</a:t>
            </a:r>
            <a:endParaRPr lang="en-US" sz="2200"/>
          </a:p>
        </p:txBody>
      </p:sp>
      <p:sp>
        <p:nvSpPr>
          <p:cNvPr id="7" name="value-3"/>
          <p:cNvSpPr txBox="1"/>
          <p:nvPr/>
        </p:nvSpPr>
        <p:spPr>
          <a:xfrm>
            <a:off x="420370" y="3873500"/>
            <a:ext cx="589978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班长从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重复答疑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解放出来，只做复核</a:t>
            </a:r>
            <a:endParaRPr lang="en-US" sz="2200"/>
          </a:p>
        </p:txBody>
      </p:sp>
      <p:sp>
        <p:nvSpPr>
          <p:cNvPr id="8" name="center-line"/>
          <p:cNvSpPr/>
          <p:nvPr/>
        </p:nvSpPr>
        <p:spPr>
          <a:xfrm>
            <a:off x="6350000" y="1524000"/>
            <a:ext cx="25400" cy="31750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9" name="next-label"/>
          <p:cNvSpPr txBox="1"/>
          <p:nvPr/>
        </p:nvSpPr>
        <p:spPr>
          <a:xfrm>
            <a:off x="6731000" y="1524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b="1">
                <a:solidFill>
                  <a:srgbClr val="1B5E3A"/>
                </a:solidFill>
                <a:latin typeface="MiSans"/>
                <a:ea typeface="MiSans"/>
              </a:rPr>
              <a:t>下一步</a:t>
            </a:r>
            <a:endParaRPr lang="en-US" sz="2800"/>
          </a:p>
        </p:txBody>
      </p:sp>
      <p:sp>
        <p:nvSpPr>
          <p:cNvPr id="10" name="next-1"/>
          <p:cNvSpPr txBox="1"/>
          <p:nvPr/>
        </p:nvSpPr>
        <p:spPr>
          <a:xfrm>
            <a:off x="6731000" y="2095500"/>
            <a:ext cx="50609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扩大到真实工厂一线测试</a:t>
            </a:r>
            <a:endParaRPr lang="en-US" sz="2200"/>
          </a:p>
        </p:txBody>
      </p:sp>
      <p:sp>
        <p:nvSpPr>
          <p:cNvPr id="11" name="next-2"/>
          <p:cNvSpPr txBox="1"/>
          <p:nvPr/>
        </p:nvSpPr>
        <p:spPr>
          <a:xfrm>
            <a:off x="6731000" y="2984500"/>
            <a:ext cx="50609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对接百雀羚 IT，替换为脱敏真实规程</a:t>
            </a:r>
            <a:endParaRPr lang="en-US" sz="2200"/>
          </a:p>
        </p:txBody>
      </p:sp>
      <p:sp>
        <p:nvSpPr>
          <p:cNvPr id="12" name="next-3"/>
          <p:cNvSpPr txBox="1"/>
          <p:nvPr/>
        </p:nvSpPr>
        <p:spPr>
          <a:xfrm>
            <a:off x="6731000" y="3873500"/>
            <a:ext cx="50609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评估</a:t>
            </a:r>
            <a:r>
              <a:rPr lang="en-US" sz="2200" b="1">
                <a:solidFill>
                  <a:srgbClr val="1A1A1A"/>
                </a:solidFill>
                <a:latin typeface="MiSans"/>
                <a:ea typeface="MiSans"/>
              </a:rPr>
              <a:t>企业本地化部署</a:t>
            </a:r>
            <a:r>
              <a:rPr lang="en-US" sz="2200">
                <a:solidFill>
                  <a:srgbClr val="1A1A1A"/>
                </a:solidFill>
                <a:latin typeface="MiSans"/>
                <a:ea typeface="MiSans"/>
              </a:rPr>
              <a:t>方案，数据不出厂区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20624"/>
            <a:ext cx="6309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00" b="1">
                <a:solidFill>
                  <a:srgbClr val="1B5E3A"/>
                </a:solidFill>
                <a:latin typeface="MiSans"/>
              </a:rPr>
              <a:t>竞品分析参考资料</a:t>
            </a:r>
            <a:endParaRPr sz="3100" b="1">
              <a:solidFill>
                <a:srgbClr val="1B5E3A"/>
              </a:solidFill>
              <a:latin typeface="Mi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8952" y="1060704"/>
            <a:ext cx="1527048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344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4A7C59"/>
                </a:solidFill>
                <a:latin typeface="MiSans"/>
              </a:rPr>
              <a:t>围绕知识库 / 企业 AI 助理 / 工业 Copilot / 办公搜索，按分析顺序整理官方入口</a:t>
            </a:r>
            <a:endParaRPr sz="1500" b="0">
              <a:solidFill>
                <a:srgbClr val="4A7C59"/>
              </a:solidFill>
              <a:latin typeface="MiSa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820656" y="512064"/>
            <a:ext cx="1600200" cy="347472"/>
          </a:xfrm>
          <a:prstGeom prst="roundRect">
            <a:avLst/>
          </a:prstGeom>
          <a:solidFill>
            <a:srgbClr val="FFFF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4392" y="585216"/>
            <a:ext cx="120700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4A7C59"/>
                </a:solidFill>
                <a:latin typeface="MiSans"/>
              </a:rPr>
              <a:t>官方入口优先</a:t>
            </a:r>
            <a:endParaRPr sz="1050" b="1">
              <a:solidFill>
                <a:srgbClr val="4A7C59"/>
              </a:solidFill>
              <a:latin typeface="MiSa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3246120" cy="1152144"/>
          </a:xfrm>
          <a:prstGeom prst="roundRect">
            <a:avLst/>
          </a:prstGeom>
          <a:solidFill>
            <a:srgbClr val="F4FAF3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920240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" y="1970531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01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892807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飞书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1"/>
              </a:rPr>
              <a:t>知识库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"/>
              </a:rPr>
              <a:t>Aily 产品页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3"/>
              </a:rPr>
              <a:t>开放平台</a:t>
            </a:r>
            <a:endParaRPr sz="1030">
              <a:solidFill>
                <a:srgbClr val="4A7C59"/>
              </a:solidFill>
              <a:latin typeface="MiSans"/>
              <a:hlinkClick r:id="rId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06240" y="1755648"/>
            <a:ext cx="3246120" cy="1152144"/>
          </a:xfrm>
          <a:prstGeom prst="roundRect">
            <a:avLst/>
          </a:prstGeom>
          <a:solidFill>
            <a:srgbClr val="F6F7F5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9412" y="1970531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02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19472" y="1892807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企业微信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4"/>
              </a:rPr>
              <a:t>官网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5"/>
              </a:rPr>
              <a:t>帮助中心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6"/>
              </a:rPr>
              <a:t>文档 / 微盘</a:t>
            </a:r>
            <a:endParaRPr sz="1030">
              <a:solidFill>
                <a:srgbClr val="4A7C59"/>
              </a:solidFill>
              <a:latin typeface="MiSans"/>
              <a:hlinkClick r:id="rId6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53985" y="1755775"/>
            <a:ext cx="3652520" cy="1151890"/>
          </a:xfrm>
          <a:prstGeom prst="roundRect">
            <a:avLst/>
          </a:prstGeom>
          <a:solidFill>
            <a:srgbClr val="F4FAF3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91272" y="1920240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7284" y="1970531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03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67344" y="1892807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钉钉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7"/>
              </a:rPr>
              <a:t>官网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8"/>
              </a:rPr>
              <a:t>开放平台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9"/>
              </a:rPr>
              <a:t>AI 助理</a:t>
            </a:r>
            <a:endParaRPr sz="1030">
              <a:solidFill>
                <a:srgbClr val="4A7C59"/>
              </a:solidFill>
              <a:latin typeface="MiSans"/>
              <a:hlinkClick r:id="rId9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246120"/>
            <a:ext cx="3246120" cy="1152144"/>
          </a:xfrm>
          <a:prstGeom prst="roundRect">
            <a:avLst/>
          </a:prstGeom>
          <a:solidFill>
            <a:srgbClr val="F6F7F5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410712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" y="3461003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04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3383279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腾讯乐享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10"/>
              </a:rPr>
              <a:t>官网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1"/>
              </a:rPr>
              <a:t>腾讯云产品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2"/>
              </a:rPr>
              <a:t>文档中心</a:t>
            </a:r>
            <a:endParaRPr sz="1030">
              <a:solidFill>
                <a:srgbClr val="4A7C59"/>
              </a:solidFill>
              <a:latin typeface="MiSans"/>
              <a:hlinkClick r:id="rId1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06240" y="3246120"/>
            <a:ext cx="3246120" cy="1152144"/>
          </a:xfrm>
          <a:prstGeom prst="roundRect">
            <a:avLst/>
          </a:prstGeom>
          <a:solidFill>
            <a:srgbClr val="F4FAF3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400" y="3410712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9412" y="3461003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05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19472" y="3383279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阿里云百炼 / RAG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13"/>
              </a:rPr>
              <a:t>百炼控制台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4"/>
              </a:rPr>
              <a:t>帮助文档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5"/>
              </a:rPr>
              <a:t>RAG 知识库</a:t>
            </a:r>
            <a:endParaRPr sz="1030">
              <a:solidFill>
                <a:srgbClr val="4A7C59"/>
              </a:solidFill>
              <a:latin typeface="MiSans"/>
              <a:hlinkClick r:id="rId15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53985" y="3246120"/>
            <a:ext cx="3661410" cy="1151890"/>
          </a:xfrm>
          <a:prstGeom prst="roundRect">
            <a:avLst/>
          </a:prstGeom>
          <a:solidFill>
            <a:srgbClr val="F6F7F5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91272" y="3410712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7284" y="3461003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06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67344" y="3383279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Microsoft Copilot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16"/>
              </a:rPr>
              <a:t>产品页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7"/>
              </a:rPr>
              <a:t>Copilot 文档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18"/>
              </a:rPr>
              <a:t>SharePoint / Viva</a:t>
            </a:r>
            <a:endParaRPr sz="1030">
              <a:solidFill>
                <a:srgbClr val="4A7C59"/>
              </a:solidFill>
              <a:latin typeface="MiSans"/>
              <a:hlinkClick r:id="rId1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4736592"/>
            <a:ext cx="3246120" cy="1152144"/>
          </a:xfrm>
          <a:prstGeom prst="roundRect">
            <a:avLst/>
          </a:prstGeom>
          <a:solidFill>
            <a:srgbClr val="F4FAF3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528" y="4901183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" y="4951476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07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71600" y="4873752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Siemens Industrial Copilot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19"/>
              </a:rPr>
              <a:t>Industrial Copilot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0"/>
              </a:rPr>
              <a:t>工业 AI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1"/>
              </a:rPr>
              <a:t>新闻稿</a:t>
            </a:r>
            <a:endParaRPr sz="1030">
              <a:solidFill>
                <a:srgbClr val="4A7C59"/>
              </a:solidFill>
              <a:latin typeface="MiSans"/>
              <a:hlinkClick r:id="rId21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06240" y="4736592"/>
            <a:ext cx="3246120" cy="1152144"/>
          </a:xfrm>
          <a:prstGeom prst="roundRect">
            <a:avLst/>
          </a:prstGeom>
          <a:solidFill>
            <a:srgbClr val="F6F7F5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43400" y="4901183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9412" y="4951476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08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19472" y="4873752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用友 / 金蝶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22"/>
              </a:rPr>
              <a:t>用友官网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3"/>
              </a:rPr>
              <a:t>用友产品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4"/>
              </a:rPr>
              <a:t>金蝶产品</a:t>
            </a:r>
            <a:endParaRPr sz="1030">
              <a:solidFill>
                <a:srgbClr val="4A7C59"/>
              </a:solidFill>
              <a:latin typeface="MiSans"/>
              <a:hlinkClick r:id="rId2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753985" y="4736465"/>
            <a:ext cx="3648710" cy="1151890"/>
          </a:xfrm>
          <a:prstGeom prst="roundRect">
            <a:avLst/>
          </a:prstGeom>
          <a:solidFill>
            <a:srgbClr val="F4FAF3"/>
          </a:solidFill>
          <a:ln w="9525">
            <a:solidFill>
              <a:srgbClr val="E0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91272" y="4901183"/>
            <a:ext cx="457200" cy="256032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7284" y="4951476"/>
            <a:ext cx="26517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Sans"/>
              </a:rPr>
              <a:t>09</a:t>
            </a:r>
            <a:endParaRPr sz="950" b="1">
              <a:solidFill>
                <a:srgbClr val="FFFFFF"/>
              </a:solidFill>
              <a:latin typeface="Mi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67344" y="4873752"/>
            <a:ext cx="2368296" cy="969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D3337"/>
                </a:solidFill>
                <a:latin typeface="MiSans"/>
              </a:rPr>
              <a:t>Notion AI / Glean</a:t>
            </a:r>
            <a:endParaRPr sz="1400" b="1">
              <a:solidFill>
                <a:srgbClr val="2D3337"/>
              </a:solidFill>
              <a:latin typeface="MiSans"/>
            </a:endParaRPr>
          </a:p>
          <a:p>
            <a:pPr>
              <a:spcBef>
                <a:spcPts val="300"/>
              </a:spcBef>
            </a:pPr>
            <a:r>
              <a:rPr sz="1030">
                <a:solidFill>
                  <a:srgbClr val="4A7C59"/>
                </a:solidFill>
                <a:latin typeface="MiSans"/>
                <a:hlinkClick r:id="rId25"/>
              </a:rPr>
              <a:t>Notion AI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6"/>
              </a:rPr>
              <a:t>Notion 帮助</a:t>
            </a:r>
            <a:r>
              <a:rPr sz="980">
                <a:solidFill>
                  <a:srgbClr val="9AA09A"/>
                </a:solidFill>
                <a:latin typeface="MiSans"/>
              </a:rPr>
              <a:t>  |  </a:t>
            </a:r>
            <a:r>
              <a:rPr sz="1030">
                <a:solidFill>
                  <a:srgbClr val="4A7C59"/>
                </a:solidFill>
                <a:latin typeface="MiSans"/>
                <a:hlinkClick r:id="rId27"/>
              </a:rPr>
              <a:t>Glean Docs</a:t>
            </a:r>
            <a:endParaRPr sz="1030">
              <a:solidFill>
                <a:srgbClr val="4A7C59"/>
              </a:solidFill>
              <a:latin typeface="MiSans"/>
              <a:hlinkClick r:id="rId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8952" y="6446520"/>
            <a:ext cx="9966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F6670"/>
                </a:solidFill>
                <a:latin typeface="MiSans"/>
              </a:rPr>
              <a:t>资料名已绑定超链接；用于支撑 docs/06-竞品分析.md 第 8 节及正文竞品对照。</a:t>
            </a:r>
            <a:endParaRPr sz="1050" b="0">
              <a:solidFill>
                <a:srgbClr val="5F6670"/>
              </a:solidFill>
              <a:latin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hanks-text"/>
          <p:cNvSpPr txBox="1"/>
          <p:nvPr/>
        </p:nvSpPr>
        <p:spPr>
          <a:xfrm>
            <a:off x="762000" y="2286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>
                <a:solidFill>
                  <a:schemeClr val="tx1"/>
                </a:solidFill>
                <a:latin typeface="MiSans"/>
                <a:ea typeface="MiSans"/>
              </a:rPr>
              <a:t>谢谢</a:t>
            </a:r>
            <a:endParaRPr lang="en-US" sz="5600" b="1">
              <a:solidFill>
                <a:schemeClr val="tx1"/>
              </a:solidFill>
              <a:latin typeface="MiSans"/>
              <a:ea typeface="MiSans"/>
            </a:endParaRPr>
          </a:p>
        </p:txBody>
      </p:sp>
      <p:sp>
        <p:nvSpPr>
          <p:cNvPr id="15" name="team-names"/>
          <p:cNvSpPr txBox="1"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>
                <a:solidFill>
                  <a:schemeClr val="tx1"/>
                </a:solidFill>
                <a:latin typeface="MiSans"/>
                <a:ea typeface="MiSans"/>
              </a:rPr>
              <a:t>杨云天　　周楚涵　　沈天恩</a:t>
            </a:r>
            <a:endParaRPr lang="en-US" sz="2400">
              <a:solidFill>
                <a:schemeClr val="tx1"/>
              </a:solidFill>
              <a:latin typeface="MiSans"/>
              <a:ea typeface="MiSans"/>
            </a:endParaRPr>
          </a:p>
        </p:txBody>
      </p:sp>
      <p:sp>
        <p:nvSpPr>
          <p:cNvPr id="16" name="accent-line"/>
          <p:cNvSpPr/>
          <p:nvPr/>
        </p:nvSpPr>
        <p:spPr>
          <a:xfrm>
            <a:off x="4826000" y="4572000"/>
            <a:ext cx="2540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7" name="bootcamp"/>
          <p:cNvSpPr txBox="1"/>
          <p:nvPr/>
        </p:nvSpPr>
        <p:spPr>
          <a:xfrm>
            <a:off x="762000" y="4826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1707</Words>
  <Application>WPS 演示</Application>
  <PresentationFormat/>
  <Paragraphs>224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MiSans</vt:lpstr>
      <vt:lpstr>Segoe Print</vt:lpstr>
      <vt:lpstr>微软雅黑</vt:lpstr>
      <vt:lpstr>Arial Unicode MS</vt:lpstr>
      <vt:lpstr>Calibri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沈天恩</cp:lastModifiedBy>
  <cp:revision>8</cp:revision>
  <dcterms:created xsi:type="dcterms:W3CDTF">2026-07-23T12:57:00Z</dcterms:created>
  <dcterms:modified xsi:type="dcterms:W3CDTF">2026-07-23T12:58:01Z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60D77A29CD344D0AB6AA5A6AB024A5E9_13</vt:lpwstr>
  </property>
  <property fmtid="{D5CDD505-2E9C-101B-9397-08002B2CF9AE}" pid="4" name="KSOProductBuildVer">
    <vt:lpwstr>2052-12.1.0.23542</vt:lpwstr>
  </property>
</Properties>
</file>