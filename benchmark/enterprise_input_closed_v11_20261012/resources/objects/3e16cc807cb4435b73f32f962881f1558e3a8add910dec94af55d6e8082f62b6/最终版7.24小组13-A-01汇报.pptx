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2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68" r:id="rId2"/>
    <p:sldId id="258" r:id="rId3"/>
    <p:sldId id="281" r:id="rId4"/>
    <p:sldId id="278" r:id="rId5"/>
    <p:sldId id="259" r:id="rId6"/>
    <p:sldId id="275" r:id="rId7"/>
    <p:sldId id="270" r:id="rId8"/>
    <p:sldId id="264" r:id="rId9"/>
    <p:sldId id="276" r:id="rId10"/>
    <p:sldId id="260" r:id="rId11"/>
    <p:sldId id="274" r:id="rId12"/>
    <p:sldId id="262" r:id="rId13"/>
    <p:sldId id="280" r:id="rId14"/>
    <p:sldId id="267" r:id="rId15"/>
    <p:sldId id="269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有效评论</c:v>
          </c:tx>
          <c:spPr>
            <a:solidFill>
              <a:srgbClr val="D9DFDC"/>
            </a:solidFill>
            <a:ln w="0">
              <a:solidFill>
                <a:srgbClr val="D9DFDC"/>
              </a:solidFill>
              <a:prstDash val="solid"/>
            </a:ln>
          </c:spPr>
          <c:invertIfNegative val="1"/>
          <c:dPt>
            <c:idx val="5"/>
            <c:invertIfNegative val="1"/>
            <c:bubble3D val="0"/>
            <c:spPr>
              <a:solidFill>
                <a:srgbClr val="047857"/>
              </a:solidFill>
              <a:ln w="0">
                <a:solidFill>
                  <a:srgbClr val="047857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3F-45DD-9632-DE9C497ACD2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23282B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资生堂</c:v>
              </c:pt>
              <c:pt idx="1">
                <c:v>欧莱雅</c:v>
              </c:pt>
              <c:pt idx="2">
                <c:v>兰蔻</c:v>
              </c:pt>
              <c:pt idx="3">
                <c:v>SKII</c:v>
              </c:pt>
              <c:pt idx="4">
                <c:v>雅诗兰黛</c:v>
              </c:pt>
              <c:pt idx="5">
                <c:v>百雀羚</c:v>
              </c:pt>
            </c:strLit>
          </c:cat>
          <c:val>
            <c:numLit>
              <c:formatCode>General</c:formatCode>
              <c:ptCount val="6"/>
              <c:pt idx="0">
                <c:v>13</c:v>
              </c:pt>
              <c:pt idx="1">
                <c:v>34</c:v>
              </c:pt>
              <c:pt idx="2">
                <c:v>116</c:v>
              </c:pt>
              <c:pt idx="3">
                <c:v>215</c:v>
              </c:pt>
              <c:pt idx="4">
                <c:v>606</c:v>
              </c:pt>
              <c:pt idx="5">
                <c:v>504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D9DFDC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9B3F-45DD-9632-DE9C497ACD2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1D5DB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374151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3452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8270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1886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A9220-0F50-3E7D-F198-2B3C0DA80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3C35BC-2F8D-92A5-296D-1EB8AC0B9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6CB7D3-04EF-376A-F8A6-42EBB734B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832E3-1DD1-B172-E375-E0CABB886C1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6847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2911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6439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为了攻克这些挑战，我们实现了两大技术突破。第一是全量CUDA Graph捕获，它通过改变计算方式，极大地提升了单步解码速度。第二是双路径GQA Decode，它通过智能选择计算路径，解决了长文本处理时的性能瓶颈。接下来，我将为大家详细解读这两个亮点。</a:t>
            </a:r>
          </a:p>
        </p:txBody>
      </p:sp>
    </p:spTree>
    <p:extLst>
      <p:ext uri="{BB962C8B-B14F-4D97-AF65-F5344CB8AC3E}">
        <p14:creationId xmlns:p14="http://schemas.microsoft.com/office/powerpoint/2010/main" val="4260244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94740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为了攻克这些挑战，我们实现了两大技术突破。第一是全量CUDA Graph捕获，它通过改变计算方式，极大地提升了单步解码速度。第二是双路径GQA Decode，它通过智能选择计算路径，解决了长文本处理时的性能瓶颈。接下来，我将为大家详细解读这两个亮点。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6372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50293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74862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A16C2-C0EE-0640-FEE2-53B2082AF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38E5F1-0251-1DE1-3A47-84B6F47C1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51836A-8C8E-15B3-C1F6-D773910C9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4F35E-B5B0-C5FE-5730-375F10FE335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05248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12058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6029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104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996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/>
          <p:nvPr/>
        </p:nvSpPr>
        <p:spPr>
          <a:xfrm>
            <a:off x="351099" y="311882"/>
            <a:ext cx="11489802" cy="6302416"/>
          </a:xfrm>
          <a:prstGeom prst="rect">
            <a:avLst/>
          </a:prstGeom>
          <a:noFill/>
          <a:ln w="19050" cap="flat" cmpd="sng" algn="ctr">
            <a:solidFill>
              <a:srgbClr val="EE822F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cover-title"/>
          <p:cNvSpPr>
            <a:spLocks noGrp="1"/>
          </p:cNvSpPr>
          <p:nvPr/>
        </p:nvSpPr>
        <p:spPr>
          <a:xfrm>
            <a:off x="1796659" y="1756373"/>
            <a:ext cx="8850215" cy="17641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5100" b="1" dirty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百雀羚「科技新草本」</a:t>
            </a:r>
          </a:p>
          <a:p>
            <a:pPr algn="ctr">
              <a:lnSpc>
                <a:spcPct val="120000"/>
              </a:lnSpc>
            </a:pPr>
            <a:r>
              <a:rPr lang="en-US" altLang="zh-CN" sz="5100" b="1" dirty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5100" b="1" dirty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驱动消费洞察与新产品研发</a:t>
            </a:r>
          </a:p>
        </p:txBody>
      </p:sp>
      <p:sp>
        <p:nvSpPr>
          <p:cNvPr id="13" name="cover-subtitle"/>
          <p:cNvSpPr>
            <a:spLocks noGrp="1"/>
          </p:cNvSpPr>
          <p:nvPr/>
        </p:nvSpPr>
        <p:spPr>
          <a:xfrm>
            <a:off x="4594048" y="4218913"/>
            <a:ext cx="4088356" cy="13489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200000"/>
              </a:lnSpc>
              <a:buNone/>
              <a:defRPr sz="2400" b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 dirty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 </a:t>
            </a:r>
            <a:r>
              <a:rPr lang="zh-CN" altLang="en-US" sz="2400" b="0" dirty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2400" b="0" dirty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r>
              <a:rPr sz="2400" b="0" dirty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小组汇报材料</a:t>
            </a:r>
            <a:endParaRPr lang="en-US" sz="2400" b="0" dirty="0">
              <a:solidFill>
                <a:srgbClr val="3C6E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200000"/>
              </a:lnSpc>
              <a:buNone/>
              <a:defRPr sz="2400" b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400" b="0" dirty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周光轩、黄旭泽、张诗昀</a:t>
            </a:r>
            <a:endParaRPr sz="2400" b="0" dirty="0">
              <a:solidFill>
                <a:srgbClr val="3C6E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146248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op Accent">
            <a:extLst>
              <a:ext uri="{FF2B5EF4-FFF2-40B4-BE49-F238E27FC236}">
                <a16:creationId xmlns:a16="http://schemas.microsoft.com/office/drawing/2014/main" id="{B94D60E4-F0A5-4BE3-9FA4-6F47427FB3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5A6A0"/>
          </a:solidFill>
          <a:ln w="0">
            <a:noFill/>
            <a:prstDash val="solid"/>
          </a:ln>
        </p:spPr>
      </p:sp>
      <p:sp>
        <p:nvSpPr>
          <p:cNvPr id="2" name="Section Header">
            <a:extLst>
              <a:ext uri="{FF2B5EF4-FFF2-40B4-BE49-F238E27FC236}">
                <a16:creationId xmlns:a16="http://schemas.microsoft.com/office/drawing/2014/main" id="{1D868CC6-2568-44AA-8078-3C07F3F8A97E}"/>
              </a:ext>
            </a:extLst>
          </p:cNvPr>
          <p:cNvSpPr>
            <a:spLocks noGrp="1"/>
          </p:cNvSpPr>
          <p:nvPr/>
        </p:nvSpPr>
        <p:spPr>
          <a:xfrm>
            <a:off x="638175" y="3619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36783"/>
                </a:solidFill>
              </a:defRPr>
            </a:pPr>
            <a:r>
              <a:rPr sz="1200" b="1">
                <a:solidFill>
                  <a:srgbClr val="236783"/>
                </a:solidFill>
              </a:rPr>
              <a:t>PROJECT GOAL · AI 驱动消费洞察与新品研发</a:t>
            </a:r>
          </a:p>
        </p:txBody>
      </p:sp>
      <p:sp>
        <p:nvSpPr>
          <p:cNvPr id="3" name="Top Counter">
            <a:extLst>
              <a:ext uri="{FF2B5EF4-FFF2-40B4-BE49-F238E27FC236}">
                <a16:creationId xmlns:a16="http://schemas.microsoft.com/office/drawing/2014/main" id="{A3646308-8771-463A-B6FD-AA3B86EAFABC}"/>
              </a:ext>
            </a:extLst>
          </p:cNvPr>
          <p:cNvSpPr>
            <a:spLocks noGrp="1"/>
          </p:cNvSpPr>
          <p:nvPr/>
        </p:nvSpPr>
        <p:spPr>
          <a:xfrm>
            <a:off x="6496050" y="361950"/>
            <a:ext cx="5029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125" b="0">
                <a:solidFill>
                  <a:srgbClr val="5E6B70"/>
                </a:solidFill>
              </a:defRPr>
            </a:pPr>
            <a:r>
              <a:rPr sz="1125" b="0">
                <a:solidFill>
                  <a:srgbClr val="5E6B70"/>
                </a:solidFill>
              </a:rPr>
              <a:t>04 / 14</a:t>
            </a:r>
          </a:p>
        </p:txBody>
      </p:sp>
      <p:sp>
        <p:nvSpPr>
          <p:cNvPr id="4" name="Goal Title">
            <a:extLst>
              <a:ext uri="{FF2B5EF4-FFF2-40B4-BE49-F238E27FC236}">
                <a16:creationId xmlns:a16="http://schemas.microsoft.com/office/drawing/2014/main" id="{2375C836-014D-47D0-9687-EAC5061C6F8F}"/>
              </a:ext>
            </a:extLst>
          </p:cNvPr>
          <p:cNvSpPr>
            <a:spLocks noGrp="1"/>
          </p:cNvSpPr>
          <p:nvPr/>
        </p:nvSpPr>
        <p:spPr>
          <a:xfrm>
            <a:off x="638175" y="838200"/>
            <a:ext cx="107918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26343B"/>
                </a:solidFill>
              </a:defRPr>
            </a:pPr>
            <a:r>
              <a:rPr sz="3000" b="1">
                <a:solidFill>
                  <a:srgbClr val="26343B"/>
                </a:solidFill>
              </a:rPr>
              <a:t>目标：让消费者数据直接服务研发决策</a:t>
            </a:r>
          </a:p>
        </p:txBody>
      </p:sp>
      <p:sp>
        <p:nvSpPr>
          <p:cNvPr id="5" name="Goal Statement">
            <a:extLst>
              <a:ext uri="{FF2B5EF4-FFF2-40B4-BE49-F238E27FC236}">
                <a16:creationId xmlns:a16="http://schemas.microsoft.com/office/drawing/2014/main" id="{C89CC90A-D0C5-4332-8731-C107CB49CAD2}"/>
              </a:ext>
            </a:extLst>
          </p:cNvPr>
          <p:cNvSpPr>
            <a:spLocks noGrp="1"/>
          </p:cNvSpPr>
          <p:nvPr/>
        </p:nvSpPr>
        <p:spPr>
          <a:xfrm>
            <a:off x="638175" y="1552575"/>
            <a:ext cx="107918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5E6B70"/>
                </a:solidFill>
              </a:defRPr>
            </a:pPr>
            <a:r>
              <a:rPr sz="1650" b="0">
                <a:solidFill>
                  <a:srgbClr val="5E6B70"/>
                </a:solidFill>
              </a:rPr>
              <a:t>通过海量数据挖掘消费者关注的功效与使用需求，结合新原料信息，为新品研发与老品升级提供数据化建议。</a:t>
            </a:r>
          </a:p>
        </p:txBody>
      </p:sp>
      <p:sp>
        <p:nvSpPr>
          <p:cNvPr id="6" name="Goal Divider">
            <a:extLst>
              <a:ext uri="{FF2B5EF4-FFF2-40B4-BE49-F238E27FC236}">
                <a16:creationId xmlns:a16="http://schemas.microsoft.com/office/drawing/2014/main" id="{9FA59C04-1BC6-4365-96BB-53E8EEDDFDFB}"/>
              </a:ext>
            </a:extLst>
          </p:cNvPr>
          <p:cNvSpPr>
            <a:spLocks noGrp="1"/>
          </p:cNvSpPr>
          <p:nvPr/>
        </p:nvSpPr>
        <p:spPr>
          <a:xfrm>
            <a:off x="638175" y="2428875"/>
            <a:ext cx="10791825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</p:sp>
      <p:sp>
        <p:nvSpPr>
          <p:cNvPr id="7" name="Goal Card 1">
            <a:extLst>
              <a:ext uri="{FF2B5EF4-FFF2-40B4-BE49-F238E27FC236}">
                <a16:creationId xmlns:a16="http://schemas.microsoft.com/office/drawing/2014/main" id="{D3FB9B71-8049-47BB-AB39-8CF35EE20B9A}"/>
              </a:ext>
            </a:extLst>
          </p:cNvPr>
          <p:cNvSpPr>
            <a:spLocks noGrp="1"/>
          </p:cNvSpPr>
          <p:nvPr/>
        </p:nvSpPr>
        <p:spPr>
          <a:xfrm>
            <a:off x="638175" y="2724150"/>
            <a:ext cx="33147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DD"/>
            </a:solidFill>
            <a:prstDash val="solid"/>
          </a:ln>
        </p:spPr>
      </p:sp>
      <p:sp>
        <p:nvSpPr>
          <p:cNvPr id="8" name="Goal Card Accent 1">
            <a:extLst>
              <a:ext uri="{FF2B5EF4-FFF2-40B4-BE49-F238E27FC236}">
                <a16:creationId xmlns:a16="http://schemas.microsoft.com/office/drawing/2014/main" id="{BA954DA8-35A2-4555-923A-75C222C4AAF8}"/>
              </a:ext>
            </a:extLst>
          </p:cNvPr>
          <p:cNvSpPr>
            <a:spLocks noGrp="1"/>
          </p:cNvSpPr>
          <p:nvPr/>
        </p:nvSpPr>
        <p:spPr>
          <a:xfrm>
            <a:off x="638175" y="2724150"/>
            <a:ext cx="3314700" cy="47625"/>
          </a:xfrm>
          <a:prstGeom prst="rect">
            <a:avLst/>
          </a:prstGeom>
          <a:solidFill>
            <a:srgbClr val="236783"/>
          </a:solidFill>
          <a:ln w="0">
            <a:noFill/>
            <a:prstDash val="solid"/>
          </a:ln>
        </p:spPr>
      </p:sp>
      <p:sp>
        <p:nvSpPr>
          <p:cNvPr id="9" name="Goal Card Label 1">
            <a:extLst>
              <a:ext uri="{FF2B5EF4-FFF2-40B4-BE49-F238E27FC236}">
                <a16:creationId xmlns:a16="http://schemas.microsoft.com/office/drawing/2014/main" id="{DA55A487-8B35-492E-955C-58BF51C2CF41}"/>
              </a:ext>
            </a:extLst>
          </p:cNvPr>
          <p:cNvSpPr>
            <a:spLocks noGrp="1"/>
          </p:cNvSpPr>
          <p:nvPr/>
        </p:nvSpPr>
        <p:spPr>
          <a:xfrm>
            <a:off x="885825" y="2990850"/>
            <a:ext cx="2819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236783"/>
                </a:solidFill>
              </a:defRPr>
            </a:pPr>
            <a:r>
              <a:rPr sz="1125" b="1">
                <a:solidFill>
                  <a:srgbClr val="236783"/>
                </a:solidFill>
              </a:rPr>
              <a:t>01 · LISTEN</a:t>
            </a:r>
          </a:p>
        </p:txBody>
      </p:sp>
      <p:sp>
        <p:nvSpPr>
          <p:cNvPr id="10" name="Goal Card Title 1">
            <a:extLst>
              <a:ext uri="{FF2B5EF4-FFF2-40B4-BE49-F238E27FC236}">
                <a16:creationId xmlns:a16="http://schemas.microsoft.com/office/drawing/2014/main" id="{6EC5C8B6-AFD2-4483-A7BB-8D297282B75D}"/>
              </a:ext>
            </a:extLst>
          </p:cNvPr>
          <p:cNvSpPr>
            <a:spLocks noGrp="1"/>
          </p:cNvSpPr>
          <p:nvPr/>
        </p:nvSpPr>
        <p:spPr>
          <a:xfrm>
            <a:off x="885825" y="3371850"/>
            <a:ext cx="2819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6343B"/>
                </a:solidFill>
              </a:defRPr>
            </a:pPr>
            <a:r>
              <a:rPr lang="zh-CN" altLang="en-US" sz="1875" b="1" dirty="0">
                <a:solidFill>
                  <a:srgbClr val="26343B"/>
                </a:solidFill>
              </a:rPr>
              <a:t>用户数据洞察</a:t>
            </a:r>
            <a:endParaRPr sz="1875" b="1" dirty="0">
              <a:solidFill>
                <a:srgbClr val="26343B"/>
              </a:solidFill>
            </a:endParaRPr>
          </a:p>
        </p:txBody>
      </p:sp>
      <p:sp>
        <p:nvSpPr>
          <p:cNvPr id="11" name="Goal Card Body 1">
            <a:extLst>
              <a:ext uri="{FF2B5EF4-FFF2-40B4-BE49-F238E27FC236}">
                <a16:creationId xmlns:a16="http://schemas.microsoft.com/office/drawing/2014/main" id="{E5A31739-9B41-43D3-8C3B-9288E7026140}"/>
              </a:ext>
            </a:extLst>
          </p:cNvPr>
          <p:cNvSpPr>
            <a:spLocks noGrp="1"/>
          </p:cNvSpPr>
          <p:nvPr/>
        </p:nvSpPr>
        <p:spPr>
          <a:xfrm>
            <a:off x="885825" y="4029075"/>
            <a:ext cx="2819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E6B70"/>
                </a:solidFill>
              </a:defRPr>
            </a:pPr>
            <a:r>
              <a:rPr sz="1275" b="0">
                <a:solidFill>
                  <a:srgbClr val="5E6B70"/>
                </a:solidFill>
              </a:rPr>
              <a:t>爬取社交媒体与电商评论，识别消费者关注的功效、使用场景与痛点关键词。</a:t>
            </a:r>
          </a:p>
        </p:txBody>
      </p:sp>
      <p:sp>
        <p:nvSpPr>
          <p:cNvPr id="12" name="Goal Card 2">
            <a:extLst>
              <a:ext uri="{FF2B5EF4-FFF2-40B4-BE49-F238E27FC236}">
                <a16:creationId xmlns:a16="http://schemas.microsoft.com/office/drawing/2014/main" id="{EF3216AB-1F33-472D-AC9F-0DD04C3994C1}"/>
              </a:ext>
            </a:extLst>
          </p:cNvPr>
          <p:cNvSpPr>
            <a:spLocks noGrp="1"/>
          </p:cNvSpPr>
          <p:nvPr/>
        </p:nvSpPr>
        <p:spPr>
          <a:xfrm>
            <a:off x="4438650" y="2724150"/>
            <a:ext cx="33147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DD"/>
            </a:solidFill>
            <a:prstDash val="solid"/>
          </a:ln>
        </p:spPr>
      </p:sp>
      <p:sp>
        <p:nvSpPr>
          <p:cNvPr id="13" name="Goal Card Accent 2">
            <a:extLst>
              <a:ext uri="{FF2B5EF4-FFF2-40B4-BE49-F238E27FC236}">
                <a16:creationId xmlns:a16="http://schemas.microsoft.com/office/drawing/2014/main" id="{E61D8E4F-B5DF-4F62-AC11-C0F15BE7B9E6}"/>
              </a:ext>
            </a:extLst>
          </p:cNvPr>
          <p:cNvSpPr>
            <a:spLocks noGrp="1"/>
          </p:cNvSpPr>
          <p:nvPr/>
        </p:nvSpPr>
        <p:spPr>
          <a:xfrm>
            <a:off x="4438650" y="2724150"/>
            <a:ext cx="3314700" cy="47625"/>
          </a:xfrm>
          <a:prstGeom prst="rect">
            <a:avLst/>
          </a:prstGeom>
          <a:solidFill>
            <a:srgbClr val="236783"/>
          </a:solidFill>
          <a:ln w="0">
            <a:noFill/>
            <a:prstDash val="solid"/>
          </a:ln>
        </p:spPr>
      </p:sp>
      <p:sp>
        <p:nvSpPr>
          <p:cNvPr id="14" name="Goal Card Label 2">
            <a:extLst>
              <a:ext uri="{FF2B5EF4-FFF2-40B4-BE49-F238E27FC236}">
                <a16:creationId xmlns:a16="http://schemas.microsoft.com/office/drawing/2014/main" id="{9460A1ED-D4AF-4A76-8D03-D42471B7B7CA}"/>
              </a:ext>
            </a:extLst>
          </p:cNvPr>
          <p:cNvSpPr>
            <a:spLocks noGrp="1"/>
          </p:cNvSpPr>
          <p:nvPr/>
        </p:nvSpPr>
        <p:spPr>
          <a:xfrm>
            <a:off x="4686300" y="2990850"/>
            <a:ext cx="2819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236783"/>
                </a:solidFill>
              </a:defRPr>
            </a:pPr>
            <a:r>
              <a:rPr sz="1125" b="1">
                <a:solidFill>
                  <a:srgbClr val="236783"/>
                </a:solidFill>
              </a:rPr>
              <a:t>02 · LINK</a:t>
            </a:r>
          </a:p>
        </p:txBody>
      </p:sp>
      <p:sp>
        <p:nvSpPr>
          <p:cNvPr id="15" name="Goal Card Title 2">
            <a:extLst>
              <a:ext uri="{FF2B5EF4-FFF2-40B4-BE49-F238E27FC236}">
                <a16:creationId xmlns:a16="http://schemas.microsoft.com/office/drawing/2014/main" id="{EB9AD1A7-8D43-4822-A563-DAFB29235614}"/>
              </a:ext>
            </a:extLst>
          </p:cNvPr>
          <p:cNvSpPr>
            <a:spLocks noGrp="1"/>
          </p:cNvSpPr>
          <p:nvPr/>
        </p:nvSpPr>
        <p:spPr>
          <a:xfrm>
            <a:off x="4686300" y="3371850"/>
            <a:ext cx="2819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6343B"/>
                </a:solidFill>
              </a:defRPr>
            </a:pPr>
            <a:endParaRPr sz="1875" b="1" dirty="0">
              <a:solidFill>
                <a:srgbClr val="26343B"/>
              </a:solidFill>
            </a:endParaRPr>
          </a:p>
        </p:txBody>
      </p:sp>
      <p:sp>
        <p:nvSpPr>
          <p:cNvPr id="16" name="Goal Card Body 2">
            <a:extLst>
              <a:ext uri="{FF2B5EF4-FFF2-40B4-BE49-F238E27FC236}">
                <a16:creationId xmlns:a16="http://schemas.microsoft.com/office/drawing/2014/main" id="{C42BCDDC-404E-4022-B0AC-1409A96F9C21}"/>
              </a:ext>
            </a:extLst>
          </p:cNvPr>
          <p:cNvSpPr>
            <a:spLocks noGrp="1"/>
          </p:cNvSpPr>
          <p:nvPr/>
        </p:nvSpPr>
        <p:spPr>
          <a:xfrm>
            <a:off x="4686300" y="4029075"/>
            <a:ext cx="2819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E6B70"/>
                </a:solidFill>
              </a:defRPr>
            </a:pPr>
            <a:r>
              <a:rPr sz="1275" b="0" dirty="0" err="1">
                <a:solidFill>
                  <a:srgbClr val="5E6B70"/>
                </a:solidFill>
              </a:rPr>
              <a:t>构建“消费者需求</a:t>
            </a:r>
            <a:r>
              <a:rPr sz="1275" b="0" dirty="0">
                <a:solidFill>
                  <a:srgbClr val="5E6B70"/>
                </a:solidFill>
              </a:rPr>
              <a:t>—</a:t>
            </a:r>
            <a:r>
              <a:rPr sz="1275" b="0" dirty="0" err="1">
                <a:solidFill>
                  <a:srgbClr val="5E6B70"/>
                </a:solidFill>
              </a:rPr>
              <a:t>产品功效</a:t>
            </a:r>
            <a:r>
              <a:rPr sz="1275" b="0" dirty="0">
                <a:solidFill>
                  <a:srgbClr val="5E6B70"/>
                </a:solidFill>
              </a:rPr>
              <a:t>—</a:t>
            </a:r>
            <a:r>
              <a:rPr lang="zh-CN" altLang="en-US" sz="1275" dirty="0">
                <a:solidFill>
                  <a:srgbClr val="5E6B70"/>
                </a:solidFill>
              </a:rPr>
              <a:t>概念热度</a:t>
            </a:r>
            <a:r>
              <a:rPr sz="1275" b="0" dirty="0">
                <a:solidFill>
                  <a:srgbClr val="5E6B70"/>
                </a:solidFill>
              </a:rPr>
              <a:t>”</a:t>
            </a:r>
            <a:r>
              <a:rPr sz="1275" b="0" dirty="0" err="1">
                <a:solidFill>
                  <a:srgbClr val="5E6B70"/>
                </a:solidFill>
              </a:rPr>
              <a:t>关联图谱，形成可解释的研发依据</a:t>
            </a:r>
            <a:r>
              <a:rPr sz="1275" b="0" dirty="0">
                <a:solidFill>
                  <a:srgbClr val="5E6B70"/>
                </a:solidFill>
              </a:rPr>
              <a:t>。</a:t>
            </a:r>
          </a:p>
        </p:txBody>
      </p:sp>
      <p:sp>
        <p:nvSpPr>
          <p:cNvPr id="17" name="Goal Card 3">
            <a:extLst>
              <a:ext uri="{FF2B5EF4-FFF2-40B4-BE49-F238E27FC236}">
                <a16:creationId xmlns:a16="http://schemas.microsoft.com/office/drawing/2014/main" id="{64371E6E-18ED-461E-9BFA-445B23C06F87}"/>
              </a:ext>
            </a:extLst>
          </p:cNvPr>
          <p:cNvSpPr>
            <a:spLocks noGrp="1"/>
          </p:cNvSpPr>
          <p:nvPr/>
        </p:nvSpPr>
        <p:spPr>
          <a:xfrm>
            <a:off x="8239125" y="2724150"/>
            <a:ext cx="33147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DD"/>
            </a:solidFill>
            <a:prstDash val="solid"/>
          </a:ln>
        </p:spPr>
      </p:sp>
      <p:sp>
        <p:nvSpPr>
          <p:cNvPr id="18" name="Goal Card Accent 3">
            <a:extLst>
              <a:ext uri="{FF2B5EF4-FFF2-40B4-BE49-F238E27FC236}">
                <a16:creationId xmlns:a16="http://schemas.microsoft.com/office/drawing/2014/main" id="{D46F0DC4-EF6B-463A-961A-322A1CA908B3}"/>
              </a:ext>
            </a:extLst>
          </p:cNvPr>
          <p:cNvSpPr>
            <a:spLocks noGrp="1"/>
          </p:cNvSpPr>
          <p:nvPr/>
        </p:nvSpPr>
        <p:spPr>
          <a:xfrm>
            <a:off x="8239125" y="2724150"/>
            <a:ext cx="3314700" cy="47625"/>
          </a:xfrm>
          <a:prstGeom prst="rect">
            <a:avLst/>
          </a:prstGeom>
          <a:solidFill>
            <a:srgbClr val="45A6A0"/>
          </a:solidFill>
          <a:ln w="0">
            <a:noFill/>
            <a:prstDash val="solid"/>
          </a:ln>
        </p:spPr>
      </p:sp>
      <p:sp>
        <p:nvSpPr>
          <p:cNvPr id="19" name="Goal Card Label 3">
            <a:extLst>
              <a:ext uri="{FF2B5EF4-FFF2-40B4-BE49-F238E27FC236}">
                <a16:creationId xmlns:a16="http://schemas.microsoft.com/office/drawing/2014/main" id="{436FB513-8882-4517-AF13-2D8690729838}"/>
              </a:ext>
            </a:extLst>
          </p:cNvPr>
          <p:cNvSpPr>
            <a:spLocks noGrp="1"/>
          </p:cNvSpPr>
          <p:nvPr/>
        </p:nvSpPr>
        <p:spPr>
          <a:xfrm>
            <a:off x="8486775" y="2990850"/>
            <a:ext cx="2819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45A6A0"/>
                </a:solidFill>
              </a:defRPr>
            </a:pPr>
            <a:r>
              <a:rPr sz="1125" b="1">
                <a:solidFill>
                  <a:srgbClr val="45A6A0"/>
                </a:solidFill>
              </a:rPr>
              <a:t>03 · FORECAST</a:t>
            </a:r>
          </a:p>
        </p:txBody>
      </p:sp>
      <p:sp>
        <p:nvSpPr>
          <p:cNvPr id="20" name="Goal Card Title 3">
            <a:extLst>
              <a:ext uri="{FF2B5EF4-FFF2-40B4-BE49-F238E27FC236}">
                <a16:creationId xmlns:a16="http://schemas.microsoft.com/office/drawing/2014/main" id="{6D1F2014-90F8-4A59-8DC8-F9705441F678}"/>
              </a:ext>
            </a:extLst>
          </p:cNvPr>
          <p:cNvSpPr>
            <a:spLocks noGrp="1"/>
          </p:cNvSpPr>
          <p:nvPr/>
        </p:nvSpPr>
        <p:spPr>
          <a:xfrm>
            <a:off x="8486775" y="3371850"/>
            <a:ext cx="2819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6343B"/>
                </a:solidFill>
              </a:defRPr>
            </a:pPr>
            <a:r>
              <a:rPr sz="1875" b="1">
                <a:solidFill>
                  <a:srgbClr val="26343B"/>
                </a:solidFill>
              </a:rPr>
              <a:t>预判新品热度</a:t>
            </a:r>
          </a:p>
        </p:txBody>
      </p:sp>
      <p:sp>
        <p:nvSpPr>
          <p:cNvPr id="21" name="Goal Card Body 3">
            <a:extLst>
              <a:ext uri="{FF2B5EF4-FFF2-40B4-BE49-F238E27FC236}">
                <a16:creationId xmlns:a16="http://schemas.microsoft.com/office/drawing/2014/main" id="{F71185B5-21C6-41DB-82DA-190DB90E1153}"/>
              </a:ext>
            </a:extLst>
          </p:cNvPr>
          <p:cNvSpPr>
            <a:spLocks noGrp="1"/>
          </p:cNvSpPr>
          <p:nvPr/>
        </p:nvSpPr>
        <p:spPr>
          <a:xfrm>
            <a:off x="8486775" y="4029075"/>
            <a:ext cx="2819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E6B70"/>
                </a:solidFill>
              </a:defRPr>
            </a:pPr>
            <a:r>
              <a:rPr sz="1275" b="0" dirty="0" err="1">
                <a:solidFill>
                  <a:srgbClr val="5E6B70"/>
                </a:solidFill>
              </a:rPr>
              <a:t>结合评论趋势与竞品表现，评估新品概念接受度，辅助研发方向优先级判断</a:t>
            </a:r>
            <a:r>
              <a:rPr sz="1275" b="0" dirty="0">
                <a:solidFill>
                  <a:srgbClr val="5E6B70"/>
                </a:solidFill>
              </a:rPr>
              <a:t>。</a:t>
            </a:r>
          </a:p>
        </p:txBody>
      </p:sp>
      <p:sp>
        <p:nvSpPr>
          <p:cNvPr id="22" name="Mentor Strip">
            <a:extLst>
              <a:ext uri="{FF2B5EF4-FFF2-40B4-BE49-F238E27FC236}">
                <a16:creationId xmlns:a16="http://schemas.microsoft.com/office/drawing/2014/main" id="{DB746209-696B-4DB8-8859-C6E14A3EC34C}"/>
              </a:ext>
            </a:extLst>
          </p:cNvPr>
          <p:cNvSpPr>
            <a:spLocks noGrp="1"/>
          </p:cNvSpPr>
          <p:nvPr/>
        </p:nvSpPr>
        <p:spPr>
          <a:xfrm>
            <a:off x="638175" y="5410200"/>
            <a:ext cx="10791825" cy="609600"/>
          </a:xfrm>
          <a:prstGeom prst="rect">
            <a:avLst/>
          </a:prstGeom>
          <a:solidFill>
            <a:srgbClr val="E7EFEE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3" name="Mentor Label">
            <a:extLst>
              <a:ext uri="{FF2B5EF4-FFF2-40B4-BE49-F238E27FC236}">
                <a16:creationId xmlns:a16="http://schemas.microsoft.com/office/drawing/2014/main" id="{AAA62E4E-F4C4-47D0-90A4-24C4112E8459}"/>
              </a:ext>
            </a:extLst>
          </p:cNvPr>
          <p:cNvSpPr>
            <a:spLocks noGrp="1"/>
          </p:cNvSpPr>
          <p:nvPr/>
        </p:nvSpPr>
        <p:spPr>
          <a:xfrm>
            <a:off x="866775" y="5524500"/>
            <a:ext cx="104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236783"/>
                </a:solidFill>
              </a:defRPr>
            </a:pPr>
            <a:r>
              <a:rPr lang="zh-CN" altLang="en-US" sz="1275" b="1" dirty="0">
                <a:solidFill>
                  <a:srgbClr val="236783"/>
                </a:solidFill>
              </a:rPr>
              <a:t>匹配用户</a:t>
            </a:r>
            <a:endParaRPr sz="1275" b="1" dirty="0">
              <a:solidFill>
                <a:srgbClr val="236783"/>
              </a:solidFill>
            </a:endParaRPr>
          </a:p>
        </p:txBody>
      </p:sp>
      <p:sp>
        <p:nvSpPr>
          <p:cNvPr id="24" name="Mentor Value">
            <a:extLst>
              <a:ext uri="{FF2B5EF4-FFF2-40B4-BE49-F238E27FC236}">
                <a16:creationId xmlns:a16="http://schemas.microsoft.com/office/drawing/2014/main" id="{4D6819B3-3C6B-4B4F-81AB-234A571C0451}"/>
              </a:ext>
            </a:extLst>
          </p:cNvPr>
          <p:cNvSpPr>
            <a:spLocks noGrp="1"/>
          </p:cNvSpPr>
          <p:nvPr/>
        </p:nvSpPr>
        <p:spPr>
          <a:xfrm>
            <a:off x="1962150" y="552450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6343B"/>
                </a:solidFill>
              </a:defRPr>
            </a:pPr>
            <a:r>
              <a:rPr sz="1500" b="1">
                <a:solidFill>
                  <a:srgbClr val="26343B"/>
                </a:solidFill>
              </a:rPr>
              <a:t>产品开发团队</a:t>
            </a:r>
          </a:p>
        </p:txBody>
      </p:sp>
      <p:sp>
        <p:nvSpPr>
          <p:cNvPr id="25" name="Outcome">
            <a:extLst>
              <a:ext uri="{FF2B5EF4-FFF2-40B4-BE49-F238E27FC236}">
                <a16:creationId xmlns:a16="http://schemas.microsoft.com/office/drawing/2014/main" id="{7CD25FD7-AE1B-40FB-B0AD-5E3FFC9CD4EB}"/>
              </a:ext>
            </a:extLst>
          </p:cNvPr>
          <p:cNvSpPr>
            <a:spLocks noGrp="1"/>
          </p:cNvSpPr>
          <p:nvPr/>
        </p:nvSpPr>
        <p:spPr>
          <a:xfrm>
            <a:off x="5105400" y="5524500"/>
            <a:ext cx="609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75" b="0">
                <a:solidFill>
                  <a:srgbClr val="5E6B70"/>
                </a:solidFill>
              </a:defRPr>
            </a:pPr>
            <a:r>
              <a:rPr sz="1275" b="0">
                <a:solidFill>
                  <a:srgbClr val="5E6B70"/>
                </a:solidFill>
              </a:rPr>
              <a:t>最终输出：新品研发建议 · 老品升级建议 · 概念热度排序</a:t>
            </a:r>
          </a:p>
        </p:txBody>
      </p:sp>
      <p:sp>
        <p:nvSpPr>
          <p:cNvPr id="26" name="Footer Number">
            <a:extLst>
              <a:ext uri="{FF2B5EF4-FFF2-40B4-BE49-F238E27FC236}">
                <a16:creationId xmlns:a16="http://schemas.microsoft.com/office/drawing/2014/main" id="{7550A353-1652-4B34-87F8-AC731EFF6647}"/>
              </a:ext>
            </a:extLst>
          </p:cNvPr>
          <p:cNvSpPr>
            <a:spLocks noGrp="1"/>
          </p:cNvSpPr>
          <p:nvPr/>
        </p:nvSpPr>
        <p:spPr>
          <a:xfrm>
            <a:off x="11182350" y="6448425"/>
            <a:ext cx="7334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5E6B70"/>
                </a:solidFill>
              </a:defRPr>
            </a:pPr>
            <a:r>
              <a:rPr sz="1050" b="0">
                <a:solidFill>
                  <a:srgbClr val="5E6B70"/>
                </a:solidFill>
              </a:rPr>
              <a:t>4/14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58FDB43-BE24-3514-7B2D-30EF2E434098}"/>
              </a:ext>
            </a:extLst>
          </p:cNvPr>
          <p:cNvSpPr txBox="1"/>
          <p:nvPr/>
        </p:nvSpPr>
        <p:spPr>
          <a:xfrm>
            <a:off x="4686300" y="3429000"/>
            <a:ext cx="1627369" cy="380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6343B"/>
                </a:solidFill>
              </a:rPr>
              <a:t>挖掘护肤需求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908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微软雅黑" panose="020B0503020204020204" charset="-122"/>
              </a:defRPr>
            </a:pPr>
            <a:r>
              <a:t>PAIN POINTS · 研发人员的「盲区」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0A0A0A"/>
                </a:solidFill>
                <a:latin typeface="微软雅黑" panose="020B0503020204020204" charset="-122"/>
              </a:defRPr>
            </a:pPr>
            <a:r>
              <a:rPr dirty="0" err="1"/>
              <a:t>研发人员的</a:t>
            </a:r>
            <a:r>
              <a:rPr dirty="0"/>
              <a:t>「</a:t>
            </a:r>
            <a:r>
              <a:rPr lang="zh-CN" altLang="en-US" dirty="0"/>
              <a:t>盲区</a:t>
            </a:r>
            <a:r>
              <a:rPr dirty="0"/>
              <a:t>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7454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传统研发模式面临四大核心痛点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2560320" cy="365760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2560320" cy="36576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A7"/>
                </a:solidFill>
                <a:latin typeface="Consolas" panose="020B0609020204030204"/>
              </a:defRPr>
            </a:pPr>
            <a:r>
              <a:t>01 ·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A0A0A"/>
                </a:solidFill>
                <a:latin typeface="微软雅黑" panose="020B0503020204020204" charset="-122"/>
              </a:defRPr>
            </a:pPr>
            <a:r>
              <a:rPr lang="zh-CN" altLang="en-US" dirty="0"/>
              <a:t>已有方案痛点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219456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rPr lang="zh-CN" altLang="en-US" dirty="0"/>
              <a:t>开源</a:t>
            </a:r>
            <a:r>
              <a:rPr lang="en-US" altLang="zh-CN" dirty="0"/>
              <a:t>/</a:t>
            </a:r>
            <a:r>
              <a:rPr lang="zh-CN" altLang="en-US" dirty="0"/>
              <a:t>付费爬虫工具如</a:t>
            </a:r>
            <a:r>
              <a:rPr lang="en-US" altLang="zh-CN" dirty="0" err="1"/>
              <a:t>mediacrawler</a:t>
            </a:r>
            <a:r>
              <a:rPr lang="zh-CN" altLang="en-US" dirty="0"/>
              <a:t>自定义爬取内容困难，分析工具针对性不足，且依赖性与数据隐私问题难以解决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3337560" y="2194560"/>
            <a:ext cx="2560320" cy="365760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2194560"/>
            <a:ext cx="2560320" cy="36576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0440" y="2468880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A7"/>
                </a:solidFill>
                <a:latin typeface="Consolas" panose="020B0609020204030204"/>
              </a:defRPr>
            </a:pPr>
            <a:r>
              <a:rPr dirty="0"/>
              <a:t>02 · </a:t>
            </a:r>
            <a:r>
              <a:rPr lang="en-US" dirty="0"/>
              <a:t>illusion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3520440" y="2926080"/>
            <a:ext cx="2194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A0A0A"/>
                </a:solidFill>
                <a:latin typeface="微软雅黑" panose="020B0503020204020204" charset="-122"/>
              </a:defRPr>
            </a:pPr>
            <a:r>
              <a:rPr lang="en-US" altLang="zh-CN" dirty="0"/>
              <a:t>AI</a:t>
            </a:r>
            <a:r>
              <a:rPr lang="zh-CN" altLang="en-US" dirty="0"/>
              <a:t>处理不准确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566160"/>
            <a:ext cx="219456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rPr lang="en-US" altLang="zh-CN" dirty="0"/>
              <a:t>AI</a:t>
            </a:r>
            <a:r>
              <a:rPr lang="zh-CN" altLang="en-US" dirty="0"/>
              <a:t>处理数据易出现幻觉，导致公司决策出现重大失误，需要人工核实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194560"/>
            <a:ext cx="2560320" cy="365760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26480" y="2194560"/>
            <a:ext cx="2560320" cy="36576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2468880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A7"/>
                </a:solidFill>
                <a:latin typeface="Consolas" panose="020B0609020204030204"/>
              </a:defRPr>
            </a:pPr>
            <a:r>
              <a:rPr dirty="0"/>
              <a:t>03 · </a:t>
            </a:r>
            <a:r>
              <a:rPr lang="en-US" dirty="0"/>
              <a:t>design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309360" y="2926080"/>
            <a:ext cx="2423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A0A0A"/>
                </a:solidFill>
                <a:latin typeface="微软雅黑" panose="020B0503020204020204" charset="-122"/>
              </a:defRPr>
            </a:pPr>
            <a:r>
              <a:rPr lang="zh-CN" altLang="en-US" dirty="0"/>
              <a:t>新品研发方向不明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309360" y="3566160"/>
            <a:ext cx="21945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rPr lang="zh-CN" altLang="en-US" dirty="0"/>
              <a:t>新品的研发需要精确瞄准市场的潜在需求，而广泛且真实的用户需求不在品牌方手中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5400" y="2194560"/>
            <a:ext cx="2560320" cy="365760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15400" y="2194560"/>
            <a:ext cx="2560320" cy="36576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98280" y="2468880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A7"/>
                </a:solidFill>
                <a:latin typeface="Consolas" panose="020B0609020204030204"/>
              </a:defRPr>
            </a:pPr>
            <a:r>
              <a:rPr dirty="0"/>
              <a:t>04 · </a:t>
            </a:r>
            <a:r>
              <a:rPr lang="en-US" dirty="0"/>
              <a:t>upgrade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9098279" y="2926080"/>
            <a:ext cx="2284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A0A0A"/>
                </a:solidFill>
                <a:latin typeface="微软雅黑" panose="020B0503020204020204" charset="-122"/>
              </a:defRPr>
            </a:pPr>
            <a:r>
              <a:rPr dirty="0" err="1"/>
              <a:t>老品升级</a:t>
            </a:r>
            <a:r>
              <a:rPr lang="zh-CN" altLang="en-US" dirty="0"/>
              <a:t>路径不清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9098280" y="35661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迭代方向主要依赖于流入流出数据，而非来源于网络用户评论的真实洞察。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172AC-6FEA-611D-5431-71B1EDEA1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372071-FD76-5F61-B14E-71D9B06D1A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A97097-9259-2E62-4EB9-8C93B55272FF}"/>
              </a:ext>
            </a:extLst>
          </p:cNvPr>
          <p:cNvSpPr>
            <a:spLocks noGrp="1"/>
          </p:cNvSpPr>
          <p:nvPr/>
        </p:nvSpPr>
        <p:spPr>
          <a:xfrm>
            <a:off x="640080" y="365760"/>
            <a:ext cx="530352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WORK OBJECTIVE · 研发洞察目标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DE0B15-4061-2D24-E59F-B56E4F1C48BB}"/>
              </a:ext>
            </a:extLst>
          </p:cNvPr>
          <p:cNvSpPr>
            <a:spLocks noGrp="1"/>
          </p:cNvSpPr>
          <p:nvPr/>
        </p:nvSpPr>
        <p:spPr>
          <a:xfrm>
            <a:off x="6492240" y="365760"/>
            <a:ext cx="502920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4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02 / 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67DC1E-6107-2055-4D27-2D1A84596242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6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为研发部门建立自主可控、可定制的消费者洞察能力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6E747C-338B-ED7E-A4CB-F7A140916218}"/>
              </a:ext>
            </a:extLst>
          </p:cNvPr>
          <p:cNvSpPr>
            <a:spLocks noGrp="1"/>
          </p:cNvSpPr>
          <p:nvPr/>
        </p:nvSpPr>
        <p:spPr>
          <a:xfrm>
            <a:off x="640080" y="1600200"/>
            <a:ext cx="1078992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让真实评论转化为“科技新草本”研发、产品迭代与竞品决策证据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397358-4538-F879-75C8-734C4CE3E549}"/>
              </a:ext>
            </a:extLst>
          </p:cNvPr>
          <p:cNvSpPr>
            <a:spLocks noGrp="1"/>
          </p:cNvSpPr>
          <p:nvPr/>
        </p:nvSpPr>
        <p:spPr>
          <a:xfrm>
            <a:off x="594360" y="2472503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FB05B2-3664-7805-8EF4-5256D322ADC8}"/>
              </a:ext>
            </a:extLst>
          </p:cNvPr>
          <p:cNvSpPr>
            <a:spLocks noGrp="1"/>
          </p:cNvSpPr>
          <p:nvPr/>
        </p:nvSpPr>
        <p:spPr>
          <a:xfrm>
            <a:off x="822960" y="2108947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01 · USER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90156A-A152-5190-D0A5-CA579F95006C}"/>
              </a:ext>
            </a:extLst>
          </p:cNvPr>
          <p:cNvSpPr>
            <a:spLocks noGrp="1"/>
          </p:cNvSpPr>
          <p:nvPr/>
        </p:nvSpPr>
        <p:spPr>
          <a:xfrm>
            <a:off x="82296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研发部门研发人员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84D57F-972D-0582-A1A8-52C5BE8BD6EC}"/>
              </a:ext>
            </a:extLst>
          </p:cNvPr>
          <p:cNvSpPr>
            <a:spLocks noGrp="1"/>
          </p:cNvSpPr>
          <p:nvPr/>
        </p:nvSpPr>
        <p:spPr>
          <a:xfrm>
            <a:off x="82296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理解真实消费者反馈
验证配方与功效方向
支持产品持续迭代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CB7879-41F6-F9B9-F0BE-B54EAE6018CA}"/>
              </a:ext>
            </a:extLst>
          </p:cNvPr>
          <p:cNvSpPr>
            <a:spLocks noGrp="1"/>
          </p:cNvSpPr>
          <p:nvPr/>
        </p:nvSpPr>
        <p:spPr>
          <a:xfrm>
            <a:off x="3383280" y="2496185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C17E09-B351-FC46-2A78-5D968EA18752}"/>
              </a:ext>
            </a:extLst>
          </p:cNvPr>
          <p:cNvSpPr>
            <a:spLocks noGrp="1"/>
          </p:cNvSpPr>
          <p:nvPr/>
        </p:nvSpPr>
        <p:spPr>
          <a:xfrm>
            <a:off x="3611880" y="2078355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02 · NEED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D825DA-3BF2-D492-624C-37F8B5D35462}"/>
              </a:ext>
            </a:extLst>
          </p:cNvPr>
          <p:cNvSpPr>
            <a:spLocks noGrp="1"/>
          </p:cNvSpPr>
          <p:nvPr/>
        </p:nvSpPr>
        <p:spPr>
          <a:xfrm>
            <a:off x="361188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精准且可落地的洞察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2E73F0-786E-B0CA-B600-39A37398CE3D}"/>
              </a:ext>
            </a:extLst>
          </p:cNvPr>
          <p:cNvSpPr>
            <a:spLocks noGrp="1"/>
          </p:cNvSpPr>
          <p:nvPr/>
        </p:nvSpPr>
        <p:spPr>
          <a:xfrm>
            <a:off x="361188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精准对应</a:t>
            </a:r>
            <a:r>
              <a:rPr sz="1600" dirty="0" err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客群</a:t>
            </a:r>
            <a:r>
              <a:rPr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lang="zh-CN" altLang="en-US"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深度</a:t>
            </a:r>
            <a:r>
              <a:rPr sz="1600" dirty="0" err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竞品对标</a:t>
            </a:r>
            <a:r>
              <a:rPr lang="zh-CN" altLang="en-US"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600" dirty="0" err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策略能够进入研发决策</a:t>
            </a:r>
            <a:endParaRPr sz="16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DEB662-75FF-504D-1030-29AFD9322B09}"/>
              </a:ext>
            </a:extLst>
          </p:cNvPr>
          <p:cNvSpPr>
            <a:spLocks noGrp="1"/>
          </p:cNvSpPr>
          <p:nvPr/>
        </p:nvSpPr>
        <p:spPr>
          <a:xfrm>
            <a:off x="6126480" y="2477770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B5DC61-BC8C-BEAB-3ECC-7B253419009E}"/>
              </a:ext>
            </a:extLst>
          </p:cNvPr>
          <p:cNvSpPr>
            <a:spLocks noGrp="1"/>
          </p:cNvSpPr>
          <p:nvPr/>
        </p:nvSpPr>
        <p:spPr>
          <a:xfrm>
            <a:off x="6400800" y="2078355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03 · GAP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535FC7-6314-14DA-656D-5DA9A55A575B}"/>
              </a:ext>
            </a:extLst>
          </p:cNvPr>
          <p:cNvSpPr>
            <a:spLocks noGrp="1"/>
          </p:cNvSpPr>
          <p:nvPr/>
        </p:nvSpPr>
        <p:spPr>
          <a:xfrm>
            <a:off x="6400799" y="2971800"/>
            <a:ext cx="2616679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2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全流程可定制化</a:t>
            </a:r>
            <a:endParaRPr sz="2200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A5A95D-4FB6-097B-1502-1A6A85911296}"/>
              </a:ext>
            </a:extLst>
          </p:cNvPr>
          <p:cNvSpPr>
            <a:spLocks noGrp="1"/>
          </p:cNvSpPr>
          <p:nvPr/>
        </p:nvSpPr>
        <p:spPr>
          <a:xfrm>
            <a:off x="640080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可修改数据库结构</a:t>
            </a:r>
            <a:endParaRPr lang="en-US" altLang="zh-CN" sz="16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针对百雀羚科技新草本专项分析，迎合中药潮流，预测新品热度
</a:t>
            </a:r>
            <a:endParaRPr sz="16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52F3B5-7B9E-17ED-BA40-0F0F19F47B18}"/>
              </a:ext>
            </a:extLst>
          </p:cNvPr>
          <p:cNvSpPr>
            <a:spLocks noGrp="1"/>
          </p:cNvSpPr>
          <p:nvPr/>
        </p:nvSpPr>
        <p:spPr>
          <a:xfrm>
            <a:off x="8915400" y="2460812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BDF11B-FBD9-CD0A-3458-5A07DEB093CB}"/>
              </a:ext>
            </a:extLst>
          </p:cNvPr>
          <p:cNvSpPr>
            <a:spLocks noGrp="1"/>
          </p:cNvSpPr>
          <p:nvPr/>
        </p:nvSpPr>
        <p:spPr>
          <a:xfrm>
            <a:off x="9189720" y="2068606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04 · SOLUTION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4C41A8-B790-0A29-5B77-0D51E8E02434}"/>
              </a:ext>
            </a:extLst>
          </p:cNvPr>
          <p:cNvSpPr>
            <a:spLocks noGrp="1"/>
          </p:cNvSpPr>
          <p:nvPr/>
        </p:nvSpPr>
        <p:spPr>
          <a:xfrm>
            <a:off x="918972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爬虫</a:t>
            </a:r>
            <a:r>
              <a:rPr sz="22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+ AI </a:t>
            </a:r>
            <a:r>
              <a:rPr lang="zh-CN" altLang="en-US" sz="22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多轮</a:t>
            </a:r>
            <a:r>
              <a:rPr sz="2200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分析</a:t>
            </a:r>
            <a:r>
              <a:rPr lang="zh-CN" altLang="en-US" sz="22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系统</a:t>
            </a:r>
            <a:endParaRPr sz="2200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94B370-5DA4-0A1E-FA86-364AD79D530B}"/>
              </a:ext>
            </a:extLst>
          </p:cNvPr>
          <p:cNvSpPr>
            <a:spLocks noGrp="1"/>
          </p:cNvSpPr>
          <p:nvPr/>
        </p:nvSpPr>
        <p:spPr>
          <a:xfrm>
            <a:off x="918972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 dirty="0" err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评论与用户信息自主采集</a:t>
            </a:r>
            <a:r>
              <a:rPr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
</a:t>
            </a:r>
            <a:r>
              <a:rPr sz="1600" dirty="0" err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输出专项策略并沉淀数据资产</a:t>
            </a:r>
            <a:r>
              <a:rPr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
</a:t>
            </a:r>
            <a:r>
              <a:rPr lang="zh-CN" altLang="en-US"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多轮</a:t>
            </a:r>
            <a:r>
              <a:rPr lang="en-US" altLang="zh-CN"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ai</a:t>
            </a:r>
            <a:r>
              <a:rPr lang="zh-CN" altLang="en-US"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检查</a:t>
            </a:r>
            <a:r>
              <a:rPr lang="en-US" altLang="zh-CN"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+</a:t>
            </a:r>
            <a:r>
              <a:rPr lang="zh-CN" altLang="en-US"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迭代，最大程度降低误差</a:t>
            </a:r>
            <a:br>
              <a:rPr lang="en-US" altLang="zh-CN"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</a:br>
            <a:r>
              <a:rPr lang="zh-CN" altLang="en-US"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数据量增大会加入查重系统</a:t>
            </a:r>
            <a:endParaRPr sz="16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B2D75C-6A1C-E1B5-C66F-CB46BD353DA9}"/>
              </a:ext>
            </a:extLst>
          </p:cNvPr>
          <p:cNvSpPr>
            <a:spLocks noGrp="1"/>
          </p:cNvSpPr>
          <p:nvPr/>
        </p:nvSpPr>
        <p:spPr>
          <a:xfrm>
            <a:off x="11186160" y="6446520"/>
            <a:ext cx="73152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4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2/14</a:t>
            </a:r>
          </a:p>
        </p:txBody>
      </p:sp>
    </p:spTree>
    <p:extLst>
      <p:ext uri="{BB962C8B-B14F-4D97-AF65-F5344CB8AC3E}">
        <p14:creationId xmlns:p14="http://schemas.microsoft.com/office/powerpoint/2010/main" val="684855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2A964B-582B-4222-B512-971B7C9A66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348ACD-0D43-4A78-8200-0F3FF884ED05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3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三</a:t>
            </a:r>
            <a:r>
              <a:rPr sz="38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步完成从分析口径到高价值数据</a:t>
            </a:r>
            <a:endParaRPr sz="3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FD1F6E-3618-4E70-8BFC-09486864BC8F}"/>
              </a:ext>
            </a:extLst>
          </p:cNvPr>
          <p:cNvSpPr>
            <a:spLocks noGrp="1"/>
          </p:cNvSpPr>
          <p:nvPr/>
        </p:nvSpPr>
        <p:spPr>
          <a:xfrm>
            <a:off x="640080" y="1485900"/>
            <a:ext cx="10789920" cy="219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前端“分析设置”定义规则 · 后端配置驱动采集、入库与过滤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07F12A-0ECB-4EC8-9C40-AD56CEC5465F}"/>
              </a:ext>
            </a:extLst>
          </p:cNvPr>
          <p:cNvSpPr>
            <a:spLocks noGrp="1"/>
          </p:cNvSpPr>
          <p:nvPr/>
        </p:nvSpPr>
        <p:spPr>
          <a:xfrm>
            <a:off x="548640" y="2011680"/>
            <a:ext cx="3291840" cy="384048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27642F-66B6-437E-9636-307F8548C9B0}"/>
              </a:ext>
            </a:extLst>
          </p:cNvPr>
          <p:cNvSpPr>
            <a:spLocks noGrp="1"/>
          </p:cNvSpPr>
          <p:nvPr/>
        </p:nvSpPr>
        <p:spPr>
          <a:xfrm>
            <a:off x="868680" y="2331720"/>
            <a:ext cx="265176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 dirty="0">
                <a:solidFill>
                  <a:srgbClr val="E8EAF0"/>
                </a:solidFill>
                <a:latin typeface="微软雅黑"/>
                <a:ea typeface="微软雅黑"/>
                <a:cs typeface="微软雅黑"/>
              </a:rPr>
              <a:t>01· </a:t>
            </a:r>
            <a:r>
              <a:rPr sz="1300" b="1" dirty="0" err="1">
                <a:solidFill>
                  <a:srgbClr val="E8EAF0"/>
                </a:solidFill>
                <a:latin typeface="微软雅黑"/>
                <a:ea typeface="微软雅黑"/>
                <a:cs typeface="微软雅黑"/>
              </a:rPr>
              <a:t>数据底座</a:t>
            </a:r>
            <a:endParaRPr sz="1300" b="1" dirty="0">
              <a:solidFill>
                <a:srgbClr val="E8EAF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C2E816-6734-4B7A-B365-F8B7632371F1}"/>
              </a:ext>
            </a:extLst>
          </p:cNvPr>
          <p:cNvSpPr>
            <a:spLocks noGrp="1"/>
          </p:cNvSpPr>
          <p:nvPr/>
        </p:nvSpPr>
        <p:spPr>
          <a:xfrm>
            <a:off x="868680" y="2880360"/>
            <a:ext cx="2651760" cy="492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选源 · 建库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162B24-20E2-4278-A5A9-36B7912A8E96}"/>
              </a:ext>
            </a:extLst>
          </p:cNvPr>
          <p:cNvSpPr>
            <a:spLocks noGrp="1"/>
          </p:cNvSpPr>
          <p:nvPr/>
        </p:nvSpPr>
        <p:spPr>
          <a:xfrm>
            <a:off x="868680" y="3703320"/>
            <a:ext cx="2651760" cy="1887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E8EAF0"/>
                </a:solidFill>
                <a:latin typeface="微软雅黑"/>
                <a:ea typeface="微软雅黑"/>
                <a:cs typeface="微软雅黑"/>
              </a:rPr>
              <a:t>选择抖音公开评论</a:t>
            </a:r>
          </a:p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E8EAF0"/>
                </a:solidFill>
                <a:latin typeface="微软雅黑"/>
                <a:ea typeface="微软雅黑"/>
                <a:cs typeface="微软雅黑"/>
              </a:rPr>
              <a:t>设计原始数据结构</a:t>
            </a:r>
          </a:p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E8EAF0"/>
                </a:solidFill>
                <a:latin typeface="微软雅黑"/>
                <a:ea typeface="微软雅黑"/>
                <a:cs typeface="微软雅黑"/>
              </a:rPr>
              <a:t>品牌·视频·评论·用户·错误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1DD8C6-470B-4F91-8C62-6943CBBAFA88}"/>
              </a:ext>
            </a:extLst>
          </p:cNvPr>
          <p:cNvSpPr>
            <a:spLocks noGrp="1"/>
          </p:cNvSpPr>
          <p:nvPr/>
        </p:nvSpPr>
        <p:spPr>
          <a:xfrm>
            <a:off x="4224643" y="2011680"/>
            <a:ext cx="3291840" cy="384048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E865E7-B4D6-44B0-B41E-F8C0D811FF57}"/>
              </a:ext>
            </a:extLst>
          </p:cNvPr>
          <p:cNvSpPr>
            <a:spLocks noGrp="1"/>
          </p:cNvSpPr>
          <p:nvPr/>
        </p:nvSpPr>
        <p:spPr>
          <a:xfrm>
            <a:off x="4544683" y="2331720"/>
            <a:ext cx="265176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en-US" sz="13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3</a:t>
            </a:r>
            <a:r>
              <a:rPr sz="13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执行治理</a:t>
            </a:r>
            <a:endParaRPr sz="13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DE1CFC-60B0-4EE8-906B-F60B3948CFA0}"/>
              </a:ext>
            </a:extLst>
          </p:cNvPr>
          <p:cNvSpPr>
            <a:spLocks noGrp="1"/>
          </p:cNvSpPr>
          <p:nvPr/>
        </p:nvSpPr>
        <p:spPr>
          <a:xfrm>
            <a:off x="4544683" y="2880360"/>
            <a:ext cx="2651760" cy="492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</a:pPr>
            <a:r>
              <a:rPr sz="28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爬取</a:t>
            </a:r>
            <a:r>
              <a:rPr sz="2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·</a:t>
            </a:r>
            <a:r>
              <a:rPr lang="en-US" sz="2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zh-CN" altLang="en-US" sz="2800" b="1" dirty="0">
                <a:solidFill>
                  <a:srgbClr val="23282B"/>
                </a:solidFill>
                <a:latin typeface="微软雅黑"/>
                <a:ea typeface="微软雅黑"/>
              </a:rPr>
              <a:t>选竞品 </a:t>
            </a:r>
            <a:endParaRPr sz="2800" b="1" dirty="0">
              <a:solidFill>
                <a:srgbClr val="23282B"/>
              </a:solidFill>
              <a:latin typeface="微软雅黑"/>
              <a:ea typeface="微软雅黑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3419C8-02DF-4805-BA3F-D18B0C501E26}"/>
              </a:ext>
            </a:extLst>
          </p:cNvPr>
          <p:cNvSpPr>
            <a:spLocks noGrp="1"/>
          </p:cNvSpPr>
          <p:nvPr/>
        </p:nvSpPr>
        <p:spPr>
          <a:xfrm>
            <a:off x="4544683" y="3703320"/>
            <a:ext cx="2651760" cy="1887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搜索 → 视频 → 三级评论 → 主页</a:t>
            </a:r>
          </a:p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去重·长度·文本比·黑名单</a:t>
            </a:r>
          </a:p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LLM 相关性 ≥ 7/10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D0C0DD41-4FFB-684A-589A-D4C6059FC386}"/>
              </a:ext>
            </a:extLst>
          </p:cNvPr>
          <p:cNvSpPr txBox="1"/>
          <p:nvPr/>
        </p:nvSpPr>
        <p:spPr>
          <a:xfrm>
            <a:off x="457200" y="241748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数据采集</a:t>
            </a:r>
            <a:r>
              <a:rPr lang="en-US" altLang="zh-CN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数据管理工作流</a:t>
            </a:r>
            <a:endParaRPr lang="en-US" sz="1600" dirty="0"/>
          </a:p>
        </p:txBody>
      </p:sp>
      <p:sp>
        <p:nvSpPr>
          <p:cNvPr id="23" name="divider">
            <a:extLst>
              <a:ext uri="{FF2B5EF4-FFF2-40B4-BE49-F238E27FC236}">
                <a16:creationId xmlns:a16="http://schemas.microsoft.com/office/drawing/2014/main" id="{377407A0-BF54-9F77-62E6-9903D4A78556}"/>
              </a:ext>
            </a:extLst>
          </p:cNvPr>
          <p:cNvSpPr/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68D8891-7FC2-288C-3A1F-EBD94D7671C9}"/>
              </a:ext>
            </a:extLst>
          </p:cNvPr>
          <p:cNvSpPr/>
          <p:nvPr/>
        </p:nvSpPr>
        <p:spPr>
          <a:xfrm>
            <a:off x="785276" y="5922361"/>
            <a:ext cx="22813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菜单入口：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数据管理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分析设置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339CB67-2A70-F7B0-6546-464C0A2DF346}"/>
              </a:ext>
            </a:extLst>
          </p:cNvPr>
          <p:cNvSpPr/>
          <p:nvPr/>
        </p:nvSpPr>
        <p:spPr>
          <a:xfrm>
            <a:off x="4709573" y="5967179"/>
            <a:ext cx="22813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菜单入口：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数据管理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分析设置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0CE69FE-E153-4ED2-CA71-15C7660C6719}"/>
              </a:ext>
            </a:extLst>
          </p:cNvPr>
          <p:cNvSpPr/>
          <p:nvPr/>
        </p:nvSpPr>
        <p:spPr>
          <a:xfrm>
            <a:off x="8082545" y="5971655"/>
            <a:ext cx="22813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菜单入口：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数据管理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原始数据</a:t>
            </a:r>
            <a:endParaRPr lang="zh-CN" altLang="en-US" dirty="0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470F8642-F3E4-CD09-C1C5-EBB5B494835B}"/>
              </a:ext>
            </a:extLst>
          </p:cNvPr>
          <p:cNvSpPr>
            <a:spLocks noGrp="1"/>
          </p:cNvSpPr>
          <p:nvPr/>
        </p:nvSpPr>
        <p:spPr>
          <a:xfrm>
            <a:off x="7900646" y="2011680"/>
            <a:ext cx="3291840" cy="3840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8FEB3D2E-EDA5-46A1-4A44-6D4F76C09154}"/>
              </a:ext>
            </a:extLst>
          </p:cNvPr>
          <p:cNvSpPr>
            <a:spLocks noGrp="1"/>
          </p:cNvSpPr>
          <p:nvPr/>
        </p:nvSpPr>
        <p:spPr>
          <a:xfrm>
            <a:off x="8220686" y="2331720"/>
            <a:ext cx="265176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 dirty="0">
                <a:latin typeface="微软雅黑"/>
                <a:ea typeface="微软雅黑"/>
                <a:cs typeface="微软雅黑"/>
              </a:rPr>
              <a:t>0</a:t>
            </a:r>
            <a:r>
              <a:rPr lang="en-US" sz="1300" b="1" dirty="0">
                <a:latin typeface="微软雅黑"/>
                <a:ea typeface="微软雅黑"/>
                <a:cs typeface="微软雅黑"/>
              </a:rPr>
              <a:t>2</a:t>
            </a:r>
            <a:r>
              <a:rPr sz="1300" b="1" dirty="0">
                <a:latin typeface="微软雅黑"/>
                <a:ea typeface="微软雅黑"/>
                <a:cs typeface="微软雅黑"/>
              </a:rPr>
              <a:t> · </a:t>
            </a:r>
            <a:r>
              <a:rPr sz="1300" b="1" dirty="0" err="1">
                <a:latin typeface="微软雅黑"/>
                <a:ea typeface="微软雅黑"/>
                <a:cs typeface="微软雅黑"/>
              </a:rPr>
              <a:t>分析口径</a:t>
            </a:r>
            <a:endParaRPr sz="1300" b="1"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30CCBD7C-E2FF-E8AC-D37D-37877BBD2BA5}"/>
              </a:ext>
            </a:extLst>
          </p:cNvPr>
          <p:cNvSpPr>
            <a:spLocks noGrp="1"/>
          </p:cNvSpPr>
          <p:nvPr/>
        </p:nvSpPr>
        <p:spPr>
          <a:xfrm>
            <a:off x="8120044" y="2880360"/>
            <a:ext cx="3614756" cy="492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价值</a:t>
            </a:r>
            <a:r>
              <a:rPr lang="zh-CN" altLang="en-US" sz="2800" b="1" dirty="0">
                <a:solidFill>
                  <a:srgbClr val="23282B"/>
                </a:solidFill>
                <a:latin typeface="微软雅黑"/>
                <a:ea typeface="微软雅黑"/>
              </a:rPr>
              <a:t>过滤 </a:t>
            </a:r>
            <a:r>
              <a:rPr sz="2800" b="1" dirty="0">
                <a:solidFill>
                  <a:srgbClr val="23282B"/>
                </a:solidFill>
                <a:latin typeface="微软雅黑"/>
                <a:ea typeface="微软雅黑"/>
              </a:rPr>
              <a:t>· </a:t>
            </a:r>
            <a:r>
              <a:rPr sz="2800" b="1" dirty="0" err="1">
                <a:solidFill>
                  <a:srgbClr val="23282B"/>
                </a:solidFill>
                <a:latin typeface="微软雅黑"/>
                <a:ea typeface="微软雅黑"/>
              </a:rPr>
              <a:t>定画像</a:t>
            </a:r>
            <a:endParaRPr sz="2800" b="1" dirty="0">
              <a:solidFill>
                <a:srgbClr val="23282B"/>
              </a:solidFill>
              <a:latin typeface="微软雅黑"/>
              <a:ea typeface="微软雅黑"/>
            </a:endParaRP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D1242747-88FA-29B9-A2CB-3D04BA376F0C}"/>
              </a:ext>
            </a:extLst>
          </p:cNvPr>
          <p:cNvSpPr>
            <a:spLocks noGrp="1"/>
          </p:cNvSpPr>
          <p:nvPr/>
        </p:nvSpPr>
        <p:spPr>
          <a:xfrm>
            <a:off x="8220686" y="3703320"/>
            <a:ext cx="2651760" cy="1887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latin typeface="微软雅黑"/>
                <a:ea typeface="微软雅黑"/>
                <a:cs typeface="微软雅黑"/>
              </a:rPr>
              <a:t>品牌定位 + 搜索关键词</a:t>
            </a:r>
          </a:p>
          <a:p>
            <a:pPr algn="l">
              <a:lnSpc>
                <a:spcPct val="120000"/>
              </a:lnSpc>
              <a:buNone/>
            </a:pPr>
            <a:r>
              <a:rPr sz="1700">
                <a:latin typeface="微软雅黑"/>
                <a:ea typeface="微软雅黑"/>
                <a:cs typeface="微软雅黑"/>
              </a:rPr>
              <a:t>客群标签 + 典型特征</a:t>
            </a:r>
          </a:p>
          <a:p>
            <a:pPr algn="l">
              <a:lnSpc>
                <a:spcPct val="120000"/>
              </a:lnSpc>
              <a:buNone/>
            </a:pPr>
            <a:r>
              <a:rPr sz="1700">
                <a:latin typeface="微软雅黑"/>
                <a:ea typeface="微软雅黑"/>
                <a:cs typeface="微软雅黑"/>
              </a:rPr>
              <a:t>保存至 YAML 配置</a:t>
            </a:r>
          </a:p>
        </p:txBody>
      </p:sp>
    </p:spTree>
    <p:extLst>
      <p:ext uri="{BB962C8B-B14F-4D97-AF65-F5344CB8AC3E}">
        <p14:creationId xmlns:p14="http://schemas.microsoft.com/office/powerpoint/2010/main" val="1878713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25F08F-E3C8-4774-B2BF-6D31F8EA58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2B71EB-A83C-4C74-B871-4ECB13BDE4B6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4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混合算法，让语义理解与量化比较各司其职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0E4ECD-FE1D-476C-9567-5A80219C6987}"/>
              </a:ext>
            </a:extLst>
          </p:cNvPr>
          <p:cNvSpPr>
            <a:spLocks noGrp="1"/>
          </p:cNvSpPr>
          <p:nvPr/>
        </p:nvSpPr>
        <p:spPr>
          <a:xfrm>
            <a:off x="640080" y="1600200"/>
            <a:ext cx="1078992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规则提效 · LLM 读懂口语 · 统计保证可比 · 战略归纳形成决策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314B8F-56F3-43B2-B9FF-4F95C798545F}"/>
              </a:ext>
            </a:extLst>
          </p:cNvPr>
          <p:cNvSpPr>
            <a:spLocks noGrp="1"/>
          </p:cNvSpPr>
          <p:nvPr/>
        </p:nvSpPr>
        <p:spPr>
          <a:xfrm>
            <a:off x="548640" y="2194560"/>
            <a:ext cx="2560320" cy="365760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C82E00-9802-489E-90C6-86073B736A4F}"/>
              </a:ext>
            </a:extLst>
          </p:cNvPr>
          <p:cNvSpPr>
            <a:spLocks noGrp="1"/>
          </p:cNvSpPr>
          <p:nvPr/>
        </p:nvSpPr>
        <p:spPr>
          <a:xfrm>
            <a:off x="548640" y="2194560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6FAC61-0748-42F5-8A9E-6FE8BEA9F575}"/>
              </a:ext>
            </a:extLst>
          </p:cNvPr>
          <p:cNvSpPr>
            <a:spLocks noGrp="1"/>
          </p:cNvSpPr>
          <p:nvPr/>
        </p:nvSpPr>
        <p:spPr>
          <a:xfrm>
            <a:off x="822960" y="2514600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01 · FILTER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B02A11-133B-432D-8CE5-36BED2D8E0BE}"/>
              </a:ext>
            </a:extLst>
          </p:cNvPr>
          <p:cNvSpPr>
            <a:spLocks noGrp="1"/>
          </p:cNvSpPr>
          <p:nvPr/>
        </p:nvSpPr>
        <p:spPr>
          <a:xfrm>
            <a:off x="82296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双阶段过滤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BC4976-3444-4CB5-818B-61120EA31B2A}"/>
              </a:ext>
            </a:extLst>
          </p:cNvPr>
          <p:cNvSpPr>
            <a:spLocks noGrp="1"/>
          </p:cNvSpPr>
          <p:nvPr/>
        </p:nvSpPr>
        <p:spPr>
          <a:xfrm>
            <a:off x="82296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关键词白/黑名单初筛
边界评论由 LLM 评分
≥ 7/10 才保留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164A59-D926-46DE-A8C2-D04F396AEF76}"/>
              </a:ext>
            </a:extLst>
          </p:cNvPr>
          <p:cNvSpPr>
            <a:spLocks noGrp="1"/>
          </p:cNvSpPr>
          <p:nvPr/>
        </p:nvSpPr>
        <p:spPr>
          <a:xfrm>
            <a:off x="3337560" y="2194560"/>
            <a:ext cx="2560320" cy="365760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12F3F5-03CD-4F88-97C1-A8736FCF7492}"/>
              </a:ext>
            </a:extLst>
          </p:cNvPr>
          <p:cNvSpPr>
            <a:spLocks noGrp="1"/>
          </p:cNvSpPr>
          <p:nvPr/>
        </p:nvSpPr>
        <p:spPr>
          <a:xfrm>
            <a:off x="3337560" y="2194560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98CB13-2372-4AA0-BC78-2FC451557258}"/>
              </a:ext>
            </a:extLst>
          </p:cNvPr>
          <p:cNvSpPr>
            <a:spLocks noGrp="1"/>
          </p:cNvSpPr>
          <p:nvPr/>
        </p:nvSpPr>
        <p:spPr>
          <a:xfrm>
            <a:off x="3611880" y="2514600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02 · SEMANTIC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9A35C2-C53E-4D27-A553-9B4F2EE5EB48}"/>
              </a:ext>
            </a:extLst>
          </p:cNvPr>
          <p:cNvSpPr>
            <a:spLocks noGrp="1"/>
          </p:cNvSpPr>
          <p:nvPr/>
        </p:nvSpPr>
        <p:spPr>
          <a:xfrm>
            <a:off x="361188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多标签语义识别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02948D-01B7-4A7E-A927-B92795D8E112}"/>
              </a:ext>
            </a:extLst>
          </p:cNvPr>
          <p:cNvSpPr>
            <a:spLocks noGrp="1"/>
          </p:cNvSpPr>
          <p:nvPr/>
        </p:nvSpPr>
        <p:spPr>
          <a:xfrm>
            <a:off x="361188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情感 × 六维功效
用户画像 × 购买意向
竞品偏好与转换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D7D163-78F7-4A1C-8FB3-AF175303F995}"/>
              </a:ext>
            </a:extLst>
          </p:cNvPr>
          <p:cNvSpPr>
            <a:spLocks noGrp="1"/>
          </p:cNvSpPr>
          <p:nvPr/>
        </p:nvSpPr>
        <p:spPr>
          <a:xfrm>
            <a:off x="6126480" y="2194560"/>
            <a:ext cx="2560320" cy="365760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2AC7A6-5101-4DED-B9E0-C38834090196}"/>
              </a:ext>
            </a:extLst>
          </p:cNvPr>
          <p:cNvSpPr>
            <a:spLocks noGrp="1"/>
          </p:cNvSpPr>
          <p:nvPr/>
        </p:nvSpPr>
        <p:spPr>
          <a:xfrm>
            <a:off x="6126480" y="2194560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4CD15-CA5A-40A6-901F-099654EF79D5}"/>
              </a:ext>
            </a:extLst>
          </p:cNvPr>
          <p:cNvSpPr>
            <a:spLocks noGrp="1"/>
          </p:cNvSpPr>
          <p:nvPr/>
        </p:nvSpPr>
        <p:spPr>
          <a:xfrm>
            <a:off x="6400800" y="2514600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03 · METRICS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B50A09-8D6A-469D-A0A4-3717ED12763D}"/>
              </a:ext>
            </a:extLst>
          </p:cNvPr>
          <p:cNvSpPr>
            <a:spLocks noGrp="1"/>
          </p:cNvSpPr>
          <p:nvPr/>
        </p:nvSpPr>
        <p:spPr>
          <a:xfrm>
            <a:off x="640080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可解释量化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50EC17-B820-4B6E-8862-07BE5EAD97FA}"/>
              </a:ext>
            </a:extLst>
          </p:cNvPr>
          <p:cNvSpPr>
            <a:spLocks noGrp="1"/>
          </p:cNvSpPr>
          <p:nvPr/>
        </p:nvSpPr>
        <p:spPr>
          <a:xfrm>
            <a:off x="640080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净情感 =（正−负）/有效样本
功效均分 × 话题声量
目标品牌 − 竞品均值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A918DC-A316-4EF0-90EB-8FA89E52F330}"/>
              </a:ext>
            </a:extLst>
          </p:cNvPr>
          <p:cNvSpPr>
            <a:spLocks noGrp="1"/>
          </p:cNvSpPr>
          <p:nvPr/>
        </p:nvSpPr>
        <p:spPr>
          <a:xfrm>
            <a:off x="8915400" y="2194560"/>
            <a:ext cx="2560320" cy="365760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A5215E-7F58-4F64-9B3D-EE6FB18215D0}"/>
              </a:ext>
            </a:extLst>
          </p:cNvPr>
          <p:cNvSpPr>
            <a:spLocks noGrp="1"/>
          </p:cNvSpPr>
          <p:nvPr/>
        </p:nvSpPr>
        <p:spPr>
          <a:xfrm>
            <a:off x="8915400" y="2194560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6496BF-0D95-4821-89B9-DFC9FB4831A9}"/>
              </a:ext>
            </a:extLst>
          </p:cNvPr>
          <p:cNvSpPr>
            <a:spLocks noGrp="1"/>
          </p:cNvSpPr>
          <p:nvPr/>
        </p:nvSpPr>
        <p:spPr>
          <a:xfrm>
            <a:off x="9189720" y="2514600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04 · STRATEGY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9A715F-C8A8-4D6E-AA41-3F37BDC015C9}"/>
              </a:ext>
            </a:extLst>
          </p:cNvPr>
          <p:cNvSpPr>
            <a:spLocks noGrp="1"/>
          </p:cNvSpPr>
          <p:nvPr/>
        </p:nvSpPr>
        <p:spPr>
          <a:xfrm>
            <a:off x="918972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战略洞察归纳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EE2DB3-34F1-4A52-B81B-A3220E9D40A2}"/>
              </a:ext>
            </a:extLst>
          </p:cNvPr>
          <p:cNvSpPr>
            <a:spLocks noGrp="1"/>
          </p:cNvSpPr>
          <p:nvPr/>
        </p:nvSpPr>
        <p:spPr>
          <a:xfrm>
            <a:off x="918972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排名 · 定位图 · 竞争缺口
竞品提及与转换意向
SWOT 与行动启示</a:t>
            </a:r>
          </a:p>
        </p:txBody>
      </p:sp>
      <p:sp>
        <p:nvSpPr>
          <p:cNvPr id="31" name="divider">
            <a:extLst>
              <a:ext uri="{FF2B5EF4-FFF2-40B4-BE49-F238E27FC236}">
                <a16:creationId xmlns:a16="http://schemas.microsoft.com/office/drawing/2014/main" id="{ABB6613E-512E-02FB-24BE-00A3E7DE7FC3}"/>
              </a:ext>
            </a:extLst>
          </p:cNvPr>
          <p:cNvSpPr/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3" name="title">
            <a:extLst>
              <a:ext uri="{FF2B5EF4-FFF2-40B4-BE49-F238E27FC236}">
                <a16:creationId xmlns:a16="http://schemas.microsoft.com/office/drawing/2014/main" id="{188FDF70-2C36-B144-D6F4-D4C0F2CE887F}"/>
              </a:ext>
            </a:extLst>
          </p:cNvPr>
          <p:cNvSpPr txBox="1"/>
          <p:nvPr/>
        </p:nvSpPr>
        <p:spPr>
          <a:xfrm>
            <a:off x="457200" y="241748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数据分析</a:t>
            </a:r>
            <a:r>
              <a:rPr lang="en-US" altLang="zh-CN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大模型分析方法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10248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数据采集</a:t>
            </a:r>
            <a:r>
              <a:rPr lang="en-US" altLang="zh-CN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过程回顾</a:t>
            </a:r>
            <a:endParaRPr lang="en-US" sz="1600" dirty="0"/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8665C8C2-DCC1-44E7-BC53-C0C275D96912}"/>
              </a:ext>
            </a:extLst>
          </p:cNvPr>
          <p:cNvSpPr>
            <a:spLocks noGrp="1"/>
          </p:cNvSpPr>
          <p:nvPr/>
        </p:nvSpPr>
        <p:spPr>
          <a:xfrm>
            <a:off x="902970" y="3109858"/>
            <a:ext cx="1920240" cy="19962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B46A3FEE-AABD-486A-BCB4-9FDAC03147B5}"/>
              </a:ext>
            </a:extLst>
          </p:cNvPr>
          <p:cNvSpPr>
            <a:spLocks noGrp="1"/>
          </p:cNvSpPr>
          <p:nvPr/>
        </p:nvSpPr>
        <p:spPr>
          <a:xfrm>
            <a:off x="640080" y="1339457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8,397 </a:t>
            </a:r>
            <a:r>
              <a:rPr sz="38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条评论沉淀，形成</a:t>
            </a:r>
            <a:r>
              <a:rPr lang="zh-CN" altLang="en-US" sz="3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消费洞察的</a:t>
            </a:r>
            <a:r>
              <a:rPr sz="38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样本</a:t>
            </a:r>
            <a:r>
              <a:rPr lang="zh-CN" altLang="en-US" sz="3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数据</a:t>
            </a:r>
            <a:endParaRPr sz="3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55C987D9-4CFF-4BA6-AA0E-5E8CAA270E0B}"/>
              </a:ext>
            </a:extLst>
          </p:cNvPr>
          <p:cNvSpPr>
            <a:spLocks noGrp="1"/>
          </p:cNvSpPr>
          <p:nvPr/>
        </p:nvSpPr>
        <p:spPr>
          <a:xfrm>
            <a:off x="640080" y="2528177"/>
            <a:ext cx="2286000" cy="2273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4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DATABASE RAW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858B4B61-8246-4230-9BB0-D2D8776ABD8C}"/>
              </a:ext>
            </a:extLst>
          </p:cNvPr>
          <p:cNvSpPr>
            <a:spLocks noGrp="1"/>
          </p:cNvSpPr>
          <p:nvPr/>
        </p:nvSpPr>
        <p:spPr>
          <a:xfrm>
            <a:off x="640080" y="3429898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40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8,397</a:t>
            </a: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7133B387-174C-4288-AFDA-328998CE8BBE}"/>
              </a:ext>
            </a:extLst>
          </p:cNvPr>
          <p:cNvSpPr>
            <a:spLocks noGrp="1"/>
          </p:cNvSpPr>
          <p:nvPr/>
        </p:nvSpPr>
        <p:spPr>
          <a:xfrm>
            <a:off x="640080" y="425285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5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全库原始评论</a:t>
            </a:r>
          </a:p>
        </p:txBody>
      </p:sp>
      <p:sp>
        <p:nvSpPr>
          <p:cNvPr id="23" name="Rectangle 10-2">
            <a:extLst>
              <a:ext uri="{FF2B5EF4-FFF2-40B4-BE49-F238E27FC236}">
                <a16:creationId xmlns:a16="http://schemas.microsoft.com/office/drawing/2014/main" id="{D6E5EF00-099C-4664-B7A2-0EA607E2C2BA}"/>
              </a:ext>
            </a:extLst>
          </p:cNvPr>
          <p:cNvSpPr>
            <a:spLocks noGrp="1"/>
          </p:cNvSpPr>
          <p:nvPr/>
        </p:nvSpPr>
        <p:spPr>
          <a:xfrm>
            <a:off x="3657600" y="3109858"/>
            <a:ext cx="1920240" cy="19962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9EC565AF-3E7B-49CC-95E0-681836145758}"/>
              </a:ext>
            </a:extLst>
          </p:cNvPr>
          <p:cNvSpPr>
            <a:spLocks noGrp="1"/>
          </p:cNvSpPr>
          <p:nvPr/>
        </p:nvSpPr>
        <p:spPr>
          <a:xfrm>
            <a:off x="3474720" y="2528177"/>
            <a:ext cx="2286000" cy="2273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MODEL ANALYZED</a:t>
            </a:r>
          </a:p>
        </p:txBody>
      </p:sp>
      <p:sp>
        <p:nvSpPr>
          <p:cNvPr id="26" name="TextBox 12">
            <a:extLst>
              <a:ext uri="{FF2B5EF4-FFF2-40B4-BE49-F238E27FC236}">
                <a16:creationId xmlns:a16="http://schemas.microsoft.com/office/drawing/2014/main" id="{210A9477-ADA5-48AC-91EF-15CCBF528968}"/>
              </a:ext>
            </a:extLst>
          </p:cNvPr>
          <p:cNvSpPr>
            <a:spLocks noGrp="1"/>
          </p:cNvSpPr>
          <p:nvPr/>
        </p:nvSpPr>
        <p:spPr>
          <a:xfrm>
            <a:off x="3474720" y="3429898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4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2,999</a:t>
            </a:r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C7DBCAB1-9164-4BBC-876C-724626186183}"/>
              </a:ext>
            </a:extLst>
          </p:cNvPr>
          <p:cNvSpPr>
            <a:spLocks noGrp="1"/>
          </p:cNvSpPr>
          <p:nvPr/>
        </p:nvSpPr>
        <p:spPr>
          <a:xfrm>
            <a:off x="3474720" y="425285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5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质量排序后进入模型</a:t>
            </a: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E83492A1-B4EB-49B5-9539-68FF2D6AE7C9}"/>
              </a:ext>
            </a:extLst>
          </p:cNvPr>
          <p:cNvSpPr>
            <a:spLocks noGrp="1"/>
          </p:cNvSpPr>
          <p:nvPr/>
        </p:nvSpPr>
        <p:spPr>
          <a:xfrm>
            <a:off x="6492240" y="3109858"/>
            <a:ext cx="1920240" cy="19972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14C5FEC6-3AA0-4A98-9528-FFBE0D359FE8}"/>
              </a:ext>
            </a:extLst>
          </p:cNvPr>
          <p:cNvSpPr>
            <a:spLocks noGrp="1"/>
          </p:cNvSpPr>
          <p:nvPr/>
        </p:nvSpPr>
        <p:spPr>
          <a:xfrm>
            <a:off x="6309360" y="2528177"/>
            <a:ext cx="2286000" cy="2273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BENCHMARK VOICES</a:t>
            </a: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690BC341-BD1C-46C4-A302-1B368FDBA90A}"/>
              </a:ext>
            </a:extLst>
          </p:cNvPr>
          <p:cNvSpPr>
            <a:spLocks noGrp="1"/>
          </p:cNvSpPr>
          <p:nvPr/>
        </p:nvSpPr>
        <p:spPr>
          <a:xfrm>
            <a:off x="6309360" y="3429898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4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1,488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63397554-9D5F-49ED-B807-7E55CC48DBDB}"/>
              </a:ext>
            </a:extLst>
          </p:cNvPr>
          <p:cNvSpPr>
            <a:spLocks noGrp="1"/>
          </p:cNvSpPr>
          <p:nvPr/>
        </p:nvSpPr>
        <p:spPr>
          <a:xfrm>
            <a:off x="6309360" y="425285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5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6 品牌有效声音</a:t>
            </a:r>
          </a:p>
        </p:txBody>
      </p:sp>
      <p:sp>
        <p:nvSpPr>
          <p:cNvPr id="32" name="Rectangle 18">
            <a:extLst>
              <a:ext uri="{FF2B5EF4-FFF2-40B4-BE49-F238E27FC236}">
                <a16:creationId xmlns:a16="http://schemas.microsoft.com/office/drawing/2014/main" id="{AF7FBA02-17C6-4CC7-B292-1B51F16D740D}"/>
              </a:ext>
            </a:extLst>
          </p:cNvPr>
          <p:cNvSpPr>
            <a:spLocks noGrp="1"/>
          </p:cNvSpPr>
          <p:nvPr/>
        </p:nvSpPr>
        <p:spPr>
          <a:xfrm>
            <a:off x="9326880" y="3109858"/>
            <a:ext cx="1920240" cy="19962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</p:sp>
      <p:sp>
        <p:nvSpPr>
          <p:cNvPr id="33" name="TextBox 19">
            <a:extLst>
              <a:ext uri="{FF2B5EF4-FFF2-40B4-BE49-F238E27FC236}">
                <a16:creationId xmlns:a16="http://schemas.microsoft.com/office/drawing/2014/main" id="{726D784B-3608-4FFE-9AB7-58CD9251E698}"/>
              </a:ext>
            </a:extLst>
          </p:cNvPr>
          <p:cNvSpPr>
            <a:spLocks noGrp="1"/>
          </p:cNvSpPr>
          <p:nvPr/>
        </p:nvSpPr>
        <p:spPr>
          <a:xfrm>
            <a:off x="9144000" y="2528177"/>
            <a:ext cx="2286000" cy="2273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PECHOIN VOICES</a:t>
            </a:r>
          </a:p>
        </p:txBody>
      </p:sp>
      <p:sp>
        <p:nvSpPr>
          <p:cNvPr id="34" name="TextBox 20">
            <a:extLst>
              <a:ext uri="{FF2B5EF4-FFF2-40B4-BE49-F238E27FC236}">
                <a16:creationId xmlns:a16="http://schemas.microsoft.com/office/drawing/2014/main" id="{E45C3148-A2A6-44D0-BC86-C347986DEE3E}"/>
              </a:ext>
            </a:extLst>
          </p:cNvPr>
          <p:cNvSpPr>
            <a:spLocks noGrp="1"/>
          </p:cNvSpPr>
          <p:nvPr/>
        </p:nvSpPr>
        <p:spPr>
          <a:xfrm>
            <a:off x="9144000" y="3429898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4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504</a:t>
            </a:r>
          </a:p>
        </p:txBody>
      </p:sp>
      <p:sp>
        <p:nvSpPr>
          <p:cNvPr id="35" name="TextBox 21">
            <a:extLst>
              <a:ext uri="{FF2B5EF4-FFF2-40B4-BE49-F238E27FC236}">
                <a16:creationId xmlns:a16="http://schemas.microsoft.com/office/drawing/2014/main" id="{BDD7EB82-2F6F-40C2-9FB2-523820159662}"/>
              </a:ext>
            </a:extLst>
          </p:cNvPr>
          <p:cNvSpPr>
            <a:spLocks noGrp="1"/>
          </p:cNvSpPr>
          <p:nvPr/>
        </p:nvSpPr>
        <p:spPr>
          <a:xfrm>
            <a:off x="9144000" y="425285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5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百雀羚有效声音</a:t>
            </a:r>
          </a:p>
        </p:txBody>
      </p:sp>
      <p:sp>
        <p:nvSpPr>
          <p:cNvPr id="36" name="divider"/>
          <p:cNvSpPr/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矩形 3"/>
          <p:cNvSpPr/>
          <p:nvPr/>
        </p:nvSpPr>
        <p:spPr>
          <a:xfrm>
            <a:off x="785275" y="5620114"/>
            <a:ext cx="22813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菜单入口：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数据管理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清洗规则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7693151" y="5620114"/>
            <a:ext cx="27430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菜单入口：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消费者洞察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评论洞察”</a:t>
            </a:r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3638023" y="5620114"/>
            <a:ext cx="22813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菜单入口：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数据管理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原始数据</a:t>
            </a:r>
            <a:endParaRPr lang="zh-CN" altLang="en-US" dirty="0"/>
          </a:p>
        </p:txBody>
      </p:sp>
      <p:sp>
        <p:nvSpPr>
          <p:cNvPr id="39" name="上下箭头 38"/>
          <p:cNvSpPr/>
          <p:nvPr/>
        </p:nvSpPr>
        <p:spPr>
          <a:xfrm>
            <a:off x="1729212" y="5095013"/>
            <a:ext cx="316871" cy="525101"/>
          </a:xfrm>
          <a:prstGeom prst="upDownArrow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上下箭头 39"/>
          <p:cNvSpPr/>
          <p:nvPr/>
        </p:nvSpPr>
        <p:spPr>
          <a:xfrm>
            <a:off x="4461849" y="5107140"/>
            <a:ext cx="316871" cy="525101"/>
          </a:xfrm>
          <a:prstGeom prst="upDownArrow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上下箭头 40"/>
          <p:cNvSpPr/>
          <p:nvPr/>
        </p:nvSpPr>
        <p:spPr>
          <a:xfrm>
            <a:off x="7801793" y="5197675"/>
            <a:ext cx="316871" cy="525101"/>
          </a:xfrm>
          <a:prstGeom prst="upDownArrow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上下箭头 41"/>
          <p:cNvSpPr/>
          <p:nvPr/>
        </p:nvSpPr>
        <p:spPr>
          <a:xfrm>
            <a:off x="9635904" y="5197675"/>
            <a:ext cx="316871" cy="525101"/>
          </a:xfrm>
          <a:prstGeom prst="upDownArrow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809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1A9269-D446-43BF-8FFC-C1702999FB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28CF2-55D0-49BD-A58D-57E1D553793B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585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2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忠诚老客托底，潜在与首试用户决定增量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2E414C-6B01-42C1-9F5E-6C3D9E13BA8D}"/>
              </a:ext>
            </a:extLst>
          </p:cNvPr>
          <p:cNvSpPr>
            <a:spLocks noGrp="1"/>
          </p:cNvSpPr>
          <p:nvPr/>
        </p:nvSpPr>
        <p:spPr>
          <a:xfrm>
            <a:off x="548640" y="1645920"/>
            <a:ext cx="3291840" cy="164592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B4542D-D886-43C6-B4C8-16CE3D92E239}"/>
              </a:ext>
            </a:extLst>
          </p:cNvPr>
          <p:cNvSpPr>
            <a:spLocks noGrp="1"/>
          </p:cNvSpPr>
          <p:nvPr/>
        </p:nvSpPr>
        <p:spPr>
          <a:xfrm>
            <a:off x="777240" y="1828800"/>
            <a:ext cx="283464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01 · 144人 · 28.6%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D811F4-7443-4E1A-B466-31CB98B3516C}"/>
              </a:ext>
            </a:extLst>
          </p:cNvPr>
          <p:cNvSpPr>
            <a:spLocks noGrp="1"/>
          </p:cNvSpPr>
          <p:nvPr/>
        </p:nvSpPr>
        <p:spPr>
          <a:xfrm>
            <a:off x="777240" y="2194560"/>
            <a:ext cx="28346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品牌忠诚老粉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62D7A6-CC72-4E54-BE46-9847F1C98FA0}"/>
              </a:ext>
            </a:extLst>
          </p:cNvPr>
          <p:cNvSpPr>
            <a:spLocks noGrp="1"/>
          </p:cNvSpPr>
          <p:nvPr/>
        </p:nvSpPr>
        <p:spPr>
          <a:xfrm>
            <a:off x="4023360" y="1645920"/>
            <a:ext cx="3291840" cy="164592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1397DB-A2D2-45E1-9AC4-D32F912C3732}"/>
              </a:ext>
            </a:extLst>
          </p:cNvPr>
          <p:cNvSpPr>
            <a:spLocks noGrp="1"/>
          </p:cNvSpPr>
          <p:nvPr/>
        </p:nvSpPr>
        <p:spPr>
          <a:xfrm>
            <a:off x="4251960" y="1828800"/>
            <a:ext cx="283464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02 · 81人 · 16.1%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3CA609-DD83-484A-A5EF-F26315B45982}"/>
              </a:ext>
            </a:extLst>
          </p:cNvPr>
          <p:cNvSpPr>
            <a:spLocks noGrp="1"/>
          </p:cNvSpPr>
          <p:nvPr/>
        </p:nvSpPr>
        <p:spPr>
          <a:xfrm>
            <a:off x="4251960" y="2194560"/>
            <a:ext cx="28346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实惠性价比派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1D22BA-1D70-4B9D-A25D-ECAAF5677F70}"/>
              </a:ext>
            </a:extLst>
          </p:cNvPr>
          <p:cNvSpPr>
            <a:spLocks noGrp="1"/>
          </p:cNvSpPr>
          <p:nvPr/>
        </p:nvSpPr>
        <p:spPr>
          <a:xfrm>
            <a:off x="7498080" y="1645920"/>
            <a:ext cx="3291840" cy="164592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572F29-DEAF-482D-A1F5-F048C67E2440}"/>
              </a:ext>
            </a:extLst>
          </p:cNvPr>
          <p:cNvSpPr>
            <a:spLocks noGrp="1"/>
          </p:cNvSpPr>
          <p:nvPr/>
        </p:nvSpPr>
        <p:spPr>
          <a:xfrm>
            <a:off x="7726680" y="1828800"/>
            <a:ext cx="283464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03 · 67人 · 13.3%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0F2F20-9654-45B8-A446-A9238C62FEB5}"/>
              </a:ext>
            </a:extLst>
          </p:cNvPr>
          <p:cNvSpPr>
            <a:spLocks noGrp="1"/>
          </p:cNvSpPr>
          <p:nvPr/>
        </p:nvSpPr>
        <p:spPr>
          <a:xfrm>
            <a:off x="7726680" y="2194560"/>
            <a:ext cx="28346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问题肌自救者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B99F50-06E6-4A39-BB27-FA64ED0B0E94}"/>
              </a:ext>
            </a:extLst>
          </p:cNvPr>
          <p:cNvSpPr>
            <a:spLocks noGrp="1"/>
          </p:cNvSpPr>
          <p:nvPr/>
        </p:nvSpPr>
        <p:spPr>
          <a:xfrm>
            <a:off x="548640" y="3474720"/>
            <a:ext cx="3291840" cy="164592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2CE12D-1353-45F5-BF8C-DD2FFCAEF64C}"/>
              </a:ext>
            </a:extLst>
          </p:cNvPr>
          <p:cNvSpPr>
            <a:spLocks noGrp="1"/>
          </p:cNvSpPr>
          <p:nvPr/>
        </p:nvSpPr>
        <p:spPr>
          <a:xfrm>
            <a:off x="777240" y="3657600"/>
            <a:ext cx="283464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04 · 44人 · 8.7%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299DB5-8B18-477F-9550-08512BA04532}"/>
              </a:ext>
            </a:extLst>
          </p:cNvPr>
          <p:cNvSpPr>
            <a:spLocks noGrp="1"/>
          </p:cNvSpPr>
          <p:nvPr/>
        </p:nvSpPr>
        <p:spPr>
          <a:xfrm>
            <a:off x="777240" y="4023360"/>
            <a:ext cx="28346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跟风种草型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914D5A-FB70-46AD-ACD4-219BFC47B901}"/>
              </a:ext>
            </a:extLst>
          </p:cNvPr>
          <p:cNvSpPr>
            <a:spLocks noGrp="1"/>
          </p:cNvSpPr>
          <p:nvPr/>
        </p:nvSpPr>
        <p:spPr>
          <a:xfrm>
            <a:off x="4023360" y="3474720"/>
            <a:ext cx="3291840" cy="164592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E3586A-BB6B-4B45-A043-413B2EAC4894}"/>
              </a:ext>
            </a:extLst>
          </p:cNvPr>
          <p:cNvSpPr>
            <a:spLocks noGrp="1"/>
          </p:cNvSpPr>
          <p:nvPr/>
        </p:nvSpPr>
        <p:spPr>
          <a:xfrm>
            <a:off x="4251960" y="3657600"/>
            <a:ext cx="283464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05 · 41人 · 8.1%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DE99AA-80BB-425D-AC05-2646C3465B86}"/>
              </a:ext>
            </a:extLst>
          </p:cNvPr>
          <p:cNvSpPr>
            <a:spLocks noGrp="1"/>
          </p:cNvSpPr>
          <p:nvPr/>
        </p:nvSpPr>
        <p:spPr>
          <a:xfrm>
            <a:off x="4251960" y="4023360"/>
            <a:ext cx="28346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精致护肤白领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530119-4227-4783-9DEF-237B9AB705EB}"/>
              </a:ext>
            </a:extLst>
          </p:cNvPr>
          <p:cNvSpPr>
            <a:spLocks noGrp="1"/>
          </p:cNvSpPr>
          <p:nvPr/>
        </p:nvSpPr>
        <p:spPr>
          <a:xfrm>
            <a:off x="7498080" y="3474720"/>
            <a:ext cx="3291840" cy="164592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CF3ABA-743F-4A03-BF78-789DE6633E78}"/>
              </a:ext>
            </a:extLst>
          </p:cNvPr>
          <p:cNvSpPr>
            <a:spLocks noGrp="1"/>
          </p:cNvSpPr>
          <p:nvPr/>
        </p:nvSpPr>
        <p:spPr>
          <a:xfrm>
            <a:off x="7726680" y="3657600"/>
            <a:ext cx="283464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E8EAF0"/>
                </a:solidFill>
                <a:latin typeface="微软雅黑"/>
                <a:ea typeface="微软雅黑"/>
                <a:cs typeface="微软雅黑"/>
              </a:rPr>
              <a:t>06 · 177人 · 35.1%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FED1C7-5C1B-45EE-AB18-26187785E6A0}"/>
              </a:ext>
            </a:extLst>
          </p:cNvPr>
          <p:cNvSpPr>
            <a:spLocks noGrp="1"/>
          </p:cNvSpPr>
          <p:nvPr/>
        </p:nvSpPr>
        <p:spPr>
          <a:xfrm>
            <a:off x="7726680" y="4023360"/>
            <a:ext cx="28346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⬆ 潜在用户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909D4B-BF8D-4C74-9854-459570997F3A}"/>
              </a:ext>
            </a:extLst>
          </p:cNvPr>
          <p:cNvSpPr>
            <a:spLocks noGrp="1"/>
          </p:cNvSpPr>
          <p:nvPr/>
        </p:nvSpPr>
        <p:spPr>
          <a:xfrm>
            <a:off x="548640" y="5303520"/>
            <a:ext cx="10972800" cy="889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EED091-619E-4C04-BAF7-F54D39E9ABC2}"/>
              </a:ext>
            </a:extLst>
          </p:cNvPr>
          <p:cNvSpPr>
            <a:spLocks noGrp="1"/>
          </p:cNvSpPr>
          <p:nvPr/>
        </p:nvSpPr>
        <p:spPr>
          <a:xfrm>
            <a:off x="640080" y="5532120"/>
            <a:ext cx="256032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忠实老客 166人 · 32.9%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A3E1D8-365C-4BC2-8ECB-D3FFCE67E452}"/>
              </a:ext>
            </a:extLst>
          </p:cNvPr>
          <p:cNvSpPr>
            <a:spLocks noGrp="1"/>
          </p:cNvSpPr>
          <p:nvPr/>
        </p:nvSpPr>
        <p:spPr>
          <a:xfrm>
            <a:off x="4206240" y="5532120"/>
            <a:ext cx="256032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首次尝试 107人 · 21.2%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D4AA4E-7A02-4FFB-AABE-F6D3EDEA2FFC}"/>
              </a:ext>
            </a:extLst>
          </p:cNvPr>
          <p:cNvSpPr>
            <a:spLocks noGrp="1"/>
          </p:cNvSpPr>
          <p:nvPr/>
        </p:nvSpPr>
        <p:spPr>
          <a:xfrm>
            <a:off x="7863840" y="5532120"/>
            <a:ext cx="34747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7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高+中价值 271人 · 53.8%</a:t>
            </a:r>
          </a:p>
        </p:txBody>
      </p:sp>
      <p:sp>
        <p:nvSpPr>
          <p:cNvPr id="30" name="title">
            <a:extLst>
              <a:ext uri="{FF2B5EF4-FFF2-40B4-BE49-F238E27FC236}">
                <a16:creationId xmlns:a16="http://schemas.microsoft.com/office/drawing/2014/main" id="{EC28C394-0882-9CA9-AD34-8473F241D2C7}"/>
              </a:ext>
            </a:extLst>
          </p:cNvPr>
          <p:cNvSpPr>
            <a:spLocks noGrp="1"/>
          </p:cNvSpPr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数据采集</a:t>
            </a:r>
            <a:r>
              <a:rPr lang="en-US" altLang="zh-CN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客户画像</a:t>
            </a:r>
            <a:endParaRPr sz="2200" b="1" dirty="0">
              <a:solidFill>
                <a:srgbClr val="0478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divider">
            <a:extLst>
              <a:ext uri="{FF2B5EF4-FFF2-40B4-BE49-F238E27FC236}">
                <a16:creationId xmlns:a16="http://schemas.microsoft.com/office/drawing/2014/main" id="{175F623F-DE54-DC8B-9492-2E3880E9EA7C}"/>
              </a:ext>
            </a:extLst>
          </p:cNvPr>
          <p:cNvSpPr>
            <a:spLocks noGrp="1"/>
          </p:cNvSpPr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13627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8C8A69B-2DA6-4D12-92AF-2C2CB357AEB1}"/>
              </a:ext>
            </a:extLst>
          </p:cNvPr>
          <p:cNvSpPr>
            <a:spLocks noGrp="1"/>
          </p:cNvSpPr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竞品分析</a:t>
            </a:r>
            <a:r>
              <a:rPr lang="en-US" altLang="zh-CN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sz="2200" b="1" dirty="0" err="1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品牌样本</a:t>
            </a:r>
            <a:endParaRPr sz="2200" b="1" dirty="0">
              <a:solidFill>
                <a:srgbClr val="0478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B46A3FEE-AABD-486A-BCB4-9FDAC03147B5}"/>
              </a:ext>
            </a:extLst>
          </p:cNvPr>
          <p:cNvSpPr>
            <a:spLocks noGrp="1"/>
          </p:cNvSpPr>
          <p:nvPr/>
        </p:nvSpPr>
        <p:spPr>
          <a:xfrm>
            <a:off x="640080" y="1339457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  <a:buNone/>
            </a:pPr>
            <a:r>
              <a:rPr sz="38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百雀羚置顶展示，6个品牌构成有效对标样本池</a:t>
            </a: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358C0D46-6BCA-414A-9605-BFD78312C705}"/>
              </a:ext>
            </a:extLst>
          </p:cNvPr>
          <p:cNvSpPr>
            <a:spLocks noGrp="1"/>
          </p:cNvSpPr>
          <p:nvPr/>
        </p:nvSpPr>
        <p:spPr>
          <a:xfrm>
            <a:off x="818132" y="6187072"/>
            <a:ext cx="10789920" cy="219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菜单入口“消费者洞察——品牌样本”｜口径：有效评论</a:t>
            </a:r>
          </a:p>
        </p:txBody>
      </p:sp>
      <p:sp>
        <p:nvSpPr>
          <p:cNvPr id="36" name="divider">
            <a:extLst>
              <a:ext uri="{FF2B5EF4-FFF2-40B4-BE49-F238E27FC236}">
                <a16:creationId xmlns:a16="http://schemas.microsoft.com/office/drawing/2014/main" id="{1A836A52-4EE4-4B4F-A6F8-897988B49662}"/>
              </a:ext>
            </a:extLst>
          </p:cNvPr>
          <p:cNvSpPr>
            <a:spLocks noGrp="1"/>
          </p:cNvSpPr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graphicFrame>
        <p:nvGraphicFramePr>
          <p:cNvPr id="53" name="Chart"/>
          <p:cNvGraphicFramePr/>
          <p:nvPr>
            <p:extLst>
              <p:ext uri="{D42A27DB-BD31-4B8C-83A1-F6EECF244321}">
                <p14:modId xmlns:p14="http://schemas.microsoft.com/office/powerpoint/2010/main" val="2233573058"/>
              </p:ext>
            </p:extLst>
          </p:nvPr>
        </p:nvGraphicFramePr>
        <p:xfrm>
          <a:off x="595313" y="2182904"/>
          <a:ext cx="638175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8" name="sample-pool-eyebrow">
            <a:extLst>
              <a:ext uri="{FF2B5EF4-FFF2-40B4-BE49-F238E27FC236}">
                <a16:creationId xmlns:a16="http://schemas.microsoft.com/office/drawing/2014/main" id="{44084D12-BD39-4CF4-B2DC-DD59F6C45D85}"/>
              </a:ext>
            </a:extLst>
          </p:cNvPr>
          <p:cNvSpPr>
            <a:spLocks noGrp="1"/>
          </p:cNvSpPr>
          <p:nvPr/>
        </p:nvSpPr>
        <p:spPr>
          <a:xfrm>
            <a:off x="7477125" y="228600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975" b="1">
                <a:solidFill>
                  <a:srgbClr val="047857"/>
                </a:solidFill>
                <a:latin typeface="MiSans"/>
                <a:ea typeface="MiSans"/>
                <a:cs typeface="MiSans"/>
              </a:defRPr>
            </a:pPr>
            <a:r>
              <a:rPr sz="975" b="1">
                <a:solidFill>
                  <a:srgbClr val="047857"/>
                </a:solidFill>
                <a:latin typeface="MiSans"/>
                <a:ea typeface="MiSans"/>
                <a:cs typeface="MiSans"/>
              </a:rPr>
              <a:t>SAMPLE POOL</a:t>
            </a:r>
          </a:p>
        </p:txBody>
      </p:sp>
      <p:sp>
        <p:nvSpPr>
          <p:cNvPr id="39" name="sample-pool-metric">
            <a:extLst>
              <a:ext uri="{FF2B5EF4-FFF2-40B4-BE49-F238E27FC236}">
                <a16:creationId xmlns:a16="http://schemas.microsoft.com/office/drawing/2014/main" id="{CC6218EB-D5C9-4D66-8003-82DAF27DC2E0}"/>
              </a:ext>
            </a:extLst>
          </p:cNvPr>
          <p:cNvSpPr>
            <a:spLocks noGrp="1"/>
          </p:cNvSpPr>
          <p:nvPr/>
        </p:nvSpPr>
        <p:spPr>
          <a:xfrm>
            <a:off x="7477125" y="2524125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2850" b="1">
                <a:solidFill>
                  <a:srgbClr val="047857"/>
                </a:solidFill>
                <a:latin typeface="MiSans"/>
                <a:ea typeface="MiSans"/>
                <a:cs typeface="MiSans"/>
              </a:defRPr>
            </a:pPr>
            <a:r>
              <a:rPr sz="2850" b="1">
                <a:solidFill>
                  <a:srgbClr val="047857"/>
                </a:solidFill>
                <a:latin typeface="MiSans"/>
                <a:ea typeface="MiSans"/>
                <a:cs typeface="MiSans"/>
              </a:rPr>
              <a:t>1,488</a:t>
            </a:r>
          </a:p>
        </p:txBody>
      </p:sp>
      <p:sp>
        <p:nvSpPr>
          <p:cNvPr id="40" name="sample-pool-label">
            <a:extLst>
              <a:ext uri="{FF2B5EF4-FFF2-40B4-BE49-F238E27FC236}">
                <a16:creationId xmlns:a16="http://schemas.microsoft.com/office/drawing/2014/main" id="{1B7D2C34-7C70-4A61-B773-FB0358F1B69A}"/>
              </a:ext>
            </a:extLst>
          </p:cNvPr>
          <p:cNvSpPr>
            <a:spLocks noGrp="1"/>
          </p:cNvSpPr>
          <p:nvPr/>
        </p:nvSpPr>
        <p:spPr>
          <a:xfrm>
            <a:off x="9096375" y="2647950"/>
            <a:ext cx="2143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1575" b="1">
                <a:solidFill>
                  <a:srgbClr val="23282B"/>
                </a:solidFill>
                <a:latin typeface="MiSans"/>
                <a:ea typeface="MiSans"/>
                <a:cs typeface="MiSans"/>
              </a:defRPr>
            </a:pPr>
            <a:r>
              <a:rPr sz="1575" b="1">
                <a:solidFill>
                  <a:srgbClr val="23282B"/>
                </a:solidFill>
                <a:latin typeface="MiSans"/>
                <a:ea typeface="MiSans"/>
                <a:cs typeface="MiSans"/>
              </a:rPr>
              <a:t>条有效评论 · 6个品牌</a:t>
            </a:r>
          </a:p>
        </p:txBody>
      </p:sp>
      <p:sp>
        <p:nvSpPr>
          <p:cNvPr id="41" name="sample-pool-copy">
            <a:extLst>
              <a:ext uri="{FF2B5EF4-FFF2-40B4-BE49-F238E27FC236}">
                <a16:creationId xmlns:a16="http://schemas.microsoft.com/office/drawing/2014/main" id="{E1EE4CC5-6591-43E8-8B9A-708778C85053}"/>
              </a:ext>
            </a:extLst>
          </p:cNvPr>
          <p:cNvSpPr>
            <a:spLocks noGrp="1"/>
          </p:cNvSpPr>
          <p:nvPr/>
        </p:nvSpPr>
        <p:spPr>
          <a:xfrm>
            <a:off x="7477125" y="3048000"/>
            <a:ext cx="3762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16000"/>
              </a:lnSpc>
              <a:buNone/>
              <a:defRPr sz="1275">
                <a:solidFill>
                  <a:srgbClr val="4B5563"/>
                </a:solidFill>
                <a:latin typeface="MiSans"/>
                <a:ea typeface="MiSans"/>
                <a:cs typeface="MiSans"/>
              </a:defRPr>
            </a:pPr>
            <a:r>
              <a:rPr sz="1275">
                <a:solidFill>
                  <a:srgbClr val="4B5563"/>
                </a:solidFill>
                <a:latin typeface="MiSans"/>
                <a:ea typeface="MiSans"/>
                <a:cs typeface="MiSans"/>
              </a:rPr>
              <a:t>覆盖样本规模、口碑、NPS、草本感知与客群画像，为后续竞品诊断提供同口径底盘。</a:t>
            </a:r>
          </a:p>
        </p:txBody>
      </p:sp>
      <p:sp>
        <p:nvSpPr>
          <p:cNvPr id="42" name="callout-separator-1">
            <a:extLst>
              <a:ext uri="{FF2B5EF4-FFF2-40B4-BE49-F238E27FC236}">
                <a16:creationId xmlns:a16="http://schemas.microsoft.com/office/drawing/2014/main" id="{904B479F-AC5A-4362-B317-B7BE3C652D17}"/>
              </a:ext>
            </a:extLst>
          </p:cNvPr>
          <p:cNvSpPr>
            <a:spLocks noGrp="1"/>
          </p:cNvSpPr>
          <p:nvPr/>
        </p:nvSpPr>
        <p:spPr>
          <a:xfrm>
            <a:off x="7477125" y="3724275"/>
            <a:ext cx="3762375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43" name="pechoin-depth-eyebrow">
            <a:extLst>
              <a:ext uri="{FF2B5EF4-FFF2-40B4-BE49-F238E27FC236}">
                <a16:creationId xmlns:a16="http://schemas.microsoft.com/office/drawing/2014/main" id="{E0805058-4625-4247-973A-3CF842DDB60F}"/>
              </a:ext>
            </a:extLst>
          </p:cNvPr>
          <p:cNvSpPr>
            <a:spLocks noGrp="1"/>
          </p:cNvSpPr>
          <p:nvPr/>
        </p:nvSpPr>
        <p:spPr>
          <a:xfrm>
            <a:off x="7477125" y="38862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975" b="1">
                <a:solidFill>
                  <a:srgbClr val="047857"/>
                </a:solidFill>
                <a:latin typeface="MiSans"/>
                <a:ea typeface="MiSans"/>
                <a:cs typeface="MiSans"/>
              </a:defRPr>
            </a:pPr>
            <a:r>
              <a:rPr sz="975" b="1">
                <a:solidFill>
                  <a:srgbClr val="047857"/>
                </a:solidFill>
                <a:latin typeface="MiSans"/>
                <a:ea typeface="MiSans"/>
                <a:cs typeface="MiSans"/>
              </a:rPr>
              <a:t>PECHOIN DEPTH</a:t>
            </a:r>
          </a:p>
        </p:txBody>
      </p:sp>
      <p:sp>
        <p:nvSpPr>
          <p:cNvPr id="44" name="pechoin-depth-metric">
            <a:extLst>
              <a:ext uri="{FF2B5EF4-FFF2-40B4-BE49-F238E27FC236}">
                <a16:creationId xmlns:a16="http://schemas.microsoft.com/office/drawing/2014/main" id="{4D417C4D-1518-435F-8ADC-8A4CDBDA3CE3}"/>
              </a:ext>
            </a:extLst>
          </p:cNvPr>
          <p:cNvSpPr>
            <a:spLocks noGrp="1"/>
          </p:cNvSpPr>
          <p:nvPr/>
        </p:nvSpPr>
        <p:spPr>
          <a:xfrm>
            <a:off x="7477125" y="4114800"/>
            <a:ext cx="1066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2550" b="1">
                <a:solidFill>
                  <a:srgbClr val="23282B"/>
                </a:solidFill>
                <a:latin typeface="MiSans"/>
                <a:ea typeface="MiSans"/>
                <a:cs typeface="MiSans"/>
              </a:defRPr>
            </a:pPr>
            <a:r>
              <a:rPr sz="2550" b="1">
                <a:solidFill>
                  <a:srgbClr val="23282B"/>
                </a:solidFill>
                <a:latin typeface="MiSans"/>
                <a:ea typeface="MiSans"/>
                <a:cs typeface="MiSans"/>
              </a:rPr>
              <a:t>504</a:t>
            </a:r>
          </a:p>
        </p:txBody>
      </p:sp>
      <p:sp>
        <p:nvSpPr>
          <p:cNvPr id="45" name="pechoin-depth-copy">
            <a:extLst>
              <a:ext uri="{FF2B5EF4-FFF2-40B4-BE49-F238E27FC236}">
                <a16:creationId xmlns:a16="http://schemas.microsoft.com/office/drawing/2014/main" id="{C1CA579C-FAE6-4B50-82A9-DCBDB6A276B3}"/>
              </a:ext>
            </a:extLst>
          </p:cNvPr>
          <p:cNvSpPr>
            <a:spLocks noGrp="1"/>
          </p:cNvSpPr>
          <p:nvPr/>
        </p:nvSpPr>
        <p:spPr>
          <a:xfrm>
            <a:off x="8572500" y="4143375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6544"/>
          </a:bodyPr>
          <a:lstStyle/>
          <a:p>
            <a:pPr>
              <a:lnSpc>
                <a:spcPct val="114000"/>
              </a:lnSpc>
              <a:buNone/>
              <a:defRPr sz="1275">
                <a:solidFill>
                  <a:srgbClr val="4B5563"/>
                </a:solidFill>
                <a:latin typeface="MiSans"/>
                <a:ea typeface="MiSans"/>
                <a:cs typeface="MiSans"/>
              </a:defRPr>
            </a:pPr>
            <a:r>
              <a:rPr sz="1275">
                <a:solidFill>
                  <a:srgbClr val="4B5563"/>
                </a:solidFill>
                <a:latin typeface="MiSans"/>
                <a:ea typeface="MiSans"/>
                <a:cs typeface="MiSans"/>
              </a:rPr>
              <a:t>条百雀羚有效评论，占样本池33.9%；页面置顶，便于从品牌视角快速复盘。</a:t>
            </a:r>
          </a:p>
        </p:txBody>
      </p:sp>
      <p:sp>
        <p:nvSpPr>
          <p:cNvPr id="46" name="callout-separator-2">
            <a:extLst>
              <a:ext uri="{FF2B5EF4-FFF2-40B4-BE49-F238E27FC236}">
                <a16:creationId xmlns:a16="http://schemas.microsoft.com/office/drawing/2014/main" id="{925761E0-CAD8-48FD-B655-A230F90A739B}"/>
              </a:ext>
            </a:extLst>
          </p:cNvPr>
          <p:cNvSpPr>
            <a:spLocks noGrp="1"/>
          </p:cNvSpPr>
          <p:nvPr/>
        </p:nvSpPr>
        <p:spPr>
          <a:xfrm>
            <a:off x="7477125" y="4857750"/>
            <a:ext cx="3762375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47" name="sentiment-gap-metric">
            <a:extLst>
              <a:ext uri="{FF2B5EF4-FFF2-40B4-BE49-F238E27FC236}">
                <a16:creationId xmlns:a16="http://schemas.microsoft.com/office/drawing/2014/main" id="{E63CDA57-BC23-4F9C-8CEB-400286FB9B15}"/>
              </a:ext>
            </a:extLst>
          </p:cNvPr>
          <p:cNvSpPr>
            <a:spLocks noGrp="1"/>
          </p:cNvSpPr>
          <p:nvPr/>
        </p:nvSpPr>
        <p:spPr>
          <a:xfrm>
            <a:off x="7477125" y="504825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2325" b="1">
                <a:solidFill>
                  <a:srgbClr val="047857"/>
                </a:solidFill>
                <a:latin typeface="MiSans"/>
                <a:ea typeface="MiSans"/>
                <a:cs typeface="MiSans"/>
              </a:defRPr>
            </a:pPr>
            <a:r>
              <a:rPr sz="2325" b="1">
                <a:solidFill>
                  <a:srgbClr val="047857"/>
                </a:solidFill>
                <a:latin typeface="MiSans"/>
                <a:ea typeface="MiSans"/>
                <a:cs typeface="MiSans"/>
              </a:rPr>
              <a:t>+19.4pp</a:t>
            </a:r>
          </a:p>
        </p:txBody>
      </p:sp>
      <p:sp>
        <p:nvSpPr>
          <p:cNvPr id="48" name="sentiment-gap-copy">
            <a:extLst>
              <a:ext uri="{FF2B5EF4-FFF2-40B4-BE49-F238E27FC236}">
                <a16:creationId xmlns:a16="http://schemas.microsoft.com/office/drawing/2014/main" id="{58D422D7-303D-4682-B15E-618DF7AF11D1}"/>
              </a:ext>
            </a:extLst>
          </p:cNvPr>
          <p:cNvSpPr>
            <a:spLocks noGrp="1"/>
          </p:cNvSpPr>
          <p:nvPr/>
        </p:nvSpPr>
        <p:spPr>
          <a:xfrm>
            <a:off x="9048750" y="5057775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buNone/>
              <a:defRPr sz="1275" b="1">
                <a:solidFill>
                  <a:srgbClr val="23282B"/>
                </a:solidFill>
                <a:latin typeface="MiSans"/>
                <a:ea typeface="MiSans"/>
                <a:cs typeface="MiSans"/>
              </a:defRPr>
            </a:pPr>
            <a:r>
              <a:rPr sz="1275" b="1" dirty="0" err="1">
                <a:solidFill>
                  <a:srgbClr val="23282B"/>
                </a:solidFill>
                <a:latin typeface="MiSans"/>
                <a:ea typeface="MiSans"/>
                <a:cs typeface="MiSans"/>
              </a:rPr>
              <a:t>正面率领先雅诗兰黛</a:t>
            </a:r>
            <a:endParaRPr sz="1275" b="1" dirty="0">
              <a:solidFill>
                <a:srgbClr val="23282B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10000"/>
              </a:lnSpc>
              <a:buNone/>
              <a:defRPr sz="1275" b="1">
                <a:solidFill>
                  <a:srgbClr val="23282B"/>
                </a:solidFill>
                <a:latin typeface="MiSans"/>
                <a:ea typeface="MiSans"/>
                <a:cs typeface="MiSans"/>
              </a:defRPr>
            </a:pPr>
            <a:r>
              <a:rPr sz="1275" b="1" dirty="0">
                <a:solidFill>
                  <a:srgbClr val="23282B"/>
                </a:solidFill>
                <a:latin typeface="MiSans"/>
                <a:ea typeface="MiSans"/>
                <a:cs typeface="MiSans"/>
              </a:rPr>
              <a:t>86.6% vs 67.2%</a:t>
            </a:r>
          </a:p>
        </p:txBody>
      </p:sp>
    </p:spTree>
    <p:extLst>
      <p:ext uri="{BB962C8B-B14F-4D97-AF65-F5344CB8AC3E}">
        <p14:creationId xmlns:p14="http://schemas.microsoft.com/office/powerpoint/2010/main" val="1697879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22457F-58F9-4A7B-AD64-40C8D255A9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0722C3-53B8-4944-9F4E-4BFA36DAC8D8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8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修护保湿领先，美白仍是短板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FDA12E-70B3-493A-A718-CD0BA8D41A1B}"/>
              </a:ext>
            </a:extLst>
          </p:cNvPr>
          <p:cNvSpPr>
            <a:spLocks noGrp="1"/>
          </p:cNvSpPr>
          <p:nvPr/>
        </p:nvSpPr>
        <p:spPr>
          <a:xfrm>
            <a:off x="640080" y="1498600"/>
            <a:ext cx="5303520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百雀羚六维功效得分 / 对比 5 个有效竞品均值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3B0432-67E3-4654-A9B2-45F3E77B3ADD}"/>
              </a:ext>
            </a:extLst>
          </p:cNvPr>
          <p:cNvSpPr>
            <a:spLocks noGrp="1"/>
          </p:cNvSpPr>
          <p:nvPr/>
        </p:nvSpPr>
        <p:spPr>
          <a:xfrm>
            <a:off x="8321040" y="149860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5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差值：百雀羚 − 有效竞品均值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F2FD02-D512-49F4-8F04-CEC5A867D1BC}"/>
              </a:ext>
            </a:extLst>
          </p:cNvPr>
          <p:cNvSpPr>
            <a:spLocks noGrp="1"/>
          </p:cNvSpPr>
          <p:nvPr/>
        </p:nvSpPr>
        <p:spPr>
          <a:xfrm>
            <a:off x="640080" y="2286000"/>
            <a:ext cx="11887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保湿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13CB91-94E4-467A-9E93-F836D6BFB9B1}"/>
              </a:ext>
            </a:extLst>
          </p:cNvPr>
          <p:cNvSpPr>
            <a:spLocks noGrp="1"/>
          </p:cNvSpPr>
          <p:nvPr/>
        </p:nvSpPr>
        <p:spPr>
          <a:xfrm>
            <a:off x="3200400" y="2331720"/>
            <a:ext cx="6400800" cy="32004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FE1DC6-57B2-42BB-BEB9-BE05D10B089A}"/>
              </a:ext>
            </a:extLst>
          </p:cNvPr>
          <p:cNvSpPr>
            <a:spLocks noGrp="1"/>
          </p:cNvSpPr>
          <p:nvPr/>
        </p:nvSpPr>
        <p:spPr>
          <a:xfrm>
            <a:off x="3200400" y="2331720"/>
            <a:ext cx="6080760" cy="32004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718EBF-B012-4D0E-8D4E-5714D87008F0}"/>
              </a:ext>
            </a:extLst>
          </p:cNvPr>
          <p:cNvSpPr>
            <a:spLocks noGrp="1"/>
          </p:cNvSpPr>
          <p:nvPr/>
        </p:nvSpPr>
        <p:spPr>
          <a:xfrm>
            <a:off x="10149840" y="22860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1.63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C4EE7E-39AC-4721-AB8A-7E54921C3B37}"/>
              </a:ext>
            </a:extLst>
          </p:cNvPr>
          <p:cNvSpPr>
            <a:spLocks noGrp="1"/>
          </p:cNvSpPr>
          <p:nvPr/>
        </p:nvSpPr>
        <p:spPr>
          <a:xfrm>
            <a:off x="11064240" y="2286000"/>
            <a:ext cx="7315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57765A"/>
                </a:solidFill>
                <a:latin typeface="微软雅黑"/>
                <a:ea typeface="微软雅黑"/>
                <a:cs typeface="微软雅黑"/>
              </a:rPr>
              <a:t>+0.59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37712E-1FC9-4CE2-8493-6816A60C3A65}"/>
              </a:ext>
            </a:extLst>
          </p:cNvPr>
          <p:cNvSpPr>
            <a:spLocks noGrp="1"/>
          </p:cNvSpPr>
          <p:nvPr/>
        </p:nvSpPr>
        <p:spPr>
          <a:xfrm>
            <a:off x="640080" y="2926080"/>
            <a:ext cx="11887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修护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50104A-6609-4905-B966-FFAE15DBD000}"/>
              </a:ext>
            </a:extLst>
          </p:cNvPr>
          <p:cNvSpPr>
            <a:spLocks noGrp="1"/>
          </p:cNvSpPr>
          <p:nvPr/>
        </p:nvSpPr>
        <p:spPr>
          <a:xfrm>
            <a:off x="3200400" y="2971800"/>
            <a:ext cx="6400800" cy="32004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8B6157-1952-47B2-98AD-A116CDCDD42C}"/>
              </a:ext>
            </a:extLst>
          </p:cNvPr>
          <p:cNvSpPr>
            <a:spLocks noGrp="1"/>
          </p:cNvSpPr>
          <p:nvPr/>
        </p:nvSpPr>
        <p:spPr>
          <a:xfrm>
            <a:off x="3200400" y="2971800"/>
            <a:ext cx="5248910" cy="32004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EC9930-2D87-4FED-A882-039286787DB4}"/>
              </a:ext>
            </a:extLst>
          </p:cNvPr>
          <p:cNvSpPr>
            <a:spLocks noGrp="1"/>
          </p:cNvSpPr>
          <p:nvPr/>
        </p:nvSpPr>
        <p:spPr>
          <a:xfrm>
            <a:off x="10149840" y="292608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1.35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E33134-2552-48DE-913B-B4E5CB7B0693}"/>
              </a:ext>
            </a:extLst>
          </p:cNvPr>
          <p:cNvSpPr>
            <a:spLocks noGrp="1"/>
          </p:cNvSpPr>
          <p:nvPr/>
        </p:nvSpPr>
        <p:spPr>
          <a:xfrm>
            <a:off x="11064240" y="2926080"/>
            <a:ext cx="7315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57765A"/>
                </a:solidFill>
                <a:latin typeface="微软雅黑"/>
                <a:ea typeface="微软雅黑"/>
                <a:cs typeface="微软雅黑"/>
              </a:rPr>
              <a:t>+0.82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F1B6A3-E243-4233-A927-E576B248D186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11887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抗老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38D83C-0624-47B1-A3A6-BBB192C153F9}"/>
              </a:ext>
            </a:extLst>
          </p:cNvPr>
          <p:cNvSpPr>
            <a:spLocks noGrp="1"/>
          </p:cNvSpPr>
          <p:nvPr/>
        </p:nvSpPr>
        <p:spPr>
          <a:xfrm>
            <a:off x="3200400" y="3611880"/>
            <a:ext cx="6400800" cy="32004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592455-BCDB-45A8-B2D2-A9437DC4D422}"/>
              </a:ext>
            </a:extLst>
          </p:cNvPr>
          <p:cNvSpPr>
            <a:spLocks noGrp="1"/>
          </p:cNvSpPr>
          <p:nvPr/>
        </p:nvSpPr>
        <p:spPr>
          <a:xfrm>
            <a:off x="3200400" y="3611880"/>
            <a:ext cx="4864100" cy="3200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48CA98-4BBD-4409-A113-BF66A1B63646}"/>
              </a:ext>
            </a:extLst>
          </p:cNvPr>
          <p:cNvSpPr>
            <a:spLocks noGrp="1"/>
          </p:cNvSpPr>
          <p:nvPr/>
        </p:nvSpPr>
        <p:spPr>
          <a:xfrm>
            <a:off x="10149840" y="356616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1.33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585F8A-CADF-4BBF-9EE7-795A2838CE4D}"/>
              </a:ext>
            </a:extLst>
          </p:cNvPr>
          <p:cNvSpPr>
            <a:spLocks noGrp="1"/>
          </p:cNvSpPr>
          <p:nvPr/>
        </p:nvSpPr>
        <p:spPr>
          <a:xfrm>
            <a:off x="11064240" y="3566160"/>
            <a:ext cx="7315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57765A"/>
                </a:solidFill>
                <a:latin typeface="微软雅黑"/>
                <a:ea typeface="微软雅黑"/>
                <a:cs typeface="微软雅黑"/>
              </a:rPr>
              <a:t>+0.31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4647E0-5728-40F1-AB23-5F843D719CDD}"/>
              </a:ext>
            </a:extLst>
          </p:cNvPr>
          <p:cNvSpPr>
            <a:spLocks noGrp="1"/>
          </p:cNvSpPr>
          <p:nvPr/>
        </p:nvSpPr>
        <p:spPr>
          <a:xfrm>
            <a:off x="640080" y="4206240"/>
            <a:ext cx="11887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肤感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92C86-FDB0-4AB4-A734-6B4AE701B6F9}"/>
              </a:ext>
            </a:extLst>
          </p:cNvPr>
          <p:cNvSpPr>
            <a:spLocks noGrp="1"/>
          </p:cNvSpPr>
          <p:nvPr/>
        </p:nvSpPr>
        <p:spPr>
          <a:xfrm>
            <a:off x="3200400" y="4251960"/>
            <a:ext cx="6400800" cy="32004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7C6EAB-5058-4AF3-9721-180FF78FD8C7}"/>
              </a:ext>
            </a:extLst>
          </p:cNvPr>
          <p:cNvSpPr>
            <a:spLocks noGrp="1"/>
          </p:cNvSpPr>
          <p:nvPr/>
        </p:nvSpPr>
        <p:spPr>
          <a:xfrm>
            <a:off x="3200400" y="4251960"/>
            <a:ext cx="4352290" cy="3200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08B44F-4375-47E4-9BFF-67D71145625C}"/>
              </a:ext>
            </a:extLst>
          </p:cNvPr>
          <p:cNvSpPr>
            <a:spLocks noGrp="1"/>
          </p:cNvSpPr>
          <p:nvPr/>
        </p:nvSpPr>
        <p:spPr>
          <a:xfrm>
            <a:off x="10149840" y="420624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1.25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953841-C6B0-41F0-BE2A-2D238A83B66A}"/>
              </a:ext>
            </a:extLst>
          </p:cNvPr>
          <p:cNvSpPr>
            <a:spLocks noGrp="1"/>
          </p:cNvSpPr>
          <p:nvPr/>
        </p:nvSpPr>
        <p:spPr>
          <a:xfrm>
            <a:off x="11064240" y="4206240"/>
            <a:ext cx="7315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57765A"/>
                </a:solidFill>
                <a:latin typeface="微软雅黑"/>
                <a:ea typeface="微软雅黑"/>
                <a:cs typeface="微软雅黑"/>
              </a:rPr>
              <a:t>+0.11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8CD8F1-E6BF-4449-91E7-4E4967DC7497}"/>
              </a:ext>
            </a:extLst>
          </p:cNvPr>
          <p:cNvSpPr>
            <a:spLocks noGrp="1"/>
          </p:cNvSpPr>
          <p:nvPr/>
        </p:nvSpPr>
        <p:spPr>
          <a:xfrm>
            <a:off x="640080" y="4846320"/>
            <a:ext cx="11887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控油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4BFF8E-EA25-4EAA-9615-9C0AFD1EC847}"/>
              </a:ext>
            </a:extLst>
          </p:cNvPr>
          <p:cNvSpPr>
            <a:spLocks noGrp="1"/>
          </p:cNvSpPr>
          <p:nvPr/>
        </p:nvSpPr>
        <p:spPr>
          <a:xfrm>
            <a:off x="3200400" y="4892040"/>
            <a:ext cx="6400800" cy="32004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E72D6FB-B340-47BA-BED2-1ADD616A63E7}"/>
              </a:ext>
            </a:extLst>
          </p:cNvPr>
          <p:cNvSpPr>
            <a:spLocks noGrp="1"/>
          </p:cNvSpPr>
          <p:nvPr/>
        </p:nvSpPr>
        <p:spPr>
          <a:xfrm>
            <a:off x="3200400" y="4892040"/>
            <a:ext cx="2816860" cy="3200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9022D2-96A8-491C-A008-023ACB691C2D}"/>
              </a:ext>
            </a:extLst>
          </p:cNvPr>
          <p:cNvSpPr>
            <a:spLocks noGrp="1"/>
          </p:cNvSpPr>
          <p:nvPr/>
        </p:nvSpPr>
        <p:spPr>
          <a:xfrm>
            <a:off x="10149840" y="484632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1.09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B03F13-DB6A-44E1-8E4D-DD4ED23FF552}"/>
              </a:ext>
            </a:extLst>
          </p:cNvPr>
          <p:cNvSpPr>
            <a:spLocks noGrp="1"/>
          </p:cNvSpPr>
          <p:nvPr/>
        </p:nvSpPr>
        <p:spPr>
          <a:xfrm>
            <a:off x="11064240" y="4846320"/>
            <a:ext cx="7315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57765A"/>
                </a:solidFill>
                <a:latin typeface="微软雅黑"/>
                <a:ea typeface="微软雅黑"/>
                <a:cs typeface="微软雅黑"/>
              </a:rPr>
              <a:t>+0.35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F208F3-9B01-46A8-8807-987ED4C46061}"/>
              </a:ext>
            </a:extLst>
          </p:cNvPr>
          <p:cNvSpPr>
            <a:spLocks noGrp="1"/>
          </p:cNvSpPr>
          <p:nvPr/>
        </p:nvSpPr>
        <p:spPr>
          <a:xfrm>
            <a:off x="640080" y="5486400"/>
            <a:ext cx="11887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美白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C65A25C-3AE3-41A3-BF40-377F7CCAF88B}"/>
              </a:ext>
            </a:extLst>
          </p:cNvPr>
          <p:cNvSpPr>
            <a:spLocks noGrp="1"/>
          </p:cNvSpPr>
          <p:nvPr/>
        </p:nvSpPr>
        <p:spPr>
          <a:xfrm>
            <a:off x="3200400" y="5532120"/>
            <a:ext cx="6400800" cy="32004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8E5295-BFC7-4E5F-9D37-49EEAED04B65}"/>
              </a:ext>
            </a:extLst>
          </p:cNvPr>
          <p:cNvSpPr>
            <a:spLocks noGrp="1"/>
          </p:cNvSpPr>
          <p:nvPr/>
        </p:nvSpPr>
        <p:spPr>
          <a:xfrm>
            <a:off x="3200400" y="5532120"/>
            <a:ext cx="1151890" cy="32004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775149-A035-4984-8B38-44BB486D5375}"/>
              </a:ext>
            </a:extLst>
          </p:cNvPr>
          <p:cNvSpPr>
            <a:spLocks noGrp="1"/>
          </p:cNvSpPr>
          <p:nvPr/>
        </p:nvSpPr>
        <p:spPr>
          <a:xfrm>
            <a:off x="10149840" y="54864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0.33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6F9E9F-C40C-4C1B-9937-39E3C7726FFC}"/>
              </a:ext>
            </a:extLst>
          </p:cNvPr>
          <p:cNvSpPr>
            <a:spLocks noGrp="1"/>
          </p:cNvSpPr>
          <p:nvPr/>
        </p:nvSpPr>
        <p:spPr>
          <a:xfrm>
            <a:off x="11064240" y="5486400"/>
            <a:ext cx="7315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-0.54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EBAAE0-5EF2-4027-838D-96C50A61C703}"/>
              </a:ext>
            </a:extLst>
          </p:cNvPr>
          <p:cNvSpPr>
            <a:spLocks noGrp="1"/>
          </p:cNvSpPr>
          <p:nvPr/>
        </p:nvSpPr>
        <p:spPr>
          <a:xfrm>
            <a:off x="640080" y="6080760"/>
            <a:ext cx="10789920" cy="337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美白得分 0.33、低于竞品均值 0.54；53.3% 相关反馈为负向</a:t>
            </a:r>
          </a:p>
        </p:txBody>
      </p:sp>
      <p:sp>
        <p:nvSpPr>
          <p:cNvPr id="41" name="title">
            <a:extLst>
              <a:ext uri="{FF2B5EF4-FFF2-40B4-BE49-F238E27FC236}">
                <a16:creationId xmlns:a16="http://schemas.microsoft.com/office/drawing/2014/main" id="{899210CE-C1F6-BF53-E443-F862564BA329}"/>
              </a:ext>
            </a:extLst>
          </p:cNvPr>
          <p:cNvSpPr>
            <a:spLocks noGrp="1"/>
          </p:cNvSpPr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</a:pP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竞品分析</a:t>
            </a:r>
            <a:r>
              <a:rPr lang="en-US" altLang="zh-CN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200" b="1" dirty="0">
                <a:latin typeface="微软雅黑" panose="020B0503020204020204" charset="-122"/>
                <a:ea typeface="微软雅黑" panose="020B0503020204020204" charset="-122"/>
              </a:rPr>
              <a:t>定位增长突破口</a:t>
            </a:r>
            <a:endParaRPr sz="2200" b="1" dirty="0">
              <a:solidFill>
                <a:srgbClr val="0478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divider">
            <a:extLst>
              <a:ext uri="{FF2B5EF4-FFF2-40B4-BE49-F238E27FC236}">
                <a16:creationId xmlns:a16="http://schemas.microsoft.com/office/drawing/2014/main" id="{0984AFFE-F755-E585-C99A-7782C63943DA}"/>
              </a:ext>
            </a:extLst>
          </p:cNvPr>
          <p:cNvSpPr>
            <a:spLocks noGrp="1"/>
          </p:cNvSpPr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1237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97B6CB-6E90-4397-B062-CF2A68E49A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7EBAF0-2BB0-4C1D-9AD2-DBB10F5CEF65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8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热力图把消费者评论转化为竞争力地图</a:t>
            </a:r>
            <a:endParaRPr sz="3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BEE429-78AF-46C4-B70B-54258CF0A76F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4937760" cy="2247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01  </a:t>
            </a:r>
            <a:r>
              <a:rPr sz="1600" b="1" dirty="0" err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百雀羚功效资产</a:t>
            </a:r>
            <a:endParaRPr sz="1600" b="1" dirty="0">
              <a:solidFill>
                <a:srgbClr val="34586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8CD949-081E-4A98-BD10-426EC9474B8D}"/>
              </a:ext>
            </a:extLst>
          </p:cNvPr>
          <p:cNvSpPr>
            <a:spLocks noGrp="1"/>
          </p:cNvSpPr>
          <p:nvPr/>
        </p:nvSpPr>
        <p:spPr>
          <a:xfrm>
            <a:off x="640080" y="2057400"/>
            <a:ext cx="493776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2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5 项领先 · 1 项短板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7ACC3-9D0F-4754-B499-551966345DA0}"/>
              </a:ext>
            </a:extLst>
          </p:cNvPr>
          <p:cNvSpPr>
            <a:spLocks noGrp="1"/>
          </p:cNvSpPr>
          <p:nvPr/>
        </p:nvSpPr>
        <p:spPr>
          <a:xfrm>
            <a:off x="822960" y="279927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</a:pPr>
            <a:r>
              <a:rPr lang="zh-CN" altLang="en-US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肤感  </a:t>
            </a:r>
            <a:r>
              <a:rPr lang="en-US" altLang="zh-CN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+1.25</a:t>
            </a:r>
            <a:r>
              <a:rPr lang="zh-CN" altLang="en-US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lang="en-US" altLang="zh-CN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lang="zh-CN" altLang="en-US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领先幅度最大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B5931A-DE7A-4E34-BF5E-4988F675DAD5}"/>
              </a:ext>
            </a:extLst>
          </p:cNvPr>
          <p:cNvSpPr>
            <a:spLocks noGrp="1"/>
          </p:cNvSpPr>
          <p:nvPr/>
        </p:nvSpPr>
        <p:spPr>
          <a:xfrm>
            <a:off x="822960" y="362223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</a:pPr>
            <a:r>
              <a:rPr lang="zh-CN" altLang="en-US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保湿  </a:t>
            </a:r>
            <a:r>
              <a:rPr lang="en-US" altLang="zh-CN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+0.98  · </a:t>
            </a:r>
            <a:r>
              <a:rPr lang="zh-CN" altLang="en-US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核心优势资产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32790E-914A-4147-BEC7-59D980BE2078}"/>
              </a:ext>
            </a:extLst>
          </p:cNvPr>
          <p:cNvSpPr>
            <a:spLocks noGrp="1"/>
          </p:cNvSpPr>
          <p:nvPr/>
        </p:nvSpPr>
        <p:spPr>
          <a:xfrm>
            <a:off x="822960" y="403371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</a:pPr>
            <a:r>
              <a:rPr lang="zh-CN" altLang="en-US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抗老  </a:t>
            </a:r>
            <a:r>
              <a:rPr lang="en-US" altLang="zh-CN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+0.69  · </a:t>
            </a:r>
            <a:r>
              <a:rPr lang="zh-CN" altLang="en-US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心智壁垒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FD00FC-82C8-497C-B663-43B70E4245AB}"/>
              </a:ext>
            </a:extLst>
          </p:cNvPr>
          <p:cNvSpPr>
            <a:spLocks noGrp="1"/>
          </p:cNvSpPr>
          <p:nvPr/>
        </p:nvSpPr>
        <p:spPr>
          <a:xfrm>
            <a:off x="834833" y="473710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美白</a:t>
            </a:r>
            <a:r>
              <a:rPr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 −0.22  · </a:t>
            </a:r>
            <a:r>
              <a:rPr sz="1700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唯一落后</a:t>
            </a:r>
            <a:endParaRPr sz="1700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F421ED-8E1D-40EC-B4FD-78EC714C9598}"/>
              </a:ext>
            </a:extLst>
          </p:cNvPr>
          <p:cNvSpPr>
            <a:spLocks noGrp="1"/>
          </p:cNvSpPr>
          <p:nvPr/>
        </p:nvSpPr>
        <p:spPr>
          <a:xfrm>
            <a:off x="743393" y="5481320"/>
            <a:ext cx="493776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后端计算口径：</a:t>
            </a:r>
            <a:r>
              <a:rPr sz="2400" b="1" dirty="0" err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评论评分</a:t>
            </a:r>
            <a:r>
              <a:rPr sz="24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2400" b="1" dirty="0" err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品牌均值</a:t>
            </a:r>
            <a:r>
              <a:rPr sz="24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2400" b="1" dirty="0" err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竞品差距</a:t>
            </a:r>
            <a:endParaRPr sz="2400" b="1" dirty="0">
              <a:solidFill>
                <a:srgbClr val="34586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itle">
            <a:extLst>
              <a:ext uri="{FF2B5EF4-FFF2-40B4-BE49-F238E27FC236}">
                <a16:creationId xmlns:a16="http://schemas.microsoft.com/office/drawing/2014/main" id="{99B9A6C2-8D8B-28C6-4368-477E4D83FD44}"/>
              </a:ext>
            </a:extLst>
          </p:cNvPr>
          <p:cNvSpPr>
            <a:spLocks noGrp="1"/>
          </p:cNvSpPr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竞争力评估</a:t>
            </a:r>
            <a:r>
              <a:rPr lang="en-US" altLang="zh-CN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热力图</a:t>
            </a:r>
            <a:endParaRPr sz="2200" b="1" dirty="0">
              <a:solidFill>
                <a:srgbClr val="0478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divider">
            <a:extLst>
              <a:ext uri="{FF2B5EF4-FFF2-40B4-BE49-F238E27FC236}">
                <a16:creationId xmlns:a16="http://schemas.microsoft.com/office/drawing/2014/main" id="{E031074B-2419-63F9-AB72-F0AF8F038A52}"/>
              </a:ext>
            </a:extLst>
          </p:cNvPr>
          <p:cNvSpPr>
            <a:spLocks noGrp="1"/>
          </p:cNvSpPr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963AACFC-DC8F-77AE-D8C1-FAE1959BA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586" y="1804035"/>
            <a:ext cx="5952106" cy="42156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39B28158-8B74-9B54-AD48-0E2D82893B8C}"/>
              </a:ext>
            </a:extLst>
          </p:cNvPr>
          <p:cNvSpPr>
            <a:spLocks noGrp="1"/>
          </p:cNvSpPr>
          <p:nvPr/>
        </p:nvSpPr>
        <p:spPr>
          <a:xfrm>
            <a:off x="834833" y="4400678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</a:pPr>
            <a:r>
              <a:rPr lang="zh-CN" altLang="en-US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控油  </a:t>
            </a:r>
            <a:r>
              <a:rPr lang="en-US" altLang="zh-CN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+0.63  · </a:t>
            </a:r>
            <a:r>
              <a:rPr lang="zh-CN" altLang="en-US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具备竞争力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C211A35-CBBE-B416-EFEE-9FAFF89494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14" y="3147876"/>
            <a:ext cx="2530059" cy="4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66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7C5863-0FB2-452C-95AA-3952395030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BA4BC-9CD4-416F-97C6-59D170437A17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明确</a:t>
            </a:r>
            <a:r>
              <a:rPr sz="32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战略</a:t>
            </a:r>
            <a:r>
              <a:rPr lang="zh-CN" altLang="en-US" sz="32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和方向</a:t>
            </a:r>
            <a:endParaRPr sz="32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FA3066-C52D-4AED-896F-EBDA7F768682}"/>
              </a:ext>
            </a:extLst>
          </p:cNvPr>
          <p:cNvSpPr>
            <a:spLocks noGrp="1"/>
          </p:cNvSpPr>
          <p:nvPr/>
        </p:nvSpPr>
        <p:spPr>
          <a:xfrm>
            <a:off x="640080" y="1485900"/>
            <a:ext cx="10789920" cy="219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「科技新草本」战略在消费者端的认知渗透严重不足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DCAE8B-DC87-4507-B3D2-508BAFE00BBC}"/>
              </a:ext>
            </a:extLst>
          </p:cNvPr>
          <p:cNvSpPr>
            <a:spLocks noGrp="1"/>
          </p:cNvSpPr>
          <p:nvPr/>
        </p:nvSpPr>
        <p:spPr>
          <a:xfrm>
            <a:off x="548640" y="2103120"/>
            <a:ext cx="3291840" cy="36830"/>
          </a:xfrm>
          <a:prstGeom prst="rect">
            <a:avLst/>
          </a:prstGeom>
          <a:solidFill>
            <a:srgbClr val="23282B"/>
          </a:solidFill>
          <a:ln>
            <a:noFill/>
          </a:ln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214A9C-C49E-452A-9DB4-07707D10FF1C}"/>
              </a:ext>
            </a:extLst>
          </p:cNvPr>
          <p:cNvSpPr>
            <a:spLocks noGrp="1"/>
          </p:cNvSpPr>
          <p:nvPr/>
        </p:nvSpPr>
        <p:spPr>
          <a:xfrm>
            <a:off x="777240" y="2377440"/>
            <a:ext cx="283464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PERCEPTION RATE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313537-8A5F-424A-A5A4-574F2BBA88E8}"/>
              </a:ext>
            </a:extLst>
          </p:cNvPr>
          <p:cNvSpPr>
            <a:spLocks noGrp="1"/>
          </p:cNvSpPr>
          <p:nvPr/>
        </p:nvSpPr>
        <p:spPr>
          <a:xfrm>
            <a:off x="777240" y="2697480"/>
            <a:ext cx="2834640" cy="3022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草本感知率偏低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88F6DA-8E2D-46D0-810B-956BDDDCF180}"/>
              </a:ext>
            </a:extLst>
          </p:cNvPr>
          <p:cNvSpPr>
            <a:spLocks noGrp="1"/>
          </p:cNvSpPr>
          <p:nvPr/>
        </p:nvSpPr>
        <p:spPr>
          <a:xfrm>
            <a:off x="777240" y="3246120"/>
            <a:ext cx="2834640" cy="10134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草本成分感知率仅 4.4%，多数消费者未形成对百雀羚成分的明确认知。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E077A-9797-452C-9CC9-8779AF9C20FB}"/>
              </a:ext>
            </a:extLst>
          </p:cNvPr>
          <p:cNvSpPr>
            <a:spLocks noGrp="1"/>
          </p:cNvSpPr>
          <p:nvPr/>
        </p:nvSpPr>
        <p:spPr>
          <a:xfrm>
            <a:off x="777240" y="4526280"/>
            <a:ext cx="2834640" cy="727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50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4.4%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67FD0B-2044-4ECB-8672-7252C14A3B76}"/>
              </a:ext>
            </a:extLst>
          </p:cNvPr>
          <p:cNvSpPr>
            <a:spLocks noGrp="1"/>
          </p:cNvSpPr>
          <p:nvPr/>
        </p:nvSpPr>
        <p:spPr>
          <a:xfrm>
            <a:off x="4114800" y="2103120"/>
            <a:ext cx="3291840" cy="36830"/>
          </a:xfrm>
          <a:prstGeom prst="rect">
            <a:avLst/>
          </a:prstGeom>
          <a:solidFill>
            <a:srgbClr val="23282B"/>
          </a:solidFill>
          <a:ln>
            <a:noFill/>
          </a:ln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52F029-4D08-4D41-ADF6-8C1B7EC4802E}"/>
              </a:ext>
            </a:extLst>
          </p:cNvPr>
          <p:cNvSpPr>
            <a:spLocks noGrp="1"/>
          </p:cNvSpPr>
          <p:nvPr/>
        </p:nvSpPr>
        <p:spPr>
          <a:xfrm>
            <a:off x="4343400" y="2377440"/>
            <a:ext cx="283464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TECH VS TRADITIONAL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D02A57-179F-495A-B487-0AEB0F0361D5}"/>
              </a:ext>
            </a:extLst>
          </p:cNvPr>
          <p:cNvSpPr>
            <a:spLocks noGrp="1"/>
          </p:cNvSpPr>
          <p:nvPr/>
        </p:nvSpPr>
        <p:spPr>
          <a:xfrm>
            <a:off x="4343400" y="2697480"/>
            <a:ext cx="2834640" cy="3022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科技属性严重不足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CD5D97-45B1-4CBA-A7E8-3D2E627BF7BB}"/>
              </a:ext>
            </a:extLst>
          </p:cNvPr>
          <p:cNvSpPr>
            <a:spLocks noGrp="1"/>
          </p:cNvSpPr>
          <p:nvPr/>
        </p:nvSpPr>
        <p:spPr>
          <a:xfrm>
            <a:off x="4343400" y="3246120"/>
            <a:ext cx="2834640" cy="10134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消费者仍以传统草本认知为主，科技草本 vs 传统草本比值仅为 0.16。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7BABB7-C32E-4BC5-94C6-56B8C93AC221}"/>
              </a:ext>
            </a:extLst>
          </p:cNvPr>
          <p:cNvSpPr>
            <a:spLocks noGrp="1"/>
          </p:cNvSpPr>
          <p:nvPr/>
        </p:nvSpPr>
        <p:spPr>
          <a:xfrm>
            <a:off x="4343400" y="4526280"/>
            <a:ext cx="2834640" cy="727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50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0.16×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352CD0-5851-4161-B2B5-37E61DFCD812}"/>
              </a:ext>
            </a:extLst>
          </p:cNvPr>
          <p:cNvSpPr>
            <a:spLocks noGrp="1"/>
          </p:cNvSpPr>
          <p:nvPr/>
        </p:nvSpPr>
        <p:spPr>
          <a:xfrm>
            <a:off x="7680960" y="2103120"/>
            <a:ext cx="329184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5A48EC-7E69-4C7B-9BCA-C6806D717A72}"/>
              </a:ext>
            </a:extLst>
          </p:cNvPr>
          <p:cNvSpPr>
            <a:spLocks noGrp="1"/>
          </p:cNvSpPr>
          <p:nvPr/>
        </p:nvSpPr>
        <p:spPr>
          <a:xfrm>
            <a:off x="7909560" y="2377440"/>
            <a:ext cx="283464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WILLINGNESS TO PAY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B7A400-C41B-4385-A59D-A778CDF77800}"/>
              </a:ext>
            </a:extLst>
          </p:cNvPr>
          <p:cNvSpPr>
            <a:spLocks noGrp="1"/>
          </p:cNvSpPr>
          <p:nvPr/>
        </p:nvSpPr>
        <p:spPr>
          <a:xfrm>
            <a:off x="7909560" y="2697480"/>
            <a:ext cx="2834640" cy="3022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草本溢价空间有限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852079-C7CB-4F9D-B392-B43D3D1E065E}"/>
              </a:ext>
            </a:extLst>
          </p:cNvPr>
          <p:cNvSpPr>
            <a:spLocks noGrp="1"/>
          </p:cNvSpPr>
          <p:nvPr/>
        </p:nvSpPr>
        <p:spPr>
          <a:xfrm>
            <a:off x="7909560" y="3246120"/>
            <a:ext cx="2834640" cy="10134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草本溢价意愿仅 27.3%，消费者尚未建立科技草本=更高价值的心智。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E20A91-EDF8-4C67-A6E4-CEB59A2A895B}"/>
              </a:ext>
            </a:extLst>
          </p:cNvPr>
          <p:cNvSpPr>
            <a:spLocks noGrp="1"/>
          </p:cNvSpPr>
          <p:nvPr/>
        </p:nvSpPr>
        <p:spPr>
          <a:xfrm>
            <a:off x="7909560" y="4526280"/>
            <a:ext cx="2834640" cy="727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50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27.3%</a:t>
            </a:r>
          </a:p>
        </p:txBody>
      </p:sp>
      <p:sp>
        <p:nvSpPr>
          <p:cNvPr id="24" name="title">
            <a:extLst>
              <a:ext uri="{FF2B5EF4-FFF2-40B4-BE49-F238E27FC236}">
                <a16:creationId xmlns:a16="http://schemas.microsoft.com/office/drawing/2014/main" id="{8024E348-3AF5-9912-04FA-6C177D953536}"/>
              </a:ext>
            </a:extLst>
          </p:cNvPr>
          <p:cNvSpPr>
            <a:spLocks noGrp="1"/>
          </p:cNvSpPr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竞争力提升</a:t>
            </a:r>
            <a:r>
              <a:rPr lang="en-US" altLang="zh-CN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双轮驱动（科技草本）</a:t>
            </a:r>
            <a:endParaRPr sz="2200" b="1" dirty="0">
              <a:solidFill>
                <a:srgbClr val="0478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divider">
            <a:extLst>
              <a:ext uri="{FF2B5EF4-FFF2-40B4-BE49-F238E27FC236}">
                <a16:creationId xmlns:a16="http://schemas.microsoft.com/office/drawing/2014/main" id="{2665C6B5-A2A9-B689-8B46-C8FE196D1320}"/>
              </a:ext>
            </a:extLst>
          </p:cNvPr>
          <p:cNvSpPr>
            <a:spLocks noGrp="1"/>
          </p:cNvSpPr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63895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37FE4-3BC9-6CB9-D177-79C39B378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DB7474-A21A-F938-0ADC-370AD730C3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41AF4B-BB82-E392-FCC8-975BFFCC6A66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585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altLang="zh-CN" sz="3200" b="1" dirty="0">
                <a:solidFill>
                  <a:srgbClr val="23282B"/>
                </a:solidFill>
                <a:latin typeface="微软雅黑"/>
                <a:ea typeface="微软雅黑"/>
              </a:rPr>
              <a:t>AI</a:t>
            </a:r>
            <a:r>
              <a:rPr lang="zh-CN" altLang="en-US" sz="3200" b="1" dirty="0">
                <a:solidFill>
                  <a:srgbClr val="23282B"/>
                </a:solidFill>
                <a:latin typeface="微软雅黑"/>
                <a:ea typeface="微软雅黑"/>
              </a:rPr>
              <a:t>协助</a:t>
            </a:r>
            <a:r>
              <a:rPr lang="en-US" altLang="zh-CN" sz="3200" b="1" dirty="0">
                <a:solidFill>
                  <a:srgbClr val="23282B"/>
                </a:solidFill>
                <a:latin typeface="微软雅黑"/>
                <a:ea typeface="微软雅黑"/>
              </a:rPr>
              <a:t>——</a:t>
            </a:r>
            <a:r>
              <a:rPr lang="zh-CN" altLang="en-US" sz="3200" b="1" dirty="0">
                <a:solidFill>
                  <a:srgbClr val="23282B"/>
                </a:solidFill>
                <a:latin typeface="微软雅黑"/>
                <a:ea typeface="微软雅黑"/>
              </a:rPr>
              <a:t>搜索</a:t>
            </a:r>
            <a:r>
              <a:rPr lang="en-US" altLang="zh-CN" sz="3200" b="1" dirty="0">
                <a:solidFill>
                  <a:srgbClr val="23282B"/>
                </a:solidFill>
                <a:latin typeface="微软雅黑"/>
                <a:ea typeface="微软雅黑"/>
              </a:rPr>
              <a:t>&amp;</a:t>
            </a:r>
            <a:r>
              <a:rPr lang="zh-CN" altLang="en-US" sz="3200" b="1" dirty="0">
                <a:solidFill>
                  <a:srgbClr val="23282B"/>
                </a:solidFill>
                <a:latin typeface="微软雅黑"/>
                <a:ea typeface="微软雅黑"/>
              </a:rPr>
              <a:t>实现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2151482-658B-20F9-CA87-D69EFCB05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34" y="1649132"/>
            <a:ext cx="3741819" cy="489073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B0DBABA7-E652-17F2-316C-9842F04D8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670" y="1561726"/>
            <a:ext cx="7076796" cy="481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793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91D9DA-1049-4AC1-A309-0E843324FC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46BDD9-E5AF-46F3-AAE1-2189A1166D67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585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整体回顾</a:t>
            </a:r>
            <a:endParaRPr sz="32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8391FD-2EE6-466B-A378-B3A9F149C8C8}"/>
              </a:ext>
            </a:extLst>
          </p:cNvPr>
          <p:cNvSpPr>
            <a:spLocks noGrp="1"/>
          </p:cNvSpPr>
          <p:nvPr/>
        </p:nvSpPr>
        <p:spPr>
          <a:xfrm>
            <a:off x="548640" y="3291840"/>
            <a:ext cx="10972800" cy="889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C6F458-AD4C-4A8E-9935-B722FE5A0C90}"/>
              </a:ext>
            </a:extLst>
          </p:cNvPr>
          <p:cNvSpPr>
            <a:spLocks noGrp="1"/>
          </p:cNvSpPr>
          <p:nvPr/>
        </p:nvSpPr>
        <p:spPr>
          <a:xfrm>
            <a:off x="1554480" y="3200400"/>
            <a:ext cx="137160" cy="137160"/>
          </a:xfrm>
          <a:prstGeom prst="rect">
            <a:avLst/>
          </a:prstGeom>
          <a:solidFill>
            <a:srgbClr val="23282B"/>
          </a:solidFill>
          <a:ln>
            <a:noFill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C77C48-76C1-44D0-A040-033D5D38D456}"/>
              </a:ext>
            </a:extLst>
          </p:cNvPr>
          <p:cNvSpPr>
            <a:spLocks noGrp="1"/>
          </p:cNvSpPr>
          <p:nvPr/>
        </p:nvSpPr>
        <p:spPr>
          <a:xfrm>
            <a:off x="731520" y="1965960"/>
            <a:ext cx="201168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精准采集</a:t>
            </a:r>
            <a:endParaRPr sz="1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1B6E32-1005-4AF6-B2D0-B2030B2CF803}"/>
              </a:ext>
            </a:extLst>
          </p:cNvPr>
          <p:cNvSpPr>
            <a:spLocks noGrp="1"/>
          </p:cNvSpPr>
          <p:nvPr/>
        </p:nvSpPr>
        <p:spPr>
          <a:xfrm>
            <a:off x="731520" y="2331720"/>
            <a:ext cx="201168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爬虫爬取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完整的评论和用户信息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F976ED-28A3-46AA-86CA-CC4CB145CA1A}"/>
              </a:ext>
            </a:extLst>
          </p:cNvPr>
          <p:cNvSpPr>
            <a:spLocks noGrp="1"/>
          </p:cNvSpPr>
          <p:nvPr/>
        </p:nvSpPr>
        <p:spPr>
          <a:xfrm>
            <a:off x="1691640" y="3263900"/>
            <a:ext cx="1005840" cy="889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CFD1EF-CF00-40C5-B4BA-7143C0664C48}"/>
              </a:ext>
            </a:extLst>
          </p:cNvPr>
          <p:cNvSpPr>
            <a:spLocks noGrp="1"/>
          </p:cNvSpPr>
          <p:nvPr/>
        </p:nvSpPr>
        <p:spPr>
          <a:xfrm>
            <a:off x="3749040" y="3200400"/>
            <a:ext cx="137160" cy="13716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CC8BE5-AF9E-4384-B8A0-FBF2D1D4DC90}"/>
              </a:ext>
            </a:extLst>
          </p:cNvPr>
          <p:cNvSpPr>
            <a:spLocks noGrp="1"/>
          </p:cNvSpPr>
          <p:nvPr/>
        </p:nvSpPr>
        <p:spPr>
          <a:xfrm>
            <a:off x="2926080" y="3886200"/>
            <a:ext cx="201168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全面分析</a:t>
            </a:r>
            <a:endParaRPr sz="1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477654-6ED4-4248-BF47-010404C00ED0}"/>
              </a:ext>
            </a:extLst>
          </p:cNvPr>
          <p:cNvSpPr>
            <a:spLocks noGrp="1"/>
          </p:cNvSpPr>
          <p:nvPr/>
        </p:nvSpPr>
        <p:spPr>
          <a:xfrm>
            <a:off x="2926080" y="4251960"/>
            <a:ext cx="201168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舆情热力图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评论客群竞品分析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2AB999-B552-4F7B-9D5B-F3F861E1D605}"/>
              </a:ext>
            </a:extLst>
          </p:cNvPr>
          <p:cNvSpPr>
            <a:spLocks noGrp="1"/>
          </p:cNvSpPr>
          <p:nvPr/>
        </p:nvSpPr>
        <p:spPr>
          <a:xfrm>
            <a:off x="3886200" y="3263900"/>
            <a:ext cx="1005840" cy="889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12969F-4A7F-43E7-857C-3E42521E082C}"/>
              </a:ext>
            </a:extLst>
          </p:cNvPr>
          <p:cNvSpPr>
            <a:spLocks noGrp="1"/>
          </p:cNvSpPr>
          <p:nvPr/>
        </p:nvSpPr>
        <p:spPr>
          <a:xfrm>
            <a:off x="5943600" y="3200400"/>
            <a:ext cx="137160" cy="137160"/>
          </a:xfrm>
          <a:prstGeom prst="rect">
            <a:avLst/>
          </a:prstGeom>
          <a:solidFill>
            <a:srgbClr val="23282B"/>
          </a:solidFill>
          <a:ln>
            <a:noFill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DC2E1D-D014-4DC2-971F-A57DFD6C3CE4}"/>
              </a:ext>
            </a:extLst>
          </p:cNvPr>
          <p:cNvSpPr>
            <a:spLocks noGrp="1"/>
          </p:cNvSpPr>
          <p:nvPr/>
        </p:nvSpPr>
        <p:spPr>
          <a:xfrm>
            <a:off x="5120640" y="1965960"/>
            <a:ext cx="201168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定制输出</a:t>
            </a:r>
            <a:endParaRPr sz="1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24B8C7-1665-45B2-9613-85C4E17384BF}"/>
              </a:ext>
            </a:extLst>
          </p:cNvPr>
          <p:cNvSpPr>
            <a:spLocks noGrp="1"/>
          </p:cNvSpPr>
          <p:nvPr/>
        </p:nvSpPr>
        <p:spPr>
          <a:xfrm>
            <a:off x="5120640" y="2331720"/>
            <a:ext cx="201168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产品建议</a:t>
            </a:r>
            <a:endParaRPr lang="en-US" altLang="zh-CN"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草本概念专项分析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01B34D-2717-469C-B04B-CFBF7A821852}"/>
              </a:ext>
            </a:extLst>
          </p:cNvPr>
          <p:cNvSpPr>
            <a:spLocks noGrp="1"/>
          </p:cNvSpPr>
          <p:nvPr/>
        </p:nvSpPr>
        <p:spPr>
          <a:xfrm>
            <a:off x="6080760" y="3263900"/>
            <a:ext cx="1005840" cy="889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1788EC-6D98-470E-BEDA-DE6843F42C00}"/>
              </a:ext>
            </a:extLst>
          </p:cNvPr>
          <p:cNvSpPr>
            <a:spLocks noGrp="1"/>
          </p:cNvSpPr>
          <p:nvPr/>
        </p:nvSpPr>
        <p:spPr>
          <a:xfrm>
            <a:off x="8138160" y="3200400"/>
            <a:ext cx="137160" cy="13716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55EBDB-DED1-464A-B547-8E65E5203DCC}"/>
              </a:ext>
            </a:extLst>
          </p:cNvPr>
          <p:cNvSpPr>
            <a:spLocks noGrp="1"/>
          </p:cNvSpPr>
          <p:nvPr/>
        </p:nvSpPr>
        <p:spPr>
          <a:xfrm>
            <a:off x="7315200" y="3886200"/>
            <a:ext cx="201168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对比竞品</a:t>
            </a:r>
            <a:endParaRPr sz="1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72776D-BCE9-42BA-A7E9-D7D4040C3C06}"/>
              </a:ext>
            </a:extLst>
          </p:cNvPr>
          <p:cNvSpPr>
            <a:spLocks noGrp="1"/>
          </p:cNvSpPr>
          <p:nvPr/>
        </p:nvSpPr>
        <p:spPr>
          <a:xfrm>
            <a:off x="7315200" y="4251960"/>
            <a:ext cx="201168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保障数据隐私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依赖性低且可扩展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9BE4B5-4523-424F-AE66-2F4B005EAB7D}"/>
              </a:ext>
            </a:extLst>
          </p:cNvPr>
          <p:cNvSpPr>
            <a:spLocks noGrp="1"/>
          </p:cNvSpPr>
          <p:nvPr/>
        </p:nvSpPr>
        <p:spPr>
          <a:xfrm>
            <a:off x="8275320" y="3263900"/>
            <a:ext cx="1005840" cy="889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64D191-19FF-45F4-A0E8-AE2A8236902F}"/>
              </a:ext>
            </a:extLst>
          </p:cNvPr>
          <p:cNvSpPr>
            <a:spLocks noGrp="1"/>
          </p:cNvSpPr>
          <p:nvPr/>
        </p:nvSpPr>
        <p:spPr>
          <a:xfrm>
            <a:off x="10332720" y="3200400"/>
            <a:ext cx="137160" cy="137160"/>
          </a:xfrm>
          <a:prstGeom prst="rect">
            <a:avLst/>
          </a:prstGeom>
          <a:solidFill>
            <a:srgbClr val="23282B"/>
          </a:solidFill>
          <a:ln>
            <a:noFill/>
          </a:ln>
        </p:spPr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9D1BD3-62F0-454F-A7C0-26796C72E67D}"/>
              </a:ext>
            </a:extLst>
          </p:cNvPr>
          <p:cNvSpPr>
            <a:spLocks noGrp="1"/>
          </p:cNvSpPr>
          <p:nvPr/>
        </p:nvSpPr>
        <p:spPr>
          <a:xfrm>
            <a:off x="9509760" y="1965960"/>
            <a:ext cx="201168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使用友好</a:t>
            </a:r>
            <a:endParaRPr sz="1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38FC5E-4F09-4D0B-8723-E7306B7B2577}"/>
              </a:ext>
            </a:extLst>
          </p:cNvPr>
          <p:cNvSpPr>
            <a:spLocks noGrp="1"/>
          </p:cNvSpPr>
          <p:nvPr/>
        </p:nvSpPr>
        <p:spPr>
          <a:xfrm>
            <a:off x="9509760" y="2331720"/>
            <a:ext cx="201168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全栈式网站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板块明确功能齐全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94556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owerpoint template design by DAJU_PPT正版来源小红书大橘PPT微信DAJU_PPT请勿抄袭搬运！盗版必究！"/>
          <p:cNvSpPr txBox="1"/>
          <p:nvPr/>
        </p:nvSpPr>
        <p:spPr>
          <a:xfrm>
            <a:off x="3608705" y="2597785"/>
            <a:ext cx="5087620" cy="15500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zh-CN" sz="4800" spc="600" dirty="0">
                <a:solidFill>
                  <a:schemeClr val="accent2"/>
                </a:solidFill>
                <a:cs typeface="+mn-ea"/>
                <a:sym typeface="+mn-lt"/>
              </a:rPr>
              <a:t>—</a:t>
            </a:r>
            <a:r>
              <a:rPr lang="en-US" altLang="zh-CN" sz="4800" spc="600" dirty="0">
                <a:solidFill>
                  <a:schemeClr val="accent1"/>
                </a:solidFill>
                <a:cs typeface="+mn-ea"/>
                <a:sym typeface="+mn-lt"/>
              </a:rPr>
              <a:t> </a:t>
            </a:r>
            <a:r>
              <a:rPr lang="zh-CN" altLang="en-US" sz="4800" b="1" spc="600" dirty="0">
                <a:solidFill>
                  <a:srgbClr val="478070"/>
                </a:solidFill>
                <a:cs typeface="+mn-ea"/>
                <a:sym typeface="+mn-lt"/>
              </a:rPr>
              <a:t>谢谢倾听</a:t>
            </a:r>
            <a:r>
              <a:rPr lang="en-US" altLang="zh-CN" sz="4800" spc="600" dirty="0">
                <a:cs typeface="+mn-ea"/>
                <a:sym typeface="+mn-lt"/>
              </a:rPr>
              <a:t> </a:t>
            </a:r>
            <a:r>
              <a:rPr lang="en-US" altLang="zh-CN" sz="4800" spc="600" dirty="0">
                <a:solidFill>
                  <a:schemeClr val="accent2"/>
                </a:solidFill>
                <a:cs typeface="+mn-ea"/>
                <a:sym typeface="+mn-lt"/>
              </a:rPr>
              <a:t>—</a:t>
            </a:r>
          </a:p>
          <a:p>
            <a:pPr algn="ctr"/>
            <a:r>
              <a:rPr lang="en-US" altLang="zh-CN" sz="5400" spc="600" dirty="0">
                <a:solidFill>
                  <a:schemeClr val="accent1"/>
                </a:solidFill>
                <a:cs typeface="+mn-ea"/>
                <a:sym typeface="+mn-lt"/>
              </a:rPr>
              <a:t>   </a:t>
            </a:r>
            <a:endParaRPr lang="zh-CN" altLang="en-US" sz="5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/>
          <p:nvPr/>
        </p:nvSpPr>
        <p:spPr>
          <a:xfrm>
            <a:off x="351099" y="312517"/>
            <a:ext cx="11489802" cy="6302416"/>
          </a:xfrm>
          <a:prstGeom prst="rect">
            <a:avLst/>
          </a:prstGeom>
          <a:noFill/>
          <a:ln w="19050" cap="flat" cmpd="sng" algn="ctr">
            <a:solidFill>
              <a:srgbClr val="EE822F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9136427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6637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6637;"/>
</p:tagLst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944</Words>
  <Application>Microsoft Office PowerPoint</Application>
  <DocSecurity>0</DocSecurity>
  <PresentationFormat>宽屏</PresentationFormat>
  <Paragraphs>214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MiSans</vt:lpstr>
      <vt:lpstr>微软雅黑</vt:lpstr>
      <vt:lpstr>Arial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布奇诺 卡</cp:lastModifiedBy>
  <cp:revision>16</cp:revision>
  <dcterms:created xsi:type="dcterms:W3CDTF">2026-07-23T19:05:43Z</dcterms:created>
  <dcterms:modified xsi:type="dcterms:W3CDTF">2026-07-24T02:33:17Z</dcterms:modified>
</cp:coreProperties>
</file>