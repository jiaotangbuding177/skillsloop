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7" r:id="rId14"/>
    <p:sldId id="282" r:id="rId15"/>
    <p:sldId id="283" r:id="rId16"/>
    <p:sldId id="270" r:id="rId17"/>
    <p:sldId id="285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FZYaYiHei GB18030L2 R" panose="02000500000000000000" charset="-122"/>
      <p:regular r:id="rId26"/>
    </p:embeddedFont>
    <p:embeddedFont>
      <p:font typeface="Inter" panose="02000503000000020004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8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6.fntdata"/><Relationship Id="rId30" Type="http://schemas.openxmlformats.org/officeDocument/2006/relationships/font" Target="fonts/font5.fntdata"/><Relationship Id="rId3" Type="http://schemas.openxmlformats.org/officeDocument/2006/relationships/slide" Target="slides/slide1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各位评委好，我们是第X组'智调大师'团队。今天汇报的项目是料体调配AI辅助系统，聚焦百雀羚洗发水产线中ES原料调配环节的经验传承问题。接下来我会用大约7分钟时间，从背景调研到原型验证，完整呈现我们的思考链路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今天的汇报分为六个部分：首先介绍课题背景与核心挑战，然后展示用户画像与洞察，接着是问题定义，之后详细讲解技术方案与算法设计，再展示原型Demo，最后说明AI协同方式和项目价值。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首先进入第一部分，背景与核心挑战。我们的课题起点是'料体调配AI辅助'，但在实地调研中发现了比预想更深层的问题。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接到的课题是'料体调配AI辅助'。具体来说，洗发水调配中ES原料对粘度影响极大，但每批次原料性质都有波动。大家可以看到四个关键事实：第一，原料出厂指标虽然合格，但批次间差异仍会导致实际粘度偏离理论值，必须靠人工微调；第二，加盐量和粘度的关系受温度、初始粘度、手感等多因素耦合，是非线性的，没法用简单公式描述；第三，老师傅的调配判断属于典型的隐性知识，他自己都很难说清楚决策逻辑，新师傅只能靠长期跟班观察来学；第四，每次试错消耗30到60分钟工时和对应原料成本，在排产紧张时直接影响交付效率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做了实地调研，发现了六个关键事实，直接推翻了我们最初'用AI全面替代人工'的预设。左边三个发现关于产线现状：第一，自动化已经覆盖了称量、投料、搅拌、温控这些确定性环节，真正没被覆盖的是原料波动下的'微调判断'这个黑箱；第二，原料出厂只保证指标在范围内，批次间差异不可避免，甚至出现过标注错误导致整批返工；第三，手感、气味这些关键定性参数没有低成本仪器能替代，只能靠老师傅当场感官判断。右边三个发现关于技术约束：第四，化妆品产品迭代快、配方换得频繁，历史数据天然稀疏，端到端深度学习模型在这个场景下根本不成立；第五，一线工人对'黑箱AI'有信任壁垒，可解释性不是锦上添花而是前提条件；第六，现场环境复杂，数字孪生难以完全映射，必须保留人工干预接口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接下来进入第二部分，用户画像与洞察。我们聚焦两类核心用户：经验丰富的老师傅和刚入行的新师傅，他们在调配环节面临的处境截然不同。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是我们最核心的用户画像对比。左边是老师傅，入行15年，他的原话是'一摸就知道这批次该加多少盐'。他的关键行为是靠手感和经验判断加盐量，通常1-2次调整就能达标。但他的痛点是：教学对他来说是额外负担，带新人比自己做还累；而且他的经验全部储存在个人脑中，无法共享给其他人。右边是新师傅，入行6个月，他的原话是'看了配方也不知道该加多少盐'。他的核心痛点有三个：不熟悉ES原料特性，每次要反复试错3-4次；遇到异常批次完全找不到调整方向；缺乏老师傅那种隐性经验，只能靠不断试错。这个对比清晰地揭示了核心矛盾：经验沉淀在个人脑中，传承链路断裂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基于用户洞察，我们重新定义了问题。第三部分，问题定义。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通过田野调研，我们推翻了最初'用神经网络拟合粘度'的假设。为什么？因为数据太稀疏了，定性参数太多，端到端模型根本不适用。我们重新定义了问题：核心不是'预测粘度'，而是'复制老师傅的判断方式'。POV是这样的：新师傅需要在面对未知批次ES原料时，快速获得有历史依据的调配建议，因为隐性经验无法短期习得，而每次试错都在消耗产能与原料。HMW就是：如何让新师傅像查字典一样，查到与当前批次最相似的历史案例及其调整方案，并理解推荐理由？这里特别要强调问题边界：我们不是要替代老师傅，而是让老师傅的判断方式可以被复制；不是改造流水线，而是在现有设备上叠加一个轻量的'经验查询机'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接下来进入技术方案与算法设计部分，这是汇报的核心。我会从方法论选择讲起，解释为什么我们选了案例推理而不是深度学习。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接下来进入原型展示与验证部分，我会展示我们做出的可交互Demo和完整的演示流程。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最后一部分，AI协同与项目价值。评委会关心我们团队是如何驾驭AI工具的，以及方案对企业有什么实际价值。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最后讲项目价值和下一步计划。企业价值分三个层面：短期内，新师傅调配试错次数从3-4次压缩到2次以内，减少原料消耗与工时浪费，提升产线交付效率；中期，个体老师傅的局部经验汇聚为全厂共享案例记忆，降低人员流动带来的知识断层风险；长期，CBR框架可拓展至其他日化原料调配场景，逐步构建全品类料体调配的AI辅助工具体系。当前的局限和下一步：第一，原型使用的是模拟数据，实际落地需要在单条产线进行3个月真实批次数据积累与效果验证；第二，定性标签的'低打扰'采集方式需在实际操作中验证，计划测试语音转写和快捷点选两种方案；第三，特征权重α目前靠经验设定，后续引入交叉验证搜索最优参数，持续提升推荐精度。以上就是我们的汇报，感谢各位评委，欢迎提问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感谢各位评委的聆听。我们的项目'智调大师'核心理念是让经验不再是黑箱，让每一位新师傅都能站在老师傅的经验之上快速成长。欢迎提问和交流。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内容占位符 9"/>
          <p:cNvSpPr>
            <a:spLocks noGrp="1"/>
          </p:cNvSpPr>
          <p:nvPr>
            <p:ph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3688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3688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1280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1280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DDD5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AutoShap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23921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4585885" y="2326481"/>
            <a:ext cx="7603067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5F1E8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AI × Design Thinking Bootcamp · 2026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2312806" y="2759869"/>
            <a:ext cx="7563340" cy="8382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6000" b="1" i="0" strike="noStrike">
                <a:solidFill>
                  <a:srgbClr val="F5F1E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智调大师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2250091" y="3864769"/>
            <a:ext cx="7688770" cy="31998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5F1E8">
                    <a:alpha val="87843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基于案例推理的料体调配AI辅助系统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2249542" y="4343499"/>
            <a:ext cx="7622559" cy="2132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400" i="0" strike="noStrike">
                <a:solidFill>
                  <a:srgbClr val="F5F1E8">
                    <a:alpha val="87843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02组 王俊翔 王康睿 唐语 · 2026.7</a:t>
            </a:r>
            <a:endParaRPr lang="en-US" sz="1400" i="0" strike="noStrike">
              <a:solidFill>
                <a:srgbClr val="F5F1E8">
                  <a:alpha val="87843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1E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2400449"/>
            <a:ext cx="450732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Contents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2810024"/>
            <a:ext cx="4507323" cy="6000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4200" b="1" i="0" strike="noStrike">
                <a:solidFill>
                  <a:srgbClr val="1A2E1F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3672929"/>
            <a:ext cx="380905" cy="19050"/>
          </a:xfrm>
          <a:prstGeom prst="rect">
            <a:avLst/>
          </a:prstGeom>
          <a:solidFill>
            <a:srgbClr val="6B8F5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457086" y="4006304"/>
            <a:ext cx="4056487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2E1F">
                    <a:alpha val="6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智调大师 · 料体调配AI辅助系统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2E1F">
                    <a:alpha val="6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从用户洞察到算法落地的完整路径</a:t>
            </a:r>
            <a:endParaRPr sz="1200" b="0" i="0" strike="noStrike">
              <a:solidFill>
                <a:srgbClr val="1A2E1F">
                  <a:alpha val="6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421494" y="1367433"/>
            <a:ext cx="6310222" cy="9525"/>
          </a:xfrm>
          <a:prstGeom prst="line">
            <a:avLst/>
          </a:prstGeom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5421494" y="986433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2E1F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01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5878580" y="919758"/>
            <a:ext cx="554409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背景与核心挑战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596243" y="995958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4357"/>
                </a:moveTo>
                <a:lnTo>
                  <a:pt x="7611" y="4357"/>
                </a:lnTo>
                <a:lnTo>
                  <a:pt x="4249" y="913"/>
                </a:lnTo>
                <a:lnTo>
                  <a:pt x="5136" y="0"/>
                </a:lnTo>
                <a:lnTo>
                  <a:pt x="9998" y="5000"/>
                </a:lnTo>
                <a:lnTo>
                  <a:pt x="5136" y="10000"/>
                </a:lnTo>
                <a:lnTo>
                  <a:pt x="4249" y="9087"/>
                </a:lnTo>
                <a:lnTo>
                  <a:pt x="7611" y="5643"/>
                </a:lnTo>
                <a:lnTo>
                  <a:pt x="0" y="5643"/>
                </a:lnTo>
              </a:path>
            </a:pathLst>
          </a:custGeom>
          <a:solidFill>
            <a:srgbClr val="1A2E1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AutoShape 11"/>
          <p:cNvSpPr/>
          <p:nvPr/>
        </p:nvSpPr>
        <p:spPr>
          <a:xfrm>
            <a:off x="5421494" y="2287190"/>
            <a:ext cx="6310222" cy="9525"/>
          </a:xfrm>
          <a:prstGeom prst="line">
            <a:avLst/>
          </a:prstGeom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Box 12"/>
          <p:cNvSpPr txBox="1"/>
          <p:nvPr/>
        </p:nvSpPr>
        <p:spPr>
          <a:xfrm>
            <a:off x="5421494" y="1906191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2E1F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02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5878580" y="1839516"/>
            <a:ext cx="554409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用户画像与洞察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596243" y="1915715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4357"/>
                </a:moveTo>
                <a:lnTo>
                  <a:pt x="7611" y="4357"/>
                </a:lnTo>
                <a:lnTo>
                  <a:pt x="4249" y="913"/>
                </a:lnTo>
                <a:lnTo>
                  <a:pt x="5136" y="0"/>
                </a:lnTo>
                <a:lnTo>
                  <a:pt x="9998" y="5000"/>
                </a:lnTo>
                <a:lnTo>
                  <a:pt x="5136" y="10000"/>
                </a:lnTo>
                <a:lnTo>
                  <a:pt x="4249" y="9087"/>
                </a:lnTo>
                <a:lnTo>
                  <a:pt x="7611" y="5643"/>
                </a:lnTo>
                <a:lnTo>
                  <a:pt x="0" y="5643"/>
                </a:lnTo>
              </a:path>
            </a:pathLst>
          </a:custGeom>
          <a:solidFill>
            <a:srgbClr val="1A2E1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>
            <a:off x="5421494" y="3206948"/>
            <a:ext cx="6310222" cy="9525"/>
          </a:xfrm>
          <a:prstGeom prst="line">
            <a:avLst/>
          </a:prstGeom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5421494" y="2825948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2E1F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03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5878580" y="2759273"/>
            <a:ext cx="554409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问题定义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596243" y="2835473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4357"/>
                </a:moveTo>
                <a:lnTo>
                  <a:pt x="7611" y="4357"/>
                </a:lnTo>
                <a:lnTo>
                  <a:pt x="4249" y="913"/>
                </a:lnTo>
                <a:lnTo>
                  <a:pt x="5136" y="0"/>
                </a:lnTo>
                <a:lnTo>
                  <a:pt x="9998" y="5000"/>
                </a:lnTo>
                <a:lnTo>
                  <a:pt x="5136" y="10000"/>
                </a:lnTo>
                <a:lnTo>
                  <a:pt x="4249" y="9087"/>
                </a:lnTo>
                <a:lnTo>
                  <a:pt x="7611" y="5643"/>
                </a:lnTo>
                <a:lnTo>
                  <a:pt x="0" y="5643"/>
                </a:lnTo>
              </a:path>
            </a:pathLst>
          </a:custGeom>
          <a:solidFill>
            <a:srgbClr val="1A2E1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>
            <a:off x="5421494" y="4126706"/>
            <a:ext cx="6310222" cy="9525"/>
          </a:xfrm>
          <a:prstGeom prst="line">
            <a:avLst/>
          </a:prstGeom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Box 20"/>
          <p:cNvSpPr txBox="1"/>
          <p:nvPr/>
        </p:nvSpPr>
        <p:spPr>
          <a:xfrm>
            <a:off x="5421494" y="374570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2E1F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04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5878580" y="3679031"/>
            <a:ext cx="554409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技术方案与算法设计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1596243" y="3755231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4357"/>
                </a:moveTo>
                <a:lnTo>
                  <a:pt x="7611" y="4357"/>
                </a:lnTo>
                <a:lnTo>
                  <a:pt x="4249" y="913"/>
                </a:lnTo>
                <a:lnTo>
                  <a:pt x="5136" y="0"/>
                </a:lnTo>
                <a:lnTo>
                  <a:pt x="9998" y="5000"/>
                </a:lnTo>
                <a:lnTo>
                  <a:pt x="5136" y="10000"/>
                </a:lnTo>
                <a:lnTo>
                  <a:pt x="4249" y="9087"/>
                </a:lnTo>
                <a:lnTo>
                  <a:pt x="7611" y="5643"/>
                </a:lnTo>
                <a:lnTo>
                  <a:pt x="0" y="5643"/>
                </a:lnTo>
              </a:path>
            </a:pathLst>
          </a:custGeom>
          <a:solidFill>
            <a:srgbClr val="1A2E1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3" name="AutoShape 23"/>
          <p:cNvSpPr/>
          <p:nvPr/>
        </p:nvSpPr>
        <p:spPr>
          <a:xfrm>
            <a:off x="5421494" y="5046464"/>
            <a:ext cx="6310222" cy="9525"/>
          </a:xfrm>
          <a:prstGeom prst="line">
            <a:avLst/>
          </a:prstGeom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TextBox 24"/>
          <p:cNvSpPr txBox="1"/>
          <p:nvPr/>
        </p:nvSpPr>
        <p:spPr>
          <a:xfrm>
            <a:off x="5421494" y="4665464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2E1F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05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5878580" y="4598789"/>
            <a:ext cx="554409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原型展示与验证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1596243" y="4674989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4357"/>
                </a:moveTo>
                <a:lnTo>
                  <a:pt x="7611" y="4357"/>
                </a:lnTo>
                <a:lnTo>
                  <a:pt x="4249" y="913"/>
                </a:lnTo>
                <a:lnTo>
                  <a:pt x="5136" y="0"/>
                </a:lnTo>
                <a:lnTo>
                  <a:pt x="9998" y="5000"/>
                </a:lnTo>
                <a:lnTo>
                  <a:pt x="5136" y="10000"/>
                </a:lnTo>
                <a:lnTo>
                  <a:pt x="4249" y="9087"/>
                </a:lnTo>
                <a:lnTo>
                  <a:pt x="7611" y="5643"/>
                </a:lnTo>
                <a:lnTo>
                  <a:pt x="0" y="5643"/>
                </a:lnTo>
              </a:path>
            </a:pathLst>
          </a:custGeom>
          <a:solidFill>
            <a:srgbClr val="1A2E1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7" name="AutoShape 27"/>
          <p:cNvSpPr/>
          <p:nvPr/>
        </p:nvSpPr>
        <p:spPr>
          <a:xfrm>
            <a:off x="5421494" y="5966223"/>
            <a:ext cx="6310222" cy="9525"/>
          </a:xfrm>
          <a:prstGeom prst="line">
            <a:avLst/>
          </a:prstGeom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TextBox 28"/>
          <p:cNvSpPr txBox="1"/>
          <p:nvPr/>
        </p:nvSpPr>
        <p:spPr>
          <a:xfrm>
            <a:off x="5421494" y="5585221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2E1F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06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5878580" y="5518548"/>
            <a:ext cx="554409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AI协同与项目价值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1596243" y="5594748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4357"/>
                </a:moveTo>
                <a:lnTo>
                  <a:pt x="7611" y="4357"/>
                </a:lnTo>
                <a:lnTo>
                  <a:pt x="4249" y="913"/>
                </a:lnTo>
                <a:lnTo>
                  <a:pt x="5136" y="0"/>
                </a:lnTo>
                <a:lnTo>
                  <a:pt x="9998" y="5000"/>
                </a:lnTo>
                <a:lnTo>
                  <a:pt x="5136" y="10000"/>
                </a:lnTo>
                <a:lnTo>
                  <a:pt x="4249" y="9087"/>
                </a:lnTo>
                <a:lnTo>
                  <a:pt x="7611" y="5643"/>
                </a:lnTo>
                <a:lnTo>
                  <a:pt x="0" y="5643"/>
                </a:lnTo>
              </a:path>
            </a:pathLst>
          </a:custGeom>
          <a:solidFill>
            <a:srgbClr val="1A2E1F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10196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5625934" y="2516088"/>
            <a:ext cx="656301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5F1E8">
                    <a:alpha val="6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01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1890537" y="2987576"/>
            <a:ext cx="8407878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5F1E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背景与核心挑战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856910" y="4046637"/>
            <a:ext cx="8475130" cy="3143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5F1E8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从产线实地调研中发现料体调配的真实痛点与自动化盲区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1E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背景与挑战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62000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1A2E1F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课题背景：ES原料批次波动下的调配困局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23975"/>
            <a:ext cx="9522" cy="609600"/>
          </a:xfrm>
          <a:prstGeom prst="line">
            <a:avLst/>
          </a:prstGeom>
          <a:ln w="9525">
            <a:solidFill>
              <a:srgbClr val="6B8F5E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99925" y="1371600"/>
            <a:ext cx="11589027" cy="514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0" i="1" strike="noStrike">
                <a:solidFill>
                  <a:srgbClr val="1A2E1F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洗发水调配中ES原料批次间存在不可忽视的性质波动，加盐量与最终粘度呈高度非线性关系。老师傅凭经验1-2次即可达标，新师傅</a:t>
            </a:r>
            <a:endParaRPr lang="en-US" sz="1100"/>
          </a:p>
          <a:p>
            <a:pPr algn="l"/>
            <a:r>
              <a:rPr sz="1500" b="0" i="1" strike="noStrike">
                <a:solidFill>
                  <a:srgbClr val="1A2E1F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则需3-4次反复试错，核心矛盾在于老师傅的隐性判断经验未能被系统化传承，而每次试错都在消耗产能与原料。</a:t>
            </a:r>
            <a:endParaRPr sz="1500" b="0" i="1" strike="noStrike">
              <a:solidFill>
                <a:srgbClr val="1A2E1F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457086" y="2162175"/>
            <a:ext cx="5542164" cy="2043112"/>
          </a:xfrm>
          <a:prstGeom prst="rect">
            <a:avLst/>
          </a:prstGeom>
          <a:solidFill>
            <a:srgbClr val="ECE8DE">
              <a:alpha val="100000"/>
            </a:srgbClr>
          </a:solidFill>
          <a:ln w="9525">
            <a:solidFill>
              <a:srgbClr val="D4CFC4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457086" y="2162175"/>
            <a:ext cx="5542164" cy="9525"/>
          </a:xfrm>
          <a:prstGeom prst="line">
            <a:avLst/>
          </a:prstGeom>
          <a:ln w="2857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Box 9"/>
          <p:cNvSpPr txBox="1"/>
          <p:nvPr>
            <p:custDataLst>
              <p:tags r:id="rId3"/>
            </p:custDataLst>
          </p:nvPr>
        </p:nvSpPr>
        <p:spPr>
          <a:xfrm>
            <a:off x="685626" y="2448014"/>
            <a:ext cx="5066033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b="0" i="0" strike="noStrike">
                <a:solidFill>
                  <a:srgbClr val="1A2E1F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原料波动</a:t>
            </a:r>
            <a:endParaRPr lang="en-US"/>
          </a:p>
        </p:txBody>
      </p:sp>
      <p:sp>
        <p:nvSpPr>
          <p:cNvPr id="10" name="TextBox 10"/>
          <p:cNvSpPr txBox="1"/>
          <p:nvPr>
            <p:custDataLst>
              <p:tags r:id="rId4"/>
            </p:custDataLst>
          </p:nvPr>
        </p:nvSpPr>
        <p:spPr>
          <a:xfrm>
            <a:off x="695151" y="3096666"/>
            <a:ext cx="5304099" cy="45615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ES原料每批次浓度、pH等指标虽在出厂范围内，但批次间差异仍会导</a:t>
            </a:r>
            <a:endParaRPr lang="en-US" sz="1600"/>
          </a:p>
          <a:p>
            <a:pPr algn="l"/>
            <a:r>
              <a:rPr sz="16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致理论粘度偏离实际值，必须依赖人工微调才能达标</a:t>
            </a:r>
            <a:endParaRPr sz="16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6189702" y="2162175"/>
            <a:ext cx="5542164" cy="2043112"/>
          </a:xfrm>
          <a:prstGeom prst="rect">
            <a:avLst/>
          </a:prstGeom>
          <a:solidFill>
            <a:srgbClr val="ECE8DE">
              <a:alpha val="100000"/>
            </a:srgbClr>
          </a:solidFill>
          <a:ln w="9525">
            <a:solidFill>
              <a:srgbClr val="D4CFC4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6189702" y="2162175"/>
            <a:ext cx="5542164" cy="9525"/>
          </a:xfrm>
          <a:prstGeom prst="line">
            <a:avLst/>
          </a:prstGeom>
          <a:ln w="2857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1"/>
          <p:nvPr>
            <p:custDataLst>
              <p:tags r:id="rId7"/>
            </p:custDataLst>
          </p:nvPr>
        </p:nvSpPr>
        <p:spPr>
          <a:xfrm>
            <a:off x="6401097" y="2448014"/>
            <a:ext cx="5066033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b="0" i="0" strike="noStrike">
                <a:solidFill>
                  <a:srgbClr val="1A2E1F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映射非线性</a:t>
            </a:r>
            <a:endParaRPr lang="en-US"/>
          </a:p>
        </p:txBody>
      </p:sp>
      <p:sp>
        <p:nvSpPr>
          <p:cNvPr id="14" name="TextBox 14"/>
          <p:cNvSpPr txBox="1"/>
          <p:nvPr>
            <p:custDataLst>
              <p:tags r:id="rId8"/>
            </p:custDataLst>
          </p:nvPr>
        </p:nvSpPr>
        <p:spPr>
          <a:xfrm>
            <a:off x="6427767" y="3096666"/>
            <a:ext cx="5304099" cy="45615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加盐量与粘度的映射关系受温度、初始粘度、原料手感等多因素耦合影</a:t>
            </a:r>
            <a:endParaRPr lang="en-US" sz="1600"/>
          </a:p>
          <a:p>
            <a:pPr algn="l"/>
            <a:r>
              <a:rPr sz="16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响，无法用简单公式或线性回归模型精确描述</a:t>
            </a:r>
            <a:endParaRPr sz="16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457086" y="4357688"/>
            <a:ext cx="5542164" cy="2043112"/>
          </a:xfrm>
          <a:prstGeom prst="rect">
            <a:avLst/>
          </a:prstGeom>
          <a:solidFill>
            <a:srgbClr val="ECE8DE">
              <a:alpha val="100000"/>
            </a:srgbClr>
          </a:solidFill>
          <a:ln w="9525">
            <a:solidFill>
              <a:srgbClr val="D4CFC4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>
            <p:custDataLst>
              <p:tags r:id="rId10"/>
            </p:custDataLst>
          </p:nvPr>
        </p:nvSpPr>
        <p:spPr>
          <a:xfrm>
            <a:off x="457086" y="4357688"/>
            <a:ext cx="5542164" cy="9525"/>
          </a:xfrm>
          <a:prstGeom prst="line">
            <a:avLst/>
          </a:prstGeom>
          <a:ln w="2857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Box 17"/>
          <p:cNvSpPr txBox="1"/>
          <p:nvPr>
            <p:custDataLst>
              <p:tags r:id="rId11"/>
            </p:custDataLst>
          </p:nvPr>
        </p:nvSpPr>
        <p:spPr>
          <a:xfrm>
            <a:off x="695151" y="4800371"/>
            <a:ext cx="5066033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b="0" i="0" strike="noStrike">
                <a:solidFill>
                  <a:srgbClr val="1A2E1F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经验传承</a:t>
            </a:r>
            <a:endParaRPr lang="en-US"/>
          </a:p>
        </p:txBody>
      </p:sp>
      <p:sp>
        <p:nvSpPr>
          <p:cNvPr id="18" name="TextBox 18"/>
          <p:cNvSpPr txBox="1"/>
          <p:nvPr>
            <p:custDataLst>
              <p:tags r:id="rId12"/>
            </p:custDataLst>
          </p:nvPr>
        </p:nvSpPr>
        <p:spPr>
          <a:xfrm>
            <a:off x="695151" y="5292179"/>
            <a:ext cx="5304099" cy="45615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老师傅的调配判断是典型的"隐性知识"——难以用语言完整表述决策逻</a:t>
            </a:r>
            <a:endParaRPr lang="en-US" sz="1400"/>
          </a:p>
          <a:p>
            <a:pPr algn="l"/>
            <a:r>
              <a:rPr sz="14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辑，新师傅只能靠长期跟班观察逐步习得</a:t>
            </a:r>
            <a:endParaRPr sz="14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6189702" y="4357688"/>
            <a:ext cx="5542164" cy="2043112"/>
          </a:xfrm>
          <a:prstGeom prst="rect">
            <a:avLst/>
          </a:prstGeom>
          <a:solidFill>
            <a:srgbClr val="ECE8DE">
              <a:alpha val="100000"/>
            </a:srgbClr>
          </a:solidFill>
          <a:ln w="9525">
            <a:solidFill>
              <a:srgbClr val="D4CFC4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AutoShape 20"/>
          <p:cNvSpPr/>
          <p:nvPr>
            <p:custDataLst>
              <p:tags r:id="rId14"/>
            </p:custDataLst>
          </p:nvPr>
        </p:nvSpPr>
        <p:spPr>
          <a:xfrm>
            <a:off x="6189702" y="4357688"/>
            <a:ext cx="5542164" cy="9525"/>
          </a:xfrm>
          <a:prstGeom prst="line">
            <a:avLst/>
          </a:prstGeom>
          <a:ln w="2857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TextBox 21"/>
          <p:cNvSpPr txBox="1"/>
          <p:nvPr>
            <p:custDataLst>
              <p:tags r:id="rId15"/>
            </p:custDataLst>
          </p:nvPr>
        </p:nvSpPr>
        <p:spPr>
          <a:xfrm>
            <a:off x="6477297" y="4794656"/>
            <a:ext cx="5066033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b="0" i="0" strike="noStrike">
                <a:solidFill>
                  <a:srgbClr val="1A2E1F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产能消耗</a:t>
            </a:r>
            <a:endParaRPr lang="en-US"/>
          </a:p>
        </p:txBody>
      </p:sp>
      <p:sp>
        <p:nvSpPr>
          <p:cNvPr id="22" name="TextBox 22"/>
          <p:cNvSpPr txBox="1"/>
          <p:nvPr>
            <p:custDataLst>
              <p:tags r:id="rId16"/>
            </p:custDataLst>
          </p:nvPr>
        </p:nvSpPr>
        <p:spPr>
          <a:xfrm>
            <a:off x="6427767" y="5292179"/>
            <a:ext cx="5304099" cy="45615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每次试错消耗约30-60分钟工时与对应批次的原料成本，在产线排产紧</a:t>
            </a:r>
            <a:endParaRPr lang="en-US" sz="1400"/>
          </a:p>
          <a:p>
            <a:pPr algn="l"/>
            <a:r>
              <a:rPr sz="14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张时直接影响交付效率与产能利用率</a:t>
            </a:r>
            <a:endParaRPr sz="14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1E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Field Research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71525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zh-CN" altLang="en-US" sz="2700" b="1" i="0" strike="noStrike">
                <a:solidFill>
                  <a:srgbClr val="1A2E1F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实地</a:t>
            </a:r>
            <a:r>
              <a:rPr lang="en-US" sz="2700" b="1" i="0" strike="noStrike">
                <a:solidFill>
                  <a:srgbClr val="1A2E1F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调研：六个发现推翻"全面自动化"预设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287661"/>
            <a:ext cx="9522" cy="649486"/>
          </a:xfrm>
          <a:prstGeom prst="line">
            <a:avLst/>
          </a:prstGeom>
          <a:ln w="9525">
            <a:solidFill>
              <a:srgbClr val="6B8F5E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80880" y="1325761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2E1F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实地调研揭示了化妆品调配场景的核心约束：确定性环节已被自动化覆盖，真正未被解决的是原料波动下的"微调判断"黑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2E1F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箱。</a:t>
            </a:r>
            <a:endParaRPr sz="1600" b="0" i="1" strike="noStrike">
              <a:solidFill>
                <a:srgbClr val="1A2E1F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108596"/>
            <a:ext cx="5523120" cy="4292202"/>
          </a:xfrm>
          <a:prstGeom prst="rect">
            <a:avLst/>
          </a:prstGeom>
          <a:solidFill>
            <a:srgbClr val="ECE8DD">
              <a:alpha val="100000"/>
            </a:srgbClr>
          </a:solidFill>
          <a:ln w="9525">
            <a:solidFill>
              <a:srgbClr val="D5D0C4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57086" y="2108596"/>
            <a:ext cx="5523120" cy="9525"/>
          </a:xfrm>
          <a:prstGeom prst="line">
            <a:avLst/>
          </a:prstGeom>
          <a:ln w="2857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Box 9"/>
          <p:cNvSpPr txBox="1"/>
          <p:nvPr/>
        </p:nvSpPr>
        <p:spPr>
          <a:xfrm>
            <a:off x="657061" y="2337196"/>
            <a:ext cx="512316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2E1F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产线现状发现</a:t>
            </a:r>
            <a:endParaRPr lang="en-US" sz="1100"/>
          </a:p>
        </p:txBody>
      </p:sp>
      <p:sp>
        <p:nvSpPr>
          <p:cNvPr id="10" name="TextBox 10"/>
          <p:cNvSpPr txBox="1"/>
          <p:nvPr>
            <p:custDataLst>
              <p:tags r:id="rId1"/>
            </p:custDataLst>
          </p:nvPr>
        </p:nvSpPr>
        <p:spPr>
          <a:xfrm>
            <a:off x="657061" y="3076278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01</a:t>
            </a:r>
            <a:endParaRPr lang="en-US" sz="1100"/>
          </a:p>
        </p:txBody>
      </p:sp>
      <p:sp>
        <p:nvSpPr>
          <p:cNvPr id="11" name="TextBox 11"/>
          <p:cNvSpPr txBox="1"/>
          <p:nvPr>
            <p:custDataLst>
              <p:tags r:id="rId2"/>
            </p:custDataLst>
          </p:nvPr>
        </p:nvSpPr>
        <p:spPr>
          <a:xfrm>
            <a:off x="890067" y="3085803"/>
            <a:ext cx="4894626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自动化已覆盖称量、投料、搅拌、温控等确定性环节，真正未被覆盖的是原料</a:t>
            </a:r>
            <a:endParaRPr lang="en-US" sz="1400"/>
          </a:p>
          <a:p>
            <a:pPr algn="l"/>
            <a:r>
              <a:rPr sz="14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批次波动下的</a:t>
            </a:r>
            <a:r>
              <a:rPr sz="1400" b="1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"微调判断"黑箱</a:t>
            </a:r>
            <a:endParaRPr sz="1400" b="1" i="0" strike="noStrike">
              <a:solidFill>
                <a:srgbClr val="1A2E1F">
                  <a:alpha val="10000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3"/>
            </p:custDataLst>
          </p:nvPr>
        </p:nvSpPr>
        <p:spPr>
          <a:xfrm>
            <a:off x="657061" y="4257526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02</a:t>
            </a:r>
            <a:endParaRPr lang="en-US" sz="1100"/>
          </a:p>
        </p:txBody>
      </p:sp>
      <p:sp>
        <p:nvSpPr>
          <p:cNvPr id="13" name="TextBox 13"/>
          <p:cNvSpPr txBox="1"/>
          <p:nvPr>
            <p:custDataLst>
              <p:tags r:id="rId4"/>
            </p:custDataLst>
          </p:nvPr>
        </p:nvSpPr>
        <p:spPr>
          <a:xfrm>
            <a:off x="890067" y="4267051"/>
            <a:ext cx="4890163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原料出厂仅保证浓度/pH在合格范围内，批次间差异不可避免，甚至出现标注</a:t>
            </a:r>
            <a:endParaRPr lang="en-US" sz="1400"/>
          </a:p>
          <a:p>
            <a:pPr algn="l"/>
            <a:r>
              <a:rPr sz="14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错误导致</a:t>
            </a:r>
            <a:r>
              <a:rPr sz="1400" b="1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整批返工</a:t>
            </a:r>
            <a:r>
              <a:rPr sz="14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的极端情况</a:t>
            </a:r>
            <a:endParaRPr sz="1400" b="0" i="0" strike="noStrike">
              <a:solidFill>
                <a:srgbClr val="1A2E1F">
                  <a:alpha val="10000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5"/>
            </p:custDataLst>
          </p:nvPr>
        </p:nvSpPr>
        <p:spPr>
          <a:xfrm>
            <a:off x="657061" y="5438775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03</a:t>
            </a:r>
            <a:endParaRPr lang="en-US" sz="1100"/>
          </a:p>
        </p:txBody>
      </p:sp>
      <p:sp>
        <p:nvSpPr>
          <p:cNvPr id="15" name="TextBox 15"/>
          <p:cNvSpPr txBox="1"/>
          <p:nvPr>
            <p:custDataLst>
              <p:tags r:id="rId6"/>
            </p:custDataLst>
          </p:nvPr>
        </p:nvSpPr>
        <p:spPr>
          <a:xfrm>
            <a:off x="890067" y="5448300"/>
            <a:ext cx="4894626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手感、气味等关键定性参数无低成本仪器可替代，只能来自老师傅当场感官判</a:t>
            </a:r>
            <a:endParaRPr lang="en-US" sz="1400"/>
          </a:p>
          <a:p>
            <a:pPr algn="l"/>
            <a:r>
              <a:rPr sz="14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断，系统必须接纳</a:t>
            </a:r>
            <a:r>
              <a:rPr sz="1400" b="1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非结构化输入</a:t>
            </a:r>
            <a:endParaRPr sz="1400" b="1" i="0" strike="noStrike">
              <a:solidFill>
                <a:srgbClr val="1A2E1F">
                  <a:alpha val="10000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08747" y="2108596"/>
            <a:ext cx="5523120" cy="4292202"/>
          </a:xfrm>
          <a:prstGeom prst="rect">
            <a:avLst/>
          </a:prstGeom>
          <a:solidFill>
            <a:srgbClr val="ECE8DD">
              <a:alpha val="100000"/>
            </a:srgbClr>
          </a:solidFill>
          <a:ln w="9525">
            <a:solidFill>
              <a:srgbClr val="D5D0C4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>
            <a:off x="6208747" y="2108596"/>
            <a:ext cx="5523120" cy="9525"/>
          </a:xfrm>
          <a:prstGeom prst="line">
            <a:avLst/>
          </a:prstGeom>
          <a:ln w="2857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6408722" y="2337196"/>
            <a:ext cx="5123169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2E1F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技术约束发现</a:t>
            </a:r>
            <a:endParaRPr lang="en-US" sz="1100"/>
          </a:p>
        </p:txBody>
      </p:sp>
      <p:sp>
        <p:nvSpPr>
          <p:cNvPr id="19" name="TextBox 19"/>
          <p:cNvSpPr txBox="1"/>
          <p:nvPr>
            <p:custDataLst>
              <p:tags r:id="rId7"/>
            </p:custDataLst>
          </p:nvPr>
        </p:nvSpPr>
        <p:spPr>
          <a:xfrm>
            <a:off x="6408722" y="3076278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04</a:t>
            </a:r>
            <a:endParaRPr lang="en-US" sz="1100"/>
          </a:p>
        </p:txBody>
      </p:sp>
      <p:sp>
        <p:nvSpPr>
          <p:cNvPr id="20" name="TextBox 20"/>
          <p:cNvSpPr txBox="1"/>
          <p:nvPr>
            <p:custDataLst>
              <p:tags r:id="rId8"/>
            </p:custDataLst>
          </p:nvPr>
        </p:nvSpPr>
        <p:spPr>
          <a:xfrm>
            <a:off x="6641729" y="3085803"/>
            <a:ext cx="4894626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化妆品产品迭代剧烈、配方更换频繁，历史数据天然稀疏，端到端深度学习模</a:t>
            </a:r>
            <a:endParaRPr lang="en-US" sz="1400"/>
          </a:p>
          <a:p>
            <a:pPr algn="l"/>
            <a:r>
              <a:rPr sz="14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型缺乏</a:t>
            </a:r>
            <a:r>
              <a:rPr sz="1400" b="1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足够训练样本</a:t>
            </a:r>
            <a:endParaRPr sz="1400" b="1" i="0" strike="noStrike">
              <a:solidFill>
                <a:srgbClr val="1A2E1F">
                  <a:alpha val="10000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1" name="TextBox 21"/>
          <p:cNvSpPr txBox="1"/>
          <p:nvPr>
            <p:custDataLst>
              <p:tags r:id="rId9"/>
            </p:custDataLst>
          </p:nvPr>
        </p:nvSpPr>
        <p:spPr>
          <a:xfrm>
            <a:off x="6408722" y="4257526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05</a:t>
            </a:r>
            <a:endParaRPr lang="en-US" sz="1100"/>
          </a:p>
        </p:txBody>
      </p:sp>
      <p:sp>
        <p:nvSpPr>
          <p:cNvPr id="22" name="TextBox 22"/>
          <p:cNvSpPr txBox="1"/>
          <p:nvPr>
            <p:custDataLst>
              <p:tags r:id="rId10"/>
            </p:custDataLst>
          </p:nvPr>
        </p:nvSpPr>
        <p:spPr>
          <a:xfrm>
            <a:off x="6641729" y="4267051"/>
            <a:ext cx="4890163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一线工人对"黑箱AI"存在信任壁垒，可解释性不是锦上添花而是人机协作的前</a:t>
            </a:r>
            <a:endParaRPr lang="en-US" sz="1400"/>
          </a:p>
          <a:p>
            <a:pPr algn="l"/>
            <a:r>
              <a:rPr sz="14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提条件，直接影响</a:t>
            </a:r>
            <a:r>
              <a:rPr sz="1400" b="1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系统采纳率</a:t>
            </a:r>
            <a:endParaRPr sz="1400" b="1" i="0" strike="noStrike">
              <a:solidFill>
                <a:srgbClr val="1A2E1F">
                  <a:alpha val="10000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3" name="TextBox 23"/>
          <p:cNvSpPr txBox="1"/>
          <p:nvPr>
            <p:custDataLst>
              <p:tags r:id="rId11"/>
            </p:custDataLst>
          </p:nvPr>
        </p:nvSpPr>
        <p:spPr>
          <a:xfrm>
            <a:off x="6408722" y="5438775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06</a:t>
            </a:r>
            <a:endParaRPr lang="en-US" sz="1100"/>
          </a:p>
        </p:txBody>
      </p:sp>
      <p:sp>
        <p:nvSpPr>
          <p:cNvPr id="24" name="TextBox 24"/>
          <p:cNvSpPr txBox="1"/>
          <p:nvPr>
            <p:custDataLst>
              <p:tags r:id="rId12"/>
            </p:custDataLst>
          </p:nvPr>
        </p:nvSpPr>
        <p:spPr>
          <a:xfrm>
            <a:off x="6641729" y="5448300"/>
            <a:ext cx="4890163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现场环境复杂（温湿度变化、设备老化差异），数字孪生难以完全映射真实工</a:t>
            </a:r>
            <a:endParaRPr lang="en-US" sz="1400"/>
          </a:p>
          <a:p>
            <a:pPr algn="l"/>
            <a:r>
              <a:rPr sz="1400" b="0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况，需保留</a:t>
            </a:r>
            <a:r>
              <a:rPr sz="1400" b="1" i="0" strike="noStrike">
                <a:solidFill>
                  <a:srgbClr val="1A2E1F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人工干预接口</a:t>
            </a:r>
            <a:endParaRPr sz="1400" b="1" i="0" strike="noStrike">
              <a:solidFill>
                <a:srgbClr val="1A2E1F">
                  <a:alpha val="10000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DDD6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AutoShap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12156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5619684" y="2535138"/>
            <a:ext cx="656926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5F1E8">
                    <a:alpha val="54901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Chapter 02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890537" y="2968526"/>
            <a:ext cx="8407878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5F1E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用户画像与洞察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455994" y="4027587"/>
            <a:ext cx="9276965" cy="3143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5F1E8">
                    <a:alpha val="74901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从"老师傅经验沉淀"到"新师傅能力断层"——两类用户的真实处境与核心矛盾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1E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USER PERSONA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23900"/>
            <a:ext cx="11274781" cy="4000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800" b="1" i="0" strike="noStrike">
                <a:solidFill>
                  <a:srgbClr val="1A2E1F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用户画像：经验断层两端的人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254323"/>
            <a:ext cx="9522" cy="649486"/>
          </a:xfrm>
          <a:prstGeom prst="line">
            <a:avLst/>
          </a:prstGeom>
          <a:ln w="9525">
            <a:solidFill>
              <a:srgbClr val="6B8F5E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80880" y="1292423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2E1F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调配车间存在明显的经验断层：老师傅凭15年手感经验1-2次即可达标，新师傅需反复试错3-4次，鸿沟正是产品要弥合的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2E1F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核心 gap。</a:t>
            </a:r>
            <a:endParaRPr sz="1600" b="0" i="1" strike="noStrike">
              <a:solidFill>
                <a:srgbClr val="1A2E1F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094309"/>
            <a:ext cx="5504073" cy="4306490"/>
          </a:xfrm>
          <a:prstGeom prst="rect">
            <a:avLst/>
          </a:prstGeom>
          <a:solidFill>
            <a:srgbClr val="E9E5DB">
              <a:alpha val="100000"/>
            </a:srgbClr>
          </a:solidFill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57086" y="2094309"/>
            <a:ext cx="5504073" cy="9525"/>
          </a:xfrm>
          <a:prstGeom prst="line">
            <a:avLst/>
          </a:prstGeom>
          <a:ln w="2857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671939" y="2384823"/>
            <a:ext cx="209498" cy="2095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8123" y="6593"/>
                </a:moveTo>
                <a:lnTo>
                  <a:pt x="8123" y="9769"/>
                </a:lnTo>
                <a:cubicBezTo>
                  <a:pt x="8123" y="9836"/>
                  <a:pt x="8092" y="9891"/>
                  <a:pt x="8030" y="9935"/>
                </a:cubicBezTo>
                <a:cubicBezTo>
                  <a:pt x="7967" y="9978"/>
                  <a:pt x="7894" y="10000"/>
                  <a:pt x="7811" y="10000"/>
                </a:cubicBezTo>
                <a:cubicBezTo>
                  <a:pt x="7752" y="10000"/>
                  <a:pt x="7698" y="9990"/>
                  <a:pt x="7648" y="9972"/>
                </a:cubicBezTo>
                <a:lnTo>
                  <a:pt x="4999" y="8796"/>
                </a:lnTo>
                <a:lnTo>
                  <a:pt x="2350" y="9972"/>
                </a:lnTo>
                <a:cubicBezTo>
                  <a:pt x="2274" y="10003"/>
                  <a:pt x="2195" y="10011"/>
                  <a:pt x="2112" y="9995"/>
                </a:cubicBezTo>
                <a:cubicBezTo>
                  <a:pt x="2028" y="9979"/>
                  <a:pt x="1966" y="9944"/>
                  <a:pt x="1925" y="9889"/>
                </a:cubicBezTo>
                <a:cubicBezTo>
                  <a:pt x="1891" y="9851"/>
                  <a:pt x="1875" y="9811"/>
                  <a:pt x="1875" y="9769"/>
                </a:cubicBezTo>
                <a:lnTo>
                  <a:pt x="1875" y="6593"/>
                </a:lnTo>
                <a:cubicBezTo>
                  <a:pt x="1291" y="6247"/>
                  <a:pt x="837" y="5827"/>
                  <a:pt x="512" y="5333"/>
                </a:cubicBezTo>
                <a:cubicBezTo>
                  <a:pt x="170" y="4821"/>
                  <a:pt x="0" y="4278"/>
                  <a:pt x="0" y="3704"/>
                </a:cubicBezTo>
                <a:cubicBezTo>
                  <a:pt x="0" y="3030"/>
                  <a:pt x="229" y="2407"/>
                  <a:pt x="687" y="1833"/>
                </a:cubicBezTo>
                <a:cubicBezTo>
                  <a:pt x="1129" y="1271"/>
                  <a:pt x="1725" y="827"/>
                  <a:pt x="2475" y="500"/>
                </a:cubicBezTo>
                <a:cubicBezTo>
                  <a:pt x="3249" y="166"/>
                  <a:pt x="4091" y="0"/>
                  <a:pt x="4999" y="0"/>
                </a:cubicBezTo>
                <a:cubicBezTo>
                  <a:pt x="5907" y="0"/>
                  <a:pt x="6748" y="166"/>
                  <a:pt x="7523" y="500"/>
                </a:cubicBezTo>
                <a:cubicBezTo>
                  <a:pt x="8273" y="827"/>
                  <a:pt x="8869" y="1271"/>
                  <a:pt x="9311" y="1833"/>
                </a:cubicBezTo>
                <a:cubicBezTo>
                  <a:pt x="9769" y="2407"/>
                  <a:pt x="9998" y="3030"/>
                  <a:pt x="9998" y="3704"/>
                </a:cubicBezTo>
                <a:cubicBezTo>
                  <a:pt x="9998" y="4278"/>
                  <a:pt x="9827" y="4821"/>
                  <a:pt x="9486" y="5333"/>
                </a:cubicBezTo>
                <a:cubicBezTo>
                  <a:pt x="9160" y="5827"/>
                  <a:pt x="8706" y="6247"/>
                  <a:pt x="8123" y="6593"/>
                </a:cubicBezTo>
                <a:moveTo>
                  <a:pt x="3124" y="7139"/>
                </a:moveTo>
                <a:lnTo>
                  <a:pt x="3124" y="7130"/>
                </a:lnTo>
                <a:lnTo>
                  <a:pt x="3124" y="8546"/>
                </a:lnTo>
                <a:lnTo>
                  <a:pt x="4999" y="7713"/>
                </a:lnTo>
                <a:lnTo>
                  <a:pt x="6874" y="8546"/>
                </a:lnTo>
                <a:lnTo>
                  <a:pt x="6874" y="7130"/>
                </a:lnTo>
                <a:cubicBezTo>
                  <a:pt x="6274" y="7314"/>
                  <a:pt x="5649" y="7407"/>
                  <a:pt x="4999" y="7407"/>
                </a:cubicBezTo>
                <a:cubicBezTo>
                  <a:pt x="4349" y="7407"/>
                  <a:pt x="3724" y="7317"/>
                  <a:pt x="3124" y="7139"/>
                </a:cubicBezTo>
                <a:moveTo>
                  <a:pt x="4999" y="6481"/>
                </a:moveTo>
                <a:cubicBezTo>
                  <a:pt x="5673" y="6481"/>
                  <a:pt x="6302" y="6354"/>
                  <a:pt x="6886" y="6102"/>
                </a:cubicBezTo>
                <a:cubicBezTo>
                  <a:pt x="7452" y="5854"/>
                  <a:pt x="7902" y="5521"/>
                  <a:pt x="8236" y="5102"/>
                </a:cubicBezTo>
                <a:cubicBezTo>
                  <a:pt x="8577" y="4670"/>
                  <a:pt x="8748" y="4202"/>
                  <a:pt x="8748" y="3699"/>
                </a:cubicBezTo>
                <a:cubicBezTo>
                  <a:pt x="8748" y="3195"/>
                  <a:pt x="8577" y="2728"/>
                  <a:pt x="8236" y="2296"/>
                </a:cubicBezTo>
                <a:cubicBezTo>
                  <a:pt x="7902" y="1876"/>
                  <a:pt x="7452" y="1546"/>
                  <a:pt x="6886" y="1306"/>
                </a:cubicBezTo>
                <a:cubicBezTo>
                  <a:pt x="6302" y="1052"/>
                  <a:pt x="5673" y="926"/>
                  <a:pt x="4999" y="926"/>
                </a:cubicBezTo>
                <a:cubicBezTo>
                  <a:pt x="4324" y="926"/>
                  <a:pt x="3695" y="1052"/>
                  <a:pt x="3112" y="1306"/>
                </a:cubicBezTo>
                <a:cubicBezTo>
                  <a:pt x="2545" y="1546"/>
                  <a:pt x="2095" y="1876"/>
                  <a:pt x="1762" y="2296"/>
                </a:cubicBezTo>
                <a:cubicBezTo>
                  <a:pt x="1420" y="2728"/>
                  <a:pt x="1250" y="3195"/>
                  <a:pt x="1250" y="3699"/>
                </a:cubicBezTo>
                <a:cubicBezTo>
                  <a:pt x="1250" y="4202"/>
                  <a:pt x="1420" y="4670"/>
                  <a:pt x="1762" y="5102"/>
                </a:cubicBezTo>
                <a:cubicBezTo>
                  <a:pt x="2095" y="5521"/>
                  <a:pt x="2545" y="5854"/>
                  <a:pt x="3112" y="6102"/>
                </a:cubicBezTo>
                <a:cubicBezTo>
                  <a:pt x="3695" y="6354"/>
                  <a:pt x="4324" y="6481"/>
                  <a:pt x="4999" y="6481"/>
                </a:cubicBezTo>
              </a:path>
            </a:pathLst>
          </a:custGeom>
          <a:solidFill>
            <a:srgbClr val="6B8F5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953452" y="2363837"/>
            <a:ext cx="17133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2E1F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老师傅 · 入行15年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95151" y="2780109"/>
            <a:ext cx="9522" cy="457200"/>
          </a:xfrm>
          <a:prstGeom prst="line">
            <a:avLst/>
          </a:prstGeom>
          <a:ln w="952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Box 12"/>
          <p:cNvSpPr txBox="1"/>
          <p:nvPr/>
        </p:nvSpPr>
        <p:spPr>
          <a:xfrm>
            <a:off x="837990" y="2808684"/>
            <a:ext cx="512316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"一摸就知道这批次该加多少盐"——靠手感和经验判断加盐量，</a:t>
            </a:r>
            <a:r>
              <a:rPr sz="1100" b="1" i="0" strike="noStrike">
                <a:solidFill>
                  <a:srgbClr val="6B8F5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1-2次</a:t>
            </a:r>
            <a:r>
              <a:rPr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调整即可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达标，</a:t>
            </a:r>
            <a:r>
              <a:rPr lang="zh-CN"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虽然也需要调整但是效率较高</a:t>
            </a:r>
            <a:endParaRPr lang="zh-CN" sz="11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04676" y="3413205"/>
            <a:ext cx="9522" cy="457200"/>
          </a:xfrm>
          <a:prstGeom prst="line">
            <a:avLst/>
          </a:prstGeom>
          <a:ln w="952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1"/>
          <p:nvPr/>
        </p:nvSpPr>
        <p:spPr>
          <a:xfrm>
            <a:off x="837990" y="3429080"/>
            <a:ext cx="512316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"教学是额外负担"——带新人比自己做还累，日常操作中难以腾出专门时间进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行系统化带教</a:t>
            </a:r>
            <a:endParaRPr sz="11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95151" y="4010105"/>
            <a:ext cx="9522" cy="228600"/>
          </a:xfrm>
          <a:prstGeom prst="line">
            <a:avLst/>
          </a:prstGeom>
          <a:ln w="952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837990" y="3989785"/>
            <a:ext cx="512316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经验储存在个人脑中，无法标准化共享，一旦人员流动即面临知识断层风险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7793" y="2094309"/>
            <a:ext cx="5504073" cy="4306490"/>
          </a:xfrm>
          <a:prstGeom prst="rect">
            <a:avLst/>
          </a:prstGeom>
          <a:solidFill>
            <a:srgbClr val="E9E5DB">
              <a:alpha val="100000"/>
            </a:srgbClr>
          </a:solidFill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AutoShape 18"/>
          <p:cNvSpPr/>
          <p:nvPr/>
        </p:nvSpPr>
        <p:spPr>
          <a:xfrm>
            <a:off x="6227793" y="2094309"/>
            <a:ext cx="5504073" cy="9525"/>
          </a:xfrm>
          <a:prstGeom prst="line">
            <a:avLst/>
          </a:prstGeom>
          <a:ln w="2857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>
            <a:off x="6442646" y="2384823"/>
            <a:ext cx="209498" cy="2095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250" y="10000"/>
                </a:moveTo>
                <a:lnTo>
                  <a:pt x="0" y="10000"/>
                </a:lnTo>
                <a:cubicBezTo>
                  <a:pt x="0" y="9308"/>
                  <a:pt x="229" y="8666"/>
                  <a:pt x="687" y="8076"/>
                </a:cubicBezTo>
                <a:cubicBezTo>
                  <a:pt x="1129" y="7504"/>
                  <a:pt x="1725" y="7050"/>
                  <a:pt x="2475" y="6714"/>
                </a:cubicBezTo>
                <a:cubicBezTo>
                  <a:pt x="3249" y="6364"/>
                  <a:pt x="4091" y="6190"/>
                  <a:pt x="4999" y="6190"/>
                </a:cubicBezTo>
                <a:cubicBezTo>
                  <a:pt x="5907" y="6190"/>
                  <a:pt x="6748" y="6364"/>
                  <a:pt x="7523" y="6714"/>
                </a:cubicBezTo>
                <a:cubicBezTo>
                  <a:pt x="8273" y="7050"/>
                  <a:pt x="8869" y="7504"/>
                  <a:pt x="9311" y="8076"/>
                </a:cubicBezTo>
                <a:cubicBezTo>
                  <a:pt x="9769" y="8666"/>
                  <a:pt x="9998" y="9308"/>
                  <a:pt x="9998" y="10000"/>
                </a:cubicBezTo>
                <a:lnTo>
                  <a:pt x="8748" y="10000"/>
                </a:lnTo>
                <a:cubicBezTo>
                  <a:pt x="8748" y="9486"/>
                  <a:pt x="8577" y="9006"/>
                  <a:pt x="8236" y="8562"/>
                </a:cubicBezTo>
                <a:cubicBezTo>
                  <a:pt x="7902" y="8130"/>
                  <a:pt x="7452" y="7787"/>
                  <a:pt x="6886" y="7533"/>
                </a:cubicBezTo>
                <a:cubicBezTo>
                  <a:pt x="6302" y="7273"/>
                  <a:pt x="5673" y="7143"/>
                  <a:pt x="4999" y="7143"/>
                </a:cubicBezTo>
                <a:cubicBezTo>
                  <a:pt x="4324" y="7143"/>
                  <a:pt x="3695" y="7273"/>
                  <a:pt x="3112" y="7533"/>
                </a:cubicBezTo>
                <a:cubicBezTo>
                  <a:pt x="2545" y="7787"/>
                  <a:pt x="2095" y="8130"/>
                  <a:pt x="1762" y="8562"/>
                </a:cubicBezTo>
                <a:cubicBezTo>
                  <a:pt x="1420" y="9006"/>
                  <a:pt x="1250" y="9486"/>
                  <a:pt x="1250" y="10000"/>
                </a:cubicBezTo>
                <a:moveTo>
                  <a:pt x="4999" y="5714"/>
                </a:moveTo>
                <a:cubicBezTo>
                  <a:pt x="4315" y="5714"/>
                  <a:pt x="3686" y="5584"/>
                  <a:pt x="3112" y="5324"/>
                </a:cubicBezTo>
                <a:cubicBezTo>
                  <a:pt x="2545" y="5070"/>
                  <a:pt x="2095" y="4727"/>
                  <a:pt x="1762" y="4295"/>
                </a:cubicBezTo>
                <a:cubicBezTo>
                  <a:pt x="1420" y="3857"/>
                  <a:pt x="1250" y="3377"/>
                  <a:pt x="1250" y="2857"/>
                </a:cubicBezTo>
                <a:cubicBezTo>
                  <a:pt x="1250" y="2336"/>
                  <a:pt x="1420" y="1857"/>
                  <a:pt x="1762" y="1419"/>
                </a:cubicBezTo>
                <a:cubicBezTo>
                  <a:pt x="2095" y="987"/>
                  <a:pt x="2545" y="644"/>
                  <a:pt x="3112" y="390"/>
                </a:cubicBezTo>
                <a:cubicBezTo>
                  <a:pt x="3686" y="130"/>
                  <a:pt x="4315" y="0"/>
                  <a:pt x="4999" y="0"/>
                </a:cubicBezTo>
                <a:cubicBezTo>
                  <a:pt x="5682" y="0"/>
                  <a:pt x="6311" y="130"/>
                  <a:pt x="6886" y="390"/>
                </a:cubicBezTo>
                <a:cubicBezTo>
                  <a:pt x="7452" y="644"/>
                  <a:pt x="7902" y="987"/>
                  <a:pt x="8236" y="1419"/>
                </a:cubicBezTo>
                <a:cubicBezTo>
                  <a:pt x="8577" y="1857"/>
                  <a:pt x="8748" y="2336"/>
                  <a:pt x="8748" y="2857"/>
                </a:cubicBezTo>
                <a:cubicBezTo>
                  <a:pt x="8748" y="3377"/>
                  <a:pt x="8577" y="3857"/>
                  <a:pt x="8236" y="4295"/>
                </a:cubicBezTo>
                <a:cubicBezTo>
                  <a:pt x="7902" y="4727"/>
                  <a:pt x="7452" y="5070"/>
                  <a:pt x="6886" y="5324"/>
                </a:cubicBezTo>
                <a:cubicBezTo>
                  <a:pt x="6311" y="5584"/>
                  <a:pt x="5682" y="5714"/>
                  <a:pt x="4999" y="5714"/>
                </a:cubicBezTo>
                <a:moveTo>
                  <a:pt x="4999" y="4762"/>
                </a:moveTo>
                <a:cubicBezTo>
                  <a:pt x="5449" y="4762"/>
                  <a:pt x="5865" y="4676"/>
                  <a:pt x="6249" y="4505"/>
                </a:cubicBezTo>
                <a:cubicBezTo>
                  <a:pt x="6632" y="4333"/>
                  <a:pt x="6936" y="4102"/>
                  <a:pt x="7161" y="3810"/>
                </a:cubicBezTo>
                <a:cubicBezTo>
                  <a:pt x="7385" y="3517"/>
                  <a:pt x="7498" y="3199"/>
                  <a:pt x="7498" y="2857"/>
                </a:cubicBezTo>
                <a:cubicBezTo>
                  <a:pt x="7498" y="2514"/>
                  <a:pt x="7385" y="2197"/>
                  <a:pt x="7161" y="1905"/>
                </a:cubicBezTo>
                <a:cubicBezTo>
                  <a:pt x="6936" y="1613"/>
                  <a:pt x="6632" y="1381"/>
                  <a:pt x="6249" y="1210"/>
                </a:cubicBezTo>
                <a:cubicBezTo>
                  <a:pt x="5865" y="1038"/>
                  <a:pt x="5449" y="952"/>
                  <a:pt x="4999" y="952"/>
                </a:cubicBezTo>
                <a:cubicBezTo>
                  <a:pt x="4549" y="952"/>
                  <a:pt x="4132" y="1038"/>
                  <a:pt x="3749" y="1210"/>
                </a:cubicBezTo>
                <a:cubicBezTo>
                  <a:pt x="3365" y="1381"/>
                  <a:pt x="3061" y="1613"/>
                  <a:pt x="2837" y="1905"/>
                </a:cubicBezTo>
                <a:cubicBezTo>
                  <a:pt x="2611" y="2197"/>
                  <a:pt x="2499" y="2514"/>
                  <a:pt x="2499" y="2857"/>
                </a:cubicBezTo>
                <a:cubicBezTo>
                  <a:pt x="2499" y="3199"/>
                  <a:pt x="2611" y="3517"/>
                  <a:pt x="2837" y="3810"/>
                </a:cubicBezTo>
                <a:cubicBezTo>
                  <a:pt x="3061" y="4102"/>
                  <a:pt x="3365" y="4333"/>
                  <a:pt x="3749" y="4505"/>
                </a:cubicBezTo>
                <a:cubicBezTo>
                  <a:pt x="4132" y="4676"/>
                  <a:pt x="4549" y="4762"/>
                  <a:pt x="4999" y="4762"/>
                </a:cubicBezTo>
              </a:path>
            </a:pathLst>
          </a:custGeom>
          <a:solidFill>
            <a:srgbClr val="6B8F5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0" name="TextBox 20"/>
          <p:cNvSpPr txBox="1"/>
          <p:nvPr/>
        </p:nvSpPr>
        <p:spPr>
          <a:xfrm>
            <a:off x="6724160" y="2363837"/>
            <a:ext cx="1802900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2E1F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新师傅 · 入行6个月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65858" y="2780109"/>
            <a:ext cx="9522" cy="457200"/>
          </a:xfrm>
          <a:prstGeom prst="line">
            <a:avLst/>
          </a:prstGeom>
          <a:ln w="952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Box 22"/>
          <p:cNvSpPr txBox="1"/>
          <p:nvPr/>
        </p:nvSpPr>
        <p:spPr>
          <a:xfrm>
            <a:off x="6583045" y="2808605"/>
            <a:ext cx="5148580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"看了配方也不知道该加多少盐"——不熟悉原料特性，每次调配需反复试错</a:t>
            </a:r>
            <a:r>
              <a:rPr sz="1100" b="1" i="0" strike="noStrike">
                <a:solidFill>
                  <a:srgbClr val="6B8F5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3-4</a:t>
            </a:r>
            <a:endParaRPr lang="en-US" sz="1100"/>
          </a:p>
          <a:p>
            <a:pPr algn="l"/>
            <a:r>
              <a:rPr sz="1100" b="1" i="0" strike="noStrike">
                <a:solidFill>
                  <a:srgbClr val="6B8F5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次</a:t>
            </a:r>
            <a:r>
              <a:rPr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才能达标</a:t>
            </a:r>
            <a:endParaRPr sz="11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465858" y="3351610"/>
            <a:ext cx="9522" cy="228600"/>
          </a:xfrm>
          <a:prstGeom prst="line">
            <a:avLst/>
          </a:prstGeom>
          <a:ln w="952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TextBox 24"/>
          <p:cNvSpPr txBox="1"/>
          <p:nvPr/>
        </p:nvSpPr>
        <p:spPr>
          <a:xfrm>
            <a:off x="6583045" y="3413125"/>
            <a:ext cx="1674495" cy="1130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遇到异常批次完全找不到调整方向，缺乏跨场景应变判断能力，容易调配失控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65858" y="3694510"/>
            <a:ext cx="9522" cy="457200"/>
          </a:xfrm>
          <a:prstGeom prst="line">
            <a:avLst/>
          </a:prstGeom>
          <a:ln w="952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TextBox 26"/>
          <p:cNvSpPr txBox="1"/>
          <p:nvPr/>
        </p:nvSpPr>
        <p:spPr>
          <a:xfrm>
            <a:off x="6629400" y="3733800"/>
            <a:ext cx="4776470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缺乏"隐性经验"积累，只能靠不断试错摸索，学习曲线漫长且消耗大量原料与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工时</a:t>
            </a:r>
            <a:endParaRPr sz="11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DDD6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AutoShap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12156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5601235" y="2518915"/>
            <a:ext cx="6587717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5F1E8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03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2342266" y="2952303"/>
            <a:ext cx="7504419" cy="7962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700" b="1" i="0" strike="noStrike">
                <a:solidFill>
                  <a:srgbClr val="F5F1E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问题定义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820531" y="4053335"/>
            <a:ext cx="8547890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5F1E8">
                    <a:alpha val="74901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从'预测粘度'到'复制判断方式'——调研驱动的问题重新定义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1E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Problem Definition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71525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1A2E1F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问题定义：从"预测粘度"到"复制判断方式"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06711"/>
            <a:ext cx="9522" cy="649486"/>
          </a:xfrm>
          <a:prstGeom prst="line">
            <a:avLst/>
          </a:prstGeom>
          <a:ln w="9525">
            <a:solidFill>
              <a:srgbClr val="6B8F5E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80880" y="1344811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2E1F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田野调研推翻了"用神经网络拟合粘度"的初始假设，重新定义核心问题为：如何将老师傅的隐性判断经验外部化为共享知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2E1F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识工具，同时不增加额外负担、不改造现有产线。</a:t>
            </a:r>
            <a:endParaRPr sz="1600" b="0" i="1" strike="noStrike">
              <a:solidFill>
                <a:srgbClr val="1A2E1F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146698"/>
            <a:ext cx="5570732" cy="2060377"/>
          </a:xfrm>
          <a:prstGeom prst="rect">
            <a:avLst/>
          </a:prstGeom>
          <a:solidFill>
            <a:srgbClr val="ECE8DF">
              <a:alpha val="100000"/>
            </a:srgbClr>
          </a:solidFill>
          <a:ln w="9525">
            <a:solidFill>
              <a:srgbClr val="D4CFC4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457086" y="2146698"/>
            <a:ext cx="5570732" cy="9525"/>
          </a:xfrm>
          <a:prstGeom prst="line">
            <a:avLst/>
          </a:prstGeom>
          <a:ln w="2857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635932" y="2346723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219" y="5920"/>
                </a:moveTo>
                <a:lnTo>
                  <a:pt x="4219" y="6831"/>
                </a:lnTo>
                <a:cubicBezTo>
                  <a:pt x="3649" y="6831"/>
                  <a:pt x="3118" y="6955"/>
                  <a:pt x="2626" y="7204"/>
                </a:cubicBezTo>
                <a:cubicBezTo>
                  <a:pt x="2148" y="7446"/>
                  <a:pt x="1768" y="7774"/>
                  <a:pt x="1487" y="8188"/>
                </a:cubicBezTo>
                <a:cubicBezTo>
                  <a:pt x="1199" y="8612"/>
                  <a:pt x="1055" y="9071"/>
                  <a:pt x="1055" y="9563"/>
                </a:cubicBezTo>
                <a:lnTo>
                  <a:pt x="0" y="9563"/>
                </a:lnTo>
                <a:cubicBezTo>
                  <a:pt x="0" y="8907"/>
                  <a:pt x="193" y="8293"/>
                  <a:pt x="580" y="7723"/>
                </a:cubicBezTo>
                <a:cubicBezTo>
                  <a:pt x="952" y="7176"/>
                  <a:pt x="1455" y="6742"/>
                  <a:pt x="2088" y="6421"/>
                </a:cubicBezTo>
                <a:cubicBezTo>
                  <a:pt x="2749" y="6087"/>
                  <a:pt x="3459" y="5920"/>
                  <a:pt x="4219" y="5920"/>
                </a:cubicBezTo>
                <a:moveTo>
                  <a:pt x="4219" y="5464"/>
                </a:moveTo>
                <a:cubicBezTo>
                  <a:pt x="3649" y="5464"/>
                  <a:pt x="3118" y="5339"/>
                  <a:pt x="2626" y="5091"/>
                </a:cubicBezTo>
                <a:cubicBezTo>
                  <a:pt x="2148" y="4854"/>
                  <a:pt x="1768" y="4529"/>
                  <a:pt x="1487" y="4117"/>
                </a:cubicBezTo>
                <a:cubicBezTo>
                  <a:pt x="1199" y="3691"/>
                  <a:pt x="1055" y="3231"/>
                  <a:pt x="1055" y="2737"/>
                </a:cubicBezTo>
                <a:cubicBezTo>
                  <a:pt x="1055" y="2242"/>
                  <a:pt x="1199" y="1782"/>
                  <a:pt x="1487" y="1357"/>
                </a:cubicBezTo>
                <a:cubicBezTo>
                  <a:pt x="1768" y="944"/>
                  <a:pt x="2148" y="616"/>
                  <a:pt x="2626" y="373"/>
                </a:cubicBezTo>
                <a:cubicBezTo>
                  <a:pt x="3118" y="124"/>
                  <a:pt x="3650" y="0"/>
                  <a:pt x="4224" y="0"/>
                </a:cubicBezTo>
                <a:cubicBezTo>
                  <a:pt x="4796" y="0"/>
                  <a:pt x="5329" y="124"/>
                  <a:pt x="5822" y="373"/>
                </a:cubicBezTo>
                <a:cubicBezTo>
                  <a:pt x="6300" y="616"/>
                  <a:pt x="6676" y="944"/>
                  <a:pt x="6950" y="1357"/>
                </a:cubicBezTo>
                <a:cubicBezTo>
                  <a:pt x="7238" y="1782"/>
                  <a:pt x="7382" y="2242"/>
                  <a:pt x="7382" y="2737"/>
                </a:cubicBezTo>
                <a:cubicBezTo>
                  <a:pt x="7382" y="3231"/>
                  <a:pt x="7238" y="3691"/>
                  <a:pt x="6950" y="4117"/>
                </a:cubicBezTo>
                <a:cubicBezTo>
                  <a:pt x="6676" y="4529"/>
                  <a:pt x="6300" y="4854"/>
                  <a:pt x="5822" y="5091"/>
                </a:cubicBezTo>
                <a:cubicBezTo>
                  <a:pt x="5329" y="5339"/>
                  <a:pt x="4795" y="5464"/>
                  <a:pt x="4219" y="5464"/>
                </a:cubicBezTo>
                <a:moveTo>
                  <a:pt x="4219" y="4554"/>
                </a:moveTo>
                <a:cubicBezTo>
                  <a:pt x="4605" y="4554"/>
                  <a:pt x="4958" y="4472"/>
                  <a:pt x="5278" y="4308"/>
                </a:cubicBezTo>
                <a:cubicBezTo>
                  <a:pt x="5598" y="4144"/>
                  <a:pt x="5853" y="3924"/>
                  <a:pt x="6043" y="3648"/>
                </a:cubicBezTo>
                <a:cubicBezTo>
                  <a:pt x="6233" y="3371"/>
                  <a:pt x="6328" y="3067"/>
                  <a:pt x="6328" y="2737"/>
                </a:cubicBezTo>
                <a:cubicBezTo>
                  <a:pt x="6328" y="2405"/>
                  <a:pt x="6233" y="2100"/>
                  <a:pt x="6043" y="1821"/>
                </a:cubicBezTo>
                <a:cubicBezTo>
                  <a:pt x="5853" y="1542"/>
                  <a:pt x="5598" y="1321"/>
                  <a:pt x="5278" y="1157"/>
                </a:cubicBezTo>
                <a:cubicBezTo>
                  <a:pt x="4958" y="993"/>
                  <a:pt x="4607" y="911"/>
                  <a:pt x="4224" y="911"/>
                </a:cubicBezTo>
                <a:cubicBezTo>
                  <a:pt x="3840" y="911"/>
                  <a:pt x="3487" y="993"/>
                  <a:pt x="3164" y="1157"/>
                </a:cubicBezTo>
                <a:cubicBezTo>
                  <a:pt x="2840" y="1321"/>
                  <a:pt x="2584" y="1542"/>
                  <a:pt x="2394" y="1821"/>
                </a:cubicBezTo>
                <a:cubicBezTo>
                  <a:pt x="2204" y="2100"/>
                  <a:pt x="2109" y="2405"/>
                  <a:pt x="2109" y="2737"/>
                </a:cubicBezTo>
                <a:cubicBezTo>
                  <a:pt x="2109" y="3067"/>
                  <a:pt x="2204" y="3371"/>
                  <a:pt x="2394" y="3648"/>
                </a:cubicBezTo>
                <a:cubicBezTo>
                  <a:pt x="2584" y="3924"/>
                  <a:pt x="2840" y="4144"/>
                  <a:pt x="3164" y="4308"/>
                </a:cubicBezTo>
                <a:cubicBezTo>
                  <a:pt x="3487" y="4472"/>
                  <a:pt x="3839" y="4554"/>
                  <a:pt x="4219" y="4554"/>
                </a:cubicBezTo>
                <a:moveTo>
                  <a:pt x="9207" y="8670"/>
                </a:moveTo>
                <a:lnTo>
                  <a:pt x="9998" y="9353"/>
                </a:lnTo>
                <a:lnTo>
                  <a:pt x="9249" y="10000"/>
                </a:lnTo>
                <a:lnTo>
                  <a:pt x="8458" y="9317"/>
                </a:lnTo>
                <a:cubicBezTo>
                  <a:pt x="8128" y="9481"/>
                  <a:pt x="7771" y="9563"/>
                  <a:pt x="7388" y="9563"/>
                </a:cubicBezTo>
                <a:cubicBezTo>
                  <a:pt x="7004" y="9563"/>
                  <a:pt x="6651" y="9481"/>
                  <a:pt x="6328" y="9317"/>
                </a:cubicBezTo>
                <a:cubicBezTo>
                  <a:pt x="6004" y="9153"/>
                  <a:pt x="5748" y="8933"/>
                  <a:pt x="5558" y="8657"/>
                </a:cubicBezTo>
                <a:cubicBezTo>
                  <a:pt x="5368" y="8380"/>
                  <a:pt x="5273" y="8076"/>
                  <a:pt x="5273" y="7746"/>
                </a:cubicBezTo>
                <a:cubicBezTo>
                  <a:pt x="5273" y="7415"/>
                  <a:pt x="5368" y="7110"/>
                  <a:pt x="5558" y="6831"/>
                </a:cubicBezTo>
                <a:cubicBezTo>
                  <a:pt x="5748" y="6551"/>
                  <a:pt x="6004" y="6330"/>
                  <a:pt x="6328" y="6166"/>
                </a:cubicBezTo>
                <a:cubicBezTo>
                  <a:pt x="6651" y="6002"/>
                  <a:pt x="7004" y="5920"/>
                  <a:pt x="7388" y="5920"/>
                </a:cubicBezTo>
                <a:cubicBezTo>
                  <a:pt x="7771" y="5920"/>
                  <a:pt x="8122" y="6002"/>
                  <a:pt x="8442" y="6166"/>
                </a:cubicBezTo>
                <a:cubicBezTo>
                  <a:pt x="8762" y="6330"/>
                  <a:pt x="9017" y="6551"/>
                  <a:pt x="9207" y="6831"/>
                </a:cubicBezTo>
                <a:cubicBezTo>
                  <a:pt x="9397" y="7110"/>
                  <a:pt x="9492" y="7415"/>
                  <a:pt x="9492" y="7746"/>
                </a:cubicBezTo>
                <a:cubicBezTo>
                  <a:pt x="9492" y="8076"/>
                  <a:pt x="9397" y="8384"/>
                  <a:pt x="9207" y="8670"/>
                </a:cubicBezTo>
                <a:moveTo>
                  <a:pt x="7382" y="8652"/>
                </a:moveTo>
                <a:cubicBezTo>
                  <a:pt x="7572" y="8652"/>
                  <a:pt x="7748" y="8611"/>
                  <a:pt x="7910" y="8529"/>
                </a:cubicBezTo>
                <a:cubicBezTo>
                  <a:pt x="8071" y="8447"/>
                  <a:pt x="8199" y="8336"/>
                  <a:pt x="8295" y="8197"/>
                </a:cubicBezTo>
                <a:cubicBezTo>
                  <a:pt x="8389" y="8057"/>
                  <a:pt x="8437" y="7905"/>
                  <a:pt x="8437" y="7741"/>
                </a:cubicBezTo>
                <a:cubicBezTo>
                  <a:pt x="8437" y="7577"/>
                  <a:pt x="8389" y="7425"/>
                  <a:pt x="8295" y="7286"/>
                </a:cubicBezTo>
                <a:cubicBezTo>
                  <a:pt x="8199" y="7146"/>
                  <a:pt x="8071" y="7036"/>
                  <a:pt x="7910" y="6954"/>
                </a:cubicBezTo>
                <a:cubicBezTo>
                  <a:pt x="7748" y="6872"/>
                  <a:pt x="7572" y="6831"/>
                  <a:pt x="7382" y="6831"/>
                </a:cubicBezTo>
                <a:cubicBezTo>
                  <a:pt x="7192" y="6831"/>
                  <a:pt x="7017" y="6872"/>
                  <a:pt x="6855" y="6954"/>
                </a:cubicBezTo>
                <a:cubicBezTo>
                  <a:pt x="6693" y="7036"/>
                  <a:pt x="6565" y="7146"/>
                  <a:pt x="6470" y="7286"/>
                </a:cubicBezTo>
                <a:cubicBezTo>
                  <a:pt x="6375" y="7425"/>
                  <a:pt x="6328" y="7577"/>
                  <a:pt x="6328" y="7741"/>
                </a:cubicBezTo>
                <a:cubicBezTo>
                  <a:pt x="6328" y="7905"/>
                  <a:pt x="6375" y="8057"/>
                  <a:pt x="6470" y="8197"/>
                </a:cubicBezTo>
                <a:cubicBezTo>
                  <a:pt x="6565" y="8336"/>
                  <a:pt x="6693" y="8447"/>
                  <a:pt x="6855" y="8529"/>
                </a:cubicBezTo>
                <a:cubicBezTo>
                  <a:pt x="7017" y="8611"/>
                  <a:pt x="7192" y="8652"/>
                  <a:pt x="7382" y="8652"/>
                </a:cubicBezTo>
              </a:path>
            </a:pathLst>
          </a:custGeom>
          <a:solidFill>
            <a:srgbClr val="6B8F5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881437" y="2375298"/>
            <a:ext cx="29058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POV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57061" y="2948285"/>
            <a:ext cx="5370756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新师傅需要在面对未知批次ES原料时快速获得有历史依据的调配建议，因为隐性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经验无法短期习得，每次试错都在消耗产能与原料成本。</a:t>
            </a:r>
            <a:endParaRPr sz="11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57061" y="3678436"/>
            <a:ext cx="5170782" cy="9525"/>
          </a:xfrm>
          <a:prstGeom prst="line">
            <a:avLst/>
          </a:prstGeom>
          <a:ln w="9525">
            <a:solidFill>
              <a:srgbClr val="D4CFC4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1"/>
          <p:nvPr/>
        </p:nvSpPr>
        <p:spPr>
          <a:xfrm>
            <a:off x="657061" y="3811786"/>
            <a:ext cx="5170782" cy="1809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6B8F5E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隐性经验难复制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61134" y="2146698"/>
            <a:ext cx="5570732" cy="2060377"/>
          </a:xfrm>
          <a:prstGeom prst="rect">
            <a:avLst/>
          </a:prstGeom>
          <a:solidFill>
            <a:srgbClr val="ECE8DF">
              <a:alpha val="100000"/>
            </a:srgbClr>
          </a:solidFill>
          <a:ln w="9525">
            <a:solidFill>
              <a:srgbClr val="D4CFC4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>
            <a:off x="6161134" y="2146698"/>
            <a:ext cx="5570732" cy="9525"/>
          </a:xfrm>
          <a:prstGeom prst="line">
            <a:avLst/>
          </a:prstGeom>
          <a:ln w="2857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>
            <a:off x="6339981" y="2346723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4499" y="7500"/>
                </a:moveTo>
                <a:lnTo>
                  <a:pt x="4499" y="6500"/>
                </a:lnTo>
                <a:lnTo>
                  <a:pt x="5499" y="6500"/>
                </a:lnTo>
                <a:lnTo>
                  <a:pt x="5499" y="7500"/>
                </a:lnTo>
                <a:lnTo>
                  <a:pt x="4499" y="7500"/>
                </a:lnTo>
                <a:moveTo>
                  <a:pt x="5499" y="5680"/>
                </a:moveTo>
                <a:lnTo>
                  <a:pt x="5499" y="6000"/>
                </a:lnTo>
                <a:lnTo>
                  <a:pt x="4499" y="6000"/>
                </a:lnTo>
                <a:lnTo>
                  <a:pt x="4499" y="5250"/>
                </a:lnTo>
                <a:cubicBezTo>
                  <a:pt x="4499" y="5110"/>
                  <a:pt x="4547" y="4991"/>
                  <a:pt x="4644" y="4895"/>
                </a:cubicBezTo>
                <a:cubicBezTo>
                  <a:pt x="4740" y="4798"/>
                  <a:pt x="4859" y="4750"/>
                  <a:pt x="4999" y="4750"/>
                </a:cubicBezTo>
                <a:cubicBezTo>
                  <a:pt x="5205" y="4750"/>
                  <a:pt x="5382" y="4676"/>
                  <a:pt x="5529" y="4530"/>
                </a:cubicBezTo>
                <a:cubicBezTo>
                  <a:pt x="5675" y="4383"/>
                  <a:pt x="5749" y="4206"/>
                  <a:pt x="5749" y="4000"/>
                </a:cubicBezTo>
                <a:cubicBezTo>
                  <a:pt x="5749" y="3793"/>
                  <a:pt x="5675" y="3616"/>
                  <a:pt x="5529" y="3470"/>
                </a:cubicBezTo>
                <a:cubicBezTo>
                  <a:pt x="5382" y="3323"/>
                  <a:pt x="5205" y="3250"/>
                  <a:pt x="4999" y="3250"/>
                </a:cubicBezTo>
                <a:cubicBezTo>
                  <a:pt x="4819" y="3250"/>
                  <a:pt x="4660" y="3306"/>
                  <a:pt x="4524" y="3420"/>
                </a:cubicBezTo>
                <a:cubicBezTo>
                  <a:pt x="4387" y="3533"/>
                  <a:pt x="4299" y="3676"/>
                  <a:pt x="4259" y="3850"/>
                </a:cubicBezTo>
                <a:lnTo>
                  <a:pt x="3279" y="3660"/>
                </a:lnTo>
                <a:cubicBezTo>
                  <a:pt x="3332" y="3393"/>
                  <a:pt x="3442" y="3153"/>
                  <a:pt x="3609" y="2940"/>
                </a:cubicBezTo>
                <a:cubicBezTo>
                  <a:pt x="3775" y="2726"/>
                  <a:pt x="3979" y="2558"/>
                  <a:pt x="4219" y="2435"/>
                </a:cubicBezTo>
                <a:cubicBezTo>
                  <a:pt x="4459" y="2311"/>
                  <a:pt x="4719" y="2250"/>
                  <a:pt x="4999" y="2250"/>
                </a:cubicBezTo>
                <a:cubicBezTo>
                  <a:pt x="5319" y="2250"/>
                  <a:pt x="5612" y="2328"/>
                  <a:pt x="5879" y="2485"/>
                </a:cubicBezTo>
                <a:cubicBezTo>
                  <a:pt x="6145" y="2641"/>
                  <a:pt x="6357" y="2853"/>
                  <a:pt x="6514" y="3120"/>
                </a:cubicBezTo>
                <a:cubicBezTo>
                  <a:pt x="6670" y="3386"/>
                  <a:pt x="6749" y="3680"/>
                  <a:pt x="6749" y="4000"/>
                </a:cubicBezTo>
                <a:cubicBezTo>
                  <a:pt x="6749" y="4393"/>
                  <a:pt x="6632" y="4743"/>
                  <a:pt x="6399" y="5050"/>
                </a:cubicBezTo>
                <a:cubicBezTo>
                  <a:pt x="6165" y="5356"/>
                  <a:pt x="5865" y="5566"/>
                  <a:pt x="5499" y="5680"/>
                </a:cubicBezTo>
              </a:path>
            </a:pathLst>
          </a:custGeom>
          <a:solidFill>
            <a:srgbClr val="6B8F5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7" name="TextBox 17"/>
          <p:cNvSpPr txBox="1"/>
          <p:nvPr/>
        </p:nvSpPr>
        <p:spPr>
          <a:xfrm>
            <a:off x="6585486" y="2375298"/>
            <a:ext cx="334780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HMW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361109" y="2948285"/>
            <a:ext cx="5370756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如何让新师傅像查字典一样，查到与当前批次最相似的历史案例及调整方案，理解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推荐理由，将试错次数从3–4次压缩到2次以内。</a:t>
            </a:r>
            <a:endParaRPr sz="11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61109" y="3678436"/>
            <a:ext cx="5170782" cy="9525"/>
          </a:xfrm>
          <a:prstGeom prst="line">
            <a:avLst/>
          </a:prstGeom>
          <a:ln w="9525">
            <a:solidFill>
              <a:srgbClr val="D4CFC4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Box 20"/>
          <p:cNvSpPr txBox="1"/>
          <p:nvPr/>
        </p:nvSpPr>
        <p:spPr>
          <a:xfrm>
            <a:off x="6361109" y="3811786"/>
            <a:ext cx="5170782" cy="1809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6B8F5E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3–4次 → ≤2次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7086" y="4340423"/>
            <a:ext cx="5570732" cy="2060377"/>
          </a:xfrm>
          <a:prstGeom prst="rect">
            <a:avLst/>
          </a:prstGeom>
          <a:solidFill>
            <a:srgbClr val="ECE8DF">
              <a:alpha val="100000"/>
            </a:srgbClr>
          </a:solidFill>
          <a:ln w="9525">
            <a:solidFill>
              <a:srgbClr val="D4CFC4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AutoShape 22"/>
          <p:cNvSpPr/>
          <p:nvPr/>
        </p:nvSpPr>
        <p:spPr>
          <a:xfrm>
            <a:off x="457086" y="4340423"/>
            <a:ext cx="5570732" cy="9525"/>
          </a:xfrm>
          <a:prstGeom prst="line">
            <a:avLst/>
          </a:prstGeom>
          <a:ln w="2857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AutoShape 23"/>
          <p:cNvSpPr/>
          <p:nvPr/>
        </p:nvSpPr>
        <p:spPr>
          <a:xfrm>
            <a:off x="635932" y="4540448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4499" y="7500"/>
                </a:moveTo>
                <a:lnTo>
                  <a:pt x="4499" y="6500"/>
                </a:lnTo>
                <a:lnTo>
                  <a:pt x="5499" y="6500"/>
                </a:lnTo>
                <a:lnTo>
                  <a:pt x="5499" y="7500"/>
                </a:lnTo>
                <a:lnTo>
                  <a:pt x="4499" y="7500"/>
                </a:lnTo>
                <a:moveTo>
                  <a:pt x="4499" y="5500"/>
                </a:moveTo>
                <a:lnTo>
                  <a:pt x="4499" y="2500"/>
                </a:lnTo>
                <a:lnTo>
                  <a:pt x="5499" y="2500"/>
                </a:lnTo>
                <a:lnTo>
                  <a:pt x="5499" y="5500"/>
                </a:lnTo>
              </a:path>
            </a:pathLst>
          </a:custGeom>
          <a:solidFill>
            <a:srgbClr val="6B8F5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1"/>
          <p:nvPr/>
        </p:nvSpPr>
        <p:spPr>
          <a:xfrm>
            <a:off x="881437" y="4569023"/>
            <a:ext cx="895126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OVERTURNED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657061" y="5142012"/>
            <a:ext cx="5370756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原计划用神经网络拟合加盐量–粘度映射，调研后发现数据稀疏、定性参数多、端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到端模型不适用，果断转向案例推理路线。</a:t>
            </a:r>
            <a:endParaRPr sz="11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57061" y="5872162"/>
            <a:ext cx="5170782" cy="9525"/>
          </a:xfrm>
          <a:prstGeom prst="line">
            <a:avLst/>
          </a:prstGeom>
          <a:ln w="9525">
            <a:solidFill>
              <a:srgbClr val="D4CFC4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TextBox 27"/>
          <p:cNvSpPr txBox="1"/>
          <p:nvPr/>
        </p:nvSpPr>
        <p:spPr>
          <a:xfrm>
            <a:off x="657061" y="6005512"/>
            <a:ext cx="5170782" cy="1809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6B8F5E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案例推理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161134" y="4340423"/>
            <a:ext cx="5570732" cy="2060377"/>
          </a:xfrm>
          <a:prstGeom prst="rect">
            <a:avLst/>
          </a:prstGeom>
          <a:solidFill>
            <a:srgbClr val="ECE8DF">
              <a:alpha val="100000"/>
            </a:srgbClr>
          </a:solidFill>
          <a:ln w="9525">
            <a:solidFill>
              <a:srgbClr val="D4CFC4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AutoShape 29"/>
          <p:cNvSpPr/>
          <p:nvPr/>
        </p:nvSpPr>
        <p:spPr>
          <a:xfrm>
            <a:off x="6161134" y="4340423"/>
            <a:ext cx="5570732" cy="9525"/>
          </a:xfrm>
          <a:prstGeom prst="line">
            <a:avLst/>
          </a:prstGeom>
          <a:ln w="28575">
            <a:solidFill>
              <a:srgbClr val="6B8F5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AutoShape 30"/>
          <p:cNvSpPr/>
          <p:nvPr/>
        </p:nvSpPr>
        <p:spPr>
          <a:xfrm>
            <a:off x="6339981" y="4540448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545" y="0"/>
                </a:moveTo>
                <a:lnTo>
                  <a:pt x="5453" y="0"/>
                </a:lnTo>
                <a:lnTo>
                  <a:pt x="5453" y="1391"/>
                </a:lnTo>
                <a:cubicBezTo>
                  <a:pt x="5992" y="1457"/>
                  <a:pt x="6491" y="1636"/>
                  <a:pt x="6949" y="1927"/>
                </a:cubicBezTo>
                <a:cubicBezTo>
                  <a:pt x="7406" y="2218"/>
                  <a:pt x="7780" y="2592"/>
                  <a:pt x="8071" y="3050"/>
                </a:cubicBezTo>
                <a:cubicBezTo>
                  <a:pt x="8361" y="3507"/>
                  <a:pt x="8540" y="4005"/>
                  <a:pt x="8607" y="4545"/>
                </a:cubicBezTo>
                <a:lnTo>
                  <a:pt x="9998" y="4545"/>
                </a:lnTo>
                <a:lnTo>
                  <a:pt x="9998" y="5455"/>
                </a:lnTo>
                <a:lnTo>
                  <a:pt x="8607" y="5455"/>
                </a:lnTo>
                <a:cubicBezTo>
                  <a:pt x="8540" y="5994"/>
                  <a:pt x="8361" y="6492"/>
                  <a:pt x="8071" y="6950"/>
                </a:cubicBezTo>
                <a:cubicBezTo>
                  <a:pt x="7780" y="7407"/>
                  <a:pt x="7406" y="7781"/>
                  <a:pt x="6949" y="8073"/>
                </a:cubicBezTo>
                <a:cubicBezTo>
                  <a:pt x="6491" y="8363"/>
                  <a:pt x="5992" y="8542"/>
                  <a:pt x="5453" y="8609"/>
                </a:cubicBezTo>
                <a:lnTo>
                  <a:pt x="5453" y="10000"/>
                </a:lnTo>
                <a:lnTo>
                  <a:pt x="4545" y="10000"/>
                </a:lnTo>
                <a:lnTo>
                  <a:pt x="4545" y="8609"/>
                </a:lnTo>
                <a:cubicBezTo>
                  <a:pt x="4005" y="8542"/>
                  <a:pt x="3507" y="8363"/>
                  <a:pt x="3049" y="8073"/>
                </a:cubicBezTo>
                <a:cubicBezTo>
                  <a:pt x="2591" y="7781"/>
                  <a:pt x="2217" y="7407"/>
                  <a:pt x="1927" y="6950"/>
                </a:cubicBezTo>
                <a:cubicBezTo>
                  <a:pt x="1636" y="6492"/>
                  <a:pt x="1457" y="5994"/>
                  <a:pt x="1391" y="5455"/>
                </a:cubicBezTo>
                <a:lnTo>
                  <a:pt x="0" y="5455"/>
                </a:lnTo>
                <a:lnTo>
                  <a:pt x="0" y="4545"/>
                </a:lnTo>
                <a:lnTo>
                  <a:pt x="1391" y="4545"/>
                </a:lnTo>
                <a:cubicBezTo>
                  <a:pt x="1457" y="4005"/>
                  <a:pt x="1636" y="3507"/>
                  <a:pt x="1927" y="3050"/>
                </a:cubicBezTo>
                <a:cubicBezTo>
                  <a:pt x="2217" y="2592"/>
                  <a:pt x="2591" y="2218"/>
                  <a:pt x="3049" y="1927"/>
                </a:cubicBezTo>
                <a:cubicBezTo>
                  <a:pt x="3507" y="1636"/>
                  <a:pt x="4005" y="1457"/>
                  <a:pt x="4545" y="1391"/>
                </a:cubicBezTo>
                <a:lnTo>
                  <a:pt x="4545" y="0"/>
                </a:lnTo>
                <a:moveTo>
                  <a:pt x="4999" y="2273"/>
                </a:moveTo>
                <a:cubicBezTo>
                  <a:pt x="4508" y="2273"/>
                  <a:pt x="4051" y="2397"/>
                  <a:pt x="3627" y="2645"/>
                </a:cubicBezTo>
                <a:cubicBezTo>
                  <a:pt x="3214" y="2887"/>
                  <a:pt x="2887" y="3215"/>
                  <a:pt x="2645" y="3627"/>
                </a:cubicBezTo>
                <a:cubicBezTo>
                  <a:pt x="2396" y="4051"/>
                  <a:pt x="2272" y="4509"/>
                  <a:pt x="2272" y="5000"/>
                </a:cubicBezTo>
                <a:cubicBezTo>
                  <a:pt x="2272" y="5490"/>
                  <a:pt x="2396" y="5948"/>
                  <a:pt x="2645" y="6373"/>
                </a:cubicBezTo>
                <a:cubicBezTo>
                  <a:pt x="2887" y="6785"/>
                  <a:pt x="3214" y="7112"/>
                  <a:pt x="3627" y="7355"/>
                </a:cubicBezTo>
                <a:cubicBezTo>
                  <a:pt x="4051" y="7603"/>
                  <a:pt x="4508" y="7727"/>
                  <a:pt x="4999" y="7727"/>
                </a:cubicBezTo>
                <a:cubicBezTo>
                  <a:pt x="5489" y="7727"/>
                  <a:pt x="5947" y="7603"/>
                  <a:pt x="6371" y="7355"/>
                </a:cubicBezTo>
                <a:cubicBezTo>
                  <a:pt x="6783" y="7112"/>
                  <a:pt x="7111" y="6785"/>
                  <a:pt x="7353" y="6373"/>
                </a:cubicBezTo>
                <a:cubicBezTo>
                  <a:pt x="7601" y="5948"/>
                  <a:pt x="7726" y="5490"/>
                  <a:pt x="7726" y="5000"/>
                </a:cubicBezTo>
                <a:cubicBezTo>
                  <a:pt x="7726" y="4509"/>
                  <a:pt x="7601" y="4051"/>
                  <a:pt x="7353" y="3627"/>
                </a:cubicBezTo>
                <a:cubicBezTo>
                  <a:pt x="7111" y="3215"/>
                  <a:pt x="6783" y="2887"/>
                  <a:pt x="6371" y="2645"/>
                </a:cubicBezTo>
                <a:cubicBezTo>
                  <a:pt x="5947" y="2397"/>
                  <a:pt x="5489" y="2273"/>
                  <a:pt x="4999" y="2273"/>
                </a:cubicBezTo>
                <a:moveTo>
                  <a:pt x="4999" y="4091"/>
                </a:moveTo>
                <a:cubicBezTo>
                  <a:pt x="5162" y="4091"/>
                  <a:pt x="5313" y="4132"/>
                  <a:pt x="5453" y="4214"/>
                </a:cubicBezTo>
                <a:cubicBezTo>
                  <a:pt x="5593" y="4295"/>
                  <a:pt x="5703" y="4405"/>
                  <a:pt x="5785" y="4545"/>
                </a:cubicBezTo>
                <a:cubicBezTo>
                  <a:pt x="5867" y="4685"/>
                  <a:pt x="5908" y="4836"/>
                  <a:pt x="5908" y="5000"/>
                </a:cubicBezTo>
                <a:cubicBezTo>
                  <a:pt x="5908" y="5163"/>
                  <a:pt x="5867" y="5315"/>
                  <a:pt x="5785" y="5455"/>
                </a:cubicBezTo>
                <a:cubicBezTo>
                  <a:pt x="5703" y="5594"/>
                  <a:pt x="5593" y="5704"/>
                  <a:pt x="5453" y="5786"/>
                </a:cubicBezTo>
                <a:cubicBezTo>
                  <a:pt x="5313" y="5868"/>
                  <a:pt x="5162" y="5909"/>
                  <a:pt x="4999" y="5909"/>
                </a:cubicBezTo>
                <a:cubicBezTo>
                  <a:pt x="4835" y="5909"/>
                  <a:pt x="4684" y="5868"/>
                  <a:pt x="4545" y="5786"/>
                </a:cubicBezTo>
                <a:cubicBezTo>
                  <a:pt x="4405" y="5704"/>
                  <a:pt x="4294" y="5594"/>
                  <a:pt x="4213" y="5455"/>
                </a:cubicBezTo>
                <a:cubicBezTo>
                  <a:pt x="4131" y="5315"/>
                  <a:pt x="4090" y="5163"/>
                  <a:pt x="4090" y="5000"/>
                </a:cubicBezTo>
                <a:cubicBezTo>
                  <a:pt x="4090" y="4836"/>
                  <a:pt x="4131" y="4685"/>
                  <a:pt x="4213" y="4545"/>
                </a:cubicBezTo>
                <a:cubicBezTo>
                  <a:pt x="4294" y="4405"/>
                  <a:pt x="4405" y="4295"/>
                  <a:pt x="4545" y="4214"/>
                </a:cubicBezTo>
                <a:cubicBezTo>
                  <a:pt x="4684" y="4132"/>
                  <a:pt x="4835" y="4091"/>
                  <a:pt x="4999" y="4091"/>
                </a:cubicBezTo>
              </a:path>
            </a:pathLst>
          </a:custGeom>
          <a:solidFill>
            <a:srgbClr val="6B8F5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1" name="TextBox 31"/>
          <p:cNvSpPr txBox="1"/>
          <p:nvPr/>
        </p:nvSpPr>
        <p:spPr>
          <a:xfrm>
            <a:off x="6585486" y="4569023"/>
            <a:ext cx="72907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BOUNDARY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6361109" y="5142012"/>
            <a:ext cx="5370756" cy="3976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不是替代老师傅，而是让其判断方式可被复制；不是改造流水线，而是在现有设备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上叠加轻量"经验查询机"，不增加额外负担。</a:t>
            </a:r>
            <a:endParaRPr sz="11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361109" y="5872162"/>
            <a:ext cx="5170782" cy="9525"/>
          </a:xfrm>
          <a:prstGeom prst="line">
            <a:avLst/>
          </a:prstGeom>
          <a:ln w="9525">
            <a:solidFill>
              <a:srgbClr val="D4CFC4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TextBox 34"/>
          <p:cNvSpPr txBox="1"/>
          <p:nvPr/>
        </p:nvSpPr>
        <p:spPr>
          <a:xfrm>
            <a:off x="6361109" y="6005512"/>
            <a:ext cx="5170782" cy="1809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6B8F5E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经验查询机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E0E0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AutoShap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14901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5549901" y="2517577"/>
            <a:ext cx="663905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F5F1E8">
                    <a:alpha val="70196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CHAPTER 04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560073" y="2965252"/>
            <a:ext cx="9068806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5F1E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技术方案与算法设计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330489" y="4024312"/>
            <a:ext cx="9527976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600" b="0" i="0" strike="noStrike">
                <a:solidFill>
                  <a:srgbClr val="F5F1E8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基于案例推理(CBR)的混合相似度检索方案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1E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REFERENCES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2E1F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竞品背书：不是自造概念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086" y="1782583"/>
            <a:ext cx="5504073" cy="9525"/>
          </a:xfrm>
          <a:prstGeom prst="line">
            <a:avLst/>
          </a:prstGeom>
          <a:ln w="9525">
            <a:solidFill>
              <a:srgbClr val="D4CFC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457086" y="1430158"/>
            <a:ext cx="550407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A2E1F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产品与工业案例背书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7086" y="1906408"/>
            <a:ext cx="5504073" cy="1075432"/>
          </a:xfrm>
          <a:prstGeom prst="rect">
            <a:avLst/>
          </a:prstGeom>
          <a:solidFill>
            <a:srgbClr val="ECE8DF">
              <a:alpha val="100000"/>
            </a:srgbClr>
          </a:solidFill>
          <a:ln w="9525">
            <a:solidFill>
              <a:srgbClr val="D4CFC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602083" y="2137540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066" y="1676"/>
                </a:moveTo>
                <a:lnTo>
                  <a:pt x="1877" y="2362"/>
                </a:lnTo>
                <a:cubicBezTo>
                  <a:pt x="2314" y="2063"/>
                  <a:pt x="2796" y="1834"/>
                  <a:pt x="3322" y="1676"/>
                </a:cubicBezTo>
                <a:cubicBezTo>
                  <a:pt x="3862" y="1511"/>
                  <a:pt x="4421" y="1429"/>
                  <a:pt x="4999" y="1429"/>
                </a:cubicBezTo>
                <a:cubicBezTo>
                  <a:pt x="5576" y="1429"/>
                  <a:pt x="6135" y="1511"/>
                  <a:pt x="6676" y="1676"/>
                </a:cubicBezTo>
                <a:cubicBezTo>
                  <a:pt x="7202" y="1834"/>
                  <a:pt x="7683" y="2063"/>
                  <a:pt x="8121" y="2362"/>
                </a:cubicBezTo>
                <a:lnTo>
                  <a:pt x="8932" y="1676"/>
                </a:lnTo>
                <a:lnTo>
                  <a:pt x="9709" y="2343"/>
                </a:lnTo>
                <a:lnTo>
                  <a:pt x="8909" y="3038"/>
                </a:lnTo>
                <a:cubicBezTo>
                  <a:pt x="9257" y="3412"/>
                  <a:pt x="9523" y="3825"/>
                  <a:pt x="9709" y="4276"/>
                </a:cubicBezTo>
                <a:cubicBezTo>
                  <a:pt x="9901" y="4739"/>
                  <a:pt x="9998" y="5218"/>
                  <a:pt x="9998" y="5714"/>
                </a:cubicBezTo>
                <a:cubicBezTo>
                  <a:pt x="9998" y="6488"/>
                  <a:pt x="9772" y="7209"/>
                  <a:pt x="9320" y="7876"/>
                </a:cubicBezTo>
                <a:cubicBezTo>
                  <a:pt x="8876" y="8524"/>
                  <a:pt x="8276" y="9038"/>
                  <a:pt x="7521" y="9419"/>
                </a:cubicBezTo>
                <a:cubicBezTo>
                  <a:pt x="6743" y="9806"/>
                  <a:pt x="5902" y="10000"/>
                  <a:pt x="4999" y="10000"/>
                </a:cubicBezTo>
                <a:cubicBezTo>
                  <a:pt x="4095" y="10000"/>
                  <a:pt x="3255" y="9806"/>
                  <a:pt x="2477" y="9419"/>
                </a:cubicBezTo>
                <a:cubicBezTo>
                  <a:pt x="1721" y="9038"/>
                  <a:pt x="1122" y="8524"/>
                  <a:pt x="678" y="7876"/>
                </a:cubicBezTo>
                <a:cubicBezTo>
                  <a:pt x="226" y="7209"/>
                  <a:pt x="0" y="6488"/>
                  <a:pt x="0" y="5714"/>
                </a:cubicBezTo>
                <a:cubicBezTo>
                  <a:pt x="0" y="5218"/>
                  <a:pt x="96" y="4739"/>
                  <a:pt x="289" y="4276"/>
                </a:cubicBezTo>
                <a:cubicBezTo>
                  <a:pt x="474" y="3825"/>
                  <a:pt x="741" y="3412"/>
                  <a:pt x="1089" y="3038"/>
                </a:cubicBezTo>
                <a:lnTo>
                  <a:pt x="289" y="2343"/>
                </a:lnTo>
                <a:lnTo>
                  <a:pt x="1066" y="1676"/>
                </a:lnTo>
                <a:moveTo>
                  <a:pt x="4999" y="9048"/>
                </a:moveTo>
                <a:cubicBezTo>
                  <a:pt x="5702" y="9048"/>
                  <a:pt x="6357" y="8895"/>
                  <a:pt x="6965" y="8590"/>
                </a:cubicBezTo>
                <a:cubicBezTo>
                  <a:pt x="7550" y="8298"/>
                  <a:pt x="8013" y="7901"/>
                  <a:pt x="8354" y="7400"/>
                </a:cubicBezTo>
                <a:cubicBezTo>
                  <a:pt x="8709" y="6879"/>
                  <a:pt x="8887" y="6317"/>
                  <a:pt x="8887" y="5714"/>
                </a:cubicBezTo>
                <a:cubicBezTo>
                  <a:pt x="8887" y="5111"/>
                  <a:pt x="8709" y="4549"/>
                  <a:pt x="8354" y="4029"/>
                </a:cubicBezTo>
                <a:cubicBezTo>
                  <a:pt x="8013" y="3527"/>
                  <a:pt x="7550" y="3130"/>
                  <a:pt x="6965" y="2838"/>
                </a:cubicBezTo>
                <a:cubicBezTo>
                  <a:pt x="6357" y="2533"/>
                  <a:pt x="5702" y="2381"/>
                  <a:pt x="4999" y="2381"/>
                </a:cubicBezTo>
                <a:cubicBezTo>
                  <a:pt x="4295" y="2381"/>
                  <a:pt x="3640" y="2533"/>
                  <a:pt x="3033" y="2838"/>
                </a:cubicBezTo>
                <a:cubicBezTo>
                  <a:pt x="2447" y="3130"/>
                  <a:pt x="1984" y="3527"/>
                  <a:pt x="1644" y="4029"/>
                </a:cubicBezTo>
                <a:cubicBezTo>
                  <a:pt x="1288" y="4549"/>
                  <a:pt x="1111" y="5111"/>
                  <a:pt x="1111" y="5714"/>
                </a:cubicBezTo>
                <a:cubicBezTo>
                  <a:pt x="1111" y="6317"/>
                  <a:pt x="1288" y="6879"/>
                  <a:pt x="1644" y="7400"/>
                </a:cubicBezTo>
                <a:cubicBezTo>
                  <a:pt x="1984" y="7901"/>
                  <a:pt x="2447" y="8298"/>
                  <a:pt x="3033" y="8590"/>
                </a:cubicBezTo>
                <a:cubicBezTo>
                  <a:pt x="3640" y="8895"/>
                  <a:pt x="4295" y="9048"/>
                  <a:pt x="4999" y="9048"/>
                </a:cubicBezTo>
                <a:moveTo>
                  <a:pt x="5554" y="3095"/>
                </a:moveTo>
                <a:lnTo>
                  <a:pt x="5554" y="5238"/>
                </a:lnTo>
                <a:lnTo>
                  <a:pt x="7221" y="5238"/>
                </a:lnTo>
                <a:lnTo>
                  <a:pt x="4444" y="8333"/>
                </a:lnTo>
                <a:lnTo>
                  <a:pt x="4444" y="6190"/>
                </a:lnTo>
                <a:lnTo>
                  <a:pt x="2777" y="6190"/>
                </a:lnTo>
                <a:lnTo>
                  <a:pt x="5554" y="3095"/>
                </a:lnTo>
                <a:moveTo>
                  <a:pt x="2777" y="952"/>
                </a:moveTo>
                <a:lnTo>
                  <a:pt x="2777" y="0"/>
                </a:lnTo>
                <a:lnTo>
                  <a:pt x="7221" y="0"/>
                </a:lnTo>
                <a:lnTo>
                  <a:pt x="7221" y="952"/>
                </a:lnTo>
              </a:path>
            </a:pathLst>
          </a:custGeom>
          <a:solidFill>
            <a:srgbClr val="6B8F5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813737" y="2147065"/>
            <a:ext cx="85063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COSMETICS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711988" y="2118490"/>
            <a:ext cx="456044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6B8F5E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F500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18970" y="2366140"/>
            <a:ext cx="5342189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美妆巨头实证：Basetwo AI已为Fortune 500美妆企业用AI优化乳化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粘度、应对批次波动，证明AI介入调配环节有真实商业价值(2024)</a:t>
            </a:r>
            <a:endParaRPr sz="10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7086" y="4343281"/>
            <a:ext cx="5504073" cy="1075432"/>
          </a:xfrm>
          <a:prstGeom prst="rect">
            <a:avLst/>
          </a:prstGeom>
          <a:solidFill>
            <a:srgbClr val="ECE8DF">
              <a:alpha val="100000"/>
            </a:srgbClr>
          </a:solidFill>
          <a:ln w="9525">
            <a:solidFill>
              <a:srgbClr val="D4CFC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>
            <a:off x="602083" y="4574410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4500"/>
                </a:moveTo>
                <a:cubicBezTo>
                  <a:pt x="5452" y="4500"/>
                  <a:pt x="5870" y="4611"/>
                  <a:pt x="6254" y="4835"/>
                </a:cubicBezTo>
                <a:cubicBezTo>
                  <a:pt x="6637" y="5058"/>
                  <a:pt x="6940" y="5361"/>
                  <a:pt x="7164" y="5745"/>
                </a:cubicBezTo>
                <a:cubicBezTo>
                  <a:pt x="7387" y="6128"/>
                  <a:pt x="7499" y="6546"/>
                  <a:pt x="7499" y="7000"/>
                </a:cubicBezTo>
                <a:lnTo>
                  <a:pt x="7499" y="10000"/>
                </a:lnTo>
                <a:lnTo>
                  <a:pt x="6499" y="10000"/>
                </a:lnTo>
                <a:lnTo>
                  <a:pt x="6499" y="7000"/>
                </a:lnTo>
                <a:cubicBezTo>
                  <a:pt x="6499" y="6740"/>
                  <a:pt x="6435" y="6498"/>
                  <a:pt x="6309" y="6275"/>
                </a:cubicBezTo>
                <a:cubicBezTo>
                  <a:pt x="6182" y="6051"/>
                  <a:pt x="6012" y="5871"/>
                  <a:pt x="5799" y="5735"/>
                </a:cubicBezTo>
                <a:cubicBezTo>
                  <a:pt x="5585" y="5598"/>
                  <a:pt x="5349" y="5520"/>
                  <a:pt x="5089" y="5500"/>
                </a:cubicBezTo>
                <a:lnTo>
                  <a:pt x="4999" y="5500"/>
                </a:lnTo>
                <a:cubicBezTo>
                  <a:pt x="4739" y="5500"/>
                  <a:pt x="4497" y="5563"/>
                  <a:pt x="4274" y="5690"/>
                </a:cubicBezTo>
                <a:cubicBezTo>
                  <a:pt x="4050" y="5816"/>
                  <a:pt x="3870" y="5986"/>
                  <a:pt x="3734" y="6200"/>
                </a:cubicBezTo>
                <a:cubicBezTo>
                  <a:pt x="3597" y="6413"/>
                  <a:pt x="3519" y="6650"/>
                  <a:pt x="3499" y="6910"/>
                </a:cubicBezTo>
                <a:lnTo>
                  <a:pt x="3499" y="10000"/>
                </a:lnTo>
                <a:lnTo>
                  <a:pt x="2500" y="10000"/>
                </a:lnTo>
                <a:lnTo>
                  <a:pt x="2500" y="7000"/>
                </a:lnTo>
                <a:cubicBezTo>
                  <a:pt x="2500" y="6546"/>
                  <a:pt x="2611" y="6128"/>
                  <a:pt x="2834" y="5745"/>
                </a:cubicBezTo>
                <a:cubicBezTo>
                  <a:pt x="3057" y="5361"/>
                  <a:pt x="3360" y="5058"/>
                  <a:pt x="3744" y="4835"/>
                </a:cubicBezTo>
                <a:cubicBezTo>
                  <a:pt x="4127" y="4611"/>
                  <a:pt x="4545" y="4500"/>
                  <a:pt x="4999" y="4500"/>
                </a:cubicBezTo>
                <a:moveTo>
                  <a:pt x="1750" y="6000"/>
                </a:moveTo>
                <a:cubicBezTo>
                  <a:pt x="1890" y="6000"/>
                  <a:pt x="2026" y="6016"/>
                  <a:pt x="2160" y="6050"/>
                </a:cubicBezTo>
                <a:cubicBezTo>
                  <a:pt x="2073" y="6303"/>
                  <a:pt x="2020" y="6563"/>
                  <a:pt x="2000" y="6830"/>
                </a:cubicBezTo>
                <a:lnTo>
                  <a:pt x="2000" y="7040"/>
                </a:lnTo>
                <a:cubicBezTo>
                  <a:pt x="1940" y="7020"/>
                  <a:pt x="1880" y="7006"/>
                  <a:pt x="1820" y="7000"/>
                </a:cubicBezTo>
                <a:lnTo>
                  <a:pt x="1750" y="7000"/>
                </a:lnTo>
                <a:cubicBezTo>
                  <a:pt x="1556" y="7000"/>
                  <a:pt x="1388" y="7065"/>
                  <a:pt x="1245" y="7195"/>
                </a:cubicBezTo>
                <a:cubicBezTo>
                  <a:pt x="1101" y="7325"/>
                  <a:pt x="1020" y="7486"/>
                  <a:pt x="1000" y="7680"/>
                </a:cubicBezTo>
                <a:lnTo>
                  <a:pt x="1000" y="7750"/>
                </a:lnTo>
                <a:lnTo>
                  <a:pt x="1000" y="10000"/>
                </a:lnTo>
                <a:lnTo>
                  <a:pt x="0" y="10000"/>
                </a:lnTo>
                <a:lnTo>
                  <a:pt x="0" y="7750"/>
                </a:lnTo>
                <a:cubicBezTo>
                  <a:pt x="0" y="7430"/>
                  <a:pt x="78" y="7136"/>
                  <a:pt x="235" y="6870"/>
                </a:cubicBezTo>
                <a:cubicBezTo>
                  <a:pt x="391" y="6603"/>
                  <a:pt x="603" y="6391"/>
                  <a:pt x="870" y="6235"/>
                </a:cubicBezTo>
                <a:cubicBezTo>
                  <a:pt x="1136" y="6078"/>
                  <a:pt x="1430" y="6000"/>
                  <a:pt x="1750" y="6000"/>
                </a:cubicBezTo>
                <a:moveTo>
                  <a:pt x="8248" y="6000"/>
                </a:moveTo>
                <a:cubicBezTo>
                  <a:pt x="8568" y="6000"/>
                  <a:pt x="8861" y="6078"/>
                  <a:pt x="9128" y="6235"/>
                </a:cubicBezTo>
                <a:cubicBezTo>
                  <a:pt x="9394" y="6391"/>
                  <a:pt x="9606" y="6603"/>
                  <a:pt x="9763" y="6870"/>
                </a:cubicBezTo>
                <a:cubicBezTo>
                  <a:pt x="9919" y="7136"/>
                  <a:pt x="9998" y="7430"/>
                  <a:pt x="9998" y="7750"/>
                </a:cubicBezTo>
                <a:lnTo>
                  <a:pt x="9998" y="10000"/>
                </a:lnTo>
                <a:lnTo>
                  <a:pt x="8998" y="10000"/>
                </a:lnTo>
                <a:lnTo>
                  <a:pt x="8998" y="7750"/>
                </a:lnTo>
                <a:cubicBezTo>
                  <a:pt x="8998" y="7556"/>
                  <a:pt x="8933" y="7388"/>
                  <a:pt x="8803" y="7245"/>
                </a:cubicBezTo>
                <a:cubicBezTo>
                  <a:pt x="8673" y="7101"/>
                  <a:pt x="8511" y="7020"/>
                  <a:pt x="8318" y="7000"/>
                </a:cubicBezTo>
                <a:lnTo>
                  <a:pt x="8248" y="7000"/>
                </a:lnTo>
                <a:cubicBezTo>
                  <a:pt x="8161" y="7000"/>
                  <a:pt x="8078" y="7013"/>
                  <a:pt x="7998" y="7040"/>
                </a:cubicBezTo>
                <a:lnTo>
                  <a:pt x="7998" y="7000"/>
                </a:lnTo>
                <a:cubicBezTo>
                  <a:pt x="7998" y="6673"/>
                  <a:pt x="7948" y="6356"/>
                  <a:pt x="7848" y="6050"/>
                </a:cubicBezTo>
                <a:cubicBezTo>
                  <a:pt x="7974" y="6016"/>
                  <a:pt x="8108" y="6000"/>
                  <a:pt x="8248" y="6000"/>
                </a:cubicBezTo>
                <a:moveTo>
                  <a:pt x="1750" y="3000"/>
                </a:moveTo>
                <a:cubicBezTo>
                  <a:pt x="1976" y="3000"/>
                  <a:pt x="2185" y="3056"/>
                  <a:pt x="2375" y="3170"/>
                </a:cubicBezTo>
                <a:cubicBezTo>
                  <a:pt x="2564" y="3283"/>
                  <a:pt x="2715" y="3435"/>
                  <a:pt x="2829" y="3625"/>
                </a:cubicBezTo>
                <a:cubicBezTo>
                  <a:pt x="2942" y="3815"/>
                  <a:pt x="2999" y="4023"/>
                  <a:pt x="2999" y="4250"/>
                </a:cubicBezTo>
                <a:cubicBezTo>
                  <a:pt x="2999" y="4476"/>
                  <a:pt x="2942" y="4685"/>
                  <a:pt x="2829" y="4875"/>
                </a:cubicBezTo>
                <a:cubicBezTo>
                  <a:pt x="2715" y="5065"/>
                  <a:pt x="2564" y="5216"/>
                  <a:pt x="2375" y="5330"/>
                </a:cubicBezTo>
                <a:cubicBezTo>
                  <a:pt x="2185" y="5443"/>
                  <a:pt x="1976" y="5500"/>
                  <a:pt x="1750" y="5500"/>
                </a:cubicBezTo>
                <a:cubicBezTo>
                  <a:pt x="1523" y="5500"/>
                  <a:pt x="1315" y="5443"/>
                  <a:pt x="1125" y="5330"/>
                </a:cubicBezTo>
                <a:cubicBezTo>
                  <a:pt x="935" y="5216"/>
                  <a:pt x="783" y="5065"/>
                  <a:pt x="670" y="4875"/>
                </a:cubicBezTo>
                <a:cubicBezTo>
                  <a:pt x="556" y="4685"/>
                  <a:pt x="500" y="4476"/>
                  <a:pt x="500" y="4250"/>
                </a:cubicBezTo>
                <a:cubicBezTo>
                  <a:pt x="500" y="4023"/>
                  <a:pt x="556" y="3815"/>
                  <a:pt x="670" y="3625"/>
                </a:cubicBezTo>
                <a:cubicBezTo>
                  <a:pt x="783" y="3435"/>
                  <a:pt x="935" y="3283"/>
                  <a:pt x="1125" y="3170"/>
                </a:cubicBezTo>
                <a:cubicBezTo>
                  <a:pt x="1315" y="3056"/>
                  <a:pt x="1523" y="3000"/>
                  <a:pt x="1750" y="3000"/>
                </a:cubicBezTo>
                <a:moveTo>
                  <a:pt x="8248" y="3000"/>
                </a:moveTo>
                <a:cubicBezTo>
                  <a:pt x="8474" y="3000"/>
                  <a:pt x="8683" y="3056"/>
                  <a:pt x="8873" y="3170"/>
                </a:cubicBezTo>
                <a:cubicBezTo>
                  <a:pt x="9063" y="3283"/>
                  <a:pt x="9214" y="3435"/>
                  <a:pt x="9328" y="3625"/>
                </a:cubicBezTo>
                <a:cubicBezTo>
                  <a:pt x="9441" y="3815"/>
                  <a:pt x="9498" y="4023"/>
                  <a:pt x="9498" y="4250"/>
                </a:cubicBezTo>
                <a:cubicBezTo>
                  <a:pt x="9498" y="4476"/>
                  <a:pt x="9441" y="4685"/>
                  <a:pt x="9328" y="4875"/>
                </a:cubicBezTo>
                <a:cubicBezTo>
                  <a:pt x="9214" y="5065"/>
                  <a:pt x="9063" y="5216"/>
                  <a:pt x="8873" y="5330"/>
                </a:cubicBezTo>
                <a:cubicBezTo>
                  <a:pt x="8683" y="5443"/>
                  <a:pt x="8474" y="5500"/>
                  <a:pt x="8248" y="5500"/>
                </a:cubicBezTo>
                <a:cubicBezTo>
                  <a:pt x="8021" y="5500"/>
                  <a:pt x="7813" y="5443"/>
                  <a:pt x="7623" y="5330"/>
                </a:cubicBezTo>
                <a:cubicBezTo>
                  <a:pt x="7433" y="5216"/>
                  <a:pt x="7282" y="5065"/>
                  <a:pt x="7169" y="4875"/>
                </a:cubicBezTo>
                <a:cubicBezTo>
                  <a:pt x="7055" y="4685"/>
                  <a:pt x="6999" y="4476"/>
                  <a:pt x="6999" y="4250"/>
                </a:cubicBezTo>
                <a:cubicBezTo>
                  <a:pt x="6999" y="4023"/>
                  <a:pt x="7055" y="3815"/>
                  <a:pt x="7169" y="3625"/>
                </a:cubicBezTo>
                <a:cubicBezTo>
                  <a:pt x="7282" y="3435"/>
                  <a:pt x="7433" y="3283"/>
                  <a:pt x="7623" y="3170"/>
                </a:cubicBezTo>
                <a:cubicBezTo>
                  <a:pt x="7813" y="3056"/>
                  <a:pt x="8021" y="3000"/>
                  <a:pt x="8248" y="3000"/>
                </a:cubicBezTo>
                <a:moveTo>
                  <a:pt x="1750" y="4000"/>
                </a:moveTo>
                <a:cubicBezTo>
                  <a:pt x="1683" y="4000"/>
                  <a:pt x="1625" y="4025"/>
                  <a:pt x="1575" y="4075"/>
                </a:cubicBezTo>
                <a:cubicBezTo>
                  <a:pt x="1525" y="4125"/>
                  <a:pt x="1500" y="4183"/>
                  <a:pt x="1500" y="4250"/>
                </a:cubicBezTo>
                <a:cubicBezTo>
                  <a:pt x="1500" y="4316"/>
                  <a:pt x="1525" y="4375"/>
                  <a:pt x="1575" y="4425"/>
                </a:cubicBezTo>
                <a:cubicBezTo>
                  <a:pt x="1625" y="4475"/>
                  <a:pt x="1683" y="4500"/>
                  <a:pt x="1750" y="4500"/>
                </a:cubicBezTo>
                <a:cubicBezTo>
                  <a:pt x="1816" y="4500"/>
                  <a:pt x="1875" y="4475"/>
                  <a:pt x="1925" y="4425"/>
                </a:cubicBezTo>
                <a:cubicBezTo>
                  <a:pt x="1975" y="4375"/>
                  <a:pt x="2000" y="4316"/>
                  <a:pt x="2000" y="4250"/>
                </a:cubicBezTo>
                <a:cubicBezTo>
                  <a:pt x="2000" y="4183"/>
                  <a:pt x="1975" y="4125"/>
                  <a:pt x="1925" y="4075"/>
                </a:cubicBezTo>
                <a:cubicBezTo>
                  <a:pt x="1875" y="4025"/>
                  <a:pt x="1816" y="4000"/>
                  <a:pt x="1750" y="4000"/>
                </a:cubicBezTo>
                <a:moveTo>
                  <a:pt x="8248" y="4000"/>
                </a:moveTo>
                <a:cubicBezTo>
                  <a:pt x="8181" y="4000"/>
                  <a:pt x="8123" y="4025"/>
                  <a:pt x="8073" y="4075"/>
                </a:cubicBezTo>
                <a:cubicBezTo>
                  <a:pt x="8023" y="4125"/>
                  <a:pt x="7998" y="4183"/>
                  <a:pt x="7998" y="4250"/>
                </a:cubicBezTo>
                <a:cubicBezTo>
                  <a:pt x="7998" y="4316"/>
                  <a:pt x="8023" y="4375"/>
                  <a:pt x="8073" y="4425"/>
                </a:cubicBezTo>
                <a:cubicBezTo>
                  <a:pt x="8123" y="4475"/>
                  <a:pt x="8181" y="4500"/>
                  <a:pt x="8248" y="4500"/>
                </a:cubicBezTo>
                <a:cubicBezTo>
                  <a:pt x="8314" y="4500"/>
                  <a:pt x="8373" y="4475"/>
                  <a:pt x="8423" y="4425"/>
                </a:cubicBezTo>
                <a:cubicBezTo>
                  <a:pt x="8473" y="4375"/>
                  <a:pt x="8498" y="4316"/>
                  <a:pt x="8498" y="4250"/>
                </a:cubicBezTo>
                <a:cubicBezTo>
                  <a:pt x="8498" y="4183"/>
                  <a:pt x="8473" y="4125"/>
                  <a:pt x="8423" y="4075"/>
                </a:cubicBezTo>
                <a:cubicBezTo>
                  <a:pt x="8373" y="4025"/>
                  <a:pt x="8314" y="4000"/>
                  <a:pt x="8248" y="4000"/>
                </a:cubicBezTo>
                <a:moveTo>
                  <a:pt x="4999" y="0"/>
                </a:moveTo>
                <a:cubicBezTo>
                  <a:pt x="5359" y="0"/>
                  <a:pt x="5692" y="90"/>
                  <a:pt x="5999" y="270"/>
                </a:cubicBezTo>
                <a:cubicBezTo>
                  <a:pt x="6305" y="450"/>
                  <a:pt x="6549" y="693"/>
                  <a:pt x="6729" y="1000"/>
                </a:cubicBezTo>
                <a:cubicBezTo>
                  <a:pt x="6909" y="1306"/>
                  <a:pt x="6999" y="1640"/>
                  <a:pt x="6999" y="2000"/>
                </a:cubicBezTo>
                <a:cubicBezTo>
                  <a:pt x="6999" y="2360"/>
                  <a:pt x="6909" y="2693"/>
                  <a:pt x="6729" y="3000"/>
                </a:cubicBezTo>
                <a:cubicBezTo>
                  <a:pt x="6549" y="3306"/>
                  <a:pt x="6305" y="3550"/>
                  <a:pt x="5999" y="3730"/>
                </a:cubicBezTo>
                <a:cubicBezTo>
                  <a:pt x="5692" y="3910"/>
                  <a:pt x="5359" y="4000"/>
                  <a:pt x="4999" y="4000"/>
                </a:cubicBezTo>
                <a:cubicBezTo>
                  <a:pt x="4639" y="4000"/>
                  <a:pt x="4305" y="3910"/>
                  <a:pt x="3999" y="3730"/>
                </a:cubicBezTo>
                <a:cubicBezTo>
                  <a:pt x="3692" y="3550"/>
                  <a:pt x="3449" y="3306"/>
                  <a:pt x="3269" y="3000"/>
                </a:cubicBezTo>
                <a:cubicBezTo>
                  <a:pt x="3089" y="2693"/>
                  <a:pt x="2999" y="2360"/>
                  <a:pt x="2999" y="2000"/>
                </a:cubicBezTo>
                <a:cubicBezTo>
                  <a:pt x="2999" y="1640"/>
                  <a:pt x="3089" y="1306"/>
                  <a:pt x="3269" y="1000"/>
                </a:cubicBezTo>
                <a:cubicBezTo>
                  <a:pt x="3449" y="693"/>
                  <a:pt x="3692" y="450"/>
                  <a:pt x="3999" y="270"/>
                </a:cubicBezTo>
                <a:cubicBezTo>
                  <a:pt x="4305" y="90"/>
                  <a:pt x="4639" y="0"/>
                  <a:pt x="4999" y="0"/>
                </a:cubicBezTo>
                <a:moveTo>
                  <a:pt x="4999" y="1000"/>
                </a:moveTo>
                <a:cubicBezTo>
                  <a:pt x="4819" y="1000"/>
                  <a:pt x="4652" y="1045"/>
                  <a:pt x="4499" y="1135"/>
                </a:cubicBezTo>
                <a:cubicBezTo>
                  <a:pt x="4345" y="1225"/>
                  <a:pt x="4224" y="1346"/>
                  <a:pt x="4134" y="1500"/>
                </a:cubicBezTo>
                <a:cubicBezTo>
                  <a:pt x="4044" y="1653"/>
                  <a:pt x="3999" y="1820"/>
                  <a:pt x="3999" y="2000"/>
                </a:cubicBezTo>
                <a:cubicBezTo>
                  <a:pt x="3999" y="2180"/>
                  <a:pt x="4044" y="2346"/>
                  <a:pt x="4134" y="2500"/>
                </a:cubicBezTo>
                <a:cubicBezTo>
                  <a:pt x="4224" y="2653"/>
                  <a:pt x="4345" y="2775"/>
                  <a:pt x="4499" y="2865"/>
                </a:cubicBezTo>
                <a:cubicBezTo>
                  <a:pt x="4652" y="2955"/>
                  <a:pt x="4819" y="3000"/>
                  <a:pt x="4999" y="3000"/>
                </a:cubicBezTo>
                <a:cubicBezTo>
                  <a:pt x="5179" y="3000"/>
                  <a:pt x="5345" y="2955"/>
                  <a:pt x="5499" y="2865"/>
                </a:cubicBezTo>
                <a:cubicBezTo>
                  <a:pt x="5652" y="2775"/>
                  <a:pt x="5774" y="2653"/>
                  <a:pt x="5864" y="2500"/>
                </a:cubicBezTo>
                <a:cubicBezTo>
                  <a:pt x="5954" y="2346"/>
                  <a:pt x="5999" y="2180"/>
                  <a:pt x="5999" y="2000"/>
                </a:cubicBezTo>
                <a:cubicBezTo>
                  <a:pt x="5999" y="1820"/>
                  <a:pt x="5954" y="1653"/>
                  <a:pt x="5864" y="1500"/>
                </a:cubicBezTo>
                <a:cubicBezTo>
                  <a:pt x="5774" y="1346"/>
                  <a:pt x="5652" y="1225"/>
                  <a:pt x="5499" y="1135"/>
                </a:cubicBezTo>
                <a:cubicBezTo>
                  <a:pt x="5345" y="1045"/>
                  <a:pt x="5179" y="1000"/>
                  <a:pt x="4999" y="1000"/>
                </a:cubicBezTo>
              </a:path>
            </a:pathLst>
          </a:custGeom>
          <a:solidFill>
            <a:srgbClr val="6B8F5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813737" y="4583935"/>
            <a:ext cx="654680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PETROCHEM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592231" y="4555360"/>
            <a:ext cx="733242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6B8F5E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Imubit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18970" y="4803010"/>
            <a:ext cx="5342189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石化工业验证：</a:t>
            </a:r>
            <a:r>
              <a:rPr lang="en-US" altLang="zh-CN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Imubit </a:t>
            </a:r>
            <a:r>
              <a:rPr lang="zh-CN" altLang="en-US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是一家工业人工智能（</a:t>
            </a:r>
            <a:r>
              <a:rPr lang="en-US" altLang="zh-CN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AI</a:t>
            </a:r>
            <a:r>
              <a:rPr lang="zh-CN" altLang="en-US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）软件公司，专门为炼油、石化和化工等流程工业提供</a:t>
            </a:r>
            <a:r>
              <a:rPr lang="en-US" altLang="zh-CN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“</a:t>
            </a:r>
            <a:r>
              <a:rPr lang="zh-CN" altLang="en-US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闭环</a:t>
            </a:r>
            <a:r>
              <a:rPr lang="en-US" altLang="zh-CN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AI</a:t>
            </a:r>
            <a:r>
              <a:rPr lang="zh-CN" altLang="en-US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优化</a:t>
            </a:r>
            <a:r>
              <a:rPr lang="en-US" altLang="zh-CN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”</a:t>
            </a:r>
            <a:r>
              <a:rPr lang="zh-CN" altLang="en-US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解决方案。其核心产品为</a:t>
            </a:r>
            <a:r>
              <a:rPr lang="en-US" altLang="zh-CN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“</a:t>
            </a:r>
            <a:r>
              <a:rPr lang="zh-CN" altLang="en-US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优化大脑（</a:t>
            </a:r>
            <a:r>
              <a:rPr lang="en-US" altLang="zh-CN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Optimizing Brain</a:t>
            </a:r>
            <a:r>
              <a:rPr lang="zh-CN" altLang="en-US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）</a:t>
            </a:r>
            <a:r>
              <a:rPr lang="en-US" altLang="zh-CN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”</a:t>
            </a:r>
            <a:r>
              <a:rPr lang="zh-CN" altLang="en-US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工业</a:t>
            </a:r>
            <a:r>
              <a:rPr lang="en-US" altLang="zh-CN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AI</a:t>
            </a:r>
            <a:r>
              <a:rPr lang="zh-CN" altLang="en-US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平台，通过强化学习和深度学习技术直接从工厂数据中学习，帮助企业实现生产流程的自主优化和利润最大化</a:t>
            </a:r>
            <a:endParaRPr lang="zh-CN" altLang="en-US" sz="10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3308350"/>
            <a:ext cx="5099050" cy="3268345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3365"/>
            <a:ext cx="5229860" cy="29025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1E8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49455" cy="67779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1E8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49455" cy="67779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6647180" cy="4756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914400"/>
            <a:ext cx="4954270" cy="48837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12156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5638283" y="2558951"/>
            <a:ext cx="65506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5F1E8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05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1890537" y="2992338"/>
            <a:ext cx="8407878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5F1E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原型展示与验证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2110748" y="4013299"/>
            <a:ext cx="7967455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5F1E8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案例推理控制台的交互设计与Demo演示流程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35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12156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5638283" y="2579787"/>
            <a:ext cx="65506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5F1E8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06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1799403" y="3013174"/>
            <a:ext cx="8590147" cy="7124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100" b="1" i="0" strike="noStrike">
                <a:solidFill>
                  <a:srgbClr val="F5F1E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AI协同与项目价值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288157" y="3992315"/>
            <a:ext cx="9612638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5F1E8">
                    <a:alpha val="8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团队如何驾驭AI工具完成从调研到原型的全链路，以及方案的企业价值与下一步计划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1E8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rcRect b="3125"/>
          <a:stretch>
            <a:fillRect/>
          </a:stretch>
        </p:blipFill>
        <p:spPr>
          <a:xfrm>
            <a:off x="0" y="152400"/>
            <a:ext cx="12104370" cy="654558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rcRect l="6061" t="27101"/>
          <a:stretch>
            <a:fillRect/>
          </a:stretch>
        </p:blipFill>
        <p:spPr>
          <a:xfrm>
            <a:off x="0" y="1447800"/>
            <a:ext cx="5228590" cy="3533775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371600"/>
            <a:ext cx="5457825" cy="364744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5105400"/>
            <a:ext cx="3017520" cy="171323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791200"/>
            <a:ext cx="4271645" cy="276225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257800"/>
            <a:ext cx="3486150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1E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VALUE &amp; ROADMAP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33500"/>
            <a:ext cx="9522" cy="974228"/>
          </a:xfrm>
          <a:prstGeom prst="line">
            <a:avLst/>
          </a:prstGeom>
          <a:ln w="9525">
            <a:solidFill>
              <a:srgbClr val="6B8F5E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99925" y="1371600"/>
            <a:ext cx="11589027" cy="88761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2E1F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方案在短期压缩调配试错次数、中期实现全厂经验共享、长期支持跨品类拓展三个层面创造价值。当前局限在于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2E1F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原型使用模拟数据且定性采集方式待验证，下一步将在单条产线进行3个月真实数据试点，逐步验证并扩展至全</a:t>
            </a:r>
            <a:endParaRPr sz="1600" b="0" i="1" strike="noStrike">
              <a:solidFill>
                <a:srgbClr val="1A2E1F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sz="1600" b="0" i="1" strike="noStrike">
                <a:solidFill>
                  <a:srgbClr val="1A2E1F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品类调配场景。</a:t>
            </a:r>
            <a:endParaRPr sz="1600" b="0" i="1" strike="noStrike">
              <a:solidFill>
                <a:srgbClr val="1A2E1F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086" y="2860178"/>
            <a:ext cx="5504073" cy="9525"/>
          </a:xfrm>
          <a:prstGeom prst="line">
            <a:avLst/>
          </a:prstGeom>
          <a:ln w="9525">
            <a:solidFill>
              <a:srgbClr val="D4CFC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457086" y="2507753"/>
            <a:ext cx="550407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A2E1F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企业价值（短/中/长期）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7086" y="2984003"/>
            <a:ext cx="5504073" cy="1075432"/>
          </a:xfrm>
          <a:prstGeom prst="rect">
            <a:avLst/>
          </a:prstGeom>
          <a:solidFill>
            <a:srgbClr val="ECE8DF">
              <a:alpha val="100000"/>
            </a:srgbClr>
          </a:solidFill>
          <a:ln w="9525">
            <a:solidFill>
              <a:srgbClr val="D4CFC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602083" y="3215135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066" y="1676"/>
                </a:moveTo>
                <a:lnTo>
                  <a:pt x="1877" y="2362"/>
                </a:lnTo>
                <a:cubicBezTo>
                  <a:pt x="2314" y="2063"/>
                  <a:pt x="2796" y="1834"/>
                  <a:pt x="3322" y="1676"/>
                </a:cubicBezTo>
                <a:cubicBezTo>
                  <a:pt x="3862" y="1511"/>
                  <a:pt x="4421" y="1429"/>
                  <a:pt x="4999" y="1429"/>
                </a:cubicBezTo>
                <a:cubicBezTo>
                  <a:pt x="5576" y="1429"/>
                  <a:pt x="6135" y="1511"/>
                  <a:pt x="6676" y="1676"/>
                </a:cubicBezTo>
                <a:cubicBezTo>
                  <a:pt x="7202" y="1834"/>
                  <a:pt x="7683" y="2063"/>
                  <a:pt x="8121" y="2362"/>
                </a:cubicBezTo>
                <a:lnTo>
                  <a:pt x="8932" y="1676"/>
                </a:lnTo>
                <a:lnTo>
                  <a:pt x="9709" y="2343"/>
                </a:lnTo>
                <a:lnTo>
                  <a:pt x="8909" y="3038"/>
                </a:lnTo>
                <a:cubicBezTo>
                  <a:pt x="9257" y="3412"/>
                  <a:pt x="9523" y="3825"/>
                  <a:pt x="9709" y="4276"/>
                </a:cubicBezTo>
                <a:cubicBezTo>
                  <a:pt x="9901" y="4739"/>
                  <a:pt x="9998" y="5218"/>
                  <a:pt x="9998" y="5714"/>
                </a:cubicBezTo>
                <a:cubicBezTo>
                  <a:pt x="9998" y="6488"/>
                  <a:pt x="9772" y="7209"/>
                  <a:pt x="9320" y="7876"/>
                </a:cubicBezTo>
                <a:cubicBezTo>
                  <a:pt x="8876" y="8524"/>
                  <a:pt x="8276" y="9038"/>
                  <a:pt x="7521" y="9419"/>
                </a:cubicBezTo>
                <a:cubicBezTo>
                  <a:pt x="6743" y="9806"/>
                  <a:pt x="5902" y="10000"/>
                  <a:pt x="4999" y="10000"/>
                </a:cubicBezTo>
                <a:cubicBezTo>
                  <a:pt x="4095" y="10000"/>
                  <a:pt x="3255" y="9806"/>
                  <a:pt x="2477" y="9419"/>
                </a:cubicBezTo>
                <a:cubicBezTo>
                  <a:pt x="1721" y="9038"/>
                  <a:pt x="1122" y="8524"/>
                  <a:pt x="678" y="7876"/>
                </a:cubicBezTo>
                <a:cubicBezTo>
                  <a:pt x="226" y="7209"/>
                  <a:pt x="0" y="6488"/>
                  <a:pt x="0" y="5714"/>
                </a:cubicBezTo>
                <a:cubicBezTo>
                  <a:pt x="0" y="5218"/>
                  <a:pt x="96" y="4739"/>
                  <a:pt x="289" y="4276"/>
                </a:cubicBezTo>
                <a:cubicBezTo>
                  <a:pt x="474" y="3825"/>
                  <a:pt x="741" y="3412"/>
                  <a:pt x="1089" y="3038"/>
                </a:cubicBezTo>
                <a:lnTo>
                  <a:pt x="289" y="2343"/>
                </a:lnTo>
                <a:lnTo>
                  <a:pt x="1066" y="1676"/>
                </a:lnTo>
                <a:moveTo>
                  <a:pt x="4999" y="9048"/>
                </a:moveTo>
                <a:cubicBezTo>
                  <a:pt x="5702" y="9048"/>
                  <a:pt x="6357" y="8895"/>
                  <a:pt x="6965" y="8590"/>
                </a:cubicBezTo>
                <a:cubicBezTo>
                  <a:pt x="7550" y="8298"/>
                  <a:pt x="8013" y="7901"/>
                  <a:pt x="8354" y="7400"/>
                </a:cubicBezTo>
                <a:cubicBezTo>
                  <a:pt x="8709" y="6879"/>
                  <a:pt x="8887" y="6317"/>
                  <a:pt x="8887" y="5714"/>
                </a:cubicBezTo>
                <a:cubicBezTo>
                  <a:pt x="8887" y="5111"/>
                  <a:pt x="8709" y="4549"/>
                  <a:pt x="8354" y="4029"/>
                </a:cubicBezTo>
                <a:cubicBezTo>
                  <a:pt x="8013" y="3527"/>
                  <a:pt x="7550" y="3130"/>
                  <a:pt x="6965" y="2838"/>
                </a:cubicBezTo>
                <a:cubicBezTo>
                  <a:pt x="6357" y="2533"/>
                  <a:pt x="5702" y="2381"/>
                  <a:pt x="4999" y="2381"/>
                </a:cubicBezTo>
                <a:cubicBezTo>
                  <a:pt x="4295" y="2381"/>
                  <a:pt x="3640" y="2533"/>
                  <a:pt x="3033" y="2838"/>
                </a:cubicBezTo>
                <a:cubicBezTo>
                  <a:pt x="2447" y="3130"/>
                  <a:pt x="1984" y="3527"/>
                  <a:pt x="1644" y="4029"/>
                </a:cubicBezTo>
                <a:cubicBezTo>
                  <a:pt x="1288" y="4549"/>
                  <a:pt x="1111" y="5111"/>
                  <a:pt x="1111" y="5714"/>
                </a:cubicBezTo>
                <a:cubicBezTo>
                  <a:pt x="1111" y="6317"/>
                  <a:pt x="1288" y="6879"/>
                  <a:pt x="1644" y="7400"/>
                </a:cubicBezTo>
                <a:cubicBezTo>
                  <a:pt x="1984" y="7901"/>
                  <a:pt x="2447" y="8298"/>
                  <a:pt x="3033" y="8590"/>
                </a:cubicBezTo>
                <a:cubicBezTo>
                  <a:pt x="3640" y="8895"/>
                  <a:pt x="4295" y="9048"/>
                  <a:pt x="4999" y="9048"/>
                </a:cubicBezTo>
                <a:moveTo>
                  <a:pt x="5554" y="3095"/>
                </a:moveTo>
                <a:lnTo>
                  <a:pt x="5554" y="5238"/>
                </a:lnTo>
                <a:lnTo>
                  <a:pt x="7221" y="5238"/>
                </a:lnTo>
                <a:lnTo>
                  <a:pt x="4444" y="8333"/>
                </a:lnTo>
                <a:lnTo>
                  <a:pt x="4444" y="6190"/>
                </a:lnTo>
                <a:lnTo>
                  <a:pt x="2777" y="6190"/>
                </a:lnTo>
                <a:lnTo>
                  <a:pt x="5554" y="3095"/>
                </a:lnTo>
                <a:moveTo>
                  <a:pt x="2777" y="952"/>
                </a:moveTo>
                <a:lnTo>
                  <a:pt x="2777" y="0"/>
                </a:lnTo>
                <a:lnTo>
                  <a:pt x="7221" y="0"/>
                </a:lnTo>
                <a:lnTo>
                  <a:pt x="7221" y="952"/>
                </a:lnTo>
              </a:path>
            </a:pathLst>
          </a:custGeom>
          <a:solidFill>
            <a:srgbClr val="6B8F5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813737" y="3224660"/>
            <a:ext cx="85063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SHORT-TERM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711988" y="3196085"/>
            <a:ext cx="456044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6B8F5E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≤ 2次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18970" y="3443735"/>
            <a:ext cx="5342189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新师傅调配试错次数从3-4次压缩到2次以内，减少原料消耗与工时浪费，直接提升产线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交付效率与产能利用率</a:t>
            </a:r>
            <a:endParaRPr sz="10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7086" y="4154686"/>
            <a:ext cx="5504073" cy="1075432"/>
          </a:xfrm>
          <a:prstGeom prst="rect">
            <a:avLst/>
          </a:prstGeom>
          <a:solidFill>
            <a:srgbClr val="ECE8DF">
              <a:alpha val="100000"/>
            </a:srgbClr>
          </a:solidFill>
          <a:ln w="9525">
            <a:solidFill>
              <a:srgbClr val="D4CFC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>
            <a:off x="602083" y="4385815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4500"/>
                </a:moveTo>
                <a:cubicBezTo>
                  <a:pt x="5452" y="4500"/>
                  <a:pt x="5870" y="4611"/>
                  <a:pt x="6254" y="4835"/>
                </a:cubicBezTo>
                <a:cubicBezTo>
                  <a:pt x="6637" y="5058"/>
                  <a:pt x="6940" y="5361"/>
                  <a:pt x="7164" y="5745"/>
                </a:cubicBezTo>
                <a:cubicBezTo>
                  <a:pt x="7387" y="6128"/>
                  <a:pt x="7499" y="6546"/>
                  <a:pt x="7499" y="7000"/>
                </a:cubicBezTo>
                <a:lnTo>
                  <a:pt x="7499" y="10000"/>
                </a:lnTo>
                <a:lnTo>
                  <a:pt x="6499" y="10000"/>
                </a:lnTo>
                <a:lnTo>
                  <a:pt x="6499" y="7000"/>
                </a:lnTo>
                <a:cubicBezTo>
                  <a:pt x="6499" y="6740"/>
                  <a:pt x="6435" y="6498"/>
                  <a:pt x="6309" y="6275"/>
                </a:cubicBezTo>
                <a:cubicBezTo>
                  <a:pt x="6182" y="6051"/>
                  <a:pt x="6012" y="5871"/>
                  <a:pt x="5799" y="5735"/>
                </a:cubicBezTo>
                <a:cubicBezTo>
                  <a:pt x="5585" y="5598"/>
                  <a:pt x="5349" y="5520"/>
                  <a:pt x="5089" y="5500"/>
                </a:cubicBezTo>
                <a:lnTo>
                  <a:pt x="4999" y="5500"/>
                </a:lnTo>
                <a:cubicBezTo>
                  <a:pt x="4739" y="5500"/>
                  <a:pt x="4497" y="5563"/>
                  <a:pt x="4274" y="5690"/>
                </a:cubicBezTo>
                <a:cubicBezTo>
                  <a:pt x="4050" y="5816"/>
                  <a:pt x="3870" y="5986"/>
                  <a:pt x="3734" y="6200"/>
                </a:cubicBezTo>
                <a:cubicBezTo>
                  <a:pt x="3597" y="6413"/>
                  <a:pt x="3519" y="6650"/>
                  <a:pt x="3499" y="6910"/>
                </a:cubicBezTo>
                <a:lnTo>
                  <a:pt x="3499" y="10000"/>
                </a:lnTo>
                <a:lnTo>
                  <a:pt x="2500" y="10000"/>
                </a:lnTo>
                <a:lnTo>
                  <a:pt x="2500" y="7000"/>
                </a:lnTo>
                <a:cubicBezTo>
                  <a:pt x="2500" y="6546"/>
                  <a:pt x="2611" y="6128"/>
                  <a:pt x="2834" y="5745"/>
                </a:cubicBezTo>
                <a:cubicBezTo>
                  <a:pt x="3057" y="5361"/>
                  <a:pt x="3360" y="5058"/>
                  <a:pt x="3744" y="4835"/>
                </a:cubicBezTo>
                <a:cubicBezTo>
                  <a:pt x="4127" y="4611"/>
                  <a:pt x="4545" y="4500"/>
                  <a:pt x="4999" y="4500"/>
                </a:cubicBezTo>
                <a:moveTo>
                  <a:pt x="1750" y="6000"/>
                </a:moveTo>
                <a:cubicBezTo>
                  <a:pt x="1890" y="6000"/>
                  <a:pt x="2026" y="6016"/>
                  <a:pt x="2160" y="6050"/>
                </a:cubicBezTo>
                <a:cubicBezTo>
                  <a:pt x="2073" y="6303"/>
                  <a:pt x="2020" y="6563"/>
                  <a:pt x="2000" y="6830"/>
                </a:cubicBezTo>
                <a:lnTo>
                  <a:pt x="2000" y="7040"/>
                </a:lnTo>
                <a:cubicBezTo>
                  <a:pt x="1940" y="7020"/>
                  <a:pt x="1880" y="7006"/>
                  <a:pt x="1820" y="7000"/>
                </a:cubicBezTo>
                <a:lnTo>
                  <a:pt x="1750" y="7000"/>
                </a:lnTo>
                <a:cubicBezTo>
                  <a:pt x="1556" y="7000"/>
                  <a:pt x="1388" y="7065"/>
                  <a:pt x="1245" y="7195"/>
                </a:cubicBezTo>
                <a:cubicBezTo>
                  <a:pt x="1101" y="7325"/>
                  <a:pt x="1020" y="7486"/>
                  <a:pt x="1000" y="7680"/>
                </a:cubicBezTo>
                <a:lnTo>
                  <a:pt x="1000" y="7750"/>
                </a:lnTo>
                <a:lnTo>
                  <a:pt x="1000" y="10000"/>
                </a:lnTo>
                <a:lnTo>
                  <a:pt x="0" y="10000"/>
                </a:lnTo>
                <a:lnTo>
                  <a:pt x="0" y="7750"/>
                </a:lnTo>
                <a:cubicBezTo>
                  <a:pt x="0" y="7430"/>
                  <a:pt x="78" y="7136"/>
                  <a:pt x="235" y="6870"/>
                </a:cubicBezTo>
                <a:cubicBezTo>
                  <a:pt x="391" y="6603"/>
                  <a:pt x="603" y="6391"/>
                  <a:pt x="870" y="6235"/>
                </a:cubicBezTo>
                <a:cubicBezTo>
                  <a:pt x="1136" y="6078"/>
                  <a:pt x="1430" y="6000"/>
                  <a:pt x="1750" y="6000"/>
                </a:cubicBezTo>
                <a:moveTo>
                  <a:pt x="8248" y="6000"/>
                </a:moveTo>
                <a:cubicBezTo>
                  <a:pt x="8568" y="6000"/>
                  <a:pt x="8861" y="6078"/>
                  <a:pt x="9128" y="6235"/>
                </a:cubicBezTo>
                <a:cubicBezTo>
                  <a:pt x="9394" y="6391"/>
                  <a:pt x="9606" y="6603"/>
                  <a:pt x="9763" y="6870"/>
                </a:cubicBezTo>
                <a:cubicBezTo>
                  <a:pt x="9919" y="7136"/>
                  <a:pt x="9998" y="7430"/>
                  <a:pt x="9998" y="7750"/>
                </a:cubicBezTo>
                <a:lnTo>
                  <a:pt x="9998" y="10000"/>
                </a:lnTo>
                <a:lnTo>
                  <a:pt x="8998" y="10000"/>
                </a:lnTo>
                <a:lnTo>
                  <a:pt x="8998" y="7750"/>
                </a:lnTo>
                <a:cubicBezTo>
                  <a:pt x="8998" y="7556"/>
                  <a:pt x="8933" y="7388"/>
                  <a:pt x="8803" y="7245"/>
                </a:cubicBezTo>
                <a:cubicBezTo>
                  <a:pt x="8673" y="7101"/>
                  <a:pt x="8511" y="7020"/>
                  <a:pt x="8318" y="7000"/>
                </a:cubicBezTo>
                <a:lnTo>
                  <a:pt x="8248" y="7000"/>
                </a:lnTo>
                <a:cubicBezTo>
                  <a:pt x="8161" y="7000"/>
                  <a:pt x="8078" y="7013"/>
                  <a:pt x="7998" y="7040"/>
                </a:cubicBezTo>
                <a:lnTo>
                  <a:pt x="7998" y="7000"/>
                </a:lnTo>
                <a:cubicBezTo>
                  <a:pt x="7998" y="6673"/>
                  <a:pt x="7948" y="6356"/>
                  <a:pt x="7848" y="6050"/>
                </a:cubicBezTo>
                <a:cubicBezTo>
                  <a:pt x="7974" y="6016"/>
                  <a:pt x="8108" y="6000"/>
                  <a:pt x="8248" y="6000"/>
                </a:cubicBezTo>
                <a:moveTo>
                  <a:pt x="1750" y="3000"/>
                </a:moveTo>
                <a:cubicBezTo>
                  <a:pt x="1976" y="3000"/>
                  <a:pt x="2185" y="3056"/>
                  <a:pt x="2375" y="3170"/>
                </a:cubicBezTo>
                <a:cubicBezTo>
                  <a:pt x="2564" y="3283"/>
                  <a:pt x="2715" y="3435"/>
                  <a:pt x="2829" y="3625"/>
                </a:cubicBezTo>
                <a:cubicBezTo>
                  <a:pt x="2942" y="3815"/>
                  <a:pt x="2999" y="4023"/>
                  <a:pt x="2999" y="4250"/>
                </a:cubicBezTo>
                <a:cubicBezTo>
                  <a:pt x="2999" y="4476"/>
                  <a:pt x="2942" y="4685"/>
                  <a:pt x="2829" y="4875"/>
                </a:cubicBezTo>
                <a:cubicBezTo>
                  <a:pt x="2715" y="5065"/>
                  <a:pt x="2564" y="5216"/>
                  <a:pt x="2375" y="5330"/>
                </a:cubicBezTo>
                <a:cubicBezTo>
                  <a:pt x="2185" y="5443"/>
                  <a:pt x="1976" y="5500"/>
                  <a:pt x="1750" y="5500"/>
                </a:cubicBezTo>
                <a:cubicBezTo>
                  <a:pt x="1523" y="5500"/>
                  <a:pt x="1315" y="5443"/>
                  <a:pt x="1125" y="5330"/>
                </a:cubicBezTo>
                <a:cubicBezTo>
                  <a:pt x="935" y="5216"/>
                  <a:pt x="783" y="5065"/>
                  <a:pt x="670" y="4875"/>
                </a:cubicBezTo>
                <a:cubicBezTo>
                  <a:pt x="556" y="4685"/>
                  <a:pt x="500" y="4476"/>
                  <a:pt x="500" y="4250"/>
                </a:cubicBezTo>
                <a:cubicBezTo>
                  <a:pt x="500" y="4023"/>
                  <a:pt x="556" y="3815"/>
                  <a:pt x="670" y="3625"/>
                </a:cubicBezTo>
                <a:cubicBezTo>
                  <a:pt x="783" y="3435"/>
                  <a:pt x="935" y="3283"/>
                  <a:pt x="1125" y="3170"/>
                </a:cubicBezTo>
                <a:cubicBezTo>
                  <a:pt x="1315" y="3056"/>
                  <a:pt x="1523" y="3000"/>
                  <a:pt x="1750" y="3000"/>
                </a:cubicBezTo>
                <a:moveTo>
                  <a:pt x="8248" y="3000"/>
                </a:moveTo>
                <a:cubicBezTo>
                  <a:pt x="8474" y="3000"/>
                  <a:pt x="8683" y="3056"/>
                  <a:pt x="8873" y="3170"/>
                </a:cubicBezTo>
                <a:cubicBezTo>
                  <a:pt x="9063" y="3283"/>
                  <a:pt x="9214" y="3435"/>
                  <a:pt x="9328" y="3625"/>
                </a:cubicBezTo>
                <a:cubicBezTo>
                  <a:pt x="9441" y="3815"/>
                  <a:pt x="9498" y="4023"/>
                  <a:pt x="9498" y="4250"/>
                </a:cubicBezTo>
                <a:cubicBezTo>
                  <a:pt x="9498" y="4476"/>
                  <a:pt x="9441" y="4685"/>
                  <a:pt x="9328" y="4875"/>
                </a:cubicBezTo>
                <a:cubicBezTo>
                  <a:pt x="9214" y="5065"/>
                  <a:pt x="9063" y="5216"/>
                  <a:pt x="8873" y="5330"/>
                </a:cubicBezTo>
                <a:cubicBezTo>
                  <a:pt x="8683" y="5443"/>
                  <a:pt x="8474" y="5500"/>
                  <a:pt x="8248" y="5500"/>
                </a:cubicBezTo>
                <a:cubicBezTo>
                  <a:pt x="8021" y="5500"/>
                  <a:pt x="7813" y="5443"/>
                  <a:pt x="7623" y="5330"/>
                </a:cubicBezTo>
                <a:cubicBezTo>
                  <a:pt x="7433" y="5216"/>
                  <a:pt x="7282" y="5065"/>
                  <a:pt x="7169" y="4875"/>
                </a:cubicBezTo>
                <a:cubicBezTo>
                  <a:pt x="7055" y="4685"/>
                  <a:pt x="6999" y="4476"/>
                  <a:pt x="6999" y="4250"/>
                </a:cubicBezTo>
                <a:cubicBezTo>
                  <a:pt x="6999" y="4023"/>
                  <a:pt x="7055" y="3815"/>
                  <a:pt x="7169" y="3625"/>
                </a:cubicBezTo>
                <a:cubicBezTo>
                  <a:pt x="7282" y="3435"/>
                  <a:pt x="7433" y="3283"/>
                  <a:pt x="7623" y="3170"/>
                </a:cubicBezTo>
                <a:cubicBezTo>
                  <a:pt x="7813" y="3056"/>
                  <a:pt x="8021" y="3000"/>
                  <a:pt x="8248" y="3000"/>
                </a:cubicBezTo>
                <a:moveTo>
                  <a:pt x="1750" y="4000"/>
                </a:moveTo>
                <a:cubicBezTo>
                  <a:pt x="1683" y="4000"/>
                  <a:pt x="1625" y="4025"/>
                  <a:pt x="1575" y="4075"/>
                </a:cubicBezTo>
                <a:cubicBezTo>
                  <a:pt x="1525" y="4125"/>
                  <a:pt x="1500" y="4183"/>
                  <a:pt x="1500" y="4250"/>
                </a:cubicBezTo>
                <a:cubicBezTo>
                  <a:pt x="1500" y="4316"/>
                  <a:pt x="1525" y="4375"/>
                  <a:pt x="1575" y="4425"/>
                </a:cubicBezTo>
                <a:cubicBezTo>
                  <a:pt x="1625" y="4475"/>
                  <a:pt x="1683" y="4500"/>
                  <a:pt x="1750" y="4500"/>
                </a:cubicBezTo>
                <a:cubicBezTo>
                  <a:pt x="1816" y="4500"/>
                  <a:pt x="1875" y="4475"/>
                  <a:pt x="1925" y="4425"/>
                </a:cubicBezTo>
                <a:cubicBezTo>
                  <a:pt x="1975" y="4375"/>
                  <a:pt x="2000" y="4316"/>
                  <a:pt x="2000" y="4250"/>
                </a:cubicBezTo>
                <a:cubicBezTo>
                  <a:pt x="2000" y="4183"/>
                  <a:pt x="1975" y="4125"/>
                  <a:pt x="1925" y="4075"/>
                </a:cubicBezTo>
                <a:cubicBezTo>
                  <a:pt x="1875" y="4025"/>
                  <a:pt x="1816" y="4000"/>
                  <a:pt x="1750" y="4000"/>
                </a:cubicBezTo>
                <a:moveTo>
                  <a:pt x="8248" y="4000"/>
                </a:moveTo>
                <a:cubicBezTo>
                  <a:pt x="8181" y="4000"/>
                  <a:pt x="8123" y="4025"/>
                  <a:pt x="8073" y="4075"/>
                </a:cubicBezTo>
                <a:cubicBezTo>
                  <a:pt x="8023" y="4125"/>
                  <a:pt x="7998" y="4183"/>
                  <a:pt x="7998" y="4250"/>
                </a:cubicBezTo>
                <a:cubicBezTo>
                  <a:pt x="7998" y="4316"/>
                  <a:pt x="8023" y="4375"/>
                  <a:pt x="8073" y="4425"/>
                </a:cubicBezTo>
                <a:cubicBezTo>
                  <a:pt x="8123" y="4475"/>
                  <a:pt x="8181" y="4500"/>
                  <a:pt x="8248" y="4500"/>
                </a:cubicBezTo>
                <a:cubicBezTo>
                  <a:pt x="8314" y="4500"/>
                  <a:pt x="8373" y="4475"/>
                  <a:pt x="8423" y="4425"/>
                </a:cubicBezTo>
                <a:cubicBezTo>
                  <a:pt x="8473" y="4375"/>
                  <a:pt x="8498" y="4316"/>
                  <a:pt x="8498" y="4250"/>
                </a:cubicBezTo>
                <a:cubicBezTo>
                  <a:pt x="8498" y="4183"/>
                  <a:pt x="8473" y="4125"/>
                  <a:pt x="8423" y="4075"/>
                </a:cubicBezTo>
                <a:cubicBezTo>
                  <a:pt x="8373" y="4025"/>
                  <a:pt x="8314" y="4000"/>
                  <a:pt x="8248" y="4000"/>
                </a:cubicBezTo>
                <a:moveTo>
                  <a:pt x="4999" y="0"/>
                </a:moveTo>
                <a:cubicBezTo>
                  <a:pt x="5359" y="0"/>
                  <a:pt x="5692" y="90"/>
                  <a:pt x="5999" y="270"/>
                </a:cubicBezTo>
                <a:cubicBezTo>
                  <a:pt x="6305" y="450"/>
                  <a:pt x="6549" y="693"/>
                  <a:pt x="6729" y="1000"/>
                </a:cubicBezTo>
                <a:cubicBezTo>
                  <a:pt x="6909" y="1306"/>
                  <a:pt x="6999" y="1640"/>
                  <a:pt x="6999" y="2000"/>
                </a:cubicBezTo>
                <a:cubicBezTo>
                  <a:pt x="6999" y="2360"/>
                  <a:pt x="6909" y="2693"/>
                  <a:pt x="6729" y="3000"/>
                </a:cubicBezTo>
                <a:cubicBezTo>
                  <a:pt x="6549" y="3306"/>
                  <a:pt x="6305" y="3550"/>
                  <a:pt x="5999" y="3730"/>
                </a:cubicBezTo>
                <a:cubicBezTo>
                  <a:pt x="5692" y="3910"/>
                  <a:pt x="5359" y="4000"/>
                  <a:pt x="4999" y="4000"/>
                </a:cubicBezTo>
                <a:cubicBezTo>
                  <a:pt x="4639" y="4000"/>
                  <a:pt x="4305" y="3910"/>
                  <a:pt x="3999" y="3730"/>
                </a:cubicBezTo>
                <a:cubicBezTo>
                  <a:pt x="3692" y="3550"/>
                  <a:pt x="3449" y="3306"/>
                  <a:pt x="3269" y="3000"/>
                </a:cubicBezTo>
                <a:cubicBezTo>
                  <a:pt x="3089" y="2693"/>
                  <a:pt x="2999" y="2360"/>
                  <a:pt x="2999" y="2000"/>
                </a:cubicBezTo>
                <a:cubicBezTo>
                  <a:pt x="2999" y="1640"/>
                  <a:pt x="3089" y="1306"/>
                  <a:pt x="3269" y="1000"/>
                </a:cubicBezTo>
                <a:cubicBezTo>
                  <a:pt x="3449" y="693"/>
                  <a:pt x="3692" y="450"/>
                  <a:pt x="3999" y="270"/>
                </a:cubicBezTo>
                <a:cubicBezTo>
                  <a:pt x="4305" y="90"/>
                  <a:pt x="4639" y="0"/>
                  <a:pt x="4999" y="0"/>
                </a:cubicBezTo>
                <a:moveTo>
                  <a:pt x="4999" y="1000"/>
                </a:moveTo>
                <a:cubicBezTo>
                  <a:pt x="4819" y="1000"/>
                  <a:pt x="4652" y="1045"/>
                  <a:pt x="4499" y="1135"/>
                </a:cubicBezTo>
                <a:cubicBezTo>
                  <a:pt x="4345" y="1225"/>
                  <a:pt x="4224" y="1346"/>
                  <a:pt x="4134" y="1500"/>
                </a:cubicBezTo>
                <a:cubicBezTo>
                  <a:pt x="4044" y="1653"/>
                  <a:pt x="3999" y="1820"/>
                  <a:pt x="3999" y="2000"/>
                </a:cubicBezTo>
                <a:cubicBezTo>
                  <a:pt x="3999" y="2180"/>
                  <a:pt x="4044" y="2346"/>
                  <a:pt x="4134" y="2500"/>
                </a:cubicBezTo>
                <a:cubicBezTo>
                  <a:pt x="4224" y="2653"/>
                  <a:pt x="4345" y="2775"/>
                  <a:pt x="4499" y="2865"/>
                </a:cubicBezTo>
                <a:cubicBezTo>
                  <a:pt x="4652" y="2955"/>
                  <a:pt x="4819" y="3000"/>
                  <a:pt x="4999" y="3000"/>
                </a:cubicBezTo>
                <a:cubicBezTo>
                  <a:pt x="5179" y="3000"/>
                  <a:pt x="5345" y="2955"/>
                  <a:pt x="5499" y="2865"/>
                </a:cubicBezTo>
                <a:cubicBezTo>
                  <a:pt x="5652" y="2775"/>
                  <a:pt x="5774" y="2653"/>
                  <a:pt x="5864" y="2500"/>
                </a:cubicBezTo>
                <a:cubicBezTo>
                  <a:pt x="5954" y="2346"/>
                  <a:pt x="5999" y="2180"/>
                  <a:pt x="5999" y="2000"/>
                </a:cubicBezTo>
                <a:cubicBezTo>
                  <a:pt x="5999" y="1820"/>
                  <a:pt x="5954" y="1653"/>
                  <a:pt x="5864" y="1500"/>
                </a:cubicBezTo>
                <a:cubicBezTo>
                  <a:pt x="5774" y="1346"/>
                  <a:pt x="5652" y="1225"/>
                  <a:pt x="5499" y="1135"/>
                </a:cubicBezTo>
                <a:cubicBezTo>
                  <a:pt x="5345" y="1045"/>
                  <a:pt x="5179" y="1000"/>
                  <a:pt x="4999" y="1000"/>
                </a:cubicBezTo>
              </a:path>
            </a:pathLst>
          </a:custGeom>
          <a:solidFill>
            <a:srgbClr val="6B8F5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813737" y="4395340"/>
            <a:ext cx="654680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MID-TERM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516031" y="4366765"/>
            <a:ext cx="733242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6B8F5E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全厂共享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18970" y="4614415"/>
            <a:ext cx="5342189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个体老师傅的局部经验汇聚为全厂共享案例记忆，降低人员流动带来的知识断层风险，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构建组织级经验资产</a:t>
            </a:r>
            <a:endParaRPr sz="10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57086" y="5325368"/>
            <a:ext cx="5504073" cy="1075432"/>
          </a:xfrm>
          <a:prstGeom prst="rect">
            <a:avLst/>
          </a:prstGeom>
          <a:solidFill>
            <a:srgbClr val="ECE8DF">
              <a:alpha val="100000"/>
            </a:srgbClr>
          </a:solidFill>
          <a:ln w="9525">
            <a:solidFill>
              <a:srgbClr val="D4CFC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>
            <a:off x="602083" y="5556498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054" y="5365"/>
                </a:moveTo>
                <a:cubicBezTo>
                  <a:pt x="1054" y="4565"/>
                  <a:pt x="1223" y="3800"/>
                  <a:pt x="1561" y="3071"/>
                </a:cubicBezTo>
                <a:cubicBezTo>
                  <a:pt x="1891" y="2367"/>
                  <a:pt x="2355" y="1748"/>
                  <a:pt x="2953" y="1214"/>
                </a:cubicBezTo>
                <a:cubicBezTo>
                  <a:pt x="3550" y="680"/>
                  <a:pt x="4232" y="275"/>
                  <a:pt x="4999" y="0"/>
                </a:cubicBezTo>
                <a:cubicBezTo>
                  <a:pt x="5765" y="275"/>
                  <a:pt x="6447" y="680"/>
                  <a:pt x="7045" y="1214"/>
                </a:cubicBezTo>
                <a:cubicBezTo>
                  <a:pt x="7642" y="1748"/>
                  <a:pt x="8106" y="2367"/>
                  <a:pt x="8437" y="3071"/>
                </a:cubicBezTo>
                <a:cubicBezTo>
                  <a:pt x="8775" y="3800"/>
                  <a:pt x="8944" y="4565"/>
                  <a:pt x="8944" y="5365"/>
                </a:cubicBezTo>
                <a:cubicBezTo>
                  <a:pt x="8944" y="5755"/>
                  <a:pt x="8902" y="6138"/>
                  <a:pt x="8820" y="6516"/>
                </a:cubicBezTo>
                <a:lnTo>
                  <a:pt x="9913" y="7390"/>
                </a:lnTo>
                <a:cubicBezTo>
                  <a:pt x="9958" y="7428"/>
                  <a:pt x="9986" y="7474"/>
                  <a:pt x="9998" y="7529"/>
                </a:cubicBezTo>
                <a:cubicBezTo>
                  <a:pt x="10009" y="7583"/>
                  <a:pt x="10000" y="7635"/>
                  <a:pt x="9970" y="7687"/>
                </a:cubicBezTo>
                <a:lnTo>
                  <a:pt x="8561" y="9875"/>
                </a:lnTo>
                <a:cubicBezTo>
                  <a:pt x="8523" y="9933"/>
                  <a:pt x="8466" y="9971"/>
                  <a:pt x="8392" y="9990"/>
                </a:cubicBezTo>
                <a:cubicBezTo>
                  <a:pt x="8316" y="10009"/>
                  <a:pt x="8245" y="10003"/>
                  <a:pt x="8178" y="9971"/>
                </a:cubicBezTo>
                <a:cubicBezTo>
                  <a:pt x="8155" y="9965"/>
                  <a:pt x="8132" y="9952"/>
                  <a:pt x="8110" y="9933"/>
                </a:cubicBezTo>
                <a:lnTo>
                  <a:pt x="6859" y="8858"/>
                </a:lnTo>
                <a:cubicBezTo>
                  <a:pt x="6746" y="8768"/>
                  <a:pt x="6611" y="8724"/>
                  <a:pt x="6453" y="8724"/>
                </a:cubicBezTo>
                <a:lnTo>
                  <a:pt x="3545" y="8724"/>
                </a:lnTo>
                <a:cubicBezTo>
                  <a:pt x="3387" y="8724"/>
                  <a:pt x="3251" y="8768"/>
                  <a:pt x="3139" y="8858"/>
                </a:cubicBezTo>
                <a:lnTo>
                  <a:pt x="1888" y="9933"/>
                </a:lnTo>
                <a:cubicBezTo>
                  <a:pt x="1828" y="9977"/>
                  <a:pt x="1760" y="10000"/>
                  <a:pt x="1685" y="10000"/>
                </a:cubicBezTo>
                <a:cubicBezTo>
                  <a:pt x="1609" y="10000"/>
                  <a:pt x="1542" y="9977"/>
                  <a:pt x="1482" y="9933"/>
                </a:cubicBezTo>
                <a:cubicBezTo>
                  <a:pt x="1467" y="9920"/>
                  <a:pt x="1452" y="9901"/>
                  <a:pt x="1437" y="9875"/>
                </a:cubicBezTo>
                <a:lnTo>
                  <a:pt x="28" y="7687"/>
                </a:lnTo>
                <a:cubicBezTo>
                  <a:pt x="-2" y="7635"/>
                  <a:pt x="-11" y="7583"/>
                  <a:pt x="0" y="7529"/>
                </a:cubicBezTo>
                <a:cubicBezTo>
                  <a:pt x="11" y="7474"/>
                  <a:pt x="39" y="7428"/>
                  <a:pt x="85" y="7390"/>
                </a:cubicBezTo>
                <a:lnTo>
                  <a:pt x="1178" y="6516"/>
                </a:lnTo>
                <a:cubicBezTo>
                  <a:pt x="1095" y="6138"/>
                  <a:pt x="1054" y="5755"/>
                  <a:pt x="1054" y="5365"/>
                </a:cubicBezTo>
                <a:moveTo>
                  <a:pt x="1336" y="7706"/>
                </a:moveTo>
                <a:lnTo>
                  <a:pt x="1888" y="8570"/>
                </a:lnTo>
                <a:lnTo>
                  <a:pt x="2350" y="8186"/>
                </a:lnTo>
                <a:cubicBezTo>
                  <a:pt x="2508" y="8052"/>
                  <a:pt x="2690" y="7948"/>
                  <a:pt x="2897" y="7874"/>
                </a:cubicBezTo>
                <a:cubicBezTo>
                  <a:pt x="3103" y="7800"/>
                  <a:pt x="3319" y="7764"/>
                  <a:pt x="3545" y="7764"/>
                </a:cubicBezTo>
                <a:lnTo>
                  <a:pt x="6453" y="7764"/>
                </a:lnTo>
                <a:cubicBezTo>
                  <a:pt x="6678" y="7764"/>
                  <a:pt x="6894" y="7800"/>
                  <a:pt x="7101" y="7874"/>
                </a:cubicBezTo>
                <a:cubicBezTo>
                  <a:pt x="7307" y="7948"/>
                  <a:pt x="7490" y="8052"/>
                  <a:pt x="7648" y="8186"/>
                </a:cubicBezTo>
                <a:lnTo>
                  <a:pt x="8110" y="8570"/>
                </a:lnTo>
                <a:lnTo>
                  <a:pt x="8662" y="7706"/>
                </a:lnTo>
                <a:lnTo>
                  <a:pt x="8042" y="7217"/>
                </a:lnTo>
                <a:cubicBezTo>
                  <a:pt x="7906" y="7101"/>
                  <a:pt x="7809" y="6967"/>
                  <a:pt x="7749" y="6814"/>
                </a:cubicBezTo>
                <a:cubicBezTo>
                  <a:pt x="7689" y="6660"/>
                  <a:pt x="7677" y="6503"/>
                  <a:pt x="7715" y="6344"/>
                </a:cubicBezTo>
                <a:cubicBezTo>
                  <a:pt x="7783" y="6017"/>
                  <a:pt x="7817" y="5691"/>
                  <a:pt x="7817" y="5365"/>
                </a:cubicBezTo>
                <a:cubicBezTo>
                  <a:pt x="7817" y="4750"/>
                  <a:pt x="7700" y="4161"/>
                  <a:pt x="7468" y="3599"/>
                </a:cubicBezTo>
                <a:cubicBezTo>
                  <a:pt x="7234" y="3049"/>
                  <a:pt x="6905" y="2554"/>
                  <a:pt x="6481" y="2116"/>
                </a:cubicBezTo>
                <a:cubicBezTo>
                  <a:pt x="6056" y="1678"/>
                  <a:pt x="5562" y="1327"/>
                  <a:pt x="4999" y="1065"/>
                </a:cubicBezTo>
                <a:cubicBezTo>
                  <a:pt x="4435" y="1327"/>
                  <a:pt x="3941" y="1678"/>
                  <a:pt x="3517" y="2116"/>
                </a:cubicBezTo>
                <a:cubicBezTo>
                  <a:pt x="3092" y="2554"/>
                  <a:pt x="2763" y="3049"/>
                  <a:pt x="2530" y="3599"/>
                </a:cubicBezTo>
                <a:cubicBezTo>
                  <a:pt x="2297" y="4161"/>
                  <a:pt x="2181" y="4750"/>
                  <a:pt x="2181" y="5365"/>
                </a:cubicBezTo>
                <a:cubicBezTo>
                  <a:pt x="2181" y="5691"/>
                  <a:pt x="2215" y="6017"/>
                  <a:pt x="2283" y="6344"/>
                </a:cubicBezTo>
                <a:cubicBezTo>
                  <a:pt x="2320" y="6503"/>
                  <a:pt x="2309" y="6660"/>
                  <a:pt x="2249" y="6814"/>
                </a:cubicBezTo>
                <a:cubicBezTo>
                  <a:pt x="2189" y="6967"/>
                  <a:pt x="2091" y="7101"/>
                  <a:pt x="1956" y="7217"/>
                </a:cubicBezTo>
                <a:lnTo>
                  <a:pt x="1336" y="7706"/>
                </a:lnTo>
                <a:moveTo>
                  <a:pt x="4999" y="5365"/>
                </a:moveTo>
                <a:cubicBezTo>
                  <a:pt x="4796" y="5365"/>
                  <a:pt x="4608" y="5321"/>
                  <a:pt x="4435" y="5235"/>
                </a:cubicBezTo>
                <a:cubicBezTo>
                  <a:pt x="4262" y="5149"/>
                  <a:pt x="4125" y="5032"/>
                  <a:pt x="4024" y="4885"/>
                </a:cubicBezTo>
                <a:cubicBezTo>
                  <a:pt x="3922" y="4737"/>
                  <a:pt x="3872" y="4577"/>
                  <a:pt x="3872" y="4405"/>
                </a:cubicBezTo>
                <a:cubicBezTo>
                  <a:pt x="3872" y="4232"/>
                  <a:pt x="3922" y="4072"/>
                  <a:pt x="4024" y="3925"/>
                </a:cubicBezTo>
                <a:cubicBezTo>
                  <a:pt x="4125" y="3777"/>
                  <a:pt x="4262" y="3661"/>
                  <a:pt x="4435" y="3575"/>
                </a:cubicBezTo>
                <a:cubicBezTo>
                  <a:pt x="4608" y="3488"/>
                  <a:pt x="4796" y="3445"/>
                  <a:pt x="4999" y="3445"/>
                </a:cubicBezTo>
                <a:cubicBezTo>
                  <a:pt x="5201" y="3445"/>
                  <a:pt x="5389" y="3488"/>
                  <a:pt x="5563" y="3575"/>
                </a:cubicBezTo>
                <a:cubicBezTo>
                  <a:pt x="5735" y="3661"/>
                  <a:pt x="5872" y="3777"/>
                  <a:pt x="5974" y="3925"/>
                </a:cubicBezTo>
                <a:cubicBezTo>
                  <a:pt x="6075" y="4072"/>
                  <a:pt x="6126" y="4232"/>
                  <a:pt x="6126" y="4405"/>
                </a:cubicBezTo>
                <a:cubicBezTo>
                  <a:pt x="6126" y="4577"/>
                  <a:pt x="6075" y="4737"/>
                  <a:pt x="5974" y="4885"/>
                </a:cubicBezTo>
                <a:cubicBezTo>
                  <a:pt x="5872" y="5032"/>
                  <a:pt x="5735" y="5149"/>
                  <a:pt x="5563" y="5235"/>
                </a:cubicBezTo>
                <a:cubicBezTo>
                  <a:pt x="5389" y="5321"/>
                  <a:pt x="5201" y="5365"/>
                  <a:pt x="4999" y="5365"/>
                </a:cubicBezTo>
              </a:path>
            </a:pathLst>
          </a:custGeom>
          <a:solidFill>
            <a:srgbClr val="6B8F5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1"/>
          <p:nvPr/>
        </p:nvSpPr>
        <p:spPr>
          <a:xfrm>
            <a:off x="813737" y="5566023"/>
            <a:ext cx="775945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LONG-TERM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637295" y="5537448"/>
            <a:ext cx="561834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6B8F5E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全品类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618970" y="5785098"/>
            <a:ext cx="5342189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CBR框架可拓展至其他日化原料调配场景，逐步构建全品类料体调配的AI辅助工具体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系，形成持续迭代能力</a:t>
            </a:r>
            <a:endParaRPr sz="10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227793" y="2860178"/>
            <a:ext cx="5504073" cy="9525"/>
          </a:xfrm>
          <a:prstGeom prst="line">
            <a:avLst/>
          </a:prstGeom>
          <a:ln w="9525">
            <a:solidFill>
              <a:srgbClr val="D4CFC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TextBox 25"/>
          <p:cNvSpPr txBox="1"/>
          <p:nvPr/>
        </p:nvSpPr>
        <p:spPr>
          <a:xfrm>
            <a:off x="6227793" y="2507753"/>
            <a:ext cx="550407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A2E1F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当前局限与下一步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27793" y="2984003"/>
            <a:ext cx="5504073" cy="1075432"/>
          </a:xfrm>
          <a:prstGeom prst="rect">
            <a:avLst/>
          </a:prstGeom>
          <a:solidFill>
            <a:srgbClr val="ECE8DF">
              <a:alpha val="100000"/>
            </a:srgbClr>
          </a:solidFill>
          <a:ln w="9525">
            <a:solidFill>
              <a:srgbClr val="D4CFC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AutoShape 27"/>
          <p:cNvSpPr/>
          <p:nvPr/>
        </p:nvSpPr>
        <p:spPr>
          <a:xfrm>
            <a:off x="6372789" y="3215135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111" y="3853"/>
                </a:moveTo>
                <a:lnTo>
                  <a:pt x="1111" y="5000"/>
                </a:lnTo>
                <a:cubicBezTo>
                  <a:pt x="1111" y="5091"/>
                  <a:pt x="1177" y="5200"/>
                  <a:pt x="1311" y="5326"/>
                </a:cubicBezTo>
                <a:cubicBezTo>
                  <a:pt x="1466" y="5466"/>
                  <a:pt x="1684" y="5603"/>
                  <a:pt x="1966" y="5737"/>
                </a:cubicBezTo>
                <a:cubicBezTo>
                  <a:pt x="2351" y="5919"/>
                  <a:pt x="2807" y="6061"/>
                  <a:pt x="3333" y="6163"/>
                </a:cubicBezTo>
                <a:cubicBezTo>
                  <a:pt x="3858" y="6265"/>
                  <a:pt x="4413" y="6316"/>
                  <a:pt x="4999" y="6316"/>
                </a:cubicBezTo>
                <a:cubicBezTo>
                  <a:pt x="5584" y="6316"/>
                  <a:pt x="6139" y="6265"/>
                  <a:pt x="6665" y="6163"/>
                </a:cubicBezTo>
                <a:cubicBezTo>
                  <a:pt x="7191" y="6061"/>
                  <a:pt x="7646" y="5919"/>
                  <a:pt x="8032" y="5737"/>
                </a:cubicBezTo>
                <a:cubicBezTo>
                  <a:pt x="8313" y="5603"/>
                  <a:pt x="8531" y="5466"/>
                  <a:pt x="8687" y="5326"/>
                </a:cubicBezTo>
                <a:cubicBezTo>
                  <a:pt x="8820" y="5200"/>
                  <a:pt x="8887" y="5091"/>
                  <a:pt x="8887" y="5000"/>
                </a:cubicBezTo>
                <a:lnTo>
                  <a:pt x="8887" y="3853"/>
                </a:lnTo>
                <a:cubicBezTo>
                  <a:pt x="8420" y="4126"/>
                  <a:pt x="7853" y="4340"/>
                  <a:pt x="7187" y="4495"/>
                </a:cubicBezTo>
                <a:cubicBezTo>
                  <a:pt x="6498" y="4656"/>
                  <a:pt x="5769" y="4737"/>
                  <a:pt x="4999" y="4737"/>
                </a:cubicBezTo>
                <a:cubicBezTo>
                  <a:pt x="4229" y="4737"/>
                  <a:pt x="3499" y="4656"/>
                  <a:pt x="2811" y="4495"/>
                </a:cubicBezTo>
                <a:cubicBezTo>
                  <a:pt x="2144" y="4340"/>
                  <a:pt x="1577" y="4126"/>
                  <a:pt x="1111" y="3853"/>
                </a:cubicBezTo>
                <a:moveTo>
                  <a:pt x="8887" y="7632"/>
                </a:moveTo>
                <a:lnTo>
                  <a:pt x="8887" y="6484"/>
                </a:lnTo>
                <a:cubicBezTo>
                  <a:pt x="8420" y="6758"/>
                  <a:pt x="7853" y="6972"/>
                  <a:pt x="7187" y="7126"/>
                </a:cubicBezTo>
                <a:cubicBezTo>
                  <a:pt x="6498" y="7287"/>
                  <a:pt x="5769" y="7368"/>
                  <a:pt x="4999" y="7368"/>
                </a:cubicBezTo>
                <a:cubicBezTo>
                  <a:pt x="4229" y="7368"/>
                  <a:pt x="3499" y="7287"/>
                  <a:pt x="2811" y="7126"/>
                </a:cubicBezTo>
                <a:cubicBezTo>
                  <a:pt x="2144" y="6972"/>
                  <a:pt x="1577" y="6758"/>
                  <a:pt x="1111" y="6484"/>
                </a:cubicBezTo>
                <a:lnTo>
                  <a:pt x="1111" y="7632"/>
                </a:lnTo>
                <a:cubicBezTo>
                  <a:pt x="1111" y="7722"/>
                  <a:pt x="1177" y="7831"/>
                  <a:pt x="1311" y="7958"/>
                </a:cubicBezTo>
                <a:cubicBezTo>
                  <a:pt x="1466" y="8098"/>
                  <a:pt x="1684" y="8234"/>
                  <a:pt x="1966" y="8368"/>
                </a:cubicBezTo>
                <a:cubicBezTo>
                  <a:pt x="2351" y="8550"/>
                  <a:pt x="2807" y="8693"/>
                  <a:pt x="3333" y="8795"/>
                </a:cubicBezTo>
                <a:cubicBezTo>
                  <a:pt x="3858" y="8896"/>
                  <a:pt x="4413" y="8947"/>
                  <a:pt x="4999" y="8947"/>
                </a:cubicBezTo>
                <a:cubicBezTo>
                  <a:pt x="5584" y="8947"/>
                  <a:pt x="6139" y="8896"/>
                  <a:pt x="6665" y="8795"/>
                </a:cubicBezTo>
                <a:cubicBezTo>
                  <a:pt x="7191" y="8693"/>
                  <a:pt x="7646" y="8550"/>
                  <a:pt x="8032" y="8368"/>
                </a:cubicBezTo>
                <a:cubicBezTo>
                  <a:pt x="8313" y="8234"/>
                  <a:pt x="8531" y="8098"/>
                  <a:pt x="8687" y="7958"/>
                </a:cubicBezTo>
                <a:cubicBezTo>
                  <a:pt x="8820" y="7831"/>
                  <a:pt x="8887" y="7722"/>
                  <a:pt x="8887" y="7632"/>
                </a:cubicBezTo>
                <a:moveTo>
                  <a:pt x="0" y="7632"/>
                </a:moveTo>
                <a:lnTo>
                  <a:pt x="0" y="2368"/>
                </a:lnTo>
                <a:cubicBezTo>
                  <a:pt x="0" y="1940"/>
                  <a:pt x="226" y="1540"/>
                  <a:pt x="678" y="1168"/>
                </a:cubicBezTo>
                <a:cubicBezTo>
                  <a:pt x="1122" y="817"/>
                  <a:pt x="1721" y="536"/>
                  <a:pt x="2477" y="326"/>
                </a:cubicBezTo>
                <a:cubicBezTo>
                  <a:pt x="3255" y="108"/>
                  <a:pt x="4095" y="0"/>
                  <a:pt x="4999" y="0"/>
                </a:cubicBezTo>
                <a:cubicBezTo>
                  <a:pt x="5902" y="0"/>
                  <a:pt x="6743" y="108"/>
                  <a:pt x="7521" y="326"/>
                </a:cubicBezTo>
                <a:cubicBezTo>
                  <a:pt x="8276" y="536"/>
                  <a:pt x="8876" y="817"/>
                  <a:pt x="9320" y="1168"/>
                </a:cubicBezTo>
                <a:cubicBezTo>
                  <a:pt x="9772" y="1540"/>
                  <a:pt x="9998" y="1940"/>
                  <a:pt x="9998" y="2368"/>
                </a:cubicBezTo>
                <a:lnTo>
                  <a:pt x="9998" y="7632"/>
                </a:lnTo>
                <a:cubicBezTo>
                  <a:pt x="9998" y="8060"/>
                  <a:pt x="9772" y="8460"/>
                  <a:pt x="9320" y="8832"/>
                </a:cubicBezTo>
                <a:cubicBezTo>
                  <a:pt x="8876" y="9182"/>
                  <a:pt x="8276" y="9463"/>
                  <a:pt x="7521" y="9674"/>
                </a:cubicBezTo>
                <a:cubicBezTo>
                  <a:pt x="6743" y="9891"/>
                  <a:pt x="5902" y="10000"/>
                  <a:pt x="4999" y="10000"/>
                </a:cubicBezTo>
                <a:cubicBezTo>
                  <a:pt x="4095" y="10000"/>
                  <a:pt x="3255" y="9891"/>
                  <a:pt x="2477" y="9674"/>
                </a:cubicBezTo>
                <a:cubicBezTo>
                  <a:pt x="1721" y="9463"/>
                  <a:pt x="1122" y="9182"/>
                  <a:pt x="678" y="8832"/>
                </a:cubicBezTo>
                <a:cubicBezTo>
                  <a:pt x="226" y="8460"/>
                  <a:pt x="0" y="8060"/>
                  <a:pt x="0" y="7632"/>
                </a:cubicBezTo>
                <a:moveTo>
                  <a:pt x="4999" y="3684"/>
                </a:moveTo>
                <a:cubicBezTo>
                  <a:pt x="5584" y="3684"/>
                  <a:pt x="6139" y="3633"/>
                  <a:pt x="6665" y="3532"/>
                </a:cubicBezTo>
                <a:cubicBezTo>
                  <a:pt x="7191" y="3430"/>
                  <a:pt x="7646" y="3287"/>
                  <a:pt x="8032" y="3105"/>
                </a:cubicBezTo>
                <a:cubicBezTo>
                  <a:pt x="8313" y="2971"/>
                  <a:pt x="8531" y="2835"/>
                  <a:pt x="8687" y="2695"/>
                </a:cubicBezTo>
                <a:cubicBezTo>
                  <a:pt x="8820" y="2568"/>
                  <a:pt x="8887" y="2459"/>
                  <a:pt x="8887" y="2368"/>
                </a:cubicBezTo>
                <a:cubicBezTo>
                  <a:pt x="8887" y="2277"/>
                  <a:pt x="8820" y="2168"/>
                  <a:pt x="8687" y="2042"/>
                </a:cubicBezTo>
                <a:cubicBezTo>
                  <a:pt x="8531" y="1902"/>
                  <a:pt x="8313" y="1765"/>
                  <a:pt x="8032" y="1632"/>
                </a:cubicBezTo>
                <a:cubicBezTo>
                  <a:pt x="7646" y="1449"/>
                  <a:pt x="7191" y="1307"/>
                  <a:pt x="6665" y="1205"/>
                </a:cubicBezTo>
                <a:cubicBezTo>
                  <a:pt x="6139" y="1103"/>
                  <a:pt x="5584" y="1053"/>
                  <a:pt x="4999" y="1053"/>
                </a:cubicBezTo>
                <a:cubicBezTo>
                  <a:pt x="4413" y="1053"/>
                  <a:pt x="3858" y="1103"/>
                  <a:pt x="3333" y="1205"/>
                </a:cubicBezTo>
                <a:cubicBezTo>
                  <a:pt x="2807" y="1307"/>
                  <a:pt x="2351" y="1449"/>
                  <a:pt x="1966" y="1632"/>
                </a:cubicBezTo>
                <a:cubicBezTo>
                  <a:pt x="1684" y="1765"/>
                  <a:pt x="1466" y="1902"/>
                  <a:pt x="1311" y="2042"/>
                </a:cubicBezTo>
                <a:cubicBezTo>
                  <a:pt x="1177" y="2168"/>
                  <a:pt x="1111" y="2277"/>
                  <a:pt x="1111" y="2368"/>
                </a:cubicBezTo>
                <a:cubicBezTo>
                  <a:pt x="1111" y="2459"/>
                  <a:pt x="1177" y="2568"/>
                  <a:pt x="1311" y="2695"/>
                </a:cubicBezTo>
                <a:cubicBezTo>
                  <a:pt x="1466" y="2835"/>
                  <a:pt x="1684" y="2971"/>
                  <a:pt x="1966" y="3105"/>
                </a:cubicBezTo>
                <a:cubicBezTo>
                  <a:pt x="2351" y="3287"/>
                  <a:pt x="2807" y="3430"/>
                  <a:pt x="3333" y="3532"/>
                </a:cubicBezTo>
                <a:cubicBezTo>
                  <a:pt x="3858" y="3633"/>
                  <a:pt x="4413" y="3684"/>
                  <a:pt x="4999" y="3684"/>
                </a:cubicBezTo>
              </a:path>
            </a:pathLst>
          </a:custGeom>
          <a:solidFill>
            <a:srgbClr val="6B8F5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8" name="TextBox 28"/>
          <p:cNvSpPr txBox="1"/>
          <p:nvPr/>
        </p:nvSpPr>
        <p:spPr>
          <a:xfrm>
            <a:off x="6584445" y="3224660"/>
            <a:ext cx="343856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DATA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6975913" y="3196085"/>
            <a:ext cx="485803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6B8F5E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3个月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6389677" y="3443735"/>
            <a:ext cx="5342189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原型使用模拟数据，实际落地需在单条产线进行3个月真实批次数据积累与效果验证，确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认推荐精度与采纳率</a:t>
            </a:r>
            <a:endParaRPr sz="10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227793" y="4154686"/>
            <a:ext cx="5504073" cy="1075432"/>
          </a:xfrm>
          <a:prstGeom prst="rect">
            <a:avLst/>
          </a:prstGeom>
          <a:solidFill>
            <a:srgbClr val="ECE8DF">
              <a:alpha val="100000"/>
            </a:srgbClr>
          </a:solidFill>
          <a:ln w="9525">
            <a:solidFill>
              <a:srgbClr val="D4CFC3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AutoShape 32"/>
          <p:cNvSpPr/>
          <p:nvPr/>
        </p:nvSpPr>
        <p:spPr>
          <a:xfrm>
            <a:off x="6372789" y="4385815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909"/>
                </a:moveTo>
                <a:cubicBezTo>
                  <a:pt x="4693" y="909"/>
                  <a:pt x="4411" y="969"/>
                  <a:pt x="4155" y="1091"/>
                </a:cubicBezTo>
                <a:cubicBezTo>
                  <a:pt x="3897" y="1212"/>
                  <a:pt x="3694" y="1377"/>
                  <a:pt x="3545" y="1586"/>
                </a:cubicBezTo>
                <a:cubicBezTo>
                  <a:pt x="3395" y="1795"/>
                  <a:pt x="3321" y="2024"/>
                  <a:pt x="3321" y="2273"/>
                </a:cubicBezTo>
                <a:lnTo>
                  <a:pt x="3321" y="4091"/>
                </a:lnTo>
                <a:cubicBezTo>
                  <a:pt x="3321" y="4339"/>
                  <a:pt x="3395" y="4568"/>
                  <a:pt x="3545" y="4777"/>
                </a:cubicBezTo>
                <a:cubicBezTo>
                  <a:pt x="3694" y="4986"/>
                  <a:pt x="3897" y="5151"/>
                  <a:pt x="4155" y="5273"/>
                </a:cubicBezTo>
                <a:cubicBezTo>
                  <a:pt x="4411" y="5394"/>
                  <a:pt x="4693" y="5455"/>
                  <a:pt x="4999" y="5455"/>
                </a:cubicBezTo>
                <a:cubicBezTo>
                  <a:pt x="5305" y="5455"/>
                  <a:pt x="5586" y="5394"/>
                  <a:pt x="5843" y="5273"/>
                </a:cubicBezTo>
                <a:cubicBezTo>
                  <a:pt x="6100" y="5151"/>
                  <a:pt x="6303" y="4986"/>
                  <a:pt x="6453" y="4777"/>
                </a:cubicBezTo>
                <a:cubicBezTo>
                  <a:pt x="6602" y="4568"/>
                  <a:pt x="6677" y="4339"/>
                  <a:pt x="6677" y="4091"/>
                </a:cubicBezTo>
                <a:lnTo>
                  <a:pt x="6677" y="2273"/>
                </a:lnTo>
                <a:cubicBezTo>
                  <a:pt x="6677" y="2024"/>
                  <a:pt x="6602" y="1795"/>
                  <a:pt x="6453" y="1586"/>
                </a:cubicBezTo>
                <a:cubicBezTo>
                  <a:pt x="6303" y="1377"/>
                  <a:pt x="6100" y="1212"/>
                  <a:pt x="5843" y="1091"/>
                </a:cubicBezTo>
                <a:cubicBezTo>
                  <a:pt x="5586" y="969"/>
                  <a:pt x="5305" y="909"/>
                  <a:pt x="4999" y="909"/>
                </a:cubicBezTo>
                <a:moveTo>
                  <a:pt x="4999" y="0"/>
                </a:moveTo>
                <a:cubicBezTo>
                  <a:pt x="5505" y="0"/>
                  <a:pt x="5973" y="101"/>
                  <a:pt x="6403" y="305"/>
                </a:cubicBezTo>
                <a:cubicBezTo>
                  <a:pt x="6831" y="507"/>
                  <a:pt x="7170" y="783"/>
                  <a:pt x="7420" y="1132"/>
                </a:cubicBezTo>
                <a:cubicBezTo>
                  <a:pt x="7670" y="1480"/>
                  <a:pt x="7795" y="1861"/>
                  <a:pt x="7795" y="2273"/>
                </a:cubicBezTo>
                <a:lnTo>
                  <a:pt x="7795" y="4091"/>
                </a:lnTo>
                <a:cubicBezTo>
                  <a:pt x="7795" y="4503"/>
                  <a:pt x="7670" y="4883"/>
                  <a:pt x="7420" y="5232"/>
                </a:cubicBezTo>
                <a:cubicBezTo>
                  <a:pt x="7170" y="5580"/>
                  <a:pt x="6831" y="5856"/>
                  <a:pt x="6403" y="6059"/>
                </a:cubicBezTo>
                <a:cubicBezTo>
                  <a:pt x="5973" y="6262"/>
                  <a:pt x="5505" y="6364"/>
                  <a:pt x="4999" y="6364"/>
                </a:cubicBezTo>
                <a:cubicBezTo>
                  <a:pt x="4492" y="6364"/>
                  <a:pt x="4024" y="6262"/>
                  <a:pt x="3595" y="6059"/>
                </a:cubicBezTo>
                <a:cubicBezTo>
                  <a:pt x="3166" y="5856"/>
                  <a:pt x="2827" y="5580"/>
                  <a:pt x="2578" y="5232"/>
                </a:cubicBezTo>
                <a:cubicBezTo>
                  <a:pt x="2328" y="4883"/>
                  <a:pt x="2203" y="4503"/>
                  <a:pt x="2203" y="4091"/>
                </a:cubicBezTo>
                <a:lnTo>
                  <a:pt x="2203" y="2273"/>
                </a:lnTo>
                <a:cubicBezTo>
                  <a:pt x="2203" y="1861"/>
                  <a:pt x="2328" y="1480"/>
                  <a:pt x="2578" y="1132"/>
                </a:cubicBezTo>
                <a:cubicBezTo>
                  <a:pt x="2827" y="783"/>
                  <a:pt x="3166" y="507"/>
                  <a:pt x="3595" y="305"/>
                </a:cubicBezTo>
                <a:cubicBezTo>
                  <a:pt x="4024" y="101"/>
                  <a:pt x="4492" y="0"/>
                  <a:pt x="4999" y="0"/>
                </a:cubicBezTo>
                <a:moveTo>
                  <a:pt x="0" y="4545"/>
                </a:moveTo>
                <a:lnTo>
                  <a:pt x="1130" y="4545"/>
                </a:lnTo>
                <a:cubicBezTo>
                  <a:pt x="1219" y="5054"/>
                  <a:pt x="1444" y="5516"/>
                  <a:pt x="1806" y="5932"/>
                </a:cubicBezTo>
                <a:cubicBezTo>
                  <a:pt x="2168" y="6347"/>
                  <a:pt x="2624" y="6673"/>
                  <a:pt x="3176" y="6909"/>
                </a:cubicBezTo>
                <a:cubicBezTo>
                  <a:pt x="3742" y="7151"/>
                  <a:pt x="4350" y="7273"/>
                  <a:pt x="4999" y="7273"/>
                </a:cubicBezTo>
                <a:cubicBezTo>
                  <a:pt x="5647" y="7273"/>
                  <a:pt x="6255" y="7151"/>
                  <a:pt x="6822" y="6909"/>
                </a:cubicBezTo>
                <a:cubicBezTo>
                  <a:pt x="7373" y="6673"/>
                  <a:pt x="7830" y="6347"/>
                  <a:pt x="8192" y="5932"/>
                </a:cubicBezTo>
                <a:cubicBezTo>
                  <a:pt x="8553" y="5516"/>
                  <a:pt x="8778" y="5054"/>
                  <a:pt x="8868" y="4545"/>
                </a:cubicBezTo>
                <a:lnTo>
                  <a:pt x="9998" y="4545"/>
                </a:lnTo>
                <a:cubicBezTo>
                  <a:pt x="9916" y="5169"/>
                  <a:pt x="9666" y="5748"/>
                  <a:pt x="9249" y="6282"/>
                </a:cubicBezTo>
                <a:cubicBezTo>
                  <a:pt x="8846" y="6797"/>
                  <a:pt x="8328" y="7218"/>
                  <a:pt x="7694" y="7545"/>
                </a:cubicBezTo>
                <a:cubicBezTo>
                  <a:pt x="7038" y="7885"/>
                  <a:pt x="6326" y="8088"/>
                  <a:pt x="5558" y="8155"/>
                </a:cubicBezTo>
                <a:lnTo>
                  <a:pt x="5558" y="10000"/>
                </a:lnTo>
                <a:lnTo>
                  <a:pt x="4440" y="10000"/>
                </a:lnTo>
                <a:lnTo>
                  <a:pt x="4440" y="8155"/>
                </a:lnTo>
                <a:cubicBezTo>
                  <a:pt x="3672" y="8088"/>
                  <a:pt x="2960" y="7885"/>
                  <a:pt x="2304" y="7545"/>
                </a:cubicBezTo>
                <a:cubicBezTo>
                  <a:pt x="1670" y="7218"/>
                  <a:pt x="1151" y="6797"/>
                  <a:pt x="749" y="6282"/>
                </a:cubicBezTo>
                <a:cubicBezTo>
                  <a:pt x="331" y="5748"/>
                  <a:pt x="82" y="5169"/>
                  <a:pt x="0" y="4545"/>
                </a:cubicBezTo>
              </a:path>
            </a:pathLst>
          </a:custGeom>
          <a:solidFill>
            <a:srgbClr val="6B8F5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3" name="TextBox 33"/>
          <p:cNvSpPr txBox="1"/>
          <p:nvPr/>
        </p:nvSpPr>
        <p:spPr>
          <a:xfrm>
            <a:off x="6584445" y="4395340"/>
            <a:ext cx="622690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2E1F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CAPTURE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6389677" y="4614415"/>
            <a:ext cx="5342189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定性标签的"低打扰"采集方式需在实际操作中验证，计划测试语音转写和快捷点选两种方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2E1F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案的可行性与准确率</a:t>
            </a:r>
            <a:endParaRPr sz="1000" b="0" i="0" strike="noStrike">
              <a:solidFill>
                <a:srgbClr val="1A2E1F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19610" cy="6764020"/>
          </a:xfrm>
          <a:prstGeom prst="rect">
            <a:avLst/>
          </a:prstGeom>
        </p:spPr>
      </p:pic>
      <p:sp>
        <p:nvSpPr>
          <p:cNvPr id="40" name="TextBox 4"/>
          <p:cNvSpPr txBox="1"/>
          <p:nvPr/>
        </p:nvSpPr>
        <p:spPr>
          <a:xfrm>
            <a:off x="365011" y="62611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2E1F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项目价值与下一步计划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30196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5895542" y="2537965"/>
            <a:ext cx="6293410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5F1E8">
                    <a:alpha val="7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Q &amp; A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2349557" y="2971353"/>
            <a:ext cx="7489838" cy="7962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700" b="1" i="0" strike="noStrike">
                <a:solidFill>
                  <a:srgbClr val="F5F1E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感谢聆听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2433550" y="4034285"/>
            <a:ext cx="7321852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5F1E8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智调大师 · 让经验不再是黑箱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055ea08f9a066d78c4cdc9c8e1055bdd0b6de78"/>
  <p:tag name="KSO_WM_NEWLAYOUT_GROUP_ID" val="layout_10009"/>
  <p:tag name="KSO_WM_NEWLAYOUT_ID" val="slide_271e292e8ce0feb0"/>
</p:tagLst>
</file>

<file path=ppt/tags/tag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DIAGRAM_VIRTUALLY_FRAME" val="{&quot;height&quot;:333.75,&quot;left&quot;:35.991023622047244,&quot;top&quot;:170.25,&quot;width&quot;:887.7779527559054}"/>
</p:tagLst>
</file>

<file path=ppt/tags/tag12.xml><?xml version="1.0" encoding="utf-8"?>
<p:tagLst xmlns:p="http://schemas.openxmlformats.org/presentationml/2006/main">
  <p:tag name="KSO_WM_DIAGRAM_VIRTUALLY_FRAME" val="{&quot;height&quot;:333.75,&quot;left&quot;:35.991023622047244,&quot;top&quot;:170.25,&quot;width&quot;:887.7779527559054}"/>
</p:tagLst>
</file>

<file path=ppt/tags/tag13.xml><?xml version="1.0" encoding="utf-8"?>
<p:tagLst xmlns:p="http://schemas.openxmlformats.org/presentationml/2006/main">
  <p:tag name="KSO_WM_DIAGRAM_VIRTUALLY_FRAME" val="{&quot;height&quot;:333.75,&quot;left&quot;:35.991023622047244,&quot;top&quot;:170.25,&quot;width&quot;:887.7779527559054}"/>
</p:tagLst>
</file>

<file path=ppt/tags/tag14.xml><?xml version="1.0" encoding="utf-8"?>
<p:tagLst xmlns:p="http://schemas.openxmlformats.org/presentationml/2006/main">
  <p:tag name="KSO_WM_DIAGRAM_VIRTUALLY_FRAME" val="{&quot;height&quot;:333.75,&quot;left&quot;:35.991023622047244,&quot;top&quot;:170.25,&quot;width&quot;:887.7779527559054}"/>
</p:tagLst>
</file>

<file path=ppt/tags/tag15.xml><?xml version="1.0" encoding="utf-8"?>
<p:tagLst xmlns:p="http://schemas.openxmlformats.org/presentationml/2006/main">
  <p:tag name="KSO_WM_DIAGRAM_VIRTUALLY_FRAME" val="{&quot;height&quot;:333.75,&quot;left&quot;:35.991023622047244,&quot;top&quot;:170.25,&quot;width&quot;:887.7779527559054}"/>
</p:tagLst>
</file>

<file path=ppt/tags/tag16.xml><?xml version="1.0" encoding="utf-8"?>
<p:tagLst xmlns:p="http://schemas.openxmlformats.org/presentationml/2006/main">
  <p:tag name="KSO_WM_DIAGRAM_VIRTUALLY_FRAME" val="{&quot;height&quot;:333.75,&quot;left&quot;:35.991023622047244,&quot;top&quot;:170.25,&quot;width&quot;:887.7779527559054}"/>
</p:tagLst>
</file>

<file path=ppt/tags/tag17.xml><?xml version="1.0" encoding="utf-8"?>
<p:tagLst xmlns:p="http://schemas.openxmlformats.org/presentationml/2006/main">
  <p:tag name="KSO_WM_DIAGRAM_VIRTUALLY_FRAME" val="{&quot;height&quot;:333.75,&quot;left&quot;:35.991023622047244,&quot;top&quot;:170.25,&quot;width&quot;:887.7779527559054}"/>
</p:tagLst>
</file>

<file path=ppt/tags/tag18.xml><?xml version="1.0" encoding="utf-8"?>
<p:tagLst xmlns:p="http://schemas.openxmlformats.org/presentationml/2006/main">
  <p:tag name="KSO_WM_DIAGRAM_VIRTUALLY_FRAME" val="{&quot;height&quot;:333.75,&quot;left&quot;:35.991023622047244,&quot;top&quot;:170.25,&quot;width&quot;:887.7779527559054}"/>
</p:tagLst>
</file>

<file path=ppt/tags/tag19.xml><?xml version="1.0" encoding="utf-8"?>
<p:tagLst xmlns:p="http://schemas.openxmlformats.org/presentationml/2006/main">
  <p:tag name="KSO_WM_DIAGRAM_VIRTUALLY_FRAME" val="{&quot;height&quot;:333.75,&quot;left&quot;:35.991023622047244,&quot;top&quot;:170.25,&quot;width&quot;:887.7779527559054}"/>
</p:tagLst>
</file>

<file path=ppt/tags/tag20.xml><?xml version="1.0" encoding="utf-8"?>
<p:tagLst xmlns:p="http://schemas.openxmlformats.org/presentationml/2006/main">
  <p:tag name="KSO_WM_DIAGRAM_VIRTUALLY_FRAME" val="{&quot;height&quot;:333.75,&quot;left&quot;:35.991023622047244,&quot;top&quot;:170.25,&quot;width&quot;:887.7779527559054}"/>
</p:tagLst>
</file>

<file path=ppt/tags/tag21.xml><?xml version="1.0" encoding="utf-8"?>
<p:tagLst xmlns:p="http://schemas.openxmlformats.org/presentationml/2006/main">
  <p:tag name="KSO_WM_DIAGRAM_VIRTUALLY_FRAME" val="{&quot;height&quot;:333.75,&quot;left&quot;:35.991023622047244,&quot;top&quot;:170.25,&quot;width&quot;:887.7779527559054}"/>
</p:tagLst>
</file>

<file path=ppt/tags/tag22.xml><?xml version="1.0" encoding="utf-8"?>
<p:tagLst xmlns:p="http://schemas.openxmlformats.org/presentationml/2006/main">
  <p:tag name="KSO_WM_DIAGRAM_VIRTUALLY_FRAME" val="{&quot;height&quot;:333.75,&quot;left&quot;:35.991023622047244,&quot;top&quot;:170.25,&quot;width&quot;:887.7779527559054}"/>
</p:tagLst>
</file>

<file path=ppt/tags/tag23.xml><?xml version="1.0" encoding="utf-8"?>
<p:tagLst xmlns:p="http://schemas.openxmlformats.org/presentationml/2006/main">
  <p:tag name="KSO_WM_DIAGRAM_VIRTUALLY_FRAME" val="{&quot;height&quot;:333.75,&quot;left&quot;:35.991023622047244,&quot;top&quot;:170.25,&quot;width&quot;:887.7779527559054}"/>
</p:tagLst>
</file>

<file path=ppt/tags/tag24.xml><?xml version="1.0" encoding="utf-8"?>
<p:tagLst xmlns:p="http://schemas.openxmlformats.org/presentationml/2006/main">
  <p:tag name="KSO_WM_DIAGRAM_VIRTUALLY_FRAME" val="{&quot;height&quot;:333.75,&quot;left&quot;:35.991023622047244,&quot;top&quot;:170.25,&quot;width&quot;:887.7779527559054}"/>
</p:tagLst>
</file>

<file path=ppt/tags/tag25.xml><?xml version="1.0" encoding="utf-8"?>
<p:tagLst xmlns:p="http://schemas.openxmlformats.org/presentationml/2006/main">
  <p:tag name="KSO_WM_DIAGRAM_VIRTUALLY_FRAME" val="{&quot;height&quot;:333.75,&quot;left&quot;:35.991023622047244,&quot;top&quot;:170.25,&quot;width&quot;:887.7779527559054}"/>
</p:tagLst>
</file>

<file path=ppt/tags/tag26.xml><?xml version="1.0" encoding="utf-8"?>
<p:tagLst xmlns:p="http://schemas.openxmlformats.org/presentationml/2006/main">
  <p:tag name="KSO_WM_DIAGRAM_VIRTUALLY_FRAME" val="{&quot;height&quot;:333.75,&quot;left&quot;:35.991023622047244,&quot;top&quot;:170.25,&quot;width&quot;:887.7779527559054}"/>
</p:tagLst>
</file>

<file path=ppt/tags/tag27.xml><?xml version="1.0" encoding="utf-8"?>
<p:tagLst xmlns:p="http://schemas.openxmlformats.org/presentationml/2006/main">
  <p:tag name="KSO_WM_DIAGRAM_VIRTUALLY_FRAME" val="{&quot;height&quot;:217.52338582677166,&quot;left&quot;:51.73708661417322,&quot;top&quot;:242.22661417322834,&quot;width&quot;:856.6373228346456}"/>
</p:tagLst>
</file>

<file path=ppt/tags/tag28.xml><?xml version="1.0" encoding="utf-8"?>
<p:tagLst xmlns:p="http://schemas.openxmlformats.org/presentationml/2006/main">
  <p:tag name="KSO_WM_DIAGRAM_VIRTUALLY_FRAME" val="{&quot;height&quot;:217.52338582677166,&quot;left&quot;:51.73708661417322,&quot;top&quot;:242.22661417322834,&quot;width&quot;:856.6373228346456}"/>
</p:tagLst>
</file>

<file path=ppt/tags/tag29.xml><?xml version="1.0" encoding="utf-8"?>
<p:tagLst xmlns:p="http://schemas.openxmlformats.org/presentationml/2006/main">
  <p:tag name="KSO_WM_DIAGRAM_VIRTUALLY_FRAME" val="{&quot;height&quot;:217.52338582677166,&quot;left&quot;:51.73708661417322,&quot;top&quot;:242.22661417322834,&quot;width&quot;:856.6373228346456}"/>
</p:tagLst>
</file>

<file path=ppt/tags/tag30.xml><?xml version="1.0" encoding="utf-8"?>
<p:tagLst xmlns:p="http://schemas.openxmlformats.org/presentationml/2006/main">
  <p:tag name="KSO_WM_DIAGRAM_VIRTUALLY_FRAME" val="{&quot;height&quot;:217.52338582677166,&quot;left&quot;:51.73708661417322,&quot;top&quot;:242.22661417322834,&quot;width&quot;:856.6373228346456}"/>
</p:tagLst>
</file>

<file path=ppt/tags/tag31.xml><?xml version="1.0" encoding="utf-8"?>
<p:tagLst xmlns:p="http://schemas.openxmlformats.org/presentationml/2006/main">
  <p:tag name="KSO_WM_DIAGRAM_VIRTUALLY_FRAME" val="{&quot;height&quot;:217.52338582677166,&quot;left&quot;:51.73708661417322,&quot;top&quot;:242.22661417322834,&quot;width&quot;:856.6373228346456}"/>
</p:tagLst>
</file>

<file path=ppt/tags/tag32.xml><?xml version="1.0" encoding="utf-8"?>
<p:tagLst xmlns:p="http://schemas.openxmlformats.org/presentationml/2006/main">
  <p:tag name="KSO_WM_DIAGRAM_VIRTUALLY_FRAME" val="{&quot;height&quot;:217.52338582677166,&quot;left&quot;:51.73708661417322,&quot;top&quot;:242.22661417322834,&quot;width&quot;:856.6373228346456}"/>
</p:tagLst>
</file>

<file path=ppt/tags/tag33.xml><?xml version="1.0" encoding="utf-8"?>
<p:tagLst xmlns:p="http://schemas.openxmlformats.org/presentationml/2006/main">
  <p:tag name="KSO_WM_DIAGRAM_VIRTUALLY_FRAME" val="{&quot;height&quot;:217.52338582677166,&quot;left&quot;:51.73708661417322,&quot;top&quot;:242.22661417322834,&quot;width&quot;:856.6373228346456}"/>
</p:tagLst>
</file>

<file path=ppt/tags/tag34.xml><?xml version="1.0" encoding="utf-8"?>
<p:tagLst xmlns:p="http://schemas.openxmlformats.org/presentationml/2006/main">
  <p:tag name="KSO_WM_DIAGRAM_VIRTUALLY_FRAME" val="{&quot;height&quot;:217.52338582677166,&quot;left&quot;:51.73708661417322,&quot;top&quot;:242.22661417322834,&quot;width&quot;:856.6373228346456}"/>
</p:tagLst>
</file>

<file path=ppt/tags/tag35.xml><?xml version="1.0" encoding="utf-8"?>
<p:tagLst xmlns:p="http://schemas.openxmlformats.org/presentationml/2006/main">
  <p:tag name="KSO_WM_DIAGRAM_VIRTUALLY_FRAME" val="{&quot;height&quot;:217.52338582677166,&quot;left&quot;:51.73708661417322,&quot;top&quot;:242.22661417322834,&quot;width&quot;:856.6373228346456}"/>
</p:tagLst>
</file>

<file path=ppt/tags/tag36.xml><?xml version="1.0" encoding="utf-8"?>
<p:tagLst xmlns:p="http://schemas.openxmlformats.org/presentationml/2006/main">
  <p:tag name="KSO_WM_DIAGRAM_VIRTUALLY_FRAME" val="{&quot;height&quot;:217.52338582677166,&quot;left&quot;:51.73708661417322,&quot;top&quot;:242.22661417322834,&quot;width&quot;:856.6373228346456}"/>
</p:tagLst>
</file>

<file path=ppt/tags/tag37.xml><?xml version="1.0" encoding="utf-8"?>
<p:tagLst xmlns:p="http://schemas.openxmlformats.org/presentationml/2006/main">
  <p:tag name="KSO_WM_DIAGRAM_VIRTUALLY_FRAME" val="{&quot;height&quot;:217.52338582677166,&quot;left&quot;:51.73708661417322,&quot;top&quot;:242.22661417322834,&quot;width&quot;:856.6373228346456}"/>
</p:tagLst>
</file>

<file path=ppt/tags/tag38.xml><?xml version="1.0" encoding="utf-8"?>
<p:tagLst xmlns:p="http://schemas.openxmlformats.org/presentationml/2006/main">
  <p:tag name="KSO_WM_DIAGRAM_VIRTUALLY_FRAME" val="{&quot;height&quot;:217.52338582677166,&quot;left&quot;:51.73708661417322,&quot;top&quot;:242.22661417322834,&quot;width&quot;:856.637322834645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2696</Words>
  <Application>WPS 演示</Application>
  <PresentationFormat>On-screen Show (4:3)</PresentationFormat>
  <Paragraphs>275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宋体</vt:lpstr>
      <vt:lpstr>Wingdings</vt:lpstr>
      <vt:lpstr>Alibaba PuHuiTi 3.0 55 Regular</vt:lpstr>
      <vt:lpstr>Segoe Print</vt:lpstr>
      <vt:lpstr>FZYaYiHei GB18030L2 R</vt:lpstr>
      <vt:lpstr>Inter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王俊翔</cp:lastModifiedBy>
  <cp:revision>6</cp:revision>
  <dcterms:created xsi:type="dcterms:W3CDTF">2006-08-16T00:00:00Z</dcterms:created>
  <dcterms:modified xsi:type="dcterms:W3CDTF">2026-07-23T18:27:03Z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26025E654A5645F28411968EFD445C18_13</vt:lpwstr>
  </property>
</Properties>
</file>