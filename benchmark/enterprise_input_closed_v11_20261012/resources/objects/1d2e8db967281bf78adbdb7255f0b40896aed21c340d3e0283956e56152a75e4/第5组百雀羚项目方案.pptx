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</p:sldMasterIdLst>
  <p:notesMasterIdLst>
    <p:notesMasterId r:id="rId19"/>
  </p:notesMasterIdLst>
  <p:sldIdLst>
    <p:sldId id="256" r:id="rId18"/>
    <p:sldId id="257" r:id="rId20"/>
    <p:sldId id="265" r:id="rId21"/>
    <p:sldId id="266" r:id="rId22"/>
    <p:sldId id="273" r:id="rId23"/>
    <p:sldId id="274" r:id="rId24"/>
    <p:sldId id="275" r:id="rId25"/>
    <p:sldId id="267" r:id="rId26"/>
    <p:sldId id="268" r:id="rId27"/>
    <p:sldId id="269" r:id="rId28"/>
    <p:sldId id="270" r:id="rId29"/>
    <p:sldId id="272" r:id="rId30"/>
    <p:sldId id="271" r:id="rId31"/>
    <p:sldId id="276" r:id="rId32"/>
    <p:sldId id="277" r:id="rId33"/>
    <p:sldId id="278" r:id="rId34"/>
    <p:sldId id="264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17.xml"/><Relationship Id="rId34" Type="http://schemas.openxmlformats.org/officeDocument/2006/relationships/slide" Target="slides/slide16.xml"/><Relationship Id="rId33" Type="http://schemas.openxmlformats.org/officeDocument/2006/relationships/slide" Target="slides/slide15.xml"/><Relationship Id="rId32" Type="http://schemas.openxmlformats.org/officeDocument/2006/relationships/slide" Target="slides/slide14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1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20" Type="http://schemas.openxmlformats.org/officeDocument/2006/relationships/slide" Target="slides/slide2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第5组，我是汪嫣然，这位是蒋逸舟。今天我们带来的项目是“百雀羚18-25岁用户护肤使用问题解决方案”。我们将探讨如何通过数字化手段，解决年轻用户在使用百雀羚产品时遇到的困惑，从而提升用户体验和品牌忠诚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会介绍项目的背景，阐述当前年轻消费者面临的护肤困境。接着，我们会深入分析目标用户画像。然后，我们将定义核心问题并进行需求分析。第四部分是我们的技术解决方案。之后，我们会展示产品原型。最后，我们将探讨项目对企业的价值以及未来的迭代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9.xml"/><Relationship Id="rId15" Type="http://schemas.openxmlformats.org/officeDocument/2006/relationships/image" Target="../media/image8.svg"/><Relationship Id="rId14" Type="http://schemas.openxmlformats.org/officeDocument/2006/relationships/image" Target="../media/image7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6.sv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14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75" y="0"/>
            <a:ext cx="12248515" cy="6864350"/>
          </a:xfrm>
          <a:prstGeom prst="rect">
            <a:avLst/>
          </a:prstGeom>
          <a:solidFill>
            <a:schemeClr val="bg1">
              <a:alpha val="4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412750" y="1788160"/>
            <a:ext cx="1143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600" b="1">
                <a:solidFill>
                  <a:srgbClr val="1A28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寻韵东方 · 焕新肌秘</a:t>
            </a:r>
            <a:endParaRPr lang="en-US" sz="6600" b="1">
              <a:solidFill>
                <a:srgbClr val="1A282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467485" y="502348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8372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第5组</a:t>
            </a:r>
            <a:r>
              <a:rPr lang="en-US" sz="1800" b="0" i="0" u="none" strike="noStrike">
                <a:solidFill>
                  <a:srgbClr val="3C4B4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| </a:t>
            </a:r>
            <a:r>
              <a:rPr lang="en-US" sz="1800" b="1">
                <a:solidFill>
                  <a:srgbClr val="1A28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百雀羚18-25岁用户护肤使用</a:t>
            </a:r>
            <a:r>
              <a:rPr lang="zh-CN" altLang="en-US" sz="1800" b="1">
                <a:solidFill>
                  <a:srgbClr val="1A28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</a:t>
            </a:r>
            <a:r>
              <a:rPr lang="en-US" sz="1800" b="1">
                <a:solidFill>
                  <a:srgbClr val="1A28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题解决方案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-1467485" y="584898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46554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小组</a:t>
            </a:r>
            <a:r>
              <a:rPr lang="en-US" sz="2800" b="1" i="0" u="none" strike="noStrike">
                <a:solidFill>
                  <a:srgbClr val="46554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成员：汪嫣然   蒋逸舟</a:t>
            </a:r>
            <a:endParaRPr lang="en-US" sz="2800" b="1" i="0" u="none" strike="noStrike">
              <a:solidFill>
                <a:srgbClr val="46554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78155" y="699770"/>
            <a:ext cx="1097534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</a:t>
            </a:r>
            <a:r>
              <a:rPr lang="en-US" sz="32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课题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endParaRPr lang="en-US" sz="1600"/>
          </a:p>
          <a:p>
            <a:pPr marL="0" indent="457200" algn="l">
              <a:lnSpc>
                <a:spcPct val="133000"/>
              </a:lnSpc>
            </a:pPr>
            <a:r>
              <a:rPr lang="zh-CN" altLang="en-US" sz="2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 18-25 岁百雀羚年轻购买用户，</a:t>
            </a:r>
            <a:endParaRPr lang="zh-CN" altLang="en-US" sz="2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4295" y="3041015"/>
            <a:ext cx="106356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解决大家在护肤步骤、产品搭配、用量频次、肤质适配等</a:t>
            </a:r>
            <a:r>
              <a:rPr lang="zh-CN" altLang="en-US" sz="2000" b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</a:t>
            </a:r>
            <a:r>
              <a:rPr lang="zh-CN" altLang="en-US" sz="20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下遇到的各类护肤品使用难题</a:t>
            </a: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5"/>
          <p:cNvSpPr/>
          <p:nvPr>
            <p:custDataLst>
              <p:tags r:id="rId2"/>
            </p:custDataLst>
          </p:nvPr>
        </p:nvSpPr>
        <p:spPr>
          <a:xfrm>
            <a:off x="889000" y="3612515"/>
            <a:ext cx="3302000" cy="2794000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0" y="3993515"/>
            <a:ext cx="508000" cy="508000"/>
          </a:xfrm>
          <a:prstGeom prst="rect">
            <a:avLst/>
          </a:prstGeom>
        </p:spPr>
      </p:pic>
      <p:sp>
        <p:nvSpPr>
          <p:cNvPr id="11" name="AutoShape 7"/>
          <p:cNvSpPr/>
          <p:nvPr>
            <p:custDataLst>
              <p:tags r:id="rId6"/>
            </p:custDataLst>
          </p:nvPr>
        </p:nvSpPr>
        <p:spPr>
          <a:xfrm>
            <a:off x="1143000" y="4755515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不了解产品用法</a:t>
            </a:r>
            <a:endParaRPr lang="zh-CN" altLang="en-US" sz="24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7"/>
            </p:custDataLst>
          </p:nvPr>
        </p:nvSpPr>
        <p:spPr>
          <a:xfrm>
            <a:off x="4445000" y="3612515"/>
            <a:ext cx="3302000" cy="2794000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2000" y="3993515"/>
            <a:ext cx="508000" cy="508000"/>
          </a:xfrm>
          <a:prstGeom prst="rect">
            <a:avLst/>
          </a:prstGeom>
        </p:spPr>
      </p:pic>
      <p:sp>
        <p:nvSpPr>
          <p:cNvPr id="14" name="AutoShape 11"/>
          <p:cNvSpPr/>
          <p:nvPr>
            <p:custDataLst>
              <p:tags r:id="rId11"/>
            </p:custDataLst>
          </p:nvPr>
        </p:nvSpPr>
        <p:spPr>
          <a:xfrm>
            <a:off x="4699000" y="4617085"/>
            <a:ext cx="2794000" cy="11798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使用后刺痛、闷痘，不知原因及应对办法</a:t>
            </a:r>
            <a:endParaRPr lang="zh-CN" altLang="en-US" sz="24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2"/>
            </p:custDataLst>
          </p:nvPr>
        </p:nvSpPr>
        <p:spPr>
          <a:xfrm>
            <a:off x="8001000" y="3612515"/>
            <a:ext cx="3302000" cy="2794000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98000" y="3993515"/>
            <a:ext cx="508000" cy="508000"/>
          </a:xfrm>
          <a:prstGeom prst="rect">
            <a:avLst/>
          </a:prstGeom>
        </p:spPr>
      </p:pic>
      <p:sp>
        <p:nvSpPr>
          <p:cNvPr id="17" name="AutoShape 15"/>
          <p:cNvSpPr/>
          <p:nvPr>
            <p:custDataLst>
              <p:tags r:id="rId16"/>
            </p:custDataLst>
          </p:nvPr>
        </p:nvSpPr>
        <p:spPr>
          <a:xfrm>
            <a:off x="8255000" y="4882515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个性化护肤方案</a:t>
            </a:r>
            <a:endParaRPr lang="zh-CN" altLang="en-US" sz="24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8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l" eaLnBrk="1" fontAlgn="auto" latinLnBrk="0" hangingPunct="1">
              <a:lnSpc>
                <a:spcPct val="150000"/>
              </a:lnSpc>
              <a:defRPr/>
            </a:pPr>
            <a:endParaRPr lang="zh-CN" altLang="en-US" sz="2000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画像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3291205" y="3890645"/>
            <a:ext cx="65278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fontAlgn="auto" latinLnBrk="0" hangingPunct="1">
              <a:lnSpc>
                <a:spcPct val="150000"/>
              </a:lnSpc>
            </a:pPr>
            <a:endParaRPr lang="zh-CN" altLang="en-US" sz="1800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SzTx/>
              <a:defRPr/>
            </a:pPr>
            <a:r>
              <a:rPr lang="zh-CN" altLang="en-US" sz="2400" b="1">
                <a:solidFill>
                  <a:srgbClr val="A3B89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ans SC" panose="020B0200000000000000" charset="-122"/>
              </a:rPr>
              <a:t>关键痛点：</a:t>
            </a:r>
            <a:endParaRPr lang="zh-CN" altLang="en-US" sz="2400" b="1" i="0" u="none" strike="noStrike">
              <a:solidFill>
                <a:srgbClr val="A3B899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ans SC" panose="020B0200000000000000" charset="-122"/>
            </a:endParaRPr>
          </a:p>
          <a:p>
            <a:pPr marL="190500" indent="0" algn="l" eaLnBrk="1" fontAlgn="auto" latinLnBrk="0" hangingPunct="1">
              <a:lnSpc>
                <a:spcPct val="150000"/>
              </a:lnSpc>
            </a:pPr>
            <a:r>
              <a:rPr 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护肤知识</a:t>
            </a:r>
            <a:r>
              <a:rPr lang="zh-CN" altLang="en-US" sz="1800" b="1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薄弱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，使用问题高发</a:t>
            </a:r>
            <a:endParaRPr lang="en-US" sz="18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 eaLnBrk="1" fontAlgn="auto" latinLnBrk="0" hangingPunct="1">
              <a:lnSpc>
                <a:spcPct val="150000"/>
              </a:lnSpc>
            </a:pPr>
            <a:r>
              <a:rPr 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信息获取碎片化，极易产生</a:t>
            </a:r>
            <a:r>
              <a:rPr lang="zh-CN" altLang="en-US" sz="1800" b="1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护肤误区</a:t>
            </a:r>
            <a:endParaRPr lang="zh-CN" altLang="en-US" sz="1800" b="1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 eaLnBrk="1" fontAlgn="auto" latinLnBrk="0" hangingPunct="1">
              <a:lnSpc>
                <a:spcPct val="150000"/>
              </a:lnSpc>
            </a:pPr>
            <a:r>
              <a:rPr 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优先线上</a:t>
            </a:r>
            <a:r>
              <a:rPr lang="zh-CN" altLang="en-US" sz="1800" b="1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自主查询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，不习惯电话售后</a:t>
            </a:r>
            <a:endParaRPr lang="zh-CN" altLang="en-US" sz="1800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 eaLnBrk="1" fontAlgn="auto" latinLnBrk="0" hangingPunct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</a:t>
            </a:r>
            <a:r>
              <a:rPr lang="zh-CN" altLang="en-US" sz="18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情绪敏感度高，体验落差极易</a:t>
            </a:r>
            <a:r>
              <a:rPr lang="zh-CN" altLang="en-US" sz="1800" b="1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转化差评</a:t>
            </a:r>
            <a:endParaRPr lang="zh-CN" altLang="en-US" sz="1800" b="1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eaLnBrk="1" fontAlgn="auto" latinLnBrk="0" hangingPunct="1">
              <a:lnSpc>
                <a:spcPct val="150000"/>
              </a:lnSpc>
            </a:pPr>
            <a:endParaRPr lang="en-US" altLang="en-US" sz="1800" b="1" i="1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73480"/>
            <a:ext cx="6128385" cy="29883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49415" y="2352040"/>
            <a:ext cx="539051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 eaLnBrk="1" fontAlgn="auto" latinLnBrk="0" hangingPunct="1">
              <a:lnSpc>
                <a:spcPct val="150000"/>
              </a:lnSpc>
              <a:defRPr/>
            </a:pPr>
            <a:r>
              <a:rPr lang="zh-CN" altLang="en-US" sz="2400" b="1">
                <a:solidFill>
                  <a:srgbClr val="A3B89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市场与消费</a:t>
            </a:r>
            <a:r>
              <a:rPr lang="en-US" sz="2400" b="1">
                <a:solidFill>
                  <a:srgbClr val="A3B89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endParaRPr lang="en-US" sz="2400"/>
          </a:p>
          <a:p>
            <a:pPr marL="0" indent="0" algn="l" eaLnBrk="1" fontAlgn="auto" latinLnBrk="0" hangingPunct="1">
              <a:lnSpc>
                <a:spcPct val="150000"/>
              </a:lnSpc>
            </a:pPr>
            <a:r>
              <a:rPr lang="en-US" sz="1600" b="1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标签：</a:t>
            </a:r>
            <a:r>
              <a:rPr lang="zh-CN" altLang="en-US" sz="16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核心增量客群</a:t>
            </a:r>
            <a:r>
              <a:rPr lang="en-US" sz="16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</a:t>
            </a:r>
            <a:r>
              <a:rPr lang="zh-CN" altLang="en-US" sz="1600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护肤需求崛起，预算偏向平价国货</a:t>
            </a:r>
            <a:endParaRPr lang="zh-CN" altLang="en-US" sz="1600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 sz="1600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竞品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分析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5285" y="5574030"/>
            <a:ext cx="11690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A282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调研渠道： 品牌官方网站； 抖音、小红书、微博等社交平台公示内容；品牌公开白皮书、行业报告；主流媒体报道与分析文章</a:t>
            </a:r>
            <a:endParaRPr lang="zh-CN" altLang="en-US" sz="1600" b="1">
              <a:solidFill>
                <a:srgbClr val="1A282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endParaRPr lang="zh-CN" altLang="en-US" sz="1600" b="1">
              <a:solidFill>
                <a:srgbClr val="1A282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5" y="1562735"/>
            <a:ext cx="11715750" cy="3172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竞品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分析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" y="1186180"/>
            <a:ext cx="12192000" cy="3238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5194300"/>
            <a:ext cx="1018222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竞品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分析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5" y="1289050"/>
            <a:ext cx="10579735" cy="4702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技术方案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950" y="2299970"/>
            <a:ext cx="4217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百雀羚可做的方向：</a:t>
            </a:r>
            <a:endParaRPr lang="zh-CN" altLang="en-US" sz="24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47490" y="1795145"/>
            <a:ext cx="4540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</a:t>
            </a:r>
            <a:r>
              <a:rPr lang="zh-CN" altLang="en-US" sz="24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肤质</a:t>
            </a:r>
            <a:r>
              <a:rPr lang="en-US" altLang="zh-CN" sz="24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+ </a:t>
            </a:r>
            <a:r>
              <a:rPr lang="zh-CN" altLang="en-US" sz="24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需求自测工具</a:t>
            </a:r>
            <a:endParaRPr lang="zh-CN" altLang="en-US" sz="2400" b="1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7"/>
          <p:cNvSpPr/>
          <p:nvPr>
            <p:custDataLst>
              <p:tags r:id="rId2"/>
            </p:custDataLst>
          </p:nvPr>
        </p:nvSpPr>
        <p:spPr>
          <a:xfrm>
            <a:off x="1279525" y="2900680"/>
            <a:ext cx="8486140" cy="917575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8"/>
          <p:cNvSpPr/>
          <p:nvPr>
            <p:custDataLst>
              <p:tags r:id="rId3"/>
            </p:custDataLst>
          </p:nvPr>
        </p:nvSpPr>
        <p:spPr>
          <a:xfrm>
            <a:off x="1673225" y="2964180"/>
            <a:ext cx="8029575" cy="6883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产品使用教程</a:t>
            </a:r>
            <a:r>
              <a:rPr 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en-US" sz="2000" b="0" i="0" u="none" strike="noStrike">
                <a:solidFill>
                  <a:srgbClr val="52624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提供</a:t>
            </a:r>
            <a:r>
              <a:rPr lang="zh-CN" altLang="en-US" sz="2000" b="0" i="0" u="none" strike="noStrike">
                <a:solidFill>
                  <a:srgbClr val="52624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用量可视化图鉴，精华/乳/霜/防晒各品类标准用量</a:t>
            </a:r>
            <a:endParaRPr lang="zh-CN" altLang="en-US" sz="2000" b="0" i="0" u="none" strike="noStrike">
              <a:solidFill>
                <a:srgbClr val="52624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25" y="219710"/>
            <a:ext cx="8082280" cy="2335530"/>
          </a:xfrm>
          <a:prstGeom prst="rect">
            <a:avLst/>
          </a:prstGeom>
        </p:spPr>
      </p:pic>
      <p:sp>
        <p:nvSpPr>
          <p:cNvPr id="12" name="AutoShape 7"/>
          <p:cNvSpPr/>
          <p:nvPr>
            <p:custDataLst>
              <p:tags r:id="rId5"/>
            </p:custDataLst>
          </p:nvPr>
        </p:nvSpPr>
        <p:spPr>
          <a:xfrm>
            <a:off x="1279525" y="4100195"/>
            <a:ext cx="8493125" cy="918210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8"/>
          <p:cNvSpPr/>
          <p:nvPr>
            <p:custDataLst>
              <p:tags r:id="rId6"/>
            </p:custDataLst>
          </p:nvPr>
        </p:nvSpPr>
        <p:spPr>
          <a:xfrm>
            <a:off x="1701165" y="4163695"/>
            <a:ext cx="8037830" cy="688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护肤步骤卡</a:t>
            </a:r>
            <a:r>
              <a:rPr 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zh-CN" altLang="en-US" sz="2000" b="0" i="0" u="none" strike="noStrike">
                <a:solidFill>
                  <a:srgbClr val="52624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用户输入产品和需求→输出个性化早晚护肤流程</a:t>
            </a:r>
            <a:endParaRPr lang="zh-CN" altLang="en-US" sz="2000" b="0" i="0" u="none" strike="noStrike">
              <a:solidFill>
                <a:srgbClr val="52624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7"/>
          <p:cNvSpPr/>
          <p:nvPr>
            <p:custDataLst>
              <p:tags r:id="rId7"/>
            </p:custDataLst>
          </p:nvPr>
        </p:nvSpPr>
        <p:spPr>
          <a:xfrm>
            <a:off x="1314450" y="5324475"/>
            <a:ext cx="8493125" cy="918210"/>
          </a:xfrm>
          <a:prstGeom prst="roundRect">
            <a:avLst>
              <a:gd name="adj" fmla="val 0"/>
            </a:avLst>
          </a:prstGeom>
          <a:solidFill>
            <a:srgbClr val="A3B8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8"/>
          <p:cNvSpPr/>
          <p:nvPr>
            <p:custDataLst>
              <p:tags r:id="rId8"/>
            </p:custDataLst>
          </p:nvPr>
        </p:nvSpPr>
        <p:spPr>
          <a:xfrm>
            <a:off x="1736090" y="5387975"/>
            <a:ext cx="8037830" cy="688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</a:t>
            </a:r>
            <a:r>
              <a:rPr lang="zh-CN" alt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产品护照</a:t>
            </a:r>
            <a:r>
              <a:rPr lang="en-US" altLang="zh-CN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”</a:t>
            </a:r>
            <a:r>
              <a:rPr lang="zh-CN" alt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功能</a:t>
            </a:r>
            <a:r>
              <a:rPr lang="en-US" sz="2000" b="1" i="0" u="none" strike="noStrike">
                <a:solidFill>
                  <a:srgbClr val="3C4B3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zh-CN" altLang="en-US" sz="2000" b="0" i="0" u="none" strike="noStrike">
                <a:solidFill>
                  <a:srgbClr val="52624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记录用户已购产品+使用反馈+效果跟踪输入</a:t>
            </a:r>
            <a:endParaRPr lang="zh-CN" altLang="en-US" sz="2000" b="0" i="0" u="none" strike="noStrike">
              <a:solidFill>
                <a:srgbClr val="52624D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985"/>
            <a:ext cx="12192000" cy="6188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870" r="-643"/>
          <a:stretch>
            <a:fillRect/>
          </a:stretch>
        </p:blipFill>
        <p:spPr>
          <a:xfrm>
            <a:off x="438150" y="895985"/>
            <a:ext cx="11831320" cy="6181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83" r="-112"/>
          <a:stretch>
            <a:fillRect/>
          </a:stretch>
        </p:blipFill>
        <p:spPr>
          <a:xfrm>
            <a:off x="793750" y="1013460"/>
            <a:ext cx="10748645" cy="572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75" y="912495"/>
            <a:ext cx="9374505" cy="5945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95" y="998220"/>
            <a:ext cx="9639300" cy="5713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原型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展示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505"/>
            <a:ext cx="12192000" cy="5366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6. 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企业价值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1079500" y="1271270"/>
            <a:ext cx="9416415" cy="1142365"/>
          </a:xfrm>
          <a:prstGeom prst="roundRect">
            <a:avLst>
              <a:gd name="adj" fmla="val 0"/>
            </a:avLst>
          </a:prstGeom>
          <a:solidFill>
            <a:srgbClr val="F5F5F5">
              <a:alpha val="9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文本框 6"/>
          <p:cNvSpPr txBox="1"/>
          <p:nvPr/>
        </p:nvSpPr>
        <p:spPr>
          <a:xfrm>
            <a:off x="1228725" y="1509395"/>
            <a:ext cx="9267190" cy="666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33000"/>
              </a:lnSpc>
              <a:defRPr/>
            </a:pPr>
            <a:r>
              <a:rPr lang="zh-CN" alt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售后端落地</a:t>
            </a:r>
            <a:r>
              <a:rPr 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zh-CN" altLang="en-US" sz="2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降低客服负荷，完善购后服务，打造差异化</a:t>
            </a:r>
            <a:r>
              <a:rPr lang="zh-CN" altLang="en-US" sz="2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竞争力</a:t>
            </a:r>
            <a:endParaRPr lang="zh-CN" altLang="en-US" sz="24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4"/>
          <p:cNvSpPr/>
          <p:nvPr/>
        </p:nvSpPr>
        <p:spPr>
          <a:xfrm>
            <a:off x="1082675" y="2600960"/>
            <a:ext cx="9416415" cy="1142365"/>
          </a:xfrm>
          <a:prstGeom prst="roundRect">
            <a:avLst>
              <a:gd name="adj" fmla="val 0"/>
            </a:avLst>
          </a:prstGeom>
          <a:solidFill>
            <a:srgbClr val="F5F5F5">
              <a:alpha val="9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文本框 7"/>
          <p:cNvSpPr txBox="1"/>
          <p:nvPr/>
        </p:nvSpPr>
        <p:spPr>
          <a:xfrm>
            <a:off x="1343025" y="2822575"/>
            <a:ext cx="7971790" cy="666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33000"/>
              </a:lnSpc>
              <a:defRPr/>
            </a:pPr>
            <a:r>
              <a:rPr lang="zh-CN" alt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品牌年轻化</a:t>
            </a:r>
            <a:r>
              <a:rPr 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zh-CN" altLang="en-US" sz="2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沉淀新生代用户，提升长期复购</a:t>
            </a:r>
            <a:r>
              <a:rPr lang="zh-CN" altLang="en-US" sz="2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潜力</a:t>
            </a:r>
            <a:endParaRPr lang="zh-CN" altLang="en-US" sz="24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4"/>
          <p:cNvSpPr/>
          <p:nvPr/>
        </p:nvSpPr>
        <p:spPr>
          <a:xfrm>
            <a:off x="1079500" y="3928110"/>
            <a:ext cx="9416415" cy="1142365"/>
          </a:xfrm>
          <a:prstGeom prst="roundRect">
            <a:avLst>
              <a:gd name="adj" fmla="val 0"/>
            </a:avLst>
          </a:prstGeom>
          <a:solidFill>
            <a:srgbClr val="F5F5F5">
              <a:alpha val="9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文本框 8"/>
          <p:cNvSpPr txBox="1"/>
          <p:nvPr/>
        </p:nvSpPr>
        <p:spPr>
          <a:xfrm>
            <a:off x="1390650" y="4149090"/>
            <a:ext cx="7971790" cy="666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33000"/>
              </a:lnSpc>
              <a:defRPr/>
            </a:pPr>
            <a:r>
              <a:rPr lang="zh-CN" alt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产品迭代落地</a:t>
            </a:r>
            <a:r>
              <a:rPr lang="en-US" sz="2800" b="1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lang="zh-CN" altLang="en-US" sz="2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收集真实痛点数据，形成业务闭环</a:t>
            </a:r>
            <a:endParaRPr lang="zh-CN" altLang="en-US" sz="24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7. AI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协同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1181735"/>
            <a:ext cx="11005820" cy="5480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sz="20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3516630" y="13398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7. AI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协同</a:t>
            </a:r>
            <a:endParaRPr lang="zh-CN" altLang="en-US" sz="36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895985"/>
            <a:ext cx="8646160" cy="5763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45025" y="2232025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3333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</a:t>
            </a:r>
            <a:endParaRPr lang="en-US" sz="5400" b="1" i="0" u="none" strike="noStrike">
              <a:solidFill>
                <a:srgbClr val="33333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2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3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4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5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6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7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8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9.xml><?xml version="1.0" encoding="utf-8"?>
<p:tagLst xmlns:p="http://schemas.openxmlformats.org/presentationml/2006/main">
  <p:tag name="KSO_WM_DIAGRAM_VIRTUALLY_FRAME" val="{&quot;height&quot;:220,&quot;left&quot;:70,&quot;top&quot;:230,&quot;width&quot;:820}"/>
</p:tagLst>
</file>

<file path=ppt/tags/tag10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ags/tag11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ags/tag12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ags/tag13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ags/tag14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ags/tag15.xml><?xml version="1.0" encoding="utf-8"?>
<p:tagLst xmlns:p="http://schemas.openxmlformats.org/presentationml/2006/main">
  <p:tag name="KSO_WM_DIAGRAM_VIRTUALLY_FRAME" val="{&quot;height&quot;:330.85,&quot;left&quot;:60,&quot;top&quot;:17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WPS 演示</Application>
  <PresentationFormat/>
  <Paragraphs>80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17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ui-sans-serif</vt:lpstr>
      <vt:lpstr>语文格子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WPS_1693713342</cp:lastModifiedBy>
  <cp:revision>13</cp:revision>
  <dcterms:created xsi:type="dcterms:W3CDTF">2026-07-23T11:12:35Z</dcterms:created>
  <dcterms:modified xsi:type="dcterms:W3CDTF">2026-07-23T12:17:17Z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{"Label":"1","ContentProducer":"001191110102MACQD9K64010000","ProduceID":"7665678771023121367","ReservedCode1":"","ContentPropagator":"","PropagateID":"","ReservedCode2":""}</vt:lpwstr>
  </property>
  <property fmtid="{D5CDD505-2E9C-101B-9397-08002B2CF9AE}" pid="3" name="ICV">
    <vt:lpwstr>4F8FDD49FEF0486D8AACE5267BEE6765_12</vt:lpwstr>
  </property>
  <property fmtid="{D5CDD505-2E9C-101B-9397-08002B2CF9AE}" pid="4" name="KSOProductBuildVer">
    <vt:lpwstr>2052-12.1.0.26895</vt:lpwstr>
  </property>
</Properties>
</file>