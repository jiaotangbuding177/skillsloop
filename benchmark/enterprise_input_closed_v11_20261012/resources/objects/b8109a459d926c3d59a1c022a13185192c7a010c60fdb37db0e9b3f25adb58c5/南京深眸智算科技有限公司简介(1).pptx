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155680" cy="6035040"/>
          </a:xfrm>
          <a:prstGeom prst="rect">
            <a:avLst/>
          </a:prstGeom>
          <a:noFill/>
        </p:spPr>
        <p:txBody>
          <a:bodyPr wrap="square">
            <a:spAutoFit/>
          </a:bodyPr>
          <a:lstStyle/>
          <a:p>
            <a:pPr>
              <a:spcAft>
                <a:spcPts val="300"/>
              </a:spcAft>
              <a:defRPr sz="1700">
                <a:solidFill>
                  <a:srgbClr val="192332"/>
                </a:solidFill>
                <a:latin typeface="Microsoft YaHei"/>
              </a:defRPr>
            </a:pPr>
            <a:r>
              <a:t>1.公司简介</a:t>
            </a:r>
          </a:p>
          <a:p>
            <a:pPr>
              <a:spcAft>
                <a:spcPts val="300"/>
              </a:spcAft>
              <a:defRPr sz="1700">
                <a:solidFill>
                  <a:srgbClr val="192332"/>
                </a:solidFill>
                <a:latin typeface="Microsoft YaHei"/>
              </a:defRPr>
            </a:pPr>
            <a:r>
              <a:t>       南京深眸智算科技有限公司前身为南京头部高校的学科实验室,拥有多项自主研</a:t>
            </a:r>
          </a:p>
          <a:p>
            <a:pPr>
              <a:spcAft>
                <a:spcPts val="300"/>
              </a:spcAft>
              <a:defRPr sz="1700">
                <a:solidFill>
                  <a:srgbClr val="192332"/>
                </a:solidFill>
                <a:latin typeface="Microsoft YaHei"/>
              </a:defRPr>
            </a:pPr>
            <a:r>
              <a:t>发专利与软著并获得多项省级以上大奖。依托高校在计算机、电子等跨学科能力,研究方向为机</a:t>
            </a:r>
          </a:p>
          <a:p>
            <a:pPr>
              <a:spcAft>
                <a:spcPts val="300"/>
              </a:spcAft>
              <a:defRPr sz="1700">
                <a:solidFill>
                  <a:srgbClr val="192332"/>
                </a:solidFill>
                <a:latin typeface="Microsoft YaHei"/>
              </a:defRPr>
            </a:pPr>
            <a:r>
              <a:t>器视觉、数字孪生、AI监控和预警、数字测量等。   </a:t>
            </a:r>
          </a:p>
          <a:p>
            <a:pPr>
              <a:spcAft>
                <a:spcPts val="300"/>
              </a:spcAft>
              <a:defRPr sz="1700">
                <a:solidFill>
                  <a:srgbClr val="192332"/>
                </a:solidFill>
                <a:latin typeface="Microsoft YaHei"/>
              </a:defRPr>
            </a:pPr>
            <a:r>
              <a:t>      目前,相关技术已在工业品生产全链智能检测、交通铁路轨道智能监控、交通桥梁</a:t>
            </a:r>
          </a:p>
          <a:p>
            <a:pPr>
              <a:spcAft>
                <a:spcPts val="300"/>
              </a:spcAft>
              <a:defRPr sz="1700">
                <a:solidFill>
                  <a:srgbClr val="192332"/>
                </a:solidFill>
                <a:latin typeface="Microsoft YaHei"/>
              </a:defRPr>
            </a:pPr>
            <a:r>
              <a:t>船舶防碰撞系统、物流仓储行业的人工智能+机器视觉新运用、自动驾驶、三维建模云系统等项</a:t>
            </a:r>
          </a:p>
          <a:p>
            <a:pPr>
              <a:spcAft>
                <a:spcPts val="300"/>
              </a:spcAft>
              <a:defRPr sz="1700">
                <a:solidFill>
                  <a:srgbClr val="192332"/>
                </a:solidFill>
                <a:latin typeface="Microsoft YaHei"/>
              </a:defRPr>
            </a:pPr>
            <a:r>
              <a:t>目上取得实际运用。     </a:t>
            </a:r>
          </a:p>
          <a:p>
            <a:pPr>
              <a:spcAft>
                <a:spcPts val="300"/>
              </a:spcAft>
              <a:defRPr sz="1700">
                <a:solidFill>
                  <a:srgbClr val="192332"/>
                </a:solidFill>
                <a:latin typeface="Microsoft YaHei"/>
              </a:defRPr>
            </a:pPr>
            <a:r>
              <a:t>       2025年,团队在六合区创业大赛中获得二等奖,并和当地经开区签约,作为</a:t>
            </a:r>
          </a:p>
          <a:p>
            <a:pPr>
              <a:spcAft>
                <a:spcPts val="300"/>
              </a:spcAft>
              <a:defRPr sz="1700">
                <a:solidFill>
                  <a:srgbClr val="192332"/>
                </a:solidFill>
                <a:latin typeface="Microsoft YaHei"/>
              </a:defRPr>
            </a:pPr>
            <a:r>
              <a:t>重点引进推广项目。</a:t>
            </a:r>
          </a:p>
          <a:p>
            <a:pPr>
              <a:spcAft>
                <a:spcPts val="300"/>
              </a:spcAft>
              <a:defRPr sz="1700">
                <a:solidFill>
                  <a:srgbClr val="192332"/>
                </a:solidFill>
                <a:latin typeface="Microsoft YaHei"/>
              </a:defRPr>
            </a:pPr>
          </a:p>
          <a:p>
            <a:pPr>
              <a:spcAft>
                <a:spcPts val="300"/>
              </a:spcAft>
              <a:defRPr sz="1700">
                <a:solidFill>
                  <a:srgbClr val="192332"/>
                </a:solidFill>
                <a:latin typeface="Microsoft YaHei"/>
              </a:defRPr>
            </a:pPr>
          </a:p>
          <a:p>
            <a:pPr>
              <a:spcAft>
                <a:spcPts val="300"/>
              </a:spcAft>
              <a:defRPr sz="1700">
                <a:solidFill>
                  <a:srgbClr val="192332"/>
                </a:solidFill>
                <a:latin typeface="Microsoft YaHei"/>
              </a:defRPr>
            </a:pPr>
          </a:p>
          <a:p>
            <a:pPr>
              <a:spcAft>
                <a:spcPts val="300"/>
              </a:spcAft>
              <a:defRPr sz="1700">
                <a:solidFill>
                  <a:srgbClr val="192332"/>
                </a:solidFill>
                <a:latin typeface="Microsoft YaHei"/>
              </a:defRPr>
            </a:pPr>
            <a:r>
              <a:t>1.公司简介</a:t>
            </a:r>
          </a:p>
          <a:p>
            <a:pPr>
              <a:spcAft>
                <a:spcPts val="300"/>
              </a:spcAft>
              <a:defRPr sz="1700">
                <a:solidFill>
                  <a:srgbClr val="192332"/>
                </a:solidFill>
                <a:latin typeface="Microsoft YaHei"/>
              </a:defRPr>
            </a:pPr>
            <a:r>
              <a:t>       南京深眸智算科技有限公司2026年3月落地六合经济开发区,注册资本金5</a:t>
            </a:r>
          </a:p>
          <a:p>
            <a:pPr>
              <a:spcAft>
                <a:spcPts val="300"/>
              </a:spcAft>
              <a:defRPr sz="1700">
                <a:solidFill>
                  <a:srgbClr val="192332"/>
                </a:solidFill>
                <a:latin typeface="Microsoft YaHei"/>
              </a:defRPr>
            </a:pPr>
            <a:r>
              <a:t>00万元,前期规划建设1200m2场地,其中包括办公室300 m2 、机器视觉科研实</a:t>
            </a:r>
          </a:p>
          <a:p>
            <a:pPr>
              <a:spcAft>
                <a:spcPts val="300"/>
              </a:spcAft>
              <a:defRPr sz="1700">
                <a:solidFill>
                  <a:srgbClr val="192332"/>
                </a:solidFill>
                <a:latin typeface="Microsoft YaHei"/>
              </a:defRPr>
            </a:pPr>
            <a:r>
              <a:t>验室200 m2 、研发平台600 m2 、产品展览厅100 m2等。</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155680" cy="6035040"/>
          </a:xfrm>
          <a:prstGeom prst="rect">
            <a:avLst/>
          </a:prstGeom>
          <a:noFill/>
        </p:spPr>
        <p:txBody>
          <a:bodyPr wrap="square">
            <a:spAutoFit/>
          </a:bodyPr>
          <a:lstStyle/>
          <a:p>
            <a:pPr>
              <a:spcAft>
                <a:spcPts val="300"/>
              </a:spcAft>
              <a:defRPr sz="1700">
                <a:solidFill>
                  <a:srgbClr val="192332"/>
                </a:solidFill>
                <a:latin typeface="Microsoft YaHei"/>
              </a:defRPr>
            </a:pPr>
            <a:r>
              <a:t>      在未来五年内,依托已有的技术积累和产品化基础,持续深化基于CV大模型的视</a:t>
            </a:r>
          </a:p>
          <a:p>
            <a:pPr>
              <a:spcAft>
                <a:spcPts val="300"/>
              </a:spcAft>
              <a:defRPr sz="1700">
                <a:solidFill>
                  <a:srgbClr val="192332"/>
                </a:solidFill>
                <a:latin typeface="Microsoft YaHei"/>
              </a:defRPr>
            </a:pPr>
            <a:r>
              <a:t>觉感知再现核心技术研发与产业化应用。1-2年完成核心模块标准化与示范扩面,完善专利/</a:t>
            </a:r>
          </a:p>
          <a:p>
            <a:pPr>
              <a:spcAft>
                <a:spcPts val="300"/>
              </a:spcAft>
              <a:defRPr sz="1700">
                <a:solidFill>
                  <a:srgbClr val="192332"/>
                </a:solidFill>
                <a:latin typeface="Microsoft YaHei"/>
              </a:defRPr>
            </a:pPr>
            <a:r>
              <a:t>软著布局与测试评估体系,实现核心算法在更多复杂交通场景下的适应性优化,初步建立品牌影</a:t>
            </a:r>
          </a:p>
          <a:p>
            <a:pPr>
              <a:spcAft>
                <a:spcPts val="300"/>
              </a:spcAft>
              <a:defRPr sz="1700">
                <a:solidFill>
                  <a:srgbClr val="192332"/>
                </a:solidFill>
                <a:latin typeface="Microsoft YaHei"/>
              </a:defRPr>
            </a:pPr>
            <a:r>
              <a:t>响力。3-4年重点复制工业检测、卡口计量、场景安全监测、车辆健康检测等成熟产品,推进</a:t>
            </a:r>
          </a:p>
          <a:p>
            <a:pPr>
              <a:spcAft>
                <a:spcPts val="300"/>
              </a:spcAft>
              <a:defRPr sz="1700">
                <a:solidFill>
                  <a:srgbClr val="192332"/>
                </a:solidFill>
                <a:latin typeface="Microsoft YaHei"/>
              </a:defRPr>
            </a:pPr>
            <a:r>
              <a:t>SaaS订阅与API服务,力争实现营收的快速增长。第5年形成“视觉感知—再现—数据服</a:t>
            </a:r>
          </a:p>
          <a:p>
            <a:pPr>
              <a:spcAft>
                <a:spcPts val="300"/>
              </a:spcAft>
              <a:defRPr sz="1700">
                <a:solidFill>
                  <a:srgbClr val="192332"/>
                </a:solidFill>
                <a:latin typeface="Microsoft YaHei"/>
              </a:defRPr>
            </a:pPr>
            <a:r>
              <a:t>务”平台与模型库,支撑更大范围产业化落地与生态合作,探索与上下游企业的战略合作,构建</a:t>
            </a:r>
          </a:p>
          <a:p>
            <a:pPr>
              <a:spcAft>
                <a:spcPts val="300"/>
              </a:spcAft>
              <a:defRPr sz="1700">
                <a:solidFill>
                  <a:srgbClr val="192332"/>
                </a:solidFill>
                <a:latin typeface="Microsoft YaHei"/>
              </a:defRPr>
            </a:pPr>
            <a:r>
              <a:t>产业生态,并开拓国外市场,成为基于CV大模型的视觉感知再现新技术的成长型企业。</a:t>
            </a:r>
          </a:p>
          <a:p>
            <a:pPr>
              <a:spcAft>
                <a:spcPts val="300"/>
              </a:spcAft>
              <a:defRPr sz="1700">
                <a:solidFill>
                  <a:srgbClr val="192332"/>
                </a:solidFill>
                <a:latin typeface="Microsoft YaHei"/>
              </a:defRPr>
            </a:pPr>
          </a:p>
          <a:p>
            <a:pPr>
              <a:spcAft>
                <a:spcPts val="300"/>
              </a:spcAft>
              <a:defRPr sz="1700">
                <a:solidFill>
                  <a:srgbClr val="192332"/>
                </a:solidFill>
                <a:latin typeface="Microsoft YaHei"/>
              </a:defRPr>
            </a:pPr>
          </a:p>
          <a:p>
            <a:pPr>
              <a:spcAft>
                <a:spcPts val="300"/>
              </a:spcAft>
              <a:defRPr sz="1700">
                <a:solidFill>
                  <a:srgbClr val="192332"/>
                </a:solidFill>
                <a:latin typeface="Microsoft YaHei"/>
              </a:defRPr>
            </a:pPr>
          </a:p>
          <a:p>
            <a:pPr>
              <a:spcAft>
                <a:spcPts val="300"/>
              </a:spcAft>
              <a:defRPr sz="1700">
                <a:solidFill>
                  <a:srgbClr val="192332"/>
                </a:solidFill>
                <a:latin typeface="Microsoft YaHei"/>
              </a:defRPr>
            </a:pPr>
            <a:r>
              <a:t>6.友商比对</a:t>
            </a:r>
          </a:p>
          <a:p>
            <a:pPr>
              <a:spcAft>
                <a:spcPts val="300"/>
              </a:spcAft>
              <a:defRPr sz="1700">
                <a:solidFill>
                  <a:srgbClr val="192332"/>
                </a:solidFill>
                <a:latin typeface="Microsoft YaHei"/>
              </a:defRPr>
            </a:pPr>
            <a:r>
              <a:t>公司名称: 主要产品与业务; 奥XX光: 3D 视觉传感器,专注于 3D 视觉感知技</a:t>
            </a:r>
          </a:p>
          <a:p>
            <a:pPr>
              <a:spcAft>
                <a:spcPts val="300"/>
              </a:spcAft>
              <a:defRPr sz="1700">
                <a:solidFill>
                  <a:srgbClr val="192332"/>
                </a:solidFill>
                <a:latin typeface="Microsoft YaHei"/>
              </a:defRPr>
            </a:pPr>
            <a:r>
              <a:t>术,为机器人提供环境感知、智能导航等技术支持; 虹XX技: 手机视觉算法、车载视觉技</a:t>
            </a:r>
          </a:p>
          <a:p>
            <a:pPr>
              <a:spcAft>
                <a:spcPts val="300"/>
              </a:spcAft>
              <a:defRPr sz="1700">
                <a:solidFill>
                  <a:srgbClr val="192332"/>
                </a:solidFill>
                <a:latin typeface="Microsoft YaHei"/>
              </a:defRPr>
            </a:pPr>
            <a:r>
              <a:t>术等,为智能设备提供视觉技术解决方案; AI-Scope: 复杂目标与事件推理技术群</a:t>
            </a:r>
          </a:p>
          <a:p>
            <a:pPr>
              <a:spcAft>
                <a:spcPts val="300"/>
              </a:spcAft>
              <a:defRPr sz="1700">
                <a:solidFill>
                  <a:srgbClr val="192332"/>
                </a:solidFill>
                <a:latin typeface="Microsoft YaHei"/>
              </a:defRPr>
            </a:pPr>
            <a:r>
              <a:t>+立体视觉及三维轻量化快速构建技术群。解决复杂事件认知与场景再现需求</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155680" cy="6035040"/>
          </a:xfrm>
          <a:prstGeom prst="rect">
            <a:avLst/>
          </a:prstGeom>
          <a:noFill/>
        </p:spPr>
        <p:txBody>
          <a:bodyPr wrap="square">
            <a:spAutoFit/>
          </a:bodyPr>
          <a:lstStyle/>
          <a:p>
            <a:pPr>
              <a:spcAft>
                <a:spcPts val="300"/>
              </a:spcAft>
              <a:defRPr sz="1700">
                <a:solidFill>
                  <a:srgbClr val="192332"/>
                </a:solidFill>
                <a:latin typeface="Microsoft YaHei"/>
              </a:defRPr>
            </a:pPr>
            <a:r>
              <a:t>公司名称: 技术优势; 奥XX光: 全技术链覆盖,拥有深度引擎芯片等核心部件,功耗较</a:t>
            </a:r>
          </a:p>
          <a:p>
            <a:pPr>
              <a:spcAft>
                <a:spcPts val="300"/>
              </a:spcAft>
              <a:defRPr sz="1700">
                <a:solidFill>
                  <a:srgbClr val="192332"/>
                </a:solidFill>
                <a:latin typeface="Microsoft YaHei"/>
              </a:defRPr>
            </a:pPr>
            <a:r>
              <a:t>低,且与华为、英伟达等有合作; 虹XX技: 手机视觉算法领域技术深厚,可实现高精度人</a:t>
            </a:r>
          </a:p>
          <a:p>
            <a:pPr>
              <a:spcAft>
                <a:spcPts val="300"/>
              </a:spcAft>
              <a:defRPr sz="1700">
                <a:solidFill>
                  <a:srgbClr val="192332"/>
                </a:solidFill>
                <a:latin typeface="Microsoft YaHei"/>
              </a:defRPr>
            </a:pPr>
            <a:r>
              <a:t>脸检测等功能,车载视觉技术成熟,能提供驾驶员状态监测等功能; AI-Scope: 安</a:t>
            </a:r>
          </a:p>
          <a:p>
            <a:pPr>
              <a:spcAft>
                <a:spcPts val="300"/>
              </a:spcAft>
              <a:defRPr sz="1700">
                <a:solidFill>
                  <a:srgbClr val="192332"/>
                </a:solidFill>
                <a:latin typeface="Microsoft YaHei"/>
              </a:defRPr>
            </a:pPr>
            <a:r>
              <a:t>防复杂事件监督和预测,远距视瞳捕捉,立体场景快速便捷生成,自然场景下非规目标统计产品</a:t>
            </a:r>
          </a:p>
          <a:p>
            <a:pPr>
              <a:spcAft>
                <a:spcPts val="300"/>
              </a:spcAft>
              <a:defRPr sz="1700">
                <a:solidFill>
                  <a:srgbClr val="192332"/>
                </a:solidFill>
                <a:latin typeface="Microsoft YaHei"/>
              </a:defRPr>
            </a:pPr>
            <a:r>
              <a:t>化。</a:t>
            </a:r>
          </a:p>
          <a:p>
            <a:pPr>
              <a:spcAft>
                <a:spcPts val="300"/>
              </a:spcAft>
              <a:defRPr sz="1700">
                <a:solidFill>
                  <a:srgbClr val="192332"/>
                </a:solidFill>
                <a:latin typeface="Microsoft YaHei"/>
              </a:defRPr>
            </a:pPr>
            <a:r>
              <a:t>公司名称: 市场定位; 奥XX光: 聚焦 3D 视觉感知,在服务机器人视觉领域占据领</a:t>
            </a:r>
          </a:p>
          <a:p>
            <a:pPr>
              <a:spcAft>
                <a:spcPts val="300"/>
              </a:spcAft>
              <a:defRPr sz="1700">
                <a:solidFill>
                  <a:srgbClr val="192332"/>
                </a:solidFill>
                <a:latin typeface="Microsoft YaHei"/>
              </a:defRPr>
            </a:pPr>
            <a:r>
              <a:t>先地位,同时面向工业检测等领域; 虹XX技: 主要面向智能设备厂商,尤其是手机厂商和</a:t>
            </a:r>
          </a:p>
          <a:p>
            <a:pPr>
              <a:spcAft>
                <a:spcPts val="300"/>
              </a:spcAft>
              <a:defRPr sz="1700">
                <a:solidFill>
                  <a:srgbClr val="192332"/>
                </a:solidFill>
                <a:latin typeface="Microsoft YaHei"/>
              </a:defRPr>
            </a:pPr>
            <a:r>
              <a:t>汽车厂商,为其提供视觉技术支持,在手机拍照和车载视觉市场有较高份额; AI-Scop</a:t>
            </a:r>
          </a:p>
          <a:p>
            <a:pPr>
              <a:spcAft>
                <a:spcPts val="300"/>
              </a:spcAft>
              <a:defRPr sz="1700">
                <a:solidFill>
                  <a:srgbClr val="192332"/>
                </a:solidFill>
                <a:latin typeface="Microsoft YaHei"/>
              </a:defRPr>
            </a:pPr>
            <a:r>
              <a:t>e: 面向工业检测、高阶安防认知、智慧生活领域,提供轻量化、准实时解决方案</a:t>
            </a:r>
          </a:p>
          <a:p>
            <a:pPr>
              <a:spcAft>
                <a:spcPts val="300"/>
              </a:spcAft>
              <a:defRPr sz="1700">
                <a:solidFill>
                  <a:srgbClr val="192332"/>
                </a:solidFill>
                <a:latin typeface="Microsoft YaHei"/>
              </a:defRPr>
            </a:pPr>
            <a:r>
              <a:t>公司名称: 竞争优势; 奥XX光: 全技术路线 3D 视觉传感器体系完善,产品矩阵丰</a:t>
            </a:r>
          </a:p>
          <a:p>
            <a:pPr>
              <a:spcAft>
                <a:spcPts val="300"/>
              </a:spcAft>
              <a:defRPr sz="1700">
                <a:solidFill>
                  <a:srgbClr val="192332"/>
                </a:solidFill>
                <a:latin typeface="Microsoft YaHei"/>
              </a:defRPr>
            </a:pPr>
            <a:r>
              <a:t>富,有微软等知名合作伙伴; 虹XX技: 在视觉算法领域深耕多年,技术积累深厚,与众多</a:t>
            </a:r>
          </a:p>
          <a:p>
            <a:pPr>
              <a:spcAft>
                <a:spcPts val="300"/>
              </a:spcAft>
              <a:defRPr sz="1700">
                <a:solidFill>
                  <a:srgbClr val="192332"/>
                </a:solidFill>
                <a:latin typeface="Microsoft YaHei"/>
              </a:defRPr>
            </a:pPr>
            <a:r>
              <a:t>知名厂商合作紧密,客户资源丰富,能快速响应市场需求; AI-Scope: 事件认知方</a:t>
            </a:r>
          </a:p>
          <a:p>
            <a:pPr>
              <a:spcAft>
                <a:spcPts val="300"/>
              </a:spcAft>
              <a:defRPr sz="1700">
                <a:solidFill>
                  <a:srgbClr val="192332"/>
                </a:solidFill>
                <a:latin typeface="Microsoft YaHei"/>
              </a:defRPr>
            </a:pPr>
            <a:r>
              <a:t>面高阶算法引领AI发展,场景再现方面,突出产品易用性,便于拓展应用迅速占领中低端市场</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155680" cy="6035040"/>
          </a:xfrm>
          <a:prstGeom prst="rect">
            <a:avLst/>
          </a:prstGeom>
          <a:noFill/>
        </p:spPr>
        <p:txBody>
          <a:bodyPr wrap="square">
            <a:spAutoFit/>
          </a:bodyPr>
          <a:lstStyle/>
          <a:p>
            <a:pPr>
              <a:spcAft>
                <a:spcPts val="300"/>
              </a:spcAft>
              <a:defRPr sz="1700">
                <a:solidFill>
                  <a:srgbClr val="192332"/>
                </a:solidFill>
                <a:latin typeface="Microsoft YaHei"/>
              </a:defRPr>
            </a:pPr>
            <a:r>
              <a:t>公司名称: 竞争劣势; 奥XX光: 在高端消费电子市场面对面临苹果、索尼等国际巨头垄</a:t>
            </a:r>
          </a:p>
          <a:p>
            <a:pPr>
              <a:spcAft>
                <a:spcPts val="300"/>
              </a:spcAft>
              <a:defRPr sz="1700">
                <a:solidFill>
                  <a:srgbClr val="192332"/>
                </a:solidFill>
                <a:latin typeface="Microsoft YaHei"/>
              </a:defRPr>
            </a:pPr>
            <a:r>
              <a:t>断竞争,工业检测方面整体品牌影响力仍需提升; 虹XX技: 业务相对集中在视觉算法软件</a:t>
            </a:r>
          </a:p>
          <a:p>
            <a:pPr>
              <a:spcAft>
                <a:spcPts val="300"/>
              </a:spcAft>
              <a:defRPr sz="1700">
                <a:solidFill>
                  <a:srgbClr val="192332"/>
                </a:solidFill>
                <a:latin typeface="Microsoft YaHei"/>
              </a:defRPr>
            </a:pPr>
            <a:r>
              <a:t>层面,硬件相关业务较少,面临其他算法厂商和集成商的竞争,市场拓展受限于合作厂商的需求</a:t>
            </a:r>
          </a:p>
          <a:p>
            <a:pPr>
              <a:spcAft>
                <a:spcPts val="300"/>
              </a:spcAft>
              <a:defRPr sz="1700">
                <a:solidFill>
                  <a:srgbClr val="192332"/>
                </a:solidFill>
                <a:latin typeface="Microsoft YaHei"/>
              </a:defRPr>
            </a:pPr>
            <a:r>
              <a:t>和发展; AI-Scope: 团队缺乏包装,知名度有待增强;技术门槛有待于加强以保持</a:t>
            </a:r>
          </a:p>
          <a:p>
            <a:pPr>
              <a:spcAft>
                <a:spcPts val="300"/>
              </a:spcAft>
              <a:defRPr sz="1700">
                <a:solidFill>
                  <a:srgbClr val="192332"/>
                </a:solidFill>
                <a:latin typeface="Microsoft YaHei"/>
              </a:defRPr>
            </a:pPr>
            <a:r>
              <a:t>领域领先;初创企业资源欠缺</a:t>
            </a:r>
          </a:p>
          <a:p>
            <a:pPr>
              <a:spcAft>
                <a:spcPts val="300"/>
              </a:spcAft>
              <a:defRPr sz="1700">
                <a:solidFill>
                  <a:srgbClr val="192332"/>
                </a:solidFill>
                <a:latin typeface="Microsoft YaHei"/>
              </a:defRPr>
            </a:pPr>
            <a:r>
              <a:t>公司名称: 应用场景; 奥XX光: 服务机器人、工业自动化、人形机器人、3D 扫描、</a:t>
            </a:r>
          </a:p>
          <a:p>
            <a:pPr>
              <a:spcAft>
                <a:spcPts val="300"/>
              </a:spcAft>
              <a:defRPr sz="1700">
                <a:solidFill>
                  <a:srgbClr val="192332"/>
                </a:solidFill>
                <a:latin typeface="Microsoft YaHei"/>
              </a:defRPr>
            </a:pPr>
            <a:r>
              <a:t>生物识别等领域; 虹XX技: 手机拍照、美颜、车载视觉、智能硬件等场景; AI-Sc</a:t>
            </a:r>
          </a:p>
          <a:p>
            <a:pPr>
              <a:spcAft>
                <a:spcPts val="300"/>
              </a:spcAft>
              <a:defRPr sz="1700">
                <a:solidFill>
                  <a:srgbClr val="192332"/>
                </a:solidFill>
                <a:latin typeface="Microsoft YaHei"/>
              </a:defRPr>
            </a:pPr>
            <a:r>
              <a:t>ope: 行动障碍者视线交互、重要场景3D/4D记录、工业场景工件检测和工序监测</a:t>
            </a:r>
          </a:p>
          <a:p>
            <a:pPr>
              <a:spcAft>
                <a:spcPts val="300"/>
              </a:spcAft>
              <a:defRPr sz="1700">
                <a:solidFill>
                  <a:srgbClr val="192332"/>
                </a:solidFill>
                <a:latin typeface="Microsoft YaHei"/>
              </a:defRPr>
            </a:pPr>
          </a:p>
          <a:p>
            <a:pPr>
              <a:spcAft>
                <a:spcPts val="300"/>
              </a:spcAft>
              <a:defRPr sz="1700">
                <a:solidFill>
                  <a:srgbClr val="192332"/>
                </a:solidFill>
                <a:latin typeface="Microsoft YaHei"/>
              </a:defRPr>
            </a:pPr>
          </a:p>
          <a:p>
            <a:pPr>
              <a:spcAft>
                <a:spcPts val="300"/>
              </a:spcAft>
              <a:defRPr sz="1700">
                <a:solidFill>
                  <a:srgbClr val="192332"/>
                </a:solidFill>
                <a:latin typeface="Microsoft YaHei"/>
              </a:defRPr>
            </a:pPr>
          </a:p>
          <a:p>
            <a:pPr>
              <a:spcAft>
                <a:spcPts val="300"/>
              </a:spcAft>
              <a:defRPr sz="1700">
                <a:solidFill>
                  <a:srgbClr val="192332"/>
                </a:solidFill>
                <a:latin typeface="Microsoft YaHei"/>
              </a:defRPr>
            </a:pPr>
            <a:r>
              <a:t>2.首席科学家</a:t>
            </a:r>
          </a:p>
          <a:p>
            <a:pPr>
              <a:spcAft>
                <a:spcPts val="300"/>
              </a:spcAft>
              <a:defRPr sz="1700">
                <a:solidFill>
                  <a:srgbClr val="192332"/>
                </a:solidFill>
                <a:latin typeface="Microsoft YaHei"/>
              </a:defRPr>
            </a:pPr>
            <a:r>
              <a:t>多年来一直从事智能运输系统(ITS)、机器视觉与数字孪生、人工智能与自动驾驶等方面的</a:t>
            </a:r>
          </a:p>
          <a:p>
            <a:pPr>
              <a:spcAft>
                <a:spcPts val="300"/>
              </a:spcAft>
              <a:defRPr sz="1700">
                <a:solidFill>
                  <a:srgbClr val="192332"/>
                </a:solidFill>
                <a:latin typeface="Microsoft YaHei"/>
              </a:defRPr>
            </a:pPr>
            <a:r>
              <a:t>研究。曾参与电厂和供电局的《114查号系统》、《电话故障申告系统》、《话务营收与计费</a:t>
            </a:r>
          </a:p>
          <a:p>
            <a:pPr>
              <a:spcAft>
                <a:spcPts val="300"/>
              </a:spcAft>
              <a:defRPr sz="1700">
                <a:solidFill>
                  <a:srgbClr val="192332"/>
                </a:solidFill>
                <a:latin typeface="Microsoft YaHei"/>
              </a:defRPr>
            </a:pPr>
            <a:r>
              <a:t>系统》的研发。</a:t>
            </a:r>
          </a:p>
          <a:p>
            <a:pPr>
              <a:spcAft>
                <a:spcPts val="300"/>
              </a:spcAft>
              <a:defRPr sz="1700">
                <a:solidFill>
                  <a:srgbClr val="192332"/>
                </a:solidFill>
                <a:latin typeface="Microsoft YaHei"/>
              </a:defRPr>
            </a:pPr>
            <a:r>
              <a:t>美国伊州理工访问学者、中国计算机学会CCF智慧交通分会执行委员、中国汽车工程学会会员</a:t>
            </a:r>
          </a:p>
          <a:p>
            <a:pPr>
              <a:spcAft>
                <a:spcPts val="300"/>
              </a:spcAft>
              <a:defRPr sz="1700">
                <a:solidFill>
                  <a:srgbClr val="192332"/>
                </a:solidFill>
                <a:latin typeface="Microsoft YaHei"/>
              </a:defRPr>
            </a:pPr>
            <a:r>
              <a:t>、中国公路学会会员等。    </a:t>
            </a:r>
          </a:p>
          <a:p>
            <a:pPr>
              <a:spcAft>
                <a:spcPts val="300"/>
              </a:spcAft>
              <a:defRPr sz="1700">
                <a:solidFill>
                  <a:srgbClr val="192332"/>
                </a:solidFill>
                <a:latin typeface="Microsoft YaHei"/>
              </a:defRPr>
            </a:pPr>
            <a:r>
              <a:t>科研</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155680" cy="6035040"/>
          </a:xfrm>
          <a:prstGeom prst="rect">
            <a:avLst/>
          </a:prstGeom>
          <a:noFill/>
        </p:spPr>
        <p:txBody>
          <a:bodyPr wrap="square">
            <a:spAutoFit/>
          </a:bodyPr>
          <a:lstStyle/>
          <a:p>
            <a:pPr>
              <a:spcAft>
                <a:spcPts val="300"/>
              </a:spcAft>
              <a:defRPr sz="1700">
                <a:solidFill>
                  <a:srgbClr val="192332"/>
                </a:solidFill>
                <a:latin typeface="Microsoft YaHei"/>
              </a:defRPr>
            </a:pPr>
            <a:r>
              <a:t>国内外期刊和学术会议发表学术论文三十余篇 ,    其中SCI检索6篇, EI检索8</a:t>
            </a:r>
          </a:p>
          <a:p>
            <a:pPr>
              <a:spcAft>
                <a:spcPts val="300"/>
              </a:spcAft>
              <a:defRPr sz="1700">
                <a:solidFill>
                  <a:srgbClr val="192332"/>
                </a:solidFill>
                <a:latin typeface="Microsoft YaHei"/>
              </a:defRPr>
            </a:pPr>
            <a:r>
              <a:t>篇 ,发明专利20项+。</a:t>
            </a:r>
          </a:p>
          <a:p>
            <a:pPr>
              <a:spcAft>
                <a:spcPts val="300"/>
              </a:spcAft>
              <a:defRPr sz="1700">
                <a:solidFill>
                  <a:srgbClr val="192332"/>
                </a:solidFill>
                <a:latin typeface="Microsoft YaHei"/>
              </a:defRPr>
            </a:pPr>
            <a:r>
              <a:t>创立南京深眸智算科技有限公司 。</a:t>
            </a:r>
          </a:p>
          <a:p>
            <a:pPr>
              <a:spcAft>
                <a:spcPts val="300"/>
              </a:spcAft>
              <a:defRPr sz="1700">
                <a:solidFill>
                  <a:srgbClr val="192332"/>
                </a:solidFill>
                <a:latin typeface="Microsoft YaHei"/>
              </a:defRPr>
            </a:pPr>
            <a:r>
              <a:t>科创</a:t>
            </a:r>
          </a:p>
          <a:p>
            <a:pPr>
              <a:spcAft>
                <a:spcPts val="300"/>
              </a:spcAft>
              <a:defRPr sz="1700">
                <a:solidFill>
                  <a:srgbClr val="192332"/>
                </a:solidFill>
                <a:latin typeface="Microsoft YaHei"/>
              </a:defRPr>
            </a:pPr>
            <a:r>
              <a:t>江苏省交通厅,(科技计划)基于物联网技术的水上ETC系统运用研究;</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155680" cy="6035040"/>
          </a:xfrm>
          <a:prstGeom prst="rect">
            <a:avLst/>
          </a:prstGeom>
          <a:noFill/>
        </p:spPr>
        <p:txBody>
          <a:bodyPr wrap="square">
            <a:spAutoFit/>
          </a:bodyPr>
          <a:lstStyle/>
          <a:p>
            <a:pPr>
              <a:spcAft>
                <a:spcPts val="300"/>
              </a:spcAft>
              <a:defRPr sz="1700">
                <a:solidFill>
                  <a:srgbClr val="192332"/>
                </a:solidFill>
                <a:latin typeface="Microsoft YaHei"/>
              </a:defRPr>
            </a:pPr>
            <a:r>
              <a:t>广东省交通厅,(科技计划)广东省水运信息化发展研究;</a:t>
            </a:r>
          </a:p>
          <a:p>
            <a:pPr>
              <a:spcAft>
                <a:spcPts val="300"/>
              </a:spcAft>
              <a:defRPr sz="1700">
                <a:solidFill>
                  <a:srgbClr val="192332"/>
                </a:solidFill>
                <a:latin typeface="Microsoft YaHei"/>
              </a:defRPr>
            </a:pPr>
            <a:r>
              <a:t>国家电网,(科技项目)电力通信系统N-2反措网络模型分析;</a:t>
            </a:r>
          </a:p>
          <a:p>
            <a:pPr>
              <a:spcAft>
                <a:spcPts val="300"/>
              </a:spcAft>
              <a:defRPr sz="1700">
                <a:solidFill>
                  <a:srgbClr val="192332"/>
                </a:solidFill>
                <a:latin typeface="Microsoft YaHei"/>
              </a:defRPr>
            </a:pPr>
            <a:r>
              <a:t>无锡市建设局,(科技项目)基于LBS的车载路口预报装置研究;</a:t>
            </a:r>
          </a:p>
          <a:p>
            <a:pPr>
              <a:spcAft>
                <a:spcPts val="300"/>
              </a:spcAft>
              <a:defRPr sz="1700">
                <a:solidFill>
                  <a:srgbClr val="192332"/>
                </a:solidFill>
                <a:latin typeface="Microsoft YaHei"/>
              </a:defRPr>
            </a:pPr>
            <a:r>
              <a:t>冀北电力有限公司“通信调度运维系统”、“自适应通信资源管理系统”研发;</a:t>
            </a:r>
          </a:p>
          <a:p>
            <a:pPr>
              <a:spcAft>
                <a:spcPts val="300"/>
              </a:spcAft>
              <a:defRPr sz="1700">
                <a:solidFill>
                  <a:srgbClr val="192332"/>
                </a:solidFill>
                <a:latin typeface="Microsoft YaHei"/>
              </a:defRPr>
            </a:pPr>
            <a:r>
              <a:t>长江通信导航局“长江通信导航局通信资源管理系统”研发;</a:t>
            </a:r>
          </a:p>
          <a:p>
            <a:pPr>
              <a:spcAft>
                <a:spcPts val="300"/>
              </a:spcAft>
              <a:defRPr sz="1700">
                <a:solidFill>
                  <a:srgbClr val="192332"/>
                </a:solidFill>
                <a:latin typeface="Microsoft YaHei"/>
              </a:defRPr>
            </a:pPr>
            <a:r>
              <a:t>江苏省交通厅执法局“桥梁防撞预警系统”研发;</a:t>
            </a:r>
          </a:p>
          <a:p>
            <a:pPr>
              <a:spcAft>
                <a:spcPts val="300"/>
              </a:spcAft>
              <a:defRPr sz="1700">
                <a:solidFill>
                  <a:srgbClr val="192332"/>
                </a:solidFill>
                <a:latin typeface="Microsoft YaHei"/>
              </a:defRPr>
            </a:pPr>
            <a:r>
              <a:t>江苏省水利厅科技项目“基于AI的防储中心关键技术研究”。</a:t>
            </a:r>
          </a:p>
          <a:p>
            <a:pPr>
              <a:spcAft>
                <a:spcPts val="300"/>
              </a:spcAft>
              <a:defRPr sz="1700">
                <a:solidFill>
                  <a:srgbClr val="192332"/>
                </a:solidFill>
                <a:latin typeface="Microsoft YaHei"/>
              </a:defRPr>
            </a:pPr>
            <a:r>
              <a:t>业绩</a:t>
            </a:r>
          </a:p>
          <a:p>
            <a:pPr>
              <a:spcAft>
                <a:spcPts val="300"/>
              </a:spcAft>
              <a:defRPr sz="1700">
                <a:solidFill>
                  <a:srgbClr val="192332"/>
                </a:solidFill>
                <a:latin typeface="Microsoft YaHei"/>
              </a:defRPr>
            </a:pPr>
          </a:p>
          <a:p>
            <a:pPr>
              <a:spcAft>
                <a:spcPts val="300"/>
              </a:spcAft>
              <a:defRPr sz="1700">
                <a:solidFill>
                  <a:srgbClr val="192332"/>
                </a:solidFill>
                <a:latin typeface="Microsoft YaHei"/>
              </a:defRPr>
            </a:pPr>
          </a:p>
          <a:p>
            <a:pPr>
              <a:spcAft>
                <a:spcPts val="300"/>
              </a:spcAft>
              <a:defRPr sz="1700">
                <a:solidFill>
                  <a:srgbClr val="192332"/>
                </a:solidFill>
                <a:latin typeface="Microsoft YaHei"/>
              </a:defRPr>
            </a:pPr>
          </a:p>
          <a:p>
            <a:pPr>
              <a:spcAft>
                <a:spcPts val="300"/>
              </a:spcAft>
              <a:defRPr sz="1700">
                <a:solidFill>
                  <a:srgbClr val="192332"/>
                </a:solidFill>
                <a:latin typeface="Microsoft YaHei"/>
              </a:defRPr>
            </a:pPr>
            <a:r>
              <a:t>5.相关荣誉、专利、软著、论文</a:t>
            </a:r>
          </a:p>
          <a:p>
            <a:pPr>
              <a:spcAft>
                <a:spcPts val="300"/>
              </a:spcAft>
              <a:defRPr sz="1700">
                <a:solidFill>
                  <a:srgbClr val="192332"/>
                </a:solidFill>
                <a:latin typeface="Microsoft YaHei"/>
              </a:defRPr>
            </a:pPr>
            <a:r>
              <a:t>面向复杂目标识别与复杂事件推理、视觉解算及三维快速轻量化形成了20+专利与软著</a:t>
            </a:r>
          </a:p>
          <a:p>
            <a:pPr>
              <a:spcAft>
                <a:spcPts val="300"/>
              </a:spcAft>
              <a:defRPr sz="1700">
                <a:solidFill>
                  <a:srgbClr val="192332"/>
                </a:solidFill>
                <a:latin typeface="Microsoft YaHei"/>
              </a:defRPr>
            </a:pPr>
            <a:r>
              <a:t>.专利一种基于眼动追踪的驾驶员注意力分布检测方法、基于眼动追踪的驾驶员疲劳监测方法等</a:t>
            </a:r>
          </a:p>
          <a:p>
            <a:pPr>
              <a:spcAft>
                <a:spcPts val="300"/>
              </a:spcAft>
              <a:defRPr sz="1700">
                <a:solidFill>
                  <a:srgbClr val="192332"/>
                </a:solidFill>
                <a:latin typeface="Microsoft YaHei"/>
              </a:defRPr>
            </a:pPr>
            <a:r>
              <a:t>实现了较远距离的视瞳小目标捕捉,1米感知距离下定位精度国内领先,目前已和某公司联合开</a:t>
            </a:r>
          </a:p>
          <a:p>
            <a:pPr>
              <a:spcAft>
                <a:spcPts val="300"/>
              </a:spcAft>
              <a:defRPr sz="1700">
                <a:solidFill>
                  <a:srgbClr val="192332"/>
                </a:solidFill>
                <a:latin typeface="Microsoft YaHei"/>
              </a:defRPr>
            </a:pPr>
            <a:r>
              <a:t>发,投入医院导医屏视觉导引工作。</a:t>
            </a:r>
          </a:p>
          <a:p>
            <a:pPr>
              <a:spcAft>
                <a:spcPts val="300"/>
              </a:spcAft>
              <a:defRPr sz="1700">
                <a:solidFill>
                  <a:srgbClr val="192332"/>
                </a:solidFill>
                <a:latin typeface="Microsoft YaHei"/>
              </a:defRPr>
            </a:pPr>
            <a:r>
              <a:t>.一种基于单目视觉的平面上目标定位方法等专利实现了空间中物体三维外参关系快速标定。在</a:t>
            </a:r>
          </a:p>
          <a:p>
            <a:pPr>
              <a:spcAft>
                <a:spcPts val="300"/>
              </a:spcAft>
              <a:defRPr sz="1700">
                <a:solidFill>
                  <a:srgbClr val="192332"/>
                </a:solidFill>
                <a:latin typeface="Microsoft YaHei"/>
              </a:defRPr>
            </a:pPr>
            <a:r>
              <a:t>一定质量保证下构建速度国内领先,已在南京玄武湖三维构建中投入使用。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155680" cy="6035040"/>
          </a:xfrm>
          <a:prstGeom prst="rect">
            <a:avLst/>
          </a:prstGeom>
          <a:noFill/>
        </p:spPr>
        <p:txBody>
          <a:bodyPr wrap="square">
            <a:spAutoFit/>
          </a:bodyPr>
          <a:lstStyle/>
          <a:p>
            <a:pPr>
              <a:spcAft>
                <a:spcPts val="300"/>
              </a:spcAft>
              <a:defRPr sz="1700">
                <a:solidFill>
                  <a:srgbClr val="192332"/>
                </a:solidFill>
                <a:latin typeface="Microsoft YaHei"/>
              </a:defRPr>
            </a:pPr>
            <a:r>
              <a:t>.一种基于视觉暂留原理的超速预警提示交通标志牌</a:t>
            </a:r>
          </a:p>
          <a:p>
            <a:pPr>
              <a:spcAft>
                <a:spcPts val="300"/>
              </a:spcAft>
              <a:defRPr sz="1700">
                <a:solidFill>
                  <a:srgbClr val="192332"/>
                </a:solidFill>
                <a:latin typeface="Microsoft YaHei"/>
              </a:defRPr>
            </a:pPr>
            <a:r>
              <a:t>.一种单目位姿估计的方法</a:t>
            </a:r>
          </a:p>
          <a:p>
            <a:pPr>
              <a:spcAft>
                <a:spcPts val="300"/>
              </a:spcAft>
              <a:defRPr sz="1700">
                <a:solidFill>
                  <a:srgbClr val="192332"/>
                </a:solidFill>
                <a:latin typeface="Microsoft YaHei"/>
              </a:defRPr>
            </a:pPr>
            <a:r>
              <a:t>.一种基于单目视觉的平面上目标定位方法</a:t>
            </a:r>
          </a:p>
          <a:p>
            <a:pPr>
              <a:spcAft>
                <a:spcPts val="300"/>
              </a:spcAft>
              <a:defRPr sz="1700">
                <a:solidFill>
                  <a:srgbClr val="192332"/>
                </a:solidFill>
                <a:latin typeface="Microsoft YaHei"/>
              </a:defRPr>
            </a:pPr>
            <a:r>
              <a:t>.一种基于眼动追踪的驾驶员疲劳监测方法</a:t>
            </a:r>
          </a:p>
          <a:p>
            <a:pPr>
              <a:spcAft>
                <a:spcPts val="300"/>
              </a:spcAft>
              <a:defRPr sz="1700">
                <a:solidFill>
                  <a:srgbClr val="192332"/>
                </a:solidFill>
                <a:latin typeface="Microsoft YaHei"/>
              </a:defRPr>
            </a:pPr>
            <a:r>
              <a:t>.基于多模态融合的复杂事件层次化推理方法与系统</a:t>
            </a:r>
          </a:p>
          <a:p>
            <a:pPr>
              <a:spcAft>
                <a:spcPts val="300"/>
              </a:spcAft>
              <a:defRPr sz="1700">
                <a:solidFill>
                  <a:srgbClr val="192332"/>
                </a:solidFill>
                <a:latin typeface="Microsoft YaHei"/>
              </a:defRPr>
            </a:pPr>
            <a:r>
              <a:t>.面向流式数据的复杂目标识别与实时视觉解算方法</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155680" cy="6035040"/>
          </a:xfrm>
          <a:prstGeom prst="rect">
            <a:avLst/>
          </a:prstGeom>
          <a:noFill/>
        </p:spPr>
        <p:txBody>
          <a:bodyPr wrap="square">
            <a:spAutoFit/>
          </a:bodyPr>
          <a:lstStyle/>
          <a:p>
            <a:pPr>
              <a:spcAft>
                <a:spcPts val="300"/>
              </a:spcAft>
              <a:defRPr sz="1700">
                <a:solidFill>
                  <a:srgbClr val="192332"/>
                </a:solidFill>
                <a:latin typeface="Microsoft YaHei"/>
              </a:defRPr>
            </a:pPr>
            <a:r>
              <a:t>.一种大场景三维模型的快速轻量化与自适应渲染方法</a:t>
            </a:r>
          </a:p>
          <a:p>
            <a:pPr>
              <a:spcAft>
                <a:spcPts val="300"/>
              </a:spcAft>
              <a:defRPr sz="1700">
                <a:solidFill>
                  <a:srgbClr val="192332"/>
                </a:solidFill>
                <a:latin typeface="Microsoft YaHei"/>
              </a:defRPr>
            </a:pPr>
            <a:r>
              <a:t>.一种基于眼动的交通信号优化设计方法</a:t>
            </a:r>
          </a:p>
          <a:p>
            <a:pPr>
              <a:spcAft>
                <a:spcPts val="300"/>
              </a:spcAft>
              <a:defRPr sz="1700">
                <a:solidFill>
                  <a:srgbClr val="192332"/>
                </a:solidFill>
                <a:latin typeface="Microsoft YaHei"/>
              </a:defRPr>
            </a:pPr>
            <a:r>
              <a:t>.用于边缘计算的三维模型轻量化与快速加载方法</a:t>
            </a:r>
          </a:p>
          <a:p>
            <a:pPr>
              <a:spcAft>
                <a:spcPts val="300"/>
              </a:spcAft>
              <a:defRPr sz="1700">
                <a:solidFill>
                  <a:srgbClr val="192332"/>
                </a:solidFill>
                <a:latin typeface="Microsoft YaHei"/>
              </a:defRPr>
            </a:pPr>
            <a:r>
              <a:t>.基于神经渲染的三维场景快速重建与轻量化方法</a:t>
            </a:r>
          </a:p>
          <a:p>
            <a:pPr>
              <a:spcAft>
                <a:spcPts val="300"/>
              </a:spcAft>
              <a:defRPr sz="1700">
                <a:solidFill>
                  <a:srgbClr val="192332"/>
                </a:solidFill>
                <a:latin typeface="Microsoft YaHei"/>
              </a:defRPr>
            </a:pPr>
            <a:r>
              <a:t>.······</a:t>
            </a:r>
          </a:p>
          <a:p>
            <a:pPr>
              <a:spcAft>
                <a:spcPts val="300"/>
              </a:spcAft>
              <a:defRPr sz="1700">
                <a:solidFill>
                  <a:srgbClr val="192332"/>
                </a:solidFill>
                <a:latin typeface="Microsoft YaHei"/>
              </a:defRPr>
            </a:pPr>
            <a:r>
              <a:t>专利:</a:t>
            </a:r>
          </a:p>
          <a:p>
            <a:pPr>
              <a:spcAft>
                <a:spcPts val="300"/>
              </a:spcAft>
              <a:defRPr sz="1700">
                <a:solidFill>
                  <a:srgbClr val="192332"/>
                </a:solidFill>
                <a:latin typeface="Microsoft YaHei"/>
              </a:defRPr>
            </a:pPr>
            <a:r>
              <a:t>软著:</a:t>
            </a:r>
          </a:p>
          <a:p>
            <a:pPr>
              <a:spcAft>
                <a:spcPts val="300"/>
              </a:spcAft>
              <a:defRPr sz="1700">
                <a:solidFill>
                  <a:srgbClr val="192332"/>
                </a:solidFill>
                <a:latin typeface="Microsoft YaHei"/>
              </a:defRPr>
            </a:pPr>
            <a:r>
              <a:t>.用于眼动追踪及分析的智能眼镜空内实验程序v1.0</a:t>
            </a:r>
          </a:p>
          <a:p>
            <a:pPr>
              <a:spcAft>
                <a:spcPts val="300"/>
              </a:spcAft>
              <a:defRPr sz="1700">
                <a:solidFill>
                  <a:srgbClr val="192332"/>
                </a:solidFill>
                <a:latin typeface="Microsoft YaHei"/>
              </a:defRPr>
            </a:pPr>
            <a:r>
              <a:t>.复杂目标智能识别与分析系统v1.0</a:t>
            </a:r>
          </a:p>
          <a:p>
            <a:pPr>
              <a:spcAft>
                <a:spcPts val="300"/>
              </a:spcAft>
              <a:defRPr sz="1700">
                <a:solidFill>
                  <a:srgbClr val="192332"/>
                </a:solidFill>
                <a:latin typeface="Microsoft YaHei"/>
              </a:defRPr>
            </a:pPr>
            <a:r>
              <a:t>.大规模三维模型快速轻量化处理系统v1.0</a:t>
            </a:r>
          </a:p>
          <a:p>
            <a:pPr>
              <a:spcAft>
                <a:spcPts val="300"/>
              </a:spcAft>
              <a:defRPr sz="1700">
                <a:solidFill>
                  <a:srgbClr val="192332"/>
                </a:solidFill>
                <a:latin typeface="Microsoft YaHei"/>
              </a:defRPr>
            </a:pPr>
            <a:r>
              <a:t>.一种基于unity的多场景驾驶模拟软件v1.0</a:t>
            </a:r>
          </a:p>
          <a:p>
            <a:pPr>
              <a:spcAft>
                <a:spcPts val="300"/>
              </a:spcAft>
              <a:defRPr sz="1700">
                <a:solidFill>
                  <a:srgbClr val="192332"/>
                </a:solidFill>
                <a:latin typeface="Microsoft YaHei"/>
              </a:defRPr>
            </a:pPr>
            <a:r>
              <a:t>.实时视频流目标识别与事件检测软件v1.0</a:t>
            </a:r>
          </a:p>
          <a:p>
            <a:pPr>
              <a:spcAft>
                <a:spcPts val="300"/>
              </a:spcAft>
              <a:defRPr sz="1700">
                <a:solidFill>
                  <a:srgbClr val="192332"/>
                </a:solidFill>
                <a:latin typeface="Microsoft YaHei"/>
              </a:defRPr>
            </a:pPr>
            <a:r>
              <a:t>.一种三维场景构建与轻量化发布平台v1.0</a:t>
            </a:r>
          </a:p>
          <a:p>
            <a:pPr>
              <a:spcAft>
                <a:spcPts val="300"/>
              </a:spcAft>
              <a:defRPr sz="1700">
                <a:solidFill>
                  <a:srgbClr val="192332"/>
                </a:solidFill>
                <a:latin typeface="Microsoft YaHei"/>
              </a:defRPr>
            </a:pPr>
            <a:r>
              <a:t>.一种云端协同的三维模型轻量化服务系统v1.0</a:t>
            </a:r>
          </a:p>
          <a:p>
            <a:pPr>
              <a:spcAft>
                <a:spcPts val="300"/>
              </a:spcAft>
              <a:defRPr sz="1700">
                <a:solidFill>
                  <a:srgbClr val="192332"/>
                </a:solidFill>
                <a:latin typeface="Microsoft YaHei"/>
              </a:defRPr>
            </a:pPr>
            <a:r>
              <a:t>.一种全域态势感知与推理决策支持平台v1.0</a:t>
            </a:r>
          </a:p>
          <a:p>
            <a:pPr>
              <a:spcAft>
                <a:spcPts val="300"/>
              </a:spcAft>
              <a:defRPr sz="1700">
                <a:solidFill>
                  <a:srgbClr val="192332"/>
                </a:solidFill>
                <a:latin typeface="Microsoft YaHei"/>
              </a:defRPr>
            </a:pPr>
            <a:r>
              <a:t>.······</a:t>
            </a:r>
          </a:p>
          <a:p>
            <a:pPr>
              <a:spcAft>
                <a:spcPts val="300"/>
              </a:spcAft>
              <a:defRPr sz="1700">
                <a:solidFill>
                  <a:srgbClr val="192332"/>
                </a:solidFill>
                <a:latin typeface="Microsoft YaHei"/>
              </a:defRPr>
            </a:pPr>
            <a:r>
              <a:t>论文:</a:t>
            </a:r>
          </a:p>
          <a:p>
            <a:pPr>
              <a:spcAft>
                <a:spcPts val="300"/>
              </a:spcAft>
              <a:defRPr sz="1700">
                <a:solidFill>
                  <a:srgbClr val="192332"/>
                </a:solidFill>
                <a:latin typeface="Microsoft YaHei"/>
              </a:defRPr>
            </a:pPr>
            <a:r>
              <a:t>.Multimodal attention prediction technolog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155680" cy="6035040"/>
          </a:xfrm>
          <a:prstGeom prst="rect">
            <a:avLst/>
          </a:prstGeom>
          <a:noFill/>
        </p:spPr>
        <p:txBody>
          <a:bodyPr wrap="square">
            <a:spAutoFit/>
          </a:bodyPr>
          <a:lstStyle/>
          <a:p>
            <a:pPr>
              <a:spcAft>
                <a:spcPts val="300"/>
              </a:spcAft>
              <a:defRPr sz="1700">
                <a:solidFill>
                  <a:srgbClr val="192332"/>
                </a:solidFill>
                <a:latin typeface="Microsoft YaHei"/>
              </a:defRPr>
            </a:pPr>
            <a:r>
              <a:t>y based on human visual cognition is appli</a:t>
            </a:r>
          </a:p>
          <a:p>
            <a:pPr>
              <a:spcAft>
                <a:spcPts val="300"/>
              </a:spcAft>
              <a:defRPr sz="1700">
                <a:solidFill>
                  <a:srgbClr val="192332"/>
                </a:solidFill>
                <a:latin typeface="Microsoft YaHei"/>
              </a:defRPr>
            </a:pPr>
            <a:r>
              <a:t>ed to multi-scene collision warning</a:t>
            </a:r>
          </a:p>
          <a:p>
            <a:pPr>
              <a:spcAft>
                <a:spcPts val="300"/>
              </a:spcAft>
              <a:defRPr sz="1700">
                <a:solidFill>
                  <a:srgbClr val="192332"/>
                </a:solidFill>
                <a:latin typeface="Microsoft YaHei"/>
              </a:defRPr>
            </a:pPr>
            <a:r>
              <a:t>.基于人类视觉认知的时间序列预测技术在交叉口危险感知领域的应用</a:t>
            </a:r>
          </a:p>
          <a:p>
            <a:pPr>
              <a:spcAft>
                <a:spcPts val="300"/>
              </a:spcAft>
              <a:defRPr sz="1700">
                <a:solidFill>
                  <a:srgbClr val="192332"/>
                </a:solidFill>
                <a:latin typeface="Microsoft YaHei"/>
              </a:defRPr>
            </a:pPr>
            <a:r>
              <a:t>.基于Top-down策略的铁路驼峰螺栓松动自动化检测方法</a:t>
            </a:r>
          </a:p>
          <a:p>
            <a:pPr>
              <a:spcAft>
                <a:spcPts val="300"/>
              </a:spcAft>
              <a:defRPr sz="1700">
                <a:solidFill>
                  <a:srgbClr val="192332"/>
                </a:solidFill>
                <a:latin typeface="Microsoft YaHei"/>
              </a:defRPr>
            </a:pPr>
            <a:r>
              <a:t>.······</a:t>
            </a:r>
          </a:p>
          <a:p>
            <a:pPr>
              <a:spcAft>
                <a:spcPts val="300"/>
              </a:spcAft>
              <a:defRPr sz="1700">
                <a:solidFill>
                  <a:srgbClr val="192332"/>
                </a:solidFill>
                <a:latin typeface="Microsoft YaHei"/>
              </a:defRPr>
            </a:pPr>
          </a:p>
          <a:p>
            <a:pPr>
              <a:spcAft>
                <a:spcPts val="300"/>
              </a:spcAft>
              <a:defRPr sz="1700">
                <a:solidFill>
                  <a:srgbClr val="192332"/>
                </a:solidFill>
                <a:latin typeface="Microsoft YaHei"/>
              </a:defRPr>
            </a:pPr>
          </a:p>
          <a:p>
            <a:pPr>
              <a:spcAft>
                <a:spcPts val="300"/>
              </a:spcAft>
              <a:defRPr sz="1700">
                <a:solidFill>
                  <a:srgbClr val="192332"/>
                </a:solidFill>
                <a:latin typeface="Microsoft YaHei"/>
              </a:defRPr>
            </a:pPr>
          </a:p>
          <a:p>
            <a:pPr>
              <a:spcAft>
                <a:spcPts val="300"/>
              </a:spcAft>
              <a:defRPr sz="1700">
                <a:solidFill>
                  <a:srgbClr val="192332"/>
                </a:solidFill>
                <a:latin typeface="Microsoft YaHei"/>
              </a:defRPr>
            </a:pPr>
            <a:r>
              <a:t>1. 四步骤</a:t>
            </a:r>
          </a:p>
          <a:p>
            <a:pPr>
              <a:spcAft>
                <a:spcPts val="300"/>
              </a:spcAft>
              <a:defRPr sz="1700">
                <a:solidFill>
                  <a:srgbClr val="192332"/>
                </a:solidFill>
                <a:latin typeface="Microsoft YaHei"/>
              </a:defRPr>
            </a:pPr>
            <a:r>
              <a:t>检测</a:t>
            </a:r>
          </a:p>
          <a:p>
            <a:pPr>
              <a:spcAft>
                <a:spcPts val="300"/>
              </a:spcAft>
              <a:defRPr sz="1700">
                <a:solidFill>
                  <a:srgbClr val="192332"/>
                </a:solidFill>
                <a:latin typeface="Microsoft YaHei"/>
              </a:defRPr>
            </a:pPr>
            <a:r>
              <a:t>生成</a:t>
            </a:r>
          </a:p>
          <a:p>
            <a:pPr>
              <a:spcAft>
                <a:spcPts val="300"/>
              </a:spcAft>
              <a:defRPr sz="1700">
                <a:solidFill>
                  <a:srgbClr val="192332"/>
                </a:solidFill>
                <a:latin typeface="Microsoft YaHei"/>
              </a:defRPr>
            </a:pPr>
            <a:r>
              <a:t>认知</a:t>
            </a:r>
          </a:p>
          <a:p>
            <a:pPr>
              <a:spcAft>
                <a:spcPts val="300"/>
              </a:spcAft>
              <a:defRPr sz="1700">
                <a:solidFill>
                  <a:srgbClr val="192332"/>
                </a:solidFill>
                <a:latin typeface="Microsoft YaHei"/>
              </a:defRPr>
            </a:pPr>
            <a:r>
              <a:t>重构</a:t>
            </a:r>
          </a:p>
          <a:p>
            <a:pPr>
              <a:spcAft>
                <a:spcPts val="300"/>
              </a:spcAft>
              <a:defRPr sz="1700">
                <a:solidFill>
                  <a:srgbClr val="192332"/>
                </a:solidFill>
                <a:latin typeface="Microsoft YaHei"/>
              </a:defRPr>
            </a:pPr>
            <a:r>
              <a:t>复杂目标识别与复杂事件推理技术群</a:t>
            </a:r>
          </a:p>
          <a:p>
            <a:pPr>
              <a:spcAft>
                <a:spcPts val="300"/>
              </a:spcAft>
              <a:defRPr sz="1700">
                <a:solidFill>
                  <a:srgbClr val="192332"/>
                </a:solidFill>
                <a:latin typeface="Microsoft YaHei"/>
              </a:defRPr>
            </a:pPr>
            <a:r>
              <a:t>认知</a:t>
            </a:r>
          </a:p>
          <a:p>
            <a:pPr>
              <a:spcAft>
                <a:spcPts val="300"/>
              </a:spcAft>
              <a:defRPr sz="1700">
                <a:solidFill>
                  <a:srgbClr val="192332"/>
                </a:solidFill>
                <a:latin typeface="Microsoft YaHei"/>
              </a:defRPr>
            </a:pPr>
            <a:r>
              <a:t>在业界已实现的常规感知的基础上,实现对复杂环境的认知,保证团队产品的竞争优势。</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155680" cy="6035040"/>
          </a:xfrm>
          <a:prstGeom prst="rect">
            <a:avLst/>
          </a:prstGeom>
          <a:noFill/>
        </p:spPr>
        <p:txBody>
          <a:bodyPr wrap="square">
            <a:spAutoFit/>
          </a:bodyPr>
          <a:lstStyle/>
          <a:p>
            <a:pPr>
              <a:spcAft>
                <a:spcPts val="300"/>
              </a:spcAft>
              <a:defRPr sz="1700">
                <a:solidFill>
                  <a:srgbClr val="192332"/>
                </a:solidFill>
                <a:latin typeface="Microsoft YaHei"/>
              </a:defRPr>
            </a:pPr>
            <a:r>
              <a:t>复杂目标识别:实现小目标、模糊目标、被遮挡目标等复杂目标识别。。</a:t>
            </a:r>
          </a:p>
          <a:p>
            <a:pPr>
              <a:spcAft>
                <a:spcPts val="300"/>
              </a:spcAft>
              <a:defRPr sz="1700">
                <a:solidFill>
                  <a:srgbClr val="192332"/>
                </a:solidFill>
                <a:latin typeface="Microsoft YaHei"/>
              </a:defRPr>
            </a:pPr>
            <a:r>
              <a:t>复杂事件推理:面对由子事件组合的复杂事件,通过前步子事件,实现从感知已知事件到预测未</a:t>
            </a:r>
          </a:p>
          <a:p>
            <a:pPr>
              <a:spcAft>
                <a:spcPts val="300"/>
              </a:spcAft>
              <a:defRPr sz="1700">
                <a:solidFill>
                  <a:srgbClr val="192332"/>
                </a:solidFill>
                <a:latin typeface="Microsoft YaHei"/>
              </a:defRPr>
            </a:pPr>
            <a:r>
              <a:t>知事件,防患于未然;基于对复合事件结构的理解,监督事件过程中顺序错位。</a:t>
            </a:r>
          </a:p>
          <a:p>
            <a:pPr>
              <a:spcAft>
                <a:spcPts val="300"/>
              </a:spcAft>
              <a:defRPr sz="1700">
                <a:solidFill>
                  <a:srgbClr val="192332"/>
                </a:solidFill>
                <a:latin typeface="Microsoft YaHei"/>
              </a:defRPr>
            </a:pPr>
            <a:r>
              <a:t>视觉解算及三维轻量化快速构建技术群</a:t>
            </a:r>
          </a:p>
          <a:p>
            <a:pPr>
              <a:spcAft>
                <a:spcPts val="300"/>
              </a:spcAft>
              <a:defRPr sz="1700">
                <a:solidFill>
                  <a:srgbClr val="192332"/>
                </a:solidFill>
                <a:latin typeface="Microsoft YaHei"/>
              </a:defRPr>
            </a:pPr>
            <a:r>
              <a:t>再现</a:t>
            </a:r>
          </a:p>
          <a:p>
            <a:pPr>
              <a:spcAft>
                <a:spcPts val="300"/>
              </a:spcAft>
              <a:defRPr sz="1700">
                <a:solidFill>
                  <a:srgbClr val="192332"/>
                </a:solidFill>
                <a:latin typeface="Microsoft YaHei"/>
              </a:defRPr>
            </a:pPr>
            <a:r>
              <a:t>对环境数字化再现,提供更多的信息参考和用户体验,支撑决策。特色如下:</a:t>
            </a:r>
          </a:p>
          <a:p>
            <a:pPr>
              <a:spcAft>
                <a:spcPts val="300"/>
              </a:spcAft>
              <a:defRPr sz="1700">
                <a:solidFill>
                  <a:srgbClr val="192332"/>
                </a:solidFill>
                <a:latin typeface="Microsoft YaHei"/>
              </a:defRPr>
            </a:pPr>
            <a:r>
              <a:t>实现对目标位置、姿态、体量、速度、轨迹的便捷、高精度测量。</a:t>
            </a:r>
          </a:p>
          <a:p>
            <a:pPr>
              <a:spcAft>
                <a:spcPts val="300"/>
              </a:spcAft>
              <a:defRPr sz="1700">
                <a:solidFill>
                  <a:srgbClr val="192332"/>
                </a:solidFill>
                <a:latin typeface="Microsoft YaHei"/>
              </a:defRPr>
            </a:pPr>
            <a:r>
              <a:t>在保证生成质量的前提下,设计适合轻量化采集的模型,提升采集便捷度;</a:t>
            </a:r>
          </a:p>
          <a:p>
            <a:pPr>
              <a:spcAft>
                <a:spcPts val="300"/>
              </a:spcAft>
              <a:defRPr sz="1700">
                <a:solidFill>
                  <a:srgbClr val="192332"/>
                </a:solidFill>
                <a:latin typeface="Microsoft YaHei"/>
              </a:defRPr>
            </a:pPr>
            <a:r>
              <a:t>改进模型,提升生成速度,实现较大三维场景的分钟级生成,极大拓展了应用场景。</a:t>
            </a:r>
          </a:p>
          <a:p>
            <a:pPr>
              <a:spcAft>
                <a:spcPts val="300"/>
              </a:spcAft>
              <a:defRPr sz="1700">
                <a:solidFill>
                  <a:srgbClr val="192332"/>
                </a:solidFill>
                <a:latin typeface="Microsoft YaHei"/>
              </a:defRPr>
            </a:pPr>
          </a:p>
          <a:p>
            <a:pPr>
              <a:spcAft>
                <a:spcPts val="300"/>
              </a:spcAft>
              <a:defRPr sz="1700">
                <a:solidFill>
                  <a:srgbClr val="192332"/>
                </a:solidFill>
                <a:latin typeface="Microsoft YaHei"/>
              </a:defRPr>
            </a:pPr>
          </a:p>
          <a:p>
            <a:pPr>
              <a:spcAft>
                <a:spcPts val="300"/>
              </a:spcAft>
              <a:defRPr sz="1700">
                <a:solidFill>
                  <a:srgbClr val="192332"/>
                </a:solidFill>
                <a:latin typeface="Microsoft YaHei"/>
              </a:defRPr>
            </a:pPr>
          </a:p>
          <a:p>
            <a:pPr>
              <a:spcAft>
                <a:spcPts val="300"/>
              </a:spcAft>
              <a:defRPr sz="1700">
                <a:solidFill>
                  <a:srgbClr val="192332"/>
                </a:solidFill>
                <a:latin typeface="Microsoft YaHei"/>
              </a:defRPr>
            </a:pPr>
            <a:r>
              <a:t>基于CV大模型的视觉感知再现</a:t>
            </a:r>
          </a:p>
          <a:p>
            <a:pPr>
              <a:spcAft>
                <a:spcPts val="300"/>
              </a:spcAft>
              <a:defRPr sz="1700">
                <a:solidFill>
                  <a:srgbClr val="192332"/>
                </a:solidFill>
                <a:latin typeface="Microsoft YaHei"/>
              </a:defRPr>
            </a:pPr>
            <a:r>
              <a:t>新技术研发与产业化</a:t>
            </a:r>
          </a:p>
          <a:p>
            <a:pPr>
              <a:spcAft>
                <a:spcPts val="300"/>
              </a:spcAft>
              <a:defRPr sz="1700">
                <a:solidFill>
                  <a:srgbClr val="192332"/>
                </a:solidFill>
                <a:latin typeface="Microsoft YaHei"/>
              </a:defRPr>
            </a:pPr>
            <a:r>
              <a:t>人工智能+机器视觉</a:t>
            </a:r>
          </a:p>
          <a:p>
            <a:pPr>
              <a:spcAft>
                <a:spcPts val="300"/>
              </a:spcAft>
              <a:defRPr sz="1700">
                <a:solidFill>
                  <a:srgbClr val="192332"/>
                </a:solidFill>
                <a:latin typeface="Microsoft YaHei"/>
              </a:defRPr>
            </a:pPr>
            <a:r>
              <a:t>南京深眸智算科技有限公司</a:t>
            </a:r>
          </a:p>
          <a:p>
            <a:pPr>
              <a:spcAft>
                <a:spcPts val="300"/>
              </a:spcAft>
              <a:defRPr sz="1700">
                <a:solidFill>
                  <a:srgbClr val="192332"/>
                </a:solidFill>
                <a:latin typeface="Microsoft YaHei"/>
              </a:defRPr>
            </a:pPr>
            <a:r>
              <a:t>2026.06</a:t>
            </a:r>
          </a:p>
          <a:p>
            <a:pPr>
              <a:spcAft>
                <a:spcPts val="300"/>
              </a:spcAft>
              <a:defRPr sz="1700">
                <a:solidFill>
                  <a:srgbClr val="192332"/>
                </a:solidFill>
                <a:latin typeface="Microsoft YaHei"/>
              </a:defRPr>
            </a:pP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155680" cy="6035040"/>
          </a:xfrm>
          <a:prstGeom prst="rect">
            <a:avLst/>
          </a:prstGeom>
          <a:noFill/>
        </p:spPr>
        <p:txBody>
          <a:bodyPr wrap="square">
            <a:spAutoFit/>
          </a:bodyPr>
          <a:lstStyle/>
          <a:p>
            <a:pPr>
              <a:spcAft>
                <a:spcPts val="300"/>
              </a:spcAft>
              <a:defRPr sz="1700">
                <a:solidFill>
                  <a:srgbClr val="192332"/>
                </a:solidFill>
                <a:latin typeface="Microsoft YaHei"/>
              </a:defRPr>
            </a:pPr>
          </a:p>
          <a:p>
            <a:pPr>
              <a:spcAft>
                <a:spcPts val="300"/>
              </a:spcAft>
              <a:defRPr sz="1700">
                <a:solidFill>
                  <a:srgbClr val="192332"/>
                </a:solidFill>
                <a:latin typeface="Microsoft YaHei"/>
              </a:defRPr>
            </a:pPr>
          </a:p>
          <a:p>
            <a:pPr>
              <a:spcAft>
                <a:spcPts val="300"/>
              </a:spcAft>
              <a:defRPr sz="1700">
                <a:solidFill>
                  <a:srgbClr val="192332"/>
                </a:solidFill>
                <a:latin typeface="Microsoft YaHei"/>
              </a:defRPr>
            </a:pPr>
            <a:r>
              <a:t>1.辅助驾驶及作业避障</a:t>
            </a:r>
          </a:p>
          <a:p>
            <a:pPr>
              <a:spcAft>
                <a:spcPts val="300"/>
              </a:spcAft>
              <a:defRPr sz="1700">
                <a:solidFill>
                  <a:srgbClr val="192332"/>
                </a:solidFill>
                <a:latin typeface="Microsoft YaHei"/>
              </a:defRPr>
            </a:pPr>
            <a:r>
              <a:t>驾驶辅助与视线交互应用延申</a:t>
            </a:r>
          </a:p>
          <a:p>
            <a:pPr>
              <a:spcAft>
                <a:spcPts val="300"/>
              </a:spcAft>
              <a:defRPr sz="1700">
                <a:solidFill>
                  <a:srgbClr val="192332"/>
                </a:solidFill>
                <a:latin typeface="Microsoft YaHei"/>
              </a:defRPr>
            </a:pPr>
            <a:r>
              <a:t>多数人不放心复杂场景下自动驾驶,人驾驶必将在很长时间内是驾驶主流。</a:t>
            </a:r>
          </a:p>
          <a:p>
            <a:pPr>
              <a:spcAft>
                <a:spcPts val="300"/>
              </a:spcAft>
              <a:defRPr sz="1700">
                <a:solidFill>
                  <a:srgbClr val="192332"/>
                </a:solidFill>
                <a:latin typeface="Microsoft YaHei"/>
              </a:defRPr>
            </a:pPr>
            <a:r>
              <a:t>无需戴眼镜,摄像头捕捉视线感知驾驶员注意力变化,判断疲劳驾驶、酒驾。识别周围车辆、行</a:t>
            </a:r>
          </a:p>
          <a:p>
            <a:pPr>
              <a:spcAft>
                <a:spcPts val="300"/>
              </a:spcAft>
              <a:defRPr sz="1700">
                <a:solidFill>
                  <a:srgbClr val="192332"/>
                </a:solidFill>
                <a:latin typeface="Microsoft YaHei"/>
              </a:defRPr>
            </a:pPr>
            <a:r>
              <a:t>人、道路线形、标志标线等;分析目标运动过程,判断碰撞、压线驾驶、危险变道、追尾等。</a:t>
            </a:r>
          </a:p>
          <a:p>
            <a:pPr>
              <a:spcAft>
                <a:spcPts val="300"/>
              </a:spcAft>
              <a:defRPr sz="1700">
                <a:solidFill>
                  <a:srgbClr val="192332"/>
                </a:solidFill>
                <a:latin typeface="Microsoft YaHei"/>
              </a:defRPr>
            </a:pPr>
            <a:r>
              <a:t>国内首款“感知外界异常-检测司机异常-分析司机面对外界变化的认知”产品,提供更精准的</a:t>
            </a:r>
          </a:p>
          <a:p>
            <a:pPr>
              <a:spcAft>
                <a:spcPts val="300"/>
              </a:spcAft>
              <a:defRPr sz="1700">
                <a:solidFill>
                  <a:srgbClr val="192332"/>
                </a:solidFill>
                <a:latin typeface="Microsoft YaHei"/>
              </a:defRPr>
            </a:pPr>
            <a:r>
              <a:t>预警。</a:t>
            </a:r>
          </a:p>
          <a:p>
            <a:pPr>
              <a:spcAft>
                <a:spcPts val="300"/>
              </a:spcAft>
              <a:defRPr sz="1700">
                <a:solidFill>
                  <a:srgbClr val="192332"/>
                </a:solidFill>
                <a:latin typeface="Microsoft YaHei"/>
              </a:defRPr>
            </a:pPr>
            <a:r>
              <a:t>其中,视线捕捉技术还用于人群非侵入注意力调查、作为交互手段提供重病人需求表达、虚拟视</a:t>
            </a:r>
          </a:p>
          <a:p>
            <a:pPr>
              <a:spcAft>
                <a:spcPts val="300"/>
              </a:spcAft>
              <a:defRPr sz="1700">
                <a:solidFill>
                  <a:srgbClr val="192332"/>
                </a:solidFill>
                <a:latin typeface="Microsoft YaHei"/>
              </a:defRPr>
            </a:pPr>
            <a:r>
              <a:t>境交互、心理分析,有广阔的延申市场空间。</a:t>
            </a:r>
          </a:p>
          <a:p>
            <a:pPr>
              <a:spcAft>
                <a:spcPts val="300"/>
              </a:spcAft>
              <a:defRPr sz="1700">
                <a:solidFill>
                  <a:srgbClr val="192332"/>
                </a:solidFill>
                <a:latin typeface="Microsoft YaHei"/>
              </a:defRPr>
            </a:pPr>
            <a:r>
              <a:t>监测功能</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155680" cy="6035040"/>
          </a:xfrm>
          <a:prstGeom prst="rect">
            <a:avLst/>
          </a:prstGeom>
          <a:noFill/>
        </p:spPr>
        <p:txBody>
          <a:bodyPr wrap="square">
            <a:spAutoFit/>
          </a:bodyPr>
          <a:lstStyle/>
          <a:p>
            <a:pPr>
              <a:spcAft>
                <a:spcPts val="300"/>
              </a:spcAft>
              <a:defRPr sz="1700">
                <a:solidFill>
                  <a:srgbClr val="192332"/>
                </a:solidFill>
                <a:latin typeface="Microsoft YaHei"/>
              </a:defRPr>
            </a:pPr>
            <a:r>
              <a:t>非侵入式测量被试者注视方向,精度达到3°</a:t>
            </a:r>
          </a:p>
          <a:p>
            <a:pPr>
              <a:spcAft>
                <a:spcPts val="300"/>
              </a:spcAft>
              <a:defRPr sz="1700">
                <a:solidFill>
                  <a:srgbClr val="192332"/>
                </a:solidFill>
                <a:latin typeface="Microsoft YaHei"/>
              </a:defRPr>
            </a:pPr>
            <a:r>
              <a:t>适配场景</a:t>
            </a:r>
          </a:p>
          <a:p>
            <a:pPr>
              <a:spcAft>
                <a:spcPts val="300"/>
              </a:spcAft>
              <a:defRPr sz="1700">
                <a:solidFill>
                  <a:srgbClr val="192332"/>
                </a:solidFill>
                <a:latin typeface="Microsoft YaHei"/>
              </a:defRPr>
            </a:pPr>
            <a:r>
              <a:t>适配于驾驶监测、导诊、避障等多种场景</a:t>
            </a:r>
          </a:p>
          <a:p>
            <a:pPr>
              <a:spcAft>
                <a:spcPts val="300"/>
              </a:spcAft>
              <a:defRPr sz="1700">
                <a:solidFill>
                  <a:srgbClr val="192332"/>
                </a:solidFill>
                <a:latin typeface="Microsoft YaHei"/>
              </a:defRPr>
            </a:pPr>
          </a:p>
          <a:p>
            <a:pPr>
              <a:spcAft>
                <a:spcPts val="300"/>
              </a:spcAft>
              <a:defRPr sz="1700">
                <a:solidFill>
                  <a:srgbClr val="192332"/>
                </a:solidFill>
                <a:latin typeface="Microsoft YaHei"/>
              </a:defRPr>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