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94360"/>
            <a:ext cx="10698480" cy="1097280"/>
          </a:xfrm>
          <a:prstGeom prst="rect">
            <a:avLst/>
          </a:prstGeom>
          <a:noFill/>
        </p:spPr>
        <p:txBody>
          <a:bodyPr wrap="none">
            <a:spAutoFit/>
          </a:bodyPr>
          <a:lstStyle/>
          <a:p>
            <a:pPr>
              <a:defRPr sz="3200">
                <a:latin typeface="Microsoft YaHei"/>
              </a:defRPr>
            </a:pPr>
            <a:r>
              <a:t>西部动力-世界高端工业母机核心功能部件供应商</a:t>
            </a:r>
          </a:p>
        </p:txBody>
      </p:sp>
      <p:sp>
        <p:nvSpPr>
          <p:cNvPr id="3" name="TextBox 2"/>
          <p:cNvSpPr txBox="1"/>
          <p:nvPr/>
        </p:nvSpPr>
        <p:spPr>
          <a:xfrm>
            <a:off x="822960" y="1828800"/>
            <a:ext cx="10332720" cy="3657600"/>
          </a:xfrm>
          <a:prstGeom prst="rect">
            <a:avLst/>
          </a:prstGeom>
          <a:noFill/>
        </p:spPr>
        <p:txBody>
          <a:bodyPr wrap="square">
            <a:spAutoFit/>
          </a:bodyPr>
          <a:lstStyle/>
          <a:p>
            <a:pPr>
              <a:defRPr sz="2400">
                <a:latin typeface="Microsoft YaHei"/>
              </a:defRPr>
            </a:pPr>
            <a:r>
              <a:t>实验合成输入：依原用户请求与文件名推断用途；不是原企业文件，不构成真实政策、人物履历或公开论文。</a:t>
            </a:r>
          </a:p>
        </p:txBody>
      </p:sp>
      <p:sp>
        <p:nvSpPr>
          <p:cNvPr id="4" name="TextBox 3"/>
          <p:cNvSpPr txBox="1"/>
          <p:nvPr/>
        </p:nvSpPr>
        <p:spPr>
          <a:xfrm>
            <a:off x="822960" y="6217920"/>
            <a:ext cx="10332720" cy="274320"/>
          </a:xfrm>
          <a:prstGeom prst="rect">
            <a:avLst/>
          </a:prstGeom>
          <a:noFill/>
        </p:spPr>
        <p:txBody>
          <a:bodyPr wrap="none">
            <a:spAutoFit/>
          </a:bodyPr>
          <a:lstStyle/>
          <a:p>
            <a:pPr>
              <a:defRPr sz="1100"/>
            </a:pPr>
            <a:r>
              <a:t>合成原始材料 / 第1页</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94360"/>
            <a:ext cx="10698480" cy="1097280"/>
          </a:xfrm>
          <a:prstGeom prst="rect">
            <a:avLst/>
          </a:prstGeom>
          <a:noFill/>
        </p:spPr>
        <p:txBody>
          <a:bodyPr wrap="none">
            <a:spAutoFit/>
          </a:bodyPr>
          <a:lstStyle/>
          <a:p>
            <a:pPr>
              <a:defRPr sz="3200">
                <a:latin typeface="Microsoft YaHei"/>
              </a:defRPr>
            </a:pPr>
            <a:r>
              <a:t>业务背景</a:t>
            </a:r>
          </a:p>
        </p:txBody>
      </p:sp>
      <p:sp>
        <p:nvSpPr>
          <p:cNvPr id="3" name="TextBox 2"/>
          <p:cNvSpPr txBox="1"/>
          <p:nvPr/>
        </p:nvSpPr>
        <p:spPr>
          <a:xfrm>
            <a:off x="822960" y="1828800"/>
            <a:ext cx="10332720" cy="3657600"/>
          </a:xfrm>
          <a:prstGeom prst="rect">
            <a:avLst/>
          </a:prstGeom>
          <a:noFill/>
        </p:spPr>
        <p:txBody>
          <a:bodyPr wrap="square">
            <a:spAutoFit/>
          </a:bodyPr>
          <a:lstStyle/>
          <a:p>
            <a:pPr>
              <a:defRPr sz="2400">
                <a:latin typeface="Microsoft YaHei"/>
              </a:defRPr>
            </a:pPr>
            <a:r>
              <a:t>西部动力-世界高端工业母机核心功能部件供应商包含合成客户的产品需求与初始规格，用于后续需求比对、报价整理或交付范围确认。客户身份、金额与规格为实验设置。</a:t>
            </a:r>
          </a:p>
        </p:txBody>
      </p:sp>
      <p:sp>
        <p:nvSpPr>
          <p:cNvPr id="4" name="TextBox 3"/>
          <p:cNvSpPr txBox="1"/>
          <p:nvPr/>
        </p:nvSpPr>
        <p:spPr>
          <a:xfrm>
            <a:off x="822960" y="6217920"/>
            <a:ext cx="10332720" cy="274320"/>
          </a:xfrm>
          <a:prstGeom prst="rect">
            <a:avLst/>
          </a:prstGeom>
          <a:noFill/>
        </p:spPr>
        <p:txBody>
          <a:bodyPr wrap="none">
            <a:spAutoFit/>
          </a:bodyPr>
          <a:lstStyle/>
          <a:p>
            <a:pPr>
              <a:defRPr sz="1100"/>
            </a:pPr>
            <a:r>
              <a:t>合成原始材料 / 第2页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94360"/>
            <a:ext cx="10698480" cy="1097280"/>
          </a:xfrm>
          <a:prstGeom prst="rect">
            <a:avLst/>
          </a:prstGeom>
          <a:noFill/>
        </p:spPr>
        <p:txBody>
          <a:bodyPr wrap="none">
            <a:spAutoFit/>
          </a:bodyPr>
          <a:lstStyle/>
          <a:p>
            <a:pPr>
              <a:defRPr sz="3200">
                <a:latin typeface="Microsoft YaHei"/>
              </a:defRPr>
            </a:pPr>
            <a:r>
              <a:t>客户需求</a:t>
            </a:r>
          </a:p>
        </p:txBody>
      </p:sp>
      <p:sp>
        <p:nvSpPr>
          <p:cNvPr id="3" name="TextBox 2"/>
          <p:cNvSpPr txBox="1"/>
          <p:nvPr/>
        </p:nvSpPr>
        <p:spPr>
          <a:xfrm>
            <a:off x="822960" y="1828800"/>
            <a:ext cx="10332720" cy="3657600"/>
          </a:xfrm>
          <a:prstGeom prst="rect">
            <a:avLst/>
          </a:prstGeom>
          <a:noFill/>
        </p:spPr>
        <p:txBody>
          <a:bodyPr wrap="square">
            <a:spAutoFit/>
          </a:bodyPr>
          <a:lstStyle/>
          <a:p>
            <a:pPr>
              <a:defRPr sz="2400">
                <a:latin typeface="Microsoft YaHei"/>
              </a:defRPr>
            </a:pPr>
            <a:r>
              <a:t>客户需要检测模块、控制终端和配套组件。主要工作条件为供电24V、环境温度0至45℃，部分产品要求RS485通信与IP54防护。不同订单的需求数量及交期不同。</a:t>
            </a:r>
          </a:p>
        </p:txBody>
      </p:sp>
      <p:sp>
        <p:nvSpPr>
          <p:cNvPr id="4" name="TextBox 3"/>
          <p:cNvSpPr txBox="1"/>
          <p:nvPr/>
        </p:nvSpPr>
        <p:spPr>
          <a:xfrm>
            <a:off x="822960" y="6217920"/>
            <a:ext cx="10332720" cy="274320"/>
          </a:xfrm>
          <a:prstGeom prst="rect">
            <a:avLst/>
          </a:prstGeom>
          <a:noFill/>
        </p:spPr>
        <p:txBody>
          <a:bodyPr wrap="none">
            <a:spAutoFit/>
          </a:bodyPr>
          <a:lstStyle/>
          <a:p>
            <a:pPr>
              <a:defRPr sz="1100"/>
            </a:pPr>
            <a:r>
              <a:t>合成原始材料 / 第3页</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94360"/>
            <a:ext cx="10698480" cy="1097280"/>
          </a:xfrm>
          <a:prstGeom prst="rect">
            <a:avLst/>
          </a:prstGeom>
          <a:noFill/>
        </p:spPr>
        <p:txBody>
          <a:bodyPr wrap="none">
            <a:spAutoFit/>
          </a:bodyPr>
          <a:lstStyle/>
          <a:p>
            <a:pPr>
              <a:defRPr sz="3200">
                <a:latin typeface="Microsoft YaHei"/>
              </a:defRPr>
            </a:pPr>
            <a:r>
              <a:t>现有产品规格</a:t>
            </a:r>
          </a:p>
        </p:txBody>
      </p:sp>
      <p:sp>
        <p:nvSpPr>
          <p:cNvPr id="3" name="TextBox 2"/>
          <p:cNvSpPr txBox="1"/>
          <p:nvPr/>
        </p:nvSpPr>
        <p:spPr>
          <a:xfrm>
            <a:off x="822960" y="1828800"/>
            <a:ext cx="10332720" cy="3657600"/>
          </a:xfrm>
          <a:prstGeom prst="rect">
            <a:avLst/>
          </a:prstGeom>
          <a:noFill/>
        </p:spPr>
        <p:txBody>
          <a:bodyPr wrap="square">
            <a:spAutoFit/>
          </a:bodyPr>
          <a:lstStyle/>
          <a:p>
            <a:pPr>
              <a:defRPr sz="2400">
                <a:latin typeface="Microsoft YaHei"/>
              </a:defRPr>
            </a:pPr>
            <a:r>
              <a:t>标准型控制终端支持24V供电、RS485接口和0至40℃环境；增强型支持0至50℃，防护达到IP54。检测模块精度分为两个等级，出厂报告按批次提供。</a:t>
            </a:r>
          </a:p>
        </p:txBody>
      </p:sp>
      <p:sp>
        <p:nvSpPr>
          <p:cNvPr id="4" name="TextBox 3"/>
          <p:cNvSpPr txBox="1"/>
          <p:nvPr/>
        </p:nvSpPr>
        <p:spPr>
          <a:xfrm>
            <a:off x="822960" y="6217920"/>
            <a:ext cx="10332720" cy="274320"/>
          </a:xfrm>
          <a:prstGeom prst="rect">
            <a:avLst/>
          </a:prstGeom>
          <a:noFill/>
        </p:spPr>
        <p:txBody>
          <a:bodyPr wrap="none">
            <a:spAutoFit/>
          </a:bodyPr>
          <a:lstStyle/>
          <a:p>
            <a:pPr>
              <a:defRPr sz="1100"/>
            </a:pPr>
            <a:r>
              <a:t>合成原始材料 / 第4页</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94360"/>
            <a:ext cx="10698480" cy="1097280"/>
          </a:xfrm>
          <a:prstGeom prst="rect">
            <a:avLst/>
          </a:prstGeom>
          <a:noFill/>
        </p:spPr>
        <p:txBody>
          <a:bodyPr wrap="none">
            <a:spAutoFit/>
          </a:bodyPr>
          <a:lstStyle/>
          <a:p>
            <a:pPr>
              <a:defRPr sz="3200">
                <a:latin typeface="Microsoft YaHei"/>
              </a:defRPr>
            </a:pPr>
            <a:r>
              <a:t>交易与交付条件</a:t>
            </a:r>
          </a:p>
        </p:txBody>
      </p:sp>
      <p:sp>
        <p:nvSpPr>
          <p:cNvPr id="3" name="TextBox 2"/>
          <p:cNvSpPr txBox="1"/>
          <p:nvPr/>
        </p:nvSpPr>
        <p:spPr>
          <a:xfrm>
            <a:off x="822960" y="1828800"/>
            <a:ext cx="10332720" cy="3657600"/>
          </a:xfrm>
          <a:prstGeom prst="rect">
            <a:avLst/>
          </a:prstGeom>
          <a:noFill/>
        </p:spPr>
        <p:txBody>
          <a:bodyPr wrap="square">
            <a:spAutoFit/>
          </a:bodyPr>
          <a:lstStyle/>
          <a:p>
            <a:pPr>
              <a:defRPr sz="2400">
                <a:latin typeface="Microsoft YaHei"/>
              </a:defRPr>
            </a:pPr>
            <a:r>
              <a:t>初始报价有效期为30天，批量价格与样品价格区分。交期从技术条件确认与预付款收到之日开始计算。客户特殊测试不包含在默认服务范围内。</a:t>
            </a:r>
          </a:p>
        </p:txBody>
      </p:sp>
      <p:sp>
        <p:nvSpPr>
          <p:cNvPr id="4" name="TextBox 3"/>
          <p:cNvSpPr txBox="1"/>
          <p:nvPr/>
        </p:nvSpPr>
        <p:spPr>
          <a:xfrm>
            <a:off x="822960" y="6217920"/>
            <a:ext cx="10332720" cy="274320"/>
          </a:xfrm>
          <a:prstGeom prst="rect">
            <a:avLst/>
          </a:prstGeom>
          <a:noFill/>
        </p:spPr>
        <p:txBody>
          <a:bodyPr wrap="none">
            <a:spAutoFit/>
          </a:bodyPr>
          <a:lstStyle/>
          <a:p>
            <a:pPr>
              <a:defRPr sz="1100"/>
            </a:pPr>
            <a:r>
              <a:t>合成原始材料 / 第5页</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94360"/>
            <a:ext cx="10698480" cy="1097280"/>
          </a:xfrm>
          <a:prstGeom prst="rect">
            <a:avLst/>
          </a:prstGeom>
          <a:noFill/>
        </p:spPr>
        <p:txBody>
          <a:bodyPr wrap="none">
            <a:spAutoFit/>
          </a:bodyPr>
          <a:lstStyle/>
          <a:p>
            <a:pPr>
              <a:defRPr sz="3200">
                <a:latin typeface="Microsoft YaHei"/>
              </a:defRPr>
            </a:pPr>
            <a:r>
              <a:t>待确认项</a:t>
            </a:r>
          </a:p>
        </p:txBody>
      </p:sp>
      <p:sp>
        <p:nvSpPr>
          <p:cNvPr id="3" name="TextBox 2"/>
          <p:cNvSpPr txBox="1"/>
          <p:nvPr/>
        </p:nvSpPr>
        <p:spPr>
          <a:xfrm>
            <a:off x="822960" y="1828800"/>
            <a:ext cx="10332720" cy="3657600"/>
          </a:xfrm>
          <a:prstGeom prst="rect">
            <a:avLst/>
          </a:prstGeom>
          <a:noFill/>
        </p:spPr>
        <p:txBody>
          <a:bodyPr wrap="square">
            <a:spAutoFit/>
          </a:bodyPr>
          <a:lstStyle/>
          <a:p>
            <a:pPr>
              <a:defRPr sz="2400">
                <a:latin typeface="Microsoft YaHei"/>
              </a:defRPr>
            </a:pPr>
            <a:r>
              <a:t>需要核实防护等级、工作温度、测试样本和售后周期。这里保留尚未解决的差异，agent须依据输入真实执行比对，不能使用预写匹配答案。</a:t>
            </a:r>
          </a:p>
        </p:txBody>
      </p:sp>
      <p:sp>
        <p:nvSpPr>
          <p:cNvPr id="4" name="TextBox 3"/>
          <p:cNvSpPr txBox="1"/>
          <p:nvPr/>
        </p:nvSpPr>
        <p:spPr>
          <a:xfrm>
            <a:off x="822960" y="6217920"/>
            <a:ext cx="10332720" cy="274320"/>
          </a:xfrm>
          <a:prstGeom prst="rect">
            <a:avLst/>
          </a:prstGeom>
          <a:noFill/>
        </p:spPr>
        <p:txBody>
          <a:bodyPr wrap="none">
            <a:spAutoFit/>
          </a:bodyPr>
          <a:lstStyle/>
          <a:p>
            <a:pPr>
              <a:defRPr sz="1100"/>
            </a:pPr>
            <a:r>
              <a:t>合成原始材料 / 第6页</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