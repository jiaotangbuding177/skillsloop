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82" r:id="rId2"/>
    <p:sldId id="347" r:id="rId3"/>
    <p:sldId id="572" r:id="rId4"/>
    <p:sldId id="633" r:id="rId5"/>
    <p:sldId id="634" r:id="rId6"/>
    <p:sldId id="635" r:id="rId7"/>
    <p:sldId id="628" r:id="rId8"/>
    <p:sldId id="629" r:id="rId9"/>
    <p:sldId id="630" r:id="rId10"/>
    <p:sldId id="631" r:id="rId11"/>
    <p:sldId id="619" r:id="rId12"/>
    <p:sldId id="620" r:id="rId13"/>
    <p:sldId id="622" r:id="rId14"/>
    <p:sldId id="621" r:id="rId15"/>
    <p:sldId id="611" r:id="rId16"/>
    <p:sldId id="612" r:id="rId17"/>
    <p:sldId id="613" r:id="rId18"/>
    <p:sldId id="614" r:id="rId19"/>
    <p:sldId id="615" r:id="rId20"/>
    <p:sldId id="616" r:id="rId21"/>
    <p:sldId id="617" r:id="rId22"/>
    <p:sldId id="618" r:id="rId23"/>
    <p:sldId id="623" r:id="rId24"/>
    <p:sldId id="624" r:id="rId25"/>
    <p:sldId id="625" r:id="rId26"/>
    <p:sldId id="632" r:id="rId27"/>
    <p:sldId id="587" r:id="rId28"/>
    <p:sldId id="583" r:id="rId29"/>
    <p:sldId id="584" r:id="rId30"/>
    <p:sldId id="610" r:id="rId31"/>
    <p:sldId id="627" r:id="rId32"/>
    <p:sldId id="575" r:id="rId33"/>
    <p:sldId id="578" r:id="rId34"/>
    <p:sldId id="571" r:id="rId35"/>
    <p:sldId id="417" r:id="rId36"/>
    <p:sldId id="586" r:id="rId37"/>
    <p:sldId id="421" r:id="rId38"/>
    <p:sldId id="542" r:id="rId39"/>
    <p:sldId id="636" r:id="rId40"/>
    <p:sldId id="596" r:id="rId41"/>
  </p:sldIdLst>
  <p:sldSz cx="15119350" cy="850741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67055" lvl="1" indent="-109855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133475" lvl="2" indent="-219075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700530" lvl="3" indent="-32893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266950" lvl="4" indent="-4381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-4381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-4381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-4381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-4381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05">
          <p15:clr>
            <a:srgbClr val="A4A3A4"/>
          </p15:clr>
        </p15:guide>
        <p15:guide id="2" pos="475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8C8C8"/>
    <a:srgbClr val="0563B8"/>
    <a:srgbClr val="EEEEEE"/>
    <a:srgbClr val="E6E6E6"/>
    <a:srgbClr val="F5F7F9"/>
    <a:srgbClr val="EDF0F3"/>
    <a:srgbClr val="D6DDE2"/>
    <a:srgbClr val="428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41"/>
    <p:restoredTop sz="93877"/>
  </p:normalViewPr>
  <p:slideViewPr>
    <p:cSldViewPr showGuides="1">
      <p:cViewPr varScale="1">
        <p:scale>
          <a:sx n="87" d="100"/>
          <a:sy n="87" d="100"/>
        </p:scale>
        <p:origin x="66" y="54"/>
      </p:cViewPr>
      <p:guideLst>
        <p:guide orient="horz" pos="2805"/>
        <p:guide pos="475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8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8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03BAB-6C28-4D50-827A-6A2658B6450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002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6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567055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1133475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70053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226695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76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6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536E84-35B6-413A-823D-D67C4466F1E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0934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6705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13347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70053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26695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835275" algn="l" defTabSz="1133475" rtl="0" eaLnBrk="1" latinLnBrk="0" hangingPunct="1">
      <a:defRPr sz="1490" kern="1200">
        <a:solidFill>
          <a:schemeClr val="tx1"/>
        </a:solidFill>
        <a:latin typeface="+mn-lt"/>
        <a:ea typeface="+mn-ea"/>
        <a:cs typeface="+mn-cs"/>
      </a:defRPr>
    </a:lvl6pPr>
    <a:lvl7pPr marL="3402330" algn="l" defTabSz="1133475" rtl="0" eaLnBrk="1" latinLnBrk="0" hangingPunct="1">
      <a:defRPr sz="1490" kern="1200">
        <a:solidFill>
          <a:schemeClr val="tx1"/>
        </a:solidFill>
        <a:latin typeface="+mn-lt"/>
        <a:ea typeface="+mn-ea"/>
        <a:cs typeface="+mn-cs"/>
      </a:defRPr>
    </a:lvl7pPr>
    <a:lvl8pPr marL="3969385" algn="l" defTabSz="1133475" rtl="0" eaLnBrk="1" latinLnBrk="0" hangingPunct="1">
      <a:defRPr sz="1490" kern="1200">
        <a:solidFill>
          <a:schemeClr val="tx1"/>
        </a:solidFill>
        <a:latin typeface="+mn-lt"/>
        <a:ea typeface="+mn-ea"/>
        <a:cs typeface="+mn-cs"/>
      </a:defRPr>
    </a:lvl8pPr>
    <a:lvl9pPr marL="4536440" algn="l" defTabSz="1133475" rtl="0" eaLnBrk="1" latinLnBrk="0" hangingPunct="1">
      <a:defRPr sz="149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0752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itrobotgroup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C:\Users\Administrator\Desktop\66.gi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10300" y="2571750"/>
            <a:ext cx="2701925" cy="987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6616700" y="7783513"/>
            <a:ext cx="1885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造字工房悦黑体验版细体"/>
                <a:cs typeface="造字工房悦黑体验版细体"/>
              </a:rPr>
              <a:t>www.hrgrobotics.com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造字工房悦黑体验版细体"/>
              <a:cs typeface="造字工房悦黑体验版细体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首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矩形 5"/>
          <p:cNvSpPr/>
          <p:nvPr userDrawn="1"/>
        </p:nvSpPr>
        <p:spPr>
          <a:xfrm>
            <a:off x="12820650" y="276225"/>
            <a:ext cx="4537075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eaLnBrk="0" hangingPunct="0"/>
            <a:r>
              <a:rPr lang="zh-CN" altLang="en-US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</a:t>
            </a:r>
            <a:r>
              <a:rPr lang="zh-CN" altLang="zh-CN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事业部</a:t>
            </a:r>
            <a:endParaRPr lang="zh-CN" altLang="en-US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02" name="直接连接符 9"/>
          <p:cNvCxnSpPr/>
          <p:nvPr/>
        </p:nvCxnSpPr>
        <p:spPr>
          <a:xfrm>
            <a:off x="12820650" y="663575"/>
            <a:ext cx="2259013" cy="25400"/>
          </a:xfrm>
          <a:prstGeom prst="line">
            <a:avLst/>
          </a:prstGeom>
          <a:ln w="3810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103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638" y="276225"/>
            <a:ext cx="2998787" cy="387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2592050" y="8124825"/>
            <a:ext cx="1941513" cy="301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PAGE </a:t>
            </a:r>
            <a:fld id="{57E91241-A248-4FD1-B5E7-1AF078AAE32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2774613" y="8005763"/>
            <a:ext cx="1941513" cy="300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r">
              <a:defRPr sz="1600">
                <a:solidFill>
                  <a:srgbClr val="7F7F7F"/>
                </a:solidFill>
                <a:ea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PAGE </a:t>
            </a:r>
            <a:fld id="{33BD13A5-E821-4EB3-BDBA-AF0D24E16C8C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‹#›</a:t>
            </a:fld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>
            <a:spLocks noChangeArrowheads="1"/>
          </p:cNvSpPr>
          <p:nvPr/>
        </p:nvSpPr>
        <p:spPr bwMode="auto">
          <a:xfrm>
            <a:off x="5032375" y="2825750"/>
            <a:ext cx="4075113" cy="1016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THANKS</a:t>
            </a: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147" name="组合 6"/>
          <p:cNvGrpSpPr/>
          <p:nvPr userDrawn="1"/>
        </p:nvGrpSpPr>
        <p:grpSpPr>
          <a:xfrm>
            <a:off x="1398588" y="4878388"/>
            <a:ext cx="13484225" cy="1030287"/>
            <a:chOff x="0" y="0"/>
            <a:chExt cx="10873208" cy="830827"/>
          </a:xfrm>
        </p:grpSpPr>
        <p:pic>
          <p:nvPicPr>
            <p:cNvPr id="6148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61925"/>
              <a:ext cx="4608513" cy="57943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TextBox 12"/>
            <p:cNvSpPr>
              <a:spLocks noChangeArrowheads="1"/>
            </p:cNvSpPr>
            <p:nvPr/>
          </p:nvSpPr>
          <p:spPr bwMode="auto">
            <a:xfrm>
              <a:off x="5183143" y="0"/>
              <a:ext cx="5690065" cy="69512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合作热线：400-047-9995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  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    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 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传真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: 0451-51051503  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地址：哈尔滨平房区兴凯路（近大连北路）</a:t>
              </a:r>
            </a:p>
            <a:p>
              <a:pPr marL="0" marR="0" lvl="0" indent="0" algn="l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邮编：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150001    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邮箱：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hrg@hitrobotgroup.com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150" name="直接连接符 14"/>
            <p:cNvSpPr/>
            <p:nvPr/>
          </p:nvSpPr>
          <p:spPr>
            <a:xfrm>
              <a:off x="4897627" y="0"/>
              <a:ext cx="0" cy="830827"/>
            </a:xfrm>
            <a:prstGeom prst="line">
              <a:avLst/>
            </a:prstGeom>
            <a:ln w="9525" cap="flat" cmpd="sng">
              <a:solidFill>
                <a:srgbClr val="BFBFB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cxnSp>
        <p:nvCxnSpPr>
          <p:cNvPr id="6151" name="直接连接符 10"/>
          <p:cNvCxnSpPr/>
          <p:nvPr/>
        </p:nvCxnSpPr>
        <p:spPr>
          <a:xfrm>
            <a:off x="0" y="4343400"/>
            <a:ext cx="15119350" cy="0"/>
          </a:xfrm>
          <a:prstGeom prst="line">
            <a:avLst/>
          </a:prstGeom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0723" y="535920"/>
            <a:ext cx="13457904" cy="80388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7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0723" y="1607760"/>
            <a:ext cx="13457904" cy="6254081"/>
          </a:xfrm>
        </p:spPr>
        <p:txBody>
          <a:bodyPr vert="horz" lIns="101600" tIns="0" rIns="82550" bIns="0" rtlCol="0">
            <a:noAutofit/>
          </a:bodyPr>
          <a:lstStyle>
            <a:lvl1pPr marL="283210" marR="0" lvl="0" indent="-28321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8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850265" marR="0" lvl="1" indent="-28321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8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417320" marR="0" lvl="2" indent="-28321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8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984375" marR="0" lvl="3" indent="-28321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8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551430" marR="0" lvl="4" indent="-28321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8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1090972" y="7877321"/>
            <a:ext cx="3348281" cy="393008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2021/5/20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5104269" y="7877321"/>
            <a:ext cx="4910813" cy="3930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3"/>
          <p:cNvSpPr/>
          <p:nvPr userDrawn="1"/>
        </p:nvSpPr>
        <p:spPr>
          <a:xfrm>
            <a:off x="0" y="8045450"/>
            <a:ext cx="15119350" cy="461963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txBody>
          <a:bodyPr lIns="90000" tIns="46800" rIns="90000" bIns="46800" anchor="t"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27" name="图片 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77863" y="8191500"/>
            <a:ext cx="1768475" cy="169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87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2592050" y="8124825"/>
            <a:ext cx="1941513" cy="301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PAGE </a:t>
            </a:r>
            <a:fld id="{66B6AB69-EAB0-4290-A112-1827DEDCD4A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29" name="等腰三角形 1"/>
          <p:cNvSpPr/>
          <p:nvPr userDrawn="1"/>
        </p:nvSpPr>
        <p:spPr>
          <a:xfrm rot="10800000">
            <a:off x="12960350" y="8026400"/>
            <a:ext cx="333375" cy="198438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noFill/>
          </a:ln>
        </p:spPr>
        <p:txBody>
          <a:bodyPr lIns="90000" tIns="46800" rIns="90000" bIns="46800" anchor="t"/>
          <a:lstStyle/>
          <a:p>
            <a:pPr lvl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zh-CN" altLang="en-US" sz="2000" b="1">
          <a:solidFill>
            <a:srgbClr val="10376B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10376B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10376B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10376B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10376B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1.bin"/><Relationship Id="rId2" Type="http://schemas.openxmlformats.org/officeDocument/2006/relationships/tags" Target="../tags/tag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11" Type="http://schemas.openxmlformats.org/officeDocument/2006/relationships/image" Target="../media/image11.png"/><Relationship Id="rId5" Type="http://schemas.openxmlformats.org/officeDocument/2006/relationships/image" Target="../media/image9.png"/><Relationship Id="rId10" Type="http://schemas.openxmlformats.org/officeDocument/2006/relationships/image" Target="../media/image7.wmf"/><Relationship Id="rId4" Type="http://schemas.openxmlformats.org/officeDocument/2006/relationships/image" Target="../media/image8.png"/><Relationship Id="rId9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12.wmf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9.png"/><Relationship Id="rId12" Type="http://schemas.openxmlformats.org/officeDocument/2006/relationships/oleObject" Target="../embeddings/oleObject3.bin"/><Relationship Id="rId17" Type="http://schemas.openxmlformats.org/officeDocument/2006/relationships/image" Target="../media/image21.jpeg"/><Relationship Id="rId2" Type="http://schemas.openxmlformats.org/officeDocument/2006/relationships/tags" Target="../tags/tag9.xml"/><Relationship Id="rId16" Type="http://schemas.openxmlformats.org/officeDocument/2006/relationships/image" Target="../media/image20.jpeg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png"/><Relationship Id="rId11" Type="http://schemas.openxmlformats.org/officeDocument/2006/relationships/image" Target="../media/image19.jpeg"/><Relationship Id="rId5" Type="http://schemas.openxmlformats.org/officeDocument/2006/relationships/image" Target="../media/image15.jpeg"/><Relationship Id="rId15" Type="http://schemas.openxmlformats.org/officeDocument/2006/relationships/image" Target="../media/image13.wmf"/><Relationship Id="rId10" Type="http://schemas.openxmlformats.org/officeDocument/2006/relationships/image" Target="../media/image18.jpeg"/><Relationship Id="rId4" Type="http://schemas.openxmlformats.org/officeDocument/2006/relationships/image" Target="../media/image14.jpeg"/><Relationship Id="rId9" Type="http://schemas.openxmlformats.org/officeDocument/2006/relationships/image" Target="../media/image17.jpeg"/><Relationship Id="rId1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2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6" Type="http://schemas.microsoft.com/office/2007/relationships/hdphoto" Target="../media/hdphoto1.png"/><Relationship Id="rId5" Type="http://schemas.openxmlformats.org/officeDocument/2006/relationships/image" Target="../media/image22.png"/><Relationship Id="rId10" Type="http://schemas.microsoft.com/office/2007/relationships/hdphoto" Target="../media/hdphoto3.png"/><Relationship Id="rId4" Type="http://schemas.openxmlformats.org/officeDocument/2006/relationships/image" Target="../media/image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5.png"/><Relationship Id="rId3" Type="http://schemas.openxmlformats.org/officeDocument/2006/relationships/image" Target="../media/image8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6" Type="http://schemas.microsoft.com/office/2007/relationships/hdphoto" Target="../media/hdphoto4.png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7.wmf"/><Relationship Id="rId2" Type="http://schemas.openxmlformats.org/officeDocument/2006/relationships/tags" Target="../tags/tag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4.xml"/><Relationship Id="rId7" Type="http://schemas.openxmlformats.org/officeDocument/2006/relationships/image" Target="../media/image29.jpeg"/><Relationship Id="rId2" Type="http://schemas.openxmlformats.org/officeDocument/2006/relationships/tags" Target="../tags/tag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2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2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Relationship Id="rId5" Type="http://schemas.openxmlformats.org/officeDocument/2006/relationships/image" Target="../media/image33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8.png"/><Relationship Id="rId7" Type="http://schemas.openxmlformats.org/officeDocument/2006/relationships/image" Target="../media/image36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9.png"/><Relationship Id="rId9" Type="http://schemas.openxmlformats.org/officeDocument/2006/relationships/image" Target="../media/image3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Relationship Id="rId5" Type="http://schemas.openxmlformats.org/officeDocument/2006/relationships/image" Target="../media/image39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Relationship Id="rId5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Relationship Id="rId5" Type="http://schemas.openxmlformats.org/officeDocument/2006/relationships/image" Target="../media/image41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3" Type="http://schemas.openxmlformats.org/officeDocument/2006/relationships/tags" Target="../tags/tag25.xml"/><Relationship Id="rId21" Type="http://schemas.openxmlformats.org/officeDocument/2006/relationships/slideLayout" Target="../slideLayouts/slideLayout6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image" Target="../media/image9.png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tags" Target="../tags/tag45.xml"/><Relationship Id="rId7" Type="http://schemas.openxmlformats.org/officeDocument/2006/relationships/image" Target="../media/image9.png"/><Relationship Id="rId12" Type="http://schemas.openxmlformats.org/officeDocument/2006/relationships/image" Target="../media/image27.wmf"/><Relationship Id="rId2" Type="http://schemas.openxmlformats.org/officeDocument/2006/relationships/tags" Target="../tags/tag4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png"/><Relationship Id="rId11" Type="http://schemas.openxmlformats.org/officeDocument/2006/relationships/oleObject" Target="../embeddings/oleObject7.bin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46.png"/><Relationship Id="rId4" Type="http://schemas.openxmlformats.org/officeDocument/2006/relationships/tags" Target="../tags/tag46.xml"/><Relationship Id="rId9" Type="http://schemas.openxmlformats.org/officeDocument/2006/relationships/image" Target="../media/image45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26" Type="http://schemas.openxmlformats.org/officeDocument/2006/relationships/slideLayout" Target="../slideLayouts/slideLayout6.xml"/><Relationship Id="rId3" Type="http://schemas.openxmlformats.org/officeDocument/2006/relationships/tags" Target="../tags/tag49.xml"/><Relationship Id="rId21" Type="http://schemas.openxmlformats.org/officeDocument/2006/relationships/tags" Target="../tags/tag67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5" Type="http://schemas.openxmlformats.org/officeDocument/2006/relationships/tags" Target="../tags/tag71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0" Type="http://schemas.openxmlformats.org/officeDocument/2006/relationships/tags" Target="../tags/tag66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24" Type="http://schemas.openxmlformats.org/officeDocument/2006/relationships/tags" Target="../tags/tag70.xml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23" Type="http://schemas.openxmlformats.org/officeDocument/2006/relationships/tags" Target="../tags/tag69.xml"/><Relationship Id="rId28" Type="http://schemas.openxmlformats.org/officeDocument/2006/relationships/image" Target="../media/image9.png"/><Relationship Id="rId10" Type="http://schemas.openxmlformats.org/officeDocument/2006/relationships/tags" Target="../tags/tag56.xml"/><Relationship Id="rId19" Type="http://schemas.openxmlformats.org/officeDocument/2006/relationships/tags" Target="../tags/tag65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Relationship Id="rId22" Type="http://schemas.openxmlformats.org/officeDocument/2006/relationships/tags" Target="../tags/tag68.xml"/><Relationship Id="rId27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tags" Target="../tags/tag73.xml"/><Relationship Id="rId7" Type="http://schemas.openxmlformats.org/officeDocument/2006/relationships/oleObject" Target="../embeddings/oleObject8.bin"/><Relationship Id="rId2" Type="http://schemas.openxmlformats.org/officeDocument/2006/relationships/tags" Target="../tags/tag7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8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47.png"/><Relationship Id="rId5" Type="http://schemas.openxmlformats.org/officeDocument/2006/relationships/image" Target="../media/image9.png"/><Relationship Id="rId10" Type="http://schemas.openxmlformats.org/officeDocument/2006/relationships/image" Target="../media/image51.png"/><Relationship Id="rId4" Type="http://schemas.openxmlformats.org/officeDocument/2006/relationships/image" Target="../media/image8.png"/><Relationship Id="rId9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18" Type="http://schemas.openxmlformats.org/officeDocument/2006/relationships/tags" Target="../tags/tag93.xml"/><Relationship Id="rId26" Type="http://schemas.openxmlformats.org/officeDocument/2006/relationships/tags" Target="../tags/tag101.xml"/><Relationship Id="rId3" Type="http://schemas.openxmlformats.org/officeDocument/2006/relationships/tags" Target="../tags/tag78.xml"/><Relationship Id="rId21" Type="http://schemas.openxmlformats.org/officeDocument/2006/relationships/tags" Target="../tags/tag96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tags" Target="../tags/tag92.xml"/><Relationship Id="rId25" Type="http://schemas.openxmlformats.org/officeDocument/2006/relationships/tags" Target="../tags/tag100.xml"/><Relationship Id="rId2" Type="http://schemas.openxmlformats.org/officeDocument/2006/relationships/tags" Target="../tags/tag77.xml"/><Relationship Id="rId16" Type="http://schemas.openxmlformats.org/officeDocument/2006/relationships/tags" Target="../tags/tag91.xml"/><Relationship Id="rId20" Type="http://schemas.openxmlformats.org/officeDocument/2006/relationships/tags" Target="../tags/tag95.xml"/><Relationship Id="rId29" Type="http://schemas.openxmlformats.org/officeDocument/2006/relationships/notesSlide" Target="../notesSlides/notesSlide1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24" Type="http://schemas.openxmlformats.org/officeDocument/2006/relationships/tags" Target="../tags/tag99.xml"/><Relationship Id="rId5" Type="http://schemas.openxmlformats.org/officeDocument/2006/relationships/tags" Target="../tags/tag80.xml"/><Relationship Id="rId15" Type="http://schemas.openxmlformats.org/officeDocument/2006/relationships/tags" Target="../tags/tag90.xml"/><Relationship Id="rId23" Type="http://schemas.openxmlformats.org/officeDocument/2006/relationships/tags" Target="../tags/tag98.xml"/><Relationship Id="rId28" Type="http://schemas.openxmlformats.org/officeDocument/2006/relationships/slideLayout" Target="../slideLayouts/slideLayout6.xml"/><Relationship Id="rId10" Type="http://schemas.openxmlformats.org/officeDocument/2006/relationships/tags" Target="../tags/tag85.xml"/><Relationship Id="rId19" Type="http://schemas.openxmlformats.org/officeDocument/2006/relationships/tags" Target="../tags/tag94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Relationship Id="rId22" Type="http://schemas.openxmlformats.org/officeDocument/2006/relationships/tags" Target="../tags/tag97.xml"/><Relationship Id="rId27" Type="http://schemas.openxmlformats.org/officeDocument/2006/relationships/tags" Target="../tags/tag102.xml"/><Relationship Id="rId30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3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10.xml"/><Relationship Id="rId4" Type="http://schemas.openxmlformats.org/officeDocument/2006/relationships/tags" Target="../tags/tag10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文本框 1"/>
          <p:cNvSpPr txBox="1"/>
          <p:nvPr/>
        </p:nvSpPr>
        <p:spPr>
          <a:xfrm>
            <a:off x="4179888" y="4829175"/>
            <a:ext cx="6875462" cy="9372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安徽海姬尔智能科技有限公司</a:t>
            </a:r>
          </a:p>
          <a:p>
            <a:pPr algn="ctr">
              <a:lnSpc>
                <a:spcPts val="33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智能护理机器人项目商业计划书</a:t>
            </a:r>
          </a:p>
        </p:txBody>
      </p:sp>
    </p:spTree>
  </p:cSld>
  <p:clrMapOvr>
    <a:masterClrMapping/>
  </p:clrMapOvr>
  <p:transition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5" descr="C:\Users\Administrator\Desktop\机器人磨削系统图片1.jpg"/>
          <p:cNvPicPr>
            <a:picLocks noChangeAspect="1"/>
          </p:cNvPicPr>
          <p:nvPr/>
        </p:nvPicPr>
        <p:blipFill>
          <a:blip r:embed="rId2"/>
          <a:srcRect l="37070" t="19206" r="23586" b="23651"/>
          <a:stretch>
            <a:fillRect/>
          </a:stretch>
        </p:blipFill>
        <p:spPr>
          <a:xfrm>
            <a:off x="-1587" y="0"/>
            <a:ext cx="10415587" cy="85121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2" name="组合 9"/>
          <p:cNvGrpSpPr/>
          <p:nvPr/>
        </p:nvGrpSpPr>
        <p:grpSpPr>
          <a:xfrm>
            <a:off x="0" y="0"/>
            <a:ext cx="15119350" cy="8507413"/>
            <a:chOff x="1" y="0"/>
            <a:chExt cx="15119349" cy="8507413"/>
          </a:xfrm>
        </p:grpSpPr>
        <p:sp>
          <p:nvSpPr>
            <p:cNvPr id="20" name="矩形 19"/>
            <p:cNvSpPr/>
            <p:nvPr/>
          </p:nvSpPr>
          <p:spPr>
            <a:xfrm>
              <a:off x="1" y="0"/>
              <a:ext cx="10382249" cy="8507413"/>
            </a:xfrm>
            <a:prstGeom prst="rect">
              <a:avLst/>
            </a:prstGeom>
            <a:solidFill>
              <a:srgbClr val="1F2B3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244" name="矩形 5"/>
            <p:cNvSpPr/>
            <p:nvPr/>
          </p:nvSpPr>
          <p:spPr>
            <a:xfrm>
              <a:off x="6262094" y="0"/>
              <a:ext cx="8857256" cy="850741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90000" tIns="46800" rIns="90000" bIns="46800" anchor="t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45" name="矩形 1"/>
          <p:cNvSpPr/>
          <p:nvPr/>
        </p:nvSpPr>
        <p:spPr>
          <a:xfrm>
            <a:off x="8264525" y="725488"/>
            <a:ext cx="482600" cy="482600"/>
          </a:xfrm>
          <a:prstGeom prst="rect">
            <a:avLst/>
          </a:prstGeom>
          <a:solidFill>
            <a:srgbClr val="0563B8"/>
          </a:solidFill>
          <a:ln w="9525">
            <a:noFill/>
          </a:ln>
        </p:spPr>
        <p:txBody>
          <a:bodyPr lIns="90000" tIns="46800" rIns="90000" bIns="4680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01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8858250" y="725488"/>
            <a:ext cx="3960813" cy="482600"/>
          </a:xfrm>
          <a:prstGeom prst="rect">
            <a:avLst/>
          </a:prstGeom>
          <a:solidFill>
            <a:srgbClr val="E6E6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179705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公司</a:t>
            </a:r>
            <a:r>
              <a:rPr kumimoji="0" lang="zh-CN" altLang="en-US" sz="2000" b="0" i="0" u="none" strike="noStrike" kern="1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概况与项目介绍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47" name="矩形 11"/>
          <p:cNvSpPr/>
          <p:nvPr/>
        </p:nvSpPr>
        <p:spPr>
          <a:xfrm>
            <a:off x="8264525" y="1531938"/>
            <a:ext cx="482600" cy="482600"/>
          </a:xfrm>
          <a:prstGeom prst="rect">
            <a:avLst/>
          </a:prstGeom>
          <a:solidFill>
            <a:srgbClr val="0563B8"/>
          </a:solidFill>
          <a:ln w="9525">
            <a:noFill/>
          </a:ln>
        </p:spPr>
        <p:txBody>
          <a:bodyPr lIns="90000" tIns="46800" rIns="90000" bIns="4680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858250" y="1531938"/>
            <a:ext cx="3960813" cy="482600"/>
          </a:xfrm>
          <a:prstGeom prst="rect">
            <a:avLst/>
          </a:prstGeom>
          <a:solidFill>
            <a:srgbClr val="E6E6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lvl="0" indent="179705" defTabSz="829310">
              <a:spcAft>
                <a:spcPts val="0"/>
              </a:spcAft>
              <a:defRPr/>
            </a:pPr>
            <a:r>
              <a:rPr lang="zh-CN" altLang="en-US" sz="20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公司资质</a:t>
            </a:r>
            <a:endParaRPr lang="en-US" altLang="zh-CN" sz="2000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9" name="矩形 13"/>
          <p:cNvSpPr/>
          <p:nvPr/>
        </p:nvSpPr>
        <p:spPr>
          <a:xfrm>
            <a:off x="8264525" y="2376488"/>
            <a:ext cx="482600" cy="484187"/>
          </a:xfrm>
          <a:prstGeom prst="rect">
            <a:avLst/>
          </a:prstGeom>
          <a:solidFill>
            <a:srgbClr val="0563B8"/>
          </a:solidFill>
          <a:ln w="9525">
            <a:noFill/>
          </a:ln>
        </p:spPr>
        <p:txBody>
          <a:bodyPr lIns="90000" tIns="46800" rIns="90000" bIns="4680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8858250" y="2376488"/>
            <a:ext cx="3960813" cy="484188"/>
          </a:xfrm>
          <a:prstGeom prst="rect">
            <a:avLst/>
          </a:prstGeom>
          <a:solidFill>
            <a:srgbClr val="E6E6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179705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行业及发展趋势分析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51" name="矩形 6"/>
          <p:cNvSpPr/>
          <p:nvPr/>
        </p:nvSpPr>
        <p:spPr>
          <a:xfrm>
            <a:off x="2946400" y="2492375"/>
            <a:ext cx="3316288" cy="3314700"/>
          </a:xfrm>
          <a:prstGeom prst="rect">
            <a:avLst/>
          </a:prstGeom>
          <a:solidFill>
            <a:srgbClr val="0563B8"/>
          </a:solidFill>
          <a:ln w="9525">
            <a:noFill/>
          </a:ln>
        </p:spPr>
        <p:txBody>
          <a:bodyPr lIns="90000" tIns="46800" rIns="90000" bIns="46800"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2" name="Text Box 15"/>
          <p:cNvSpPr/>
          <p:nvPr/>
        </p:nvSpPr>
        <p:spPr>
          <a:xfrm>
            <a:off x="3703638" y="3503613"/>
            <a:ext cx="1800225" cy="64611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  <p:sp>
        <p:nvSpPr>
          <p:cNvPr id="10253" name="圆角矩形 7"/>
          <p:cNvSpPr/>
          <p:nvPr/>
        </p:nvSpPr>
        <p:spPr>
          <a:xfrm>
            <a:off x="3743325" y="4262438"/>
            <a:ext cx="1800225" cy="493712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54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2888" y="7845425"/>
            <a:ext cx="1573212" cy="152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5" name="矩形 13"/>
          <p:cNvSpPr/>
          <p:nvPr/>
        </p:nvSpPr>
        <p:spPr>
          <a:xfrm>
            <a:off x="8261350" y="3194050"/>
            <a:ext cx="482600" cy="484188"/>
          </a:xfrm>
          <a:prstGeom prst="rect">
            <a:avLst/>
          </a:prstGeom>
          <a:solidFill>
            <a:srgbClr val="0563B8"/>
          </a:solidFill>
          <a:ln w="9525">
            <a:noFill/>
          </a:ln>
        </p:spPr>
        <p:txBody>
          <a:bodyPr lIns="90000" tIns="46800" rIns="90000" bIns="4680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04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8855075" y="3194050"/>
            <a:ext cx="3960813" cy="484188"/>
          </a:xfrm>
          <a:prstGeom prst="rect">
            <a:avLst/>
          </a:prstGeom>
          <a:solidFill>
            <a:srgbClr val="E6E6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179705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竞争优势分析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57" name="矩形 13"/>
          <p:cNvSpPr/>
          <p:nvPr/>
        </p:nvSpPr>
        <p:spPr>
          <a:xfrm>
            <a:off x="8280400" y="4057650"/>
            <a:ext cx="482600" cy="484188"/>
          </a:xfrm>
          <a:prstGeom prst="rect">
            <a:avLst/>
          </a:prstGeom>
          <a:solidFill>
            <a:srgbClr val="0563B8"/>
          </a:solidFill>
          <a:ln w="9525">
            <a:noFill/>
          </a:ln>
        </p:spPr>
        <p:txBody>
          <a:bodyPr lIns="90000" tIns="46800" rIns="90000" bIns="4680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05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8874125" y="4057650"/>
            <a:ext cx="3960813" cy="484188"/>
          </a:xfrm>
          <a:prstGeom prst="rect">
            <a:avLst/>
          </a:prstGeom>
          <a:solidFill>
            <a:srgbClr val="E6E6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179705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财务分析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59" name="矩形 13"/>
          <p:cNvSpPr/>
          <p:nvPr/>
        </p:nvSpPr>
        <p:spPr>
          <a:xfrm>
            <a:off x="8280400" y="4973638"/>
            <a:ext cx="482600" cy="484187"/>
          </a:xfrm>
          <a:prstGeom prst="rect">
            <a:avLst/>
          </a:prstGeom>
          <a:solidFill>
            <a:srgbClr val="0563B8"/>
          </a:solidFill>
          <a:ln w="9525">
            <a:noFill/>
          </a:ln>
        </p:spPr>
        <p:txBody>
          <a:bodyPr lIns="90000" tIns="46800" rIns="90000" bIns="4680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06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8874125" y="4973638"/>
            <a:ext cx="3960813" cy="484188"/>
          </a:xfrm>
          <a:prstGeom prst="rect">
            <a:avLst/>
          </a:prstGeom>
          <a:solidFill>
            <a:srgbClr val="E6E6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179705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公司发展战略及未来三年规划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61" name="矩形 13"/>
          <p:cNvSpPr/>
          <p:nvPr/>
        </p:nvSpPr>
        <p:spPr>
          <a:xfrm>
            <a:off x="8280400" y="5765800"/>
            <a:ext cx="482600" cy="484188"/>
          </a:xfrm>
          <a:prstGeom prst="rect">
            <a:avLst/>
          </a:prstGeom>
          <a:solidFill>
            <a:srgbClr val="0563B8"/>
          </a:solidFill>
          <a:ln w="9525">
            <a:noFill/>
          </a:ln>
        </p:spPr>
        <p:txBody>
          <a:bodyPr lIns="90000" tIns="46800" rIns="90000" bIns="4680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07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8874125" y="5765800"/>
            <a:ext cx="3960813" cy="484188"/>
          </a:xfrm>
          <a:prstGeom prst="rect">
            <a:avLst/>
          </a:prstGeom>
          <a:solidFill>
            <a:srgbClr val="E6E6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179705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风险分析及对策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63" name="矩形 13"/>
          <p:cNvSpPr/>
          <p:nvPr/>
        </p:nvSpPr>
        <p:spPr>
          <a:xfrm>
            <a:off x="8280400" y="6650038"/>
            <a:ext cx="482600" cy="484187"/>
          </a:xfrm>
          <a:prstGeom prst="rect">
            <a:avLst/>
          </a:prstGeom>
          <a:solidFill>
            <a:srgbClr val="0563B8"/>
          </a:solidFill>
          <a:ln w="9525">
            <a:noFill/>
          </a:ln>
        </p:spPr>
        <p:txBody>
          <a:bodyPr lIns="90000" tIns="46800" rIns="90000" bIns="4680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08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8874125" y="6650038"/>
            <a:ext cx="3960813" cy="484188"/>
          </a:xfrm>
          <a:prstGeom prst="rect">
            <a:avLst/>
          </a:prstGeom>
          <a:solidFill>
            <a:srgbClr val="E6E6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179705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融资计划</a:t>
            </a:r>
          </a:p>
        </p:txBody>
      </p:sp>
      <p:sp>
        <p:nvSpPr>
          <p:cNvPr id="10265" name="矩形 13"/>
          <p:cNvSpPr/>
          <p:nvPr/>
        </p:nvSpPr>
        <p:spPr>
          <a:xfrm>
            <a:off x="8261350" y="7513638"/>
            <a:ext cx="482600" cy="484187"/>
          </a:xfrm>
          <a:prstGeom prst="rect">
            <a:avLst/>
          </a:prstGeom>
          <a:solidFill>
            <a:srgbClr val="0563B8"/>
          </a:solidFill>
          <a:ln w="9525">
            <a:noFill/>
          </a:ln>
        </p:spPr>
        <p:txBody>
          <a:bodyPr lIns="90000" tIns="46800" rIns="90000" bIns="4680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09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8855075" y="7513638"/>
            <a:ext cx="3960813" cy="484188"/>
          </a:xfrm>
          <a:prstGeom prst="rect">
            <a:avLst/>
          </a:prstGeom>
          <a:solidFill>
            <a:srgbClr val="E6E6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 marL="0" marR="0" lvl="0" indent="179705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结论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 bwMode="auto">
          <a:xfrm>
            <a:off x="12886726" y="582678"/>
            <a:ext cx="2230438" cy="2879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89973" tIns="46785" rIns="89973" bIns="46785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7" name="标题 1"/>
          <p:cNvSpPr>
            <a:spLocks noGrp="1"/>
          </p:cNvSpPr>
          <p:nvPr/>
        </p:nvSpPr>
        <p:spPr>
          <a:xfrm>
            <a:off x="3257550" y="162560"/>
            <a:ext cx="2880360" cy="623570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</a:t>
            </a:r>
            <a:r>
              <a:rPr lang="zh-CN" altLang="en-US" sz="2400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公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司概况</a:t>
            </a: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576919" y="715225"/>
            <a:ext cx="14540244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auto">
          <a:xfrm>
            <a:off x="3888329" y="294730"/>
            <a:ext cx="0" cy="3599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058355" y="1934777"/>
            <a:ext cx="13308965" cy="5983955"/>
          </a:xfrm>
        </p:spPr>
        <p:txBody>
          <a:bodyPr>
            <a:noAutofit/>
          </a:bodyPr>
          <a:lstStyle/>
          <a:p>
            <a:pPr marL="0" indent="355600" algn="just" fontAlgn="auto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哈工大机器人集团（HRG）由黑龙江省政府、哈尔滨市政府、哈尔滨工业大学共同投资组建的高新技术企业。 集团主要从事机器人零部件、工业机器人、服务机器人、自动化装备、机械电子设备的研发、制造、销售及相关技术转让、技术咨询、技术服务等。</a:t>
            </a:r>
          </a:p>
          <a:p>
            <a:pPr marL="0" indent="355600" algn="just" fontAlgn="auto">
              <a:lnSpc>
                <a:spcPct val="120000"/>
              </a:lnSpc>
              <a:buClrTx/>
              <a:buSzTx/>
              <a:buNone/>
            </a:pPr>
            <a:r>
              <a:rPr sz="20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安徽海姬尔智能科技有限公司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</a:t>
            </a:r>
            <a:r>
              <a:rPr sz="20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哈工大机器人集团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生态圈产业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公司</a:t>
            </a:r>
            <a:r>
              <a:rPr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是专业从事从</a:t>
            </a:r>
            <a:r>
              <a:rPr sz="20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事助老助残护</a:t>
            </a:r>
            <a:r>
              <a:rPr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理机器人系列产品的研发、制造和销售的高</a:t>
            </a: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新</a:t>
            </a:r>
            <a:r>
              <a:rPr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技术公司。公司</a:t>
            </a: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研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发的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HJE-NA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列智能护理床（床式护理机器人）是将人体工程学与智能科技融于一体，能满足肌体失能人群护理与康复的需要，解决了长期以来普遍存在的残、瘫患者坐卧曲腿、自动翻身、解便冲洗、康复训练等多方面难题，大大减轻了护理人员的劳动强度，较大程度地降低失能病人的痛苦，同时可大幅度地降低综合护理成本，产品集多项技术创新于一体，拥有多项专利，具有完全自主知识产权，核心技术优势明显，是床式护理机器人的代表作。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55600" algn="just" fontAlgn="auto">
              <a:lnSpc>
                <a:spcPct val="120000"/>
              </a:lnSpc>
              <a:buClrTx/>
              <a:buSzTx/>
              <a:buNone/>
            </a:pP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这种能有效减轻护理人员劳动强度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增强受护理人自理能力的多功能智能型护理设备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</a:t>
            </a:r>
            <a:r>
              <a:rPr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有很高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的实用性，产品科技含量高，受国家新兴产业政策的支持，产品极具社会推广价值。</a:t>
            </a:r>
          </a:p>
          <a:p>
            <a:pPr marL="0" indent="355600" algn="just" fontAlgn="auto">
              <a:lnSpc>
                <a:spcPct val="120000"/>
              </a:lnSpc>
              <a:buClrTx/>
              <a:buSzTx/>
              <a:buNone/>
            </a:pP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海姬尔公司成立于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2015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年，公司的研发团队以军工领域的专家为主，由经验丰富的中青年科研人员组成，产品质量严格按照军工工艺要求，</a:t>
            </a:r>
            <a:r>
              <a:rPr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公司现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已</a:t>
            </a:r>
            <a:r>
              <a:rPr sz="20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取得医疗器械生产许可证和二类医疗器械注册证</a:t>
            </a:r>
            <a:r>
              <a:rPr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，并</a:t>
            </a: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ISO13845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ISO9001</a:t>
            </a:r>
            <a:r>
              <a:rPr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质量体系认证。</a:t>
            </a:r>
          </a:p>
          <a:p>
            <a:pPr marL="0" indent="355600" algn="just" fontAlgn="auto">
              <a:lnSpc>
                <a:spcPct val="120000"/>
              </a:lnSpc>
              <a:buClrTx/>
              <a:buSzTx/>
              <a:buNone/>
            </a:pPr>
            <a:endParaRPr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6623842" y="870626"/>
            <a:ext cx="1797800" cy="514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altLang="zh-CN" sz="18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8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公司简介</a:t>
            </a:r>
            <a:endParaRPr lang="en-US" altLang="zh-CN" sz="1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矩形 11"/>
          <p:cNvSpPr/>
          <p:nvPr/>
        </p:nvSpPr>
        <p:spPr>
          <a:xfrm>
            <a:off x="12888913" y="581025"/>
            <a:ext cx="2230437" cy="2889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0000" tIns="46800" rIns="90000" bIns="46800" anchor="t"/>
          <a:lstStyle/>
          <a:p>
            <a:pPr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6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fld>
            <a:endParaRPr lang="en-US" altLang="zh-CN" sz="1200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67" name="文本框 1"/>
          <p:cNvSpPr txBox="1"/>
          <p:nvPr/>
        </p:nvSpPr>
        <p:spPr>
          <a:xfrm>
            <a:off x="6537325" y="542925"/>
            <a:ext cx="1797050" cy="46513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公司基本信息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68" name="标题 1"/>
          <p:cNvSpPr>
            <a:spLocks noGrp="1"/>
          </p:cNvSpPr>
          <p:nvPr/>
        </p:nvSpPr>
        <p:spPr>
          <a:xfrm>
            <a:off x="3311525" y="149225"/>
            <a:ext cx="2819400" cy="623888"/>
          </a:xfrm>
          <a:prstGeom prst="rect">
            <a:avLst/>
          </a:prstGeom>
          <a:noFill/>
          <a:ln w="9525">
            <a:noFill/>
          </a:ln>
        </p:spPr>
        <p:txBody>
          <a:bodyPr lIns="119951" tIns="59975" rIns="119951" bIns="59975" anchor="ctr"/>
          <a:lstStyle/>
          <a:p>
            <a:pPr marL="1200150" indent="-1200150" algn="ctr" defTabSz="0" eaLnBrk="0" hangingPunct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公司概况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754313" y="1039813"/>
          <a:ext cx="9629775" cy="1600200"/>
        </p:xfrm>
        <a:graphic>
          <a:graphicData uri="http://schemas.openxmlformats.org/drawingml/2006/table">
            <a:tbl>
              <a:tblPr/>
              <a:tblGrid>
                <a:gridCol w="1619250"/>
                <a:gridCol w="3519805"/>
                <a:gridCol w="1764030"/>
                <a:gridCol w="2726690"/>
              </a:tblGrid>
              <a:tr h="307975"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公司名称</a:t>
                      </a:r>
                      <a:endParaRPr kumimoji="0" lang="zh-CN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安徽海姬尔智能科技有限公司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注册资本</a:t>
                      </a: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500</a:t>
                      </a: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万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成立时间</a:t>
                      </a:r>
                      <a:endParaRPr kumimoji="0" lang="zh-CN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2015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年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3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月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注册地点</a:t>
                      </a: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合肥高新技术开发区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60985"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公司性质</a:t>
                      </a:r>
                      <a:endParaRPr kumimoji="0" lang="zh-CN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有限责任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法人代表</a:t>
                      </a: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郭道林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01295"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主营业务</a:t>
                      </a:r>
                      <a:endParaRPr kumimoji="0" lang="zh-CN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床式护理机器人系列产品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01930"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行业类别</a:t>
                      </a:r>
                      <a:endParaRPr kumimoji="0" lang="zh-CN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养老、医疗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3537324"/>
              </p:ext>
            </p:extLst>
          </p:nvPr>
        </p:nvGraphicFramePr>
        <p:xfrm>
          <a:off x="2735263" y="3581400"/>
          <a:ext cx="9649073" cy="2560320"/>
        </p:xfrm>
        <a:graphic>
          <a:graphicData uri="http://schemas.openxmlformats.org/drawingml/2006/table">
            <a:tbl>
              <a:tblPr/>
              <a:tblGrid>
                <a:gridCol w="922655"/>
                <a:gridCol w="3555141"/>
                <a:gridCol w="2240999"/>
                <a:gridCol w="2930278"/>
              </a:tblGrid>
              <a:tr h="246380"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kumimoji="0" lang="zh-CN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股东姓名</a:t>
                      </a:r>
                      <a:endParaRPr kumimoji="0" lang="zh-CN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持股数（万股）</a:t>
                      </a:r>
                      <a:endParaRPr kumimoji="0" lang="zh-CN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持股比例</a:t>
                      </a:r>
                      <a:endParaRPr kumimoji="0" lang="zh-CN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163195"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郭道林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76%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华文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2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李建春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12%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华文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60655"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3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</a:t>
                      </a:r>
                      <a:r>
                        <a:rPr kumimoji="0" lang="zh-CN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工大</a:t>
                      </a: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机器人</a:t>
                      </a:r>
                      <a:r>
                        <a:rPr kumimoji="0" lang="zh-CN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集团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5%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华文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4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张一谋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7%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华文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08280"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5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华文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6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华文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6215">
                <a:tc gridSpan="2"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  <a:endParaRPr kumimoji="0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6350" indent="-635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9144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371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18288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381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6350" marR="0" lvl="0" indent="-635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华文宋体" pitchFamily="2" charset="-122"/>
                        </a:rPr>
                        <a:t>100%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43" name="文本框 1"/>
          <p:cNvSpPr txBox="1"/>
          <p:nvPr/>
        </p:nvSpPr>
        <p:spPr>
          <a:xfrm>
            <a:off x="3227388" y="2579688"/>
            <a:ext cx="8551862" cy="93871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公司股权</a:t>
            </a:r>
            <a:r>
              <a:rPr lang="zh-CN" altLang="en-US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信息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ts val="3300"/>
              </a:lnSpc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实有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股东，其中个人</a:t>
            </a:r>
            <a:r>
              <a:rPr lang="zh-CN" altLang="en-US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股东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个，机构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股东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 </a:t>
            </a:r>
            <a:r>
              <a:rPr lang="zh-CN" altLang="en-US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574675" y="714375"/>
            <a:ext cx="14544675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45" name="直接连接符 13"/>
          <p:cNvCxnSpPr/>
          <p:nvPr/>
        </p:nvCxnSpPr>
        <p:spPr>
          <a:xfrm>
            <a:off x="3887788" y="29368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9614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numCol="1" anchor="ctr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4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2296" name="矩形 5"/>
          <p:cNvSpPr>
            <a:spLocks noChangeArrowheads="1"/>
          </p:cNvSpPr>
          <p:nvPr/>
        </p:nvSpPr>
        <p:spPr bwMode="auto">
          <a:xfrm>
            <a:off x="1150938" y="1589088"/>
            <a:ext cx="1288891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350" indent="-63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24150" indent="-438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81350" indent="-438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38550" indent="-438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95750" indent="-4381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6350" marR="0" lvl="0" indent="-6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核心团队人员介绍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350" marR="0" lvl="0" indent="-6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2888913" y="581025"/>
            <a:ext cx="2230438" cy="2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标题 1"/>
          <p:cNvSpPr>
            <a:spLocks noGrp="1"/>
          </p:cNvSpPr>
          <p:nvPr/>
        </p:nvSpPr>
        <p:spPr>
          <a:xfrm>
            <a:off x="3311525" y="149225"/>
            <a:ext cx="2819400" cy="623888"/>
          </a:xfrm>
          <a:prstGeom prst="rect">
            <a:avLst/>
          </a:prstGeom>
          <a:noFill/>
          <a:ln w="9525">
            <a:noFill/>
          </a:ln>
        </p:spPr>
        <p:txBody>
          <a:bodyPr lIns="119951" tIns="59975" rIns="119951" bIns="59975" anchor="ctr"/>
          <a:lstStyle/>
          <a:p>
            <a:pPr marL="1200150" marR="0" lvl="0" indent="-1200150" algn="ctr" defTabSz="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公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司概况</a:t>
            </a: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574675" y="725488"/>
            <a:ext cx="14544675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42" name="直接连接符 13"/>
          <p:cNvCxnSpPr/>
          <p:nvPr/>
        </p:nvCxnSpPr>
        <p:spPr>
          <a:xfrm>
            <a:off x="3887788" y="29368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43" name="文本框 1"/>
          <p:cNvSpPr txBox="1"/>
          <p:nvPr/>
        </p:nvSpPr>
        <p:spPr>
          <a:xfrm>
            <a:off x="6130925" y="930275"/>
            <a:ext cx="2676525" cy="514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ts val="3300"/>
              </a:lnSpc>
              <a:buSzTx/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核心团队</a:t>
            </a:r>
            <a:endParaRPr lang="en-US" altLang="zh-CN" sz="3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95450" y="2167255"/>
            <a:ext cx="10897235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 smtClean="0"/>
              <a:t>姓名：郭道林（董事长兼总经理）</a:t>
            </a:r>
            <a:endParaRPr lang="en-US" altLang="zh-CN" sz="2000" b="1" dirty="0" smtClean="0"/>
          </a:p>
          <a:p>
            <a:r>
              <a:rPr lang="zh-CN" altLang="zh-CN" sz="2000" dirty="0" smtClean="0">
                <a:latin typeface="+mn-ea"/>
              </a:rPr>
              <a:t>男、</a:t>
            </a:r>
            <a:r>
              <a:rPr lang="en-US" altLang="zh-CN" sz="2000" dirty="0" smtClean="0">
                <a:latin typeface="+mn-ea"/>
              </a:rPr>
              <a:t>1967</a:t>
            </a:r>
            <a:r>
              <a:rPr lang="zh-CN" altLang="zh-CN" sz="2000" dirty="0" smtClean="0">
                <a:latin typeface="+mn-ea"/>
              </a:rPr>
              <a:t>年</a:t>
            </a:r>
            <a:r>
              <a:rPr lang="en-US" altLang="zh-CN" sz="2000" dirty="0" smtClean="0">
                <a:latin typeface="+mn-ea"/>
              </a:rPr>
              <a:t>10</a:t>
            </a:r>
            <a:r>
              <a:rPr lang="zh-CN" altLang="zh-CN" sz="2000" dirty="0" smtClean="0">
                <a:latin typeface="+mn-ea"/>
              </a:rPr>
              <a:t>月生、高级工程师</a:t>
            </a:r>
          </a:p>
          <a:p>
            <a:r>
              <a:rPr lang="zh-CN" altLang="zh-CN" sz="2000" dirty="0" smtClean="0">
                <a:latin typeface="+mn-ea"/>
              </a:rPr>
              <a:t>曾担任安徽巨森电器有限公司</a:t>
            </a:r>
            <a:r>
              <a:rPr lang="zh-CN" altLang="zh-CN" sz="2000" dirty="0" smtClean="0">
                <a:latin typeface="+mn-ea"/>
                <a:sym typeface="+mn-ea"/>
              </a:rPr>
              <a:t>（主要创办人）</a:t>
            </a:r>
            <a:r>
              <a:rPr lang="zh-CN" altLang="zh-CN" sz="2000" dirty="0" smtClean="0">
                <a:latin typeface="+mn-ea"/>
              </a:rPr>
              <a:t>副总经理兼总工程师、安徽泰隆电气有限公司（创办人）董事长兼总工程师。</a:t>
            </a:r>
          </a:p>
          <a:p>
            <a:r>
              <a:rPr lang="zh-CN" altLang="zh-CN" sz="2000" dirty="0" smtClean="0">
                <a:latin typeface="+mn-ea"/>
              </a:rPr>
              <a:t>曾获合肥科技进步三等奖一次，安徽省科技成果奖</a:t>
            </a:r>
            <a:r>
              <a:rPr lang="en-US" altLang="zh-CN" sz="2000" dirty="0" smtClean="0">
                <a:latin typeface="+mn-ea"/>
              </a:rPr>
              <a:t>8</a:t>
            </a:r>
            <a:r>
              <a:rPr lang="zh-CN" altLang="zh-CN" sz="2000" dirty="0" smtClean="0">
                <a:latin typeface="+mn-ea"/>
              </a:rPr>
              <a:t>项；华北电力公司科技成果一等奖；承担过国家</a:t>
            </a:r>
            <a:r>
              <a:rPr lang="en-US" altLang="zh-CN" sz="2000" dirty="0" smtClean="0">
                <a:latin typeface="+mn-ea"/>
              </a:rPr>
              <a:t>(</a:t>
            </a:r>
            <a:r>
              <a:rPr lang="zh-CN" altLang="zh-CN" sz="2000" dirty="0" smtClean="0">
                <a:latin typeface="+mn-ea"/>
              </a:rPr>
              <a:t>科技部</a:t>
            </a:r>
            <a:r>
              <a:rPr lang="en-US" altLang="zh-CN" sz="2000" dirty="0" smtClean="0">
                <a:latin typeface="+mn-ea"/>
              </a:rPr>
              <a:t>)</a:t>
            </a:r>
            <a:r>
              <a:rPr lang="zh-CN" altLang="zh-CN" sz="2000" dirty="0" smtClean="0">
                <a:latin typeface="+mn-ea"/>
              </a:rPr>
              <a:t>火炬项目一项；获得过科技部创新资金</a:t>
            </a:r>
            <a:r>
              <a:rPr lang="en-US" altLang="zh-CN" sz="2000" dirty="0" smtClean="0">
                <a:latin typeface="+mn-ea"/>
              </a:rPr>
              <a:t>60</a:t>
            </a:r>
            <a:r>
              <a:rPr lang="zh-CN" altLang="zh-CN" sz="2000" dirty="0" smtClean="0">
                <a:latin typeface="+mn-ea"/>
              </a:rPr>
              <a:t>万奖励，国家标准</a:t>
            </a:r>
            <a:r>
              <a:rPr lang="en-US" altLang="zh-CN" sz="2000" dirty="0" smtClean="0">
                <a:latin typeface="+mn-ea"/>
              </a:rPr>
              <a:t>GB/T38123-2019</a:t>
            </a:r>
            <a:r>
              <a:rPr lang="zh-CN" altLang="en-US" sz="2000" dirty="0" smtClean="0">
                <a:latin typeface="+mn-ea"/>
              </a:rPr>
              <a:t>起草人之一（排名第三）。</a:t>
            </a:r>
            <a:endParaRPr lang="zh-CN" altLang="zh-CN" sz="2000" dirty="0" smtClean="0">
              <a:latin typeface="+mn-ea"/>
            </a:endParaRPr>
          </a:p>
          <a:p>
            <a:r>
              <a:rPr lang="zh-CN" altLang="zh-CN" sz="2000" dirty="0" smtClean="0">
                <a:latin typeface="+mn-ea"/>
              </a:rPr>
              <a:t>取得实用新型专利</a:t>
            </a:r>
            <a:r>
              <a:rPr lang="en-US" altLang="zh-CN" sz="2000" dirty="0" smtClean="0">
                <a:latin typeface="+mn-ea"/>
              </a:rPr>
              <a:t>18</a:t>
            </a:r>
            <a:r>
              <a:rPr lang="zh-CN" altLang="zh-CN" sz="2000" dirty="0" smtClean="0">
                <a:latin typeface="+mn-ea"/>
              </a:rPr>
              <a:t>项、发明专利</a:t>
            </a:r>
            <a:r>
              <a:rPr lang="en-US" altLang="zh-CN" sz="2000" dirty="0" smtClean="0">
                <a:latin typeface="+mn-ea"/>
              </a:rPr>
              <a:t>8</a:t>
            </a:r>
            <a:r>
              <a:rPr lang="zh-CN" altLang="zh-CN" sz="2000" dirty="0" smtClean="0">
                <a:latin typeface="+mn-ea"/>
              </a:rPr>
              <a:t>项，技术论文</a:t>
            </a:r>
            <a:r>
              <a:rPr lang="en-US" altLang="zh-CN" sz="2000" dirty="0" smtClean="0">
                <a:latin typeface="+mn-ea"/>
              </a:rPr>
              <a:t>10</a:t>
            </a:r>
            <a:r>
              <a:rPr lang="zh-CN" altLang="zh-CN" sz="2000" dirty="0" smtClean="0">
                <a:latin typeface="+mn-ea"/>
              </a:rPr>
              <a:t>余篇。</a:t>
            </a:r>
          </a:p>
          <a:p>
            <a:r>
              <a:rPr lang="zh-CN" altLang="zh-CN" sz="2000" dirty="0" smtClean="0">
                <a:latin typeface="+mn-ea"/>
              </a:rPr>
              <a:t>个人特长：公司管理、技术开发、战略规划。</a:t>
            </a:r>
          </a:p>
          <a:p>
            <a:endParaRPr lang="zh-CN" altLang="en-US" sz="2000" dirty="0"/>
          </a:p>
        </p:txBody>
      </p:sp>
      <p:sp>
        <p:nvSpPr>
          <p:cNvPr id="20" name="文本框 7"/>
          <p:cNvSpPr txBox="1"/>
          <p:nvPr/>
        </p:nvSpPr>
        <p:spPr>
          <a:xfrm>
            <a:off x="1695450" y="5336540"/>
            <a:ext cx="1075817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/>
              <a:t>姓名：李建春（</a:t>
            </a:r>
            <a:r>
              <a:rPr lang="zh-CN" altLang="en-US" sz="2000" b="1" dirty="0" smtClean="0"/>
              <a:t>总</a:t>
            </a:r>
            <a:r>
              <a:rPr lang="zh-CN" altLang="en-US" sz="2000" b="1" dirty="0"/>
              <a:t>工</a:t>
            </a:r>
            <a:r>
              <a:rPr lang="zh-CN" altLang="en-US" sz="2000" b="1" dirty="0" smtClean="0"/>
              <a:t>）</a:t>
            </a:r>
            <a:endParaRPr lang="zh-CN" altLang="en-US" sz="2000" b="1" dirty="0"/>
          </a:p>
          <a:p>
            <a:r>
              <a:rPr lang="zh-CN" altLang="zh-CN" sz="2000" dirty="0" smtClean="0"/>
              <a:t>男、</a:t>
            </a:r>
            <a:r>
              <a:rPr lang="en-US" altLang="zh-CN" sz="2000" dirty="0" smtClean="0"/>
              <a:t>1963</a:t>
            </a:r>
            <a:r>
              <a:rPr lang="zh-CN" altLang="zh-CN" sz="2000" dirty="0" smtClean="0"/>
              <a:t>年</a:t>
            </a:r>
            <a:r>
              <a:rPr lang="en-US" altLang="zh-CN" sz="2000" dirty="0" smtClean="0"/>
              <a:t>4</a:t>
            </a:r>
            <a:r>
              <a:rPr lang="zh-CN" altLang="zh-CN" sz="2000" dirty="0" smtClean="0"/>
              <a:t>月生，教授级工程师</a:t>
            </a:r>
          </a:p>
          <a:p>
            <a:r>
              <a:rPr lang="zh-CN" altLang="zh-CN" sz="2000" dirty="0" smtClean="0"/>
              <a:t>原国防科技大学教授、大校军衔、安徽省科委专家成员、全国大学生电子竞赛专家评委。</a:t>
            </a:r>
          </a:p>
          <a:p>
            <a:r>
              <a:rPr lang="zh-CN" altLang="zh-CN" sz="2000" dirty="0" smtClean="0"/>
              <a:t>嵌入系统领域资深专家。</a:t>
            </a:r>
          </a:p>
          <a:p>
            <a:r>
              <a:rPr lang="zh-CN" altLang="zh-CN" sz="2000" dirty="0" smtClean="0"/>
              <a:t>从事军工院校的教学和军用电子产品研发多年。同时具有多年民品研发经验（</a:t>
            </a:r>
            <a:r>
              <a:rPr lang="en-US" altLang="zh-CN" sz="2000" dirty="0" smtClean="0"/>
              <a:t>1991</a:t>
            </a:r>
            <a:r>
              <a:rPr lang="zh-CN" altLang="zh-CN" sz="2000" dirty="0" smtClean="0"/>
              <a:t>一</a:t>
            </a:r>
            <a:r>
              <a:rPr lang="en-US" altLang="zh-CN" sz="2000" dirty="0" smtClean="0"/>
              <a:t>2012</a:t>
            </a:r>
            <a:r>
              <a:rPr lang="zh-CN" altLang="zh-CN" sz="2000" dirty="0" smtClean="0"/>
              <a:t>年间聘任春兰空调电控设计首席专家）。</a:t>
            </a:r>
          </a:p>
          <a:p>
            <a:r>
              <a:rPr lang="zh-CN" altLang="zh-CN" sz="2000" dirty="0" smtClean="0"/>
              <a:t>从事智能护理床研发达</a:t>
            </a:r>
            <a:r>
              <a:rPr lang="en-US" altLang="zh-CN" sz="2000" dirty="0" smtClean="0"/>
              <a:t>6</a:t>
            </a:r>
            <a:r>
              <a:rPr lang="zh-CN" altLang="zh-CN" sz="2000" dirty="0" smtClean="0"/>
              <a:t>年多，取得多项国家专利，目前研发成功的</a:t>
            </a:r>
            <a:r>
              <a:rPr lang="en-US" altLang="zh-CN" sz="2000" dirty="0" smtClean="0"/>
              <a:t>HJE</a:t>
            </a:r>
            <a:r>
              <a:rPr lang="zh-CN" altLang="zh-CN" sz="2000" dirty="0" smtClean="0"/>
              <a:t>智能护理床，智能化程度高、实用性强、功能完备、技术领先。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3821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numCol="1" anchor="ctr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5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2888913" y="581025"/>
            <a:ext cx="2230438" cy="2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标题 1"/>
          <p:cNvSpPr>
            <a:spLocks noGrp="1"/>
          </p:cNvSpPr>
          <p:nvPr/>
        </p:nvSpPr>
        <p:spPr>
          <a:xfrm>
            <a:off x="3311525" y="149225"/>
            <a:ext cx="2819400" cy="623888"/>
          </a:xfrm>
          <a:prstGeom prst="rect">
            <a:avLst/>
          </a:prstGeom>
          <a:noFill/>
          <a:ln w="9525">
            <a:noFill/>
          </a:ln>
        </p:spPr>
        <p:txBody>
          <a:bodyPr lIns="119951" tIns="59975" rIns="119951" bIns="59975" anchor="ctr"/>
          <a:lstStyle/>
          <a:p>
            <a:pPr marL="1200150" marR="0" lvl="0" indent="-1200150" algn="ctr" defTabSz="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公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司概况</a:t>
            </a: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574675" y="725488"/>
            <a:ext cx="14544675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42" name="直接连接符 13"/>
          <p:cNvCxnSpPr/>
          <p:nvPr/>
        </p:nvCxnSpPr>
        <p:spPr>
          <a:xfrm>
            <a:off x="3887788" y="29368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43" name="文本框 1"/>
          <p:cNvSpPr txBox="1"/>
          <p:nvPr/>
        </p:nvSpPr>
        <p:spPr>
          <a:xfrm>
            <a:off x="6130925" y="930275"/>
            <a:ext cx="2676525" cy="514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>
              <a:lnSpc>
                <a:spcPts val="3300"/>
              </a:lnSpc>
              <a:buSzTx/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核心团队</a:t>
            </a:r>
            <a:endParaRPr lang="en-US" altLang="zh-CN" sz="3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94815" y="2310130"/>
            <a:ext cx="10897235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 smtClean="0"/>
              <a:t>姓名：</a:t>
            </a:r>
            <a:r>
              <a:rPr lang="zh-CN" altLang="en-US" sz="2000" b="1" dirty="0" smtClean="0"/>
              <a:t>张</a:t>
            </a:r>
            <a:r>
              <a:rPr lang="zh-CN" altLang="en-US" sz="2000" b="1" dirty="0" smtClean="0"/>
              <a:t>一谋</a:t>
            </a:r>
            <a:r>
              <a:rPr lang="zh-CN" altLang="en-US" sz="2000" b="1" dirty="0" smtClean="0"/>
              <a:t>（</a:t>
            </a:r>
            <a:r>
              <a:rPr lang="zh-CN" altLang="en-US" sz="2000" b="1" dirty="0" smtClean="0"/>
              <a:t>副总经理兼营销总监）</a:t>
            </a:r>
          </a:p>
          <a:p>
            <a:r>
              <a:rPr lang="zh-CN" altLang="en-US" sz="2000" dirty="0" smtClean="0"/>
              <a:t>10年世界500强外企市场营销与管理经验；对该行业有较深认知，业界有良好的口碑。</a:t>
            </a:r>
          </a:p>
          <a:p>
            <a:r>
              <a:rPr lang="zh-CN" altLang="en-US" sz="2000" dirty="0" smtClean="0"/>
              <a:t>熟悉一线品牌销售管理流程以及市场营销策划经验；</a:t>
            </a:r>
          </a:p>
          <a:p>
            <a:r>
              <a:rPr lang="zh-CN" altLang="en-US" sz="2000" dirty="0" smtClean="0"/>
              <a:t>独立分析、计划和实施产品的销售经验；</a:t>
            </a:r>
          </a:p>
          <a:p>
            <a:r>
              <a:rPr lang="zh-CN" altLang="en-US" sz="2000" dirty="0" smtClean="0"/>
              <a:t>良好团队工作意识；销售团队的建设与管理、项目的实施与监督等的经验；</a:t>
            </a:r>
          </a:p>
          <a:p>
            <a:r>
              <a:rPr lang="zh-CN" altLang="en-US" sz="2000" dirty="0" smtClean="0"/>
              <a:t>擅长顶层架构、定位、股权融资市场开发等。</a:t>
            </a:r>
          </a:p>
          <a:p>
            <a:endParaRPr lang="zh-CN" altLang="en-US" sz="2000" dirty="0" smtClean="0"/>
          </a:p>
          <a:p>
            <a:r>
              <a:rPr lang="zh-CN" altLang="en-US" sz="2000" dirty="0" smtClean="0"/>
              <a:t>曾任</a:t>
            </a:r>
            <a:r>
              <a:rPr lang="en-US" altLang="zh-CN" sz="2000" dirty="0" smtClean="0"/>
              <a:t>LG</a:t>
            </a:r>
            <a:r>
              <a:rPr lang="zh-CN" altLang="en-US" sz="2000" dirty="0" smtClean="0"/>
              <a:t>电子（中国）有限公司 安徽区副总经理 </a:t>
            </a:r>
            <a:r>
              <a:rPr lang="zh-CN" altLang="en-US" sz="2000" dirty="0" smtClean="0">
                <a:sym typeface="+mn-ea"/>
              </a:rPr>
              <a:t>PART长</a:t>
            </a:r>
            <a:r>
              <a:rPr lang="zh-CN" altLang="en-US" sz="2000" dirty="0" smtClean="0"/>
              <a:t> 和</a:t>
            </a:r>
            <a:r>
              <a:rPr lang="en-US" altLang="zh-CN" sz="2000" dirty="0" smtClean="0"/>
              <a:t>SHARP</a:t>
            </a:r>
            <a:r>
              <a:rPr lang="zh-CN" altLang="en-US" sz="2000" dirty="0" smtClean="0"/>
              <a:t>（中国）有限公司 合肥营业所 所长（副课长）</a:t>
            </a:r>
          </a:p>
          <a:p>
            <a:endParaRPr lang="zh-CN" altLang="en-US" sz="2000" dirty="0" smtClean="0"/>
          </a:p>
          <a:p>
            <a:r>
              <a:rPr lang="zh-CN" altLang="en-US" sz="2000" dirty="0" smtClean="0"/>
              <a:t>                 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8996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资质荣誉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98728" y="7078347"/>
            <a:ext cx="7863637" cy="4739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80"/>
              <a:t>已通过</a:t>
            </a:r>
            <a:r>
              <a:rPr lang="en-US" altLang="zh-CN" sz="2480"/>
              <a:t>ISO 9001</a:t>
            </a:r>
            <a:r>
              <a:rPr lang="zh-CN" altLang="en-US" sz="2480"/>
              <a:t>和 </a:t>
            </a:r>
            <a:r>
              <a:rPr lang="en-US" altLang="zh-CN" sz="2480"/>
              <a:t>ISO </a:t>
            </a:r>
            <a:r>
              <a:rPr lang="zh-CN" altLang="en-US" sz="2480"/>
              <a:t> </a:t>
            </a:r>
            <a:r>
              <a:rPr lang="en-US" altLang="zh-CN" sz="2480"/>
              <a:t>13485</a:t>
            </a:r>
            <a:r>
              <a:rPr lang="zh-CN" altLang="en-US" sz="2480"/>
              <a:t>的体系认证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9047" y="1305433"/>
            <a:ext cx="2640374" cy="3734164"/>
          </a:xfrm>
          <a:prstGeom prst="rect">
            <a:avLst/>
          </a:prstGeom>
          <a:ln>
            <a:solidFill>
              <a:srgbClr val="FF0000"/>
            </a:solidFill>
          </a:ln>
        </p:spPr>
      </p:pic>
      <p:graphicFrame>
        <p:nvGraphicFramePr>
          <p:cNvPr id="11" name="对象 10"/>
          <p:cNvGraphicFramePr/>
          <p:nvPr/>
        </p:nvGraphicFramePr>
        <p:xfrm>
          <a:off x="3651481" y="5246701"/>
          <a:ext cx="1473349" cy="1374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r:id="rId7" imgW="2219325" imgH="2124075" progId="Paint.Picture">
                  <p:embed/>
                </p:oleObj>
              </mc:Choice>
              <mc:Fallback>
                <p:oleObj r:id="rId7" imgW="2219325" imgH="2124075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51481" y="5246701"/>
                        <a:ext cx="1473349" cy="13749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9205480" y="5246701"/>
          <a:ext cx="1411927" cy="1544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r:id="rId9" imgW="1952625" imgH="2009775" progId="Paint.Picture">
                  <p:embed/>
                </p:oleObj>
              </mc:Choice>
              <mc:Fallback>
                <p:oleObj r:id="rId9" imgW="1952625" imgH="2009775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205480" y="5246701"/>
                        <a:ext cx="1411927" cy="15442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图片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9217" y="1305433"/>
            <a:ext cx="2671085" cy="37774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3959" y="1305433"/>
            <a:ext cx="2640374" cy="37341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0932393" y="1348744"/>
            <a:ext cx="2640374" cy="373416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056247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安徽海姬尔智能科技-知识产权补贴-实用新型专利.（护理床翻身装置）3"/>
          <p:cNvPicPr>
            <a:picLocks noChangeAspect="1"/>
          </p:cNvPicPr>
          <p:nvPr/>
        </p:nvPicPr>
        <p:blipFill>
          <a:blip r:embed="rId4" cstate="print"/>
          <a:srcRect l="4084" t="2603" r="8118" b="4230"/>
          <a:stretch>
            <a:fillRect/>
          </a:stretch>
        </p:blipFill>
        <p:spPr>
          <a:xfrm>
            <a:off x="6361152" y="1342444"/>
            <a:ext cx="2040325" cy="2982922"/>
          </a:xfrm>
          <a:prstGeom prst="rect">
            <a:avLst/>
          </a:prstGeom>
        </p:spPr>
      </p:pic>
      <p:pic>
        <p:nvPicPr>
          <p:cNvPr id="3" name="图片 2" descr="安徽海姬尔智能科技-知识产权补贴-实用新型专利.（护理床边柜装置）1"/>
          <p:cNvPicPr>
            <a:picLocks noChangeAspect="1"/>
          </p:cNvPicPr>
          <p:nvPr/>
        </p:nvPicPr>
        <p:blipFill>
          <a:blip r:embed="rId5" cstate="print"/>
          <a:srcRect l="4930" t="4230" r="8118" b="4591"/>
          <a:stretch>
            <a:fillRect/>
          </a:stretch>
        </p:blipFill>
        <p:spPr>
          <a:xfrm>
            <a:off x="6987187" y="1904695"/>
            <a:ext cx="2020638" cy="2919137"/>
          </a:xfrm>
          <a:prstGeom prst="rect">
            <a:avLst/>
          </a:prstGeom>
        </p:spPr>
      </p:pic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资质荣誉</a:t>
            </a:r>
          </a:p>
        </p:txBody>
      </p:sp>
      <p:pic>
        <p:nvPicPr>
          <p:cNvPr id="5" name="图片 4" descr="安徽海姬尔智能科技-知识产权补贴-实用新型专利.（护理床吹风装置）2"/>
          <p:cNvPicPr>
            <a:picLocks noChangeAspect="1"/>
          </p:cNvPicPr>
          <p:nvPr/>
        </p:nvPicPr>
        <p:blipFill>
          <a:blip r:embed="rId8" cstate="print"/>
          <a:srcRect l="3586" t="1952" r="6325" b="3254"/>
          <a:stretch>
            <a:fillRect/>
          </a:stretch>
        </p:blipFill>
        <p:spPr>
          <a:xfrm>
            <a:off x="1803298" y="1540885"/>
            <a:ext cx="2093872" cy="3034895"/>
          </a:xfrm>
          <a:prstGeom prst="rect">
            <a:avLst/>
          </a:prstGeom>
        </p:spPr>
      </p:pic>
      <p:pic>
        <p:nvPicPr>
          <p:cNvPr id="12" name="图片 11" descr="安徽海姬尔智能科技-知识产权补贴-实用新型专利.（护理床洁臀装置）4"/>
          <p:cNvPicPr>
            <a:picLocks noChangeAspect="1"/>
          </p:cNvPicPr>
          <p:nvPr/>
        </p:nvPicPr>
        <p:blipFill>
          <a:blip r:embed="rId9" cstate="print"/>
          <a:srcRect l="4482" t="2965" r="5876" b="3579"/>
          <a:stretch>
            <a:fillRect/>
          </a:stretch>
        </p:blipFill>
        <p:spPr>
          <a:xfrm>
            <a:off x="2559265" y="1980291"/>
            <a:ext cx="2083635" cy="2992371"/>
          </a:xfrm>
          <a:prstGeom prst="rect">
            <a:avLst/>
          </a:prstGeom>
        </p:spPr>
      </p:pic>
      <p:pic>
        <p:nvPicPr>
          <p:cNvPr id="22" name="图片 21" descr="安徽海姬尔智能科技-知识产权补贴-实用新型专利.（护理床头部清洗装置）6"/>
          <p:cNvPicPr>
            <a:picLocks noChangeAspect="1"/>
          </p:cNvPicPr>
          <p:nvPr/>
        </p:nvPicPr>
        <p:blipFill>
          <a:blip r:embed="rId10" cstate="print"/>
          <a:srcRect l="5428" t="3579" r="7171" b="3905"/>
          <a:stretch>
            <a:fillRect/>
          </a:stretch>
        </p:blipFill>
        <p:spPr>
          <a:xfrm>
            <a:off x="7575424" y="2355912"/>
            <a:ext cx="2031663" cy="2962448"/>
          </a:xfrm>
          <a:prstGeom prst="rect">
            <a:avLst/>
          </a:prstGeom>
        </p:spPr>
      </p:pic>
      <p:pic>
        <p:nvPicPr>
          <p:cNvPr id="24" name="图片 23" descr="图像 (2)"/>
          <p:cNvPicPr>
            <a:picLocks noChangeAspect="1"/>
          </p:cNvPicPr>
          <p:nvPr/>
        </p:nvPicPr>
        <p:blipFill>
          <a:blip r:embed="rId11" cstate="print"/>
          <a:srcRect l="2310" t="4591" r="11351" b="3254"/>
          <a:stretch>
            <a:fillRect/>
          </a:stretch>
        </p:blipFill>
        <p:spPr>
          <a:xfrm>
            <a:off x="3310508" y="2355913"/>
            <a:ext cx="1989927" cy="2950636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2048199" y="6142051"/>
            <a:ext cx="66808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/>
              <a:t>哈工海姬尔智能护理床已获多项国家专利和软件注册权，核心技术优势明显</a:t>
            </a:r>
            <a:r>
              <a:rPr lang="zh-CN" altLang="en-US" dirty="0" smtClean="0"/>
              <a:t>，代表国</a:t>
            </a:r>
            <a:r>
              <a:rPr lang="zh-CN" altLang="en-US" dirty="0"/>
              <a:t>内床式护理机器人行业的较高水平。</a:t>
            </a:r>
          </a:p>
        </p:txBody>
      </p:sp>
      <p:graphicFrame>
        <p:nvGraphicFramePr>
          <p:cNvPr id="7" name="对象 6"/>
          <p:cNvGraphicFramePr/>
          <p:nvPr/>
        </p:nvGraphicFramePr>
        <p:xfrm>
          <a:off x="11082011" y="1904694"/>
          <a:ext cx="2046625" cy="3025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r:id="rId12" imgW="3267075" imgH="4400550" progId="Paint.Picture">
                  <p:embed/>
                </p:oleObj>
              </mc:Choice>
              <mc:Fallback>
                <p:oleObj r:id="rId12" imgW="3267075" imgH="440055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082011" y="1904694"/>
                        <a:ext cx="2046625" cy="3025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11896251" y="2759883"/>
          <a:ext cx="2026938" cy="2987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r:id="rId14" imgW="3238500" imgH="4419600" progId="Paint.Picture">
                  <p:embed/>
                </p:oleObj>
              </mc:Choice>
              <mc:Fallback>
                <p:oleObj r:id="rId14" imgW="3238500" imgH="44196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896251" y="2759883"/>
                        <a:ext cx="2026938" cy="2987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图片 22" descr="安徽海姬尔智能科技-知识产权补贴-实用新型专利.（护理床坐便器装置）7"/>
          <p:cNvPicPr>
            <a:picLocks noChangeAspect="1"/>
          </p:cNvPicPr>
          <p:nvPr/>
        </p:nvPicPr>
        <p:blipFill>
          <a:blip r:embed="rId16" cstate="print"/>
          <a:srcRect l="5378" t="3905" r="6773" b="3254"/>
          <a:stretch>
            <a:fillRect/>
          </a:stretch>
        </p:blipFill>
        <p:spPr>
          <a:xfrm>
            <a:off x="3897170" y="2774845"/>
            <a:ext cx="2041900" cy="2972685"/>
          </a:xfrm>
          <a:prstGeom prst="rect">
            <a:avLst/>
          </a:prstGeom>
        </p:spPr>
      </p:pic>
      <p:pic>
        <p:nvPicPr>
          <p:cNvPr id="2" name="图片 1" descr="安徽海姬尔智能科技-知识产权补贴-实用新型专利.（护理床起背装置）5"/>
          <p:cNvPicPr>
            <a:picLocks noChangeAspect="1"/>
          </p:cNvPicPr>
          <p:nvPr/>
        </p:nvPicPr>
        <p:blipFill>
          <a:blip r:embed="rId17" cstate="print"/>
          <a:srcRect l="4482" t="2928" r="7221" b="4555"/>
          <a:stretch>
            <a:fillRect/>
          </a:stretch>
        </p:blipFill>
        <p:spPr>
          <a:xfrm>
            <a:off x="8192011" y="2965411"/>
            <a:ext cx="2052924" cy="2962448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733021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公司资质</a:t>
            </a:r>
          </a:p>
        </p:txBody>
      </p:sp>
      <p:pic>
        <p:nvPicPr>
          <p:cNvPr id="2" name="图片 1" descr="&amp;pfm133&amp;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/>
                </a14:imgProps>
              </a:ext>
            </a:extLst>
          </a:blip>
          <a:srcRect/>
          <a:stretch>
            <a:fillRect/>
          </a:stretch>
        </p:blipFill>
        <p:spPr>
          <a:xfrm>
            <a:off x="5175227" y="2176371"/>
            <a:ext cx="4518481" cy="3213649"/>
          </a:xfrm>
          <a:prstGeom prst="rect">
            <a:avLst/>
          </a:prstGeom>
        </p:spPr>
      </p:pic>
      <p:pic>
        <p:nvPicPr>
          <p:cNvPr id="4" name="图片 3" descr="&amp;pfm133&amp;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/>
                </a14:imgProps>
              </a:ext>
            </a:extLst>
          </a:blip>
          <a:srcRect/>
          <a:stretch>
            <a:fillRect/>
          </a:stretch>
        </p:blipFill>
        <p:spPr>
          <a:xfrm>
            <a:off x="1305619" y="1533011"/>
            <a:ext cx="3442802" cy="4500369"/>
          </a:xfrm>
          <a:prstGeom prst="rect">
            <a:avLst/>
          </a:prstGeom>
        </p:spPr>
      </p:pic>
      <p:pic>
        <p:nvPicPr>
          <p:cNvPr id="3" name="图片 2" descr="&amp;pfm133&amp;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/>
                </a14:imgProps>
              </a:ext>
            </a:extLst>
          </a:blip>
          <a:srcRect/>
          <a:stretch>
            <a:fillRect/>
          </a:stretch>
        </p:blipFill>
        <p:spPr>
          <a:xfrm>
            <a:off x="10223673" y="1491275"/>
            <a:ext cx="3366418" cy="4631876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989927" y="6582243"/>
            <a:ext cx="102575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/>
              <a:t>公司已取得医疗器械生产许可证、产品注册证和经营注册证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5878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资质荣誉</a:t>
            </a:r>
          </a:p>
        </p:txBody>
      </p:sp>
      <p:pic>
        <p:nvPicPr>
          <p:cNvPr id="26" name="图片 25" descr="&amp;pfm133&amp;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/>
                </a14:imgProps>
              </a:ext>
            </a:extLst>
          </a:blip>
          <a:srcRect/>
          <a:stretch>
            <a:fillRect/>
          </a:stretch>
        </p:blipFill>
        <p:spPr>
          <a:xfrm>
            <a:off x="1828496" y="1184951"/>
            <a:ext cx="4236568" cy="5861111"/>
          </a:xfrm>
          <a:prstGeom prst="rect">
            <a:avLst/>
          </a:prstGeom>
        </p:spPr>
      </p:pic>
      <p:pic>
        <p:nvPicPr>
          <p:cNvPr id="2" name="图片 1" descr="&amp;pfm133&amp;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/>
                </a14:imgProps>
              </a:ext>
            </a:extLst>
          </a:blip>
          <a:srcRect/>
          <a:stretch>
            <a:fillRect/>
          </a:stretch>
        </p:blipFill>
        <p:spPr>
          <a:xfrm>
            <a:off x="9316513" y="1184950"/>
            <a:ext cx="2829366" cy="6094988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433188" y="7279938"/>
            <a:ext cx="46318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/>
              <a:t>三部委智慧健康养老产品推广目录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15651" y="7279938"/>
            <a:ext cx="46318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/>
              <a:t>省级智慧健康养老应用示范企业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139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产品介绍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2078123" y="4034397"/>
            <a:ext cx="1253646" cy="1008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zh-CN" sz="2976">
                <a:solidFill>
                  <a:srgbClr val="FFFFFF"/>
                </a:solidFill>
                <a:sym typeface="+mn-ea"/>
              </a:rPr>
              <a:t>输 入</a:t>
            </a:r>
          </a:p>
          <a:p>
            <a:pPr algn="l"/>
            <a:r>
              <a:rPr lang="zh-CN" altLang="zh-CN" sz="2976">
                <a:solidFill>
                  <a:srgbClr val="FFFFFF"/>
                </a:solidFill>
                <a:sym typeface="+mn-ea"/>
              </a:rPr>
              <a:t>标 题</a:t>
            </a:r>
            <a:endParaRPr lang="zh-CN" altLang="en-US" sz="2976"/>
          </a:p>
        </p:txBody>
      </p:sp>
      <p:grpSp>
        <p:nvGrpSpPr>
          <p:cNvPr id="92" name="组合 91"/>
          <p:cNvGrpSpPr/>
          <p:nvPr/>
        </p:nvGrpSpPr>
        <p:grpSpPr>
          <a:xfrm>
            <a:off x="8269183" y="2044864"/>
            <a:ext cx="5865835" cy="1167812"/>
            <a:chOff x="8524" y="3023"/>
            <a:chExt cx="7449" cy="1483"/>
          </a:xfrm>
        </p:grpSpPr>
        <p:grpSp>
          <p:nvGrpSpPr>
            <p:cNvPr id="93" name="组合 92"/>
            <p:cNvGrpSpPr/>
            <p:nvPr/>
          </p:nvGrpSpPr>
          <p:grpSpPr>
            <a:xfrm>
              <a:off x="10042" y="3023"/>
              <a:ext cx="5931" cy="1483"/>
              <a:chOff x="2207" y="7134"/>
              <a:chExt cx="5931" cy="1483"/>
            </a:xfrm>
          </p:grpSpPr>
          <p:sp>
            <p:nvSpPr>
              <p:cNvPr id="94" name="文本框 93"/>
              <p:cNvSpPr txBox="1"/>
              <p:nvPr/>
            </p:nvSpPr>
            <p:spPr>
              <a:xfrm>
                <a:off x="2207" y="7618"/>
                <a:ext cx="5931" cy="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736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国际首创嵌入式智能马桶</a:t>
                </a: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736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让方便 更方便</a:t>
                </a: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2207" y="7134"/>
                <a:ext cx="1407" cy="4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chemeClr val="tx1"/>
                    </a:solidFill>
                    <a:cs typeface="+mn-ea"/>
                    <a:sym typeface="+mn-lt"/>
                  </a:rPr>
                  <a:t>首创科技</a:t>
                </a:r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8524" y="3111"/>
              <a:ext cx="1350" cy="1350"/>
              <a:chOff x="8524" y="3111"/>
              <a:chExt cx="1350" cy="1350"/>
            </a:xfrm>
          </p:grpSpPr>
          <p:sp>
            <p:nvSpPr>
              <p:cNvPr id="97" name="圆角矩形 96"/>
              <p:cNvSpPr/>
              <p:nvPr/>
            </p:nvSpPr>
            <p:spPr>
              <a:xfrm>
                <a:off x="8524" y="3111"/>
                <a:ext cx="1350" cy="1350"/>
              </a:xfrm>
              <a:prstGeom prst="roundRect">
                <a:avLst/>
              </a:prstGeom>
              <a:solidFill>
                <a:srgbClr val="A3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8699" y="3327"/>
                <a:ext cx="955" cy="8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968">
                    <a:solidFill>
                      <a:srgbClr val="FFFFFF"/>
                    </a:solidFill>
                  </a:rPr>
                  <a:t>01</a:t>
                </a:r>
              </a:p>
            </p:txBody>
          </p:sp>
        </p:grpSp>
      </p:grpSp>
      <p:grpSp>
        <p:nvGrpSpPr>
          <p:cNvPr id="99" name="组合 98"/>
          <p:cNvGrpSpPr/>
          <p:nvPr/>
        </p:nvGrpSpPr>
        <p:grpSpPr>
          <a:xfrm>
            <a:off x="8269183" y="3733978"/>
            <a:ext cx="5865835" cy="1167812"/>
            <a:chOff x="8524" y="3023"/>
            <a:chExt cx="7449" cy="1483"/>
          </a:xfrm>
        </p:grpSpPr>
        <p:grpSp>
          <p:nvGrpSpPr>
            <p:cNvPr id="100" name="组合 99"/>
            <p:cNvGrpSpPr/>
            <p:nvPr/>
          </p:nvGrpSpPr>
          <p:grpSpPr>
            <a:xfrm>
              <a:off x="10042" y="3023"/>
              <a:ext cx="5931" cy="1483"/>
              <a:chOff x="2207" y="7134"/>
              <a:chExt cx="5931" cy="1483"/>
            </a:xfrm>
          </p:grpSpPr>
          <p:sp>
            <p:nvSpPr>
              <p:cNvPr id="101" name="文本框 100"/>
              <p:cNvSpPr txBox="1"/>
              <p:nvPr/>
            </p:nvSpPr>
            <p:spPr>
              <a:xfrm>
                <a:off x="2207" y="7618"/>
                <a:ext cx="5931" cy="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736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智能如厕 洗头洗脚 起背曲腿 左右翻身 </a:t>
                </a: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736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脚部支撑</a:t>
                </a:r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2207" y="7134"/>
                <a:ext cx="235" cy="4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8524" y="3111"/>
              <a:ext cx="1350" cy="1350"/>
              <a:chOff x="8524" y="3111"/>
              <a:chExt cx="1350" cy="1350"/>
            </a:xfrm>
          </p:grpSpPr>
          <p:sp>
            <p:nvSpPr>
              <p:cNvPr id="104" name="圆角矩形 103"/>
              <p:cNvSpPr/>
              <p:nvPr/>
            </p:nvSpPr>
            <p:spPr>
              <a:xfrm>
                <a:off x="8524" y="3111"/>
                <a:ext cx="1350" cy="1350"/>
              </a:xfrm>
              <a:prstGeom prst="roundRect">
                <a:avLst/>
              </a:prstGeom>
              <a:solidFill>
                <a:srgbClr val="A3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8699" y="3327"/>
                <a:ext cx="955" cy="8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968">
                    <a:solidFill>
                      <a:srgbClr val="FFFFFF"/>
                    </a:solidFill>
                  </a:rPr>
                  <a:t>02</a:t>
                </a:r>
              </a:p>
            </p:txBody>
          </p:sp>
        </p:grpSp>
      </p:grpSp>
      <p:grpSp>
        <p:nvGrpSpPr>
          <p:cNvPr id="106" name="组合 105"/>
          <p:cNvGrpSpPr/>
          <p:nvPr/>
        </p:nvGrpSpPr>
        <p:grpSpPr>
          <a:xfrm>
            <a:off x="8406989" y="5172679"/>
            <a:ext cx="5865835" cy="1448938"/>
            <a:chOff x="8524" y="2927"/>
            <a:chExt cx="7449" cy="1840"/>
          </a:xfrm>
        </p:grpSpPr>
        <p:grpSp>
          <p:nvGrpSpPr>
            <p:cNvPr id="107" name="组合 106"/>
            <p:cNvGrpSpPr/>
            <p:nvPr/>
          </p:nvGrpSpPr>
          <p:grpSpPr>
            <a:xfrm>
              <a:off x="10042" y="2927"/>
              <a:ext cx="5931" cy="1840"/>
              <a:chOff x="2207" y="7038"/>
              <a:chExt cx="5931" cy="1840"/>
            </a:xfrm>
          </p:grpSpPr>
          <p:sp>
            <p:nvSpPr>
              <p:cNvPr id="108" name="文本框 107"/>
              <p:cNvSpPr txBox="1"/>
              <p:nvPr/>
            </p:nvSpPr>
            <p:spPr>
              <a:xfrm>
                <a:off x="2207" y="7438"/>
                <a:ext cx="5931" cy="1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736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医疗器械生产许可证、专利</a:t>
                </a:r>
                <a:r>
                  <a:rPr lang="en-US" altLang="zh-CN" sz="1736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+</a:t>
                </a:r>
                <a:r>
                  <a:rPr lang="zh-CN" altLang="en-US" sz="1736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软著</a:t>
                </a: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736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三部委联合推荐智慧养老产品</a:t>
                </a: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736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省级智慧健康养老应用示范企业</a:t>
                </a:r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2207" y="7038"/>
                <a:ext cx="1407" cy="4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chemeClr val="tx1"/>
                    </a:solidFill>
                    <a:cs typeface="+mn-ea"/>
                    <a:sym typeface="+mn-lt"/>
                  </a:rPr>
                  <a:t>资质认定</a:t>
                </a:r>
              </a:p>
            </p:txBody>
          </p:sp>
        </p:grpSp>
        <p:grpSp>
          <p:nvGrpSpPr>
            <p:cNvPr id="110" name="组合 109"/>
            <p:cNvGrpSpPr/>
            <p:nvPr/>
          </p:nvGrpSpPr>
          <p:grpSpPr>
            <a:xfrm>
              <a:off x="8524" y="3111"/>
              <a:ext cx="1350" cy="1350"/>
              <a:chOff x="8524" y="3111"/>
              <a:chExt cx="1350" cy="1350"/>
            </a:xfrm>
          </p:grpSpPr>
          <p:sp>
            <p:nvSpPr>
              <p:cNvPr id="111" name="圆角矩形 110"/>
              <p:cNvSpPr/>
              <p:nvPr/>
            </p:nvSpPr>
            <p:spPr>
              <a:xfrm>
                <a:off x="8524" y="3111"/>
                <a:ext cx="1350" cy="1350"/>
              </a:xfrm>
              <a:prstGeom prst="roundRect">
                <a:avLst/>
              </a:prstGeom>
              <a:solidFill>
                <a:srgbClr val="A3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文本框 111"/>
              <p:cNvSpPr txBox="1"/>
              <p:nvPr/>
            </p:nvSpPr>
            <p:spPr>
              <a:xfrm>
                <a:off x="8699" y="3327"/>
                <a:ext cx="955" cy="8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968">
                    <a:solidFill>
                      <a:srgbClr val="FFFFFF"/>
                    </a:solidFill>
                  </a:rPr>
                  <a:t>03</a:t>
                </a:r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1828497" y="1558997"/>
            <a:ext cx="4862603" cy="5502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2976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护理机器人行业领跑者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464555" y="36583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/>
                </a:solidFill>
                <a:cs typeface="+mn-ea"/>
                <a:sym typeface="+mn-lt"/>
              </a:rPr>
              <a:t>功能多样</a:t>
            </a:r>
          </a:p>
        </p:txBody>
      </p:sp>
      <p:graphicFrame>
        <p:nvGraphicFramePr>
          <p:cNvPr id="3" name="对象 2"/>
          <p:cNvGraphicFramePr/>
          <p:nvPr/>
        </p:nvGraphicFramePr>
        <p:xfrm>
          <a:off x="592962" y="3530025"/>
          <a:ext cx="6849381" cy="3110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r:id="rId6" imgW="8391525" imgH="4514850" progId="Paint.Picture">
                  <p:embed/>
                </p:oleObj>
              </mc:Choice>
              <mc:Fallback>
                <p:oleObj r:id="rId6" imgW="8391525" imgH="451485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2962" y="3530025"/>
                        <a:ext cx="6849381" cy="3110491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 w="79375" cmpd="dbl">
                        <a:solidFill>
                          <a:schemeClr val="accent1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968931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产品介绍</a:t>
            </a:r>
          </a:p>
        </p:txBody>
      </p:sp>
      <p:sp>
        <p:nvSpPr>
          <p:cNvPr id="2" name="矩形 1"/>
          <p:cNvSpPr/>
          <p:nvPr/>
        </p:nvSpPr>
        <p:spPr>
          <a:xfrm>
            <a:off x="1115839" y="1636169"/>
            <a:ext cx="4357838" cy="155786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984" dirty="0">
                <a:latin typeface="+mn-ea"/>
              </a:rPr>
              <a:t>首创的床式智能马桶系统，辅助长辈、长期卧床者、失能、半失 能人群及术后人士实现高效、高品质护理，再现生活尊严。</a:t>
            </a:r>
          </a:p>
        </p:txBody>
      </p:sp>
      <p:sp>
        <p:nvSpPr>
          <p:cNvPr id="72" name="矩形 58"/>
          <p:cNvSpPr/>
          <p:nvPr/>
        </p:nvSpPr>
        <p:spPr>
          <a:xfrm flipV="1">
            <a:off x="1828497" y="5679020"/>
            <a:ext cx="10099253" cy="192929"/>
          </a:xfrm>
          <a:prstGeom prst="notchedRightArrow">
            <a:avLst/>
          </a:prstGeom>
          <a:solidFill>
            <a:srgbClr val="2457A6"/>
          </a:solidFill>
          <a:ln w="9525">
            <a:noFill/>
            <a:miter/>
          </a:ln>
        </p:spPr>
        <p:txBody>
          <a:bodyPr anchor="ctr"/>
          <a:lstStyle/>
          <a:p>
            <a:pPr lvl="0" algn="ctr" eaLnBrk="1" hangingPunct="1">
              <a:buNone/>
            </a:pPr>
            <a:endParaRPr lang="zh-CN" altLang="zh-CN" dirty="0">
              <a:solidFill>
                <a:srgbClr val="68BA56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73" name="椭圆 53"/>
          <p:cNvSpPr/>
          <p:nvPr/>
        </p:nvSpPr>
        <p:spPr>
          <a:xfrm>
            <a:off x="2396260" y="5723119"/>
            <a:ext cx="122057" cy="147256"/>
          </a:xfrm>
          <a:prstGeom prst="ellipse">
            <a:avLst/>
          </a:prstGeom>
          <a:solidFill>
            <a:srgbClr val="2457A6"/>
          </a:solidFill>
          <a:ln w="9525">
            <a:noFill/>
          </a:ln>
        </p:spPr>
        <p:txBody>
          <a:bodyPr anchor="ctr"/>
          <a:lstStyle/>
          <a:p>
            <a:pPr lvl="0" algn="ctr" eaLnBrk="1" hangingPunct="1">
              <a:buNone/>
            </a:pPr>
            <a:endParaRPr lang="zh-CN" altLang="zh-CN" dirty="0">
              <a:solidFill>
                <a:srgbClr val="68BA56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81" name="等腰三角形 59"/>
          <p:cNvSpPr/>
          <p:nvPr/>
        </p:nvSpPr>
        <p:spPr>
          <a:xfrm>
            <a:off x="2374999" y="6005818"/>
            <a:ext cx="118907" cy="122845"/>
          </a:xfrm>
          <a:prstGeom prst="triangle">
            <a:avLst>
              <a:gd name="adj" fmla="val 50000"/>
            </a:avLst>
          </a:prstGeom>
          <a:solidFill>
            <a:srgbClr val="2457A6"/>
          </a:solidFill>
          <a:ln w="9525">
            <a:noFill/>
            <a:miter/>
          </a:ln>
        </p:spPr>
        <p:txBody>
          <a:bodyPr lIns="70240" tIns="35120" rIns="70240" bIns="35120" anchor="ctr"/>
          <a:lstStyle/>
          <a:p>
            <a:pPr lvl="0" algn="ctr" eaLnBrk="1" hangingPunct="1">
              <a:buNone/>
            </a:pPr>
            <a:endParaRPr lang="zh-CN" altLang="zh-CN" sz="2976" b="1" dirty="0">
              <a:solidFill>
                <a:schemeClr val="bg1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1828497" y="6116063"/>
            <a:ext cx="1211910" cy="1212698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503"/>
          <p:cNvSpPr txBox="1"/>
          <p:nvPr/>
        </p:nvSpPr>
        <p:spPr>
          <a:xfrm>
            <a:off x="1869445" y="6443649"/>
            <a:ext cx="1211910" cy="696557"/>
          </a:xfrm>
          <a:prstGeom prst="rect">
            <a:avLst/>
          </a:prstGeom>
          <a:noFill/>
        </p:spPr>
        <p:txBody>
          <a:bodyPr wrap="square" lIns="85046" tIns="42523" rIns="85046" bIns="42523" rtlCol="0">
            <a:spAutoFit/>
          </a:bodyPr>
          <a:lstStyle/>
          <a:p>
            <a:pPr algn="ctr"/>
            <a:r>
              <a:rPr lang="zh-CN" altLang="en-US" sz="1984">
                <a:solidFill>
                  <a:schemeClr val="bg1"/>
                </a:solidFill>
                <a:latin typeface="+mn-ea"/>
                <a:cs typeface="+mn-ea"/>
                <a:sym typeface="+mn-ea"/>
              </a:rPr>
              <a:t>马桶自动开合</a:t>
            </a:r>
            <a:endParaRPr lang="zh-CN" altLang="en-US" sz="1984" dirty="0">
              <a:solidFill>
                <a:schemeClr val="bg1"/>
              </a:solidFill>
              <a:latin typeface="+mn-ea"/>
              <a:ea typeface="+mj-ea"/>
              <a:cs typeface="+mn-ea"/>
              <a:sym typeface="+mn-ea"/>
            </a:endParaRPr>
          </a:p>
        </p:txBody>
      </p:sp>
      <p:sp>
        <p:nvSpPr>
          <p:cNvPr id="3" name="椭圆 53"/>
          <p:cNvSpPr/>
          <p:nvPr/>
        </p:nvSpPr>
        <p:spPr>
          <a:xfrm>
            <a:off x="4207432" y="5723119"/>
            <a:ext cx="122057" cy="147256"/>
          </a:xfrm>
          <a:prstGeom prst="ellipse">
            <a:avLst/>
          </a:prstGeom>
          <a:solidFill>
            <a:srgbClr val="2457A6"/>
          </a:solidFill>
          <a:ln w="9525">
            <a:noFill/>
          </a:ln>
        </p:spPr>
        <p:txBody>
          <a:bodyPr anchor="ctr"/>
          <a:lstStyle/>
          <a:p>
            <a:pPr lvl="0" algn="ctr" eaLnBrk="1" hangingPunct="1">
              <a:buNone/>
            </a:pPr>
            <a:endParaRPr lang="zh-CN" altLang="zh-CN" dirty="0">
              <a:solidFill>
                <a:srgbClr val="68BA56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7" name="等腰三角形 59"/>
          <p:cNvSpPr/>
          <p:nvPr/>
        </p:nvSpPr>
        <p:spPr>
          <a:xfrm>
            <a:off x="4186171" y="6005818"/>
            <a:ext cx="118907" cy="122845"/>
          </a:xfrm>
          <a:prstGeom prst="triangle">
            <a:avLst>
              <a:gd name="adj" fmla="val 50000"/>
            </a:avLst>
          </a:prstGeom>
          <a:solidFill>
            <a:srgbClr val="2457A6"/>
          </a:solidFill>
          <a:ln w="9525">
            <a:noFill/>
            <a:miter/>
          </a:ln>
        </p:spPr>
        <p:txBody>
          <a:bodyPr lIns="70240" tIns="35120" rIns="70240" bIns="35120" anchor="ctr"/>
          <a:lstStyle/>
          <a:p>
            <a:pPr lvl="0" algn="ctr" eaLnBrk="1" hangingPunct="1">
              <a:buNone/>
            </a:pPr>
            <a:endParaRPr lang="zh-CN" altLang="zh-CN" sz="2976" b="1" dirty="0">
              <a:solidFill>
                <a:schemeClr val="bg1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639669" y="6116063"/>
            <a:ext cx="1211910" cy="1212698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503"/>
          <p:cNvSpPr txBox="1"/>
          <p:nvPr/>
        </p:nvSpPr>
        <p:spPr>
          <a:xfrm>
            <a:off x="3639668" y="6443649"/>
            <a:ext cx="1212698" cy="696557"/>
          </a:xfrm>
          <a:prstGeom prst="rect">
            <a:avLst/>
          </a:prstGeom>
          <a:noFill/>
        </p:spPr>
        <p:txBody>
          <a:bodyPr wrap="square" lIns="85046" tIns="42523" rIns="85046" bIns="42523" rtlCol="0">
            <a:spAutoFit/>
          </a:bodyPr>
          <a:lstStyle/>
          <a:p>
            <a:pPr algn="ctr"/>
            <a:r>
              <a:rPr lang="zh-CN" altLang="en-US" sz="1984">
                <a:solidFill>
                  <a:schemeClr val="bg1"/>
                </a:solidFill>
                <a:latin typeface="+mn-ea"/>
                <a:cs typeface="+mn-ea"/>
                <a:sym typeface="+mn-ea"/>
              </a:rPr>
              <a:t>马桶自动升降</a:t>
            </a:r>
            <a:endParaRPr lang="en-US" altLang="zh-CN" sz="1984" dirty="0">
              <a:solidFill>
                <a:schemeClr val="bg1"/>
              </a:solidFill>
              <a:latin typeface="+mn-ea"/>
              <a:ea typeface="+mj-ea"/>
              <a:cs typeface="+mn-ea"/>
              <a:sym typeface="+mn-ea"/>
            </a:endParaRPr>
          </a:p>
        </p:txBody>
      </p:sp>
      <p:sp>
        <p:nvSpPr>
          <p:cNvPr id="18" name="椭圆 53"/>
          <p:cNvSpPr/>
          <p:nvPr/>
        </p:nvSpPr>
        <p:spPr>
          <a:xfrm>
            <a:off x="6032779" y="5709732"/>
            <a:ext cx="122057" cy="147256"/>
          </a:xfrm>
          <a:prstGeom prst="ellipse">
            <a:avLst/>
          </a:prstGeom>
          <a:solidFill>
            <a:srgbClr val="2457A6"/>
          </a:solidFill>
          <a:ln w="9525">
            <a:noFill/>
          </a:ln>
        </p:spPr>
        <p:txBody>
          <a:bodyPr anchor="ctr"/>
          <a:lstStyle/>
          <a:p>
            <a:pPr lvl="0" algn="ctr" eaLnBrk="1" hangingPunct="1">
              <a:buNone/>
            </a:pPr>
            <a:endParaRPr lang="zh-CN" altLang="zh-CN" dirty="0">
              <a:solidFill>
                <a:srgbClr val="68BA56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10" name="等腰三角形 59"/>
          <p:cNvSpPr/>
          <p:nvPr/>
        </p:nvSpPr>
        <p:spPr>
          <a:xfrm>
            <a:off x="6011517" y="5992431"/>
            <a:ext cx="118907" cy="122845"/>
          </a:xfrm>
          <a:prstGeom prst="triangle">
            <a:avLst>
              <a:gd name="adj" fmla="val 50000"/>
            </a:avLst>
          </a:prstGeom>
          <a:solidFill>
            <a:srgbClr val="2457A6"/>
          </a:solidFill>
          <a:ln w="9525">
            <a:noFill/>
            <a:miter/>
          </a:ln>
        </p:spPr>
        <p:txBody>
          <a:bodyPr lIns="70240" tIns="35120" rIns="70240" bIns="35120" anchor="ctr"/>
          <a:lstStyle/>
          <a:p>
            <a:pPr lvl="0" algn="ctr" eaLnBrk="1" hangingPunct="1">
              <a:buNone/>
            </a:pPr>
            <a:endParaRPr lang="zh-CN" altLang="zh-CN" sz="2976" b="1" dirty="0">
              <a:solidFill>
                <a:schemeClr val="bg1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465016" y="6102676"/>
            <a:ext cx="1211910" cy="1212698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503"/>
          <p:cNvSpPr txBox="1"/>
          <p:nvPr/>
        </p:nvSpPr>
        <p:spPr>
          <a:xfrm>
            <a:off x="5465802" y="6431050"/>
            <a:ext cx="1211123" cy="696557"/>
          </a:xfrm>
          <a:prstGeom prst="rect">
            <a:avLst/>
          </a:prstGeom>
          <a:noFill/>
        </p:spPr>
        <p:txBody>
          <a:bodyPr wrap="square" lIns="85046" tIns="42523" rIns="85046" bIns="42523" rtlCol="0">
            <a:spAutoFit/>
          </a:bodyPr>
          <a:lstStyle/>
          <a:p>
            <a:pPr algn="ctr"/>
            <a:r>
              <a:rPr lang="zh-CN" altLang="en-US" sz="1984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温水</a:t>
            </a:r>
          </a:p>
          <a:p>
            <a:pPr algn="ctr"/>
            <a:r>
              <a:rPr lang="zh-CN" altLang="en-US" sz="1984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洗臀</a:t>
            </a:r>
            <a:endParaRPr lang="zh-CN" altLang="en-US" sz="1984" dirty="0">
              <a:solidFill>
                <a:schemeClr val="bg1"/>
              </a:solidFill>
              <a:latin typeface="+mn-ea"/>
              <a:ea typeface="+mj-ea"/>
              <a:cs typeface="+mn-ea"/>
              <a:sym typeface="+mn-ea"/>
            </a:endParaRPr>
          </a:p>
        </p:txBody>
      </p:sp>
      <p:sp>
        <p:nvSpPr>
          <p:cNvPr id="22" name="椭圆 53"/>
          <p:cNvSpPr/>
          <p:nvPr/>
        </p:nvSpPr>
        <p:spPr>
          <a:xfrm>
            <a:off x="7990420" y="5710519"/>
            <a:ext cx="122057" cy="147256"/>
          </a:xfrm>
          <a:prstGeom prst="ellipse">
            <a:avLst/>
          </a:prstGeom>
          <a:solidFill>
            <a:srgbClr val="2457A6"/>
          </a:solidFill>
          <a:ln w="9525">
            <a:noFill/>
          </a:ln>
        </p:spPr>
        <p:txBody>
          <a:bodyPr anchor="ctr"/>
          <a:lstStyle/>
          <a:p>
            <a:pPr lvl="0" algn="ctr" eaLnBrk="1" hangingPunct="1">
              <a:buNone/>
            </a:pPr>
            <a:endParaRPr lang="zh-CN" altLang="zh-CN" dirty="0">
              <a:solidFill>
                <a:srgbClr val="68BA56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23" name="等腰三角形 59"/>
          <p:cNvSpPr/>
          <p:nvPr/>
        </p:nvSpPr>
        <p:spPr>
          <a:xfrm>
            <a:off x="7969158" y="5993219"/>
            <a:ext cx="118907" cy="122845"/>
          </a:xfrm>
          <a:prstGeom prst="triangle">
            <a:avLst>
              <a:gd name="adj" fmla="val 50000"/>
            </a:avLst>
          </a:prstGeom>
          <a:solidFill>
            <a:srgbClr val="2457A6"/>
          </a:solidFill>
          <a:ln w="9525">
            <a:noFill/>
            <a:miter/>
          </a:ln>
        </p:spPr>
        <p:txBody>
          <a:bodyPr lIns="70240" tIns="35120" rIns="70240" bIns="35120" anchor="ctr"/>
          <a:lstStyle/>
          <a:p>
            <a:pPr lvl="0" algn="ctr" eaLnBrk="1" hangingPunct="1">
              <a:buNone/>
            </a:pPr>
            <a:endParaRPr lang="zh-CN" altLang="zh-CN" sz="2976" b="1" dirty="0">
              <a:solidFill>
                <a:schemeClr val="bg1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422657" y="6103464"/>
            <a:ext cx="1211910" cy="1212698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503"/>
          <p:cNvSpPr txBox="1"/>
          <p:nvPr/>
        </p:nvSpPr>
        <p:spPr>
          <a:xfrm>
            <a:off x="7422656" y="6431837"/>
            <a:ext cx="1212698" cy="696557"/>
          </a:xfrm>
          <a:prstGeom prst="rect">
            <a:avLst/>
          </a:prstGeom>
          <a:noFill/>
        </p:spPr>
        <p:txBody>
          <a:bodyPr wrap="square" lIns="85046" tIns="42523" rIns="85046" bIns="42523" rtlCol="0">
            <a:spAutoFit/>
          </a:bodyPr>
          <a:lstStyle/>
          <a:p>
            <a:pPr algn="ctr"/>
            <a:r>
              <a:rPr lang="zh-CN" altLang="en-US" sz="1984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暖风</a:t>
            </a:r>
          </a:p>
          <a:p>
            <a:pPr algn="ctr"/>
            <a:r>
              <a:rPr lang="zh-CN" altLang="en-US" sz="1984">
                <a:solidFill>
                  <a:schemeClr val="bg1"/>
                </a:solidFill>
                <a:latin typeface="+mn-ea"/>
                <a:cs typeface="+mn-ea"/>
                <a:sym typeface="+mn-ea"/>
              </a:rPr>
              <a:t>烘干</a:t>
            </a:r>
            <a:endParaRPr lang="zh-CN" altLang="en-US" sz="1984" dirty="0">
              <a:solidFill>
                <a:schemeClr val="bg1"/>
              </a:solidFill>
              <a:latin typeface="+mn-ea"/>
              <a:ea typeface="+mj-ea"/>
              <a:cs typeface="+mn-ea"/>
              <a:sym typeface="+mn-ea"/>
            </a:endParaRPr>
          </a:p>
        </p:txBody>
      </p:sp>
      <p:sp>
        <p:nvSpPr>
          <p:cNvPr id="27" name="椭圆 53"/>
          <p:cNvSpPr/>
          <p:nvPr/>
        </p:nvSpPr>
        <p:spPr>
          <a:xfrm>
            <a:off x="9676385" y="5723119"/>
            <a:ext cx="122057" cy="147256"/>
          </a:xfrm>
          <a:prstGeom prst="ellipse">
            <a:avLst/>
          </a:prstGeom>
          <a:solidFill>
            <a:srgbClr val="2457A6"/>
          </a:solidFill>
          <a:ln w="9525">
            <a:noFill/>
          </a:ln>
        </p:spPr>
        <p:txBody>
          <a:bodyPr anchor="ctr"/>
          <a:lstStyle/>
          <a:p>
            <a:pPr lvl="0" algn="ctr" eaLnBrk="1" hangingPunct="1">
              <a:buNone/>
            </a:pPr>
            <a:endParaRPr lang="zh-CN" altLang="zh-CN" dirty="0">
              <a:solidFill>
                <a:srgbClr val="68BA56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35" name="等腰三角形 59"/>
          <p:cNvSpPr/>
          <p:nvPr/>
        </p:nvSpPr>
        <p:spPr>
          <a:xfrm>
            <a:off x="9655123" y="6005819"/>
            <a:ext cx="118907" cy="172455"/>
          </a:xfrm>
          <a:prstGeom prst="triangle">
            <a:avLst>
              <a:gd name="adj" fmla="val 50000"/>
            </a:avLst>
          </a:prstGeom>
          <a:solidFill>
            <a:srgbClr val="2457A6"/>
          </a:solidFill>
          <a:ln w="9525">
            <a:noFill/>
            <a:miter/>
          </a:ln>
        </p:spPr>
        <p:txBody>
          <a:bodyPr lIns="70240" tIns="35120" rIns="70240" bIns="35120" anchor="ctr"/>
          <a:lstStyle/>
          <a:p>
            <a:pPr lvl="0" algn="ctr" eaLnBrk="1" hangingPunct="1">
              <a:buNone/>
            </a:pPr>
            <a:endParaRPr lang="zh-CN" altLang="zh-CN" sz="2976" b="1" dirty="0">
              <a:solidFill>
                <a:schemeClr val="bg1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9108622" y="6116063"/>
            <a:ext cx="1211910" cy="1212698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503"/>
          <p:cNvSpPr txBox="1"/>
          <p:nvPr/>
        </p:nvSpPr>
        <p:spPr>
          <a:xfrm>
            <a:off x="9107833" y="6444437"/>
            <a:ext cx="1212698" cy="696557"/>
          </a:xfrm>
          <a:prstGeom prst="rect">
            <a:avLst/>
          </a:prstGeom>
          <a:noFill/>
        </p:spPr>
        <p:txBody>
          <a:bodyPr wrap="square" lIns="85046" tIns="42523" rIns="85046" bIns="42523" rtlCol="0">
            <a:spAutoFit/>
          </a:bodyPr>
          <a:lstStyle/>
          <a:p>
            <a:pPr algn="ctr"/>
            <a:r>
              <a:rPr lang="zh-CN" altLang="en-US" sz="1984">
                <a:solidFill>
                  <a:schemeClr val="bg1"/>
                </a:solidFill>
                <a:latin typeface="+mn-ea"/>
                <a:cs typeface="+mn-ea"/>
                <a:sym typeface="+mn-ea"/>
              </a:rPr>
              <a:t>马桶自</a:t>
            </a:r>
          </a:p>
          <a:p>
            <a:pPr algn="ctr"/>
            <a:r>
              <a:rPr lang="zh-CN" altLang="en-US" sz="1984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清洁</a:t>
            </a:r>
            <a:endParaRPr lang="zh-CN" altLang="en-US" sz="1984" dirty="0">
              <a:solidFill>
                <a:schemeClr val="bg1"/>
              </a:solidFill>
              <a:latin typeface="+mn-ea"/>
              <a:ea typeface="+mj-ea"/>
              <a:cs typeface="+mn-ea"/>
              <a:sym typeface="+mn-ea"/>
            </a:endParaRPr>
          </a:p>
        </p:txBody>
      </p:sp>
      <p:sp>
        <p:nvSpPr>
          <p:cNvPr id="47" name="椭圆 53"/>
          <p:cNvSpPr/>
          <p:nvPr/>
        </p:nvSpPr>
        <p:spPr>
          <a:xfrm>
            <a:off x="11470233" y="5709732"/>
            <a:ext cx="122057" cy="147256"/>
          </a:xfrm>
          <a:prstGeom prst="ellipse">
            <a:avLst/>
          </a:prstGeom>
          <a:solidFill>
            <a:srgbClr val="2457A6"/>
          </a:solidFill>
          <a:ln w="9525">
            <a:noFill/>
          </a:ln>
        </p:spPr>
        <p:txBody>
          <a:bodyPr anchor="ctr"/>
          <a:lstStyle/>
          <a:p>
            <a:pPr lvl="0" algn="ctr" eaLnBrk="1" hangingPunct="1">
              <a:buNone/>
            </a:pPr>
            <a:endParaRPr lang="zh-CN" altLang="zh-CN" dirty="0">
              <a:solidFill>
                <a:srgbClr val="68BA56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48" name="等腰三角形 59"/>
          <p:cNvSpPr/>
          <p:nvPr/>
        </p:nvSpPr>
        <p:spPr>
          <a:xfrm>
            <a:off x="11448971" y="5992431"/>
            <a:ext cx="118907" cy="122845"/>
          </a:xfrm>
          <a:prstGeom prst="triangle">
            <a:avLst>
              <a:gd name="adj" fmla="val 50000"/>
            </a:avLst>
          </a:prstGeom>
          <a:solidFill>
            <a:srgbClr val="2457A6"/>
          </a:solidFill>
          <a:ln w="9525">
            <a:noFill/>
            <a:miter/>
          </a:ln>
        </p:spPr>
        <p:txBody>
          <a:bodyPr lIns="70240" tIns="35120" rIns="70240" bIns="35120" anchor="ctr"/>
          <a:lstStyle/>
          <a:p>
            <a:pPr lvl="0" algn="ctr" eaLnBrk="1" hangingPunct="1">
              <a:buNone/>
            </a:pPr>
            <a:endParaRPr lang="zh-CN" altLang="zh-CN" sz="2976" b="1" dirty="0">
              <a:solidFill>
                <a:schemeClr val="bg1"/>
              </a:solidFill>
              <a:latin typeface="思源宋体" panose="02020400000000000000" pitchFamily="18" charset="-122"/>
              <a:ea typeface="思源宋体" panose="02020400000000000000" pitchFamily="18" charset="-122"/>
              <a:sym typeface="思源宋体" panose="02020400000000000000" pitchFamily="18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10902470" y="6102676"/>
            <a:ext cx="1211910" cy="1212698"/>
          </a:xfrm>
          <a:prstGeom prst="roundRect">
            <a:avLst/>
          </a:prstGeom>
          <a:solidFill>
            <a:srgbClr val="2457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extBox 503"/>
          <p:cNvSpPr txBox="1"/>
          <p:nvPr/>
        </p:nvSpPr>
        <p:spPr>
          <a:xfrm>
            <a:off x="10902469" y="6431050"/>
            <a:ext cx="1211123" cy="696557"/>
          </a:xfrm>
          <a:prstGeom prst="rect">
            <a:avLst/>
          </a:prstGeom>
          <a:noFill/>
        </p:spPr>
        <p:txBody>
          <a:bodyPr wrap="square" lIns="85046" tIns="42523" rIns="85046" bIns="42523" rtlCol="0">
            <a:spAutoFit/>
          </a:bodyPr>
          <a:lstStyle/>
          <a:p>
            <a:pPr algn="ctr"/>
            <a:r>
              <a:rPr lang="zh-CN" altLang="en-US" sz="1984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污水收集密封防臭</a:t>
            </a:r>
            <a:endParaRPr lang="zh-CN" altLang="en-US" sz="1984" dirty="0">
              <a:solidFill>
                <a:schemeClr val="bg1"/>
              </a:solidFill>
              <a:latin typeface="+mn-ea"/>
              <a:ea typeface="+mj-ea"/>
              <a:cs typeface="+mn-ea"/>
              <a:sym typeface="+mn-ea"/>
            </a:endParaRPr>
          </a:p>
        </p:txBody>
      </p:sp>
      <p:pic>
        <p:nvPicPr>
          <p:cNvPr id="51" name="图片 50" descr="清洗烘干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700173" y="3906433"/>
            <a:ext cx="1895431" cy="1056780"/>
          </a:xfrm>
          <a:prstGeom prst="rect">
            <a:avLst/>
          </a:prstGeom>
        </p:spPr>
      </p:pic>
      <p:graphicFrame>
        <p:nvGraphicFramePr>
          <p:cNvPr id="15" name="对象 14"/>
          <p:cNvGraphicFramePr/>
          <p:nvPr/>
        </p:nvGraphicFramePr>
        <p:xfrm>
          <a:off x="5880011" y="1936981"/>
          <a:ext cx="5257911" cy="336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r:id="rId8" imgW="9115425" imgH="5572125" progId="Paint.Picture">
                  <p:embed/>
                </p:oleObj>
              </mc:Choice>
              <mc:Fallback>
                <p:oleObj r:id="rId8" imgW="9115425" imgH="5572125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80011" y="1936981"/>
                        <a:ext cx="5257911" cy="3364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533510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产品介绍</a:t>
            </a:r>
          </a:p>
        </p:txBody>
      </p:sp>
      <p:pic>
        <p:nvPicPr>
          <p:cNvPr id="2" name="图片 1" descr="微信图片_2018050715100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884440" y="3793826"/>
            <a:ext cx="2016701" cy="2402559"/>
          </a:xfrm>
          <a:prstGeom prst="rect">
            <a:avLst/>
          </a:prstGeom>
        </p:spPr>
      </p:pic>
      <p:pic>
        <p:nvPicPr>
          <p:cNvPr id="3" name="图片 2" descr="微信图片_20180713150737"/>
          <p:cNvPicPr>
            <a:picLocks noChangeAspect="1"/>
          </p:cNvPicPr>
          <p:nvPr/>
        </p:nvPicPr>
        <p:blipFill>
          <a:blip r:embed="rId6" cstate="print"/>
          <a:srcRect l="26049" t="17538" r="22599" b="14475"/>
          <a:stretch>
            <a:fillRect/>
          </a:stretch>
        </p:blipFill>
        <p:spPr>
          <a:xfrm>
            <a:off x="10347306" y="955798"/>
            <a:ext cx="1287507" cy="1278058"/>
          </a:xfrm>
          <a:prstGeom prst="rect">
            <a:avLst/>
          </a:prstGeom>
        </p:spPr>
      </p:pic>
      <p:pic>
        <p:nvPicPr>
          <p:cNvPr id="14" name="图片 13" descr="线控器"/>
          <p:cNvPicPr>
            <a:picLocks noChangeAspect="1"/>
          </p:cNvPicPr>
          <p:nvPr/>
        </p:nvPicPr>
        <p:blipFill>
          <a:blip r:embed="rId7" cstate="print"/>
          <a:srcRect l="16430" t="9877" r="22680" b="11467"/>
          <a:stretch>
            <a:fillRect/>
          </a:stretch>
        </p:blipFill>
        <p:spPr>
          <a:xfrm>
            <a:off x="1192224" y="3424504"/>
            <a:ext cx="1499336" cy="1278845"/>
          </a:xfrm>
          <a:prstGeom prst="rect">
            <a:avLst/>
          </a:prstGeom>
        </p:spPr>
      </p:pic>
      <p:sp>
        <p:nvSpPr>
          <p:cNvPr id="11268" name="圆角矩形 12"/>
          <p:cNvSpPr>
            <a:spLocks noChangeArrowheads="1"/>
          </p:cNvSpPr>
          <p:nvPr/>
        </p:nvSpPr>
        <p:spPr bwMode="auto">
          <a:xfrm rot="2700000">
            <a:off x="6684210" y="1570219"/>
            <a:ext cx="2037568" cy="2039537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01A89C"/>
            </a:solidFill>
            <a:beve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1269" name="圆角矩形 13"/>
          <p:cNvSpPr>
            <a:spLocks noChangeArrowheads="1"/>
          </p:cNvSpPr>
          <p:nvPr/>
        </p:nvSpPr>
        <p:spPr bwMode="auto">
          <a:xfrm rot="-2700000">
            <a:off x="5087031" y="3128418"/>
            <a:ext cx="2039537" cy="2037569"/>
          </a:xfrm>
          <a:prstGeom prst="roundRect">
            <a:avLst>
              <a:gd name="adj" fmla="val 16667"/>
            </a:avLst>
          </a:prstGeom>
          <a:solidFill>
            <a:schemeClr val="bg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FF"/>
                </a:solidFill>
              </a:rPr>
              <a:t>      </a:t>
            </a:r>
          </a:p>
        </p:txBody>
      </p:sp>
      <p:sp>
        <p:nvSpPr>
          <p:cNvPr id="11270" name="圆角矩形 14"/>
          <p:cNvSpPr>
            <a:spLocks noChangeArrowheads="1"/>
          </p:cNvSpPr>
          <p:nvPr/>
        </p:nvSpPr>
        <p:spPr bwMode="auto">
          <a:xfrm rot="-2700000">
            <a:off x="8278238" y="3133142"/>
            <a:ext cx="2037568" cy="2037569"/>
          </a:xfrm>
          <a:prstGeom prst="roundRect">
            <a:avLst>
              <a:gd name="adj" fmla="val 16667"/>
            </a:avLst>
          </a:prstGeom>
          <a:noFill/>
          <a:ln w="28575" cmpd="sng">
            <a:solidFill>
              <a:srgbClr val="01A89C"/>
            </a:solidFill>
            <a:prstDash val="solid"/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01A89C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1271" name="矩形 16"/>
          <p:cNvSpPr>
            <a:spLocks noChangeArrowheads="1"/>
          </p:cNvSpPr>
          <p:nvPr/>
        </p:nvSpPr>
        <p:spPr bwMode="auto">
          <a:xfrm>
            <a:off x="6843081" y="2054313"/>
            <a:ext cx="171864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latin typeface="Calibri" panose="020F0502020204030204" charset="0"/>
                <a:ea typeface="微软雅黑" panose="020B0503020204020204" pitchFamily="34" charset="-122"/>
                <a:sym typeface="Calibri" panose="020F0502020204030204" charset="0"/>
              </a:rPr>
              <a:t>语音魔飞控制床体操作，无需动手</a:t>
            </a:r>
            <a:endParaRPr lang="en-US" altLang="zh-CN">
              <a:solidFill>
                <a:schemeClr val="bg1"/>
              </a:solidFill>
              <a:latin typeface="Calibri" panose="020F0502020204030204" charset="0"/>
              <a:ea typeface="微软雅黑" panose="020B0503020204020204" pitchFamily="34" charset="-122"/>
              <a:sym typeface="Calibri" panose="020F0502020204030204" charset="0"/>
            </a:endParaRPr>
          </a:p>
        </p:txBody>
      </p:sp>
      <p:sp>
        <p:nvSpPr>
          <p:cNvPr id="11272" name="矩形 17"/>
          <p:cNvSpPr>
            <a:spLocks noChangeArrowheads="1"/>
          </p:cNvSpPr>
          <p:nvPr/>
        </p:nvSpPr>
        <p:spPr bwMode="auto">
          <a:xfrm>
            <a:off x="5245707" y="3596959"/>
            <a:ext cx="172061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latin typeface="Calibri" panose="020F0502020204030204" charset="0"/>
                <a:ea typeface="微软雅黑" panose="020B0503020204020204" pitchFamily="34" charset="-122"/>
                <a:sym typeface="Calibri" panose="020F0502020204030204" charset="0"/>
              </a:rPr>
              <a:t>线控器一键操作，方便快捷</a:t>
            </a:r>
          </a:p>
        </p:txBody>
      </p:sp>
      <p:sp>
        <p:nvSpPr>
          <p:cNvPr id="11273" name="矩形 18"/>
          <p:cNvSpPr>
            <a:spLocks noChangeArrowheads="1"/>
          </p:cNvSpPr>
          <p:nvPr/>
        </p:nvSpPr>
        <p:spPr bwMode="auto">
          <a:xfrm>
            <a:off x="8437700" y="3400880"/>
            <a:ext cx="171864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 smtClean="0">
                <a:solidFill>
                  <a:srgbClr val="01A89C"/>
                </a:solidFill>
                <a:latin typeface="Calibri" panose="020F0502020204030204" charset="0"/>
                <a:ea typeface="微软雅黑" panose="020B0503020204020204" pitchFamily="34" charset="-122"/>
                <a:sym typeface="Calibri" panose="020F0502020204030204" charset="0"/>
              </a:rPr>
              <a:t>仿生器各部位对应各功能，操作更形象</a:t>
            </a:r>
            <a:endParaRPr lang="zh-CN" altLang="en-US" dirty="0">
              <a:solidFill>
                <a:srgbClr val="01A89C"/>
              </a:solidFill>
              <a:latin typeface="Calibri" panose="020F0502020204030204" charset="0"/>
              <a:ea typeface="微软雅黑" panose="020B0503020204020204" pitchFamily="34" charset="-122"/>
              <a:sym typeface="Calibri" panose="020F0502020204030204" charset="0"/>
            </a:endParaRPr>
          </a:p>
        </p:txBody>
      </p:sp>
      <p:grpSp>
        <p:nvGrpSpPr>
          <p:cNvPr id="11274" name="Group 10"/>
          <p:cNvGrpSpPr/>
          <p:nvPr/>
        </p:nvGrpSpPr>
        <p:grpSpPr bwMode="auto">
          <a:xfrm>
            <a:off x="7891198" y="1053443"/>
            <a:ext cx="2260422" cy="594144"/>
            <a:chOff x="0" y="16985"/>
            <a:chExt cx="2038240" cy="557171"/>
          </a:xfrm>
        </p:grpSpPr>
        <p:grpSp>
          <p:nvGrpSpPr>
            <p:cNvPr id="11291" name="Group 11"/>
            <p:cNvGrpSpPr/>
            <p:nvPr/>
          </p:nvGrpSpPr>
          <p:grpSpPr bwMode="auto">
            <a:xfrm>
              <a:off x="0" y="106545"/>
              <a:ext cx="1832677" cy="467611"/>
              <a:chOff x="0" y="-738"/>
              <a:chExt cx="1832677" cy="467611"/>
            </a:xfrm>
          </p:grpSpPr>
          <p:sp>
            <p:nvSpPr>
              <p:cNvPr id="11293" name="直接连接符 20"/>
              <p:cNvSpPr>
                <a:spLocks noChangeShapeType="1"/>
              </p:cNvSpPr>
              <p:nvPr/>
            </p:nvSpPr>
            <p:spPr bwMode="auto">
              <a:xfrm flipV="1">
                <a:off x="381305" y="-738"/>
                <a:ext cx="1451372" cy="738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4" name="直接连接符 26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381057" cy="46687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92" name="椭圆 27"/>
            <p:cNvSpPr>
              <a:spLocks noChangeArrowheads="1"/>
            </p:cNvSpPr>
            <p:nvPr/>
          </p:nvSpPr>
          <p:spPr bwMode="auto">
            <a:xfrm>
              <a:off x="1823674" y="16985"/>
              <a:ext cx="214566" cy="214566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  <a:beve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grpSp>
        <p:nvGrpSpPr>
          <p:cNvPr id="11275" name="Group 15"/>
          <p:cNvGrpSpPr/>
          <p:nvPr/>
        </p:nvGrpSpPr>
        <p:grpSpPr bwMode="auto">
          <a:xfrm>
            <a:off x="9913412" y="4994712"/>
            <a:ext cx="2069068" cy="653597"/>
            <a:chOff x="0" y="0"/>
            <a:chExt cx="1817561" cy="574142"/>
          </a:xfrm>
        </p:grpSpPr>
        <p:grpSp>
          <p:nvGrpSpPr>
            <p:cNvPr id="11287" name="Group 16"/>
            <p:cNvGrpSpPr/>
            <p:nvPr/>
          </p:nvGrpSpPr>
          <p:grpSpPr bwMode="auto">
            <a:xfrm flipV="1">
              <a:off x="0" y="0"/>
              <a:ext cx="1817214" cy="466873"/>
              <a:chOff x="0" y="0"/>
              <a:chExt cx="1817214" cy="466873"/>
            </a:xfrm>
          </p:grpSpPr>
          <p:sp>
            <p:nvSpPr>
              <p:cNvPr id="11289" name="直接连接符 30"/>
              <p:cNvSpPr>
                <a:spLocks noChangeShapeType="1"/>
              </p:cNvSpPr>
              <p:nvPr/>
            </p:nvSpPr>
            <p:spPr bwMode="auto">
              <a:xfrm flipV="1">
                <a:off x="380460" y="0"/>
                <a:ext cx="1436754" cy="692"/>
              </a:xfrm>
              <a:prstGeom prst="line">
                <a:avLst/>
              </a:prstGeom>
              <a:noFill/>
              <a:ln w="12700">
                <a:solidFill>
                  <a:srgbClr val="01A89C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0" name="直接连接符 31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381057" cy="466873"/>
              </a:xfrm>
              <a:prstGeom prst="line">
                <a:avLst/>
              </a:prstGeom>
              <a:noFill/>
              <a:ln w="12700">
                <a:solidFill>
                  <a:srgbClr val="01A89C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88" name="椭圆 32"/>
            <p:cNvSpPr>
              <a:spLocks noChangeArrowheads="1"/>
            </p:cNvSpPr>
            <p:nvPr/>
          </p:nvSpPr>
          <p:spPr bwMode="auto">
            <a:xfrm>
              <a:off x="1602995" y="359576"/>
              <a:ext cx="214566" cy="214566"/>
            </a:xfrm>
            <a:prstGeom prst="ellipse">
              <a:avLst/>
            </a:prstGeom>
            <a:solidFill>
              <a:srgbClr val="01A89C"/>
            </a:solidFill>
            <a:ln w="12700">
              <a:noFill/>
              <a:beve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grpSp>
        <p:nvGrpSpPr>
          <p:cNvPr id="11276" name="Group 20"/>
          <p:cNvGrpSpPr/>
          <p:nvPr/>
        </p:nvGrpSpPr>
        <p:grpSpPr bwMode="auto">
          <a:xfrm flipH="1">
            <a:off x="2450989" y="4489159"/>
            <a:ext cx="2570290" cy="622098"/>
            <a:chOff x="0" y="0"/>
            <a:chExt cx="2299448" cy="574142"/>
          </a:xfrm>
          <a:solidFill>
            <a:schemeClr val="bg2">
              <a:lumMod val="50000"/>
            </a:schemeClr>
          </a:solidFill>
        </p:grpSpPr>
        <p:grpSp>
          <p:nvGrpSpPr>
            <p:cNvPr id="11283" name="Group 21"/>
            <p:cNvGrpSpPr/>
            <p:nvPr/>
          </p:nvGrpSpPr>
          <p:grpSpPr bwMode="auto">
            <a:xfrm flipV="1">
              <a:off x="0" y="0"/>
              <a:ext cx="2159959" cy="467600"/>
              <a:chOff x="0" y="-727"/>
              <a:chExt cx="2159959" cy="467600"/>
            </a:xfrm>
            <a:grpFill/>
          </p:grpSpPr>
          <p:sp>
            <p:nvSpPr>
              <p:cNvPr id="11285" name="直接连接符 37"/>
              <p:cNvSpPr>
                <a:spLocks noChangeShapeType="1"/>
              </p:cNvSpPr>
              <p:nvPr/>
            </p:nvSpPr>
            <p:spPr bwMode="auto">
              <a:xfrm flipV="1">
                <a:off x="380423" y="-727"/>
                <a:ext cx="1779536" cy="727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50000"/>
                  </a:schemeClr>
                </a:solidFill>
                <a:bevel/>
              </a:ln>
              <a:ex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" name="直接连接符 38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381057" cy="466873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50000"/>
                  </a:schemeClr>
                </a:solidFill>
                <a:bevel/>
              </a:ln>
              <a:ex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84" name="椭圆 36"/>
            <p:cNvSpPr>
              <a:spLocks noChangeArrowheads="1"/>
            </p:cNvSpPr>
            <p:nvPr/>
          </p:nvSpPr>
          <p:spPr bwMode="auto">
            <a:xfrm>
              <a:off x="2084882" y="359576"/>
              <a:ext cx="214566" cy="214566"/>
            </a:xfrm>
            <a:prstGeom prst="ellipse">
              <a:avLst/>
            </a:prstGeom>
            <a:grpFill/>
            <a:ln w="12700">
              <a:solidFill>
                <a:schemeClr val="bg2">
                  <a:lumMod val="50000"/>
                </a:schemeClr>
              </a:solidFill>
              <a:beve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11280" name="文本框 45"/>
          <p:cNvSpPr>
            <a:spLocks noChangeArrowheads="1"/>
          </p:cNvSpPr>
          <p:nvPr/>
        </p:nvSpPr>
        <p:spPr bwMode="auto">
          <a:xfrm>
            <a:off x="2757706" y="4325366"/>
            <a:ext cx="1837946" cy="47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8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rPr>
              <a:t>线控器操作</a:t>
            </a:r>
          </a:p>
        </p:txBody>
      </p:sp>
      <p:sp>
        <p:nvSpPr>
          <p:cNvPr id="11281" name="文本框 46"/>
          <p:cNvSpPr>
            <a:spLocks noChangeArrowheads="1"/>
          </p:cNvSpPr>
          <p:nvPr/>
        </p:nvSpPr>
        <p:spPr bwMode="auto">
          <a:xfrm>
            <a:off x="8441637" y="1282597"/>
            <a:ext cx="1715101" cy="47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8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rPr>
              <a:t>语音操控</a:t>
            </a:r>
          </a:p>
        </p:txBody>
      </p:sp>
      <p:sp>
        <p:nvSpPr>
          <p:cNvPr id="11282" name="文本框 47"/>
          <p:cNvSpPr>
            <a:spLocks noChangeArrowheads="1"/>
          </p:cNvSpPr>
          <p:nvPr/>
        </p:nvSpPr>
        <p:spPr bwMode="auto">
          <a:xfrm>
            <a:off x="10347306" y="4878954"/>
            <a:ext cx="2366336" cy="47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80" b="1" dirty="0" smtClean="0">
                <a:solidFill>
                  <a:srgbClr val="01A89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rPr>
              <a:t>仿生操控器</a:t>
            </a:r>
            <a:endParaRPr lang="zh-CN" altLang="en-US" sz="2480" b="1" dirty="0">
              <a:solidFill>
                <a:srgbClr val="01A89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charset="0"/>
            </a:endParaRPr>
          </a:p>
        </p:txBody>
      </p:sp>
      <p:sp>
        <p:nvSpPr>
          <p:cNvPr id="4" name="圆角矩形 13"/>
          <p:cNvSpPr>
            <a:spLocks noChangeArrowheads="1"/>
          </p:cNvSpPr>
          <p:nvPr/>
        </p:nvSpPr>
        <p:spPr bwMode="auto">
          <a:xfrm rot="-2700000">
            <a:off x="6683225" y="4725399"/>
            <a:ext cx="2039537" cy="2037569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FF"/>
                </a:solidFill>
              </a:rPr>
              <a:t>      </a:t>
            </a:r>
          </a:p>
        </p:txBody>
      </p:sp>
      <p:sp>
        <p:nvSpPr>
          <p:cNvPr id="5" name="矩形 17"/>
          <p:cNvSpPr>
            <a:spLocks noChangeArrowheads="1"/>
          </p:cNvSpPr>
          <p:nvPr/>
        </p:nvSpPr>
        <p:spPr bwMode="auto">
          <a:xfrm>
            <a:off x="6842688" y="5052984"/>
            <a:ext cx="172061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  <a:latin typeface="Calibri" panose="020F0502020204030204" charset="0"/>
                <a:ea typeface="微软雅黑" panose="020B0503020204020204" pitchFamily="34" charset="-122"/>
                <a:sym typeface="Calibri" panose="020F0502020204030204" charset="0"/>
              </a:rPr>
              <a:t>APP</a:t>
            </a:r>
            <a:r>
              <a:rPr lang="zh-CN" altLang="en-US">
                <a:solidFill>
                  <a:schemeClr val="bg1"/>
                </a:solidFill>
                <a:latin typeface="Calibri" panose="020F0502020204030204" charset="0"/>
                <a:ea typeface="微软雅黑" panose="020B0503020204020204" pitchFamily="34" charset="-122"/>
                <a:sym typeface="Calibri" panose="020F0502020204030204" charset="0"/>
              </a:rPr>
              <a:t>操作、电脑后台集中操作、无线射频遥控</a:t>
            </a:r>
          </a:p>
        </p:txBody>
      </p:sp>
      <p:grpSp>
        <p:nvGrpSpPr>
          <p:cNvPr id="11" name="Group 20"/>
          <p:cNvGrpSpPr/>
          <p:nvPr/>
        </p:nvGrpSpPr>
        <p:grpSpPr bwMode="auto">
          <a:xfrm flipH="1">
            <a:off x="4312559" y="6447587"/>
            <a:ext cx="2570290" cy="622098"/>
            <a:chOff x="0" y="0"/>
            <a:chExt cx="2299448" cy="574142"/>
          </a:xfrm>
          <a:solidFill>
            <a:srgbClr val="00B0F0"/>
          </a:solidFill>
        </p:grpSpPr>
        <p:grpSp>
          <p:nvGrpSpPr>
            <p:cNvPr id="12" name="Group 21"/>
            <p:cNvGrpSpPr/>
            <p:nvPr/>
          </p:nvGrpSpPr>
          <p:grpSpPr bwMode="auto">
            <a:xfrm flipV="1">
              <a:off x="0" y="0"/>
              <a:ext cx="2159959" cy="467600"/>
              <a:chOff x="0" y="-727"/>
              <a:chExt cx="2159959" cy="467600"/>
            </a:xfrm>
            <a:grpFill/>
          </p:grpSpPr>
          <p:sp>
            <p:nvSpPr>
              <p:cNvPr id="13" name="直接连接符 37"/>
              <p:cNvSpPr>
                <a:spLocks noChangeShapeType="1"/>
              </p:cNvSpPr>
              <p:nvPr/>
            </p:nvSpPr>
            <p:spPr bwMode="auto">
              <a:xfrm flipV="1">
                <a:off x="380423" y="-727"/>
                <a:ext cx="1779536" cy="727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50000"/>
                  </a:schemeClr>
                </a:solidFill>
                <a:bevel/>
              </a:ln>
              <a:ex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直接连接符 38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381057" cy="466873"/>
              </a:xfrm>
              <a:prstGeom prst="line">
                <a:avLst/>
              </a:prstGeom>
              <a:grpFill/>
              <a:ln w="12700">
                <a:solidFill>
                  <a:schemeClr val="bg2">
                    <a:lumMod val="50000"/>
                  </a:schemeClr>
                </a:solidFill>
                <a:bevel/>
              </a:ln>
              <a:ex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" name="椭圆 36"/>
            <p:cNvSpPr>
              <a:spLocks noChangeArrowheads="1"/>
            </p:cNvSpPr>
            <p:nvPr/>
          </p:nvSpPr>
          <p:spPr bwMode="auto">
            <a:xfrm>
              <a:off x="2084882" y="359576"/>
              <a:ext cx="214566" cy="214566"/>
            </a:xfrm>
            <a:prstGeom prst="ellipse">
              <a:avLst/>
            </a:prstGeom>
            <a:grpFill/>
            <a:ln w="12700">
              <a:solidFill>
                <a:schemeClr val="bg2">
                  <a:lumMod val="50000"/>
                </a:schemeClr>
              </a:solidFill>
              <a:beve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7" name="文本框 45"/>
          <p:cNvSpPr>
            <a:spLocks noChangeArrowheads="1"/>
          </p:cNvSpPr>
          <p:nvPr/>
        </p:nvSpPr>
        <p:spPr bwMode="auto">
          <a:xfrm>
            <a:off x="4857091" y="6342854"/>
            <a:ext cx="1600131" cy="47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8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rPr>
              <a:t>远程操作</a:t>
            </a:r>
          </a:p>
        </p:txBody>
      </p:sp>
      <p:sp>
        <p:nvSpPr>
          <p:cNvPr id="18" name="Freeform 360"/>
          <p:cNvSpPr>
            <a:spLocks noEditPoints="1"/>
          </p:cNvSpPr>
          <p:nvPr/>
        </p:nvSpPr>
        <p:spPr bwMode="auto">
          <a:xfrm>
            <a:off x="3220736" y="6449949"/>
            <a:ext cx="911886" cy="820540"/>
          </a:xfrm>
          <a:custGeom>
            <a:avLst/>
            <a:gdLst>
              <a:gd name="T0" fmla="*/ 0 w 104"/>
              <a:gd name="T1" fmla="*/ 80 h 82"/>
              <a:gd name="T2" fmla="*/ 80 w 104"/>
              <a:gd name="T3" fmla="*/ 60 h 82"/>
              <a:gd name="T4" fmla="*/ 80 w 104"/>
              <a:gd name="T5" fmla="*/ 58 h 82"/>
              <a:gd name="T6" fmla="*/ 79 w 104"/>
              <a:gd name="T7" fmla="*/ 56 h 82"/>
              <a:gd name="T8" fmla="*/ 58 w 104"/>
              <a:gd name="T9" fmla="*/ 53 h 82"/>
              <a:gd name="T10" fmla="*/ 57 w 104"/>
              <a:gd name="T11" fmla="*/ 50 h 82"/>
              <a:gd name="T12" fmla="*/ 58 w 104"/>
              <a:gd name="T13" fmla="*/ 54 h 82"/>
              <a:gd name="T14" fmla="*/ 58 w 104"/>
              <a:gd name="T15" fmla="*/ 57 h 82"/>
              <a:gd name="T16" fmla="*/ 76 w 104"/>
              <a:gd name="T17" fmla="*/ 50 h 82"/>
              <a:gd name="T18" fmla="*/ 78 w 104"/>
              <a:gd name="T19" fmla="*/ 56 h 82"/>
              <a:gd name="T20" fmla="*/ 77 w 104"/>
              <a:gd name="T21" fmla="*/ 53 h 82"/>
              <a:gd name="T22" fmla="*/ 71 w 104"/>
              <a:gd name="T23" fmla="*/ 56 h 82"/>
              <a:gd name="T24" fmla="*/ 75 w 104"/>
              <a:gd name="T25" fmla="*/ 51 h 82"/>
              <a:gd name="T26" fmla="*/ 70 w 104"/>
              <a:gd name="T27" fmla="*/ 52 h 82"/>
              <a:gd name="T28" fmla="*/ 70 w 104"/>
              <a:gd name="T29" fmla="*/ 52 h 82"/>
              <a:gd name="T30" fmla="*/ 70 w 104"/>
              <a:gd name="T31" fmla="*/ 51 h 82"/>
              <a:gd name="T32" fmla="*/ 64 w 104"/>
              <a:gd name="T33" fmla="*/ 52 h 82"/>
              <a:gd name="T34" fmla="*/ 63 w 104"/>
              <a:gd name="T35" fmla="*/ 50 h 82"/>
              <a:gd name="T36" fmla="*/ 53 w 104"/>
              <a:gd name="T37" fmla="*/ 61 h 82"/>
              <a:gd name="T38" fmla="*/ 60 w 104"/>
              <a:gd name="T39" fmla="*/ 56 h 82"/>
              <a:gd name="T40" fmla="*/ 60 w 104"/>
              <a:gd name="T41" fmla="*/ 59 h 82"/>
              <a:gd name="T42" fmla="*/ 65 w 104"/>
              <a:gd name="T43" fmla="*/ 62 h 82"/>
              <a:gd name="T44" fmla="*/ 72 w 104"/>
              <a:gd name="T45" fmla="*/ 59 h 82"/>
              <a:gd name="T46" fmla="*/ 73 w 104"/>
              <a:gd name="T47" fmla="*/ 61 h 82"/>
              <a:gd name="T48" fmla="*/ 78 w 104"/>
              <a:gd name="T49" fmla="*/ 57 h 82"/>
              <a:gd name="T50" fmla="*/ 77 w 104"/>
              <a:gd name="T51" fmla="*/ 53 h 82"/>
              <a:gd name="T52" fmla="*/ 19 w 104"/>
              <a:gd name="T53" fmla="*/ 43 h 82"/>
              <a:gd name="T54" fmla="*/ 40 w 104"/>
              <a:gd name="T55" fmla="*/ 52 h 82"/>
              <a:gd name="T56" fmla="*/ 41 w 104"/>
              <a:gd name="T57" fmla="*/ 51 h 82"/>
              <a:gd name="T58" fmla="*/ 40 w 104"/>
              <a:gd name="T59" fmla="*/ 50 h 82"/>
              <a:gd name="T60" fmla="*/ 34 w 104"/>
              <a:gd name="T61" fmla="*/ 53 h 82"/>
              <a:gd name="T62" fmla="*/ 34 w 104"/>
              <a:gd name="T63" fmla="*/ 54 h 82"/>
              <a:gd name="T64" fmla="*/ 30 w 104"/>
              <a:gd name="T65" fmla="*/ 50 h 82"/>
              <a:gd name="T66" fmla="*/ 28 w 104"/>
              <a:gd name="T67" fmla="*/ 54 h 82"/>
              <a:gd name="T68" fmla="*/ 23 w 104"/>
              <a:gd name="T69" fmla="*/ 50 h 82"/>
              <a:gd name="T70" fmla="*/ 31 w 104"/>
              <a:gd name="T71" fmla="*/ 56 h 82"/>
              <a:gd name="T72" fmla="*/ 30 w 104"/>
              <a:gd name="T73" fmla="*/ 59 h 82"/>
              <a:gd name="T74" fmla="*/ 38 w 104"/>
              <a:gd name="T75" fmla="*/ 60 h 82"/>
              <a:gd name="T76" fmla="*/ 32 w 104"/>
              <a:gd name="T77" fmla="*/ 57 h 82"/>
              <a:gd name="T78" fmla="*/ 44 w 104"/>
              <a:gd name="T79" fmla="*/ 59 h 82"/>
              <a:gd name="T80" fmla="*/ 39 w 104"/>
              <a:gd name="T81" fmla="*/ 58 h 82"/>
              <a:gd name="T82" fmla="*/ 40 w 104"/>
              <a:gd name="T83" fmla="*/ 56 h 82"/>
              <a:gd name="T84" fmla="*/ 47 w 104"/>
              <a:gd name="T85" fmla="*/ 59 h 82"/>
              <a:gd name="T86" fmla="*/ 51 w 104"/>
              <a:gd name="T87" fmla="*/ 59 h 82"/>
              <a:gd name="T88" fmla="*/ 51 w 104"/>
              <a:gd name="T89" fmla="*/ 56 h 82"/>
              <a:gd name="T90" fmla="*/ 51 w 104"/>
              <a:gd name="T91" fmla="*/ 53 h 82"/>
              <a:gd name="T92" fmla="*/ 52 w 104"/>
              <a:gd name="T93" fmla="*/ 51 h 82"/>
              <a:gd name="T94" fmla="*/ 52 w 104"/>
              <a:gd name="T95" fmla="*/ 51 h 82"/>
              <a:gd name="T96" fmla="*/ 21 w 104"/>
              <a:gd name="T97" fmla="*/ 53 h 82"/>
              <a:gd name="T98" fmla="*/ 20 w 104"/>
              <a:gd name="T99" fmla="*/ 56 h 82"/>
              <a:gd name="T100" fmla="*/ 19 w 104"/>
              <a:gd name="T101" fmla="*/ 59 h 82"/>
              <a:gd name="T102" fmla="*/ 18 w 104"/>
              <a:gd name="T103" fmla="*/ 62 h 82"/>
              <a:gd name="T104" fmla="*/ 17 w 104"/>
              <a:gd name="T105" fmla="*/ 62 h 82"/>
              <a:gd name="T106" fmla="*/ 25 w 104"/>
              <a:gd name="T107" fmla="*/ 62 h 82"/>
              <a:gd name="T108" fmla="*/ 30 w 104"/>
              <a:gd name="T109" fmla="*/ 59 h 82"/>
              <a:gd name="T110" fmla="*/ 44 w 104"/>
              <a:gd name="T111" fmla="*/ 77 h 82"/>
              <a:gd name="T112" fmla="*/ 61 w 104"/>
              <a:gd name="T113" fmla="*/ 77 h 82"/>
              <a:gd name="T114" fmla="*/ 60 w 104"/>
              <a:gd name="T115" fmla="*/ 67 h 82"/>
              <a:gd name="T116" fmla="*/ 32 w 104"/>
              <a:gd name="T117" fmla="*/ 62 h 82"/>
              <a:gd name="T118" fmla="*/ 80 w 104"/>
              <a:gd name="T119" fmla="*/ 61 h 82"/>
              <a:gd name="T120" fmla="*/ 75 w 104"/>
              <a:gd name="T121" fmla="*/ 62 h 82"/>
              <a:gd name="T122" fmla="*/ 82 w 104"/>
              <a:gd name="T123" fmla="*/ 6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4" h="82">
                <a:moveTo>
                  <a:pt x="104" y="76"/>
                </a:moveTo>
                <a:cubicBezTo>
                  <a:pt x="87" y="51"/>
                  <a:pt x="87" y="51"/>
                  <a:pt x="87" y="51"/>
                </a:cubicBezTo>
                <a:cubicBezTo>
                  <a:pt x="86" y="50"/>
                  <a:pt x="86" y="50"/>
                  <a:pt x="86" y="50"/>
                </a:cubicBezTo>
                <a:cubicBezTo>
                  <a:pt x="85" y="50"/>
                  <a:pt x="85" y="49"/>
                  <a:pt x="84" y="49"/>
                </a:cubicBezTo>
                <a:cubicBezTo>
                  <a:pt x="84" y="49"/>
                  <a:pt x="83" y="49"/>
                  <a:pt x="82" y="49"/>
                </a:cubicBezTo>
                <a:cubicBezTo>
                  <a:pt x="82" y="49"/>
                  <a:pt x="82" y="49"/>
                  <a:pt x="82" y="49"/>
                </a:cubicBezTo>
                <a:cubicBezTo>
                  <a:pt x="85" y="48"/>
                  <a:pt x="87" y="46"/>
                  <a:pt x="87" y="44"/>
                </a:cubicBezTo>
                <a:cubicBezTo>
                  <a:pt x="87" y="5"/>
                  <a:pt x="87" y="5"/>
                  <a:pt x="87" y="5"/>
                </a:cubicBezTo>
                <a:cubicBezTo>
                  <a:pt x="87" y="2"/>
                  <a:pt x="84" y="0"/>
                  <a:pt x="82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0" y="0"/>
                  <a:pt x="17" y="2"/>
                  <a:pt x="17" y="5"/>
                </a:cubicBezTo>
                <a:cubicBezTo>
                  <a:pt x="17" y="44"/>
                  <a:pt x="17" y="44"/>
                  <a:pt x="17" y="44"/>
                </a:cubicBezTo>
                <a:cubicBezTo>
                  <a:pt x="17" y="46"/>
                  <a:pt x="19" y="48"/>
                  <a:pt x="22" y="49"/>
                </a:cubicBezTo>
                <a:cubicBezTo>
                  <a:pt x="22" y="49"/>
                  <a:pt x="22" y="49"/>
                  <a:pt x="22" y="49"/>
                </a:cubicBezTo>
                <a:cubicBezTo>
                  <a:pt x="21" y="49"/>
                  <a:pt x="20" y="49"/>
                  <a:pt x="20" y="49"/>
                </a:cubicBezTo>
                <a:cubicBezTo>
                  <a:pt x="19" y="49"/>
                  <a:pt x="19" y="50"/>
                  <a:pt x="18" y="50"/>
                </a:cubicBezTo>
                <a:cubicBezTo>
                  <a:pt x="18" y="50"/>
                  <a:pt x="18" y="50"/>
                  <a:pt x="17" y="51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77"/>
                  <a:pt x="0" y="78"/>
                  <a:pt x="0" y="78"/>
                </a:cubicBezTo>
                <a:cubicBezTo>
                  <a:pt x="0" y="79"/>
                  <a:pt x="0" y="80"/>
                  <a:pt x="0" y="80"/>
                </a:cubicBezTo>
                <a:cubicBezTo>
                  <a:pt x="1" y="81"/>
                  <a:pt x="1" y="81"/>
                  <a:pt x="2" y="81"/>
                </a:cubicBezTo>
                <a:cubicBezTo>
                  <a:pt x="3" y="81"/>
                  <a:pt x="4" y="82"/>
                  <a:pt x="5" y="82"/>
                </a:cubicBezTo>
                <a:cubicBezTo>
                  <a:pt x="99" y="82"/>
                  <a:pt x="99" y="82"/>
                  <a:pt x="99" y="82"/>
                </a:cubicBezTo>
                <a:cubicBezTo>
                  <a:pt x="101" y="82"/>
                  <a:pt x="101" y="81"/>
                  <a:pt x="102" y="81"/>
                </a:cubicBezTo>
                <a:cubicBezTo>
                  <a:pt x="103" y="81"/>
                  <a:pt x="104" y="81"/>
                  <a:pt x="104" y="80"/>
                </a:cubicBezTo>
                <a:cubicBezTo>
                  <a:pt x="104" y="80"/>
                  <a:pt x="104" y="79"/>
                  <a:pt x="104" y="78"/>
                </a:cubicBezTo>
                <a:cubicBezTo>
                  <a:pt x="104" y="78"/>
                  <a:pt x="104" y="77"/>
                  <a:pt x="104" y="76"/>
                </a:cubicBezTo>
                <a:close/>
                <a:moveTo>
                  <a:pt x="86" y="60"/>
                </a:moveTo>
                <a:cubicBezTo>
                  <a:pt x="86" y="60"/>
                  <a:pt x="87" y="60"/>
                  <a:pt x="87" y="60"/>
                </a:cubicBezTo>
                <a:cubicBezTo>
                  <a:pt x="87" y="61"/>
                  <a:pt x="87" y="61"/>
                  <a:pt x="87" y="61"/>
                </a:cubicBezTo>
                <a:cubicBezTo>
                  <a:pt x="87" y="61"/>
                  <a:pt x="87" y="61"/>
                  <a:pt x="87" y="61"/>
                </a:cubicBezTo>
                <a:cubicBezTo>
                  <a:pt x="87" y="61"/>
                  <a:pt x="87" y="61"/>
                  <a:pt x="87" y="61"/>
                </a:cubicBezTo>
                <a:cubicBezTo>
                  <a:pt x="87" y="61"/>
                  <a:pt x="87" y="62"/>
                  <a:pt x="87" y="62"/>
                </a:cubicBezTo>
                <a:cubicBezTo>
                  <a:pt x="87" y="62"/>
                  <a:pt x="87" y="62"/>
                  <a:pt x="86" y="62"/>
                </a:cubicBezTo>
                <a:cubicBezTo>
                  <a:pt x="82" y="62"/>
                  <a:pt x="82" y="62"/>
                  <a:pt x="82" y="62"/>
                </a:cubicBezTo>
                <a:cubicBezTo>
                  <a:pt x="82" y="62"/>
                  <a:pt x="82" y="62"/>
                  <a:pt x="82" y="62"/>
                </a:cubicBezTo>
                <a:cubicBezTo>
                  <a:pt x="82" y="62"/>
                  <a:pt x="82" y="61"/>
                  <a:pt x="81" y="61"/>
                </a:cubicBezTo>
                <a:cubicBezTo>
                  <a:pt x="81" y="61"/>
                  <a:pt x="81" y="61"/>
                  <a:pt x="81" y="61"/>
                </a:cubicBezTo>
                <a:cubicBezTo>
                  <a:pt x="81" y="61"/>
                  <a:pt x="81" y="61"/>
                  <a:pt x="81" y="61"/>
                </a:cubicBezTo>
                <a:cubicBezTo>
                  <a:pt x="80" y="60"/>
                  <a:pt x="80" y="60"/>
                  <a:pt x="80" y="60"/>
                </a:cubicBezTo>
                <a:cubicBezTo>
                  <a:pt x="80" y="60"/>
                  <a:pt x="80" y="60"/>
                  <a:pt x="80" y="60"/>
                </a:cubicBezTo>
                <a:cubicBezTo>
                  <a:pt x="80" y="59"/>
                  <a:pt x="80" y="59"/>
                  <a:pt x="80" y="59"/>
                </a:cubicBezTo>
                <a:cubicBezTo>
                  <a:pt x="81" y="59"/>
                  <a:pt x="81" y="59"/>
                  <a:pt x="81" y="59"/>
                </a:cubicBezTo>
                <a:cubicBezTo>
                  <a:pt x="81" y="59"/>
                  <a:pt x="81" y="59"/>
                  <a:pt x="81" y="59"/>
                </a:cubicBezTo>
                <a:cubicBezTo>
                  <a:pt x="85" y="59"/>
                  <a:pt x="85" y="59"/>
                  <a:pt x="85" y="59"/>
                </a:cubicBezTo>
                <a:cubicBezTo>
                  <a:pt x="85" y="59"/>
                  <a:pt x="85" y="59"/>
                  <a:pt x="86" y="59"/>
                </a:cubicBezTo>
                <a:cubicBezTo>
                  <a:pt x="86" y="59"/>
                  <a:pt x="86" y="59"/>
                  <a:pt x="86" y="59"/>
                </a:cubicBezTo>
                <a:cubicBezTo>
                  <a:pt x="86" y="59"/>
                  <a:pt x="86" y="59"/>
                  <a:pt x="86" y="60"/>
                </a:cubicBezTo>
                <a:close/>
                <a:moveTo>
                  <a:pt x="85" y="57"/>
                </a:moveTo>
                <a:cubicBezTo>
                  <a:pt x="85" y="57"/>
                  <a:pt x="85" y="57"/>
                  <a:pt x="85" y="57"/>
                </a:cubicBezTo>
                <a:cubicBezTo>
                  <a:pt x="86" y="58"/>
                  <a:pt x="86" y="58"/>
                  <a:pt x="86" y="58"/>
                </a:cubicBezTo>
                <a:cubicBezTo>
                  <a:pt x="86" y="58"/>
                  <a:pt x="86" y="58"/>
                  <a:pt x="86" y="58"/>
                </a:cubicBezTo>
                <a:cubicBezTo>
                  <a:pt x="86" y="58"/>
                  <a:pt x="86" y="58"/>
                  <a:pt x="86" y="59"/>
                </a:cubicBezTo>
                <a:cubicBezTo>
                  <a:pt x="85" y="59"/>
                  <a:pt x="85" y="59"/>
                  <a:pt x="85" y="59"/>
                </a:cubicBezTo>
                <a:cubicBezTo>
                  <a:pt x="85" y="59"/>
                  <a:pt x="85" y="59"/>
                  <a:pt x="85" y="59"/>
                </a:cubicBezTo>
                <a:cubicBezTo>
                  <a:pt x="81" y="59"/>
                  <a:pt x="81" y="59"/>
                  <a:pt x="81" y="59"/>
                </a:cubicBezTo>
                <a:cubicBezTo>
                  <a:pt x="81" y="59"/>
                  <a:pt x="81" y="59"/>
                  <a:pt x="80" y="59"/>
                </a:cubicBezTo>
                <a:cubicBezTo>
                  <a:pt x="80" y="59"/>
                  <a:pt x="80" y="59"/>
                  <a:pt x="80" y="59"/>
                </a:cubicBezTo>
                <a:cubicBezTo>
                  <a:pt x="80" y="58"/>
                  <a:pt x="80" y="58"/>
                  <a:pt x="80" y="58"/>
                </a:cubicBezTo>
                <a:cubicBezTo>
                  <a:pt x="80" y="58"/>
                  <a:pt x="80" y="58"/>
                  <a:pt x="80" y="58"/>
                </a:cubicBezTo>
                <a:cubicBezTo>
                  <a:pt x="79" y="57"/>
                  <a:pt x="79" y="57"/>
                  <a:pt x="79" y="57"/>
                </a:cubicBezTo>
                <a:cubicBezTo>
                  <a:pt x="79" y="57"/>
                  <a:pt x="79" y="57"/>
                  <a:pt x="79" y="57"/>
                </a:cubicBezTo>
                <a:cubicBezTo>
                  <a:pt x="79" y="57"/>
                  <a:pt x="79" y="57"/>
                  <a:pt x="79" y="57"/>
                </a:cubicBezTo>
                <a:cubicBezTo>
                  <a:pt x="79" y="57"/>
                  <a:pt x="79" y="57"/>
                  <a:pt x="79" y="57"/>
                </a:cubicBezTo>
                <a:cubicBezTo>
                  <a:pt x="80" y="56"/>
                  <a:pt x="80" y="56"/>
                  <a:pt x="80" y="56"/>
                </a:cubicBezTo>
                <a:cubicBezTo>
                  <a:pt x="84" y="56"/>
                  <a:pt x="84" y="56"/>
                  <a:pt x="84" y="56"/>
                </a:cubicBezTo>
                <a:cubicBezTo>
                  <a:pt x="84" y="56"/>
                  <a:pt x="84" y="56"/>
                  <a:pt x="84" y="57"/>
                </a:cubicBezTo>
                <a:cubicBezTo>
                  <a:pt x="84" y="57"/>
                  <a:pt x="84" y="57"/>
                  <a:pt x="85" y="57"/>
                </a:cubicBezTo>
                <a:cubicBezTo>
                  <a:pt x="85" y="57"/>
                  <a:pt x="85" y="57"/>
                  <a:pt x="85" y="57"/>
                </a:cubicBezTo>
                <a:close/>
                <a:moveTo>
                  <a:pt x="83" y="54"/>
                </a:moveTo>
                <a:cubicBezTo>
                  <a:pt x="84" y="54"/>
                  <a:pt x="84" y="54"/>
                  <a:pt x="84" y="55"/>
                </a:cubicBezTo>
                <a:cubicBezTo>
                  <a:pt x="84" y="56"/>
                  <a:pt x="84" y="56"/>
                  <a:pt x="84" y="56"/>
                </a:cubicBezTo>
                <a:cubicBezTo>
                  <a:pt x="84" y="56"/>
                  <a:pt x="84" y="56"/>
                  <a:pt x="84" y="56"/>
                </a:cubicBezTo>
                <a:cubicBezTo>
                  <a:pt x="84" y="56"/>
                  <a:pt x="84" y="56"/>
                  <a:pt x="84" y="56"/>
                </a:cubicBezTo>
                <a:cubicBezTo>
                  <a:pt x="84" y="56"/>
                  <a:pt x="84" y="56"/>
                  <a:pt x="84" y="56"/>
                </a:cubicBezTo>
                <a:cubicBezTo>
                  <a:pt x="84" y="56"/>
                  <a:pt x="84" y="56"/>
                  <a:pt x="83" y="56"/>
                </a:cubicBezTo>
                <a:cubicBezTo>
                  <a:pt x="80" y="56"/>
                  <a:pt x="80" y="56"/>
                  <a:pt x="80" y="56"/>
                </a:cubicBezTo>
                <a:cubicBezTo>
                  <a:pt x="80" y="56"/>
                  <a:pt x="79" y="56"/>
                  <a:pt x="79" y="56"/>
                </a:cubicBezTo>
                <a:cubicBezTo>
                  <a:pt x="79" y="56"/>
                  <a:pt x="79" y="56"/>
                  <a:pt x="79" y="56"/>
                </a:cubicBezTo>
                <a:cubicBezTo>
                  <a:pt x="79" y="56"/>
                  <a:pt x="79" y="56"/>
                  <a:pt x="79" y="56"/>
                </a:cubicBezTo>
                <a:cubicBezTo>
                  <a:pt x="78" y="56"/>
                  <a:pt x="78" y="56"/>
                  <a:pt x="78" y="56"/>
                </a:cubicBezTo>
                <a:cubicBezTo>
                  <a:pt x="78" y="55"/>
                  <a:pt x="78" y="55"/>
                  <a:pt x="78" y="55"/>
                </a:cubicBezTo>
                <a:cubicBezTo>
                  <a:pt x="78" y="54"/>
                  <a:pt x="78" y="54"/>
                  <a:pt x="78" y="54"/>
                </a:cubicBezTo>
                <a:cubicBezTo>
                  <a:pt x="78" y="54"/>
                  <a:pt x="78" y="54"/>
                  <a:pt x="78" y="54"/>
                </a:cubicBezTo>
                <a:cubicBezTo>
                  <a:pt x="78" y="54"/>
                  <a:pt x="78" y="54"/>
                  <a:pt x="78" y="54"/>
                </a:cubicBezTo>
                <a:cubicBezTo>
                  <a:pt x="78" y="54"/>
                  <a:pt x="79" y="54"/>
                  <a:pt x="79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54"/>
                  <a:pt x="83" y="54"/>
                  <a:pt x="83" y="54"/>
                </a:cubicBezTo>
                <a:cubicBezTo>
                  <a:pt x="83" y="54"/>
                  <a:pt x="83" y="54"/>
                  <a:pt x="83" y="54"/>
                </a:cubicBezTo>
                <a:cubicBezTo>
                  <a:pt x="83" y="54"/>
                  <a:pt x="83" y="54"/>
                  <a:pt x="83" y="54"/>
                </a:cubicBezTo>
                <a:close/>
                <a:moveTo>
                  <a:pt x="52" y="52"/>
                </a:moveTo>
                <a:cubicBezTo>
                  <a:pt x="52" y="52"/>
                  <a:pt x="53" y="52"/>
                  <a:pt x="53" y="52"/>
                </a:cubicBezTo>
                <a:cubicBezTo>
                  <a:pt x="53" y="52"/>
                  <a:pt x="53" y="52"/>
                  <a:pt x="53" y="52"/>
                </a:cubicBezTo>
                <a:cubicBezTo>
                  <a:pt x="53" y="52"/>
                  <a:pt x="53" y="52"/>
                  <a:pt x="53" y="52"/>
                </a:cubicBezTo>
                <a:cubicBezTo>
                  <a:pt x="57" y="52"/>
                  <a:pt x="57" y="52"/>
                  <a:pt x="57" y="52"/>
                </a:cubicBezTo>
                <a:cubicBezTo>
                  <a:pt x="57" y="52"/>
                  <a:pt x="57" y="52"/>
                  <a:pt x="57" y="52"/>
                </a:cubicBezTo>
                <a:cubicBezTo>
                  <a:pt x="57" y="52"/>
                  <a:pt x="57" y="52"/>
                  <a:pt x="58" y="52"/>
                </a:cubicBezTo>
                <a:cubicBezTo>
                  <a:pt x="58" y="52"/>
                  <a:pt x="58" y="52"/>
                  <a:pt x="58" y="52"/>
                </a:cubicBezTo>
                <a:cubicBezTo>
                  <a:pt x="58" y="52"/>
                  <a:pt x="58" y="52"/>
                  <a:pt x="58" y="52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54"/>
                  <a:pt x="57" y="54"/>
                  <a:pt x="57" y="54"/>
                </a:cubicBezTo>
                <a:cubicBezTo>
                  <a:pt x="57" y="54"/>
                  <a:pt x="57" y="54"/>
                  <a:pt x="57" y="54"/>
                </a:cubicBezTo>
                <a:cubicBezTo>
                  <a:pt x="53" y="54"/>
                  <a:pt x="53" y="54"/>
                  <a:pt x="53" y="54"/>
                </a:cubicBezTo>
                <a:cubicBezTo>
                  <a:pt x="53" y="54"/>
                  <a:pt x="53" y="54"/>
                  <a:pt x="53" y="54"/>
                </a:cubicBezTo>
                <a:cubicBezTo>
                  <a:pt x="53" y="54"/>
                  <a:pt x="53" y="54"/>
                  <a:pt x="53" y="53"/>
                </a:cubicBezTo>
                <a:cubicBezTo>
                  <a:pt x="53" y="53"/>
                  <a:pt x="52" y="53"/>
                  <a:pt x="52" y="53"/>
                </a:cubicBezTo>
                <a:cubicBezTo>
                  <a:pt x="52" y="53"/>
                  <a:pt x="52" y="53"/>
                  <a:pt x="52" y="53"/>
                </a:cubicBezTo>
                <a:cubicBezTo>
                  <a:pt x="52" y="52"/>
                  <a:pt x="52" y="52"/>
                  <a:pt x="52" y="52"/>
                </a:cubicBezTo>
                <a:cubicBezTo>
                  <a:pt x="52" y="52"/>
                  <a:pt x="52" y="52"/>
                  <a:pt x="52" y="52"/>
                </a:cubicBezTo>
                <a:close/>
                <a:moveTo>
                  <a:pt x="52" y="51"/>
                </a:moveTo>
                <a:cubicBezTo>
                  <a:pt x="52" y="50"/>
                  <a:pt x="52" y="50"/>
                  <a:pt x="52" y="50"/>
                </a:cubicBezTo>
                <a:cubicBezTo>
                  <a:pt x="52" y="50"/>
                  <a:pt x="52" y="50"/>
                  <a:pt x="52" y="50"/>
                </a:cubicBezTo>
                <a:cubicBezTo>
                  <a:pt x="52" y="50"/>
                  <a:pt x="53" y="50"/>
                  <a:pt x="53" y="50"/>
                </a:cubicBezTo>
                <a:cubicBezTo>
                  <a:pt x="53" y="50"/>
                  <a:pt x="53" y="50"/>
                  <a:pt x="53" y="50"/>
                </a:cubicBezTo>
                <a:cubicBezTo>
                  <a:pt x="53" y="50"/>
                  <a:pt x="53" y="50"/>
                  <a:pt x="53" y="50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0"/>
                  <a:pt x="57" y="50"/>
                  <a:pt x="58" y="50"/>
                </a:cubicBezTo>
                <a:cubicBezTo>
                  <a:pt x="58" y="50"/>
                  <a:pt x="58" y="50"/>
                  <a:pt x="58" y="50"/>
                </a:cubicBezTo>
                <a:cubicBezTo>
                  <a:pt x="58" y="51"/>
                  <a:pt x="58" y="51"/>
                  <a:pt x="58" y="51"/>
                </a:cubicBezTo>
                <a:cubicBezTo>
                  <a:pt x="58" y="51"/>
                  <a:pt x="58" y="51"/>
                  <a:pt x="58" y="51"/>
                </a:cubicBezTo>
                <a:cubicBezTo>
                  <a:pt x="58" y="51"/>
                  <a:pt x="58" y="51"/>
                  <a:pt x="57" y="51"/>
                </a:cubicBezTo>
                <a:cubicBezTo>
                  <a:pt x="57" y="51"/>
                  <a:pt x="57" y="51"/>
                  <a:pt x="57" y="51"/>
                </a:cubicBezTo>
                <a:cubicBezTo>
                  <a:pt x="57" y="51"/>
                  <a:pt x="57" y="51"/>
                  <a:pt x="57" y="51"/>
                </a:cubicBezTo>
                <a:cubicBezTo>
                  <a:pt x="53" y="51"/>
                  <a:pt x="53" y="51"/>
                  <a:pt x="53" y="51"/>
                </a:cubicBezTo>
                <a:cubicBezTo>
                  <a:pt x="53" y="51"/>
                  <a:pt x="53" y="51"/>
                  <a:pt x="53" y="51"/>
                </a:cubicBezTo>
                <a:cubicBezTo>
                  <a:pt x="53" y="51"/>
                  <a:pt x="53" y="51"/>
                  <a:pt x="53" y="51"/>
                </a:cubicBezTo>
                <a:cubicBezTo>
                  <a:pt x="53" y="51"/>
                  <a:pt x="52" y="51"/>
                  <a:pt x="52" y="51"/>
                </a:cubicBezTo>
                <a:cubicBezTo>
                  <a:pt x="52" y="51"/>
                  <a:pt x="52" y="51"/>
                  <a:pt x="52" y="51"/>
                </a:cubicBezTo>
                <a:close/>
                <a:moveTo>
                  <a:pt x="52" y="54"/>
                </a:moveTo>
                <a:cubicBezTo>
                  <a:pt x="52" y="54"/>
                  <a:pt x="53" y="54"/>
                  <a:pt x="53" y="54"/>
                </a:cubicBezTo>
                <a:cubicBezTo>
                  <a:pt x="53" y="54"/>
                  <a:pt x="53" y="54"/>
                  <a:pt x="53" y="54"/>
                </a:cubicBezTo>
                <a:cubicBezTo>
                  <a:pt x="53" y="54"/>
                  <a:pt x="53" y="54"/>
                  <a:pt x="53" y="54"/>
                </a:cubicBezTo>
                <a:cubicBezTo>
                  <a:pt x="57" y="54"/>
                  <a:pt x="57" y="54"/>
                  <a:pt x="57" y="54"/>
                </a:cubicBezTo>
                <a:cubicBezTo>
                  <a:pt x="57" y="54"/>
                  <a:pt x="57" y="54"/>
                  <a:pt x="57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4"/>
                </a:cubicBezTo>
                <a:cubicBezTo>
                  <a:pt x="58" y="54"/>
                  <a:pt x="58" y="54"/>
                  <a:pt x="58" y="55"/>
                </a:cubicBezTo>
                <a:cubicBezTo>
                  <a:pt x="58" y="56"/>
                  <a:pt x="58" y="56"/>
                  <a:pt x="58" y="56"/>
                </a:cubicBezTo>
                <a:cubicBezTo>
                  <a:pt x="58" y="56"/>
                  <a:pt x="58" y="56"/>
                  <a:pt x="58" y="56"/>
                </a:cubicBezTo>
                <a:cubicBezTo>
                  <a:pt x="58" y="56"/>
                  <a:pt x="58" y="56"/>
                  <a:pt x="58" y="56"/>
                </a:cubicBezTo>
                <a:cubicBezTo>
                  <a:pt x="58" y="56"/>
                  <a:pt x="58" y="56"/>
                  <a:pt x="58" y="56"/>
                </a:cubicBezTo>
                <a:cubicBezTo>
                  <a:pt x="57" y="56"/>
                  <a:pt x="57" y="56"/>
                  <a:pt x="57" y="56"/>
                </a:cubicBezTo>
                <a:cubicBezTo>
                  <a:pt x="53" y="56"/>
                  <a:pt x="53" y="56"/>
                  <a:pt x="53" y="56"/>
                </a:cubicBezTo>
                <a:cubicBezTo>
                  <a:pt x="53" y="56"/>
                  <a:pt x="53" y="56"/>
                  <a:pt x="53" y="56"/>
                </a:cubicBezTo>
                <a:cubicBezTo>
                  <a:pt x="53" y="56"/>
                  <a:pt x="53" y="56"/>
                  <a:pt x="53" y="56"/>
                </a:cubicBezTo>
                <a:cubicBezTo>
                  <a:pt x="53" y="56"/>
                  <a:pt x="52" y="56"/>
                  <a:pt x="52" y="56"/>
                </a:cubicBezTo>
                <a:cubicBezTo>
                  <a:pt x="52" y="56"/>
                  <a:pt x="52" y="56"/>
                  <a:pt x="52" y="56"/>
                </a:cubicBezTo>
                <a:cubicBezTo>
                  <a:pt x="52" y="55"/>
                  <a:pt x="52" y="55"/>
                  <a:pt x="52" y="55"/>
                </a:cubicBezTo>
                <a:cubicBezTo>
                  <a:pt x="52" y="54"/>
                  <a:pt x="52" y="54"/>
                  <a:pt x="52" y="54"/>
                </a:cubicBezTo>
                <a:close/>
                <a:moveTo>
                  <a:pt x="52" y="57"/>
                </a:moveTo>
                <a:cubicBezTo>
                  <a:pt x="52" y="57"/>
                  <a:pt x="53" y="57"/>
                  <a:pt x="53" y="57"/>
                </a:cubicBezTo>
                <a:cubicBezTo>
                  <a:pt x="53" y="57"/>
                  <a:pt x="53" y="57"/>
                  <a:pt x="53" y="57"/>
                </a:cubicBezTo>
                <a:cubicBezTo>
                  <a:pt x="53" y="56"/>
                  <a:pt x="53" y="56"/>
                  <a:pt x="53" y="56"/>
                </a:cubicBezTo>
                <a:cubicBezTo>
                  <a:pt x="57" y="56"/>
                  <a:pt x="57" y="56"/>
                  <a:pt x="57" y="56"/>
                </a:cubicBezTo>
                <a:cubicBezTo>
                  <a:pt x="57" y="56"/>
                  <a:pt x="58" y="56"/>
                  <a:pt x="58" y="57"/>
                </a:cubicBezTo>
                <a:cubicBezTo>
                  <a:pt x="58" y="57"/>
                  <a:pt x="58" y="57"/>
                  <a:pt x="58" y="57"/>
                </a:cubicBezTo>
                <a:cubicBezTo>
                  <a:pt x="58" y="57"/>
                  <a:pt x="58" y="57"/>
                  <a:pt x="58" y="57"/>
                </a:cubicBezTo>
                <a:cubicBezTo>
                  <a:pt x="58" y="57"/>
                  <a:pt x="58" y="57"/>
                  <a:pt x="58" y="57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58"/>
                  <a:pt x="58" y="58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7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3" y="59"/>
                  <a:pt x="53" y="59"/>
                </a:cubicBezTo>
                <a:cubicBezTo>
                  <a:pt x="53" y="59"/>
                  <a:pt x="53" y="59"/>
                  <a:pt x="53" y="59"/>
                </a:cubicBezTo>
                <a:cubicBezTo>
                  <a:pt x="53" y="58"/>
                  <a:pt x="53" y="58"/>
                  <a:pt x="52" y="58"/>
                </a:cubicBezTo>
                <a:cubicBezTo>
                  <a:pt x="52" y="58"/>
                  <a:pt x="52" y="58"/>
                  <a:pt x="52" y="58"/>
                </a:cubicBezTo>
                <a:cubicBezTo>
                  <a:pt x="52" y="57"/>
                  <a:pt x="52" y="57"/>
                  <a:pt x="52" y="57"/>
                </a:cubicBezTo>
                <a:cubicBezTo>
                  <a:pt x="52" y="57"/>
                  <a:pt x="52" y="57"/>
                  <a:pt x="52" y="57"/>
                </a:cubicBezTo>
                <a:close/>
                <a:moveTo>
                  <a:pt x="77" y="51"/>
                </a:moveTo>
                <a:cubicBezTo>
                  <a:pt x="77" y="51"/>
                  <a:pt x="76" y="51"/>
                  <a:pt x="76" y="51"/>
                </a:cubicBezTo>
                <a:cubicBezTo>
                  <a:pt x="76" y="51"/>
                  <a:pt x="76" y="51"/>
                  <a:pt x="76" y="51"/>
                </a:cubicBezTo>
                <a:cubicBezTo>
                  <a:pt x="76" y="50"/>
                  <a:pt x="76" y="50"/>
                  <a:pt x="76" y="50"/>
                </a:cubicBezTo>
                <a:cubicBezTo>
                  <a:pt x="76" y="50"/>
                  <a:pt x="76" y="50"/>
                  <a:pt x="76" y="50"/>
                </a:cubicBezTo>
                <a:cubicBezTo>
                  <a:pt x="76" y="50"/>
                  <a:pt x="76" y="50"/>
                  <a:pt x="76" y="50"/>
                </a:cubicBezTo>
                <a:cubicBezTo>
                  <a:pt x="76" y="50"/>
                  <a:pt x="76" y="50"/>
                  <a:pt x="76" y="50"/>
                </a:cubicBezTo>
                <a:cubicBezTo>
                  <a:pt x="76" y="50"/>
                  <a:pt x="76" y="50"/>
                  <a:pt x="77" y="50"/>
                </a:cubicBezTo>
                <a:cubicBezTo>
                  <a:pt x="80" y="50"/>
                  <a:pt x="80" y="50"/>
                  <a:pt x="80" y="50"/>
                </a:cubicBezTo>
                <a:cubicBezTo>
                  <a:pt x="80" y="50"/>
                  <a:pt x="80" y="50"/>
                  <a:pt x="80" y="50"/>
                </a:cubicBezTo>
                <a:cubicBezTo>
                  <a:pt x="80" y="50"/>
                  <a:pt x="81" y="50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1"/>
                  <a:pt x="82" y="51"/>
                  <a:pt x="82" y="51"/>
                </a:cubicBezTo>
                <a:cubicBezTo>
                  <a:pt x="82" y="51"/>
                  <a:pt x="82" y="51"/>
                  <a:pt x="82" y="51"/>
                </a:cubicBezTo>
                <a:cubicBezTo>
                  <a:pt x="82" y="51"/>
                  <a:pt x="82" y="51"/>
                  <a:pt x="81" y="51"/>
                </a:cubicBezTo>
                <a:cubicBezTo>
                  <a:pt x="81" y="51"/>
                  <a:pt x="81" y="51"/>
                  <a:pt x="81" y="51"/>
                </a:cubicBezTo>
                <a:cubicBezTo>
                  <a:pt x="81" y="51"/>
                  <a:pt x="81" y="51"/>
                  <a:pt x="81" y="51"/>
                </a:cubicBezTo>
                <a:cubicBezTo>
                  <a:pt x="77" y="51"/>
                  <a:pt x="77" y="51"/>
                  <a:pt x="77" y="51"/>
                </a:cubicBezTo>
                <a:cubicBezTo>
                  <a:pt x="77" y="51"/>
                  <a:pt x="77" y="51"/>
                  <a:pt x="77" y="51"/>
                </a:cubicBezTo>
                <a:cubicBezTo>
                  <a:pt x="77" y="51"/>
                  <a:pt x="77" y="51"/>
                  <a:pt x="77" y="51"/>
                </a:cubicBezTo>
                <a:close/>
                <a:moveTo>
                  <a:pt x="77" y="54"/>
                </a:moveTo>
                <a:cubicBezTo>
                  <a:pt x="77" y="54"/>
                  <a:pt x="77" y="54"/>
                  <a:pt x="77" y="54"/>
                </a:cubicBezTo>
                <a:cubicBezTo>
                  <a:pt x="77" y="54"/>
                  <a:pt x="77" y="54"/>
                  <a:pt x="77" y="55"/>
                </a:cubicBezTo>
                <a:cubicBezTo>
                  <a:pt x="78" y="56"/>
                  <a:pt x="78" y="56"/>
                  <a:pt x="78" y="56"/>
                </a:cubicBezTo>
                <a:cubicBezTo>
                  <a:pt x="78" y="56"/>
                  <a:pt x="78" y="56"/>
                  <a:pt x="78" y="56"/>
                </a:cubicBezTo>
                <a:cubicBezTo>
                  <a:pt x="78" y="56"/>
                  <a:pt x="78" y="56"/>
                  <a:pt x="78" y="56"/>
                </a:cubicBezTo>
                <a:cubicBezTo>
                  <a:pt x="77" y="56"/>
                  <a:pt x="77" y="56"/>
                  <a:pt x="77" y="56"/>
                </a:cubicBezTo>
                <a:cubicBezTo>
                  <a:pt x="77" y="56"/>
                  <a:pt x="77" y="56"/>
                  <a:pt x="77" y="56"/>
                </a:cubicBezTo>
                <a:cubicBezTo>
                  <a:pt x="73" y="56"/>
                  <a:pt x="73" y="56"/>
                  <a:pt x="73" y="56"/>
                </a:cubicBezTo>
                <a:cubicBezTo>
                  <a:pt x="73" y="56"/>
                  <a:pt x="73" y="56"/>
                  <a:pt x="73" y="56"/>
                </a:cubicBezTo>
                <a:cubicBezTo>
                  <a:pt x="73" y="56"/>
                  <a:pt x="72" y="56"/>
                  <a:pt x="72" y="56"/>
                </a:cubicBezTo>
                <a:cubicBezTo>
                  <a:pt x="72" y="56"/>
                  <a:pt x="72" y="56"/>
                  <a:pt x="72" y="56"/>
                </a:cubicBezTo>
                <a:cubicBezTo>
                  <a:pt x="72" y="56"/>
                  <a:pt x="72" y="56"/>
                  <a:pt x="72" y="56"/>
                </a:cubicBezTo>
                <a:cubicBezTo>
                  <a:pt x="71" y="55"/>
                  <a:pt x="71" y="55"/>
                  <a:pt x="71" y="55"/>
                </a:cubicBezTo>
                <a:cubicBezTo>
                  <a:pt x="71" y="54"/>
                  <a:pt x="71" y="54"/>
                  <a:pt x="72" y="54"/>
                </a:cubicBezTo>
                <a:cubicBezTo>
                  <a:pt x="72" y="54"/>
                  <a:pt x="72" y="54"/>
                  <a:pt x="72" y="54"/>
                </a:cubicBezTo>
                <a:cubicBezTo>
                  <a:pt x="72" y="54"/>
                  <a:pt x="72" y="54"/>
                  <a:pt x="72" y="54"/>
                </a:cubicBezTo>
                <a:cubicBezTo>
                  <a:pt x="72" y="54"/>
                  <a:pt x="72" y="54"/>
                  <a:pt x="72" y="54"/>
                </a:cubicBezTo>
                <a:cubicBezTo>
                  <a:pt x="76" y="54"/>
                  <a:pt x="76" y="54"/>
                  <a:pt x="76" y="54"/>
                </a:cubicBezTo>
                <a:cubicBezTo>
                  <a:pt x="76" y="54"/>
                  <a:pt x="76" y="54"/>
                  <a:pt x="76" y="54"/>
                </a:cubicBezTo>
                <a:cubicBezTo>
                  <a:pt x="77" y="54"/>
                  <a:pt x="77" y="54"/>
                  <a:pt x="77" y="54"/>
                </a:cubicBezTo>
                <a:close/>
                <a:moveTo>
                  <a:pt x="76" y="52"/>
                </a:moveTo>
                <a:cubicBezTo>
                  <a:pt x="76" y="52"/>
                  <a:pt x="76" y="52"/>
                  <a:pt x="76" y="52"/>
                </a:cubicBezTo>
                <a:cubicBezTo>
                  <a:pt x="77" y="53"/>
                  <a:pt x="77" y="53"/>
                  <a:pt x="77" y="53"/>
                </a:cubicBezTo>
                <a:cubicBezTo>
                  <a:pt x="77" y="53"/>
                  <a:pt x="77" y="53"/>
                  <a:pt x="77" y="53"/>
                </a:cubicBezTo>
                <a:cubicBezTo>
                  <a:pt x="77" y="53"/>
                  <a:pt x="77" y="53"/>
                  <a:pt x="76" y="53"/>
                </a:cubicBezTo>
                <a:cubicBezTo>
                  <a:pt x="76" y="54"/>
                  <a:pt x="76" y="54"/>
                  <a:pt x="76" y="54"/>
                </a:cubicBezTo>
                <a:cubicBezTo>
                  <a:pt x="76" y="54"/>
                  <a:pt x="76" y="54"/>
                  <a:pt x="76" y="54"/>
                </a:cubicBezTo>
                <a:cubicBezTo>
                  <a:pt x="72" y="54"/>
                  <a:pt x="72" y="54"/>
                  <a:pt x="72" y="54"/>
                </a:cubicBezTo>
                <a:cubicBezTo>
                  <a:pt x="72" y="54"/>
                  <a:pt x="72" y="54"/>
                  <a:pt x="72" y="54"/>
                </a:cubicBezTo>
                <a:cubicBezTo>
                  <a:pt x="72" y="54"/>
                  <a:pt x="72" y="54"/>
                  <a:pt x="71" y="53"/>
                </a:cubicBezTo>
                <a:cubicBezTo>
                  <a:pt x="71" y="53"/>
                  <a:pt x="71" y="53"/>
                  <a:pt x="71" y="53"/>
                </a:cubicBezTo>
                <a:cubicBezTo>
                  <a:pt x="71" y="53"/>
                  <a:pt x="71" y="53"/>
                  <a:pt x="71" y="53"/>
                </a:cubicBezTo>
                <a:cubicBezTo>
                  <a:pt x="71" y="52"/>
                  <a:pt x="71" y="52"/>
                  <a:pt x="71" y="52"/>
                </a:cubicBezTo>
                <a:cubicBezTo>
                  <a:pt x="71" y="52"/>
                  <a:pt x="71" y="52"/>
                  <a:pt x="71" y="52"/>
                </a:cubicBezTo>
                <a:cubicBezTo>
                  <a:pt x="71" y="52"/>
                  <a:pt x="71" y="52"/>
                  <a:pt x="71" y="52"/>
                </a:cubicBezTo>
                <a:cubicBezTo>
                  <a:pt x="71" y="52"/>
                  <a:pt x="71" y="52"/>
                  <a:pt x="71" y="52"/>
                </a:cubicBezTo>
                <a:cubicBezTo>
                  <a:pt x="71" y="52"/>
                  <a:pt x="71" y="52"/>
                  <a:pt x="72" y="52"/>
                </a:cubicBezTo>
                <a:cubicBezTo>
                  <a:pt x="75" y="52"/>
                  <a:pt x="75" y="52"/>
                  <a:pt x="75" y="52"/>
                </a:cubicBezTo>
                <a:cubicBezTo>
                  <a:pt x="75" y="52"/>
                  <a:pt x="75" y="52"/>
                  <a:pt x="75" y="52"/>
                </a:cubicBezTo>
                <a:cubicBezTo>
                  <a:pt x="76" y="52"/>
                  <a:pt x="76" y="52"/>
                  <a:pt x="76" y="52"/>
                </a:cubicBezTo>
                <a:cubicBezTo>
                  <a:pt x="76" y="52"/>
                  <a:pt x="76" y="52"/>
                  <a:pt x="76" y="52"/>
                </a:cubicBezTo>
                <a:close/>
                <a:moveTo>
                  <a:pt x="71" y="56"/>
                </a:moveTo>
                <a:cubicBezTo>
                  <a:pt x="71" y="56"/>
                  <a:pt x="71" y="56"/>
                  <a:pt x="71" y="56"/>
                </a:cubicBezTo>
                <a:cubicBezTo>
                  <a:pt x="71" y="56"/>
                  <a:pt x="71" y="56"/>
                  <a:pt x="71" y="56"/>
                </a:cubicBezTo>
                <a:cubicBezTo>
                  <a:pt x="71" y="56"/>
                  <a:pt x="71" y="56"/>
                  <a:pt x="71" y="56"/>
                </a:cubicBezTo>
                <a:cubicBezTo>
                  <a:pt x="71" y="56"/>
                  <a:pt x="70" y="56"/>
                  <a:pt x="70" y="56"/>
                </a:cubicBezTo>
                <a:cubicBezTo>
                  <a:pt x="67" y="56"/>
                  <a:pt x="67" y="56"/>
                  <a:pt x="67" y="56"/>
                </a:cubicBezTo>
                <a:cubicBezTo>
                  <a:pt x="66" y="56"/>
                  <a:pt x="66" y="56"/>
                  <a:pt x="66" y="56"/>
                </a:cubicBezTo>
                <a:cubicBezTo>
                  <a:pt x="66" y="56"/>
                  <a:pt x="66" y="56"/>
                  <a:pt x="66" y="56"/>
                </a:cubicBezTo>
                <a:cubicBezTo>
                  <a:pt x="66" y="56"/>
                  <a:pt x="66" y="56"/>
                  <a:pt x="65" y="56"/>
                </a:cubicBezTo>
                <a:cubicBezTo>
                  <a:pt x="65" y="56"/>
                  <a:pt x="65" y="56"/>
                  <a:pt x="65" y="56"/>
                </a:cubicBezTo>
                <a:cubicBezTo>
                  <a:pt x="65" y="55"/>
                  <a:pt x="65" y="55"/>
                  <a:pt x="65" y="55"/>
                </a:cubicBezTo>
                <a:cubicBezTo>
                  <a:pt x="65" y="54"/>
                  <a:pt x="65" y="54"/>
                  <a:pt x="65" y="54"/>
                </a:cubicBezTo>
                <a:cubicBezTo>
                  <a:pt x="65" y="54"/>
                  <a:pt x="65" y="54"/>
                  <a:pt x="65" y="54"/>
                </a:cubicBezTo>
                <a:cubicBezTo>
                  <a:pt x="65" y="54"/>
                  <a:pt x="66" y="54"/>
                  <a:pt x="66" y="54"/>
                </a:cubicBezTo>
                <a:cubicBezTo>
                  <a:pt x="66" y="54"/>
                  <a:pt x="66" y="54"/>
                  <a:pt x="66" y="54"/>
                </a:cubicBezTo>
                <a:cubicBezTo>
                  <a:pt x="70" y="54"/>
                  <a:pt x="70" y="54"/>
                  <a:pt x="70" y="54"/>
                </a:cubicBezTo>
                <a:cubicBezTo>
                  <a:pt x="70" y="54"/>
                  <a:pt x="70" y="54"/>
                  <a:pt x="70" y="54"/>
                </a:cubicBezTo>
                <a:cubicBezTo>
                  <a:pt x="70" y="54"/>
                  <a:pt x="70" y="54"/>
                  <a:pt x="70" y="54"/>
                </a:cubicBezTo>
                <a:cubicBezTo>
                  <a:pt x="71" y="54"/>
                  <a:pt x="71" y="54"/>
                  <a:pt x="71" y="54"/>
                </a:cubicBezTo>
                <a:cubicBezTo>
                  <a:pt x="71" y="54"/>
                  <a:pt x="71" y="54"/>
                  <a:pt x="71" y="55"/>
                </a:cubicBezTo>
                <a:lnTo>
                  <a:pt x="71" y="56"/>
                </a:lnTo>
                <a:close/>
                <a:moveTo>
                  <a:pt x="76" y="51"/>
                </a:moveTo>
                <a:cubicBezTo>
                  <a:pt x="76" y="51"/>
                  <a:pt x="76" y="51"/>
                  <a:pt x="75" y="51"/>
                </a:cubicBezTo>
                <a:cubicBezTo>
                  <a:pt x="75" y="51"/>
                  <a:pt x="75" y="51"/>
                  <a:pt x="75" y="51"/>
                </a:cubicBezTo>
                <a:cubicBezTo>
                  <a:pt x="75" y="51"/>
                  <a:pt x="75" y="51"/>
                  <a:pt x="75" y="51"/>
                </a:cubicBezTo>
                <a:cubicBezTo>
                  <a:pt x="71" y="51"/>
                  <a:pt x="71" y="51"/>
                  <a:pt x="71" y="51"/>
                </a:cubicBezTo>
                <a:cubicBezTo>
                  <a:pt x="71" y="51"/>
                  <a:pt x="71" y="51"/>
                  <a:pt x="71" y="51"/>
                </a:cubicBezTo>
                <a:cubicBezTo>
                  <a:pt x="71" y="51"/>
                  <a:pt x="71" y="51"/>
                  <a:pt x="71" y="51"/>
                </a:cubicBezTo>
                <a:cubicBezTo>
                  <a:pt x="71" y="51"/>
                  <a:pt x="70" y="51"/>
                  <a:pt x="70" y="51"/>
                </a:cubicBezTo>
                <a:cubicBezTo>
                  <a:pt x="70" y="51"/>
                  <a:pt x="70" y="51"/>
                  <a:pt x="70" y="51"/>
                </a:cubicBezTo>
                <a:cubicBezTo>
                  <a:pt x="70" y="50"/>
                  <a:pt x="70" y="50"/>
                  <a:pt x="70" y="50"/>
                </a:cubicBezTo>
                <a:cubicBezTo>
                  <a:pt x="70" y="50"/>
                  <a:pt x="70" y="50"/>
                  <a:pt x="70" y="50"/>
                </a:cubicBezTo>
                <a:cubicBezTo>
                  <a:pt x="70" y="50"/>
                  <a:pt x="70" y="50"/>
                  <a:pt x="70" y="50"/>
                </a:cubicBezTo>
                <a:cubicBezTo>
                  <a:pt x="70" y="50"/>
                  <a:pt x="70" y="50"/>
                  <a:pt x="70" y="50"/>
                </a:cubicBezTo>
                <a:cubicBezTo>
                  <a:pt x="71" y="50"/>
                  <a:pt x="71" y="50"/>
                  <a:pt x="71" y="50"/>
                </a:cubicBezTo>
                <a:cubicBezTo>
                  <a:pt x="74" y="50"/>
                  <a:pt x="74" y="50"/>
                  <a:pt x="74" y="50"/>
                </a:cubicBezTo>
                <a:cubicBezTo>
                  <a:pt x="74" y="50"/>
                  <a:pt x="74" y="50"/>
                  <a:pt x="74" y="50"/>
                </a:cubicBezTo>
                <a:cubicBezTo>
                  <a:pt x="75" y="50"/>
                  <a:pt x="75" y="50"/>
                  <a:pt x="75" y="50"/>
                </a:cubicBezTo>
                <a:cubicBezTo>
                  <a:pt x="75" y="50"/>
                  <a:pt x="75" y="50"/>
                  <a:pt x="75" y="50"/>
                </a:cubicBezTo>
                <a:cubicBezTo>
                  <a:pt x="75" y="50"/>
                  <a:pt x="75" y="50"/>
                  <a:pt x="75" y="50"/>
                </a:cubicBezTo>
                <a:cubicBezTo>
                  <a:pt x="76" y="51"/>
                  <a:pt x="76" y="51"/>
                  <a:pt x="76" y="51"/>
                </a:cubicBezTo>
                <a:cubicBezTo>
                  <a:pt x="76" y="51"/>
                  <a:pt x="76" y="51"/>
                  <a:pt x="76" y="51"/>
                </a:cubicBezTo>
                <a:close/>
                <a:moveTo>
                  <a:pt x="70" y="52"/>
                </a:moveTo>
                <a:cubicBezTo>
                  <a:pt x="70" y="53"/>
                  <a:pt x="70" y="53"/>
                  <a:pt x="70" y="53"/>
                </a:cubicBezTo>
                <a:cubicBezTo>
                  <a:pt x="70" y="53"/>
                  <a:pt x="70" y="53"/>
                  <a:pt x="70" y="53"/>
                </a:cubicBezTo>
                <a:cubicBezTo>
                  <a:pt x="70" y="53"/>
                  <a:pt x="70" y="53"/>
                  <a:pt x="70" y="53"/>
                </a:cubicBezTo>
                <a:cubicBezTo>
                  <a:pt x="70" y="54"/>
                  <a:pt x="70" y="54"/>
                  <a:pt x="70" y="54"/>
                </a:cubicBezTo>
                <a:cubicBezTo>
                  <a:pt x="70" y="54"/>
                  <a:pt x="70" y="54"/>
                  <a:pt x="70" y="54"/>
                </a:cubicBezTo>
                <a:cubicBezTo>
                  <a:pt x="66" y="54"/>
                  <a:pt x="66" y="54"/>
                  <a:pt x="66" y="54"/>
                </a:cubicBezTo>
                <a:cubicBezTo>
                  <a:pt x="66" y="54"/>
                  <a:pt x="66" y="54"/>
                  <a:pt x="66" y="54"/>
                </a:cubicBezTo>
                <a:cubicBezTo>
                  <a:pt x="65" y="54"/>
                  <a:pt x="65" y="54"/>
                  <a:pt x="65" y="53"/>
                </a:cubicBezTo>
                <a:cubicBezTo>
                  <a:pt x="65" y="53"/>
                  <a:pt x="65" y="53"/>
                  <a:pt x="65" y="53"/>
                </a:cubicBezTo>
                <a:cubicBezTo>
                  <a:pt x="65" y="53"/>
                  <a:pt x="65" y="53"/>
                  <a:pt x="65" y="53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2"/>
                  <a:pt x="65" y="52"/>
                  <a:pt x="65" y="52"/>
                </a:cubicBezTo>
                <a:cubicBezTo>
                  <a:pt x="69" y="52"/>
                  <a:pt x="69" y="52"/>
                  <a:pt x="69" y="52"/>
                </a:cubicBezTo>
                <a:cubicBezTo>
                  <a:pt x="69" y="52"/>
                  <a:pt x="69" y="52"/>
                  <a:pt x="69" y="52"/>
                </a:cubicBezTo>
                <a:cubicBezTo>
                  <a:pt x="69" y="52"/>
                  <a:pt x="70" y="52"/>
                  <a:pt x="70" y="52"/>
                </a:cubicBezTo>
                <a:cubicBezTo>
                  <a:pt x="70" y="52"/>
                  <a:pt x="70" y="52"/>
                  <a:pt x="70" y="52"/>
                </a:cubicBezTo>
                <a:cubicBezTo>
                  <a:pt x="70" y="52"/>
                  <a:pt x="70" y="52"/>
                  <a:pt x="70" y="52"/>
                </a:cubicBezTo>
                <a:close/>
                <a:moveTo>
                  <a:pt x="70" y="51"/>
                </a:moveTo>
                <a:cubicBezTo>
                  <a:pt x="70" y="51"/>
                  <a:pt x="70" y="51"/>
                  <a:pt x="69" y="51"/>
                </a:cubicBezTo>
                <a:cubicBezTo>
                  <a:pt x="69" y="51"/>
                  <a:pt x="69" y="51"/>
                  <a:pt x="69" y="51"/>
                </a:cubicBezTo>
                <a:cubicBezTo>
                  <a:pt x="69" y="51"/>
                  <a:pt x="69" y="51"/>
                  <a:pt x="69" y="51"/>
                </a:cubicBezTo>
                <a:cubicBezTo>
                  <a:pt x="65" y="51"/>
                  <a:pt x="65" y="51"/>
                  <a:pt x="65" y="51"/>
                </a:cubicBezTo>
                <a:cubicBezTo>
                  <a:pt x="65" y="51"/>
                  <a:pt x="65" y="51"/>
                  <a:pt x="65" y="51"/>
                </a:cubicBezTo>
                <a:cubicBezTo>
                  <a:pt x="65" y="51"/>
                  <a:pt x="65" y="51"/>
                  <a:pt x="65" y="51"/>
                </a:cubicBezTo>
                <a:cubicBezTo>
                  <a:pt x="65" y="51"/>
                  <a:pt x="64" y="51"/>
                  <a:pt x="64" y="51"/>
                </a:cubicBezTo>
                <a:cubicBezTo>
                  <a:pt x="64" y="51"/>
                  <a:pt x="64" y="51"/>
                  <a:pt x="64" y="51"/>
                </a:cubicBezTo>
                <a:cubicBezTo>
                  <a:pt x="64" y="50"/>
                  <a:pt x="64" y="50"/>
                  <a:pt x="64" y="50"/>
                </a:cubicBezTo>
                <a:cubicBezTo>
                  <a:pt x="64" y="50"/>
                  <a:pt x="64" y="50"/>
                  <a:pt x="64" y="50"/>
                </a:cubicBezTo>
                <a:cubicBezTo>
                  <a:pt x="64" y="50"/>
                  <a:pt x="64" y="50"/>
                  <a:pt x="64" y="50"/>
                </a:cubicBezTo>
                <a:cubicBezTo>
                  <a:pt x="64" y="50"/>
                  <a:pt x="64" y="50"/>
                  <a:pt x="65" y="50"/>
                </a:cubicBezTo>
                <a:cubicBezTo>
                  <a:pt x="65" y="50"/>
                  <a:pt x="65" y="50"/>
                  <a:pt x="65" y="50"/>
                </a:cubicBezTo>
                <a:cubicBezTo>
                  <a:pt x="68" y="50"/>
                  <a:pt x="68" y="50"/>
                  <a:pt x="68" y="50"/>
                </a:cubicBezTo>
                <a:cubicBezTo>
                  <a:pt x="68" y="50"/>
                  <a:pt x="69" y="50"/>
                  <a:pt x="69" y="50"/>
                </a:cubicBezTo>
                <a:cubicBezTo>
                  <a:pt x="69" y="50"/>
                  <a:pt x="69" y="50"/>
                  <a:pt x="69" y="50"/>
                </a:cubicBezTo>
                <a:cubicBezTo>
                  <a:pt x="69" y="50"/>
                  <a:pt x="69" y="50"/>
                  <a:pt x="69" y="50"/>
                </a:cubicBezTo>
                <a:cubicBezTo>
                  <a:pt x="69" y="50"/>
                  <a:pt x="69" y="50"/>
                  <a:pt x="69" y="50"/>
                </a:cubicBezTo>
                <a:cubicBezTo>
                  <a:pt x="70" y="51"/>
                  <a:pt x="70" y="51"/>
                  <a:pt x="70" y="51"/>
                </a:cubicBezTo>
                <a:cubicBezTo>
                  <a:pt x="70" y="51"/>
                  <a:pt x="70" y="51"/>
                  <a:pt x="70" y="51"/>
                </a:cubicBezTo>
                <a:close/>
                <a:moveTo>
                  <a:pt x="64" y="53"/>
                </a:moveTo>
                <a:cubicBezTo>
                  <a:pt x="64" y="53"/>
                  <a:pt x="64" y="53"/>
                  <a:pt x="64" y="53"/>
                </a:cubicBezTo>
                <a:cubicBezTo>
                  <a:pt x="64" y="53"/>
                  <a:pt x="64" y="53"/>
                  <a:pt x="64" y="53"/>
                </a:cubicBezTo>
                <a:cubicBezTo>
                  <a:pt x="64" y="54"/>
                  <a:pt x="64" y="54"/>
                  <a:pt x="64" y="54"/>
                </a:cubicBezTo>
                <a:cubicBezTo>
                  <a:pt x="64" y="54"/>
                  <a:pt x="63" y="54"/>
                  <a:pt x="63" y="54"/>
                </a:cubicBezTo>
                <a:cubicBezTo>
                  <a:pt x="60" y="54"/>
                  <a:pt x="60" y="54"/>
                  <a:pt x="60" y="54"/>
                </a:cubicBezTo>
                <a:cubicBezTo>
                  <a:pt x="60" y="54"/>
                  <a:pt x="59" y="54"/>
                  <a:pt x="59" y="54"/>
                </a:cubicBezTo>
                <a:cubicBezTo>
                  <a:pt x="59" y="54"/>
                  <a:pt x="59" y="54"/>
                  <a:pt x="59" y="53"/>
                </a:cubicBezTo>
                <a:cubicBezTo>
                  <a:pt x="59" y="53"/>
                  <a:pt x="59" y="53"/>
                  <a:pt x="59" y="53"/>
                </a:cubicBezTo>
                <a:cubicBezTo>
                  <a:pt x="59" y="53"/>
                  <a:pt x="59" y="53"/>
                  <a:pt x="59" y="53"/>
                </a:cubicBezTo>
                <a:cubicBezTo>
                  <a:pt x="58" y="52"/>
                  <a:pt x="58" y="52"/>
                  <a:pt x="58" y="52"/>
                </a:cubicBezTo>
                <a:cubicBezTo>
                  <a:pt x="58" y="52"/>
                  <a:pt x="58" y="52"/>
                  <a:pt x="59" y="52"/>
                </a:cubicBezTo>
                <a:cubicBezTo>
                  <a:pt x="59" y="52"/>
                  <a:pt x="59" y="52"/>
                  <a:pt x="59" y="52"/>
                </a:cubicBezTo>
                <a:cubicBezTo>
                  <a:pt x="59" y="52"/>
                  <a:pt x="59" y="52"/>
                  <a:pt x="59" y="52"/>
                </a:cubicBezTo>
                <a:cubicBezTo>
                  <a:pt x="59" y="52"/>
                  <a:pt x="59" y="52"/>
                  <a:pt x="59" y="52"/>
                </a:cubicBezTo>
                <a:cubicBezTo>
                  <a:pt x="63" y="52"/>
                  <a:pt x="63" y="52"/>
                  <a:pt x="63" y="52"/>
                </a:cubicBezTo>
                <a:cubicBezTo>
                  <a:pt x="63" y="52"/>
                  <a:pt x="63" y="52"/>
                  <a:pt x="63" y="52"/>
                </a:cubicBezTo>
                <a:cubicBezTo>
                  <a:pt x="63" y="52"/>
                  <a:pt x="63" y="52"/>
                  <a:pt x="64" y="52"/>
                </a:cubicBezTo>
                <a:cubicBezTo>
                  <a:pt x="64" y="52"/>
                  <a:pt x="64" y="52"/>
                  <a:pt x="64" y="52"/>
                </a:cubicBezTo>
                <a:cubicBezTo>
                  <a:pt x="64" y="52"/>
                  <a:pt x="64" y="52"/>
                  <a:pt x="64" y="52"/>
                </a:cubicBezTo>
                <a:lnTo>
                  <a:pt x="64" y="53"/>
                </a:lnTo>
                <a:close/>
                <a:moveTo>
                  <a:pt x="64" y="51"/>
                </a:moveTo>
                <a:cubicBezTo>
                  <a:pt x="64" y="51"/>
                  <a:pt x="64" y="51"/>
                  <a:pt x="63" y="51"/>
                </a:cubicBezTo>
                <a:cubicBezTo>
                  <a:pt x="63" y="51"/>
                  <a:pt x="63" y="51"/>
                  <a:pt x="63" y="51"/>
                </a:cubicBezTo>
                <a:cubicBezTo>
                  <a:pt x="63" y="51"/>
                  <a:pt x="63" y="51"/>
                  <a:pt x="63" y="51"/>
                </a:cubicBezTo>
                <a:cubicBezTo>
                  <a:pt x="59" y="51"/>
                  <a:pt x="59" y="51"/>
                  <a:pt x="59" y="51"/>
                </a:cubicBezTo>
                <a:cubicBezTo>
                  <a:pt x="59" y="51"/>
                  <a:pt x="59" y="51"/>
                  <a:pt x="59" y="51"/>
                </a:cubicBezTo>
                <a:cubicBezTo>
                  <a:pt x="59" y="51"/>
                  <a:pt x="59" y="51"/>
                  <a:pt x="59" y="51"/>
                </a:cubicBezTo>
                <a:cubicBezTo>
                  <a:pt x="59" y="51"/>
                  <a:pt x="58" y="51"/>
                  <a:pt x="58" y="51"/>
                </a:cubicBezTo>
                <a:cubicBezTo>
                  <a:pt x="58" y="51"/>
                  <a:pt x="58" y="51"/>
                  <a:pt x="58" y="51"/>
                </a:cubicBezTo>
                <a:cubicBezTo>
                  <a:pt x="58" y="50"/>
                  <a:pt x="58" y="50"/>
                  <a:pt x="58" y="50"/>
                </a:cubicBezTo>
                <a:cubicBezTo>
                  <a:pt x="58" y="50"/>
                  <a:pt x="58" y="50"/>
                  <a:pt x="58" y="50"/>
                </a:cubicBezTo>
                <a:cubicBezTo>
                  <a:pt x="58" y="50"/>
                  <a:pt x="58" y="50"/>
                  <a:pt x="58" y="50"/>
                </a:cubicBezTo>
                <a:cubicBezTo>
                  <a:pt x="59" y="50"/>
                  <a:pt x="59" y="50"/>
                  <a:pt x="59" y="50"/>
                </a:cubicBezTo>
                <a:cubicBezTo>
                  <a:pt x="59" y="50"/>
                  <a:pt x="59" y="50"/>
                  <a:pt x="59" y="50"/>
                </a:cubicBezTo>
                <a:cubicBezTo>
                  <a:pt x="62" y="50"/>
                  <a:pt x="62" y="50"/>
                  <a:pt x="62" y="50"/>
                </a:cubicBezTo>
                <a:cubicBezTo>
                  <a:pt x="63" y="50"/>
                  <a:pt x="63" y="50"/>
                  <a:pt x="63" y="50"/>
                </a:cubicBezTo>
                <a:cubicBezTo>
                  <a:pt x="63" y="50"/>
                  <a:pt x="63" y="50"/>
                  <a:pt x="63" y="50"/>
                </a:cubicBezTo>
                <a:cubicBezTo>
                  <a:pt x="63" y="50"/>
                  <a:pt x="63" y="50"/>
                  <a:pt x="63" y="50"/>
                </a:cubicBezTo>
                <a:cubicBezTo>
                  <a:pt x="63" y="50"/>
                  <a:pt x="63" y="50"/>
                  <a:pt x="63" y="50"/>
                </a:cubicBezTo>
                <a:cubicBezTo>
                  <a:pt x="64" y="51"/>
                  <a:pt x="64" y="51"/>
                  <a:pt x="64" y="51"/>
                </a:cubicBezTo>
                <a:cubicBezTo>
                  <a:pt x="64" y="51"/>
                  <a:pt x="64" y="51"/>
                  <a:pt x="64" y="51"/>
                </a:cubicBezTo>
                <a:close/>
                <a:moveTo>
                  <a:pt x="52" y="60"/>
                </a:moveTo>
                <a:cubicBezTo>
                  <a:pt x="53" y="59"/>
                  <a:pt x="53" y="59"/>
                  <a:pt x="53" y="59"/>
                </a:cubicBezTo>
                <a:cubicBezTo>
                  <a:pt x="53" y="59"/>
                  <a:pt x="53" y="59"/>
                  <a:pt x="53" y="59"/>
                </a:cubicBezTo>
                <a:cubicBezTo>
                  <a:pt x="53" y="59"/>
                  <a:pt x="53" y="59"/>
                  <a:pt x="54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9" y="60"/>
                </a:cubicBezTo>
                <a:cubicBezTo>
                  <a:pt x="59" y="60"/>
                  <a:pt x="59" y="60"/>
                  <a:pt x="59" y="60"/>
                </a:cubicBezTo>
                <a:cubicBezTo>
                  <a:pt x="59" y="61"/>
                  <a:pt x="59" y="61"/>
                  <a:pt x="59" y="61"/>
                </a:cubicBezTo>
                <a:cubicBezTo>
                  <a:pt x="59" y="61"/>
                  <a:pt x="59" y="61"/>
                  <a:pt x="59" y="61"/>
                </a:cubicBezTo>
                <a:cubicBezTo>
                  <a:pt x="59" y="61"/>
                  <a:pt x="59" y="61"/>
                  <a:pt x="58" y="61"/>
                </a:cubicBezTo>
                <a:cubicBezTo>
                  <a:pt x="58" y="61"/>
                  <a:pt x="58" y="62"/>
                  <a:pt x="58" y="62"/>
                </a:cubicBezTo>
                <a:cubicBezTo>
                  <a:pt x="58" y="62"/>
                  <a:pt x="58" y="62"/>
                  <a:pt x="58" y="62"/>
                </a:cubicBezTo>
                <a:cubicBezTo>
                  <a:pt x="54" y="62"/>
                  <a:pt x="54" y="62"/>
                  <a:pt x="54" y="62"/>
                </a:cubicBezTo>
                <a:cubicBezTo>
                  <a:pt x="53" y="62"/>
                  <a:pt x="53" y="62"/>
                  <a:pt x="53" y="62"/>
                </a:cubicBezTo>
                <a:cubicBezTo>
                  <a:pt x="53" y="62"/>
                  <a:pt x="53" y="61"/>
                  <a:pt x="53" y="61"/>
                </a:cubicBezTo>
                <a:cubicBezTo>
                  <a:pt x="53" y="61"/>
                  <a:pt x="53" y="61"/>
                  <a:pt x="52" y="61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0"/>
                  <a:pt x="52" y="60"/>
                  <a:pt x="52" y="60"/>
                </a:cubicBezTo>
                <a:cubicBezTo>
                  <a:pt x="52" y="60"/>
                  <a:pt x="52" y="60"/>
                  <a:pt x="52" y="60"/>
                </a:cubicBezTo>
                <a:close/>
                <a:moveTo>
                  <a:pt x="59" y="55"/>
                </a:moveTo>
                <a:cubicBezTo>
                  <a:pt x="59" y="54"/>
                  <a:pt x="59" y="54"/>
                  <a:pt x="59" y="54"/>
                </a:cubicBezTo>
                <a:cubicBezTo>
                  <a:pt x="59" y="54"/>
                  <a:pt x="59" y="54"/>
                  <a:pt x="59" y="54"/>
                </a:cubicBezTo>
                <a:cubicBezTo>
                  <a:pt x="59" y="54"/>
                  <a:pt x="59" y="54"/>
                  <a:pt x="59" y="54"/>
                </a:cubicBezTo>
                <a:cubicBezTo>
                  <a:pt x="59" y="54"/>
                  <a:pt x="60" y="54"/>
                  <a:pt x="60" y="54"/>
                </a:cubicBezTo>
                <a:cubicBezTo>
                  <a:pt x="63" y="54"/>
                  <a:pt x="63" y="54"/>
                  <a:pt x="63" y="54"/>
                </a:cubicBezTo>
                <a:cubicBezTo>
                  <a:pt x="63" y="54"/>
                  <a:pt x="64" y="54"/>
                  <a:pt x="64" y="54"/>
                </a:cubicBezTo>
                <a:cubicBezTo>
                  <a:pt x="64" y="54"/>
                  <a:pt x="64" y="54"/>
                  <a:pt x="64" y="54"/>
                </a:cubicBezTo>
                <a:cubicBezTo>
                  <a:pt x="64" y="54"/>
                  <a:pt x="64" y="54"/>
                  <a:pt x="64" y="54"/>
                </a:cubicBezTo>
                <a:cubicBezTo>
                  <a:pt x="64" y="54"/>
                  <a:pt x="64" y="54"/>
                  <a:pt x="64" y="55"/>
                </a:cubicBezTo>
                <a:cubicBezTo>
                  <a:pt x="65" y="56"/>
                  <a:pt x="65" y="56"/>
                  <a:pt x="65" y="56"/>
                </a:cubicBezTo>
                <a:cubicBezTo>
                  <a:pt x="65" y="56"/>
                  <a:pt x="65" y="56"/>
                  <a:pt x="65" y="56"/>
                </a:cubicBezTo>
                <a:cubicBezTo>
                  <a:pt x="65" y="56"/>
                  <a:pt x="65" y="56"/>
                  <a:pt x="64" y="56"/>
                </a:cubicBezTo>
                <a:cubicBezTo>
                  <a:pt x="64" y="56"/>
                  <a:pt x="64" y="56"/>
                  <a:pt x="64" y="56"/>
                </a:cubicBezTo>
                <a:cubicBezTo>
                  <a:pt x="64" y="56"/>
                  <a:pt x="64" y="56"/>
                  <a:pt x="64" y="56"/>
                </a:cubicBezTo>
                <a:cubicBezTo>
                  <a:pt x="60" y="56"/>
                  <a:pt x="60" y="56"/>
                  <a:pt x="60" y="56"/>
                </a:cubicBezTo>
                <a:cubicBezTo>
                  <a:pt x="60" y="56"/>
                  <a:pt x="60" y="56"/>
                  <a:pt x="60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cubicBezTo>
                  <a:pt x="59" y="56"/>
                  <a:pt x="59" y="56"/>
                  <a:pt x="59" y="56"/>
                </a:cubicBezTo>
                <a:lnTo>
                  <a:pt x="59" y="55"/>
                </a:lnTo>
                <a:close/>
                <a:moveTo>
                  <a:pt x="59" y="57"/>
                </a:moveTo>
                <a:cubicBezTo>
                  <a:pt x="59" y="57"/>
                  <a:pt x="59" y="57"/>
                  <a:pt x="59" y="57"/>
                </a:cubicBezTo>
                <a:cubicBezTo>
                  <a:pt x="59" y="57"/>
                  <a:pt x="60" y="57"/>
                  <a:pt x="60" y="57"/>
                </a:cubicBezTo>
                <a:cubicBezTo>
                  <a:pt x="60" y="56"/>
                  <a:pt x="60" y="56"/>
                  <a:pt x="60" y="56"/>
                </a:cubicBezTo>
                <a:cubicBezTo>
                  <a:pt x="64" y="56"/>
                  <a:pt x="64" y="56"/>
                  <a:pt x="64" y="56"/>
                </a:cubicBezTo>
                <a:cubicBezTo>
                  <a:pt x="64" y="56"/>
                  <a:pt x="64" y="56"/>
                  <a:pt x="64" y="57"/>
                </a:cubicBezTo>
                <a:cubicBezTo>
                  <a:pt x="64" y="57"/>
                  <a:pt x="65" y="57"/>
                  <a:pt x="65" y="57"/>
                </a:cubicBezTo>
                <a:cubicBezTo>
                  <a:pt x="65" y="57"/>
                  <a:pt x="65" y="57"/>
                  <a:pt x="65" y="57"/>
                </a:cubicBezTo>
                <a:cubicBezTo>
                  <a:pt x="65" y="57"/>
                  <a:pt x="65" y="57"/>
                  <a:pt x="65" y="57"/>
                </a:cubicBezTo>
                <a:cubicBezTo>
                  <a:pt x="65" y="58"/>
                  <a:pt x="65" y="58"/>
                  <a:pt x="65" y="58"/>
                </a:cubicBezTo>
                <a:cubicBezTo>
                  <a:pt x="65" y="58"/>
                  <a:pt x="65" y="58"/>
                  <a:pt x="65" y="58"/>
                </a:cubicBezTo>
                <a:cubicBezTo>
                  <a:pt x="65" y="58"/>
                  <a:pt x="65" y="58"/>
                  <a:pt x="65" y="59"/>
                </a:cubicBezTo>
                <a:cubicBezTo>
                  <a:pt x="65" y="59"/>
                  <a:pt x="65" y="59"/>
                  <a:pt x="65" y="59"/>
                </a:cubicBezTo>
                <a:cubicBezTo>
                  <a:pt x="65" y="59"/>
                  <a:pt x="64" y="59"/>
                  <a:pt x="64" y="59"/>
                </a:cubicBezTo>
                <a:cubicBezTo>
                  <a:pt x="60" y="59"/>
                  <a:pt x="60" y="59"/>
                  <a:pt x="60" y="59"/>
                </a:cubicBezTo>
                <a:cubicBezTo>
                  <a:pt x="60" y="59"/>
                  <a:pt x="60" y="59"/>
                  <a:pt x="60" y="59"/>
                </a:cubicBezTo>
                <a:cubicBezTo>
                  <a:pt x="60" y="59"/>
                  <a:pt x="60" y="59"/>
                  <a:pt x="60" y="59"/>
                </a:cubicBezTo>
                <a:cubicBezTo>
                  <a:pt x="59" y="58"/>
                  <a:pt x="59" y="58"/>
                  <a:pt x="59" y="58"/>
                </a:cubicBezTo>
                <a:cubicBezTo>
                  <a:pt x="59" y="58"/>
                  <a:pt x="59" y="58"/>
                  <a:pt x="59" y="58"/>
                </a:cubicBezTo>
                <a:cubicBezTo>
                  <a:pt x="59" y="57"/>
                  <a:pt x="59" y="57"/>
                  <a:pt x="59" y="57"/>
                </a:cubicBezTo>
                <a:cubicBezTo>
                  <a:pt x="59" y="57"/>
                  <a:pt x="59" y="57"/>
                  <a:pt x="59" y="57"/>
                </a:cubicBezTo>
                <a:close/>
                <a:moveTo>
                  <a:pt x="59" y="60"/>
                </a:moveTo>
                <a:cubicBezTo>
                  <a:pt x="59" y="59"/>
                  <a:pt x="60" y="59"/>
                  <a:pt x="60" y="59"/>
                </a:cubicBezTo>
                <a:cubicBezTo>
                  <a:pt x="60" y="59"/>
                  <a:pt x="60" y="59"/>
                  <a:pt x="60" y="59"/>
                </a:cubicBezTo>
                <a:cubicBezTo>
                  <a:pt x="60" y="59"/>
                  <a:pt x="60" y="59"/>
                  <a:pt x="60" y="59"/>
                </a:cubicBezTo>
                <a:cubicBezTo>
                  <a:pt x="64" y="59"/>
                  <a:pt x="64" y="59"/>
                  <a:pt x="64" y="59"/>
                </a:cubicBezTo>
                <a:cubicBezTo>
                  <a:pt x="65" y="59"/>
                  <a:pt x="65" y="59"/>
                  <a:pt x="65" y="59"/>
                </a:cubicBezTo>
                <a:cubicBezTo>
                  <a:pt x="65" y="59"/>
                  <a:pt x="65" y="59"/>
                  <a:pt x="65" y="59"/>
                </a:cubicBezTo>
                <a:cubicBezTo>
                  <a:pt x="65" y="59"/>
                  <a:pt x="65" y="59"/>
                  <a:pt x="66" y="60"/>
                </a:cubicBezTo>
                <a:cubicBezTo>
                  <a:pt x="66" y="60"/>
                  <a:pt x="66" y="60"/>
                  <a:pt x="66" y="60"/>
                </a:cubicBezTo>
                <a:cubicBezTo>
                  <a:pt x="66" y="61"/>
                  <a:pt x="66" y="61"/>
                  <a:pt x="66" y="61"/>
                </a:cubicBezTo>
                <a:cubicBezTo>
                  <a:pt x="66" y="61"/>
                  <a:pt x="66" y="61"/>
                  <a:pt x="66" y="61"/>
                </a:cubicBezTo>
                <a:cubicBezTo>
                  <a:pt x="66" y="61"/>
                  <a:pt x="66" y="61"/>
                  <a:pt x="66" y="61"/>
                </a:cubicBezTo>
                <a:cubicBezTo>
                  <a:pt x="66" y="61"/>
                  <a:pt x="65" y="62"/>
                  <a:pt x="65" y="62"/>
                </a:cubicBezTo>
                <a:cubicBezTo>
                  <a:pt x="65" y="62"/>
                  <a:pt x="65" y="62"/>
                  <a:pt x="65" y="62"/>
                </a:cubicBezTo>
                <a:cubicBezTo>
                  <a:pt x="61" y="62"/>
                  <a:pt x="61" y="62"/>
                  <a:pt x="61" y="62"/>
                </a:cubicBezTo>
                <a:cubicBezTo>
                  <a:pt x="61" y="62"/>
                  <a:pt x="60" y="62"/>
                  <a:pt x="60" y="62"/>
                </a:cubicBezTo>
                <a:cubicBezTo>
                  <a:pt x="60" y="62"/>
                  <a:pt x="60" y="61"/>
                  <a:pt x="60" y="61"/>
                </a:cubicBezTo>
                <a:cubicBezTo>
                  <a:pt x="60" y="61"/>
                  <a:pt x="60" y="61"/>
                  <a:pt x="60" y="61"/>
                </a:cubicBezTo>
                <a:cubicBezTo>
                  <a:pt x="60" y="61"/>
                  <a:pt x="60" y="61"/>
                  <a:pt x="60" y="61"/>
                </a:cubicBezTo>
                <a:cubicBezTo>
                  <a:pt x="59" y="60"/>
                  <a:pt x="59" y="60"/>
                  <a:pt x="59" y="60"/>
                </a:cubicBezTo>
                <a:cubicBezTo>
                  <a:pt x="59" y="60"/>
                  <a:pt x="59" y="60"/>
                  <a:pt x="59" y="60"/>
                </a:cubicBezTo>
                <a:close/>
                <a:moveTo>
                  <a:pt x="66" y="57"/>
                </a:moveTo>
                <a:cubicBezTo>
                  <a:pt x="66" y="57"/>
                  <a:pt x="66" y="57"/>
                  <a:pt x="66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6" y="56"/>
                  <a:pt x="67" y="56"/>
                  <a:pt x="67" y="56"/>
                </a:cubicBezTo>
                <a:cubicBezTo>
                  <a:pt x="70" y="56"/>
                  <a:pt x="70" y="56"/>
                  <a:pt x="70" y="56"/>
                </a:cubicBezTo>
                <a:cubicBezTo>
                  <a:pt x="71" y="56"/>
                  <a:pt x="71" y="56"/>
                  <a:pt x="71" y="57"/>
                </a:cubicBezTo>
                <a:cubicBezTo>
                  <a:pt x="71" y="57"/>
                  <a:pt x="71" y="57"/>
                  <a:pt x="71" y="57"/>
                </a:cubicBezTo>
                <a:cubicBezTo>
                  <a:pt x="71" y="57"/>
                  <a:pt x="71" y="57"/>
                  <a:pt x="72" y="57"/>
                </a:cubicBezTo>
                <a:cubicBezTo>
                  <a:pt x="72" y="57"/>
                  <a:pt x="72" y="57"/>
                  <a:pt x="72" y="57"/>
                </a:cubicBezTo>
                <a:cubicBezTo>
                  <a:pt x="72" y="58"/>
                  <a:pt x="72" y="58"/>
                  <a:pt x="72" y="58"/>
                </a:cubicBezTo>
                <a:cubicBezTo>
                  <a:pt x="72" y="58"/>
                  <a:pt x="72" y="58"/>
                  <a:pt x="72" y="58"/>
                </a:cubicBezTo>
                <a:cubicBezTo>
                  <a:pt x="72" y="58"/>
                  <a:pt x="72" y="58"/>
                  <a:pt x="72" y="59"/>
                </a:cubicBezTo>
                <a:cubicBezTo>
                  <a:pt x="72" y="59"/>
                  <a:pt x="72" y="59"/>
                  <a:pt x="72" y="59"/>
                </a:cubicBezTo>
                <a:cubicBezTo>
                  <a:pt x="71" y="59"/>
                  <a:pt x="71" y="59"/>
                  <a:pt x="71" y="59"/>
                </a:cubicBezTo>
                <a:cubicBezTo>
                  <a:pt x="67" y="59"/>
                  <a:pt x="67" y="59"/>
                  <a:pt x="67" y="59"/>
                </a:cubicBezTo>
                <a:cubicBezTo>
                  <a:pt x="67" y="59"/>
                  <a:pt x="67" y="59"/>
                  <a:pt x="67" y="59"/>
                </a:cubicBezTo>
                <a:cubicBezTo>
                  <a:pt x="67" y="59"/>
                  <a:pt x="66" y="59"/>
                  <a:pt x="66" y="59"/>
                </a:cubicBezTo>
                <a:cubicBezTo>
                  <a:pt x="66" y="58"/>
                  <a:pt x="66" y="58"/>
                  <a:pt x="66" y="58"/>
                </a:cubicBezTo>
                <a:cubicBezTo>
                  <a:pt x="66" y="58"/>
                  <a:pt x="66" y="58"/>
                  <a:pt x="66" y="58"/>
                </a:cubicBezTo>
                <a:lnTo>
                  <a:pt x="66" y="57"/>
                </a:lnTo>
                <a:close/>
                <a:moveTo>
                  <a:pt x="66" y="60"/>
                </a:moveTo>
                <a:cubicBezTo>
                  <a:pt x="66" y="59"/>
                  <a:pt x="66" y="59"/>
                  <a:pt x="67" y="59"/>
                </a:cubicBezTo>
                <a:cubicBezTo>
                  <a:pt x="67" y="59"/>
                  <a:pt x="67" y="59"/>
                  <a:pt x="67" y="59"/>
                </a:cubicBezTo>
                <a:cubicBezTo>
                  <a:pt x="67" y="59"/>
                  <a:pt x="67" y="59"/>
                  <a:pt x="67" y="59"/>
                </a:cubicBezTo>
                <a:cubicBezTo>
                  <a:pt x="71" y="59"/>
                  <a:pt x="71" y="59"/>
                  <a:pt x="71" y="59"/>
                </a:cubicBezTo>
                <a:cubicBezTo>
                  <a:pt x="71" y="59"/>
                  <a:pt x="72" y="59"/>
                  <a:pt x="72" y="59"/>
                </a:cubicBezTo>
                <a:cubicBezTo>
                  <a:pt x="72" y="59"/>
                  <a:pt x="72" y="59"/>
                  <a:pt x="72" y="59"/>
                </a:cubicBezTo>
                <a:cubicBezTo>
                  <a:pt x="72" y="59"/>
                  <a:pt x="72" y="59"/>
                  <a:pt x="72" y="60"/>
                </a:cubicBezTo>
                <a:cubicBezTo>
                  <a:pt x="73" y="60"/>
                  <a:pt x="73" y="60"/>
                  <a:pt x="73" y="60"/>
                </a:cubicBezTo>
                <a:cubicBezTo>
                  <a:pt x="73" y="61"/>
                  <a:pt x="73" y="61"/>
                  <a:pt x="73" y="61"/>
                </a:cubicBezTo>
                <a:cubicBezTo>
                  <a:pt x="73" y="61"/>
                  <a:pt x="73" y="61"/>
                  <a:pt x="73" y="61"/>
                </a:cubicBezTo>
                <a:cubicBezTo>
                  <a:pt x="73" y="61"/>
                  <a:pt x="73" y="61"/>
                  <a:pt x="73" y="61"/>
                </a:cubicBezTo>
                <a:cubicBezTo>
                  <a:pt x="73" y="61"/>
                  <a:pt x="73" y="62"/>
                  <a:pt x="73" y="62"/>
                </a:cubicBezTo>
                <a:cubicBezTo>
                  <a:pt x="72" y="62"/>
                  <a:pt x="72" y="62"/>
                  <a:pt x="72" y="62"/>
                </a:cubicBezTo>
                <a:cubicBezTo>
                  <a:pt x="68" y="62"/>
                  <a:pt x="68" y="62"/>
                  <a:pt x="68" y="62"/>
                </a:cubicBezTo>
                <a:cubicBezTo>
                  <a:pt x="68" y="62"/>
                  <a:pt x="68" y="62"/>
                  <a:pt x="67" y="62"/>
                </a:cubicBezTo>
                <a:cubicBezTo>
                  <a:pt x="67" y="62"/>
                  <a:pt x="67" y="61"/>
                  <a:pt x="67" y="61"/>
                </a:cubicBezTo>
                <a:cubicBezTo>
                  <a:pt x="67" y="61"/>
                  <a:pt x="67" y="61"/>
                  <a:pt x="67" y="61"/>
                </a:cubicBezTo>
                <a:cubicBezTo>
                  <a:pt x="67" y="61"/>
                  <a:pt x="67" y="61"/>
                  <a:pt x="67" y="61"/>
                </a:cubicBezTo>
                <a:cubicBezTo>
                  <a:pt x="66" y="60"/>
                  <a:pt x="66" y="60"/>
                  <a:pt x="66" y="60"/>
                </a:cubicBezTo>
                <a:cubicBezTo>
                  <a:pt x="66" y="60"/>
                  <a:pt x="66" y="60"/>
                  <a:pt x="66" y="60"/>
                </a:cubicBezTo>
                <a:close/>
                <a:moveTo>
                  <a:pt x="73" y="58"/>
                </a:moveTo>
                <a:cubicBezTo>
                  <a:pt x="73" y="58"/>
                  <a:pt x="73" y="58"/>
                  <a:pt x="73" y="58"/>
                </a:cubicBezTo>
                <a:cubicBezTo>
                  <a:pt x="72" y="57"/>
                  <a:pt x="72" y="57"/>
                  <a:pt x="72" y="57"/>
                </a:cubicBezTo>
                <a:cubicBezTo>
                  <a:pt x="72" y="57"/>
                  <a:pt x="72" y="57"/>
                  <a:pt x="72" y="57"/>
                </a:cubicBezTo>
                <a:cubicBezTo>
                  <a:pt x="72" y="57"/>
                  <a:pt x="72" y="57"/>
                  <a:pt x="73" y="57"/>
                </a:cubicBezTo>
                <a:cubicBezTo>
                  <a:pt x="73" y="57"/>
                  <a:pt x="73" y="57"/>
                  <a:pt x="73" y="57"/>
                </a:cubicBezTo>
                <a:cubicBezTo>
                  <a:pt x="73" y="56"/>
                  <a:pt x="73" y="56"/>
                  <a:pt x="73" y="56"/>
                </a:cubicBezTo>
                <a:cubicBezTo>
                  <a:pt x="77" y="56"/>
                  <a:pt x="77" y="56"/>
                  <a:pt x="77" y="56"/>
                </a:cubicBezTo>
                <a:cubicBezTo>
                  <a:pt x="77" y="56"/>
                  <a:pt x="77" y="56"/>
                  <a:pt x="77" y="57"/>
                </a:cubicBezTo>
                <a:cubicBezTo>
                  <a:pt x="78" y="57"/>
                  <a:pt x="78" y="57"/>
                  <a:pt x="78" y="57"/>
                </a:cubicBezTo>
                <a:cubicBezTo>
                  <a:pt x="78" y="57"/>
                  <a:pt x="78" y="57"/>
                  <a:pt x="78" y="57"/>
                </a:cubicBezTo>
                <a:cubicBezTo>
                  <a:pt x="78" y="57"/>
                  <a:pt x="78" y="57"/>
                  <a:pt x="78" y="57"/>
                </a:cubicBezTo>
                <a:cubicBezTo>
                  <a:pt x="79" y="58"/>
                  <a:pt x="79" y="58"/>
                  <a:pt x="79" y="58"/>
                </a:cubicBezTo>
                <a:cubicBezTo>
                  <a:pt x="79" y="58"/>
                  <a:pt x="79" y="58"/>
                  <a:pt x="79" y="58"/>
                </a:cubicBezTo>
                <a:cubicBezTo>
                  <a:pt x="79" y="58"/>
                  <a:pt x="79" y="58"/>
                  <a:pt x="79" y="59"/>
                </a:cubicBezTo>
                <a:cubicBezTo>
                  <a:pt x="79" y="59"/>
                  <a:pt x="79" y="59"/>
                  <a:pt x="78" y="59"/>
                </a:cubicBezTo>
                <a:cubicBezTo>
                  <a:pt x="78" y="59"/>
                  <a:pt x="78" y="59"/>
                  <a:pt x="78" y="59"/>
                </a:cubicBezTo>
                <a:cubicBezTo>
                  <a:pt x="74" y="59"/>
                  <a:pt x="74" y="59"/>
                  <a:pt x="74" y="59"/>
                </a:cubicBezTo>
                <a:cubicBezTo>
                  <a:pt x="74" y="59"/>
                  <a:pt x="74" y="59"/>
                  <a:pt x="74" y="59"/>
                </a:cubicBezTo>
                <a:cubicBezTo>
                  <a:pt x="73" y="59"/>
                  <a:pt x="73" y="59"/>
                  <a:pt x="73" y="59"/>
                </a:cubicBezTo>
                <a:cubicBezTo>
                  <a:pt x="73" y="58"/>
                  <a:pt x="73" y="58"/>
                  <a:pt x="73" y="58"/>
                </a:cubicBezTo>
                <a:close/>
                <a:moveTo>
                  <a:pt x="82" y="52"/>
                </a:moveTo>
                <a:cubicBezTo>
                  <a:pt x="83" y="53"/>
                  <a:pt x="83" y="53"/>
                  <a:pt x="83" y="53"/>
                </a:cubicBezTo>
                <a:cubicBezTo>
                  <a:pt x="83" y="53"/>
                  <a:pt x="83" y="53"/>
                  <a:pt x="83" y="53"/>
                </a:cubicBezTo>
                <a:cubicBezTo>
                  <a:pt x="83" y="53"/>
                  <a:pt x="83" y="53"/>
                  <a:pt x="83" y="53"/>
                </a:cubicBezTo>
                <a:cubicBezTo>
                  <a:pt x="83" y="54"/>
                  <a:pt x="83" y="54"/>
                  <a:pt x="82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78" y="54"/>
                  <a:pt x="78" y="54"/>
                  <a:pt x="78" y="54"/>
                </a:cubicBezTo>
                <a:cubicBezTo>
                  <a:pt x="78" y="54"/>
                  <a:pt x="78" y="54"/>
                  <a:pt x="78" y="54"/>
                </a:cubicBezTo>
                <a:cubicBezTo>
                  <a:pt x="78" y="54"/>
                  <a:pt x="78" y="54"/>
                  <a:pt x="78" y="53"/>
                </a:cubicBezTo>
                <a:cubicBezTo>
                  <a:pt x="78" y="53"/>
                  <a:pt x="77" y="53"/>
                  <a:pt x="77" y="53"/>
                </a:cubicBezTo>
                <a:cubicBezTo>
                  <a:pt x="77" y="53"/>
                  <a:pt x="77" y="53"/>
                  <a:pt x="77" y="53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2"/>
                  <a:pt x="77" y="52"/>
                  <a:pt x="78" y="52"/>
                </a:cubicBezTo>
                <a:cubicBezTo>
                  <a:pt x="81" y="52"/>
                  <a:pt x="81" y="52"/>
                  <a:pt x="81" y="52"/>
                </a:cubicBezTo>
                <a:cubicBezTo>
                  <a:pt x="81" y="52"/>
                  <a:pt x="81" y="52"/>
                  <a:pt x="81" y="52"/>
                </a:cubicBezTo>
                <a:cubicBezTo>
                  <a:pt x="82" y="52"/>
                  <a:pt x="82" y="52"/>
                  <a:pt x="82" y="52"/>
                </a:cubicBezTo>
                <a:cubicBezTo>
                  <a:pt x="82" y="52"/>
                  <a:pt x="82" y="52"/>
                  <a:pt x="82" y="52"/>
                </a:cubicBezTo>
                <a:cubicBezTo>
                  <a:pt x="82" y="52"/>
                  <a:pt x="82" y="52"/>
                  <a:pt x="82" y="52"/>
                </a:cubicBezTo>
                <a:close/>
                <a:moveTo>
                  <a:pt x="19" y="43"/>
                </a:moveTo>
                <a:cubicBezTo>
                  <a:pt x="19" y="6"/>
                  <a:pt x="19" y="6"/>
                  <a:pt x="19" y="6"/>
                </a:cubicBezTo>
                <a:cubicBezTo>
                  <a:pt x="19" y="4"/>
                  <a:pt x="22" y="1"/>
                  <a:pt x="25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2" y="1"/>
                  <a:pt x="85" y="4"/>
                  <a:pt x="85" y="6"/>
                </a:cubicBezTo>
                <a:cubicBezTo>
                  <a:pt x="85" y="43"/>
                  <a:pt x="85" y="43"/>
                  <a:pt x="85" y="43"/>
                </a:cubicBezTo>
                <a:cubicBezTo>
                  <a:pt x="85" y="45"/>
                  <a:pt x="82" y="48"/>
                  <a:pt x="80" y="48"/>
                </a:cubicBezTo>
                <a:cubicBezTo>
                  <a:pt x="25" y="48"/>
                  <a:pt x="25" y="48"/>
                  <a:pt x="25" y="48"/>
                </a:cubicBezTo>
                <a:cubicBezTo>
                  <a:pt x="22" y="48"/>
                  <a:pt x="19" y="45"/>
                  <a:pt x="19" y="43"/>
                </a:cubicBezTo>
                <a:close/>
                <a:moveTo>
                  <a:pt x="40" y="52"/>
                </a:moveTo>
                <a:cubicBezTo>
                  <a:pt x="41" y="52"/>
                  <a:pt x="41" y="52"/>
                  <a:pt x="41" y="52"/>
                </a:cubicBezTo>
                <a:cubicBezTo>
                  <a:pt x="41" y="52"/>
                  <a:pt x="41" y="52"/>
                  <a:pt x="41" y="52"/>
                </a:cubicBezTo>
                <a:cubicBezTo>
                  <a:pt x="45" y="52"/>
                  <a:pt x="45" y="52"/>
                  <a:pt x="45" y="52"/>
                </a:cubicBezTo>
                <a:cubicBezTo>
                  <a:pt x="45" y="52"/>
                  <a:pt x="45" y="52"/>
                  <a:pt x="45" y="52"/>
                </a:cubicBezTo>
                <a:cubicBezTo>
                  <a:pt x="45" y="52"/>
                  <a:pt x="45" y="52"/>
                  <a:pt x="45" y="52"/>
                </a:cubicBezTo>
                <a:cubicBezTo>
                  <a:pt x="45" y="52"/>
                  <a:pt x="45" y="52"/>
                  <a:pt x="46" y="52"/>
                </a:cubicBezTo>
                <a:cubicBezTo>
                  <a:pt x="46" y="52"/>
                  <a:pt x="46" y="52"/>
                  <a:pt x="46" y="52"/>
                </a:cubicBezTo>
                <a:cubicBezTo>
                  <a:pt x="45" y="53"/>
                  <a:pt x="45" y="53"/>
                  <a:pt x="45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45" y="54"/>
                  <a:pt x="45" y="54"/>
                  <a:pt x="45" y="54"/>
                </a:cubicBezTo>
                <a:cubicBezTo>
                  <a:pt x="45" y="54"/>
                  <a:pt x="45" y="54"/>
                  <a:pt x="44" y="54"/>
                </a:cubicBezTo>
                <a:cubicBezTo>
                  <a:pt x="41" y="54"/>
                  <a:pt x="41" y="54"/>
                  <a:pt x="41" y="54"/>
                </a:cubicBezTo>
                <a:cubicBezTo>
                  <a:pt x="41" y="54"/>
                  <a:pt x="41" y="54"/>
                  <a:pt x="40" y="54"/>
                </a:cubicBezTo>
                <a:cubicBezTo>
                  <a:pt x="40" y="54"/>
                  <a:pt x="40" y="54"/>
                  <a:pt x="40" y="53"/>
                </a:cubicBezTo>
                <a:cubicBezTo>
                  <a:pt x="40" y="53"/>
                  <a:pt x="40" y="53"/>
                  <a:pt x="40" y="53"/>
                </a:cubicBezTo>
                <a:cubicBezTo>
                  <a:pt x="40" y="53"/>
                  <a:pt x="40" y="53"/>
                  <a:pt x="40" y="53"/>
                </a:cubicBezTo>
                <a:cubicBezTo>
                  <a:pt x="40" y="52"/>
                  <a:pt x="40" y="52"/>
                  <a:pt x="40" y="52"/>
                </a:cubicBezTo>
                <a:cubicBezTo>
                  <a:pt x="40" y="52"/>
                  <a:pt x="40" y="52"/>
                  <a:pt x="40" y="52"/>
                </a:cubicBezTo>
                <a:cubicBezTo>
                  <a:pt x="40" y="52"/>
                  <a:pt x="40" y="52"/>
                  <a:pt x="40" y="52"/>
                </a:cubicBezTo>
                <a:close/>
                <a:moveTo>
                  <a:pt x="40" y="51"/>
                </a:moveTo>
                <a:cubicBezTo>
                  <a:pt x="41" y="50"/>
                  <a:pt x="41" y="50"/>
                  <a:pt x="41" y="50"/>
                </a:cubicBezTo>
                <a:cubicBezTo>
                  <a:pt x="41" y="50"/>
                  <a:pt x="41" y="50"/>
                  <a:pt x="41" y="50"/>
                </a:cubicBezTo>
                <a:cubicBezTo>
                  <a:pt x="41" y="50"/>
                  <a:pt x="41" y="50"/>
                  <a:pt x="41" y="50"/>
                </a:cubicBezTo>
                <a:cubicBezTo>
                  <a:pt x="41" y="50"/>
                  <a:pt x="41" y="50"/>
                  <a:pt x="41" y="50"/>
                </a:cubicBezTo>
                <a:cubicBezTo>
                  <a:pt x="41" y="50"/>
                  <a:pt x="41" y="50"/>
                  <a:pt x="42" y="50"/>
                </a:cubicBezTo>
                <a:cubicBezTo>
                  <a:pt x="45" y="50"/>
                  <a:pt x="45" y="50"/>
                  <a:pt x="45" y="50"/>
                </a:cubicBezTo>
                <a:cubicBezTo>
                  <a:pt x="45" y="50"/>
                  <a:pt x="45" y="50"/>
                  <a:pt x="45" y="50"/>
                </a:cubicBezTo>
                <a:cubicBezTo>
                  <a:pt x="45" y="50"/>
                  <a:pt x="46" y="50"/>
                  <a:pt x="46" y="50"/>
                </a:cubicBezTo>
                <a:cubicBezTo>
                  <a:pt x="46" y="50"/>
                  <a:pt x="46" y="50"/>
                  <a:pt x="46" y="50"/>
                </a:cubicBezTo>
                <a:cubicBezTo>
                  <a:pt x="46" y="50"/>
                  <a:pt x="46" y="50"/>
                  <a:pt x="46" y="50"/>
                </a:cubicBezTo>
                <a:cubicBezTo>
                  <a:pt x="46" y="51"/>
                  <a:pt x="46" y="51"/>
                  <a:pt x="46" y="51"/>
                </a:cubicBezTo>
                <a:cubicBezTo>
                  <a:pt x="46" y="51"/>
                  <a:pt x="46" y="51"/>
                  <a:pt x="46" y="51"/>
                </a:cubicBezTo>
                <a:cubicBezTo>
                  <a:pt x="46" y="51"/>
                  <a:pt x="46" y="51"/>
                  <a:pt x="45" y="51"/>
                </a:cubicBezTo>
                <a:cubicBezTo>
                  <a:pt x="45" y="51"/>
                  <a:pt x="45" y="51"/>
                  <a:pt x="45" y="51"/>
                </a:cubicBezTo>
                <a:cubicBezTo>
                  <a:pt x="45" y="51"/>
                  <a:pt x="45" y="51"/>
                  <a:pt x="45" y="51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1"/>
                  <a:pt x="40" y="51"/>
                  <a:pt x="40" y="51"/>
                </a:cubicBezTo>
                <a:cubicBezTo>
                  <a:pt x="40" y="51"/>
                  <a:pt x="40" y="51"/>
                  <a:pt x="40" y="51"/>
                </a:cubicBezTo>
                <a:close/>
                <a:moveTo>
                  <a:pt x="40" y="51"/>
                </a:moveTo>
                <a:cubicBezTo>
                  <a:pt x="40" y="51"/>
                  <a:pt x="40" y="51"/>
                  <a:pt x="40" y="51"/>
                </a:cubicBezTo>
                <a:cubicBezTo>
                  <a:pt x="40" y="51"/>
                  <a:pt x="40" y="51"/>
                  <a:pt x="39" y="51"/>
                </a:cubicBezTo>
                <a:cubicBezTo>
                  <a:pt x="39" y="51"/>
                  <a:pt x="39" y="51"/>
                  <a:pt x="39" y="51"/>
                </a:cubicBezTo>
                <a:cubicBezTo>
                  <a:pt x="39" y="51"/>
                  <a:pt x="39" y="51"/>
                  <a:pt x="39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4" y="51"/>
                  <a:pt x="34" y="51"/>
                </a:cubicBezTo>
                <a:cubicBezTo>
                  <a:pt x="34" y="51"/>
                  <a:pt x="34" y="51"/>
                  <a:pt x="34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6" y="50"/>
                  <a:pt x="36" y="50"/>
                  <a:pt x="36" y="50"/>
                </a:cubicBezTo>
                <a:cubicBezTo>
                  <a:pt x="39" y="50"/>
                  <a:pt x="39" y="50"/>
                  <a:pt x="39" y="50"/>
                </a:cubicBezTo>
                <a:cubicBezTo>
                  <a:pt x="39" y="50"/>
                  <a:pt x="39" y="50"/>
                  <a:pt x="39" y="50"/>
                </a:cubicBezTo>
                <a:cubicBezTo>
                  <a:pt x="40" y="50"/>
                  <a:pt x="40" y="50"/>
                  <a:pt x="40" y="50"/>
                </a:cubicBezTo>
                <a:cubicBezTo>
                  <a:pt x="40" y="50"/>
                  <a:pt x="40" y="50"/>
                  <a:pt x="40" y="50"/>
                </a:cubicBezTo>
                <a:cubicBezTo>
                  <a:pt x="40" y="50"/>
                  <a:pt x="40" y="50"/>
                  <a:pt x="40" y="50"/>
                </a:cubicBezTo>
                <a:lnTo>
                  <a:pt x="40" y="51"/>
                </a:lnTo>
                <a:close/>
                <a:moveTo>
                  <a:pt x="35" y="52"/>
                </a:moveTo>
                <a:cubicBezTo>
                  <a:pt x="35" y="52"/>
                  <a:pt x="35" y="52"/>
                  <a:pt x="35" y="52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53"/>
                  <a:pt x="39" y="53"/>
                  <a:pt x="39" y="53"/>
                </a:cubicBezTo>
                <a:cubicBezTo>
                  <a:pt x="39" y="53"/>
                  <a:pt x="39" y="53"/>
                  <a:pt x="39" y="53"/>
                </a:cubicBezTo>
                <a:cubicBezTo>
                  <a:pt x="39" y="53"/>
                  <a:pt x="39" y="53"/>
                  <a:pt x="39" y="53"/>
                </a:cubicBezTo>
                <a:cubicBezTo>
                  <a:pt x="39" y="54"/>
                  <a:pt x="39" y="54"/>
                  <a:pt x="39" y="54"/>
                </a:cubicBezTo>
                <a:cubicBezTo>
                  <a:pt x="38" y="54"/>
                  <a:pt x="38" y="54"/>
                  <a:pt x="38" y="54"/>
                </a:cubicBezTo>
                <a:cubicBezTo>
                  <a:pt x="35" y="54"/>
                  <a:pt x="35" y="54"/>
                  <a:pt x="35" y="54"/>
                </a:cubicBezTo>
                <a:cubicBezTo>
                  <a:pt x="34" y="54"/>
                  <a:pt x="34" y="54"/>
                  <a:pt x="34" y="54"/>
                </a:cubicBezTo>
                <a:cubicBezTo>
                  <a:pt x="34" y="54"/>
                  <a:pt x="34" y="54"/>
                  <a:pt x="34" y="53"/>
                </a:cubicBezTo>
                <a:cubicBezTo>
                  <a:pt x="34" y="53"/>
                  <a:pt x="34" y="53"/>
                  <a:pt x="34" y="53"/>
                </a:cubicBezTo>
                <a:cubicBezTo>
                  <a:pt x="34" y="53"/>
                  <a:pt x="34" y="53"/>
                  <a:pt x="34" y="53"/>
                </a:cubicBezTo>
                <a:cubicBezTo>
                  <a:pt x="34" y="52"/>
                  <a:pt x="34" y="52"/>
                  <a:pt x="34" y="52"/>
                </a:cubicBezTo>
                <a:cubicBezTo>
                  <a:pt x="34" y="52"/>
                  <a:pt x="34" y="52"/>
                  <a:pt x="34" y="52"/>
                </a:cubicBezTo>
                <a:cubicBezTo>
                  <a:pt x="34" y="52"/>
                  <a:pt x="34" y="52"/>
                  <a:pt x="34" y="52"/>
                </a:cubicBezTo>
                <a:cubicBezTo>
                  <a:pt x="34" y="52"/>
                  <a:pt x="35" y="52"/>
                  <a:pt x="35" y="52"/>
                </a:cubicBezTo>
                <a:close/>
                <a:moveTo>
                  <a:pt x="39" y="55"/>
                </a:moveTo>
                <a:cubicBezTo>
                  <a:pt x="39" y="56"/>
                  <a:pt x="39" y="56"/>
                  <a:pt x="39" y="56"/>
                </a:cubicBezTo>
                <a:cubicBezTo>
                  <a:pt x="39" y="56"/>
                  <a:pt x="39" y="56"/>
                  <a:pt x="39" y="56"/>
                </a:cubicBezTo>
                <a:cubicBezTo>
                  <a:pt x="39" y="56"/>
                  <a:pt x="38" y="56"/>
                  <a:pt x="38" y="56"/>
                </a:cubicBezTo>
                <a:cubicBezTo>
                  <a:pt x="38" y="56"/>
                  <a:pt x="38" y="56"/>
                  <a:pt x="38" y="56"/>
                </a:cubicBezTo>
                <a:cubicBezTo>
                  <a:pt x="38" y="56"/>
                  <a:pt x="38" y="56"/>
                  <a:pt x="38" y="56"/>
                </a:cubicBezTo>
                <a:cubicBezTo>
                  <a:pt x="34" y="56"/>
                  <a:pt x="34" y="56"/>
                  <a:pt x="34" y="56"/>
                </a:cubicBezTo>
                <a:cubicBezTo>
                  <a:pt x="34" y="56"/>
                  <a:pt x="33" y="56"/>
                  <a:pt x="33" y="56"/>
                </a:cubicBezTo>
                <a:cubicBezTo>
                  <a:pt x="33" y="56"/>
                  <a:pt x="33" y="56"/>
                  <a:pt x="33" y="56"/>
                </a:cubicBezTo>
                <a:cubicBezTo>
                  <a:pt x="33" y="56"/>
                  <a:pt x="33" y="56"/>
                  <a:pt x="33" y="56"/>
                </a:cubicBezTo>
                <a:cubicBezTo>
                  <a:pt x="33" y="56"/>
                  <a:pt x="33" y="56"/>
                  <a:pt x="33" y="56"/>
                </a:cubicBezTo>
                <a:cubicBezTo>
                  <a:pt x="33" y="55"/>
                  <a:pt x="33" y="55"/>
                  <a:pt x="33" y="55"/>
                </a:cubicBezTo>
                <a:cubicBezTo>
                  <a:pt x="33" y="54"/>
                  <a:pt x="33" y="54"/>
                  <a:pt x="33" y="54"/>
                </a:cubicBezTo>
                <a:cubicBezTo>
                  <a:pt x="33" y="54"/>
                  <a:pt x="34" y="54"/>
                  <a:pt x="34" y="54"/>
                </a:cubicBezTo>
                <a:cubicBezTo>
                  <a:pt x="34" y="54"/>
                  <a:pt x="34" y="54"/>
                  <a:pt x="34" y="54"/>
                </a:cubicBezTo>
                <a:cubicBezTo>
                  <a:pt x="34" y="54"/>
                  <a:pt x="34" y="54"/>
                  <a:pt x="34" y="54"/>
                </a:cubicBezTo>
                <a:cubicBezTo>
                  <a:pt x="38" y="54"/>
                  <a:pt x="38" y="54"/>
                  <a:pt x="38" y="54"/>
                </a:cubicBezTo>
                <a:cubicBezTo>
                  <a:pt x="38" y="54"/>
                  <a:pt x="38" y="54"/>
                  <a:pt x="38" y="54"/>
                </a:cubicBezTo>
                <a:cubicBezTo>
                  <a:pt x="39" y="54"/>
                  <a:pt x="39" y="54"/>
                  <a:pt x="39" y="54"/>
                </a:cubicBezTo>
                <a:cubicBezTo>
                  <a:pt x="39" y="54"/>
                  <a:pt x="39" y="54"/>
                  <a:pt x="39" y="54"/>
                </a:cubicBezTo>
                <a:cubicBezTo>
                  <a:pt x="39" y="54"/>
                  <a:pt x="39" y="54"/>
                  <a:pt x="39" y="55"/>
                </a:cubicBezTo>
                <a:close/>
                <a:moveTo>
                  <a:pt x="34" y="51"/>
                </a:moveTo>
                <a:cubicBezTo>
                  <a:pt x="34" y="51"/>
                  <a:pt x="34" y="51"/>
                  <a:pt x="34" y="51"/>
                </a:cubicBezTo>
                <a:cubicBezTo>
                  <a:pt x="34" y="51"/>
                  <a:pt x="34" y="51"/>
                  <a:pt x="33" y="51"/>
                </a:cubicBezTo>
                <a:cubicBezTo>
                  <a:pt x="33" y="51"/>
                  <a:pt x="33" y="51"/>
                  <a:pt x="33" y="51"/>
                </a:cubicBezTo>
                <a:cubicBezTo>
                  <a:pt x="33" y="51"/>
                  <a:pt x="33" y="51"/>
                  <a:pt x="33" y="51"/>
                </a:cubicBezTo>
                <a:cubicBezTo>
                  <a:pt x="29" y="51"/>
                  <a:pt x="29" y="51"/>
                  <a:pt x="29" y="51"/>
                </a:cubicBezTo>
                <a:cubicBezTo>
                  <a:pt x="29" y="51"/>
                  <a:pt x="29" y="51"/>
                  <a:pt x="29" y="51"/>
                </a:cubicBezTo>
                <a:cubicBezTo>
                  <a:pt x="29" y="51"/>
                  <a:pt x="29" y="51"/>
                  <a:pt x="29" y="51"/>
                </a:cubicBezTo>
                <a:cubicBezTo>
                  <a:pt x="29" y="51"/>
                  <a:pt x="28" y="51"/>
                  <a:pt x="28" y="51"/>
                </a:cubicBezTo>
                <a:cubicBezTo>
                  <a:pt x="28" y="51"/>
                  <a:pt x="28" y="51"/>
                  <a:pt x="28" y="51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0"/>
                  <a:pt x="29" y="50"/>
                  <a:pt x="30" y="50"/>
                </a:cubicBezTo>
                <a:cubicBezTo>
                  <a:pt x="30" y="50"/>
                  <a:pt x="30" y="50"/>
                  <a:pt x="30" y="50"/>
                </a:cubicBezTo>
                <a:cubicBezTo>
                  <a:pt x="33" y="50"/>
                  <a:pt x="33" y="50"/>
                  <a:pt x="33" y="50"/>
                </a:cubicBezTo>
                <a:cubicBezTo>
                  <a:pt x="33" y="50"/>
                  <a:pt x="34" y="50"/>
                  <a:pt x="34" y="50"/>
                </a:cubicBezTo>
                <a:cubicBezTo>
                  <a:pt x="34" y="50"/>
                  <a:pt x="34" y="50"/>
                  <a:pt x="34" y="50"/>
                </a:cubicBezTo>
                <a:cubicBezTo>
                  <a:pt x="34" y="50"/>
                  <a:pt x="34" y="50"/>
                  <a:pt x="34" y="50"/>
                </a:cubicBezTo>
                <a:cubicBezTo>
                  <a:pt x="34" y="50"/>
                  <a:pt x="34" y="50"/>
                  <a:pt x="34" y="50"/>
                </a:cubicBezTo>
                <a:lnTo>
                  <a:pt x="34" y="51"/>
                </a:lnTo>
                <a:close/>
                <a:moveTo>
                  <a:pt x="29" y="52"/>
                </a:moveTo>
                <a:cubicBezTo>
                  <a:pt x="29" y="52"/>
                  <a:pt x="29" y="52"/>
                  <a:pt x="29" y="52"/>
                </a:cubicBezTo>
                <a:cubicBezTo>
                  <a:pt x="33" y="52"/>
                  <a:pt x="33" y="52"/>
                  <a:pt x="33" y="52"/>
                </a:cubicBezTo>
                <a:cubicBezTo>
                  <a:pt x="33" y="52"/>
                  <a:pt x="33" y="52"/>
                  <a:pt x="33" y="52"/>
                </a:cubicBezTo>
                <a:cubicBezTo>
                  <a:pt x="33" y="52"/>
                  <a:pt x="33" y="52"/>
                  <a:pt x="33" y="52"/>
                </a:cubicBezTo>
                <a:cubicBezTo>
                  <a:pt x="33" y="52"/>
                  <a:pt x="33" y="52"/>
                  <a:pt x="33" y="52"/>
                </a:cubicBezTo>
                <a:cubicBezTo>
                  <a:pt x="33" y="52"/>
                  <a:pt x="33" y="52"/>
                  <a:pt x="33" y="52"/>
                </a:cubicBezTo>
                <a:cubicBezTo>
                  <a:pt x="33" y="53"/>
                  <a:pt x="33" y="53"/>
                  <a:pt x="33" y="53"/>
                </a:cubicBezTo>
                <a:cubicBezTo>
                  <a:pt x="33" y="53"/>
                  <a:pt x="33" y="53"/>
                  <a:pt x="33" y="53"/>
                </a:cubicBezTo>
                <a:cubicBezTo>
                  <a:pt x="33" y="53"/>
                  <a:pt x="33" y="53"/>
                  <a:pt x="33" y="53"/>
                </a:cubicBezTo>
                <a:cubicBezTo>
                  <a:pt x="33" y="54"/>
                  <a:pt x="32" y="54"/>
                  <a:pt x="32" y="54"/>
                </a:cubicBezTo>
                <a:cubicBezTo>
                  <a:pt x="32" y="54"/>
                  <a:pt x="32" y="54"/>
                  <a:pt x="32" y="54"/>
                </a:cubicBezTo>
                <a:cubicBezTo>
                  <a:pt x="28" y="54"/>
                  <a:pt x="28" y="54"/>
                  <a:pt x="28" y="54"/>
                </a:cubicBezTo>
                <a:cubicBezTo>
                  <a:pt x="28" y="54"/>
                  <a:pt x="28" y="54"/>
                  <a:pt x="28" y="54"/>
                </a:cubicBezTo>
                <a:cubicBezTo>
                  <a:pt x="28" y="54"/>
                  <a:pt x="28" y="54"/>
                  <a:pt x="28" y="53"/>
                </a:cubicBezTo>
                <a:cubicBezTo>
                  <a:pt x="28" y="53"/>
                  <a:pt x="27" y="53"/>
                  <a:pt x="27" y="53"/>
                </a:cubicBezTo>
                <a:cubicBezTo>
                  <a:pt x="27" y="53"/>
                  <a:pt x="27" y="53"/>
                  <a:pt x="27" y="53"/>
                </a:cubicBezTo>
                <a:cubicBezTo>
                  <a:pt x="28" y="52"/>
                  <a:pt x="28" y="52"/>
                  <a:pt x="28" y="52"/>
                </a:cubicBezTo>
                <a:cubicBezTo>
                  <a:pt x="28" y="52"/>
                  <a:pt x="28" y="52"/>
                  <a:pt x="28" y="52"/>
                </a:cubicBezTo>
                <a:cubicBezTo>
                  <a:pt x="28" y="52"/>
                  <a:pt x="28" y="52"/>
                  <a:pt x="28" y="52"/>
                </a:cubicBezTo>
                <a:cubicBezTo>
                  <a:pt x="28" y="52"/>
                  <a:pt x="29" y="52"/>
                  <a:pt x="29" y="52"/>
                </a:cubicBezTo>
                <a:close/>
                <a:moveTo>
                  <a:pt x="28" y="50"/>
                </a:moveTo>
                <a:cubicBezTo>
                  <a:pt x="28" y="51"/>
                  <a:pt x="28" y="51"/>
                  <a:pt x="28" y="51"/>
                </a:cubicBezTo>
                <a:cubicBezTo>
                  <a:pt x="28" y="51"/>
                  <a:pt x="28" y="51"/>
                  <a:pt x="28" y="51"/>
                </a:cubicBezTo>
                <a:cubicBezTo>
                  <a:pt x="28" y="51"/>
                  <a:pt x="28" y="51"/>
                  <a:pt x="27" y="51"/>
                </a:cubicBezTo>
                <a:cubicBezTo>
                  <a:pt x="27" y="51"/>
                  <a:pt x="27" y="51"/>
                  <a:pt x="27" y="51"/>
                </a:cubicBezTo>
                <a:cubicBezTo>
                  <a:pt x="27" y="51"/>
                  <a:pt x="27" y="51"/>
                  <a:pt x="27" y="51"/>
                </a:cubicBezTo>
                <a:cubicBezTo>
                  <a:pt x="23" y="51"/>
                  <a:pt x="23" y="51"/>
                  <a:pt x="23" y="51"/>
                </a:cubicBezTo>
                <a:cubicBezTo>
                  <a:pt x="23" y="51"/>
                  <a:pt x="23" y="51"/>
                  <a:pt x="23" y="51"/>
                </a:cubicBezTo>
                <a:cubicBezTo>
                  <a:pt x="23" y="51"/>
                  <a:pt x="23" y="51"/>
                  <a:pt x="23" y="51"/>
                </a:cubicBezTo>
                <a:cubicBezTo>
                  <a:pt x="23" y="51"/>
                  <a:pt x="22" y="51"/>
                  <a:pt x="22" y="51"/>
                </a:cubicBezTo>
                <a:cubicBezTo>
                  <a:pt x="22" y="51"/>
                  <a:pt x="22" y="51"/>
                  <a:pt x="22" y="51"/>
                </a:cubicBezTo>
                <a:cubicBezTo>
                  <a:pt x="23" y="50"/>
                  <a:pt x="23" y="50"/>
                  <a:pt x="23" y="50"/>
                </a:cubicBezTo>
                <a:cubicBezTo>
                  <a:pt x="23" y="50"/>
                  <a:pt x="23" y="50"/>
                  <a:pt x="23" y="50"/>
                </a:cubicBezTo>
                <a:cubicBezTo>
                  <a:pt x="23" y="50"/>
                  <a:pt x="23" y="50"/>
                  <a:pt x="23" y="50"/>
                </a:cubicBezTo>
                <a:cubicBezTo>
                  <a:pt x="24" y="50"/>
                  <a:pt x="24" y="50"/>
                  <a:pt x="24" y="50"/>
                </a:cubicBezTo>
                <a:cubicBezTo>
                  <a:pt x="24" y="50"/>
                  <a:pt x="24" y="50"/>
                  <a:pt x="24" y="50"/>
                </a:cubicBezTo>
                <a:cubicBezTo>
                  <a:pt x="27" y="50"/>
                  <a:pt x="27" y="50"/>
                  <a:pt x="27" y="50"/>
                </a:cubicBezTo>
                <a:cubicBezTo>
                  <a:pt x="28" y="50"/>
                  <a:pt x="28" y="50"/>
                  <a:pt x="28" y="50"/>
                </a:cubicBezTo>
                <a:cubicBezTo>
                  <a:pt x="28" y="50"/>
                  <a:pt x="28" y="50"/>
                  <a:pt x="28" y="50"/>
                </a:cubicBezTo>
                <a:cubicBezTo>
                  <a:pt x="28" y="50"/>
                  <a:pt x="28" y="50"/>
                  <a:pt x="28" y="50"/>
                </a:cubicBezTo>
                <a:cubicBezTo>
                  <a:pt x="28" y="50"/>
                  <a:pt x="28" y="50"/>
                  <a:pt x="28" y="50"/>
                </a:cubicBezTo>
                <a:close/>
                <a:moveTo>
                  <a:pt x="28" y="54"/>
                </a:moveTo>
                <a:cubicBezTo>
                  <a:pt x="28" y="54"/>
                  <a:pt x="28" y="54"/>
                  <a:pt x="28" y="54"/>
                </a:cubicBezTo>
                <a:cubicBezTo>
                  <a:pt x="32" y="54"/>
                  <a:pt x="32" y="54"/>
                  <a:pt x="32" y="54"/>
                </a:cubicBezTo>
                <a:cubicBezTo>
                  <a:pt x="32" y="54"/>
                  <a:pt x="32" y="54"/>
                  <a:pt x="32" y="54"/>
                </a:cubicBezTo>
                <a:cubicBezTo>
                  <a:pt x="32" y="54"/>
                  <a:pt x="32" y="54"/>
                  <a:pt x="32" y="54"/>
                </a:cubicBezTo>
                <a:cubicBezTo>
                  <a:pt x="32" y="54"/>
                  <a:pt x="33" y="54"/>
                  <a:pt x="33" y="54"/>
                </a:cubicBezTo>
                <a:cubicBezTo>
                  <a:pt x="33" y="54"/>
                  <a:pt x="33" y="54"/>
                  <a:pt x="33" y="55"/>
                </a:cubicBezTo>
                <a:cubicBezTo>
                  <a:pt x="32" y="56"/>
                  <a:pt x="32" y="56"/>
                  <a:pt x="32" y="56"/>
                </a:cubicBezTo>
                <a:cubicBezTo>
                  <a:pt x="32" y="56"/>
                  <a:pt x="32" y="56"/>
                  <a:pt x="32" y="56"/>
                </a:cubicBezTo>
                <a:cubicBezTo>
                  <a:pt x="32" y="56"/>
                  <a:pt x="32" y="56"/>
                  <a:pt x="32" y="56"/>
                </a:cubicBezTo>
                <a:cubicBezTo>
                  <a:pt x="32" y="56"/>
                  <a:pt x="32" y="56"/>
                  <a:pt x="31" y="56"/>
                </a:cubicBezTo>
                <a:cubicBezTo>
                  <a:pt x="31" y="56"/>
                  <a:pt x="31" y="56"/>
                  <a:pt x="31" y="56"/>
                </a:cubicBezTo>
                <a:cubicBezTo>
                  <a:pt x="27" y="56"/>
                  <a:pt x="27" y="56"/>
                  <a:pt x="27" y="56"/>
                </a:cubicBezTo>
                <a:cubicBezTo>
                  <a:pt x="27" y="56"/>
                  <a:pt x="27" y="56"/>
                  <a:pt x="27" y="56"/>
                </a:cubicBezTo>
                <a:cubicBezTo>
                  <a:pt x="27" y="56"/>
                  <a:pt x="27" y="56"/>
                  <a:pt x="27" y="56"/>
                </a:cubicBezTo>
                <a:cubicBezTo>
                  <a:pt x="26" y="56"/>
                  <a:pt x="26" y="56"/>
                  <a:pt x="26" y="56"/>
                </a:cubicBezTo>
                <a:cubicBezTo>
                  <a:pt x="26" y="56"/>
                  <a:pt x="26" y="56"/>
                  <a:pt x="26" y="56"/>
                </a:cubicBezTo>
                <a:cubicBezTo>
                  <a:pt x="27" y="55"/>
                  <a:pt x="27" y="55"/>
                  <a:pt x="27" y="55"/>
                </a:cubicBezTo>
                <a:cubicBezTo>
                  <a:pt x="27" y="54"/>
                  <a:pt x="27" y="54"/>
                  <a:pt x="27" y="54"/>
                </a:cubicBezTo>
                <a:cubicBezTo>
                  <a:pt x="27" y="54"/>
                  <a:pt x="27" y="54"/>
                  <a:pt x="27" y="54"/>
                </a:cubicBezTo>
                <a:cubicBezTo>
                  <a:pt x="27" y="54"/>
                  <a:pt x="28" y="54"/>
                  <a:pt x="28" y="54"/>
                </a:cubicBezTo>
                <a:close/>
                <a:moveTo>
                  <a:pt x="27" y="57"/>
                </a:moveTo>
                <a:cubicBezTo>
                  <a:pt x="27" y="56"/>
                  <a:pt x="27" y="56"/>
                  <a:pt x="27" y="56"/>
                </a:cubicBezTo>
                <a:cubicBezTo>
                  <a:pt x="31" y="56"/>
                  <a:pt x="31" y="56"/>
                  <a:pt x="31" y="56"/>
                </a:cubicBezTo>
                <a:cubicBezTo>
                  <a:pt x="31" y="56"/>
                  <a:pt x="31" y="56"/>
                  <a:pt x="31" y="57"/>
                </a:cubicBezTo>
                <a:cubicBezTo>
                  <a:pt x="31" y="57"/>
                  <a:pt x="31" y="57"/>
                  <a:pt x="31" y="57"/>
                </a:cubicBezTo>
                <a:cubicBezTo>
                  <a:pt x="32" y="57"/>
                  <a:pt x="32" y="57"/>
                  <a:pt x="32" y="57"/>
                </a:cubicBezTo>
                <a:cubicBezTo>
                  <a:pt x="32" y="57"/>
                  <a:pt x="32" y="57"/>
                  <a:pt x="32" y="57"/>
                </a:cubicBezTo>
                <a:cubicBezTo>
                  <a:pt x="31" y="58"/>
                  <a:pt x="31" y="58"/>
                  <a:pt x="31" y="58"/>
                </a:cubicBezTo>
                <a:cubicBezTo>
                  <a:pt x="31" y="58"/>
                  <a:pt x="31" y="58"/>
                  <a:pt x="31" y="58"/>
                </a:cubicBezTo>
                <a:cubicBezTo>
                  <a:pt x="31" y="58"/>
                  <a:pt x="31" y="58"/>
                  <a:pt x="31" y="59"/>
                </a:cubicBezTo>
                <a:cubicBezTo>
                  <a:pt x="31" y="59"/>
                  <a:pt x="31" y="59"/>
                  <a:pt x="30" y="59"/>
                </a:cubicBezTo>
                <a:cubicBezTo>
                  <a:pt x="30" y="59"/>
                  <a:pt x="30" y="59"/>
                  <a:pt x="30" y="59"/>
                </a:cubicBezTo>
                <a:cubicBezTo>
                  <a:pt x="26" y="59"/>
                  <a:pt x="26" y="59"/>
                  <a:pt x="26" y="59"/>
                </a:cubicBezTo>
                <a:cubicBezTo>
                  <a:pt x="26" y="59"/>
                  <a:pt x="26" y="59"/>
                  <a:pt x="26" y="59"/>
                </a:cubicBezTo>
                <a:cubicBezTo>
                  <a:pt x="26" y="59"/>
                  <a:pt x="25" y="59"/>
                  <a:pt x="25" y="59"/>
                </a:cubicBezTo>
                <a:cubicBezTo>
                  <a:pt x="25" y="58"/>
                  <a:pt x="25" y="58"/>
                  <a:pt x="25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6" y="57"/>
                  <a:pt x="26" y="57"/>
                  <a:pt x="26" y="57"/>
                </a:cubicBezTo>
                <a:cubicBezTo>
                  <a:pt x="26" y="57"/>
                  <a:pt x="26" y="57"/>
                  <a:pt x="26" y="57"/>
                </a:cubicBezTo>
                <a:cubicBezTo>
                  <a:pt x="26" y="57"/>
                  <a:pt x="26" y="57"/>
                  <a:pt x="26" y="57"/>
                </a:cubicBezTo>
                <a:cubicBezTo>
                  <a:pt x="26" y="57"/>
                  <a:pt x="26" y="57"/>
                  <a:pt x="27" y="57"/>
                </a:cubicBezTo>
                <a:close/>
                <a:moveTo>
                  <a:pt x="31" y="60"/>
                </a:moveTo>
                <a:cubicBezTo>
                  <a:pt x="31" y="60"/>
                  <a:pt x="32" y="60"/>
                  <a:pt x="32" y="60"/>
                </a:cubicBezTo>
                <a:cubicBezTo>
                  <a:pt x="32" y="59"/>
                  <a:pt x="32" y="59"/>
                  <a:pt x="32" y="59"/>
                </a:cubicBezTo>
                <a:cubicBezTo>
                  <a:pt x="32" y="59"/>
                  <a:pt x="32" y="59"/>
                  <a:pt x="32" y="59"/>
                </a:cubicBezTo>
                <a:cubicBezTo>
                  <a:pt x="32" y="59"/>
                  <a:pt x="33" y="59"/>
                  <a:pt x="33" y="59"/>
                </a:cubicBezTo>
                <a:cubicBezTo>
                  <a:pt x="37" y="59"/>
                  <a:pt x="37" y="59"/>
                  <a:pt x="37" y="59"/>
                </a:cubicBezTo>
                <a:cubicBezTo>
                  <a:pt x="37" y="59"/>
                  <a:pt x="37" y="59"/>
                  <a:pt x="37" y="59"/>
                </a:cubicBezTo>
                <a:cubicBezTo>
                  <a:pt x="37" y="59"/>
                  <a:pt x="37" y="59"/>
                  <a:pt x="37" y="59"/>
                </a:cubicBezTo>
                <a:cubicBezTo>
                  <a:pt x="38" y="59"/>
                  <a:pt x="38" y="59"/>
                  <a:pt x="38" y="60"/>
                </a:cubicBezTo>
                <a:cubicBezTo>
                  <a:pt x="38" y="60"/>
                  <a:pt x="38" y="60"/>
                  <a:pt x="38" y="60"/>
                </a:cubicBezTo>
                <a:cubicBezTo>
                  <a:pt x="37" y="61"/>
                  <a:pt x="37" y="61"/>
                  <a:pt x="37" y="61"/>
                </a:cubicBezTo>
                <a:cubicBezTo>
                  <a:pt x="37" y="61"/>
                  <a:pt x="37" y="61"/>
                  <a:pt x="37" y="61"/>
                </a:cubicBezTo>
                <a:cubicBezTo>
                  <a:pt x="37" y="61"/>
                  <a:pt x="37" y="61"/>
                  <a:pt x="37" y="61"/>
                </a:cubicBezTo>
                <a:cubicBezTo>
                  <a:pt x="37" y="61"/>
                  <a:pt x="37" y="62"/>
                  <a:pt x="37" y="62"/>
                </a:cubicBezTo>
                <a:cubicBezTo>
                  <a:pt x="36" y="62"/>
                  <a:pt x="36" y="62"/>
                  <a:pt x="36" y="62"/>
                </a:cubicBezTo>
                <a:cubicBezTo>
                  <a:pt x="32" y="62"/>
                  <a:pt x="32" y="62"/>
                  <a:pt x="32" y="62"/>
                </a:cubicBezTo>
                <a:cubicBezTo>
                  <a:pt x="32" y="62"/>
                  <a:pt x="32" y="62"/>
                  <a:pt x="32" y="62"/>
                </a:cubicBezTo>
                <a:cubicBezTo>
                  <a:pt x="31" y="62"/>
                  <a:pt x="31" y="61"/>
                  <a:pt x="31" y="61"/>
                </a:cubicBezTo>
                <a:cubicBezTo>
                  <a:pt x="31" y="61"/>
                  <a:pt x="31" y="61"/>
                  <a:pt x="31" y="61"/>
                </a:cubicBezTo>
                <a:cubicBezTo>
                  <a:pt x="31" y="61"/>
                  <a:pt x="31" y="61"/>
                  <a:pt x="31" y="61"/>
                </a:cubicBezTo>
                <a:lnTo>
                  <a:pt x="31" y="60"/>
                </a:lnTo>
                <a:close/>
                <a:moveTo>
                  <a:pt x="38" y="59"/>
                </a:moveTo>
                <a:cubicBezTo>
                  <a:pt x="38" y="59"/>
                  <a:pt x="37" y="59"/>
                  <a:pt x="37" y="59"/>
                </a:cubicBezTo>
                <a:cubicBezTo>
                  <a:pt x="37" y="59"/>
                  <a:pt x="37" y="59"/>
                  <a:pt x="37" y="59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9"/>
                  <a:pt x="32" y="59"/>
                </a:cubicBezTo>
                <a:cubicBezTo>
                  <a:pt x="32" y="59"/>
                  <a:pt x="32" y="59"/>
                  <a:pt x="32" y="59"/>
                </a:cubicBezTo>
                <a:cubicBezTo>
                  <a:pt x="32" y="58"/>
                  <a:pt x="32" y="58"/>
                  <a:pt x="32" y="58"/>
                </a:cubicBezTo>
                <a:cubicBezTo>
                  <a:pt x="32" y="58"/>
                  <a:pt x="32" y="58"/>
                  <a:pt x="32" y="58"/>
                </a:cubicBezTo>
                <a:cubicBezTo>
                  <a:pt x="32" y="57"/>
                  <a:pt x="32" y="57"/>
                  <a:pt x="32" y="57"/>
                </a:cubicBezTo>
                <a:cubicBezTo>
                  <a:pt x="32" y="57"/>
                  <a:pt x="32" y="57"/>
                  <a:pt x="33" y="57"/>
                </a:cubicBezTo>
                <a:cubicBezTo>
                  <a:pt x="33" y="57"/>
                  <a:pt x="33" y="57"/>
                  <a:pt x="33" y="57"/>
                </a:cubicBezTo>
                <a:cubicBezTo>
                  <a:pt x="33" y="57"/>
                  <a:pt x="33" y="57"/>
                  <a:pt x="33" y="57"/>
                </a:cubicBezTo>
                <a:cubicBezTo>
                  <a:pt x="33" y="56"/>
                  <a:pt x="33" y="56"/>
                  <a:pt x="34" y="56"/>
                </a:cubicBezTo>
                <a:cubicBezTo>
                  <a:pt x="37" y="56"/>
                  <a:pt x="37" y="56"/>
                  <a:pt x="37" y="56"/>
                </a:cubicBezTo>
                <a:cubicBezTo>
                  <a:pt x="38" y="56"/>
                  <a:pt x="38" y="56"/>
                  <a:pt x="38" y="57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58"/>
                  <a:pt x="38" y="58"/>
                  <a:pt x="38" y="58"/>
                </a:cubicBezTo>
                <a:cubicBezTo>
                  <a:pt x="38" y="58"/>
                  <a:pt x="38" y="58"/>
                  <a:pt x="38" y="58"/>
                </a:cubicBezTo>
                <a:cubicBezTo>
                  <a:pt x="38" y="58"/>
                  <a:pt x="38" y="58"/>
                  <a:pt x="38" y="59"/>
                </a:cubicBezTo>
                <a:close/>
                <a:moveTo>
                  <a:pt x="38" y="60"/>
                </a:moveTo>
                <a:cubicBezTo>
                  <a:pt x="38" y="60"/>
                  <a:pt x="38" y="60"/>
                  <a:pt x="39" y="60"/>
                </a:cubicBezTo>
                <a:cubicBezTo>
                  <a:pt x="39" y="59"/>
                  <a:pt x="39" y="59"/>
                  <a:pt x="39" y="59"/>
                </a:cubicBezTo>
                <a:cubicBezTo>
                  <a:pt x="39" y="59"/>
                  <a:pt x="39" y="59"/>
                  <a:pt x="39" y="59"/>
                </a:cubicBezTo>
                <a:cubicBezTo>
                  <a:pt x="39" y="59"/>
                  <a:pt x="40" y="59"/>
                  <a:pt x="40" y="59"/>
                </a:cubicBezTo>
                <a:cubicBezTo>
                  <a:pt x="44" y="59"/>
                  <a:pt x="44" y="59"/>
                  <a:pt x="44" y="59"/>
                </a:cubicBezTo>
                <a:cubicBezTo>
                  <a:pt x="44" y="59"/>
                  <a:pt x="44" y="59"/>
                  <a:pt x="44" y="59"/>
                </a:cubicBezTo>
                <a:cubicBezTo>
                  <a:pt x="44" y="59"/>
                  <a:pt x="44" y="59"/>
                  <a:pt x="44" y="59"/>
                </a:cubicBezTo>
                <a:cubicBezTo>
                  <a:pt x="45" y="59"/>
                  <a:pt x="45" y="59"/>
                  <a:pt x="45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61"/>
                  <a:pt x="45" y="61"/>
                  <a:pt x="45" y="61"/>
                </a:cubicBezTo>
                <a:cubicBezTo>
                  <a:pt x="45" y="61"/>
                  <a:pt x="44" y="61"/>
                  <a:pt x="44" y="61"/>
                </a:cubicBezTo>
                <a:cubicBezTo>
                  <a:pt x="44" y="61"/>
                  <a:pt x="44" y="61"/>
                  <a:pt x="44" y="61"/>
                </a:cubicBezTo>
                <a:cubicBezTo>
                  <a:pt x="44" y="61"/>
                  <a:pt x="44" y="62"/>
                  <a:pt x="44" y="62"/>
                </a:cubicBezTo>
                <a:cubicBezTo>
                  <a:pt x="44" y="62"/>
                  <a:pt x="43" y="62"/>
                  <a:pt x="43" y="62"/>
                </a:cubicBezTo>
                <a:cubicBezTo>
                  <a:pt x="39" y="62"/>
                  <a:pt x="39" y="62"/>
                  <a:pt x="39" y="62"/>
                </a:cubicBezTo>
                <a:cubicBezTo>
                  <a:pt x="39" y="62"/>
                  <a:pt x="39" y="62"/>
                  <a:pt x="39" y="62"/>
                </a:cubicBezTo>
                <a:cubicBezTo>
                  <a:pt x="39" y="62"/>
                  <a:pt x="38" y="61"/>
                  <a:pt x="38" y="61"/>
                </a:cubicBezTo>
                <a:cubicBezTo>
                  <a:pt x="38" y="61"/>
                  <a:pt x="38" y="61"/>
                  <a:pt x="38" y="61"/>
                </a:cubicBezTo>
                <a:cubicBezTo>
                  <a:pt x="38" y="61"/>
                  <a:pt x="38" y="61"/>
                  <a:pt x="38" y="61"/>
                </a:cubicBezTo>
                <a:lnTo>
                  <a:pt x="38" y="60"/>
                </a:lnTo>
                <a:close/>
                <a:moveTo>
                  <a:pt x="45" y="59"/>
                </a:moveTo>
                <a:cubicBezTo>
                  <a:pt x="44" y="59"/>
                  <a:pt x="44" y="59"/>
                  <a:pt x="44" y="59"/>
                </a:cubicBezTo>
                <a:cubicBezTo>
                  <a:pt x="44" y="59"/>
                  <a:pt x="44" y="59"/>
                  <a:pt x="44" y="59"/>
                </a:cubicBezTo>
                <a:cubicBezTo>
                  <a:pt x="40" y="59"/>
                  <a:pt x="40" y="59"/>
                  <a:pt x="40" y="59"/>
                </a:cubicBezTo>
                <a:cubicBezTo>
                  <a:pt x="40" y="59"/>
                  <a:pt x="39" y="59"/>
                  <a:pt x="39" y="59"/>
                </a:cubicBezTo>
                <a:cubicBezTo>
                  <a:pt x="39" y="59"/>
                  <a:pt x="39" y="59"/>
                  <a:pt x="39" y="59"/>
                </a:cubicBezTo>
                <a:cubicBezTo>
                  <a:pt x="39" y="58"/>
                  <a:pt x="39" y="58"/>
                  <a:pt x="39" y="58"/>
                </a:cubicBezTo>
                <a:cubicBezTo>
                  <a:pt x="39" y="58"/>
                  <a:pt x="39" y="58"/>
                  <a:pt x="39" y="58"/>
                </a:cubicBezTo>
                <a:cubicBezTo>
                  <a:pt x="39" y="57"/>
                  <a:pt x="39" y="57"/>
                  <a:pt x="39" y="57"/>
                </a:cubicBezTo>
                <a:cubicBezTo>
                  <a:pt x="39" y="57"/>
                  <a:pt x="39" y="57"/>
                  <a:pt x="39" y="57"/>
                </a:cubicBezTo>
                <a:cubicBezTo>
                  <a:pt x="39" y="57"/>
                  <a:pt x="39" y="57"/>
                  <a:pt x="39" y="57"/>
                </a:cubicBezTo>
                <a:cubicBezTo>
                  <a:pt x="40" y="57"/>
                  <a:pt x="40" y="57"/>
                  <a:pt x="40" y="57"/>
                </a:cubicBezTo>
                <a:cubicBezTo>
                  <a:pt x="40" y="56"/>
                  <a:pt x="40" y="56"/>
                  <a:pt x="40" y="56"/>
                </a:cubicBezTo>
                <a:cubicBezTo>
                  <a:pt x="44" y="56"/>
                  <a:pt x="44" y="56"/>
                  <a:pt x="44" y="56"/>
                </a:cubicBezTo>
                <a:cubicBezTo>
                  <a:pt x="44" y="56"/>
                  <a:pt x="44" y="56"/>
                  <a:pt x="44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5" y="58"/>
                  <a:pt x="45" y="58"/>
                  <a:pt x="45" y="58"/>
                </a:cubicBezTo>
                <a:cubicBezTo>
                  <a:pt x="45" y="58"/>
                  <a:pt x="45" y="58"/>
                  <a:pt x="45" y="58"/>
                </a:cubicBezTo>
                <a:cubicBezTo>
                  <a:pt x="45" y="58"/>
                  <a:pt x="45" y="58"/>
                  <a:pt x="45" y="59"/>
                </a:cubicBezTo>
                <a:close/>
                <a:moveTo>
                  <a:pt x="45" y="56"/>
                </a:moveTo>
                <a:cubicBezTo>
                  <a:pt x="45" y="56"/>
                  <a:pt x="45" y="56"/>
                  <a:pt x="44" y="56"/>
                </a:cubicBezTo>
                <a:cubicBezTo>
                  <a:pt x="44" y="56"/>
                  <a:pt x="44" y="56"/>
                  <a:pt x="44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40" y="56"/>
                  <a:pt x="39" y="56"/>
                  <a:pt x="39" y="56"/>
                </a:cubicBezTo>
                <a:cubicBezTo>
                  <a:pt x="39" y="56"/>
                  <a:pt x="39" y="56"/>
                  <a:pt x="39" y="56"/>
                </a:cubicBezTo>
                <a:cubicBezTo>
                  <a:pt x="40" y="55"/>
                  <a:pt x="40" y="55"/>
                  <a:pt x="40" y="55"/>
                </a:cubicBezTo>
                <a:cubicBezTo>
                  <a:pt x="40" y="54"/>
                  <a:pt x="40" y="54"/>
                  <a:pt x="40" y="54"/>
                </a:cubicBezTo>
                <a:cubicBezTo>
                  <a:pt x="40" y="54"/>
                  <a:pt x="40" y="54"/>
                  <a:pt x="40" y="54"/>
                </a:cubicBezTo>
                <a:cubicBezTo>
                  <a:pt x="40" y="54"/>
                  <a:pt x="40" y="54"/>
                  <a:pt x="40" y="54"/>
                </a:cubicBezTo>
                <a:cubicBezTo>
                  <a:pt x="40" y="54"/>
                  <a:pt x="41" y="54"/>
                  <a:pt x="41" y="54"/>
                </a:cubicBezTo>
                <a:cubicBezTo>
                  <a:pt x="44" y="54"/>
                  <a:pt x="44" y="54"/>
                  <a:pt x="44" y="54"/>
                </a:cubicBezTo>
                <a:cubicBezTo>
                  <a:pt x="44" y="54"/>
                  <a:pt x="45" y="54"/>
                  <a:pt x="45" y="54"/>
                </a:cubicBezTo>
                <a:cubicBezTo>
                  <a:pt x="45" y="54"/>
                  <a:pt x="45" y="54"/>
                  <a:pt x="45" y="54"/>
                </a:cubicBezTo>
                <a:cubicBezTo>
                  <a:pt x="45" y="54"/>
                  <a:pt x="45" y="54"/>
                  <a:pt x="45" y="54"/>
                </a:cubicBezTo>
                <a:cubicBezTo>
                  <a:pt x="45" y="54"/>
                  <a:pt x="45" y="54"/>
                  <a:pt x="45" y="55"/>
                </a:cubicBezTo>
                <a:cubicBezTo>
                  <a:pt x="45" y="56"/>
                  <a:pt x="45" y="56"/>
                  <a:pt x="45" y="56"/>
                </a:cubicBezTo>
                <a:cubicBezTo>
                  <a:pt x="45" y="56"/>
                  <a:pt x="45" y="56"/>
                  <a:pt x="45" y="56"/>
                </a:cubicBezTo>
                <a:cubicBezTo>
                  <a:pt x="45" y="56"/>
                  <a:pt x="45" y="56"/>
                  <a:pt x="45" y="56"/>
                </a:cubicBezTo>
                <a:close/>
                <a:moveTo>
                  <a:pt x="45" y="60"/>
                </a:moveTo>
                <a:cubicBezTo>
                  <a:pt x="45" y="60"/>
                  <a:pt x="45" y="60"/>
                  <a:pt x="46" y="60"/>
                </a:cubicBezTo>
                <a:cubicBezTo>
                  <a:pt x="46" y="59"/>
                  <a:pt x="46" y="59"/>
                  <a:pt x="46" y="59"/>
                </a:cubicBezTo>
                <a:cubicBezTo>
                  <a:pt x="46" y="59"/>
                  <a:pt x="46" y="59"/>
                  <a:pt x="46" y="59"/>
                </a:cubicBezTo>
                <a:cubicBezTo>
                  <a:pt x="46" y="59"/>
                  <a:pt x="46" y="59"/>
                  <a:pt x="47" y="59"/>
                </a:cubicBezTo>
                <a:cubicBezTo>
                  <a:pt x="51" y="59"/>
                  <a:pt x="51" y="59"/>
                  <a:pt x="51" y="59"/>
                </a:cubicBezTo>
                <a:cubicBezTo>
                  <a:pt x="51" y="59"/>
                  <a:pt x="51" y="59"/>
                  <a:pt x="51" y="59"/>
                </a:cubicBezTo>
                <a:cubicBezTo>
                  <a:pt x="51" y="59"/>
                  <a:pt x="51" y="59"/>
                  <a:pt x="51" y="59"/>
                </a:cubicBezTo>
                <a:cubicBezTo>
                  <a:pt x="51" y="59"/>
                  <a:pt x="52" y="59"/>
                  <a:pt x="52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1"/>
                  <a:pt x="51" y="61"/>
                  <a:pt x="51" y="61"/>
                </a:cubicBezTo>
                <a:cubicBezTo>
                  <a:pt x="51" y="61"/>
                  <a:pt x="51" y="62"/>
                  <a:pt x="51" y="62"/>
                </a:cubicBezTo>
                <a:cubicBezTo>
                  <a:pt x="51" y="62"/>
                  <a:pt x="51" y="62"/>
                  <a:pt x="50" y="62"/>
                </a:cubicBezTo>
                <a:cubicBezTo>
                  <a:pt x="46" y="62"/>
                  <a:pt x="46" y="62"/>
                  <a:pt x="46" y="62"/>
                </a:cubicBezTo>
                <a:cubicBezTo>
                  <a:pt x="46" y="62"/>
                  <a:pt x="46" y="62"/>
                  <a:pt x="46" y="62"/>
                </a:cubicBezTo>
                <a:cubicBezTo>
                  <a:pt x="46" y="62"/>
                  <a:pt x="46" y="61"/>
                  <a:pt x="46" y="61"/>
                </a:cubicBezTo>
                <a:cubicBezTo>
                  <a:pt x="45" y="61"/>
                  <a:pt x="45" y="61"/>
                  <a:pt x="45" y="61"/>
                </a:cubicBezTo>
                <a:cubicBezTo>
                  <a:pt x="45" y="61"/>
                  <a:pt x="45" y="61"/>
                  <a:pt x="45" y="61"/>
                </a:cubicBezTo>
                <a:lnTo>
                  <a:pt x="45" y="60"/>
                </a:lnTo>
                <a:close/>
                <a:moveTo>
                  <a:pt x="52" y="58"/>
                </a:moveTo>
                <a:cubicBezTo>
                  <a:pt x="52" y="58"/>
                  <a:pt x="51" y="58"/>
                  <a:pt x="51" y="59"/>
                </a:cubicBezTo>
                <a:cubicBezTo>
                  <a:pt x="51" y="59"/>
                  <a:pt x="51" y="59"/>
                  <a:pt x="51" y="59"/>
                </a:cubicBezTo>
                <a:cubicBezTo>
                  <a:pt x="51" y="59"/>
                  <a:pt x="51" y="59"/>
                  <a:pt x="51" y="59"/>
                </a:cubicBezTo>
                <a:cubicBezTo>
                  <a:pt x="47" y="59"/>
                  <a:pt x="47" y="59"/>
                  <a:pt x="47" y="59"/>
                </a:cubicBezTo>
                <a:cubicBezTo>
                  <a:pt x="46" y="59"/>
                  <a:pt x="46" y="59"/>
                  <a:pt x="46" y="59"/>
                </a:cubicBezTo>
                <a:cubicBezTo>
                  <a:pt x="46" y="59"/>
                  <a:pt x="46" y="59"/>
                  <a:pt x="46" y="59"/>
                </a:cubicBezTo>
                <a:cubicBezTo>
                  <a:pt x="46" y="58"/>
                  <a:pt x="46" y="58"/>
                  <a:pt x="46" y="58"/>
                </a:cubicBezTo>
                <a:cubicBezTo>
                  <a:pt x="46" y="58"/>
                  <a:pt x="46" y="58"/>
                  <a:pt x="46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46" y="57"/>
                  <a:pt x="46" y="57"/>
                  <a:pt x="46" y="57"/>
                </a:cubicBezTo>
                <a:cubicBezTo>
                  <a:pt x="46" y="57"/>
                  <a:pt x="46" y="57"/>
                  <a:pt x="46" y="57"/>
                </a:cubicBezTo>
                <a:cubicBezTo>
                  <a:pt x="46" y="57"/>
                  <a:pt x="46" y="57"/>
                  <a:pt x="46" y="57"/>
                </a:cubicBezTo>
                <a:cubicBezTo>
                  <a:pt x="47" y="56"/>
                  <a:pt x="47" y="56"/>
                  <a:pt x="47" y="56"/>
                </a:cubicBezTo>
                <a:cubicBezTo>
                  <a:pt x="51" y="56"/>
                  <a:pt x="51" y="56"/>
                  <a:pt x="51" y="56"/>
                </a:cubicBezTo>
                <a:cubicBezTo>
                  <a:pt x="51" y="56"/>
                  <a:pt x="51" y="56"/>
                  <a:pt x="51" y="57"/>
                </a:cubicBezTo>
                <a:cubicBezTo>
                  <a:pt x="51" y="57"/>
                  <a:pt x="51" y="57"/>
                  <a:pt x="51" y="57"/>
                </a:cubicBezTo>
                <a:cubicBezTo>
                  <a:pt x="51" y="57"/>
                  <a:pt x="52" y="57"/>
                  <a:pt x="52" y="57"/>
                </a:cubicBezTo>
                <a:cubicBezTo>
                  <a:pt x="52" y="57"/>
                  <a:pt x="52" y="57"/>
                  <a:pt x="52" y="57"/>
                </a:cubicBezTo>
                <a:cubicBezTo>
                  <a:pt x="52" y="58"/>
                  <a:pt x="52" y="58"/>
                  <a:pt x="52" y="58"/>
                </a:cubicBezTo>
                <a:cubicBezTo>
                  <a:pt x="52" y="58"/>
                  <a:pt x="52" y="58"/>
                  <a:pt x="52" y="58"/>
                </a:cubicBezTo>
                <a:close/>
                <a:moveTo>
                  <a:pt x="52" y="56"/>
                </a:moveTo>
                <a:cubicBezTo>
                  <a:pt x="52" y="56"/>
                  <a:pt x="51" y="56"/>
                  <a:pt x="51" y="56"/>
                </a:cubicBezTo>
                <a:cubicBezTo>
                  <a:pt x="51" y="56"/>
                  <a:pt x="51" y="56"/>
                  <a:pt x="51" y="56"/>
                </a:cubicBezTo>
                <a:cubicBezTo>
                  <a:pt x="51" y="56"/>
                  <a:pt x="51" y="56"/>
                  <a:pt x="51" y="56"/>
                </a:cubicBezTo>
                <a:cubicBezTo>
                  <a:pt x="47" y="56"/>
                  <a:pt x="47" y="56"/>
                  <a:pt x="47" y="56"/>
                </a:cubicBezTo>
                <a:cubicBezTo>
                  <a:pt x="47" y="56"/>
                  <a:pt x="47" y="56"/>
                  <a:pt x="46" y="56"/>
                </a:cubicBezTo>
                <a:cubicBezTo>
                  <a:pt x="46" y="56"/>
                  <a:pt x="46" y="56"/>
                  <a:pt x="46" y="56"/>
                </a:cubicBezTo>
                <a:cubicBezTo>
                  <a:pt x="46" y="56"/>
                  <a:pt x="46" y="56"/>
                  <a:pt x="46" y="56"/>
                </a:cubicBezTo>
                <a:cubicBezTo>
                  <a:pt x="46" y="56"/>
                  <a:pt x="46" y="56"/>
                  <a:pt x="46" y="56"/>
                </a:cubicBezTo>
                <a:cubicBezTo>
                  <a:pt x="46" y="55"/>
                  <a:pt x="46" y="55"/>
                  <a:pt x="46" y="55"/>
                </a:cubicBezTo>
                <a:cubicBezTo>
                  <a:pt x="46" y="54"/>
                  <a:pt x="46" y="54"/>
                  <a:pt x="46" y="54"/>
                </a:cubicBezTo>
                <a:cubicBezTo>
                  <a:pt x="46" y="54"/>
                  <a:pt x="46" y="54"/>
                  <a:pt x="46" y="54"/>
                </a:cubicBezTo>
                <a:cubicBezTo>
                  <a:pt x="46" y="54"/>
                  <a:pt x="47" y="54"/>
                  <a:pt x="47" y="54"/>
                </a:cubicBezTo>
                <a:cubicBezTo>
                  <a:pt x="47" y="54"/>
                  <a:pt x="47" y="54"/>
                  <a:pt x="47" y="54"/>
                </a:cubicBezTo>
                <a:cubicBezTo>
                  <a:pt x="51" y="54"/>
                  <a:pt x="51" y="54"/>
                  <a:pt x="51" y="54"/>
                </a:cubicBezTo>
                <a:cubicBezTo>
                  <a:pt x="51" y="54"/>
                  <a:pt x="51" y="54"/>
                  <a:pt x="51" y="54"/>
                </a:cubicBezTo>
                <a:cubicBezTo>
                  <a:pt x="51" y="54"/>
                  <a:pt x="51" y="54"/>
                  <a:pt x="51" y="54"/>
                </a:cubicBezTo>
                <a:cubicBezTo>
                  <a:pt x="52" y="54"/>
                  <a:pt x="52" y="54"/>
                  <a:pt x="52" y="54"/>
                </a:cubicBezTo>
                <a:cubicBezTo>
                  <a:pt x="52" y="54"/>
                  <a:pt x="52" y="54"/>
                  <a:pt x="52" y="55"/>
                </a:cubicBezTo>
                <a:cubicBezTo>
                  <a:pt x="52" y="56"/>
                  <a:pt x="52" y="56"/>
                  <a:pt x="52" y="56"/>
                </a:cubicBezTo>
                <a:cubicBezTo>
                  <a:pt x="52" y="56"/>
                  <a:pt x="52" y="56"/>
                  <a:pt x="52" y="56"/>
                </a:cubicBezTo>
                <a:close/>
                <a:moveTo>
                  <a:pt x="52" y="53"/>
                </a:moveTo>
                <a:cubicBezTo>
                  <a:pt x="52" y="53"/>
                  <a:pt x="52" y="53"/>
                  <a:pt x="51" y="53"/>
                </a:cubicBezTo>
                <a:cubicBezTo>
                  <a:pt x="51" y="54"/>
                  <a:pt x="51" y="54"/>
                  <a:pt x="51" y="54"/>
                </a:cubicBezTo>
                <a:cubicBezTo>
                  <a:pt x="51" y="54"/>
                  <a:pt x="51" y="54"/>
                  <a:pt x="51" y="54"/>
                </a:cubicBezTo>
                <a:cubicBezTo>
                  <a:pt x="47" y="54"/>
                  <a:pt x="47" y="54"/>
                  <a:pt x="47" y="54"/>
                </a:cubicBezTo>
                <a:cubicBezTo>
                  <a:pt x="47" y="54"/>
                  <a:pt x="47" y="54"/>
                  <a:pt x="47" y="54"/>
                </a:cubicBezTo>
                <a:cubicBezTo>
                  <a:pt x="47" y="54"/>
                  <a:pt x="46" y="54"/>
                  <a:pt x="46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6" y="52"/>
                  <a:pt x="46" y="52"/>
                  <a:pt x="46" y="52"/>
                </a:cubicBezTo>
                <a:cubicBezTo>
                  <a:pt x="46" y="52"/>
                  <a:pt x="46" y="52"/>
                  <a:pt x="46" y="52"/>
                </a:cubicBezTo>
                <a:cubicBezTo>
                  <a:pt x="46" y="52"/>
                  <a:pt x="46" y="52"/>
                  <a:pt x="47" y="52"/>
                </a:cubicBezTo>
                <a:cubicBezTo>
                  <a:pt x="47" y="52"/>
                  <a:pt x="47" y="52"/>
                  <a:pt x="47" y="52"/>
                </a:cubicBezTo>
                <a:cubicBezTo>
                  <a:pt x="47" y="52"/>
                  <a:pt x="47" y="52"/>
                  <a:pt x="47" y="52"/>
                </a:cubicBezTo>
                <a:cubicBezTo>
                  <a:pt x="51" y="52"/>
                  <a:pt x="51" y="52"/>
                  <a:pt x="51" y="52"/>
                </a:cubicBezTo>
                <a:cubicBezTo>
                  <a:pt x="51" y="52"/>
                  <a:pt x="51" y="52"/>
                  <a:pt x="51" y="52"/>
                </a:cubicBezTo>
                <a:cubicBezTo>
                  <a:pt x="51" y="52"/>
                  <a:pt x="51" y="52"/>
                  <a:pt x="51" y="52"/>
                </a:cubicBezTo>
                <a:cubicBezTo>
                  <a:pt x="52" y="52"/>
                  <a:pt x="52" y="52"/>
                  <a:pt x="52" y="52"/>
                </a:cubicBezTo>
                <a:cubicBezTo>
                  <a:pt x="52" y="52"/>
                  <a:pt x="52" y="52"/>
                  <a:pt x="52" y="52"/>
                </a:cubicBezTo>
                <a:cubicBezTo>
                  <a:pt x="52" y="53"/>
                  <a:pt x="52" y="53"/>
                  <a:pt x="52" y="53"/>
                </a:cubicBezTo>
                <a:cubicBezTo>
                  <a:pt x="52" y="53"/>
                  <a:pt x="52" y="53"/>
                  <a:pt x="52" y="53"/>
                </a:cubicBezTo>
                <a:close/>
                <a:moveTo>
                  <a:pt x="52" y="51"/>
                </a:moveTo>
                <a:cubicBezTo>
                  <a:pt x="52" y="51"/>
                  <a:pt x="52" y="51"/>
                  <a:pt x="51" y="51"/>
                </a:cubicBezTo>
                <a:cubicBezTo>
                  <a:pt x="51" y="51"/>
                  <a:pt x="51" y="51"/>
                  <a:pt x="51" y="51"/>
                </a:cubicBezTo>
                <a:cubicBezTo>
                  <a:pt x="51" y="51"/>
                  <a:pt x="51" y="51"/>
                  <a:pt x="51" y="51"/>
                </a:cubicBezTo>
                <a:cubicBezTo>
                  <a:pt x="47" y="51"/>
                  <a:pt x="47" y="51"/>
                  <a:pt x="47" y="51"/>
                </a:cubicBezTo>
                <a:cubicBezTo>
                  <a:pt x="47" y="51"/>
                  <a:pt x="47" y="51"/>
                  <a:pt x="47" y="51"/>
                </a:cubicBezTo>
                <a:cubicBezTo>
                  <a:pt x="47" y="51"/>
                  <a:pt x="47" y="51"/>
                  <a:pt x="47" y="51"/>
                </a:cubicBezTo>
                <a:cubicBezTo>
                  <a:pt x="47" y="51"/>
                  <a:pt x="46" y="51"/>
                  <a:pt x="46" y="51"/>
                </a:cubicBezTo>
                <a:cubicBezTo>
                  <a:pt x="46" y="51"/>
                  <a:pt x="46" y="51"/>
                  <a:pt x="46" y="51"/>
                </a:cubicBezTo>
                <a:cubicBezTo>
                  <a:pt x="46" y="50"/>
                  <a:pt x="46" y="50"/>
                  <a:pt x="46" y="50"/>
                </a:cubicBezTo>
                <a:cubicBezTo>
                  <a:pt x="46" y="50"/>
                  <a:pt x="46" y="50"/>
                  <a:pt x="47" y="50"/>
                </a:cubicBezTo>
                <a:cubicBezTo>
                  <a:pt x="47" y="50"/>
                  <a:pt x="47" y="50"/>
                  <a:pt x="47" y="50"/>
                </a:cubicBezTo>
                <a:cubicBezTo>
                  <a:pt x="47" y="50"/>
                  <a:pt x="47" y="50"/>
                  <a:pt x="47" y="50"/>
                </a:cubicBezTo>
                <a:cubicBezTo>
                  <a:pt x="47" y="50"/>
                  <a:pt x="47" y="50"/>
                  <a:pt x="47" y="50"/>
                </a:cubicBezTo>
                <a:cubicBezTo>
                  <a:pt x="51" y="50"/>
                  <a:pt x="51" y="50"/>
                  <a:pt x="51" y="50"/>
                </a:cubicBezTo>
                <a:cubicBezTo>
                  <a:pt x="51" y="50"/>
                  <a:pt x="51" y="50"/>
                  <a:pt x="51" y="50"/>
                </a:cubicBezTo>
                <a:cubicBezTo>
                  <a:pt x="51" y="50"/>
                  <a:pt x="51" y="50"/>
                  <a:pt x="51" y="50"/>
                </a:cubicBezTo>
                <a:cubicBezTo>
                  <a:pt x="52" y="50"/>
                  <a:pt x="52" y="50"/>
                  <a:pt x="52" y="50"/>
                </a:cubicBezTo>
                <a:cubicBezTo>
                  <a:pt x="52" y="50"/>
                  <a:pt x="52" y="50"/>
                  <a:pt x="52" y="50"/>
                </a:cubicBezTo>
                <a:cubicBezTo>
                  <a:pt x="52" y="51"/>
                  <a:pt x="52" y="51"/>
                  <a:pt x="52" y="51"/>
                </a:cubicBezTo>
                <a:cubicBezTo>
                  <a:pt x="52" y="51"/>
                  <a:pt x="52" y="51"/>
                  <a:pt x="52" y="51"/>
                </a:cubicBezTo>
                <a:close/>
                <a:moveTo>
                  <a:pt x="21" y="53"/>
                </a:moveTo>
                <a:cubicBezTo>
                  <a:pt x="22" y="52"/>
                  <a:pt x="22" y="52"/>
                  <a:pt x="22" y="52"/>
                </a:cubicBezTo>
                <a:cubicBezTo>
                  <a:pt x="22" y="52"/>
                  <a:pt x="22" y="52"/>
                  <a:pt x="22" y="52"/>
                </a:cubicBezTo>
                <a:cubicBezTo>
                  <a:pt x="22" y="52"/>
                  <a:pt x="22" y="52"/>
                  <a:pt x="22" y="52"/>
                </a:cubicBezTo>
                <a:cubicBezTo>
                  <a:pt x="22" y="52"/>
                  <a:pt x="22" y="52"/>
                  <a:pt x="23" y="52"/>
                </a:cubicBezTo>
                <a:cubicBezTo>
                  <a:pt x="23" y="52"/>
                  <a:pt x="23" y="52"/>
                  <a:pt x="23" y="52"/>
                </a:cubicBezTo>
                <a:cubicBezTo>
                  <a:pt x="26" y="52"/>
                  <a:pt x="26" y="52"/>
                  <a:pt x="26" y="52"/>
                </a:cubicBezTo>
                <a:cubicBezTo>
                  <a:pt x="27" y="52"/>
                  <a:pt x="27" y="52"/>
                  <a:pt x="27" y="52"/>
                </a:cubicBezTo>
                <a:cubicBezTo>
                  <a:pt x="27" y="52"/>
                  <a:pt x="27" y="52"/>
                  <a:pt x="27" y="52"/>
                </a:cubicBezTo>
                <a:cubicBezTo>
                  <a:pt x="27" y="52"/>
                  <a:pt x="27" y="52"/>
                  <a:pt x="27" y="52"/>
                </a:cubicBezTo>
                <a:cubicBezTo>
                  <a:pt x="27" y="52"/>
                  <a:pt x="27" y="52"/>
                  <a:pt x="27" y="52"/>
                </a:cubicBezTo>
                <a:cubicBezTo>
                  <a:pt x="27" y="53"/>
                  <a:pt x="27" y="53"/>
                  <a:pt x="27" y="53"/>
                </a:cubicBezTo>
                <a:cubicBezTo>
                  <a:pt x="27" y="53"/>
                  <a:pt x="27" y="53"/>
                  <a:pt x="27" y="53"/>
                </a:cubicBezTo>
                <a:cubicBezTo>
                  <a:pt x="27" y="53"/>
                  <a:pt x="26" y="53"/>
                  <a:pt x="26" y="53"/>
                </a:cubicBezTo>
                <a:cubicBezTo>
                  <a:pt x="26" y="54"/>
                  <a:pt x="26" y="54"/>
                  <a:pt x="26" y="54"/>
                </a:cubicBezTo>
                <a:cubicBezTo>
                  <a:pt x="26" y="54"/>
                  <a:pt x="26" y="54"/>
                  <a:pt x="26" y="54"/>
                </a:cubicBezTo>
                <a:cubicBezTo>
                  <a:pt x="22" y="54"/>
                  <a:pt x="22" y="54"/>
                  <a:pt x="22" y="54"/>
                </a:cubicBezTo>
                <a:cubicBezTo>
                  <a:pt x="22" y="54"/>
                  <a:pt x="22" y="54"/>
                  <a:pt x="22" y="54"/>
                </a:cubicBezTo>
                <a:cubicBezTo>
                  <a:pt x="21" y="54"/>
                  <a:pt x="21" y="54"/>
                  <a:pt x="21" y="53"/>
                </a:cubicBezTo>
                <a:cubicBezTo>
                  <a:pt x="21" y="53"/>
                  <a:pt x="21" y="53"/>
                  <a:pt x="21" y="53"/>
                </a:cubicBezTo>
                <a:cubicBezTo>
                  <a:pt x="21" y="53"/>
                  <a:pt x="21" y="53"/>
                  <a:pt x="21" y="53"/>
                </a:cubicBezTo>
                <a:close/>
                <a:moveTo>
                  <a:pt x="20" y="56"/>
                </a:moveTo>
                <a:cubicBezTo>
                  <a:pt x="20" y="55"/>
                  <a:pt x="20" y="55"/>
                  <a:pt x="20" y="55"/>
                </a:cubicBezTo>
                <a:cubicBezTo>
                  <a:pt x="20" y="54"/>
                  <a:pt x="21" y="54"/>
                  <a:pt x="21" y="54"/>
                </a:cubicBezTo>
                <a:cubicBezTo>
                  <a:pt x="21" y="54"/>
                  <a:pt x="21" y="54"/>
                  <a:pt x="21" y="54"/>
                </a:cubicBezTo>
                <a:cubicBezTo>
                  <a:pt x="21" y="54"/>
                  <a:pt x="21" y="54"/>
                  <a:pt x="21" y="54"/>
                </a:cubicBezTo>
                <a:cubicBezTo>
                  <a:pt x="21" y="54"/>
                  <a:pt x="22" y="54"/>
                  <a:pt x="22" y="54"/>
                </a:cubicBezTo>
                <a:cubicBezTo>
                  <a:pt x="25" y="54"/>
                  <a:pt x="25" y="54"/>
                  <a:pt x="25" y="54"/>
                </a:cubicBezTo>
                <a:cubicBezTo>
                  <a:pt x="26" y="54"/>
                  <a:pt x="26" y="54"/>
                  <a:pt x="26" y="54"/>
                </a:cubicBezTo>
                <a:cubicBezTo>
                  <a:pt x="26" y="54"/>
                  <a:pt x="26" y="54"/>
                  <a:pt x="26" y="54"/>
                </a:cubicBezTo>
                <a:cubicBezTo>
                  <a:pt x="26" y="54"/>
                  <a:pt x="26" y="54"/>
                  <a:pt x="26" y="54"/>
                </a:cubicBezTo>
                <a:cubicBezTo>
                  <a:pt x="26" y="54"/>
                  <a:pt x="26" y="54"/>
                  <a:pt x="26" y="55"/>
                </a:cubicBezTo>
                <a:cubicBezTo>
                  <a:pt x="26" y="56"/>
                  <a:pt x="26" y="56"/>
                  <a:pt x="26" y="56"/>
                </a:cubicBezTo>
                <a:cubicBezTo>
                  <a:pt x="26" y="56"/>
                  <a:pt x="26" y="56"/>
                  <a:pt x="26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6"/>
                  <a:pt x="24" y="56"/>
                </a:cubicBezTo>
                <a:cubicBezTo>
                  <a:pt x="21" y="56"/>
                  <a:pt x="21" y="56"/>
                  <a:pt x="21" y="56"/>
                </a:cubicBezTo>
                <a:cubicBezTo>
                  <a:pt x="20" y="56"/>
                  <a:pt x="20" y="56"/>
                  <a:pt x="20" y="56"/>
                </a:cubicBezTo>
                <a:cubicBezTo>
                  <a:pt x="20" y="56"/>
                  <a:pt x="20" y="56"/>
                  <a:pt x="20" y="56"/>
                </a:cubicBezTo>
                <a:cubicBezTo>
                  <a:pt x="20" y="56"/>
                  <a:pt x="20" y="56"/>
                  <a:pt x="20" y="56"/>
                </a:cubicBezTo>
                <a:cubicBezTo>
                  <a:pt x="20" y="56"/>
                  <a:pt x="20" y="56"/>
                  <a:pt x="20" y="56"/>
                </a:cubicBezTo>
                <a:close/>
                <a:moveTo>
                  <a:pt x="18" y="58"/>
                </a:moveTo>
                <a:cubicBezTo>
                  <a:pt x="19" y="57"/>
                  <a:pt x="19" y="57"/>
                  <a:pt x="19" y="57"/>
                </a:cubicBezTo>
                <a:cubicBezTo>
                  <a:pt x="19" y="57"/>
                  <a:pt x="19" y="57"/>
                  <a:pt x="19" y="57"/>
                </a:cubicBezTo>
                <a:cubicBezTo>
                  <a:pt x="19" y="57"/>
                  <a:pt x="19" y="57"/>
                  <a:pt x="20" y="57"/>
                </a:cubicBezTo>
                <a:cubicBezTo>
                  <a:pt x="20" y="57"/>
                  <a:pt x="20" y="57"/>
                  <a:pt x="20" y="57"/>
                </a:cubicBezTo>
                <a:cubicBezTo>
                  <a:pt x="20" y="56"/>
                  <a:pt x="20" y="56"/>
                  <a:pt x="20" y="56"/>
                </a:cubicBezTo>
                <a:cubicBezTo>
                  <a:pt x="24" y="56"/>
                  <a:pt x="24" y="56"/>
                  <a:pt x="24" y="56"/>
                </a:cubicBezTo>
                <a:cubicBezTo>
                  <a:pt x="24" y="56"/>
                  <a:pt x="24" y="56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8"/>
                  <a:pt x="25" y="58"/>
                  <a:pt x="25" y="58"/>
                </a:cubicBezTo>
                <a:cubicBezTo>
                  <a:pt x="24" y="58"/>
                  <a:pt x="24" y="58"/>
                  <a:pt x="24" y="58"/>
                </a:cubicBezTo>
                <a:cubicBezTo>
                  <a:pt x="24" y="58"/>
                  <a:pt x="24" y="58"/>
                  <a:pt x="24" y="59"/>
                </a:cubicBezTo>
                <a:cubicBezTo>
                  <a:pt x="24" y="59"/>
                  <a:pt x="24" y="59"/>
                  <a:pt x="24" y="59"/>
                </a:cubicBezTo>
                <a:cubicBezTo>
                  <a:pt x="23" y="59"/>
                  <a:pt x="23" y="59"/>
                  <a:pt x="23" y="59"/>
                </a:cubicBezTo>
                <a:cubicBezTo>
                  <a:pt x="19" y="59"/>
                  <a:pt x="19" y="59"/>
                  <a:pt x="19" y="59"/>
                </a:cubicBezTo>
                <a:cubicBezTo>
                  <a:pt x="19" y="59"/>
                  <a:pt x="19" y="59"/>
                  <a:pt x="19" y="59"/>
                </a:cubicBezTo>
                <a:cubicBezTo>
                  <a:pt x="19" y="59"/>
                  <a:pt x="19" y="59"/>
                  <a:pt x="18" y="59"/>
                </a:cubicBezTo>
                <a:cubicBezTo>
                  <a:pt x="18" y="58"/>
                  <a:pt x="18" y="58"/>
                  <a:pt x="18" y="58"/>
                </a:cubicBezTo>
                <a:cubicBezTo>
                  <a:pt x="18" y="58"/>
                  <a:pt x="18" y="58"/>
                  <a:pt x="18" y="58"/>
                </a:cubicBezTo>
                <a:close/>
                <a:moveTo>
                  <a:pt x="17" y="61"/>
                </a:moveTo>
                <a:cubicBezTo>
                  <a:pt x="17" y="60"/>
                  <a:pt x="17" y="60"/>
                  <a:pt x="17" y="60"/>
                </a:cubicBezTo>
                <a:cubicBezTo>
                  <a:pt x="18" y="60"/>
                  <a:pt x="18" y="60"/>
                  <a:pt x="18" y="60"/>
                </a:cubicBezTo>
                <a:cubicBezTo>
                  <a:pt x="18" y="59"/>
                  <a:pt x="18" y="59"/>
                  <a:pt x="18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9" y="59"/>
                  <a:pt x="19" y="59"/>
                  <a:pt x="19" y="59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59"/>
                  <a:pt x="24" y="59"/>
                  <a:pt x="24" y="59"/>
                </a:cubicBezTo>
                <a:cubicBezTo>
                  <a:pt x="24" y="59"/>
                  <a:pt x="24" y="59"/>
                  <a:pt x="24" y="60"/>
                </a:cubicBezTo>
                <a:cubicBezTo>
                  <a:pt x="24" y="60"/>
                  <a:pt x="24" y="60"/>
                  <a:pt x="24" y="60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1"/>
                  <a:pt x="23" y="61"/>
                  <a:pt x="23" y="61"/>
                </a:cubicBezTo>
                <a:cubicBezTo>
                  <a:pt x="22" y="61"/>
                  <a:pt x="22" y="62"/>
                  <a:pt x="22" y="62"/>
                </a:cubicBezTo>
                <a:cubicBezTo>
                  <a:pt x="22" y="62"/>
                  <a:pt x="22" y="62"/>
                  <a:pt x="22" y="62"/>
                </a:cubicBezTo>
                <a:cubicBezTo>
                  <a:pt x="18" y="62"/>
                  <a:pt x="18" y="62"/>
                  <a:pt x="18" y="62"/>
                </a:cubicBezTo>
                <a:cubicBezTo>
                  <a:pt x="17" y="62"/>
                  <a:pt x="17" y="62"/>
                  <a:pt x="17" y="62"/>
                </a:cubicBezTo>
                <a:cubicBezTo>
                  <a:pt x="17" y="62"/>
                  <a:pt x="17" y="61"/>
                  <a:pt x="17" y="61"/>
                </a:cubicBezTo>
                <a:cubicBezTo>
                  <a:pt x="17" y="61"/>
                  <a:pt x="17" y="61"/>
                  <a:pt x="17" y="61"/>
                </a:cubicBezTo>
                <a:cubicBezTo>
                  <a:pt x="17" y="61"/>
                  <a:pt x="17" y="61"/>
                  <a:pt x="17" y="61"/>
                </a:cubicBezTo>
                <a:close/>
                <a:moveTo>
                  <a:pt x="22" y="63"/>
                </a:moveTo>
                <a:cubicBezTo>
                  <a:pt x="22" y="64"/>
                  <a:pt x="22" y="64"/>
                  <a:pt x="22" y="64"/>
                </a:cubicBezTo>
                <a:cubicBezTo>
                  <a:pt x="22" y="64"/>
                  <a:pt x="22" y="64"/>
                  <a:pt x="21" y="64"/>
                </a:cubicBezTo>
                <a:cubicBezTo>
                  <a:pt x="21" y="64"/>
                  <a:pt x="21" y="65"/>
                  <a:pt x="21" y="65"/>
                </a:cubicBezTo>
                <a:cubicBezTo>
                  <a:pt x="21" y="65"/>
                  <a:pt x="21" y="65"/>
                  <a:pt x="21" y="65"/>
                </a:cubicBezTo>
                <a:cubicBezTo>
                  <a:pt x="21" y="65"/>
                  <a:pt x="20" y="65"/>
                  <a:pt x="20" y="65"/>
                </a:cubicBezTo>
                <a:cubicBezTo>
                  <a:pt x="16" y="65"/>
                  <a:pt x="16" y="65"/>
                  <a:pt x="16" y="65"/>
                </a:cubicBezTo>
                <a:cubicBezTo>
                  <a:pt x="16" y="65"/>
                  <a:pt x="16" y="65"/>
                  <a:pt x="15" y="65"/>
                </a:cubicBezTo>
                <a:cubicBezTo>
                  <a:pt x="15" y="65"/>
                  <a:pt x="15" y="65"/>
                  <a:pt x="15" y="65"/>
                </a:cubicBezTo>
                <a:cubicBezTo>
                  <a:pt x="15" y="65"/>
                  <a:pt x="15" y="64"/>
                  <a:pt x="15" y="64"/>
                </a:cubicBezTo>
                <a:cubicBezTo>
                  <a:pt x="15" y="64"/>
                  <a:pt x="15" y="64"/>
                  <a:pt x="15" y="64"/>
                </a:cubicBezTo>
                <a:cubicBezTo>
                  <a:pt x="16" y="63"/>
                  <a:pt x="16" y="63"/>
                  <a:pt x="16" y="63"/>
                </a:cubicBezTo>
                <a:cubicBezTo>
                  <a:pt x="16" y="63"/>
                  <a:pt x="16" y="63"/>
                  <a:pt x="16" y="63"/>
                </a:cubicBezTo>
                <a:cubicBezTo>
                  <a:pt x="16" y="62"/>
                  <a:pt x="16" y="62"/>
                  <a:pt x="16" y="62"/>
                </a:cubicBezTo>
                <a:cubicBezTo>
                  <a:pt x="17" y="62"/>
                  <a:pt x="17" y="62"/>
                  <a:pt x="17" y="62"/>
                </a:cubicBezTo>
                <a:cubicBezTo>
                  <a:pt x="17" y="62"/>
                  <a:pt x="17" y="62"/>
                  <a:pt x="17" y="62"/>
                </a:cubicBezTo>
                <a:cubicBezTo>
                  <a:pt x="21" y="62"/>
                  <a:pt x="21" y="62"/>
                  <a:pt x="21" y="62"/>
                </a:cubicBezTo>
                <a:cubicBezTo>
                  <a:pt x="22" y="62"/>
                  <a:pt x="22" y="62"/>
                  <a:pt x="22" y="62"/>
                </a:cubicBezTo>
                <a:cubicBezTo>
                  <a:pt x="22" y="62"/>
                  <a:pt x="22" y="62"/>
                  <a:pt x="22" y="62"/>
                </a:cubicBezTo>
                <a:cubicBezTo>
                  <a:pt x="22" y="62"/>
                  <a:pt x="22" y="62"/>
                  <a:pt x="22" y="63"/>
                </a:cubicBezTo>
                <a:cubicBezTo>
                  <a:pt x="22" y="63"/>
                  <a:pt x="22" y="63"/>
                  <a:pt x="22" y="63"/>
                </a:cubicBezTo>
                <a:close/>
                <a:moveTo>
                  <a:pt x="29" y="64"/>
                </a:move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5"/>
                  <a:pt x="29" y="65"/>
                </a:cubicBezTo>
                <a:cubicBezTo>
                  <a:pt x="29" y="65"/>
                  <a:pt x="28" y="65"/>
                  <a:pt x="28" y="65"/>
                </a:cubicBezTo>
                <a:cubicBezTo>
                  <a:pt x="28" y="65"/>
                  <a:pt x="28" y="65"/>
                  <a:pt x="28" y="65"/>
                </a:cubicBezTo>
                <a:cubicBezTo>
                  <a:pt x="23" y="65"/>
                  <a:pt x="23" y="65"/>
                  <a:pt x="23" y="65"/>
                </a:cubicBezTo>
                <a:cubicBezTo>
                  <a:pt x="23" y="65"/>
                  <a:pt x="23" y="65"/>
                  <a:pt x="23" y="65"/>
                </a:cubicBezTo>
                <a:cubicBezTo>
                  <a:pt x="23" y="65"/>
                  <a:pt x="23" y="65"/>
                  <a:pt x="23" y="65"/>
                </a:cubicBezTo>
                <a:cubicBezTo>
                  <a:pt x="23" y="65"/>
                  <a:pt x="22" y="64"/>
                  <a:pt x="22" y="64"/>
                </a:cubicBezTo>
                <a:cubicBezTo>
                  <a:pt x="22" y="64"/>
                  <a:pt x="22" y="64"/>
                  <a:pt x="22" y="64"/>
                </a:cubicBezTo>
                <a:cubicBezTo>
                  <a:pt x="23" y="63"/>
                  <a:pt x="23" y="63"/>
                  <a:pt x="23" y="63"/>
                </a:cubicBezTo>
                <a:cubicBezTo>
                  <a:pt x="23" y="63"/>
                  <a:pt x="23" y="63"/>
                  <a:pt x="23" y="63"/>
                </a:cubicBezTo>
                <a:cubicBezTo>
                  <a:pt x="23" y="62"/>
                  <a:pt x="24" y="62"/>
                  <a:pt x="24" y="62"/>
                </a:cubicBezTo>
                <a:cubicBezTo>
                  <a:pt x="24" y="62"/>
                  <a:pt x="24" y="62"/>
                  <a:pt x="24" y="62"/>
                </a:cubicBezTo>
                <a:cubicBezTo>
                  <a:pt x="24" y="62"/>
                  <a:pt x="24" y="62"/>
                  <a:pt x="25" y="62"/>
                </a:cubicBezTo>
                <a:cubicBezTo>
                  <a:pt x="29" y="62"/>
                  <a:pt x="29" y="62"/>
                  <a:pt x="29" y="62"/>
                </a:cubicBezTo>
                <a:cubicBezTo>
                  <a:pt x="29" y="62"/>
                  <a:pt x="29" y="62"/>
                  <a:pt x="29" y="62"/>
                </a:cubicBezTo>
                <a:cubicBezTo>
                  <a:pt x="29" y="62"/>
                  <a:pt x="29" y="62"/>
                  <a:pt x="29" y="62"/>
                </a:cubicBezTo>
                <a:cubicBezTo>
                  <a:pt x="30" y="62"/>
                  <a:pt x="30" y="62"/>
                  <a:pt x="30" y="63"/>
                </a:cubicBezTo>
                <a:cubicBezTo>
                  <a:pt x="30" y="63"/>
                  <a:pt x="30" y="63"/>
                  <a:pt x="30" y="63"/>
                </a:cubicBezTo>
                <a:lnTo>
                  <a:pt x="29" y="64"/>
                </a:lnTo>
                <a:close/>
                <a:moveTo>
                  <a:pt x="29" y="62"/>
                </a:moveTo>
                <a:cubicBezTo>
                  <a:pt x="29" y="62"/>
                  <a:pt x="29" y="62"/>
                  <a:pt x="29" y="62"/>
                </a:cubicBezTo>
                <a:cubicBezTo>
                  <a:pt x="25" y="62"/>
                  <a:pt x="25" y="62"/>
                  <a:pt x="25" y="62"/>
                </a:cubicBezTo>
                <a:cubicBezTo>
                  <a:pt x="25" y="62"/>
                  <a:pt x="24" y="62"/>
                  <a:pt x="24" y="62"/>
                </a:cubicBezTo>
                <a:cubicBezTo>
                  <a:pt x="24" y="62"/>
                  <a:pt x="24" y="61"/>
                  <a:pt x="24" y="61"/>
                </a:cubicBezTo>
                <a:cubicBezTo>
                  <a:pt x="24" y="61"/>
                  <a:pt x="24" y="61"/>
                  <a:pt x="24" y="61"/>
                </a:cubicBezTo>
                <a:cubicBezTo>
                  <a:pt x="24" y="61"/>
                  <a:pt x="24" y="61"/>
                  <a:pt x="24" y="61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0"/>
                  <a:pt x="25" y="60"/>
                  <a:pt x="25" y="60"/>
                </a:cubicBezTo>
                <a:cubicBezTo>
                  <a:pt x="25" y="59"/>
                  <a:pt x="25" y="59"/>
                  <a:pt x="25" y="59"/>
                </a:cubicBezTo>
                <a:cubicBezTo>
                  <a:pt x="25" y="59"/>
                  <a:pt x="25" y="59"/>
                  <a:pt x="25" y="59"/>
                </a:cubicBezTo>
                <a:cubicBezTo>
                  <a:pt x="26" y="59"/>
                  <a:pt x="26" y="59"/>
                  <a:pt x="26" y="59"/>
                </a:cubicBezTo>
                <a:cubicBezTo>
                  <a:pt x="30" y="59"/>
                  <a:pt x="30" y="59"/>
                  <a:pt x="30" y="59"/>
                </a:cubicBezTo>
                <a:cubicBezTo>
                  <a:pt x="30" y="59"/>
                  <a:pt x="30" y="59"/>
                  <a:pt x="30" y="59"/>
                </a:cubicBezTo>
                <a:cubicBezTo>
                  <a:pt x="30" y="59"/>
                  <a:pt x="30" y="59"/>
                  <a:pt x="31" y="59"/>
                </a:cubicBezTo>
                <a:cubicBezTo>
                  <a:pt x="31" y="59"/>
                  <a:pt x="31" y="59"/>
                  <a:pt x="31" y="60"/>
                </a:cubicBezTo>
                <a:cubicBezTo>
                  <a:pt x="31" y="60"/>
                  <a:pt x="31" y="60"/>
                  <a:pt x="31" y="60"/>
                </a:cubicBezTo>
                <a:cubicBezTo>
                  <a:pt x="30" y="61"/>
                  <a:pt x="30" y="61"/>
                  <a:pt x="30" y="61"/>
                </a:cubicBezTo>
                <a:cubicBezTo>
                  <a:pt x="30" y="61"/>
                  <a:pt x="30" y="61"/>
                  <a:pt x="30" y="61"/>
                </a:cubicBezTo>
                <a:cubicBezTo>
                  <a:pt x="30" y="61"/>
                  <a:pt x="30" y="61"/>
                  <a:pt x="30" y="61"/>
                </a:cubicBezTo>
                <a:cubicBezTo>
                  <a:pt x="30" y="61"/>
                  <a:pt x="30" y="62"/>
                  <a:pt x="29" y="62"/>
                </a:cubicBezTo>
                <a:close/>
                <a:moveTo>
                  <a:pt x="52" y="77"/>
                </a:moveTo>
                <a:cubicBezTo>
                  <a:pt x="51" y="77"/>
                  <a:pt x="51" y="78"/>
                  <a:pt x="51" y="78"/>
                </a:cubicBezTo>
                <a:cubicBezTo>
                  <a:pt x="51" y="78"/>
                  <a:pt x="51" y="78"/>
                  <a:pt x="51" y="78"/>
                </a:cubicBezTo>
                <a:cubicBezTo>
                  <a:pt x="51" y="78"/>
                  <a:pt x="51" y="78"/>
                  <a:pt x="51" y="78"/>
                </a:cubicBezTo>
                <a:cubicBezTo>
                  <a:pt x="44" y="78"/>
                  <a:pt x="44" y="78"/>
                  <a:pt x="44" y="78"/>
                </a:cubicBezTo>
                <a:cubicBezTo>
                  <a:pt x="44" y="78"/>
                  <a:pt x="43" y="78"/>
                  <a:pt x="43" y="78"/>
                </a:cubicBezTo>
                <a:cubicBezTo>
                  <a:pt x="43" y="78"/>
                  <a:pt x="43" y="78"/>
                  <a:pt x="43" y="78"/>
                </a:cubicBezTo>
                <a:cubicBezTo>
                  <a:pt x="43" y="78"/>
                  <a:pt x="43" y="77"/>
                  <a:pt x="43" y="77"/>
                </a:cubicBezTo>
                <a:cubicBezTo>
                  <a:pt x="43" y="77"/>
                  <a:pt x="43" y="77"/>
                  <a:pt x="43" y="77"/>
                </a:cubicBezTo>
                <a:cubicBezTo>
                  <a:pt x="43" y="77"/>
                  <a:pt x="43" y="77"/>
                  <a:pt x="43" y="77"/>
                </a:cubicBezTo>
                <a:cubicBezTo>
                  <a:pt x="43" y="77"/>
                  <a:pt x="43" y="77"/>
                  <a:pt x="43" y="77"/>
                </a:cubicBezTo>
                <a:cubicBezTo>
                  <a:pt x="43" y="77"/>
                  <a:pt x="43" y="77"/>
                  <a:pt x="44" y="77"/>
                </a:cubicBezTo>
                <a:cubicBezTo>
                  <a:pt x="44" y="77"/>
                  <a:pt x="44" y="77"/>
                  <a:pt x="44" y="77"/>
                </a:cubicBezTo>
                <a:cubicBezTo>
                  <a:pt x="51" y="77"/>
                  <a:pt x="51" y="77"/>
                  <a:pt x="51" y="77"/>
                </a:cubicBezTo>
                <a:cubicBezTo>
                  <a:pt x="51" y="77"/>
                  <a:pt x="51" y="77"/>
                  <a:pt x="51" y="77"/>
                </a:cubicBezTo>
                <a:cubicBezTo>
                  <a:pt x="51" y="77"/>
                  <a:pt x="51" y="77"/>
                  <a:pt x="51" y="77"/>
                </a:cubicBezTo>
                <a:cubicBezTo>
                  <a:pt x="51" y="77"/>
                  <a:pt x="51" y="77"/>
                  <a:pt x="52" y="77"/>
                </a:cubicBezTo>
                <a:cubicBezTo>
                  <a:pt x="52" y="77"/>
                  <a:pt x="52" y="77"/>
                  <a:pt x="52" y="77"/>
                </a:cubicBezTo>
                <a:cubicBezTo>
                  <a:pt x="52" y="77"/>
                  <a:pt x="52" y="77"/>
                  <a:pt x="52" y="77"/>
                </a:cubicBezTo>
                <a:close/>
                <a:moveTo>
                  <a:pt x="61" y="77"/>
                </a:moveTo>
                <a:cubicBezTo>
                  <a:pt x="61" y="77"/>
                  <a:pt x="61" y="78"/>
                  <a:pt x="61" y="78"/>
                </a:cubicBezTo>
                <a:cubicBezTo>
                  <a:pt x="61" y="78"/>
                  <a:pt x="61" y="78"/>
                  <a:pt x="61" y="78"/>
                </a:cubicBezTo>
                <a:cubicBezTo>
                  <a:pt x="61" y="78"/>
                  <a:pt x="61" y="78"/>
                  <a:pt x="61" y="78"/>
                </a:cubicBezTo>
                <a:cubicBezTo>
                  <a:pt x="54" y="78"/>
                  <a:pt x="54" y="78"/>
                  <a:pt x="54" y="78"/>
                </a:cubicBezTo>
                <a:cubicBezTo>
                  <a:pt x="54" y="78"/>
                  <a:pt x="53" y="78"/>
                  <a:pt x="53" y="78"/>
                </a:cubicBezTo>
                <a:cubicBezTo>
                  <a:pt x="53" y="78"/>
                  <a:pt x="53" y="78"/>
                  <a:pt x="53" y="78"/>
                </a:cubicBezTo>
                <a:cubicBezTo>
                  <a:pt x="53" y="78"/>
                  <a:pt x="53" y="77"/>
                  <a:pt x="53" y="77"/>
                </a:cubicBezTo>
                <a:cubicBezTo>
                  <a:pt x="53" y="77"/>
                  <a:pt x="53" y="77"/>
                  <a:pt x="53" y="77"/>
                </a:cubicBezTo>
                <a:cubicBezTo>
                  <a:pt x="53" y="77"/>
                  <a:pt x="53" y="77"/>
                  <a:pt x="53" y="77"/>
                </a:cubicBezTo>
                <a:cubicBezTo>
                  <a:pt x="53" y="77"/>
                  <a:pt x="53" y="77"/>
                  <a:pt x="53" y="77"/>
                </a:cubicBezTo>
                <a:cubicBezTo>
                  <a:pt x="53" y="77"/>
                  <a:pt x="53" y="77"/>
                  <a:pt x="53" y="77"/>
                </a:cubicBezTo>
                <a:cubicBezTo>
                  <a:pt x="53" y="77"/>
                  <a:pt x="54" y="77"/>
                  <a:pt x="54" y="77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77"/>
                  <a:pt x="61" y="77"/>
                  <a:pt x="61" y="77"/>
                </a:cubicBezTo>
                <a:close/>
                <a:moveTo>
                  <a:pt x="63" y="75"/>
                </a:moveTo>
                <a:cubicBezTo>
                  <a:pt x="63" y="75"/>
                  <a:pt x="62" y="75"/>
                  <a:pt x="62" y="75"/>
                </a:cubicBezTo>
                <a:cubicBezTo>
                  <a:pt x="62" y="76"/>
                  <a:pt x="62" y="76"/>
                  <a:pt x="62" y="76"/>
                </a:cubicBezTo>
                <a:cubicBezTo>
                  <a:pt x="61" y="76"/>
                  <a:pt x="61" y="76"/>
                  <a:pt x="61" y="76"/>
                </a:cubicBezTo>
                <a:cubicBezTo>
                  <a:pt x="43" y="76"/>
                  <a:pt x="43" y="76"/>
                  <a:pt x="43" y="76"/>
                </a:cubicBezTo>
                <a:cubicBezTo>
                  <a:pt x="43" y="76"/>
                  <a:pt x="43" y="76"/>
                  <a:pt x="42" y="76"/>
                </a:cubicBezTo>
                <a:cubicBezTo>
                  <a:pt x="42" y="76"/>
                  <a:pt x="42" y="76"/>
                  <a:pt x="42" y="75"/>
                </a:cubicBezTo>
                <a:cubicBezTo>
                  <a:pt x="42" y="75"/>
                  <a:pt x="41" y="75"/>
                  <a:pt x="41" y="75"/>
                </a:cubicBezTo>
                <a:cubicBezTo>
                  <a:pt x="41" y="75"/>
                  <a:pt x="41" y="75"/>
                  <a:pt x="41" y="74"/>
                </a:cubicBezTo>
                <a:cubicBezTo>
                  <a:pt x="42" y="68"/>
                  <a:pt x="42" y="68"/>
                  <a:pt x="42" y="68"/>
                </a:cubicBezTo>
                <a:cubicBezTo>
                  <a:pt x="42" y="68"/>
                  <a:pt x="42" y="68"/>
                  <a:pt x="42" y="68"/>
                </a:cubicBezTo>
                <a:cubicBezTo>
                  <a:pt x="43" y="68"/>
                  <a:pt x="43" y="67"/>
                  <a:pt x="43" y="67"/>
                </a:cubicBezTo>
                <a:cubicBezTo>
                  <a:pt x="43" y="67"/>
                  <a:pt x="43" y="67"/>
                  <a:pt x="44" y="67"/>
                </a:cubicBezTo>
                <a:cubicBezTo>
                  <a:pt x="44" y="67"/>
                  <a:pt x="44" y="67"/>
                  <a:pt x="44" y="67"/>
                </a:cubicBezTo>
                <a:cubicBezTo>
                  <a:pt x="60" y="67"/>
                  <a:pt x="60" y="67"/>
                  <a:pt x="60" y="67"/>
                </a:cubicBezTo>
                <a:cubicBezTo>
                  <a:pt x="60" y="67"/>
                  <a:pt x="60" y="67"/>
                  <a:pt x="61" y="67"/>
                </a:cubicBezTo>
                <a:cubicBezTo>
                  <a:pt x="61" y="67"/>
                  <a:pt x="61" y="67"/>
                  <a:pt x="61" y="67"/>
                </a:cubicBezTo>
                <a:cubicBezTo>
                  <a:pt x="61" y="67"/>
                  <a:pt x="62" y="68"/>
                  <a:pt x="62" y="68"/>
                </a:cubicBezTo>
                <a:cubicBezTo>
                  <a:pt x="62" y="68"/>
                  <a:pt x="62" y="68"/>
                  <a:pt x="62" y="68"/>
                </a:cubicBezTo>
                <a:cubicBezTo>
                  <a:pt x="63" y="74"/>
                  <a:pt x="63" y="74"/>
                  <a:pt x="63" y="74"/>
                </a:cubicBezTo>
                <a:cubicBezTo>
                  <a:pt x="63" y="75"/>
                  <a:pt x="63" y="75"/>
                  <a:pt x="63" y="75"/>
                </a:cubicBezTo>
                <a:close/>
                <a:moveTo>
                  <a:pt x="74" y="64"/>
                </a:moveTo>
                <a:cubicBezTo>
                  <a:pt x="74" y="64"/>
                  <a:pt x="74" y="65"/>
                  <a:pt x="74" y="65"/>
                </a:cubicBezTo>
                <a:cubicBezTo>
                  <a:pt x="74" y="65"/>
                  <a:pt x="74" y="65"/>
                  <a:pt x="74" y="65"/>
                </a:cubicBezTo>
                <a:cubicBezTo>
                  <a:pt x="73" y="65"/>
                  <a:pt x="73" y="65"/>
                  <a:pt x="73" y="65"/>
                </a:cubicBezTo>
                <a:cubicBezTo>
                  <a:pt x="31" y="65"/>
                  <a:pt x="31" y="65"/>
                  <a:pt x="31" y="65"/>
                </a:cubicBezTo>
                <a:cubicBezTo>
                  <a:pt x="31" y="65"/>
                  <a:pt x="31" y="65"/>
                  <a:pt x="30" y="65"/>
                </a:cubicBezTo>
                <a:cubicBezTo>
                  <a:pt x="30" y="65"/>
                  <a:pt x="30" y="65"/>
                  <a:pt x="30" y="65"/>
                </a:cubicBezTo>
                <a:cubicBezTo>
                  <a:pt x="30" y="65"/>
                  <a:pt x="30" y="64"/>
                  <a:pt x="30" y="64"/>
                </a:cubicBezTo>
                <a:cubicBezTo>
                  <a:pt x="30" y="64"/>
                  <a:pt x="30" y="64"/>
                  <a:pt x="30" y="64"/>
                </a:cubicBezTo>
                <a:cubicBezTo>
                  <a:pt x="30" y="63"/>
                  <a:pt x="30" y="63"/>
                  <a:pt x="30" y="63"/>
                </a:cubicBezTo>
                <a:cubicBezTo>
                  <a:pt x="30" y="63"/>
                  <a:pt x="31" y="63"/>
                  <a:pt x="31" y="63"/>
                </a:cubicBezTo>
                <a:cubicBezTo>
                  <a:pt x="31" y="62"/>
                  <a:pt x="31" y="62"/>
                  <a:pt x="31" y="62"/>
                </a:cubicBezTo>
                <a:cubicBezTo>
                  <a:pt x="31" y="62"/>
                  <a:pt x="31" y="62"/>
                  <a:pt x="31" y="62"/>
                </a:cubicBezTo>
                <a:cubicBezTo>
                  <a:pt x="31" y="62"/>
                  <a:pt x="32" y="62"/>
                  <a:pt x="32" y="62"/>
                </a:cubicBezTo>
                <a:cubicBezTo>
                  <a:pt x="72" y="62"/>
                  <a:pt x="72" y="62"/>
                  <a:pt x="72" y="62"/>
                </a:cubicBezTo>
                <a:cubicBezTo>
                  <a:pt x="72" y="62"/>
                  <a:pt x="73" y="62"/>
                  <a:pt x="73" y="62"/>
                </a:cubicBezTo>
                <a:cubicBezTo>
                  <a:pt x="73" y="62"/>
                  <a:pt x="73" y="62"/>
                  <a:pt x="73" y="62"/>
                </a:cubicBezTo>
                <a:cubicBezTo>
                  <a:pt x="73" y="62"/>
                  <a:pt x="73" y="62"/>
                  <a:pt x="73" y="63"/>
                </a:cubicBezTo>
                <a:cubicBezTo>
                  <a:pt x="74" y="63"/>
                  <a:pt x="74" y="63"/>
                  <a:pt x="74" y="63"/>
                </a:cubicBezTo>
                <a:cubicBezTo>
                  <a:pt x="74" y="64"/>
                  <a:pt x="74" y="64"/>
                  <a:pt x="74" y="64"/>
                </a:cubicBezTo>
                <a:cubicBezTo>
                  <a:pt x="74" y="64"/>
                  <a:pt x="74" y="64"/>
                  <a:pt x="74" y="64"/>
                </a:cubicBezTo>
                <a:close/>
                <a:moveTo>
                  <a:pt x="74" y="61"/>
                </a:moveTo>
                <a:cubicBezTo>
                  <a:pt x="74" y="61"/>
                  <a:pt x="74" y="61"/>
                  <a:pt x="74" y="61"/>
                </a:cubicBezTo>
                <a:cubicBezTo>
                  <a:pt x="73" y="60"/>
                  <a:pt x="73" y="60"/>
                  <a:pt x="73" y="60"/>
                </a:cubicBezTo>
                <a:cubicBezTo>
                  <a:pt x="73" y="60"/>
                  <a:pt x="73" y="60"/>
                  <a:pt x="73" y="60"/>
                </a:cubicBezTo>
                <a:cubicBezTo>
                  <a:pt x="73" y="59"/>
                  <a:pt x="73" y="59"/>
                  <a:pt x="74" y="59"/>
                </a:cubicBezTo>
                <a:cubicBezTo>
                  <a:pt x="74" y="59"/>
                  <a:pt x="74" y="59"/>
                  <a:pt x="74" y="59"/>
                </a:cubicBezTo>
                <a:cubicBezTo>
                  <a:pt x="74" y="59"/>
                  <a:pt x="74" y="59"/>
                  <a:pt x="74" y="59"/>
                </a:cubicBezTo>
                <a:cubicBezTo>
                  <a:pt x="78" y="59"/>
                  <a:pt x="78" y="59"/>
                  <a:pt x="78" y="59"/>
                </a:cubicBezTo>
                <a:cubicBezTo>
                  <a:pt x="78" y="59"/>
                  <a:pt x="79" y="59"/>
                  <a:pt x="79" y="59"/>
                </a:cubicBezTo>
                <a:cubicBezTo>
                  <a:pt x="79" y="59"/>
                  <a:pt x="79" y="59"/>
                  <a:pt x="79" y="59"/>
                </a:cubicBezTo>
                <a:cubicBezTo>
                  <a:pt x="79" y="59"/>
                  <a:pt x="79" y="59"/>
                  <a:pt x="79" y="60"/>
                </a:cubicBezTo>
                <a:cubicBezTo>
                  <a:pt x="80" y="60"/>
                  <a:pt x="80" y="60"/>
                  <a:pt x="80" y="60"/>
                </a:cubicBezTo>
                <a:cubicBezTo>
                  <a:pt x="80" y="61"/>
                  <a:pt x="80" y="61"/>
                  <a:pt x="80" y="61"/>
                </a:cubicBezTo>
                <a:cubicBezTo>
                  <a:pt x="80" y="61"/>
                  <a:pt x="80" y="61"/>
                  <a:pt x="80" y="61"/>
                </a:cubicBezTo>
                <a:cubicBezTo>
                  <a:pt x="80" y="61"/>
                  <a:pt x="80" y="61"/>
                  <a:pt x="80" y="61"/>
                </a:cubicBezTo>
                <a:cubicBezTo>
                  <a:pt x="80" y="61"/>
                  <a:pt x="80" y="62"/>
                  <a:pt x="80" y="62"/>
                </a:cubicBezTo>
                <a:cubicBezTo>
                  <a:pt x="80" y="62"/>
                  <a:pt x="79" y="62"/>
                  <a:pt x="79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4" y="61"/>
                  <a:pt x="74" y="61"/>
                </a:cubicBezTo>
                <a:cubicBezTo>
                  <a:pt x="74" y="61"/>
                  <a:pt x="74" y="61"/>
                  <a:pt x="74" y="61"/>
                </a:cubicBezTo>
                <a:close/>
                <a:moveTo>
                  <a:pt x="81" y="65"/>
                </a:moveTo>
                <a:cubicBezTo>
                  <a:pt x="81" y="65"/>
                  <a:pt x="81" y="65"/>
                  <a:pt x="81" y="65"/>
                </a:cubicBezTo>
                <a:cubicBezTo>
                  <a:pt x="81" y="65"/>
                  <a:pt x="81" y="65"/>
                  <a:pt x="81" y="65"/>
                </a:cubicBezTo>
                <a:cubicBezTo>
                  <a:pt x="76" y="65"/>
                  <a:pt x="76" y="65"/>
                  <a:pt x="76" y="65"/>
                </a:cubicBezTo>
                <a:cubicBezTo>
                  <a:pt x="76" y="65"/>
                  <a:pt x="76" y="65"/>
                  <a:pt x="76" y="65"/>
                </a:cubicBezTo>
                <a:cubicBezTo>
                  <a:pt x="76" y="65"/>
                  <a:pt x="76" y="65"/>
                  <a:pt x="75" y="65"/>
                </a:cubicBezTo>
                <a:cubicBezTo>
                  <a:pt x="75" y="65"/>
                  <a:pt x="75" y="64"/>
                  <a:pt x="75" y="64"/>
                </a:cubicBezTo>
                <a:cubicBezTo>
                  <a:pt x="75" y="64"/>
                  <a:pt x="75" y="64"/>
                  <a:pt x="75" y="64"/>
                </a:cubicBezTo>
                <a:cubicBezTo>
                  <a:pt x="74" y="63"/>
                  <a:pt x="74" y="63"/>
                  <a:pt x="74" y="63"/>
                </a:cubicBezTo>
                <a:cubicBezTo>
                  <a:pt x="74" y="63"/>
                  <a:pt x="74" y="63"/>
                  <a:pt x="74" y="63"/>
                </a:cubicBezTo>
                <a:cubicBezTo>
                  <a:pt x="74" y="62"/>
                  <a:pt x="74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62"/>
                  <a:pt x="75" y="62"/>
                  <a:pt x="75" y="62"/>
                </a:cubicBezTo>
                <a:cubicBezTo>
                  <a:pt x="79" y="62"/>
                  <a:pt x="79" y="62"/>
                  <a:pt x="79" y="62"/>
                </a:cubicBezTo>
                <a:cubicBezTo>
                  <a:pt x="80" y="62"/>
                  <a:pt x="80" y="62"/>
                  <a:pt x="80" y="62"/>
                </a:cubicBezTo>
                <a:cubicBezTo>
                  <a:pt x="80" y="62"/>
                  <a:pt x="80" y="62"/>
                  <a:pt x="80" y="62"/>
                </a:cubicBezTo>
                <a:cubicBezTo>
                  <a:pt x="81" y="62"/>
                  <a:pt x="81" y="62"/>
                  <a:pt x="81" y="63"/>
                </a:cubicBezTo>
                <a:cubicBezTo>
                  <a:pt x="81" y="63"/>
                  <a:pt x="81" y="63"/>
                  <a:pt x="81" y="63"/>
                </a:cubicBezTo>
                <a:cubicBezTo>
                  <a:pt x="82" y="64"/>
                  <a:pt x="82" y="64"/>
                  <a:pt x="82" y="64"/>
                </a:cubicBezTo>
                <a:cubicBezTo>
                  <a:pt x="82" y="64"/>
                  <a:pt x="82" y="64"/>
                  <a:pt x="82" y="64"/>
                </a:cubicBezTo>
                <a:cubicBezTo>
                  <a:pt x="82" y="64"/>
                  <a:pt x="82" y="65"/>
                  <a:pt x="81" y="65"/>
                </a:cubicBezTo>
                <a:close/>
                <a:moveTo>
                  <a:pt x="89" y="65"/>
                </a:moveTo>
                <a:cubicBezTo>
                  <a:pt x="89" y="65"/>
                  <a:pt x="89" y="65"/>
                  <a:pt x="89" y="65"/>
                </a:cubicBezTo>
                <a:cubicBezTo>
                  <a:pt x="89" y="65"/>
                  <a:pt x="88" y="65"/>
                  <a:pt x="88" y="65"/>
                </a:cubicBezTo>
                <a:cubicBezTo>
                  <a:pt x="84" y="65"/>
                  <a:pt x="84" y="65"/>
                  <a:pt x="84" y="65"/>
                </a:cubicBezTo>
                <a:cubicBezTo>
                  <a:pt x="84" y="65"/>
                  <a:pt x="84" y="65"/>
                  <a:pt x="83" y="65"/>
                </a:cubicBezTo>
                <a:cubicBezTo>
                  <a:pt x="83" y="65"/>
                  <a:pt x="83" y="65"/>
                  <a:pt x="83" y="65"/>
                </a:cubicBezTo>
                <a:cubicBezTo>
                  <a:pt x="83" y="65"/>
                  <a:pt x="83" y="64"/>
                  <a:pt x="83" y="64"/>
                </a:cubicBezTo>
                <a:cubicBezTo>
                  <a:pt x="82" y="64"/>
                  <a:pt x="82" y="64"/>
                  <a:pt x="82" y="64"/>
                </a:cubicBezTo>
                <a:cubicBezTo>
                  <a:pt x="82" y="63"/>
                  <a:pt x="82" y="63"/>
                  <a:pt x="82" y="63"/>
                </a:cubicBezTo>
                <a:cubicBezTo>
                  <a:pt x="82" y="63"/>
                  <a:pt x="82" y="63"/>
                  <a:pt x="82" y="63"/>
                </a:cubicBezTo>
                <a:cubicBezTo>
                  <a:pt x="82" y="62"/>
                  <a:pt x="82" y="62"/>
                  <a:pt x="82" y="62"/>
                </a:cubicBezTo>
                <a:cubicBezTo>
                  <a:pt x="82" y="62"/>
                  <a:pt x="82" y="62"/>
                  <a:pt x="82" y="62"/>
                </a:cubicBezTo>
                <a:cubicBezTo>
                  <a:pt x="82" y="62"/>
                  <a:pt x="82" y="62"/>
                  <a:pt x="83" y="62"/>
                </a:cubicBezTo>
                <a:cubicBezTo>
                  <a:pt x="87" y="62"/>
                  <a:pt x="87" y="62"/>
                  <a:pt x="87" y="62"/>
                </a:cubicBezTo>
                <a:cubicBezTo>
                  <a:pt x="87" y="62"/>
                  <a:pt x="87" y="62"/>
                  <a:pt x="87" y="62"/>
                </a:cubicBezTo>
                <a:cubicBezTo>
                  <a:pt x="87" y="62"/>
                  <a:pt x="88" y="62"/>
                  <a:pt x="88" y="62"/>
                </a:cubicBezTo>
                <a:cubicBezTo>
                  <a:pt x="88" y="62"/>
                  <a:pt x="88" y="62"/>
                  <a:pt x="88" y="63"/>
                </a:cubicBezTo>
                <a:cubicBezTo>
                  <a:pt x="88" y="63"/>
                  <a:pt x="88" y="63"/>
                  <a:pt x="88" y="63"/>
                </a:cubicBezTo>
                <a:cubicBezTo>
                  <a:pt x="89" y="64"/>
                  <a:pt x="89" y="64"/>
                  <a:pt x="89" y="64"/>
                </a:cubicBezTo>
                <a:cubicBezTo>
                  <a:pt x="89" y="64"/>
                  <a:pt x="89" y="64"/>
                  <a:pt x="89" y="64"/>
                </a:cubicBezTo>
                <a:cubicBezTo>
                  <a:pt x="89" y="64"/>
                  <a:pt x="89" y="65"/>
                  <a:pt x="89" y="65"/>
                </a:cubicBezTo>
                <a:close/>
                <a:moveTo>
                  <a:pt x="80" y="46"/>
                </a:moveTo>
                <a:cubicBezTo>
                  <a:pt x="82" y="46"/>
                  <a:pt x="83" y="45"/>
                  <a:pt x="83" y="43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4"/>
                  <a:pt x="82" y="3"/>
                  <a:pt x="80" y="3"/>
                </a:cubicBezTo>
                <a:cubicBezTo>
                  <a:pt x="25" y="3"/>
                  <a:pt x="25" y="3"/>
                  <a:pt x="25" y="3"/>
                </a:cubicBezTo>
                <a:cubicBezTo>
                  <a:pt x="22" y="3"/>
                  <a:pt x="21" y="4"/>
                  <a:pt x="21" y="6"/>
                </a:cubicBezTo>
                <a:cubicBezTo>
                  <a:pt x="21" y="43"/>
                  <a:pt x="21" y="43"/>
                  <a:pt x="21" y="43"/>
                </a:cubicBezTo>
                <a:cubicBezTo>
                  <a:pt x="21" y="45"/>
                  <a:pt x="22" y="46"/>
                  <a:pt x="25" y="46"/>
                </a:cubicBezTo>
                <a:lnTo>
                  <a:pt x="80" y="46"/>
                </a:lnTo>
                <a:close/>
              </a:path>
            </a:pathLst>
          </a:custGeom>
          <a:solidFill>
            <a:srgbClr val="0F3D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6" name="组合 73"/>
          <p:cNvGrpSpPr/>
          <p:nvPr/>
        </p:nvGrpSpPr>
        <p:grpSpPr bwMode="auto">
          <a:xfrm>
            <a:off x="2284440" y="6449949"/>
            <a:ext cx="778804" cy="971733"/>
            <a:chOff x="7957837" y="2487563"/>
            <a:chExt cx="915076" cy="915076"/>
          </a:xfrm>
        </p:grpSpPr>
        <p:sp>
          <p:nvSpPr>
            <p:cNvPr id="67" name="Freeform 73"/>
            <p:cNvSpPr/>
            <p:nvPr/>
          </p:nvSpPr>
          <p:spPr bwMode="auto">
            <a:xfrm>
              <a:off x="7957837" y="2487563"/>
              <a:ext cx="915076" cy="915076"/>
            </a:xfrm>
            <a:custGeom>
              <a:avLst/>
              <a:gdLst>
                <a:gd name="T0" fmla="*/ 2147483647 w 526"/>
                <a:gd name="T1" fmla="*/ 2147483647 h 526"/>
                <a:gd name="T2" fmla="*/ 2147483647 w 526"/>
                <a:gd name="T3" fmla="*/ 2147483647 h 526"/>
                <a:gd name="T4" fmla="*/ 2147483647 w 526"/>
                <a:gd name="T5" fmla="*/ 2147483647 h 526"/>
                <a:gd name="T6" fmla="*/ 0 w 526"/>
                <a:gd name="T7" fmla="*/ 2147483647 h 526"/>
                <a:gd name="T8" fmla="*/ 0 w 526"/>
                <a:gd name="T9" fmla="*/ 2147483647 h 526"/>
                <a:gd name="T10" fmla="*/ 2147483647 w 526"/>
                <a:gd name="T11" fmla="*/ 0 h 526"/>
                <a:gd name="T12" fmla="*/ 2147483647 w 526"/>
                <a:gd name="T13" fmla="*/ 0 h 526"/>
                <a:gd name="T14" fmla="*/ 2147483647 w 526"/>
                <a:gd name="T15" fmla="*/ 2147483647 h 526"/>
                <a:gd name="T16" fmla="*/ 2147483647 w 526"/>
                <a:gd name="T17" fmla="*/ 2147483647 h 5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26" h="526">
                  <a:moveTo>
                    <a:pt x="526" y="447"/>
                  </a:moveTo>
                  <a:cubicBezTo>
                    <a:pt x="526" y="490"/>
                    <a:pt x="490" y="526"/>
                    <a:pt x="447" y="526"/>
                  </a:cubicBezTo>
                  <a:cubicBezTo>
                    <a:pt x="79" y="526"/>
                    <a:pt x="79" y="526"/>
                    <a:pt x="79" y="526"/>
                  </a:cubicBezTo>
                  <a:cubicBezTo>
                    <a:pt x="35" y="526"/>
                    <a:pt x="0" y="490"/>
                    <a:pt x="0" y="447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35"/>
                    <a:pt x="35" y="0"/>
                    <a:pt x="79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90" y="0"/>
                    <a:pt x="526" y="35"/>
                    <a:pt x="526" y="79"/>
                  </a:cubicBezTo>
                  <a:lnTo>
                    <a:pt x="526" y="447"/>
                  </a:lnTo>
                  <a:close/>
                </a:path>
              </a:pathLst>
            </a:custGeom>
            <a:solidFill>
              <a:srgbClr val="F5A7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97"/>
            <p:cNvSpPr/>
            <p:nvPr/>
          </p:nvSpPr>
          <p:spPr bwMode="auto">
            <a:xfrm>
              <a:off x="8214993" y="2635623"/>
              <a:ext cx="398537" cy="618957"/>
            </a:xfrm>
            <a:custGeom>
              <a:avLst/>
              <a:gdLst>
                <a:gd name="T0" fmla="*/ 2147483647 w 229"/>
                <a:gd name="T1" fmla="*/ 2147483647 h 356"/>
                <a:gd name="T2" fmla="*/ 2147483647 w 229"/>
                <a:gd name="T3" fmla="*/ 2147483647 h 356"/>
                <a:gd name="T4" fmla="*/ 2147483647 w 229"/>
                <a:gd name="T5" fmla="*/ 2147483647 h 356"/>
                <a:gd name="T6" fmla="*/ 0 w 229"/>
                <a:gd name="T7" fmla="*/ 2147483647 h 356"/>
                <a:gd name="T8" fmla="*/ 0 w 229"/>
                <a:gd name="T9" fmla="*/ 2147483647 h 356"/>
                <a:gd name="T10" fmla="*/ 2147483647 w 229"/>
                <a:gd name="T11" fmla="*/ 0 h 356"/>
                <a:gd name="T12" fmla="*/ 2147483647 w 229"/>
                <a:gd name="T13" fmla="*/ 0 h 356"/>
                <a:gd name="T14" fmla="*/ 2147483647 w 229"/>
                <a:gd name="T15" fmla="*/ 2147483647 h 356"/>
                <a:gd name="T16" fmla="*/ 2147483647 w 229"/>
                <a:gd name="T17" fmla="*/ 2147483647 h 3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9" h="356">
                  <a:moveTo>
                    <a:pt x="229" y="310"/>
                  </a:moveTo>
                  <a:cubicBezTo>
                    <a:pt x="229" y="335"/>
                    <a:pt x="209" y="356"/>
                    <a:pt x="183" y="356"/>
                  </a:cubicBezTo>
                  <a:cubicBezTo>
                    <a:pt x="46" y="356"/>
                    <a:pt x="46" y="356"/>
                    <a:pt x="46" y="356"/>
                  </a:cubicBezTo>
                  <a:cubicBezTo>
                    <a:pt x="20" y="356"/>
                    <a:pt x="0" y="335"/>
                    <a:pt x="0" y="31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0" y="0"/>
                    <a:pt x="46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209" y="0"/>
                    <a:pt x="229" y="20"/>
                    <a:pt x="229" y="46"/>
                  </a:cubicBezTo>
                  <a:lnTo>
                    <a:pt x="229" y="3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98"/>
            <p:cNvSpPr/>
            <p:nvPr/>
          </p:nvSpPr>
          <p:spPr bwMode="auto">
            <a:xfrm>
              <a:off x="7957837" y="2697963"/>
              <a:ext cx="595579" cy="704675"/>
            </a:xfrm>
            <a:custGeom>
              <a:avLst/>
              <a:gdLst>
                <a:gd name="T0" fmla="*/ 2147483647 w 342"/>
                <a:gd name="T1" fmla="*/ 2147483647 h 405"/>
                <a:gd name="T2" fmla="*/ 2147483647 w 342"/>
                <a:gd name="T3" fmla="*/ 2147483647 h 405"/>
                <a:gd name="T4" fmla="*/ 2147483647 w 342"/>
                <a:gd name="T5" fmla="*/ 2147483647 h 405"/>
                <a:gd name="T6" fmla="*/ 2147483647 w 342"/>
                <a:gd name="T7" fmla="*/ 2147483647 h 405"/>
                <a:gd name="T8" fmla="*/ 2147483647 w 342"/>
                <a:gd name="T9" fmla="*/ 2147483647 h 405"/>
                <a:gd name="T10" fmla="*/ 2147483647 w 342"/>
                <a:gd name="T11" fmla="*/ 0 h 405"/>
                <a:gd name="T12" fmla="*/ 0 w 342"/>
                <a:gd name="T13" fmla="*/ 2147483647 h 405"/>
                <a:gd name="T14" fmla="*/ 0 w 342"/>
                <a:gd name="T15" fmla="*/ 2147483647 h 405"/>
                <a:gd name="T16" fmla="*/ 2147483647 w 342"/>
                <a:gd name="T17" fmla="*/ 2147483647 h 405"/>
                <a:gd name="T18" fmla="*/ 2147483647 w 342"/>
                <a:gd name="T19" fmla="*/ 2147483647 h 405"/>
                <a:gd name="T20" fmla="*/ 2147483647 w 342"/>
                <a:gd name="T21" fmla="*/ 2147483647 h 405"/>
                <a:gd name="T22" fmla="*/ 2147483647 w 342"/>
                <a:gd name="T23" fmla="*/ 2147483647 h 405"/>
                <a:gd name="T24" fmla="*/ 2147483647 w 342"/>
                <a:gd name="T25" fmla="*/ 2147483647 h 40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42" h="405">
                  <a:moveTo>
                    <a:pt x="331" y="320"/>
                  </a:moveTo>
                  <a:cubicBezTo>
                    <a:pt x="194" y="320"/>
                    <a:pt x="194" y="320"/>
                    <a:pt x="194" y="320"/>
                  </a:cubicBezTo>
                  <a:cubicBezTo>
                    <a:pt x="168" y="320"/>
                    <a:pt x="148" y="299"/>
                    <a:pt x="148" y="274"/>
                  </a:cubicBezTo>
                  <a:cubicBezTo>
                    <a:pt x="148" y="10"/>
                    <a:pt x="148" y="10"/>
                    <a:pt x="148" y="10"/>
                  </a:cubicBezTo>
                  <a:cubicBezTo>
                    <a:pt x="148" y="7"/>
                    <a:pt x="148" y="4"/>
                    <a:pt x="149" y="1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326"/>
                    <a:pt x="0" y="326"/>
                    <a:pt x="0" y="326"/>
                  </a:cubicBezTo>
                  <a:cubicBezTo>
                    <a:pt x="0" y="369"/>
                    <a:pt x="35" y="405"/>
                    <a:pt x="79" y="405"/>
                  </a:cubicBezTo>
                  <a:cubicBezTo>
                    <a:pt x="285" y="405"/>
                    <a:pt x="285" y="405"/>
                    <a:pt x="285" y="405"/>
                  </a:cubicBezTo>
                  <a:cubicBezTo>
                    <a:pt x="342" y="320"/>
                    <a:pt x="342" y="320"/>
                    <a:pt x="342" y="320"/>
                  </a:cubicBezTo>
                  <a:cubicBezTo>
                    <a:pt x="341" y="319"/>
                    <a:pt x="341" y="319"/>
                    <a:pt x="341" y="319"/>
                  </a:cubicBezTo>
                  <a:cubicBezTo>
                    <a:pt x="338" y="319"/>
                    <a:pt x="335" y="320"/>
                    <a:pt x="331" y="320"/>
                  </a:cubicBezTo>
                  <a:close/>
                </a:path>
              </a:pathLst>
            </a:custGeom>
            <a:solidFill>
              <a:srgbClr val="F2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99"/>
            <p:cNvSpPr/>
            <p:nvPr/>
          </p:nvSpPr>
          <p:spPr bwMode="auto">
            <a:xfrm>
              <a:off x="8255070" y="2697963"/>
              <a:ext cx="318384" cy="420801"/>
            </a:xfrm>
            <a:custGeom>
              <a:avLst/>
              <a:gdLst>
                <a:gd name="T0" fmla="*/ 2147483647 w 183"/>
                <a:gd name="T1" fmla="*/ 2147483647 h 242"/>
                <a:gd name="T2" fmla="*/ 2147483647 w 183"/>
                <a:gd name="T3" fmla="*/ 2147483647 h 242"/>
                <a:gd name="T4" fmla="*/ 2147483647 w 183"/>
                <a:gd name="T5" fmla="*/ 2147483647 h 242"/>
                <a:gd name="T6" fmla="*/ 0 w 183"/>
                <a:gd name="T7" fmla="*/ 2147483647 h 242"/>
                <a:gd name="T8" fmla="*/ 0 w 183"/>
                <a:gd name="T9" fmla="*/ 2147483647 h 242"/>
                <a:gd name="T10" fmla="*/ 2147483647 w 183"/>
                <a:gd name="T11" fmla="*/ 0 h 242"/>
                <a:gd name="T12" fmla="*/ 2147483647 w 183"/>
                <a:gd name="T13" fmla="*/ 0 h 242"/>
                <a:gd name="T14" fmla="*/ 2147483647 w 183"/>
                <a:gd name="T15" fmla="*/ 2147483647 h 242"/>
                <a:gd name="T16" fmla="*/ 2147483647 w 183"/>
                <a:gd name="T17" fmla="*/ 2147483647 h 2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3" h="242">
                  <a:moveTo>
                    <a:pt x="183" y="205"/>
                  </a:moveTo>
                  <a:cubicBezTo>
                    <a:pt x="183" y="225"/>
                    <a:pt x="167" y="242"/>
                    <a:pt x="146" y="242"/>
                  </a:cubicBezTo>
                  <a:cubicBezTo>
                    <a:pt x="37" y="242"/>
                    <a:pt x="37" y="242"/>
                    <a:pt x="37" y="242"/>
                  </a:cubicBezTo>
                  <a:cubicBezTo>
                    <a:pt x="17" y="242"/>
                    <a:pt x="0" y="225"/>
                    <a:pt x="0" y="205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7" y="0"/>
                    <a:pt x="37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67" y="0"/>
                    <a:pt x="183" y="16"/>
                    <a:pt x="183" y="36"/>
                  </a:cubicBezTo>
                  <a:lnTo>
                    <a:pt x="183" y="205"/>
                  </a:lnTo>
                  <a:close/>
                </a:path>
              </a:pathLst>
            </a:custGeom>
            <a:solidFill>
              <a:srgbClr val="F2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Oval 100"/>
            <p:cNvSpPr>
              <a:spLocks noChangeArrowheads="1"/>
            </p:cNvSpPr>
            <p:nvPr/>
          </p:nvSpPr>
          <p:spPr bwMode="auto">
            <a:xfrm>
              <a:off x="8381978" y="3164407"/>
              <a:ext cx="64568" cy="62341"/>
            </a:xfrm>
            <a:prstGeom prst="ellipse">
              <a:avLst/>
            </a:prstGeom>
            <a:solidFill>
              <a:srgbClr val="F2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2" name="Rectangle 101"/>
            <p:cNvSpPr>
              <a:spLocks noChangeArrowheads="1"/>
            </p:cNvSpPr>
            <p:nvPr/>
          </p:nvSpPr>
          <p:spPr bwMode="auto">
            <a:xfrm>
              <a:off x="8286240" y="3176653"/>
              <a:ext cx="54549" cy="6679"/>
            </a:xfrm>
            <a:prstGeom prst="rect">
              <a:avLst/>
            </a:prstGeom>
            <a:solidFill>
              <a:srgbClr val="F2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3" name="Rectangle 102"/>
            <p:cNvSpPr>
              <a:spLocks noChangeArrowheads="1"/>
            </p:cNvSpPr>
            <p:nvPr/>
          </p:nvSpPr>
          <p:spPr bwMode="auto">
            <a:xfrm>
              <a:off x="8286240" y="3192238"/>
              <a:ext cx="54549" cy="6679"/>
            </a:xfrm>
            <a:prstGeom prst="rect">
              <a:avLst/>
            </a:prstGeom>
            <a:solidFill>
              <a:srgbClr val="F2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4" name="Rectangle 103"/>
            <p:cNvSpPr>
              <a:spLocks noChangeArrowheads="1"/>
            </p:cNvSpPr>
            <p:nvPr/>
          </p:nvSpPr>
          <p:spPr bwMode="auto">
            <a:xfrm>
              <a:off x="8286240" y="3208937"/>
              <a:ext cx="54549" cy="5566"/>
            </a:xfrm>
            <a:prstGeom prst="rect">
              <a:avLst/>
            </a:prstGeom>
            <a:solidFill>
              <a:srgbClr val="F2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5" name="Freeform 104"/>
            <p:cNvSpPr/>
            <p:nvPr/>
          </p:nvSpPr>
          <p:spPr bwMode="auto">
            <a:xfrm>
              <a:off x="8505547" y="3181106"/>
              <a:ext cx="36737" cy="30057"/>
            </a:xfrm>
            <a:custGeom>
              <a:avLst/>
              <a:gdLst>
                <a:gd name="T0" fmla="*/ 2147483647 w 33"/>
                <a:gd name="T1" fmla="*/ 0 h 27"/>
                <a:gd name="T2" fmla="*/ 2147483647 w 33"/>
                <a:gd name="T3" fmla="*/ 2147483647 h 27"/>
                <a:gd name="T4" fmla="*/ 2147483647 w 33"/>
                <a:gd name="T5" fmla="*/ 2147483647 h 27"/>
                <a:gd name="T6" fmla="*/ 2147483647 w 33"/>
                <a:gd name="T7" fmla="*/ 2147483647 h 27"/>
                <a:gd name="T8" fmla="*/ 0 w 33"/>
                <a:gd name="T9" fmla="*/ 2147483647 h 27"/>
                <a:gd name="T10" fmla="*/ 2147483647 w 33"/>
                <a:gd name="T11" fmla="*/ 2147483647 h 27"/>
                <a:gd name="T12" fmla="*/ 2147483647 w 33"/>
                <a:gd name="T13" fmla="*/ 2147483647 h 27"/>
                <a:gd name="T14" fmla="*/ 2147483647 w 33"/>
                <a:gd name="T15" fmla="*/ 2147483647 h 27"/>
                <a:gd name="T16" fmla="*/ 2147483647 w 33"/>
                <a:gd name="T17" fmla="*/ 2147483647 h 27"/>
                <a:gd name="T18" fmla="*/ 2147483647 w 33"/>
                <a:gd name="T19" fmla="*/ 2147483647 h 27"/>
                <a:gd name="T20" fmla="*/ 2147483647 w 33"/>
                <a:gd name="T21" fmla="*/ 0 h 27"/>
                <a:gd name="T22" fmla="*/ 2147483647 w 33"/>
                <a:gd name="T23" fmla="*/ 0 h 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3" h="27">
                  <a:moveTo>
                    <a:pt x="30" y="0"/>
                  </a:moveTo>
                  <a:lnTo>
                    <a:pt x="30" y="16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0" y="18"/>
                  </a:lnTo>
                  <a:lnTo>
                    <a:pt x="16" y="27"/>
                  </a:lnTo>
                  <a:lnTo>
                    <a:pt x="16" y="21"/>
                  </a:lnTo>
                  <a:lnTo>
                    <a:pt x="33" y="21"/>
                  </a:lnTo>
                  <a:lnTo>
                    <a:pt x="33" y="16"/>
                  </a:lnTo>
                  <a:lnTo>
                    <a:pt x="33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2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Rectangle 105"/>
            <p:cNvSpPr>
              <a:spLocks noChangeArrowheads="1"/>
            </p:cNvSpPr>
            <p:nvPr/>
          </p:nvSpPr>
          <p:spPr bwMode="auto">
            <a:xfrm>
              <a:off x="8375299" y="2661227"/>
              <a:ext cx="77926" cy="11132"/>
            </a:xfrm>
            <a:prstGeom prst="rect">
              <a:avLst/>
            </a:prstGeom>
            <a:solidFill>
              <a:srgbClr val="F29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246642" y="1390480"/>
            <a:ext cx="1710725" cy="55027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976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操控模式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9405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285847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 smtClean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产品解决痛点</a:t>
            </a:r>
            <a:endParaRPr lang="zh-CN" altLang="en-US" sz="3472" b="1" dirty="0">
              <a:solidFill>
                <a:srgbClr val="28426F"/>
              </a:solidFill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7801427" y="3355207"/>
            <a:ext cx="1820622" cy="746518"/>
          </a:xfrm>
          <a:prstGeom prst="line">
            <a:avLst/>
          </a:prstGeom>
          <a:ln w="1682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7289574" y="4934077"/>
            <a:ext cx="387433" cy="1312706"/>
          </a:xfrm>
          <a:prstGeom prst="line">
            <a:avLst/>
          </a:prstGeom>
          <a:ln w="1682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 flipV="1">
            <a:off x="4591715" y="3427654"/>
            <a:ext cx="1778099" cy="674071"/>
          </a:xfrm>
          <a:prstGeom prst="line">
            <a:avLst/>
          </a:prstGeom>
          <a:ln w="1682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6238307" y="3427654"/>
            <a:ext cx="1778099" cy="1740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6454073" y="3662319"/>
            <a:ext cx="1347355" cy="127175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688738" y="3897771"/>
            <a:ext cx="878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</a:rPr>
              <a:t>智能</a:t>
            </a:r>
          </a:p>
          <a:p>
            <a:r>
              <a:rPr lang="zh-CN" altLang="en-US" b="1">
                <a:solidFill>
                  <a:schemeClr val="tx1"/>
                </a:solidFill>
              </a:rPr>
              <a:t>马桶</a:t>
            </a:r>
          </a:p>
        </p:txBody>
      </p:sp>
      <p:sp>
        <p:nvSpPr>
          <p:cNvPr id="15" name="椭圆 14"/>
          <p:cNvSpPr/>
          <p:nvPr/>
        </p:nvSpPr>
        <p:spPr>
          <a:xfrm>
            <a:off x="3551472" y="2559079"/>
            <a:ext cx="1329243" cy="13386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9499204" y="2559079"/>
            <a:ext cx="1277270" cy="12276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654631" y="2981161"/>
            <a:ext cx="1226085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8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受护者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289574" y="6479086"/>
            <a:ext cx="1310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护理者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757494" y="2908714"/>
            <a:ext cx="91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机构</a:t>
            </a:r>
          </a:p>
        </p:txBody>
      </p:sp>
      <p:sp>
        <p:nvSpPr>
          <p:cNvPr id="23" name="椭圆 22"/>
          <p:cNvSpPr/>
          <p:nvPr/>
        </p:nvSpPr>
        <p:spPr>
          <a:xfrm>
            <a:off x="9757493" y="3993055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149865" y="3574911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4271217" y="4084402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4591716" y="2140935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3470364" y="2251180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5015372" y="2140935"/>
            <a:ext cx="1063867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有尊严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923780" y="2196058"/>
            <a:ext cx="2074186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清洁、舒适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987729" y="4515933"/>
            <a:ext cx="1237109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快速快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687540" y="3574911"/>
            <a:ext cx="1641079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自我操作</a:t>
            </a:r>
          </a:p>
        </p:txBody>
      </p:sp>
      <p:sp>
        <p:nvSpPr>
          <p:cNvPr id="32" name="椭圆 31"/>
          <p:cNvSpPr/>
          <p:nvPr/>
        </p:nvSpPr>
        <p:spPr>
          <a:xfrm>
            <a:off x="10776475" y="3685156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10922156" y="2503957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9010976" y="2673262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9757493" y="2022028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9355886" y="1291259"/>
            <a:ext cx="1315856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提高效率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1242654" y="3555224"/>
            <a:ext cx="1274120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避免风险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1405660" y="2448834"/>
            <a:ext cx="1379641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节约人力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801427" y="2618139"/>
            <a:ext cx="2074186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提升档次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077993" y="4279693"/>
            <a:ext cx="1352079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增加收入</a:t>
            </a:r>
          </a:p>
        </p:txBody>
      </p:sp>
      <p:sp>
        <p:nvSpPr>
          <p:cNvPr id="41" name="椭圆 40"/>
          <p:cNvSpPr/>
          <p:nvPr/>
        </p:nvSpPr>
        <p:spPr>
          <a:xfrm>
            <a:off x="8803872" y="6116064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6759610" y="7150007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8599918" y="7205130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6688738" y="6209773"/>
            <a:ext cx="320499" cy="3078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5414617" y="7150007"/>
            <a:ext cx="1274120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降低强度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5224838" y="6116064"/>
            <a:ext cx="1274120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提高效率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9160594" y="6005819"/>
            <a:ext cx="1274120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改善环境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9010975" y="7205130"/>
            <a:ext cx="1274120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84"/>
              <a:t>促进关系</a:t>
            </a:r>
          </a:p>
        </p:txBody>
      </p:sp>
      <p:cxnSp>
        <p:nvCxnSpPr>
          <p:cNvPr id="49" name="直接连接符 48"/>
          <p:cNvCxnSpPr/>
          <p:nvPr/>
        </p:nvCxnSpPr>
        <p:spPr>
          <a:xfrm flipH="1">
            <a:off x="3297909" y="3531599"/>
            <a:ext cx="446493" cy="196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endCxn id="25" idx="4"/>
          </p:cNvCxnSpPr>
          <p:nvPr/>
        </p:nvCxnSpPr>
        <p:spPr>
          <a:xfrm>
            <a:off x="4374375" y="3702480"/>
            <a:ext cx="57485" cy="689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4481470" y="2245668"/>
            <a:ext cx="299237" cy="466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 flipV="1">
            <a:off x="3612895" y="2403161"/>
            <a:ext cx="328373" cy="393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9160594" y="2866978"/>
            <a:ext cx="620523" cy="192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32" idx="5"/>
          </p:cNvCxnSpPr>
          <p:nvPr/>
        </p:nvCxnSpPr>
        <p:spPr>
          <a:xfrm flipH="1" flipV="1">
            <a:off x="10450464" y="3426866"/>
            <a:ext cx="599262" cy="521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10568583" y="2705548"/>
            <a:ext cx="502403" cy="314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35" idx="0"/>
          </p:cNvCxnSpPr>
          <p:nvPr/>
        </p:nvCxnSpPr>
        <p:spPr>
          <a:xfrm>
            <a:off x="9918136" y="2022027"/>
            <a:ext cx="47248" cy="866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endCxn id="43" idx="5"/>
          </p:cNvCxnSpPr>
          <p:nvPr/>
        </p:nvCxnSpPr>
        <p:spPr>
          <a:xfrm>
            <a:off x="8311706" y="6983064"/>
            <a:ext cx="561463" cy="485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8416438" y="6274344"/>
            <a:ext cx="551226" cy="341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endCxn id="44" idx="2"/>
          </p:cNvCxnSpPr>
          <p:nvPr/>
        </p:nvCxnSpPr>
        <p:spPr>
          <a:xfrm flipH="1" flipV="1">
            <a:off x="6688738" y="6364115"/>
            <a:ext cx="717382" cy="133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endCxn id="23" idx="4"/>
          </p:cNvCxnSpPr>
          <p:nvPr/>
        </p:nvCxnSpPr>
        <p:spPr>
          <a:xfrm flipH="1">
            <a:off x="9918136" y="3663106"/>
            <a:ext cx="86621" cy="637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7158855" y="6053067"/>
            <a:ext cx="1441063" cy="1309556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/>
        </p:nvCxnSpPr>
        <p:spPr>
          <a:xfrm flipH="1">
            <a:off x="4465721" y="2185820"/>
            <a:ext cx="399245" cy="515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6890330" y="6957078"/>
            <a:ext cx="489016" cy="4055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7164368" y="6441287"/>
            <a:ext cx="1640292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80" b="1">
                <a:solidFill>
                  <a:schemeClr val="bg1"/>
                </a:solidFill>
              </a:rPr>
              <a:t>护理人员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60685" y="6829508"/>
            <a:ext cx="2383660" cy="512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28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智能马桶系统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9746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pic>
        <p:nvPicPr>
          <p:cNvPr id="3074" name="Picture 2" descr="E:\6.png"/>
          <p:cNvPicPr>
            <a:picLocks noChangeAspect="1" noChangeArrowheads="1"/>
          </p:cNvPicPr>
          <p:nvPr/>
        </p:nvPicPr>
        <p:blipFill>
          <a:blip r:embed="rId5" cstate="print"/>
          <a:stretch>
            <a:fillRect/>
          </a:stretch>
        </p:blipFill>
        <p:spPr bwMode="auto">
          <a:xfrm>
            <a:off x="5390993" y="2048801"/>
            <a:ext cx="7167517" cy="5805988"/>
          </a:xfrm>
          <a:prstGeom prst="rect">
            <a:avLst/>
          </a:prstGeom>
          <a:noFill/>
        </p:spPr>
      </p:pic>
      <p:sp>
        <p:nvSpPr>
          <p:cNvPr id="23" name="矩形 22"/>
          <p:cNvSpPr/>
          <p:nvPr/>
        </p:nvSpPr>
        <p:spPr>
          <a:xfrm>
            <a:off x="11342663" y="1078643"/>
            <a:ext cx="3275072" cy="1688623"/>
          </a:xfrm>
          <a:prstGeom prst="rect">
            <a:avLst/>
          </a:prstGeom>
        </p:spPr>
        <p:txBody>
          <a:bodyPr wrap="square" lIns="85046" tIns="42523" rIns="85046" bIns="42523">
            <a:spAutoFit/>
          </a:bodyPr>
          <a:lstStyle/>
          <a:p>
            <a:r>
              <a:rPr lang="zh-CN" altLang="en-US" sz="1736" spc="279" dirty="0">
                <a:latin typeface="+mn-ea"/>
              </a:rPr>
              <a:t>护理</a:t>
            </a:r>
            <a:r>
              <a:rPr lang="zh-CN" altLang="en-US" sz="1736" spc="279" dirty="0">
                <a:latin typeface="+mn-ea"/>
              </a:rPr>
              <a:t>一位失能</a:t>
            </a:r>
            <a:r>
              <a:rPr lang="zh-CN" altLang="en-US" sz="1736" spc="279" dirty="0">
                <a:latin typeface="+mn-ea"/>
              </a:rPr>
              <a:t>老人</a:t>
            </a:r>
            <a:r>
              <a:rPr lang="zh-CN" altLang="en-US" sz="1736" spc="279" dirty="0">
                <a:latin typeface="+mn-ea"/>
                <a:sym typeface="+mn-ea"/>
              </a:rPr>
              <a:t>最大的困难是</a:t>
            </a:r>
            <a:r>
              <a:rPr lang="zh-CN" altLang="en-US" sz="1736" b="1" spc="279" dirty="0">
                <a:solidFill>
                  <a:srgbClr val="0070C0"/>
                </a:solidFill>
                <a:latin typeface="+mn-ea"/>
                <a:sym typeface="+mn-ea"/>
              </a:rPr>
              <a:t>排泄关怀</a:t>
            </a:r>
            <a:r>
              <a:rPr lang="zh-CN" altLang="en-US" sz="1736" spc="279" dirty="0">
                <a:latin typeface="+mn-ea"/>
                <a:sym typeface="+mn-ea"/>
              </a:rPr>
              <a:t>的问题</a:t>
            </a:r>
            <a:r>
              <a:rPr lang="zh-CN" altLang="en-US" sz="1736" spc="279" dirty="0">
                <a:latin typeface="+mn-ea"/>
                <a:sym typeface="+mn-ea"/>
              </a:rPr>
              <a:t>。</a:t>
            </a:r>
            <a:endParaRPr lang="en-US" altLang="zh-CN" sz="1736" spc="279" dirty="0">
              <a:latin typeface="+mn-ea"/>
              <a:sym typeface="+mn-ea"/>
            </a:endParaRPr>
          </a:p>
          <a:p>
            <a:r>
              <a:rPr lang="zh-CN" altLang="en-US" sz="1736" spc="279" dirty="0">
                <a:latin typeface="+mn-ea"/>
                <a:sym typeface="+mn-ea"/>
              </a:rPr>
              <a:t>床式护理机器人除传统护理床的功能外，其床式马桶技术可有效解决排泄关怀的问题！</a:t>
            </a:r>
          </a:p>
        </p:txBody>
      </p:sp>
      <p:sp>
        <p:nvSpPr>
          <p:cNvPr id="5" name="矩形 4"/>
          <p:cNvSpPr/>
          <p:nvPr/>
        </p:nvSpPr>
        <p:spPr>
          <a:xfrm>
            <a:off x="10124452" y="2048802"/>
            <a:ext cx="699270" cy="486564"/>
          </a:xfrm>
          <a:prstGeom prst="rect">
            <a:avLst/>
          </a:prstGeom>
        </p:spPr>
        <p:txBody>
          <a:bodyPr wrap="square" lIns="85046" tIns="42523" rIns="85046" bIns="42523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36" b="1" spc="279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洗澡</a:t>
            </a:r>
          </a:p>
        </p:txBody>
      </p:sp>
      <p:sp>
        <p:nvSpPr>
          <p:cNvPr id="6" name="矩形 5"/>
          <p:cNvSpPr/>
          <p:nvPr/>
        </p:nvSpPr>
        <p:spPr>
          <a:xfrm>
            <a:off x="5910721" y="1818861"/>
            <a:ext cx="699270" cy="486564"/>
          </a:xfrm>
          <a:prstGeom prst="rect">
            <a:avLst/>
          </a:prstGeom>
        </p:spPr>
        <p:txBody>
          <a:bodyPr wrap="square" lIns="85046" tIns="42523" rIns="85046" bIns="42523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36" b="1" spc="279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吃饭</a:t>
            </a:r>
          </a:p>
        </p:txBody>
      </p:sp>
      <p:sp>
        <p:nvSpPr>
          <p:cNvPr id="12" name="矩形 11"/>
          <p:cNvSpPr/>
          <p:nvPr/>
        </p:nvSpPr>
        <p:spPr>
          <a:xfrm>
            <a:off x="5564236" y="6976765"/>
            <a:ext cx="699270" cy="486564"/>
          </a:xfrm>
          <a:prstGeom prst="rect">
            <a:avLst/>
          </a:prstGeom>
        </p:spPr>
        <p:txBody>
          <a:bodyPr wrap="square" lIns="85046" tIns="42523" rIns="85046" bIns="42523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36" b="1" spc="279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走动</a:t>
            </a:r>
          </a:p>
        </p:txBody>
      </p:sp>
      <p:sp>
        <p:nvSpPr>
          <p:cNvPr id="13" name="矩形 12"/>
          <p:cNvSpPr/>
          <p:nvPr/>
        </p:nvSpPr>
        <p:spPr>
          <a:xfrm>
            <a:off x="9425182" y="7659498"/>
            <a:ext cx="699270" cy="486564"/>
          </a:xfrm>
          <a:prstGeom prst="rect">
            <a:avLst/>
          </a:prstGeom>
        </p:spPr>
        <p:txBody>
          <a:bodyPr wrap="square" lIns="85046" tIns="42523" rIns="85046" bIns="42523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36" b="1" spc="279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穿衣</a:t>
            </a:r>
          </a:p>
        </p:txBody>
      </p:sp>
      <p:sp>
        <p:nvSpPr>
          <p:cNvPr id="14" name="矩形 13"/>
          <p:cNvSpPr/>
          <p:nvPr/>
        </p:nvSpPr>
        <p:spPr>
          <a:xfrm>
            <a:off x="4499582" y="4852181"/>
            <a:ext cx="1064654" cy="486564"/>
          </a:xfrm>
          <a:prstGeom prst="rect">
            <a:avLst/>
          </a:prstGeom>
        </p:spPr>
        <p:txBody>
          <a:bodyPr wrap="square" lIns="85046" tIns="42523" rIns="85046" bIns="42523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36" b="1" spc="279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上下床</a:t>
            </a:r>
          </a:p>
        </p:txBody>
      </p:sp>
      <p:sp>
        <p:nvSpPr>
          <p:cNvPr id="15" name="矩形 14"/>
          <p:cNvSpPr/>
          <p:nvPr/>
        </p:nvSpPr>
        <p:spPr>
          <a:xfrm>
            <a:off x="12741990" y="3980456"/>
            <a:ext cx="1241047" cy="486564"/>
          </a:xfrm>
          <a:prstGeom prst="rect">
            <a:avLst/>
          </a:prstGeom>
        </p:spPr>
        <p:txBody>
          <a:bodyPr wrap="square" lIns="85046" tIns="42523" rIns="85046" bIns="42523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36" b="1" spc="279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方便</a:t>
            </a:r>
          </a:p>
        </p:txBody>
      </p:sp>
      <p:sp>
        <p:nvSpPr>
          <p:cNvPr id="3" name="椭圆 2"/>
          <p:cNvSpPr/>
          <p:nvPr/>
        </p:nvSpPr>
        <p:spPr>
          <a:xfrm>
            <a:off x="7683307" y="4271818"/>
            <a:ext cx="1252071" cy="1359167"/>
          </a:xfrm>
          <a:prstGeom prst="ellipse">
            <a:avLst/>
          </a:prstGeom>
          <a:solidFill>
            <a:srgbClr val="2457A6"/>
          </a:solidFill>
          <a:ln w="28575">
            <a:solidFill>
              <a:srgbClr val="2457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36" b="1" dirty="0">
                <a:solidFill>
                  <a:schemeClr val="bg1"/>
                </a:solidFill>
              </a:rPr>
              <a:t>六项失能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81175" y="2192120"/>
            <a:ext cx="3775900" cy="201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629971" algn="just" fontAlgn="auto">
              <a:lnSpc>
                <a:spcPct val="120000"/>
              </a:lnSpc>
            </a:pPr>
            <a:r>
              <a:rPr lang="zh-CN" altLang="en-US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全国60岁以上老年人口超2.4</a:t>
            </a:r>
            <a:r>
              <a:rPr lang="en-US" altLang="zh-CN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</a:t>
            </a:r>
            <a:r>
              <a:rPr lang="zh-CN" altLang="en-US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亿，</a:t>
            </a:r>
            <a:r>
              <a:rPr lang="en-US" altLang="zh-CN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65</a:t>
            </a:r>
            <a:r>
              <a:rPr lang="zh-CN" altLang="en-US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岁以上的老人达到</a:t>
            </a:r>
            <a:r>
              <a:rPr lang="en-US" altLang="zh-CN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1.67</a:t>
            </a:r>
            <a:r>
              <a:rPr lang="zh-CN" altLang="en-US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亿，</a:t>
            </a:r>
            <a:r>
              <a:rPr lang="zh-CN" altLang="en-US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失能半失能老人超过</a:t>
            </a:r>
            <a:r>
              <a:rPr lang="en-US" altLang="zh-CN" sz="1736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4000</a:t>
            </a:r>
            <a:r>
              <a:rPr lang="zh-CN" altLang="en-US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万；</a:t>
            </a:r>
          </a:p>
          <a:p>
            <a:pPr indent="-629971" algn="just" fontAlgn="auto">
              <a:lnSpc>
                <a:spcPct val="120000"/>
              </a:lnSpc>
            </a:pPr>
            <a:r>
              <a:rPr lang="zh-CN" altLang="en-US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我国的残疾人口超</a:t>
            </a:r>
            <a:r>
              <a:rPr lang="en-US" altLang="zh-CN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8500</a:t>
            </a:r>
            <a:r>
              <a:rPr lang="zh-CN" altLang="en-US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万人，肢体残障人数超</a:t>
            </a:r>
            <a:r>
              <a:rPr lang="en-US" altLang="zh-CN" sz="1736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2000</a:t>
            </a:r>
            <a:r>
              <a:rPr lang="zh-CN" altLang="en-US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万。</a:t>
            </a:r>
            <a:endParaRPr lang="zh-CN" altLang="en-US" sz="1736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629971" algn="just" fontAlgn="auto">
              <a:lnSpc>
                <a:spcPct val="120000"/>
              </a:lnSpc>
            </a:pPr>
            <a:r>
              <a:rPr lang="en-US" altLang="zh-CN" sz="173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endParaRPr lang="zh-CN" altLang="en-US" sz="1736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行业背景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81175" y="4465535"/>
            <a:ext cx="3618407" cy="2229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1736" dirty="0">
                <a:sym typeface="+mn-ea"/>
              </a:rPr>
              <a:t>世界卫生组织数据：</a:t>
            </a:r>
          </a:p>
          <a:p>
            <a:r>
              <a:rPr lang="en-US" altLang="zh-CN" sz="1736" dirty="0">
                <a:sym typeface="+mn-ea"/>
              </a:rPr>
              <a:t>2016</a:t>
            </a:r>
            <a:r>
              <a:rPr lang="zh-CN" altLang="zh-CN" sz="1736" dirty="0">
                <a:sym typeface="+mn-ea"/>
              </a:rPr>
              <a:t>年我国脑卒中病人</a:t>
            </a:r>
            <a:r>
              <a:rPr lang="en-US" altLang="zh-CN" sz="1736" dirty="0">
                <a:solidFill>
                  <a:srgbClr val="FF0000"/>
                </a:solidFill>
                <a:sym typeface="+mn-ea"/>
              </a:rPr>
              <a:t>976</a:t>
            </a:r>
            <a:r>
              <a:rPr lang="zh-CN" altLang="zh-CN" sz="1736" dirty="0">
                <a:solidFill>
                  <a:srgbClr val="FF0000"/>
                </a:solidFill>
                <a:sym typeface="+mn-ea"/>
              </a:rPr>
              <a:t>多万，病率每年上升</a:t>
            </a:r>
            <a:r>
              <a:rPr lang="en-US" altLang="zh-CN" sz="1736" dirty="0">
                <a:solidFill>
                  <a:srgbClr val="FF0000"/>
                </a:solidFill>
                <a:sym typeface="+mn-ea"/>
              </a:rPr>
              <a:t>8.7%</a:t>
            </a:r>
            <a:r>
              <a:rPr lang="zh-CN" altLang="zh-CN" sz="1736" dirty="0">
                <a:sym typeface="+mn-ea"/>
              </a:rPr>
              <a:t>。脑中风病例占到就诊病例</a:t>
            </a:r>
            <a:r>
              <a:rPr lang="en-US" altLang="zh-CN" sz="1736" dirty="0">
                <a:sym typeface="+mn-ea"/>
              </a:rPr>
              <a:t>7.3%</a:t>
            </a:r>
            <a:r>
              <a:rPr lang="zh-CN" altLang="zh-CN" sz="1736" dirty="0">
                <a:sym typeface="+mn-ea"/>
              </a:rPr>
              <a:t>；</a:t>
            </a:r>
          </a:p>
          <a:p>
            <a:r>
              <a:rPr lang="zh-CN" altLang="zh-CN" sz="1736" dirty="0">
                <a:sym typeface="+mn-ea"/>
              </a:rPr>
              <a:t>我国骨外伤患者全年的病例大概在</a:t>
            </a:r>
            <a:r>
              <a:rPr lang="en-US" altLang="zh-CN" sz="1736" dirty="0">
                <a:solidFill>
                  <a:srgbClr val="FF0000"/>
                </a:solidFill>
                <a:sym typeface="+mn-ea"/>
              </a:rPr>
              <a:t>7000</a:t>
            </a:r>
            <a:r>
              <a:rPr lang="zh-CN" altLang="zh-CN" sz="1736" dirty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zh-CN" sz="1736" dirty="0">
                <a:sym typeface="+mn-ea"/>
              </a:rPr>
              <a:t>例左右。</a:t>
            </a:r>
            <a:endParaRPr lang="zh-CN" altLang="zh-CN" sz="1736" dirty="0"/>
          </a:p>
          <a:p>
            <a:r>
              <a:rPr lang="zh-CN" altLang="zh-CN" sz="1736" dirty="0">
                <a:sym typeface="+mn-ea"/>
              </a:rPr>
              <a:t>根据预测，智能型护理床需求人群占到全国人口需求总数</a:t>
            </a:r>
            <a:r>
              <a:rPr lang="en-US" altLang="zh-CN" sz="1736" dirty="0">
                <a:sym typeface="+mn-ea"/>
              </a:rPr>
              <a:t>7.32%</a:t>
            </a:r>
            <a:endParaRPr lang="zh-CN" altLang="en-US" sz="1736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2104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395719" y="1224324"/>
            <a:ext cx="3041217" cy="47397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80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传统护理方式的痛点</a:t>
            </a:r>
            <a:endParaRPr lang="zh-CN" altLang="en-US" sz="2480" dirty="0">
              <a:solidFill>
                <a:srgbClr val="28426F"/>
              </a:solidFill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6406037" y="5497115"/>
            <a:ext cx="7817964" cy="1881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046" tIns="42523" rIns="85046" bIns="42523"/>
          <a:lstStyle/>
          <a:p>
            <a:pPr>
              <a:lnSpc>
                <a:spcPct val="150000"/>
              </a:lnSpc>
            </a:pPr>
            <a:r>
              <a:rPr lang="en-US" altLang="zh-CN" sz="1736" dirty="0">
                <a:latin typeface="+mj-ea"/>
                <a:ea typeface="+mj-ea"/>
              </a:rPr>
              <a:t>1</a:t>
            </a:r>
            <a:r>
              <a:rPr lang="zh-CN" altLang="en-US" sz="1736" dirty="0">
                <a:latin typeface="+mj-ea"/>
                <a:ea typeface="+mj-ea"/>
              </a:rPr>
              <a:t>、传统护理方式隐私差、环境污染严重、气味大、让患者无尊严。</a:t>
            </a:r>
          </a:p>
          <a:p>
            <a:pPr>
              <a:lnSpc>
                <a:spcPct val="150000"/>
              </a:lnSpc>
            </a:pPr>
            <a:r>
              <a:rPr lang="en-US" altLang="zh-CN" sz="1736" dirty="0">
                <a:latin typeface="+mj-ea"/>
                <a:ea typeface="+mj-ea"/>
              </a:rPr>
              <a:t>2</a:t>
            </a:r>
            <a:r>
              <a:rPr lang="zh-CN" altLang="en-US" sz="1736" dirty="0">
                <a:latin typeface="+mj-ea"/>
                <a:ea typeface="+mj-ea"/>
              </a:rPr>
              <a:t>、</a:t>
            </a:r>
            <a:r>
              <a:rPr lang="zh-CN" altLang="en-US" sz="1736" dirty="0">
                <a:latin typeface="+mj-ea"/>
                <a:ea typeface="+mj-ea"/>
              </a:rPr>
              <a:t>护理不</a:t>
            </a:r>
            <a:r>
              <a:rPr lang="zh-CN" altLang="en-US" sz="1736" dirty="0">
                <a:latin typeface="+mj-ea"/>
                <a:ea typeface="+mj-ea"/>
              </a:rPr>
              <a:t>及时，清洁不</a:t>
            </a:r>
            <a:r>
              <a:rPr lang="zh-CN" altLang="en-US" sz="1736" dirty="0">
                <a:latin typeface="+mj-ea"/>
                <a:ea typeface="+mj-ea"/>
              </a:rPr>
              <a:t>彻底，</a:t>
            </a:r>
            <a:r>
              <a:rPr lang="zh-CN" altLang="en-US" sz="1736" dirty="0"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接触皮肤感染。</a:t>
            </a:r>
            <a:endParaRPr lang="en-US" altLang="zh-CN" sz="1736" dirty="0">
              <a:latin typeface="+mj-ea"/>
              <a:ea typeface="+mj-ea"/>
              <a:cs typeface="微软雅黑" panose="020B0503020204020204" pitchFamily="34" charset="-122"/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en-US" altLang="zh-CN" sz="1736" dirty="0">
                <a:latin typeface="+mj-ea"/>
                <a:ea typeface="+mj-ea"/>
              </a:rPr>
              <a:t>3</a:t>
            </a:r>
            <a:r>
              <a:rPr lang="zh-CN" altLang="en-US" sz="1736" dirty="0">
                <a:latin typeface="+mj-ea"/>
                <a:ea typeface="+mj-ea"/>
              </a:rPr>
              <a:t>、护</a:t>
            </a:r>
            <a:r>
              <a:rPr lang="zh-CN" altLang="en-US" sz="1736" dirty="0">
                <a:latin typeface="+mj-ea"/>
                <a:ea typeface="+mj-ea"/>
              </a:rPr>
              <a:t>理强度大、难度</a:t>
            </a:r>
            <a:r>
              <a:rPr lang="zh-CN" altLang="en-US" sz="1736" dirty="0">
                <a:latin typeface="+mj-ea"/>
                <a:ea typeface="+mj-ea"/>
              </a:rPr>
              <a:t>高，</a:t>
            </a:r>
            <a:r>
              <a:rPr lang="zh-CN" altLang="en-US" sz="1736" dirty="0"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夜间看护</a:t>
            </a:r>
            <a:r>
              <a:rPr lang="zh-CN" altLang="en-US" sz="1736" spc="5" dirty="0"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劳累，尿布</a:t>
            </a:r>
            <a:r>
              <a:rPr lang="zh-CN" altLang="en-US" sz="1736" spc="5" dirty="0"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更换次数</a:t>
            </a:r>
            <a:r>
              <a:rPr lang="zh-CN" altLang="en-US" sz="1736" spc="5" dirty="0"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频繁，</a:t>
            </a:r>
            <a:r>
              <a:rPr lang="zh-CN" altLang="en-US" sz="1736" dirty="0">
                <a:latin typeface="+mj-ea"/>
                <a:cs typeface="微软雅黑" panose="020B0503020204020204" pitchFamily="34" charset="-122"/>
                <a:sym typeface="+mn-ea"/>
              </a:rPr>
              <a:t>影响睡眠 </a:t>
            </a:r>
            <a:r>
              <a:rPr lang="zh-CN" altLang="en-US" sz="1736" dirty="0">
                <a:latin typeface="+mj-ea"/>
                <a:ea typeface="+mj-ea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736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736" dirty="0">
                <a:latin typeface="+mj-ea"/>
                <a:ea typeface="+mj-ea"/>
              </a:rPr>
              <a:t>4</a:t>
            </a:r>
            <a:r>
              <a:rPr lang="zh-CN" altLang="en-US" sz="1736" dirty="0">
                <a:latin typeface="+mj-ea"/>
                <a:ea typeface="+mj-ea"/>
              </a:rPr>
              <a:t>、护工严重短缺、高昂的护理成本</a:t>
            </a:r>
            <a:r>
              <a:rPr lang="zh-CN" altLang="en-US" sz="1736" dirty="0">
                <a:latin typeface="+mj-ea"/>
                <a:ea typeface="+mj-ea"/>
              </a:rPr>
              <a:t>。</a:t>
            </a:r>
            <a:endParaRPr lang="zh-CN" altLang="en-US" sz="1736" dirty="0">
              <a:latin typeface="+mj-ea"/>
              <a:ea typeface="+mj-ea"/>
            </a:endParaRPr>
          </a:p>
        </p:txBody>
      </p:sp>
      <p:pic>
        <p:nvPicPr>
          <p:cNvPr id="12" name="Picture 2" descr="E:\智能自动洗护机器人\sucai\1.jpg"/>
          <p:cNvPicPr>
            <a:picLocks noChangeAspect="1" noChangeArrowheads="1"/>
          </p:cNvPicPr>
          <p:nvPr/>
        </p:nvPicPr>
        <p:blipFill>
          <a:blip r:embed="rId5" cstate="print"/>
          <a:stretch>
            <a:fillRect/>
          </a:stretch>
        </p:blipFill>
        <p:spPr bwMode="auto">
          <a:xfrm>
            <a:off x="2460044" y="2276379"/>
            <a:ext cx="1819047" cy="1945829"/>
          </a:xfrm>
          <a:prstGeom prst="rect">
            <a:avLst/>
          </a:prstGeom>
          <a:noFill/>
          <a:ln w="12700">
            <a:solidFill>
              <a:srgbClr val="2457A6"/>
            </a:solidFill>
          </a:ln>
        </p:spPr>
      </p:pic>
      <p:pic>
        <p:nvPicPr>
          <p:cNvPr id="13" name="Picture 3" descr="E:\智能自动洗护机器人\sucai\2.jpg"/>
          <p:cNvPicPr>
            <a:picLocks noChangeAspect="1" noChangeArrowheads="1"/>
          </p:cNvPicPr>
          <p:nvPr/>
        </p:nvPicPr>
        <p:blipFill>
          <a:blip r:embed="rId6" cstate="print"/>
          <a:stretch>
            <a:fillRect/>
          </a:stretch>
        </p:blipFill>
        <p:spPr bwMode="auto">
          <a:xfrm>
            <a:off x="4433435" y="2276379"/>
            <a:ext cx="1818259" cy="1946616"/>
          </a:xfrm>
          <a:prstGeom prst="rect">
            <a:avLst/>
          </a:prstGeom>
          <a:noFill/>
          <a:ln w="12700">
            <a:solidFill>
              <a:srgbClr val="2457A6"/>
            </a:solidFill>
          </a:ln>
        </p:spPr>
      </p:pic>
      <p:pic>
        <p:nvPicPr>
          <p:cNvPr id="14" name="Picture 4" descr="E:\智能自动洗护机器人\sucai\3.jpg"/>
          <p:cNvPicPr>
            <a:picLocks noChangeAspect="1" noChangeArrowheads="1"/>
          </p:cNvPicPr>
          <p:nvPr/>
        </p:nvPicPr>
        <p:blipFill>
          <a:blip r:embed="rId7" cstate="print"/>
          <a:stretch>
            <a:fillRect/>
          </a:stretch>
        </p:blipFill>
        <p:spPr bwMode="auto">
          <a:xfrm>
            <a:off x="8378641" y="2276379"/>
            <a:ext cx="1818259" cy="1946616"/>
          </a:xfrm>
          <a:prstGeom prst="rect">
            <a:avLst/>
          </a:prstGeom>
          <a:noFill/>
          <a:ln w="12700">
            <a:solidFill>
              <a:srgbClr val="2457A6"/>
            </a:solidFill>
          </a:ln>
        </p:spPr>
      </p:pic>
      <p:pic>
        <p:nvPicPr>
          <p:cNvPr id="23" name="Picture 5" descr="E:\智能自动洗护机器人\sucai\4.jpg"/>
          <p:cNvPicPr>
            <a:picLocks noChangeAspect="1" noChangeArrowheads="1"/>
          </p:cNvPicPr>
          <p:nvPr/>
        </p:nvPicPr>
        <p:blipFill>
          <a:blip r:embed="rId8" cstate="print"/>
          <a:stretch>
            <a:fillRect/>
          </a:stretch>
        </p:blipFill>
        <p:spPr bwMode="auto">
          <a:xfrm>
            <a:off x="6406038" y="2276379"/>
            <a:ext cx="1818259" cy="1946616"/>
          </a:xfrm>
          <a:prstGeom prst="rect">
            <a:avLst/>
          </a:prstGeom>
          <a:noFill/>
          <a:ln w="12700">
            <a:solidFill>
              <a:srgbClr val="2457A6"/>
            </a:solidFill>
          </a:ln>
        </p:spPr>
      </p:pic>
      <p:pic>
        <p:nvPicPr>
          <p:cNvPr id="24" name="Picture 6" descr="E:\智能自动洗护机器人\sucai\5.jpg"/>
          <p:cNvPicPr>
            <a:picLocks noChangeAspect="1" noChangeArrowheads="1"/>
          </p:cNvPicPr>
          <p:nvPr/>
        </p:nvPicPr>
        <p:blipFill>
          <a:blip r:embed="rId9" cstate="print"/>
          <a:stretch>
            <a:fillRect/>
          </a:stretch>
        </p:blipFill>
        <p:spPr bwMode="auto">
          <a:xfrm>
            <a:off x="10352031" y="2276379"/>
            <a:ext cx="1818259" cy="1946616"/>
          </a:xfrm>
          <a:prstGeom prst="rect">
            <a:avLst/>
          </a:prstGeom>
          <a:noFill/>
          <a:ln w="12700">
            <a:solidFill>
              <a:srgbClr val="2457A6"/>
            </a:solidFill>
          </a:ln>
        </p:spPr>
      </p:pic>
      <p:sp>
        <p:nvSpPr>
          <p:cNvPr id="26" name="椭圆 25"/>
          <p:cNvSpPr/>
          <p:nvPr/>
        </p:nvSpPr>
        <p:spPr>
          <a:xfrm>
            <a:off x="4115298" y="5254576"/>
            <a:ext cx="1727701" cy="1635567"/>
          </a:xfrm>
          <a:prstGeom prst="ellipse">
            <a:avLst/>
          </a:prstGeom>
          <a:solidFill>
            <a:srgbClr val="2457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046" tIns="42523" rIns="85046" bIns="42523" rtlCol="0" anchor="ctr"/>
          <a:lstStyle/>
          <a:p>
            <a:pPr algn="r">
              <a:lnSpc>
                <a:spcPct val="150000"/>
              </a:lnSpc>
            </a:pPr>
            <a:endParaRPr lang="zh-CN" altLang="en-US" sz="1984" b="1" spc="744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5"/>
          <p:cNvSpPr>
            <a:spLocks noChangeArrowheads="1"/>
          </p:cNvSpPr>
          <p:nvPr/>
        </p:nvSpPr>
        <p:spPr bwMode="auto">
          <a:xfrm>
            <a:off x="4577541" y="5497116"/>
            <a:ext cx="1459175" cy="986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046" tIns="42523" rIns="85046" bIns="42523"/>
          <a:lstStyle/>
          <a:p>
            <a:pPr>
              <a:lnSpc>
                <a:spcPct val="150000"/>
              </a:lnSpc>
            </a:pPr>
            <a:r>
              <a:rPr lang="zh-CN" altLang="en-US" sz="2232" b="1" spc="744" dirty="0">
                <a:solidFill>
                  <a:schemeClr val="bg1"/>
                </a:solidFill>
                <a:latin typeface="+mj-ea"/>
                <a:ea typeface="+mj-ea"/>
              </a:rPr>
              <a:t>主要</a:t>
            </a:r>
            <a:endParaRPr lang="en-US" altLang="zh-CN" sz="2232" b="1" spc="744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232" b="1" spc="744" dirty="0">
                <a:solidFill>
                  <a:schemeClr val="bg1"/>
                </a:solidFill>
                <a:latin typeface="+mj-ea"/>
                <a:ea typeface="+mj-ea"/>
              </a:rPr>
              <a:t>需求</a:t>
            </a:r>
            <a:endParaRPr lang="zh-CN" altLang="en-US" sz="2232" b="1" spc="744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矩形 5"/>
          <p:cNvSpPr>
            <a:spLocks noChangeArrowheads="1"/>
          </p:cNvSpPr>
          <p:nvPr/>
        </p:nvSpPr>
        <p:spPr bwMode="auto">
          <a:xfrm>
            <a:off x="2951880" y="4464159"/>
            <a:ext cx="1085396" cy="40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046" tIns="42523" rIns="85046" bIns="42523"/>
          <a:lstStyle/>
          <a:p>
            <a:pPr algn="ctr">
              <a:lnSpc>
                <a:spcPct val="150000"/>
              </a:lnSpc>
            </a:pPr>
            <a:r>
              <a:rPr lang="zh-CN" altLang="en-US" sz="1736" b="1" spc="372" dirty="0">
                <a:solidFill>
                  <a:srgbClr val="2457A6"/>
                </a:solidFill>
                <a:latin typeface="+mj-ea"/>
                <a:ea typeface="+mj-ea"/>
              </a:rPr>
              <a:t>气味大</a:t>
            </a:r>
          </a:p>
        </p:txBody>
      </p:sp>
      <p:sp>
        <p:nvSpPr>
          <p:cNvPr id="46" name="矩形 5"/>
          <p:cNvSpPr>
            <a:spLocks noChangeArrowheads="1"/>
          </p:cNvSpPr>
          <p:nvPr/>
        </p:nvSpPr>
        <p:spPr bwMode="auto">
          <a:xfrm>
            <a:off x="4951414" y="4464159"/>
            <a:ext cx="1085396" cy="40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046" tIns="42523" rIns="85046" bIns="42523"/>
          <a:lstStyle/>
          <a:p>
            <a:pPr algn="ctr">
              <a:lnSpc>
                <a:spcPct val="150000"/>
              </a:lnSpc>
            </a:pPr>
            <a:r>
              <a:rPr lang="zh-CN" altLang="en-US" sz="1736" b="1" spc="372" dirty="0">
                <a:solidFill>
                  <a:srgbClr val="2457A6"/>
                </a:solidFill>
                <a:latin typeface="+mj-ea"/>
                <a:ea typeface="+mj-ea"/>
              </a:rPr>
              <a:t>难清洗</a:t>
            </a:r>
          </a:p>
        </p:txBody>
      </p:sp>
      <p:sp>
        <p:nvSpPr>
          <p:cNvPr id="47" name="矩形 5"/>
          <p:cNvSpPr>
            <a:spLocks noChangeArrowheads="1"/>
          </p:cNvSpPr>
          <p:nvPr/>
        </p:nvSpPr>
        <p:spPr bwMode="auto">
          <a:xfrm>
            <a:off x="6950948" y="4464159"/>
            <a:ext cx="1085396" cy="40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046" tIns="42523" rIns="85046" bIns="42523"/>
          <a:lstStyle/>
          <a:p>
            <a:pPr algn="ctr">
              <a:lnSpc>
                <a:spcPct val="150000"/>
              </a:lnSpc>
            </a:pPr>
            <a:r>
              <a:rPr lang="zh-CN" altLang="en-US" sz="1736" b="1" spc="372" dirty="0">
                <a:solidFill>
                  <a:srgbClr val="2457A6"/>
                </a:solidFill>
                <a:latin typeface="+mj-ea"/>
                <a:ea typeface="+mj-ea"/>
              </a:rPr>
              <a:t>易感染</a:t>
            </a:r>
          </a:p>
        </p:txBody>
      </p:sp>
      <p:sp>
        <p:nvSpPr>
          <p:cNvPr id="48" name="矩形 5"/>
          <p:cNvSpPr>
            <a:spLocks noChangeArrowheads="1"/>
          </p:cNvSpPr>
          <p:nvPr/>
        </p:nvSpPr>
        <p:spPr bwMode="auto">
          <a:xfrm>
            <a:off x="8950482" y="4464159"/>
            <a:ext cx="1085396" cy="40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046" tIns="42523" rIns="85046" bIns="42523"/>
          <a:lstStyle/>
          <a:p>
            <a:pPr algn="ctr">
              <a:lnSpc>
                <a:spcPct val="150000"/>
              </a:lnSpc>
            </a:pPr>
            <a:r>
              <a:rPr lang="zh-CN" altLang="en-US" sz="1736" b="1" spc="372" dirty="0">
                <a:solidFill>
                  <a:srgbClr val="2457A6"/>
                </a:solidFill>
                <a:latin typeface="+mj-ea"/>
                <a:ea typeface="+mj-ea"/>
              </a:rPr>
              <a:t>很尴尬</a:t>
            </a:r>
          </a:p>
        </p:txBody>
      </p:sp>
      <p:sp>
        <p:nvSpPr>
          <p:cNvPr id="49" name="矩形 5"/>
          <p:cNvSpPr>
            <a:spLocks noChangeArrowheads="1"/>
          </p:cNvSpPr>
          <p:nvPr/>
        </p:nvSpPr>
        <p:spPr bwMode="auto">
          <a:xfrm>
            <a:off x="10950016" y="4464159"/>
            <a:ext cx="1085396" cy="40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046" tIns="42523" rIns="85046" bIns="42523"/>
          <a:lstStyle/>
          <a:p>
            <a:pPr algn="ctr">
              <a:lnSpc>
                <a:spcPct val="150000"/>
              </a:lnSpc>
            </a:pPr>
            <a:r>
              <a:rPr lang="zh-CN" altLang="en-US" sz="1736" b="1" spc="372" dirty="0">
                <a:solidFill>
                  <a:srgbClr val="2457A6"/>
                </a:solidFill>
                <a:latin typeface="+mj-ea"/>
                <a:ea typeface="+mj-ea"/>
              </a:rPr>
              <a:t>难护理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行业背景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1335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行业背景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49" y="1658218"/>
            <a:ext cx="13881453" cy="57406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8615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行业背景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28496" y="1292833"/>
            <a:ext cx="156966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dirty="0">
                <a:solidFill>
                  <a:srgbClr val="28426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医疗市场概况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823690" y="3152828"/>
            <a:ext cx="4327126" cy="314547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80">
                <a:solidFill>
                  <a:srgbClr val="333333"/>
                </a:solidFill>
              </a:rPr>
              <a:t>全国医疗卫生机构</a:t>
            </a:r>
            <a:r>
              <a:rPr lang="en-US" altLang="zh-CN" sz="2480">
                <a:solidFill>
                  <a:srgbClr val="333333"/>
                </a:solidFill>
              </a:rPr>
              <a:t>99</a:t>
            </a:r>
            <a:r>
              <a:rPr lang="zh-CN" altLang="en-US" sz="2480">
                <a:solidFill>
                  <a:srgbClr val="333333"/>
                </a:solidFill>
              </a:rPr>
              <a:t>万多个</a:t>
            </a:r>
          </a:p>
          <a:p>
            <a:r>
              <a:rPr lang="zh-CN" altLang="en-US" sz="2480">
                <a:solidFill>
                  <a:srgbClr val="333333"/>
                </a:solidFill>
              </a:rPr>
              <a:t>医疗卫生机构床位</a:t>
            </a:r>
            <a:r>
              <a:rPr lang="en-US" altLang="zh-CN" sz="2480">
                <a:solidFill>
                  <a:srgbClr val="333333"/>
                </a:solidFill>
              </a:rPr>
              <a:t>880.7</a:t>
            </a:r>
            <a:r>
              <a:rPr lang="zh-CN" altLang="en-US" sz="2480">
                <a:solidFill>
                  <a:srgbClr val="333333"/>
                </a:solidFill>
              </a:rPr>
              <a:t>万张，</a:t>
            </a:r>
            <a:r>
              <a:rPr lang="zh-CN" altLang="en-US" sz="248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其中医院</a:t>
            </a:r>
            <a:r>
              <a:rPr lang="en-US" altLang="zh-CN" sz="248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686.7</a:t>
            </a:r>
            <a:r>
              <a:rPr lang="zh-CN" altLang="en-US" sz="248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万张（占</a:t>
            </a:r>
            <a:r>
              <a:rPr lang="en-US" altLang="zh-CN" sz="248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78.0%</a:t>
            </a:r>
            <a:r>
              <a:rPr lang="zh-CN" altLang="en-US" sz="248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），基层医疗卫生机构</a:t>
            </a:r>
            <a:r>
              <a:rPr lang="en-US" altLang="zh-CN" sz="248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163.1</a:t>
            </a:r>
            <a:r>
              <a:rPr lang="zh-CN" altLang="en-US" sz="248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万张（占</a:t>
            </a:r>
            <a:r>
              <a:rPr lang="en-US" altLang="zh-CN" sz="248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18.5%</a:t>
            </a:r>
            <a:r>
              <a:rPr lang="zh-CN" altLang="en-US" sz="248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endParaRPr lang="zh-CN" altLang="en-US" sz="2480">
              <a:solidFill>
                <a:srgbClr val="FF0000"/>
              </a:solidFill>
            </a:endParaRPr>
          </a:p>
          <a:p>
            <a:r>
              <a:rPr lang="zh-CN" altLang="en-US" sz="2480">
                <a:solidFill>
                  <a:srgbClr val="333333"/>
                </a:solidFill>
              </a:rPr>
              <a:t>执业医师</a:t>
            </a:r>
            <a:r>
              <a:rPr lang="en-US" altLang="zh-CN" sz="2480">
                <a:solidFill>
                  <a:srgbClr val="333333"/>
                </a:solidFill>
              </a:rPr>
              <a:t>360</a:t>
            </a:r>
            <a:r>
              <a:rPr lang="zh-CN" altLang="en-US" sz="2480">
                <a:solidFill>
                  <a:srgbClr val="333333"/>
                </a:solidFill>
              </a:rPr>
              <a:t>万人</a:t>
            </a:r>
          </a:p>
          <a:p>
            <a:r>
              <a:rPr lang="zh-CN" altLang="en-US" sz="2480">
                <a:solidFill>
                  <a:srgbClr val="333333"/>
                </a:solidFill>
              </a:rPr>
              <a:t>注册护士</a:t>
            </a:r>
            <a:r>
              <a:rPr lang="en-US" altLang="zh-CN" sz="2480">
                <a:solidFill>
                  <a:srgbClr val="333333"/>
                </a:solidFill>
              </a:rPr>
              <a:t>410</a:t>
            </a:r>
            <a:r>
              <a:rPr lang="zh-CN" altLang="en-US" sz="2480">
                <a:solidFill>
                  <a:srgbClr val="333333"/>
                </a:solidFill>
              </a:rPr>
              <a:t>万人。</a:t>
            </a:r>
          </a:p>
          <a:p>
            <a:r>
              <a:rPr lang="en-US" sz="2480">
                <a:latin typeface="Calibri" panose="020F0502020204030204" charset="0"/>
                <a:cs typeface="Times New Roman" panose="02020603050405020304" charset="0"/>
              </a:rPr>
              <a:t> </a:t>
            </a:r>
            <a:endParaRPr lang="zh-CN" altLang="en-US" sz="2480"/>
          </a:p>
        </p:txBody>
      </p:sp>
      <p:pic>
        <p:nvPicPr>
          <p:cNvPr id="10" name="图片 10" descr="IMG_2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408" y="2103924"/>
            <a:ext cx="8475498" cy="5553211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1973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15" name="圆角矩形 14"/>
          <p:cNvSpPr/>
          <p:nvPr/>
        </p:nvSpPr>
        <p:spPr bwMode="auto">
          <a:xfrm>
            <a:off x="8887256" y="4205603"/>
            <a:ext cx="5892975" cy="1116094"/>
          </a:xfrm>
          <a:prstGeom prst="roundRect">
            <a:avLst>
              <a:gd name="adj" fmla="val 9992"/>
            </a:avLst>
          </a:prstGeom>
          <a:solidFill>
            <a:schemeClr val="bg1">
              <a:alpha val="60000"/>
            </a:schemeClr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indent="0"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u"/>
              <a:tabLst>
                <a:tab pos="169305" algn="l"/>
              </a:tabLst>
              <a:defRPr/>
            </a:pPr>
            <a:endParaRPr lang="zh-CN" altLang="en-US" sz="1736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/>
        </p:nvSpPr>
        <p:spPr bwMode="auto">
          <a:xfrm>
            <a:off x="8887256" y="2805816"/>
            <a:ext cx="5892975" cy="1116094"/>
          </a:xfrm>
          <a:prstGeom prst="roundRect">
            <a:avLst>
              <a:gd name="adj" fmla="val 9992"/>
            </a:avLst>
          </a:prstGeom>
          <a:solidFill>
            <a:schemeClr val="bg1">
              <a:alpha val="60000"/>
            </a:schemeClr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indent="0"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u"/>
              <a:tabLst>
                <a:tab pos="169305" algn="l"/>
              </a:tabLst>
              <a:defRPr/>
            </a:pPr>
            <a:endParaRPr lang="zh-CN" altLang="en-US" sz="1736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 bwMode="auto">
          <a:xfrm>
            <a:off x="8887256" y="1391791"/>
            <a:ext cx="5892975" cy="1116094"/>
          </a:xfrm>
          <a:prstGeom prst="roundRect">
            <a:avLst>
              <a:gd name="adj" fmla="val 9992"/>
            </a:avLst>
          </a:prstGeom>
          <a:solidFill>
            <a:schemeClr val="bg1">
              <a:alpha val="60000"/>
            </a:schemeClr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indent="0"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u"/>
              <a:tabLst>
                <a:tab pos="169305" algn="l"/>
              </a:tabLst>
              <a:defRPr/>
            </a:pPr>
            <a:endParaRPr lang="zh-CN" altLang="en-US" sz="1736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790" name="TextBox 32"/>
          <p:cNvSpPr txBox="1"/>
          <p:nvPr/>
        </p:nvSpPr>
        <p:spPr>
          <a:xfrm>
            <a:off x="10538659" y="1579471"/>
            <a:ext cx="400032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收养性养老机构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</a:p>
        </p:txBody>
      </p:sp>
      <p:sp>
        <p:nvSpPr>
          <p:cNvPr id="30" name="五边形 29"/>
          <p:cNvSpPr/>
          <p:nvPr/>
        </p:nvSpPr>
        <p:spPr bwMode="auto">
          <a:xfrm>
            <a:off x="8058752" y="1670700"/>
            <a:ext cx="1843130" cy="562475"/>
          </a:xfrm>
          <a:prstGeom prst="homePlate">
            <a:avLst/>
          </a:prstGeom>
          <a:gradFill flip="none" rotWithShape="1">
            <a:gsLst>
              <a:gs pos="0">
                <a:srgbClr val="FFCF01"/>
              </a:gs>
              <a:gs pos="90000">
                <a:srgbClr val="E22000"/>
              </a:gs>
            </a:gsLst>
            <a:lin ang="2700000" scaled="1"/>
            <a:tileRect/>
          </a:gra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extrusionH="304800" contourW="19050">
            <a:bevelT w="101600" prst="convex"/>
            <a:bevelB w="0" h="63500"/>
            <a:contourClr>
              <a:srgbClr val="FFE593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u"/>
              <a:defRPr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792" name="TextBox 22"/>
          <p:cNvSpPr txBox="1"/>
          <p:nvPr/>
        </p:nvSpPr>
        <p:spPr>
          <a:xfrm>
            <a:off x="8154213" y="1760195"/>
            <a:ext cx="1539496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33" name="五边形 32"/>
          <p:cNvSpPr/>
          <p:nvPr/>
        </p:nvSpPr>
        <p:spPr bwMode="auto">
          <a:xfrm>
            <a:off x="8058752" y="3086506"/>
            <a:ext cx="1843130" cy="562477"/>
          </a:xfrm>
          <a:prstGeom prst="homePlate">
            <a:avLst/>
          </a:prstGeom>
          <a:gradFill flip="none" rotWithShape="1">
            <a:gsLst>
              <a:gs pos="0">
                <a:srgbClr val="FFCF01"/>
              </a:gs>
              <a:gs pos="90000">
                <a:srgbClr val="E22000"/>
              </a:gs>
            </a:gsLst>
            <a:lin ang="2700000" scaled="1"/>
            <a:tileRect/>
          </a:gra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extrusionH="304800" contourW="19050">
            <a:bevelT w="101600" prst="convex"/>
            <a:bevelB w="0" h="63500"/>
            <a:contourClr>
              <a:srgbClr val="FFE593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u"/>
              <a:defRPr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794" name="TextBox 22"/>
          <p:cNvSpPr txBox="1"/>
          <p:nvPr/>
        </p:nvSpPr>
        <p:spPr>
          <a:xfrm>
            <a:off x="8154213" y="3199289"/>
            <a:ext cx="1539496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36" name="五边形 35"/>
          <p:cNvSpPr/>
          <p:nvPr/>
        </p:nvSpPr>
        <p:spPr bwMode="auto">
          <a:xfrm>
            <a:off x="8058752" y="4502282"/>
            <a:ext cx="1843130" cy="562477"/>
          </a:xfrm>
          <a:prstGeom prst="homePlate">
            <a:avLst/>
          </a:prstGeom>
          <a:gradFill flip="none" rotWithShape="1">
            <a:gsLst>
              <a:gs pos="0">
                <a:srgbClr val="FFCF01"/>
              </a:gs>
              <a:gs pos="90000">
                <a:srgbClr val="E22000"/>
              </a:gs>
            </a:gsLst>
            <a:lin ang="2700000" scaled="1"/>
            <a:tileRect/>
          </a:gra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extrusionH="304800" contourW="19050">
            <a:bevelT w="101600" prst="convex"/>
            <a:bevelB w="0" h="63500"/>
            <a:contourClr>
              <a:srgbClr val="FFE593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u"/>
              <a:defRPr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796" name="TextBox 22"/>
          <p:cNvSpPr txBox="1"/>
          <p:nvPr/>
        </p:nvSpPr>
        <p:spPr>
          <a:xfrm>
            <a:off x="8154213" y="4593104"/>
            <a:ext cx="1539496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29" name="椭圆 28"/>
          <p:cNvSpPr/>
          <p:nvPr/>
        </p:nvSpPr>
        <p:spPr bwMode="auto">
          <a:xfrm>
            <a:off x="10435422" y="1698480"/>
            <a:ext cx="138795" cy="144068"/>
          </a:xfrm>
          <a:prstGeom prst="ellipse">
            <a:avLst/>
          </a:prstGeom>
          <a:gradFill flip="none" rotWithShape="1">
            <a:gsLst>
              <a:gs pos="0">
                <a:srgbClr val="FFCF01"/>
              </a:gs>
              <a:gs pos="90000">
                <a:srgbClr val="E22000"/>
              </a:gs>
            </a:gsLst>
            <a:lin ang="2700000" scaled="1"/>
            <a:tileRect/>
          </a:gra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extrusionH="304800" contourW="19050">
            <a:bevelT w="101600" prst="convex"/>
            <a:bevelB w="0" h="63500"/>
            <a:contourClr>
              <a:srgbClr val="FFE593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u"/>
              <a:defRPr/>
            </a:pP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798" name="TextBox 32"/>
          <p:cNvSpPr txBox="1"/>
          <p:nvPr/>
        </p:nvSpPr>
        <p:spPr>
          <a:xfrm>
            <a:off x="10538659" y="1974779"/>
            <a:ext cx="360659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养老床位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314.9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万张</a:t>
            </a:r>
          </a:p>
        </p:txBody>
      </p:sp>
      <p:sp>
        <p:nvSpPr>
          <p:cNvPr id="40" name="椭圆 39"/>
          <p:cNvSpPr/>
          <p:nvPr/>
        </p:nvSpPr>
        <p:spPr bwMode="auto">
          <a:xfrm>
            <a:off x="10435422" y="2093208"/>
            <a:ext cx="138795" cy="144068"/>
          </a:xfrm>
          <a:prstGeom prst="ellipse">
            <a:avLst/>
          </a:prstGeom>
          <a:gradFill flip="none" rotWithShape="1">
            <a:gsLst>
              <a:gs pos="0">
                <a:srgbClr val="FFCF01"/>
              </a:gs>
              <a:gs pos="90000">
                <a:srgbClr val="E22000"/>
              </a:gs>
            </a:gsLst>
            <a:lin ang="2700000" scaled="1"/>
            <a:tileRect/>
          </a:gra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extrusionH="304800" contourW="19050">
            <a:bevelT w="101600" prst="convex"/>
            <a:bevelB w="0" h="63500"/>
            <a:contourClr>
              <a:srgbClr val="FFE593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u"/>
              <a:defRPr/>
            </a:pP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802" name="TextBox 32"/>
          <p:cNvSpPr txBox="1"/>
          <p:nvPr/>
        </p:nvSpPr>
        <p:spPr>
          <a:xfrm>
            <a:off x="10574096" y="3129205"/>
            <a:ext cx="3605807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养老床位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多万张</a:t>
            </a:r>
          </a:p>
        </p:txBody>
      </p:sp>
      <p:sp>
        <p:nvSpPr>
          <p:cNvPr id="44" name="椭圆 43"/>
          <p:cNvSpPr/>
          <p:nvPr/>
        </p:nvSpPr>
        <p:spPr bwMode="auto">
          <a:xfrm>
            <a:off x="10470858" y="3247343"/>
            <a:ext cx="138795" cy="144068"/>
          </a:xfrm>
          <a:prstGeom prst="ellipse">
            <a:avLst/>
          </a:prstGeom>
          <a:gradFill flip="none" rotWithShape="1">
            <a:gsLst>
              <a:gs pos="0">
                <a:srgbClr val="FFCF01"/>
              </a:gs>
              <a:gs pos="90000">
                <a:srgbClr val="E22000"/>
              </a:gs>
            </a:gsLst>
            <a:lin ang="2700000" scaled="1"/>
            <a:tileRect/>
          </a:gra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extrusionH="304800" contourW="19050">
            <a:bevelT w="101600" prst="convex"/>
            <a:bevelB w="0" h="63500"/>
            <a:contourClr>
              <a:srgbClr val="FFE593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u"/>
              <a:defRPr/>
            </a:pP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806" name="TextBox 32"/>
          <p:cNvSpPr txBox="1"/>
          <p:nvPr/>
        </p:nvSpPr>
        <p:spPr>
          <a:xfrm>
            <a:off x="10435108" y="4524201"/>
            <a:ext cx="2661636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养老床位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663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万张</a:t>
            </a:r>
          </a:p>
        </p:txBody>
      </p:sp>
      <p:sp>
        <p:nvSpPr>
          <p:cNvPr id="54" name="椭圆 53"/>
          <p:cNvSpPr/>
          <p:nvPr/>
        </p:nvSpPr>
        <p:spPr bwMode="auto">
          <a:xfrm>
            <a:off x="10332264" y="4643316"/>
            <a:ext cx="138795" cy="144068"/>
          </a:xfrm>
          <a:prstGeom prst="ellipse">
            <a:avLst/>
          </a:prstGeom>
          <a:gradFill flip="none" rotWithShape="1">
            <a:gsLst>
              <a:gs pos="0">
                <a:srgbClr val="FFCF01"/>
              </a:gs>
              <a:gs pos="90000">
                <a:srgbClr val="E22000"/>
              </a:gs>
            </a:gsLst>
            <a:lin ang="2700000" scaled="1"/>
            <a:tileRect/>
          </a:gra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extrusionH="304800" contourW="19050">
            <a:bevelT w="101600" prst="convex"/>
            <a:bevelB w="0" h="63500"/>
            <a:contourClr>
              <a:srgbClr val="FFE593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u"/>
              <a:defRPr/>
            </a:pP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7028644" y="1960625"/>
            <a:ext cx="1116094" cy="1251765"/>
          </a:xfrm>
          <a:custGeom>
            <a:avLst/>
            <a:gdLst>
              <a:gd name="connsiteX0" fmla="*/ 0 w 1092530"/>
              <a:gd name="connsiteY0" fmla="*/ 1068780 h 1068780"/>
              <a:gd name="connsiteX1" fmla="*/ 1092530 w 1092530"/>
              <a:gd name="connsiteY1" fmla="*/ 0 h 1068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530" h="1068780">
                <a:moveTo>
                  <a:pt x="0" y="1068780"/>
                </a:moveTo>
                <a:lnTo>
                  <a:pt x="1092530" y="0"/>
                </a:lnTo>
              </a:path>
            </a:pathLst>
          </a:custGeom>
          <a:noFill/>
          <a:ln w="38100">
            <a:solidFill>
              <a:schemeClr val="tx1">
                <a:lumMod val="65000"/>
                <a:lumOff val="35000"/>
                <a:alpha val="50000"/>
              </a:schemeClr>
            </a:solidFill>
            <a:headEnd type="oval"/>
            <a:tailEnd type="oval"/>
          </a:ln>
          <a:effectLst>
            <a:outerShdw blurRad="50800" dist="254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flat" dir="t"/>
          </a:scene3d>
          <a:sp3d contourW="12700"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7114795" y="3363082"/>
            <a:ext cx="1116094" cy="0"/>
          </a:xfrm>
          <a:custGeom>
            <a:avLst/>
            <a:gdLst>
              <a:gd name="connsiteX0" fmla="*/ 0 w 1092530"/>
              <a:gd name="connsiteY0" fmla="*/ 1068780 h 1068780"/>
              <a:gd name="connsiteX1" fmla="*/ 1092530 w 1092530"/>
              <a:gd name="connsiteY1" fmla="*/ 0 h 1068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530" h="1068780">
                <a:moveTo>
                  <a:pt x="0" y="1068780"/>
                </a:moveTo>
                <a:lnTo>
                  <a:pt x="1092530" y="0"/>
                </a:lnTo>
              </a:path>
            </a:pathLst>
          </a:custGeom>
          <a:noFill/>
          <a:ln w="38100">
            <a:solidFill>
              <a:schemeClr val="tx1">
                <a:lumMod val="65000"/>
                <a:lumOff val="35000"/>
                <a:alpha val="50000"/>
              </a:schemeClr>
            </a:solidFill>
            <a:headEnd type="oval"/>
            <a:tailEnd type="oval"/>
          </a:ln>
          <a:effectLst>
            <a:outerShdw blurRad="50800" dist="254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flat" dir="t"/>
          </a:scene3d>
          <a:sp3d contourW="12700"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/>
        </p:nvSpPr>
        <p:spPr>
          <a:xfrm flipV="1">
            <a:off x="7028644" y="3536182"/>
            <a:ext cx="1116094" cy="1251765"/>
          </a:xfrm>
          <a:custGeom>
            <a:avLst/>
            <a:gdLst>
              <a:gd name="connsiteX0" fmla="*/ 0 w 1092530"/>
              <a:gd name="connsiteY0" fmla="*/ 1068780 h 1068780"/>
              <a:gd name="connsiteX1" fmla="*/ 1092530 w 1092530"/>
              <a:gd name="connsiteY1" fmla="*/ 0 h 1068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530" h="1068780">
                <a:moveTo>
                  <a:pt x="0" y="1068780"/>
                </a:moveTo>
                <a:lnTo>
                  <a:pt x="1092530" y="0"/>
                </a:lnTo>
              </a:path>
            </a:pathLst>
          </a:custGeom>
          <a:noFill/>
          <a:ln w="38100">
            <a:solidFill>
              <a:schemeClr val="tx1">
                <a:lumMod val="65000"/>
                <a:lumOff val="35000"/>
                <a:alpha val="50000"/>
              </a:schemeClr>
            </a:solidFill>
            <a:headEnd type="oval"/>
            <a:tailEnd type="oval"/>
          </a:ln>
          <a:effectLst>
            <a:outerShdw blurRad="50800" dist="254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flat" dir="t"/>
          </a:scene3d>
          <a:sp3d contourW="12700"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Oval 93"/>
          <p:cNvSpPr>
            <a:spLocks noChangeAspect="1" noChangeArrowheads="1"/>
          </p:cNvSpPr>
          <p:nvPr/>
        </p:nvSpPr>
        <p:spPr bwMode="auto">
          <a:xfrm>
            <a:off x="5318546" y="1977930"/>
            <a:ext cx="2041112" cy="2841965"/>
          </a:xfrm>
          <a:prstGeom prst="ellipse">
            <a:avLst/>
          </a:prstGeom>
          <a:gradFill flip="none" rotWithShape="1">
            <a:gsLst>
              <a:gs pos="0">
                <a:srgbClr val="00DFF6"/>
              </a:gs>
              <a:gs pos="90000">
                <a:srgbClr val="002774"/>
              </a:gs>
            </a:gsLst>
            <a:lin ang="2700000" scaled="1"/>
            <a:tileRect/>
          </a:gra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isometricOffAxis1Top">
              <a:rot lat="17699988" lon="0" rev="0"/>
            </a:camera>
            <a:lightRig rig="flat" dir="t"/>
          </a:scene3d>
          <a:sp3d extrusionH="177800" contourW="19050">
            <a:bevelT w="101600" prst="convex"/>
            <a:bevelB w="0" h="25400"/>
            <a:contourClr>
              <a:srgbClr val="AFEAFF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1133947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5302010" y="3190626"/>
            <a:ext cx="1943466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>
            <a:spAutoFit/>
          </a:bodyPr>
          <a:lstStyle/>
          <a:p>
            <a:pPr algn="ctr" defTabSz="113394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养老机构</a:t>
            </a:r>
            <a:endParaRPr lang="zh-CN" altLang="en-US" b="1" dirty="0">
              <a:solidFill>
                <a:schemeClr val="bg1"/>
              </a:solidFill>
              <a:effectLst>
                <a:reflection blurRad="6350" stA="50000" endA="300" endPos="50000" dist="60007" dir="5400000" sy="-100000" algn="bl" rotWithShape="0"/>
              </a:effectLst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7069" y="2059825"/>
            <a:ext cx="3993401" cy="47397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80">
                <a:latin typeface="黑体" panose="02010609060101010101" charset="-122"/>
                <a:ea typeface="黑体" panose="02010609060101010101" charset="-122"/>
                <a:sym typeface="+mn-ea"/>
              </a:rPr>
              <a:t>"医养结合"的养老服务模式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8779" y="5499478"/>
            <a:ext cx="7580149" cy="20005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80" dirty="0">
                <a:latin typeface="宋体" panose="02010600030101010101" pitchFamily="2" charset="-122"/>
                <a:cs typeface="宋体" panose="02010600030101010101" pitchFamily="2" charset="-122"/>
              </a:rPr>
              <a:t>截止2020年我国60岁以上老人将达到2.</a:t>
            </a:r>
            <a:r>
              <a:rPr lang="en-US" altLang="zh-CN" sz="2480" dirty="0">
                <a:latin typeface="宋体" panose="02010600030101010101" pitchFamily="2" charset="-122"/>
                <a:cs typeface="宋体" panose="02010600030101010101" pitchFamily="2" charset="-122"/>
              </a:rPr>
              <a:t>87</a:t>
            </a:r>
            <a:r>
              <a:rPr lang="zh-CN" altLang="en-US" sz="2480" dirty="0">
                <a:latin typeface="宋体" panose="02010600030101010101" pitchFamily="2" charset="-122"/>
                <a:cs typeface="宋体" panose="02010600030101010101" pitchFamily="2" charset="-122"/>
              </a:rPr>
              <a:t>亿，要达国际标准：每千名老人拥有的床位数通常为40至50张，至少需要</a:t>
            </a:r>
            <a:r>
              <a:rPr lang="en-US" altLang="zh-CN" sz="2480" dirty="0">
                <a:latin typeface="宋体" panose="02010600030101010101" pitchFamily="2" charset="-122"/>
                <a:cs typeface="宋体" panose="02010600030101010101" pitchFamily="2" charset="-122"/>
              </a:rPr>
              <a:t>1435</a:t>
            </a:r>
            <a:r>
              <a:rPr lang="zh-CN" altLang="en-US" sz="2480" dirty="0">
                <a:latin typeface="宋体" panose="02010600030101010101" pitchFamily="2" charset="-122"/>
                <a:cs typeface="宋体" panose="02010600030101010101" pitchFamily="2" charset="-122"/>
              </a:rPr>
              <a:t>万张床位，中国养老床位还空缺接近一半。预计将新增530多万需要特殊照料与医疗服务的老年人，场规模将达到8000多亿元。</a:t>
            </a:r>
          </a:p>
        </p:txBody>
      </p:sp>
      <p:sp>
        <p:nvSpPr>
          <p:cNvPr id="32" name="矩形 31"/>
          <p:cNvSpPr/>
          <p:nvPr/>
        </p:nvSpPr>
        <p:spPr>
          <a:xfrm>
            <a:off x="9135758" y="6140281"/>
            <a:ext cx="4722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国家民政部明确规定，养老机构护理型养老床位占比不得低于</a:t>
            </a:r>
            <a:r>
              <a:rPr lang="en-US" altLang="zh-CN" b="1" dirty="0" smtClean="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30%</a:t>
            </a:r>
          </a:p>
          <a:p>
            <a:r>
              <a:rPr lang="zh-CN" altLang="en-US" b="1" dirty="0" smtClean="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部分省市民政部门还规定护理型床位占比不得低于</a:t>
            </a:r>
            <a:r>
              <a:rPr lang="en-US" altLang="zh-CN" b="1" dirty="0" smtClean="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47%</a:t>
            </a:r>
            <a:r>
              <a:rPr lang="zh-CN" altLang="en-US" b="1" dirty="0" smtClean="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b="1" dirty="0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行业背景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3929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96415" y="1465288"/>
            <a:ext cx="8115626" cy="8556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480" dirty="0"/>
              <a:t>《 </a:t>
            </a:r>
            <a:r>
              <a:rPr lang="zh-CN" altLang="en-US" sz="2480" b="1" dirty="0"/>
              <a:t>“十三五”国家老龄事业发展和养老体系建设规划</a:t>
            </a:r>
            <a:r>
              <a:rPr lang="en-US" altLang="zh-CN" sz="2480" dirty="0"/>
              <a:t>》</a:t>
            </a:r>
          </a:p>
          <a:p>
            <a:pPr algn="ctr"/>
            <a:r>
              <a:rPr lang="en-US" altLang="zh-CN" sz="2480" dirty="0">
                <a:sym typeface="+mn-ea"/>
              </a:rPr>
              <a:t>2017</a:t>
            </a:r>
            <a:r>
              <a:rPr lang="zh-CN" altLang="en-US" sz="2480" dirty="0">
                <a:sym typeface="+mn-ea"/>
              </a:rPr>
              <a:t>年</a:t>
            </a:r>
            <a:r>
              <a:rPr lang="en-US" altLang="zh-CN" sz="2480" dirty="0">
                <a:sym typeface="+mn-ea"/>
              </a:rPr>
              <a:t>2</a:t>
            </a:r>
            <a:r>
              <a:rPr lang="zh-CN" altLang="en-US" sz="2480" dirty="0">
                <a:sym typeface="+mn-ea"/>
              </a:rPr>
              <a:t>月</a:t>
            </a:r>
            <a:r>
              <a:rPr lang="en-US" altLang="zh-CN" sz="2480" dirty="0">
                <a:sym typeface="+mn-ea"/>
              </a:rPr>
              <a:t>28</a:t>
            </a:r>
            <a:r>
              <a:rPr lang="zh-CN" altLang="en-US" sz="2480" dirty="0">
                <a:sym typeface="+mn-ea"/>
              </a:rPr>
              <a:t>日颁发</a:t>
            </a:r>
            <a:endParaRPr lang="en-US" altLang="zh-CN" sz="2480" dirty="0"/>
          </a:p>
        </p:txBody>
      </p:sp>
      <p:sp>
        <p:nvSpPr>
          <p:cNvPr id="14" name="文本框 2"/>
          <p:cNvSpPr txBox="1"/>
          <p:nvPr/>
        </p:nvSpPr>
        <p:spPr>
          <a:xfrm>
            <a:off x="2916775" y="3092981"/>
            <a:ext cx="9673234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 smtClean="0"/>
              <a:t>发展老年医疗与康复护理服务</a:t>
            </a:r>
            <a:endParaRPr lang="en-US" altLang="zh-CN" b="1" dirty="0" smtClean="0"/>
          </a:p>
          <a:p>
            <a:r>
              <a:rPr lang="zh-CN" altLang="en-US" dirty="0" smtClean="0"/>
              <a:t>提高基层医疗卫生机构康复护理床位占比，到</a:t>
            </a:r>
            <a:r>
              <a:rPr lang="en-US" altLang="zh-CN" dirty="0" smtClean="0"/>
              <a:t>2020</a:t>
            </a:r>
            <a:r>
              <a:rPr lang="zh-CN" altLang="en-US" dirty="0" smtClean="0"/>
              <a:t>年，</a:t>
            </a:r>
            <a:r>
              <a:rPr lang="en-US" altLang="zh-CN" dirty="0" smtClean="0"/>
              <a:t>35%</a:t>
            </a:r>
            <a:r>
              <a:rPr lang="zh-CN" altLang="en-US" dirty="0" smtClean="0"/>
              <a:t>以上的二级以上综合医院设立老年病科。为老年人特别是高龄、重病、残疾、失能老年人就医提供便利服务。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提升老年用品科技含量。加强对老年用品产业共性技术的研发和创新。支持推动老年用品产业领域大众创业、万众创新。支持符合条件的老年用品企业牵头承担各类科技计划（专项、基金等）科研项目。支持技术密集型企业、科研院所、高校及老龄科研机构加强适老科技研发和成果转化应用。落实相关税收优惠政策，支持老年用品产业领域科技创新与应用项目。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行业背景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1064" y="1353468"/>
            <a:ext cx="1476499" cy="14237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0815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行业背景</a:t>
            </a:r>
          </a:p>
        </p:txBody>
      </p:sp>
      <p:sp>
        <p:nvSpPr>
          <p:cNvPr id="42" name="任意多边形 41"/>
          <p:cNvSpPr/>
          <p:nvPr>
            <p:custDataLst>
              <p:tags r:id="rId2"/>
            </p:custDataLst>
          </p:nvPr>
        </p:nvSpPr>
        <p:spPr bwMode="auto">
          <a:xfrm>
            <a:off x="11065121" y="2657262"/>
            <a:ext cx="2531067" cy="2853909"/>
          </a:xfrm>
          <a:custGeom>
            <a:avLst/>
            <a:gdLst>
              <a:gd name="T0" fmla="*/ 1533 w 3516"/>
              <a:gd name="T1" fmla="*/ 0 h 3966"/>
              <a:gd name="T2" fmla="*/ 3516 w 3516"/>
              <a:gd name="T3" fmla="*/ 1983 h 3966"/>
              <a:gd name="T4" fmla="*/ 1533 w 3516"/>
              <a:gd name="T5" fmla="*/ 3966 h 3966"/>
              <a:gd name="T6" fmla="*/ 0 w 3516"/>
              <a:gd name="T7" fmla="*/ 3241 h 3966"/>
              <a:gd name="T8" fmla="*/ 383 w 3516"/>
              <a:gd name="T9" fmla="*/ 2927 h 3966"/>
              <a:gd name="T10" fmla="*/ 2476 w 3516"/>
              <a:gd name="T11" fmla="*/ 3133 h 3966"/>
              <a:gd name="T12" fmla="*/ 2683 w 3516"/>
              <a:gd name="T13" fmla="*/ 1040 h 3966"/>
              <a:gd name="T14" fmla="*/ 1533 w 3516"/>
              <a:gd name="T15" fmla="*/ 496 h 3966"/>
              <a:gd name="T16" fmla="*/ 1533 w 3516"/>
              <a:gd name="T17" fmla="*/ 0 h 39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6" h="3966">
                <a:moveTo>
                  <a:pt x="1533" y="0"/>
                </a:moveTo>
                <a:cubicBezTo>
                  <a:pt x="2628" y="0"/>
                  <a:pt x="3516" y="888"/>
                  <a:pt x="3516" y="1983"/>
                </a:cubicBezTo>
                <a:cubicBezTo>
                  <a:pt x="3516" y="3079"/>
                  <a:pt x="2628" y="3966"/>
                  <a:pt x="1533" y="3966"/>
                </a:cubicBezTo>
                <a:cubicBezTo>
                  <a:pt x="939" y="3966"/>
                  <a:pt x="376" y="3700"/>
                  <a:pt x="0" y="3241"/>
                </a:cubicBezTo>
                <a:lnTo>
                  <a:pt x="383" y="2927"/>
                </a:lnTo>
                <a:cubicBezTo>
                  <a:pt x="904" y="3562"/>
                  <a:pt x="1841" y="3654"/>
                  <a:pt x="2476" y="3133"/>
                </a:cubicBezTo>
                <a:cubicBezTo>
                  <a:pt x="3111" y="2612"/>
                  <a:pt x="3204" y="1675"/>
                  <a:pt x="2683" y="1040"/>
                </a:cubicBezTo>
                <a:cubicBezTo>
                  <a:pt x="2400" y="695"/>
                  <a:pt x="1978" y="496"/>
                  <a:pt x="1533" y="496"/>
                </a:cubicBezTo>
                <a:lnTo>
                  <a:pt x="1533" y="0"/>
                </a:lnTo>
                <a:close/>
              </a:path>
            </a:pathLst>
          </a:custGeom>
          <a:solidFill>
            <a:srgbClr val="4276AA"/>
          </a:solidFill>
          <a:ln w="38100">
            <a:solidFill>
              <a:srgbClr val="FFFFFF"/>
            </a:solidFill>
            <a:prstDash val="solid"/>
            <a:round/>
          </a:ln>
        </p:spPr>
        <p:txBody>
          <a:bodyPr vert="horz" wrap="square" lIns="113395" tIns="56698" rIns="113395" bIns="56698" numCol="1" anchor="t" anchorCtr="0" compatLnSpc="1">
            <a:normAutofit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32">
              <a:solidFill>
                <a:srgbClr val="000000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任意多边形 43"/>
          <p:cNvSpPr/>
          <p:nvPr>
            <p:custDataLst>
              <p:tags r:id="rId3"/>
            </p:custDataLst>
          </p:nvPr>
        </p:nvSpPr>
        <p:spPr bwMode="auto">
          <a:xfrm>
            <a:off x="10563335" y="2981947"/>
            <a:ext cx="926090" cy="2007145"/>
          </a:xfrm>
          <a:custGeom>
            <a:avLst/>
            <a:gdLst>
              <a:gd name="T0" fmla="*/ 695 w 1284"/>
              <a:gd name="T1" fmla="*/ 2791 h 2791"/>
              <a:gd name="T2" fmla="*/ 970 w 1284"/>
              <a:gd name="T3" fmla="*/ 0 h 2791"/>
              <a:gd name="T4" fmla="*/ 1284 w 1284"/>
              <a:gd name="T5" fmla="*/ 384 h 2791"/>
              <a:gd name="T6" fmla="*/ 1078 w 1284"/>
              <a:gd name="T7" fmla="*/ 2477 h 2791"/>
              <a:gd name="T8" fmla="*/ 695 w 1284"/>
              <a:gd name="T9" fmla="*/ 2791 h 2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84" h="2791">
                <a:moveTo>
                  <a:pt x="695" y="2791"/>
                </a:moveTo>
                <a:cubicBezTo>
                  <a:pt x="0" y="1945"/>
                  <a:pt x="123" y="695"/>
                  <a:pt x="970" y="0"/>
                </a:cubicBezTo>
                <a:lnTo>
                  <a:pt x="1284" y="384"/>
                </a:lnTo>
                <a:cubicBezTo>
                  <a:pt x="649" y="905"/>
                  <a:pt x="557" y="1842"/>
                  <a:pt x="1078" y="2477"/>
                </a:cubicBezTo>
                <a:lnTo>
                  <a:pt x="695" y="2791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  <a:ln w="38100">
            <a:solidFill>
              <a:srgbClr val="FFFFFF"/>
            </a:solidFill>
            <a:prstDash val="solid"/>
            <a:round/>
          </a:ln>
        </p:spPr>
        <p:txBody>
          <a:bodyPr vert="horz" wrap="square" lIns="113395" tIns="56698" rIns="113395" bIns="56698" numCol="1" anchor="t" anchorCtr="0" compatLnSpc="1">
            <a:normAutofit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32">
              <a:solidFill>
                <a:srgbClr val="000000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任意多边形 45"/>
          <p:cNvSpPr/>
          <p:nvPr>
            <p:custDataLst>
              <p:tags r:id="rId4"/>
            </p:custDataLst>
          </p:nvPr>
        </p:nvSpPr>
        <p:spPr bwMode="auto">
          <a:xfrm>
            <a:off x="11262516" y="2657261"/>
            <a:ext cx="905798" cy="599561"/>
          </a:xfrm>
          <a:custGeom>
            <a:avLst/>
            <a:gdLst>
              <a:gd name="T0" fmla="*/ 0 w 1258"/>
              <a:gd name="T1" fmla="*/ 450 h 834"/>
              <a:gd name="T2" fmla="*/ 1258 w 1258"/>
              <a:gd name="T3" fmla="*/ 0 h 834"/>
              <a:gd name="T4" fmla="*/ 1258 w 1258"/>
              <a:gd name="T5" fmla="*/ 496 h 834"/>
              <a:gd name="T6" fmla="*/ 314 w 1258"/>
              <a:gd name="T7" fmla="*/ 834 h 834"/>
              <a:gd name="T8" fmla="*/ 0 w 1258"/>
              <a:gd name="T9" fmla="*/ 450 h 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58" h="834">
                <a:moveTo>
                  <a:pt x="0" y="450"/>
                </a:moveTo>
                <a:cubicBezTo>
                  <a:pt x="354" y="159"/>
                  <a:pt x="799" y="0"/>
                  <a:pt x="1258" y="0"/>
                </a:cubicBezTo>
                <a:lnTo>
                  <a:pt x="1258" y="496"/>
                </a:lnTo>
                <a:cubicBezTo>
                  <a:pt x="914" y="496"/>
                  <a:pt x="580" y="615"/>
                  <a:pt x="314" y="834"/>
                </a:cubicBezTo>
                <a:lnTo>
                  <a:pt x="0" y="450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w="38100">
            <a:solidFill>
              <a:srgbClr val="FFFFFF"/>
            </a:solidFill>
            <a:prstDash val="solid"/>
            <a:round/>
          </a:ln>
        </p:spPr>
        <p:txBody>
          <a:bodyPr vert="horz" wrap="square" lIns="113395" tIns="56698" rIns="113395" bIns="56698" numCol="1" anchor="t" anchorCtr="0" compatLnSpc="1">
            <a:normAutofit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32">
              <a:solidFill>
                <a:srgbClr val="000000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" name="椭圆 48"/>
          <p:cNvSpPr/>
          <p:nvPr>
            <p:custDataLst>
              <p:tags r:id="rId5"/>
            </p:custDataLst>
          </p:nvPr>
        </p:nvSpPr>
        <p:spPr>
          <a:xfrm>
            <a:off x="10949603" y="2865504"/>
            <a:ext cx="2437422" cy="243742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rgbClr val="4276AA">
              <a:shade val="50000"/>
            </a:srgbClr>
          </a:lnRef>
          <a:fillRef idx="1">
            <a:srgbClr val="4276AA"/>
          </a:fillRef>
          <a:effectRef idx="0">
            <a:srgbClr val="4276AA"/>
          </a:effectRef>
          <a:fontRef idx="minor">
            <a:srgbClr val="FFFFFF"/>
          </a:fontRef>
        </p:style>
        <p:txBody>
          <a:bodyPr wrap="square" lIns="113395" tIns="56698" rIns="113395" bIns="56698" rtlCol="0" anchor="ctr">
            <a:normAutofit/>
          </a:bodyPr>
          <a:lstStyle/>
          <a:p>
            <a:pPr algn="ctr"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3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任意多边形 53"/>
          <p:cNvSpPr/>
          <p:nvPr>
            <p:custDataLst>
              <p:tags r:id="rId6"/>
            </p:custDataLst>
          </p:nvPr>
        </p:nvSpPr>
        <p:spPr bwMode="auto">
          <a:xfrm>
            <a:off x="11875692" y="3744018"/>
            <a:ext cx="680401" cy="680396"/>
          </a:xfrm>
          <a:custGeom>
            <a:avLst/>
            <a:gdLst>
              <a:gd name="connsiteX0" fmla="*/ 240298 w 585502"/>
              <a:gd name="connsiteY0" fmla="*/ 104089 h 585498"/>
              <a:gd name="connsiteX1" fmla="*/ 254146 w 585502"/>
              <a:gd name="connsiteY1" fmla="*/ 104902 h 585498"/>
              <a:gd name="connsiteX2" fmla="*/ 267994 w 585502"/>
              <a:gd name="connsiteY2" fmla="*/ 106529 h 585498"/>
              <a:gd name="connsiteX3" fmla="*/ 282656 w 585502"/>
              <a:gd name="connsiteY3" fmla="*/ 108155 h 585498"/>
              <a:gd name="connsiteX4" fmla="*/ 295689 w 585502"/>
              <a:gd name="connsiteY4" fmla="*/ 111408 h 585498"/>
              <a:gd name="connsiteX5" fmla="*/ 309537 w 585502"/>
              <a:gd name="connsiteY5" fmla="*/ 115474 h 585498"/>
              <a:gd name="connsiteX6" fmla="*/ 321755 w 585502"/>
              <a:gd name="connsiteY6" fmla="*/ 118727 h 585498"/>
              <a:gd name="connsiteX7" fmla="*/ 334788 w 585502"/>
              <a:gd name="connsiteY7" fmla="*/ 124419 h 585498"/>
              <a:gd name="connsiteX8" fmla="*/ 347821 w 585502"/>
              <a:gd name="connsiteY8" fmla="*/ 130111 h 585498"/>
              <a:gd name="connsiteX9" fmla="*/ 351080 w 585502"/>
              <a:gd name="connsiteY9" fmla="*/ 132551 h 585498"/>
              <a:gd name="connsiteX10" fmla="*/ 353523 w 585502"/>
              <a:gd name="connsiteY10" fmla="*/ 134990 h 585498"/>
              <a:gd name="connsiteX11" fmla="*/ 355967 w 585502"/>
              <a:gd name="connsiteY11" fmla="*/ 137430 h 585498"/>
              <a:gd name="connsiteX12" fmla="*/ 356782 w 585502"/>
              <a:gd name="connsiteY12" fmla="*/ 141496 h 585498"/>
              <a:gd name="connsiteX13" fmla="*/ 357596 w 585502"/>
              <a:gd name="connsiteY13" fmla="*/ 144749 h 585498"/>
              <a:gd name="connsiteX14" fmla="*/ 359225 w 585502"/>
              <a:gd name="connsiteY14" fmla="*/ 149628 h 585498"/>
              <a:gd name="connsiteX15" fmla="*/ 357596 w 585502"/>
              <a:gd name="connsiteY15" fmla="*/ 152881 h 585498"/>
              <a:gd name="connsiteX16" fmla="*/ 355967 w 585502"/>
              <a:gd name="connsiteY16" fmla="*/ 156133 h 585498"/>
              <a:gd name="connsiteX17" fmla="*/ 354338 w 585502"/>
              <a:gd name="connsiteY17" fmla="*/ 160199 h 585498"/>
              <a:gd name="connsiteX18" fmla="*/ 351894 w 585502"/>
              <a:gd name="connsiteY18" fmla="*/ 162639 h 585498"/>
              <a:gd name="connsiteX19" fmla="*/ 348636 w 585502"/>
              <a:gd name="connsiteY19" fmla="*/ 164265 h 585498"/>
              <a:gd name="connsiteX20" fmla="*/ 345378 w 585502"/>
              <a:gd name="connsiteY20" fmla="*/ 166705 h 585498"/>
              <a:gd name="connsiteX21" fmla="*/ 342119 w 585502"/>
              <a:gd name="connsiteY21" fmla="*/ 167518 h 585498"/>
              <a:gd name="connsiteX22" fmla="*/ 338047 w 585502"/>
              <a:gd name="connsiteY22" fmla="*/ 167518 h 585498"/>
              <a:gd name="connsiteX23" fmla="*/ 333974 w 585502"/>
              <a:gd name="connsiteY23" fmla="*/ 166705 h 585498"/>
              <a:gd name="connsiteX24" fmla="*/ 329901 w 585502"/>
              <a:gd name="connsiteY24" fmla="*/ 165078 h 585498"/>
              <a:gd name="connsiteX25" fmla="*/ 319312 w 585502"/>
              <a:gd name="connsiteY25" fmla="*/ 160199 h 585498"/>
              <a:gd name="connsiteX26" fmla="*/ 308722 w 585502"/>
              <a:gd name="connsiteY26" fmla="*/ 156133 h 585498"/>
              <a:gd name="connsiteX27" fmla="*/ 297318 w 585502"/>
              <a:gd name="connsiteY27" fmla="*/ 152067 h 585498"/>
              <a:gd name="connsiteX28" fmla="*/ 286729 w 585502"/>
              <a:gd name="connsiteY28" fmla="*/ 149628 h 585498"/>
              <a:gd name="connsiteX29" fmla="*/ 275325 w 585502"/>
              <a:gd name="connsiteY29" fmla="*/ 146375 h 585498"/>
              <a:gd name="connsiteX30" fmla="*/ 263921 w 585502"/>
              <a:gd name="connsiteY30" fmla="*/ 144749 h 585498"/>
              <a:gd name="connsiteX31" fmla="*/ 252517 w 585502"/>
              <a:gd name="connsiteY31" fmla="*/ 143935 h 585498"/>
              <a:gd name="connsiteX32" fmla="*/ 240298 w 585502"/>
              <a:gd name="connsiteY32" fmla="*/ 143935 h 585498"/>
              <a:gd name="connsiteX33" fmla="*/ 230523 w 585502"/>
              <a:gd name="connsiteY33" fmla="*/ 143935 h 585498"/>
              <a:gd name="connsiteX34" fmla="*/ 220749 w 585502"/>
              <a:gd name="connsiteY34" fmla="*/ 144749 h 585498"/>
              <a:gd name="connsiteX35" fmla="*/ 209345 w 585502"/>
              <a:gd name="connsiteY35" fmla="*/ 145562 h 585498"/>
              <a:gd name="connsiteX36" fmla="*/ 199570 w 585502"/>
              <a:gd name="connsiteY36" fmla="*/ 147188 h 585498"/>
              <a:gd name="connsiteX37" fmla="*/ 189795 w 585502"/>
              <a:gd name="connsiteY37" fmla="*/ 150441 h 585498"/>
              <a:gd name="connsiteX38" fmla="*/ 180835 w 585502"/>
              <a:gd name="connsiteY38" fmla="*/ 152881 h 585498"/>
              <a:gd name="connsiteX39" fmla="*/ 171060 w 585502"/>
              <a:gd name="connsiteY39" fmla="*/ 155320 h 585498"/>
              <a:gd name="connsiteX40" fmla="*/ 162099 w 585502"/>
              <a:gd name="connsiteY40" fmla="*/ 160199 h 585498"/>
              <a:gd name="connsiteX41" fmla="*/ 153139 w 585502"/>
              <a:gd name="connsiteY41" fmla="*/ 163452 h 585498"/>
              <a:gd name="connsiteX42" fmla="*/ 144993 w 585502"/>
              <a:gd name="connsiteY42" fmla="*/ 168331 h 585498"/>
              <a:gd name="connsiteX43" fmla="*/ 136033 w 585502"/>
              <a:gd name="connsiteY43" fmla="*/ 172397 h 585498"/>
              <a:gd name="connsiteX44" fmla="*/ 127888 w 585502"/>
              <a:gd name="connsiteY44" fmla="*/ 178089 h 585498"/>
              <a:gd name="connsiteX45" fmla="*/ 119742 w 585502"/>
              <a:gd name="connsiteY45" fmla="*/ 184595 h 585498"/>
              <a:gd name="connsiteX46" fmla="*/ 112411 w 585502"/>
              <a:gd name="connsiteY46" fmla="*/ 189474 h 585498"/>
              <a:gd name="connsiteX47" fmla="*/ 105080 w 585502"/>
              <a:gd name="connsiteY47" fmla="*/ 195980 h 585498"/>
              <a:gd name="connsiteX48" fmla="*/ 97748 w 585502"/>
              <a:gd name="connsiteY48" fmla="*/ 203298 h 585498"/>
              <a:gd name="connsiteX49" fmla="*/ 90417 w 585502"/>
              <a:gd name="connsiteY49" fmla="*/ 210617 h 585498"/>
              <a:gd name="connsiteX50" fmla="*/ 84715 w 585502"/>
              <a:gd name="connsiteY50" fmla="*/ 217936 h 585498"/>
              <a:gd name="connsiteX51" fmla="*/ 79013 w 585502"/>
              <a:gd name="connsiteY51" fmla="*/ 224441 h 585498"/>
              <a:gd name="connsiteX52" fmla="*/ 72497 w 585502"/>
              <a:gd name="connsiteY52" fmla="*/ 232573 h 585498"/>
              <a:gd name="connsiteX53" fmla="*/ 68424 w 585502"/>
              <a:gd name="connsiteY53" fmla="*/ 240705 h 585498"/>
              <a:gd name="connsiteX54" fmla="*/ 62722 w 585502"/>
              <a:gd name="connsiteY54" fmla="*/ 248837 h 585498"/>
              <a:gd name="connsiteX55" fmla="*/ 58649 w 585502"/>
              <a:gd name="connsiteY55" fmla="*/ 257782 h 585498"/>
              <a:gd name="connsiteX56" fmla="*/ 54576 w 585502"/>
              <a:gd name="connsiteY56" fmla="*/ 266727 h 585498"/>
              <a:gd name="connsiteX57" fmla="*/ 51318 w 585502"/>
              <a:gd name="connsiteY57" fmla="*/ 275672 h 585498"/>
              <a:gd name="connsiteX58" fmla="*/ 47245 w 585502"/>
              <a:gd name="connsiteY58" fmla="*/ 285431 h 585498"/>
              <a:gd name="connsiteX59" fmla="*/ 44801 w 585502"/>
              <a:gd name="connsiteY59" fmla="*/ 294376 h 585498"/>
              <a:gd name="connsiteX60" fmla="*/ 43172 w 585502"/>
              <a:gd name="connsiteY60" fmla="*/ 304947 h 585498"/>
              <a:gd name="connsiteX61" fmla="*/ 41543 w 585502"/>
              <a:gd name="connsiteY61" fmla="*/ 314706 h 585498"/>
              <a:gd name="connsiteX62" fmla="*/ 39914 w 585502"/>
              <a:gd name="connsiteY62" fmla="*/ 324464 h 585498"/>
              <a:gd name="connsiteX63" fmla="*/ 38285 w 585502"/>
              <a:gd name="connsiteY63" fmla="*/ 335035 h 585498"/>
              <a:gd name="connsiteX64" fmla="*/ 38285 w 585502"/>
              <a:gd name="connsiteY64" fmla="*/ 344794 h 585498"/>
              <a:gd name="connsiteX65" fmla="*/ 38285 w 585502"/>
              <a:gd name="connsiteY65" fmla="*/ 356178 h 585498"/>
              <a:gd name="connsiteX66" fmla="*/ 39914 w 585502"/>
              <a:gd name="connsiteY66" fmla="*/ 365937 h 585498"/>
              <a:gd name="connsiteX67" fmla="*/ 41543 w 585502"/>
              <a:gd name="connsiteY67" fmla="*/ 376508 h 585498"/>
              <a:gd name="connsiteX68" fmla="*/ 43172 w 585502"/>
              <a:gd name="connsiteY68" fmla="*/ 386266 h 585498"/>
              <a:gd name="connsiteX69" fmla="*/ 44801 w 585502"/>
              <a:gd name="connsiteY69" fmla="*/ 396025 h 585498"/>
              <a:gd name="connsiteX70" fmla="*/ 47245 w 585502"/>
              <a:gd name="connsiteY70" fmla="*/ 404970 h 585498"/>
              <a:gd name="connsiteX71" fmla="*/ 51318 w 585502"/>
              <a:gd name="connsiteY71" fmla="*/ 414728 h 585498"/>
              <a:gd name="connsiteX72" fmla="*/ 54576 w 585502"/>
              <a:gd name="connsiteY72" fmla="*/ 424486 h 585498"/>
              <a:gd name="connsiteX73" fmla="*/ 58649 w 585502"/>
              <a:gd name="connsiteY73" fmla="*/ 433431 h 585498"/>
              <a:gd name="connsiteX74" fmla="*/ 62722 w 585502"/>
              <a:gd name="connsiteY74" fmla="*/ 442377 h 585498"/>
              <a:gd name="connsiteX75" fmla="*/ 68424 w 585502"/>
              <a:gd name="connsiteY75" fmla="*/ 450508 h 585498"/>
              <a:gd name="connsiteX76" fmla="*/ 72497 w 585502"/>
              <a:gd name="connsiteY76" fmla="*/ 457827 h 585498"/>
              <a:gd name="connsiteX77" fmla="*/ 79013 w 585502"/>
              <a:gd name="connsiteY77" fmla="*/ 465959 h 585498"/>
              <a:gd name="connsiteX78" fmla="*/ 84715 w 585502"/>
              <a:gd name="connsiteY78" fmla="*/ 474091 h 585498"/>
              <a:gd name="connsiteX79" fmla="*/ 90417 w 585502"/>
              <a:gd name="connsiteY79" fmla="*/ 481410 h 585498"/>
              <a:gd name="connsiteX80" fmla="*/ 97748 w 585502"/>
              <a:gd name="connsiteY80" fmla="*/ 487915 h 585498"/>
              <a:gd name="connsiteX81" fmla="*/ 105080 w 585502"/>
              <a:gd name="connsiteY81" fmla="*/ 495234 h 585498"/>
              <a:gd name="connsiteX82" fmla="*/ 112411 w 585502"/>
              <a:gd name="connsiteY82" fmla="*/ 500926 h 585498"/>
              <a:gd name="connsiteX83" fmla="*/ 119742 w 585502"/>
              <a:gd name="connsiteY83" fmla="*/ 507432 h 585498"/>
              <a:gd name="connsiteX84" fmla="*/ 127888 w 585502"/>
              <a:gd name="connsiteY84" fmla="*/ 513124 h 585498"/>
              <a:gd name="connsiteX85" fmla="*/ 136033 w 585502"/>
              <a:gd name="connsiteY85" fmla="*/ 518003 h 585498"/>
              <a:gd name="connsiteX86" fmla="*/ 144993 w 585502"/>
              <a:gd name="connsiteY86" fmla="*/ 522882 h 585498"/>
              <a:gd name="connsiteX87" fmla="*/ 153139 w 585502"/>
              <a:gd name="connsiteY87" fmla="*/ 526948 h 585498"/>
              <a:gd name="connsiteX88" fmla="*/ 162099 w 585502"/>
              <a:gd name="connsiteY88" fmla="*/ 531014 h 585498"/>
              <a:gd name="connsiteX89" fmla="*/ 171060 w 585502"/>
              <a:gd name="connsiteY89" fmla="*/ 534267 h 585498"/>
              <a:gd name="connsiteX90" fmla="*/ 180835 w 585502"/>
              <a:gd name="connsiteY90" fmla="*/ 538333 h 585498"/>
              <a:gd name="connsiteX91" fmla="*/ 189795 w 585502"/>
              <a:gd name="connsiteY91" fmla="*/ 540773 h 585498"/>
              <a:gd name="connsiteX92" fmla="*/ 199570 w 585502"/>
              <a:gd name="connsiteY92" fmla="*/ 542399 h 585498"/>
              <a:gd name="connsiteX93" fmla="*/ 209345 w 585502"/>
              <a:gd name="connsiteY93" fmla="*/ 544025 h 585498"/>
              <a:gd name="connsiteX94" fmla="*/ 220749 w 585502"/>
              <a:gd name="connsiteY94" fmla="*/ 546465 h 585498"/>
              <a:gd name="connsiteX95" fmla="*/ 230523 w 585502"/>
              <a:gd name="connsiteY95" fmla="*/ 547278 h 585498"/>
              <a:gd name="connsiteX96" fmla="*/ 240298 w 585502"/>
              <a:gd name="connsiteY96" fmla="*/ 547278 h 585498"/>
              <a:gd name="connsiteX97" fmla="*/ 250888 w 585502"/>
              <a:gd name="connsiteY97" fmla="*/ 547278 h 585498"/>
              <a:gd name="connsiteX98" fmla="*/ 260662 w 585502"/>
              <a:gd name="connsiteY98" fmla="*/ 546465 h 585498"/>
              <a:gd name="connsiteX99" fmla="*/ 271252 w 585502"/>
              <a:gd name="connsiteY99" fmla="*/ 544025 h 585498"/>
              <a:gd name="connsiteX100" fmla="*/ 281841 w 585502"/>
              <a:gd name="connsiteY100" fmla="*/ 542399 h 585498"/>
              <a:gd name="connsiteX101" fmla="*/ 291616 w 585502"/>
              <a:gd name="connsiteY101" fmla="*/ 540773 h 585498"/>
              <a:gd name="connsiteX102" fmla="*/ 300576 w 585502"/>
              <a:gd name="connsiteY102" fmla="*/ 538333 h 585498"/>
              <a:gd name="connsiteX103" fmla="*/ 310351 w 585502"/>
              <a:gd name="connsiteY103" fmla="*/ 534267 h 585498"/>
              <a:gd name="connsiteX104" fmla="*/ 319312 w 585502"/>
              <a:gd name="connsiteY104" fmla="*/ 531014 h 585498"/>
              <a:gd name="connsiteX105" fmla="*/ 328272 w 585502"/>
              <a:gd name="connsiteY105" fmla="*/ 526948 h 585498"/>
              <a:gd name="connsiteX106" fmla="*/ 336417 w 585502"/>
              <a:gd name="connsiteY106" fmla="*/ 522882 h 585498"/>
              <a:gd name="connsiteX107" fmla="*/ 345378 w 585502"/>
              <a:gd name="connsiteY107" fmla="*/ 518003 h 585498"/>
              <a:gd name="connsiteX108" fmla="*/ 353523 w 585502"/>
              <a:gd name="connsiteY108" fmla="*/ 513124 h 585498"/>
              <a:gd name="connsiteX109" fmla="*/ 361669 w 585502"/>
              <a:gd name="connsiteY109" fmla="*/ 507432 h 585498"/>
              <a:gd name="connsiteX110" fmla="*/ 369000 w 585502"/>
              <a:gd name="connsiteY110" fmla="*/ 500926 h 585498"/>
              <a:gd name="connsiteX111" fmla="*/ 376331 w 585502"/>
              <a:gd name="connsiteY111" fmla="*/ 495234 h 585498"/>
              <a:gd name="connsiteX112" fmla="*/ 382848 w 585502"/>
              <a:gd name="connsiteY112" fmla="*/ 487915 h 585498"/>
              <a:gd name="connsiteX113" fmla="*/ 390179 w 585502"/>
              <a:gd name="connsiteY113" fmla="*/ 481410 h 585498"/>
              <a:gd name="connsiteX114" fmla="*/ 396696 w 585502"/>
              <a:gd name="connsiteY114" fmla="*/ 474091 h 585498"/>
              <a:gd name="connsiteX115" fmla="*/ 402398 w 585502"/>
              <a:gd name="connsiteY115" fmla="*/ 465959 h 585498"/>
              <a:gd name="connsiteX116" fmla="*/ 408100 w 585502"/>
              <a:gd name="connsiteY116" fmla="*/ 457827 h 585498"/>
              <a:gd name="connsiteX117" fmla="*/ 412987 w 585502"/>
              <a:gd name="connsiteY117" fmla="*/ 450508 h 585498"/>
              <a:gd name="connsiteX118" fmla="*/ 417875 w 585502"/>
              <a:gd name="connsiteY118" fmla="*/ 442377 h 585498"/>
              <a:gd name="connsiteX119" fmla="*/ 422762 w 585502"/>
              <a:gd name="connsiteY119" fmla="*/ 433431 h 585498"/>
              <a:gd name="connsiteX120" fmla="*/ 426020 w 585502"/>
              <a:gd name="connsiteY120" fmla="*/ 424486 h 585498"/>
              <a:gd name="connsiteX121" fmla="*/ 430093 w 585502"/>
              <a:gd name="connsiteY121" fmla="*/ 414728 h 585498"/>
              <a:gd name="connsiteX122" fmla="*/ 433351 w 585502"/>
              <a:gd name="connsiteY122" fmla="*/ 404970 h 585498"/>
              <a:gd name="connsiteX123" fmla="*/ 436610 w 585502"/>
              <a:gd name="connsiteY123" fmla="*/ 396025 h 585498"/>
              <a:gd name="connsiteX124" fmla="*/ 438239 w 585502"/>
              <a:gd name="connsiteY124" fmla="*/ 386266 h 585498"/>
              <a:gd name="connsiteX125" fmla="*/ 439868 w 585502"/>
              <a:gd name="connsiteY125" fmla="*/ 376508 h 585498"/>
              <a:gd name="connsiteX126" fmla="*/ 441497 w 585502"/>
              <a:gd name="connsiteY126" fmla="*/ 365937 h 585498"/>
              <a:gd name="connsiteX127" fmla="*/ 442312 w 585502"/>
              <a:gd name="connsiteY127" fmla="*/ 356178 h 585498"/>
              <a:gd name="connsiteX128" fmla="*/ 442312 w 585502"/>
              <a:gd name="connsiteY128" fmla="*/ 344794 h 585498"/>
              <a:gd name="connsiteX129" fmla="*/ 442312 w 585502"/>
              <a:gd name="connsiteY129" fmla="*/ 334222 h 585498"/>
              <a:gd name="connsiteX130" fmla="*/ 441497 w 585502"/>
              <a:gd name="connsiteY130" fmla="*/ 322837 h 585498"/>
              <a:gd name="connsiteX131" fmla="*/ 439868 w 585502"/>
              <a:gd name="connsiteY131" fmla="*/ 311453 h 585498"/>
              <a:gd name="connsiteX132" fmla="*/ 437424 w 585502"/>
              <a:gd name="connsiteY132" fmla="*/ 300068 h 585498"/>
              <a:gd name="connsiteX133" fmla="*/ 437424 w 585502"/>
              <a:gd name="connsiteY133" fmla="*/ 296815 h 585498"/>
              <a:gd name="connsiteX134" fmla="*/ 437424 w 585502"/>
              <a:gd name="connsiteY134" fmla="*/ 292749 h 585498"/>
              <a:gd name="connsiteX135" fmla="*/ 438239 w 585502"/>
              <a:gd name="connsiteY135" fmla="*/ 289497 h 585498"/>
              <a:gd name="connsiteX136" fmla="*/ 439868 w 585502"/>
              <a:gd name="connsiteY136" fmla="*/ 287057 h 585498"/>
              <a:gd name="connsiteX137" fmla="*/ 442312 w 585502"/>
              <a:gd name="connsiteY137" fmla="*/ 282991 h 585498"/>
              <a:gd name="connsiteX138" fmla="*/ 445570 w 585502"/>
              <a:gd name="connsiteY138" fmla="*/ 280552 h 585498"/>
              <a:gd name="connsiteX139" fmla="*/ 448014 w 585502"/>
              <a:gd name="connsiteY139" fmla="*/ 278925 h 585498"/>
              <a:gd name="connsiteX140" fmla="*/ 452086 w 585502"/>
              <a:gd name="connsiteY140" fmla="*/ 276486 h 585498"/>
              <a:gd name="connsiteX141" fmla="*/ 456159 w 585502"/>
              <a:gd name="connsiteY141" fmla="*/ 276486 h 585498"/>
              <a:gd name="connsiteX142" fmla="*/ 459418 w 585502"/>
              <a:gd name="connsiteY142" fmla="*/ 278112 h 585498"/>
              <a:gd name="connsiteX143" fmla="*/ 463490 w 585502"/>
              <a:gd name="connsiteY143" fmla="*/ 278925 h 585498"/>
              <a:gd name="connsiteX144" fmla="*/ 466749 w 585502"/>
              <a:gd name="connsiteY144" fmla="*/ 280552 h 585498"/>
              <a:gd name="connsiteX145" fmla="*/ 469192 w 585502"/>
              <a:gd name="connsiteY145" fmla="*/ 282178 h 585498"/>
              <a:gd name="connsiteX146" fmla="*/ 472451 w 585502"/>
              <a:gd name="connsiteY146" fmla="*/ 284618 h 585498"/>
              <a:gd name="connsiteX147" fmla="*/ 474080 w 585502"/>
              <a:gd name="connsiteY147" fmla="*/ 288683 h 585498"/>
              <a:gd name="connsiteX148" fmla="*/ 475709 w 585502"/>
              <a:gd name="connsiteY148" fmla="*/ 291936 h 585498"/>
              <a:gd name="connsiteX149" fmla="*/ 478153 w 585502"/>
              <a:gd name="connsiteY149" fmla="*/ 305760 h 585498"/>
              <a:gd name="connsiteX150" fmla="*/ 480596 w 585502"/>
              <a:gd name="connsiteY150" fmla="*/ 318772 h 585498"/>
              <a:gd name="connsiteX151" fmla="*/ 481411 w 585502"/>
              <a:gd name="connsiteY151" fmla="*/ 332596 h 585498"/>
              <a:gd name="connsiteX152" fmla="*/ 481411 w 585502"/>
              <a:gd name="connsiteY152" fmla="*/ 344794 h 585498"/>
              <a:gd name="connsiteX153" fmla="*/ 481411 w 585502"/>
              <a:gd name="connsiteY153" fmla="*/ 357805 h 585498"/>
              <a:gd name="connsiteX154" fmla="*/ 480596 w 585502"/>
              <a:gd name="connsiteY154" fmla="*/ 370003 h 585498"/>
              <a:gd name="connsiteX155" fmla="*/ 478153 w 585502"/>
              <a:gd name="connsiteY155" fmla="*/ 382200 h 585498"/>
              <a:gd name="connsiteX156" fmla="*/ 476524 w 585502"/>
              <a:gd name="connsiteY156" fmla="*/ 394398 h 585498"/>
              <a:gd name="connsiteX157" fmla="*/ 474080 w 585502"/>
              <a:gd name="connsiteY157" fmla="*/ 405783 h 585498"/>
              <a:gd name="connsiteX158" fmla="*/ 470007 w 585502"/>
              <a:gd name="connsiteY158" fmla="*/ 417168 h 585498"/>
              <a:gd name="connsiteX159" fmla="*/ 466749 w 585502"/>
              <a:gd name="connsiteY159" fmla="*/ 428552 h 585498"/>
              <a:gd name="connsiteX160" fmla="*/ 462676 w 585502"/>
              <a:gd name="connsiteY160" fmla="*/ 439124 h 585498"/>
              <a:gd name="connsiteX161" fmla="*/ 457788 w 585502"/>
              <a:gd name="connsiteY161" fmla="*/ 450508 h 585498"/>
              <a:gd name="connsiteX162" fmla="*/ 452086 w 585502"/>
              <a:gd name="connsiteY162" fmla="*/ 460267 h 585498"/>
              <a:gd name="connsiteX163" fmla="*/ 447199 w 585502"/>
              <a:gd name="connsiteY163" fmla="*/ 470838 h 585498"/>
              <a:gd name="connsiteX164" fmla="*/ 440683 w 585502"/>
              <a:gd name="connsiteY164" fmla="*/ 479783 h 585498"/>
              <a:gd name="connsiteX165" fmla="*/ 433351 w 585502"/>
              <a:gd name="connsiteY165" fmla="*/ 489542 h 585498"/>
              <a:gd name="connsiteX166" fmla="*/ 426020 w 585502"/>
              <a:gd name="connsiteY166" fmla="*/ 498487 h 585498"/>
              <a:gd name="connsiteX167" fmla="*/ 419504 w 585502"/>
              <a:gd name="connsiteY167" fmla="*/ 507432 h 585498"/>
              <a:gd name="connsiteX168" fmla="*/ 411358 w 585502"/>
              <a:gd name="connsiteY168" fmla="*/ 515564 h 585498"/>
              <a:gd name="connsiteX169" fmla="*/ 402398 w 585502"/>
              <a:gd name="connsiteY169" fmla="*/ 523696 h 585498"/>
              <a:gd name="connsiteX170" fmla="*/ 394252 w 585502"/>
              <a:gd name="connsiteY170" fmla="*/ 531014 h 585498"/>
              <a:gd name="connsiteX171" fmla="*/ 385292 w 585502"/>
              <a:gd name="connsiteY171" fmla="*/ 538333 h 585498"/>
              <a:gd name="connsiteX172" fmla="*/ 374702 w 585502"/>
              <a:gd name="connsiteY172" fmla="*/ 545652 h 585498"/>
              <a:gd name="connsiteX173" fmla="*/ 364927 w 585502"/>
              <a:gd name="connsiteY173" fmla="*/ 551344 h 585498"/>
              <a:gd name="connsiteX174" fmla="*/ 355153 w 585502"/>
              <a:gd name="connsiteY174" fmla="*/ 557036 h 585498"/>
              <a:gd name="connsiteX175" fmla="*/ 344563 w 585502"/>
              <a:gd name="connsiteY175" fmla="*/ 562729 h 585498"/>
              <a:gd name="connsiteX176" fmla="*/ 334788 w 585502"/>
              <a:gd name="connsiteY176" fmla="*/ 566795 h 585498"/>
              <a:gd name="connsiteX177" fmla="*/ 322570 w 585502"/>
              <a:gd name="connsiteY177" fmla="*/ 571674 h 585498"/>
              <a:gd name="connsiteX178" fmla="*/ 311980 w 585502"/>
              <a:gd name="connsiteY178" fmla="*/ 574927 h 585498"/>
              <a:gd name="connsiteX179" fmla="*/ 300576 w 585502"/>
              <a:gd name="connsiteY179" fmla="*/ 578179 h 585498"/>
              <a:gd name="connsiteX180" fmla="*/ 288358 w 585502"/>
              <a:gd name="connsiteY180" fmla="*/ 581432 h 585498"/>
              <a:gd name="connsiteX181" fmla="*/ 276954 w 585502"/>
              <a:gd name="connsiteY181" fmla="*/ 583059 h 585498"/>
              <a:gd name="connsiteX182" fmla="*/ 265550 w 585502"/>
              <a:gd name="connsiteY182" fmla="*/ 584685 h 585498"/>
              <a:gd name="connsiteX183" fmla="*/ 252517 w 585502"/>
              <a:gd name="connsiteY183" fmla="*/ 585498 h 585498"/>
              <a:gd name="connsiteX184" fmla="*/ 240298 w 585502"/>
              <a:gd name="connsiteY184" fmla="*/ 585498 h 585498"/>
              <a:gd name="connsiteX185" fmla="*/ 228080 w 585502"/>
              <a:gd name="connsiteY185" fmla="*/ 585498 h 585498"/>
              <a:gd name="connsiteX186" fmla="*/ 215861 w 585502"/>
              <a:gd name="connsiteY186" fmla="*/ 584685 h 585498"/>
              <a:gd name="connsiteX187" fmla="*/ 204457 w 585502"/>
              <a:gd name="connsiteY187" fmla="*/ 583059 h 585498"/>
              <a:gd name="connsiteX188" fmla="*/ 192239 w 585502"/>
              <a:gd name="connsiteY188" fmla="*/ 581432 h 585498"/>
              <a:gd name="connsiteX189" fmla="*/ 180835 w 585502"/>
              <a:gd name="connsiteY189" fmla="*/ 578179 h 585498"/>
              <a:gd name="connsiteX190" fmla="*/ 169431 w 585502"/>
              <a:gd name="connsiteY190" fmla="*/ 574927 h 585498"/>
              <a:gd name="connsiteX191" fmla="*/ 157212 w 585502"/>
              <a:gd name="connsiteY191" fmla="*/ 571674 h 585498"/>
              <a:gd name="connsiteX192" fmla="*/ 146623 w 585502"/>
              <a:gd name="connsiteY192" fmla="*/ 566795 h 585498"/>
              <a:gd name="connsiteX193" fmla="*/ 136033 w 585502"/>
              <a:gd name="connsiteY193" fmla="*/ 562729 h 585498"/>
              <a:gd name="connsiteX194" fmla="*/ 126258 w 585502"/>
              <a:gd name="connsiteY194" fmla="*/ 557036 h 585498"/>
              <a:gd name="connsiteX195" fmla="*/ 115669 w 585502"/>
              <a:gd name="connsiteY195" fmla="*/ 551344 h 585498"/>
              <a:gd name="connsiteX196" fmla="*/ 105894 w 585502"/>
              <a:gd name="connsiteY196" fmla="*/ 545652 h 585498"/>
              <a:gd name="connsiteX197" fmla="*/ 96119 w 585502"/>
              <a:gd name="connsiteY197" fmla="*/ 538333 h 585498"/>
              <a:gd name="connsiteX198" fmla="*/ 87159 w 585502"/>
              <a:gd name="connsiteY198" fmla="*/ 531014 h 585498"/>
              <a:gd name="connsiteX199" fmla="*/ 78199 w 585502"/>
              <a:gd name="connsiteY199" fmla="*/ 523696 h 585498"/>
              <a:gd name="connsiteX200" fmla="*/ 70053 w 585502"/>
              <a:gd name="connsiteY200" fmla="*/ 515564 h 585498"/>
              <a:gd name="connsiteX201" fmla="*/ 61907 w 585502"/>
              <a:gd name="connsiteY201" fmla="*/ 507432 h 585498"/>
              <a:gd name="connsiteX202" fmla="*/ 54576 w 585502"/>
              <a:gd name="connsiteY202" fmla="*/ 498487 h 585498"/>
              <a:gd name="connsiteX203" fmla="*/ 47245 w 585502"/>
              <a:gd name="connsiteY203" fmla="*/ 489542 h 585498"/>
              <a:gd name="connsiteX204" fmla="*/ 40729 w 585502"/>
              <a:gd name="connsiteY204" fmla="*/ 479783 h 585498"/>
              <a:gd name="connsiteX205" fmla="*/ 34212 w 585502"/>
              <a:gd name="connsiteY205" fmla="*/ 470838 h 585498"/>
              <a:gd name="connsiteX206" fmla="*/ 28510 w 585502"/>
              <a:gd name="connsiteY206" fmla="*/ 460267 h 585498"/>
              <a:gd name="connsiteX207" fmla="*/ 23623 w 585502"/>
              <a:gd name="connsiteY207" fmla="*/ 450508 h 585498"/>
              <a:gd name="connsiteX208" fmla="*/ 18735 w 585502"/>
              <a:gd name="connsiteY208" fmla="*/ 439124 h 585498"/>
              <a:gd name="connsiteX209" fmla="*/ 14662 w 585502"/>
              <a:gd name="connsiteY209" fmla="*/ 428552 h 585498"/>
              <a:gd name="connsiteX210" fmla="*/ 10589 w 585502"/>
              <a:gd name="connsiteY210" fmla="*/ 417168 h 585498"/>
              <a:gd name="connsiteX211" fmla="*/ 7331 w 585502"/>
              <a:gd name="connsiteY211" fmla="*/ 405783 h 585498"/>
              <a:gd name="connsiteX212" fmla="*/ 4073 w 585502"/>
              <a:gd name="connsiteY212" fmla="*/ 394398 h 585498"/>
              <a:gd name="connsiteX213" fmla="*/ 2444 w 585502"/>
              <a:gd name="connsiteY213" fmla="*/ 382200 h 585498"/>
              <a:gd name="connsiteX214" fmla="*/ 815 w 585502"/>
              <a:gd name="connsiteY214" fmla="*/ 370003 h 585498"/>
              <a:gd name="connsiteX215" fmla="*/ 0 w 585502"/>
              <a:gd name="connsiteY215" fmla="*/ 357805 h 585498"/>
              <a:gd name="connsiteX216" fmla="*/ 0 w 585502"/>
              <a:gd name="connsiteY216" fmla="*/ 344794 h 585498"/>
              <a:gd name="connsiteX217" fmla="*/ 0 w 585502"/>
              <a:gd name="connsiteY217" fmla="*/ 333409 h 585498"/>
              <a:gd name="connsiteX218" fmla="*/ 815 w 585502"/>
              <a:gd name="connsiteY218" fmla="*/ 321211 h 585498"/>
              <a:gd name="connsiteX219" fmla="*/ 2444 w 585502"/>
              <a:gd name="connsiteY219" fmla="*/ 309013 h 585498"/>
              <a:gd name="connsiteX220" fmla="*/ 4073 w 585502"/>
              <a:gd name="connsiteY220" fmla="*/ 297629 h 585498"/>
              <a:gd name="connsiteX221" fmla="*/ 7331 w 585502"/>
              <a:gd name="connsiteY221" fmla="*/ 285431 h 585498"/>
              <a:gd name="connsiteX222" fmla="*/ 10589 w 585502"/>
              <a:gd name="connsiteY222" fmla="*/ 274046 h 585498"/>
              <a:gd name="connsiteX223" fmla="*/ 14662 w 585502"/>
              <a:gd name="connsiteY223" fmla="*/ 262661 h 585498"/>
              <a:gd name="connsiteX224" fmla="*/ 18735 w 585502"/>
              <a:gd name="connsiteY224" fmla="*/ 251277 h 585498"/>
              <a:gd name="connsiteX225" fmla="*/ 23623 w 585502"/>
              <a:gd name="connsiteY225" fmla="*/ 240705 h 585498"/>
              <a:gd name="connsiteX226" fmla="*/ 28510 w 585502"/>
              <a:gd name="connsiteY226" fmla="*/ 230947 h 585498"/>
              <a:gd name="connsiteX227" fmla="*/ 34212 w 585502"/>
              <a:gd name="connsiteY227" fmla="*/ 221189 h 585498"/>
              <a:gd name="connsiteX228" fmla="*/ 40729 w 585502"/>
              <a:gd name="connsiteY228" fmla="*/ 211430 h 585498"/>
              <a:gd name="connsiteX229" fmla="*/ 47245 w 585502"/>
              <a:gd name="connsiteY229" fmla="*/ 201672 h 585498"/>
              <a:gd name="connsiteX230" fmla="*/ 54576 w 585502"/>
              <a:gd name="connsiteY230" fmla="*/ 192727 h 585498"/>
              <a:gd name="connsiteX231" fmla="*/ 61907 w 585502"/>
              <a:gd name="connsiteY231" fmla="*/ 183782 h 585498"/>
              <a:gd name="connsiteX232" fmla="*/ 70053 w 585502"/>
              <a:gd name="connsiteY232" fmla="*/ 175650 h 585498"/>
              <a:gd name="connsiteX233" fmla="*/ 78199 w 585502"/>
              <a:gd name="connsiteY233" fmla="*/ 167518 h 585498"/>
              <a:gd name="connsiteX234" fmla="*/ 87159 w 585502"/>
              <a:gd name="connsiteY234" fmla="*/ 160199 h 585498"/>
              <a:gd name="connsiteX235" fmla="*/ 96119 w 585502"/>
              <a:gd name="connsiteY235" fmla="*/ 152881 h 585498"/>
              <a:gd name="connsiteX236" fmla="*/ 105894 w 585502"/>
              <a:gd name="connsiteY236" fmla="*/ 145562 h 585498"/>
              <a:gd name="connsiteX237" fmla="*/ 115669 w 585502"/>
              <a:gd name="connsiteY237" fmla="*/ 139056 h 585498"/>
              <a:gd name="connsiteX238" fmla="*/ 126258 w 585502"/>
              <a:gd name="connsiteY238" fmla="*/ 134177 h 585498"/>
              <a:gd name="connsiteX239" fmla="*/ 136033 w 585502"/>
              <a:gd name="connsiteY239" fmla="*/ 128485 h 585498"/>
              <a:gd name="connsiteX240" fmla="*/ 146623 w 585502"/>
              <a:gd name="connsiteY240" fmla="*/ 124419 h 585498"/>
              <a:gd name="connsiteX241" fmla="*/ 157212 w 585502"/>
              <a:gd name="connsiteY241" fmla="*/ 119540 h 585498"/>
              <a:gd name="connsiteX242" fmla="*/ 169431 w 585502"/>
              <a:gd name="connsiteY242" fmla="*/ 116287 h 585498"/>
              <a:gd name="connsiteX243" fmla="*/ 180835 w 585502"/>
              <a:gd name="connsiteY243" fmla="*/ 112221 h 585498"/>
              <a:gd name="connsiteX244" fmla="*/ 192239 w 585502"/>
              <a:gd name="connsiteY244" fmla="*/ 109781 h 585498"/>
              <a:gd name="connsiteX245" fmla="*/ 204457 w 585502"/>
              <a:gd name="connsiteY245" fmla="*/ 108155 h 585498"/>
              <a:gd name="connsiteX246" fmla="*/ 215861 w 585502"/>
              <a:gd name="connsiteY246" fmla="*/ 106529 h 585498"/>
              <a:gd name="connsiteX247" fmla="*/ 228080 w 585502"/>
              <a:gd name="connsiteY247" fmla="*/ 104902 h 585498"/>
              <a:gd name="connsiteX248" fmla="*/ 564324 w 585502"/>
              <a:gd name="connsiteY248" fmla="*/ 0 h 585498"/>
              <a:gd name="connsiteX249" fmla="*/ 568397 w 585502"/>
              <a:gd name="connsiteY249" fmla="*/ 0 h 585498"/>
              <a:gd name="connsiteX250" fmla="*/ 571655 w 585502"/>
              <a:gd name="connsiteY250" fmla="*/ 816 h 585498"/>
              <a:gd name="connsiteX251" fmla="*/ 575728 w 585502"/>
              <a:gd name="connsiteY251" fmla="*/ 1632 h 585498"/>
              <a:gd name="connsiteX252" fmla="*/ 578171 w 585502"/>
              <a:gd name="connsiteY252" fmla="*/ 4081 h 585498"/>
              <a:gd name="connsiteX253" fmla="*/ 581429 w 585502"/>
              <a:gd name="connsiteY253" fmla="*/ 6529 h 585498"/>
              <a:gd name="connsiteX254" fmla="*/ 583873 w 585502"/>
              <a:gd name="connsiteY254" fmla="*/ 9793 h 585498"/>
              <a:gd name="connsiteX255" fmla="*/ 585502 w 585502"/>
              <a:gd name="connsiteY255" fmla="*/ 13058 h 585498"/>
              <a:gd name="connsiteX256" fmla="*/ 585502 w 585502"/>
              <a:gd name="connsiteY256" fmla="*/ 16322 h 585498"/>
              <a:gd name="connsiteX257" fmla="*/ 585502 w 585502"/>
              <a:gd name="connsiteY257" fmla="*/ 20402 h 585498"/>
              <a:gd name="connsiteX258" fmla="*/ 585502 w 585502"/>
              <a:gd name="connsiteY258" fmla="*/ 23667 h 585498"/>
              <a:gd name="connsiteX259" fmla="*/ 583873 w 585502"/>
              <a:gd name="connsiteY259" fmla="*/ 27747 h 585498"/>
              <a:gd name="connsiteX260" fmla="*/ 581429 w 585502"/>
              <a:gd name="connsiteY260" fmla="*/ 31011 h 585498"/>
              <a:gd name="connsiteX261" fmla="*/ 240143 w 585502"/>
              <a:gd name="connsiteY261" fmla="*/ 452112 h 585498"/>
              <a:gd name="connsiteX262" fmla="*/ 236884 w 585502"/>
              <a:gd name="connsiteY262" fmla="*/ 454561 h 585498"/>
              <a:gd name="connsiteX263" fmla="*/ 233626 w 585502"/>
              <a:gd name="connsiteY263" fmla="*/ 456193 h 585498"/>
              <a:gd name="connsiteX264" fmla="*/ 230368 w 585502"/>
              <a:gd name="connsiteY264" fmla="*/ 458641 h 585498"/>
              <a:gd name="connsiteX265" fmla="*/ 225481 w 585502"/>
              <a:gd name="connsiteY265" fmla="*/ 458641 h 585498"/>
              <a:gd name="connsiteX266" fmla="*/ 224667 w 585502"/>
              <a:gd name="connsiteY266" fmla="*/ 458641 h 585498"/>
              <a:gd name="connsiteX267" fmla="*/ 221408 w 585502"/>
              <a:gd name="connsiteY267" fmla="*/ 458641 h 585498"/>
              <a:gd name="connsiteX268" fmla="*/ 217336 w 585502"/>
              <a:gd name="connsiteY268" fmla="*/ 457009 h 585498"/>
              <a:gd name="connsiteX269" fmla="*/ 214078 w 585502"/>
              <a:gd name="connsiteY269" fmla="*/ 455377 h 585498"/>
              <a:gd name="connsiteX270" fmla="*/ 210820 w 585502"/>
              <a:gd name="connsiteY270" fmla="*/ 453745 h 585498"/>
              <a:gd name="connsiteX271" fmla="*/ 94342 w 585502"/>
              <a:gd name="connsiteY271" fmla="*/ 336228 h 585498"/>
              <a:gd name="connsiteX272" fmla="*/ 91084 w 585502"/>
              <a:gd name="connsiteY272" fmla="*/ 332964 h 585498"/>
              <a:gd name="connsiteX273" fmla="*/ 89455 w 585502"/>
              <a:gd name="connsiteY273" fmla="*/ 329699 h 585498"/>
              <a:gd name="connsiteX274" fmla="*/ 88641 w 585502"/>
              <a:gd name="connsiteY274" fmla="*/ 325619 h 585498"/>
              <a:gd name="connsiteX275" fmla="*/ 87826 w 585502"/>
              <a:gd name="connsiteY275" fmla="*/ 322355 h 585498"/>
              <a:gd name="connsiteX276" fmla="*/ 88641 w 585502"/>
              <a:gd name="connsiteY276" fmla="*/ 318274 h 585498"/>
              <a:gd name="connsiteX277" fmla="*/ 89455 w 585502"/>
              <a:gd name="connsiteY277" fmla="*/ 315010 h 585498"/>
              <a:gd name="connsiteX278" fmla="*/ 91084 w 585502"/>
              <a:gd name="connsiteY278" fmla="*/ 311745 h 585498"/>
              <a:gd name="connsiteX279" fmla="*/ 94342 w 585502"/>
              <a:gd name="connsiteY279" fmla="*/ 307665 h 585498"/>
              <a:gd name="connsiteX280" fmla="*/ 96786 w 585502"/>
              <a:gd name="connsiteY280" fmla="*/ 305217 h 585498"/>
              <a:gd name="connsiteX281" fmla="*/ 100858 w 585502"/>
              <a:gd name="connsiteY281" fmla="*/ 303585 h 585498"/>
              <a:gd name="connsiteX282" fmla="*/ 104117 w 585502"/>
              <a:gd name="connsiteY282" fmla="*/ 302768 h 585498"/>
              <a:gd name="connsiteX283" fmla="*/ 107375 w 585502"/>
              <a:gd name="connsiteY283" fmla="*/ 302768 h 585498"/>
              <a:gd name="connsiteX284" fmla="*/ 111447 w 585502"/>
              <a:gd name="connsiteY284" fmla="*/ 302768 h 585498"/>
              <a:gd name="connsiteX285" fmla="*/ 114705 w 585502"/>
              <a:gd name="connsiteY285" fmla="*/ 303585 h 585498"/>
              <a:gd name="connsiteX286" fmla="*/ 118778 w 585502"/>
              <a:gd name="connsiteY286" fmla="*/ 305217 h 585498"/>
              <a:gd name="connsiteX287" fmla="*/ 121222 w 585502"/>
              <a:gd name="connsiteY287" fmla="*/ 307665 h 585498"/>
              <a:gd name="connsiteX288" fmla="*/ 223037 w 585502"/>
              <a:gd name="connsiteY288" fmla="*/ 410492 h 585498"/>
              <a:gd name="connsiteX289" fmla="*/ 551292 w 585502"/>
              <a:gd name="connsiteY289" fmla="*/ 6529 h 585498"/>
              <a:gd name="connsiteX290" fmla="*/ 553735 w 585502"/>
              <a:gd name="connsiteY290" fmla="*/ 4081 h 585498"/>
              <a:gd name="connsiteX291" fmla="*/ 556994 w 585502"/>
              <a:gd name="connsiteY291" fmla="*/ 1632 h 585498"/>
              <a:gd name="connsiteX292" fmla="*/ 560252 w 585502"/>
              <a:gd name="connsiteY292" fmla="*/ 816 h 58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</a:cxnLst>
            <a:rect l="l" t="t" r="r" b="b"/>
            <a:pathLst>
              <a:path w="585502" h="585498">
                <a:moveTo>
                  <a:pt x="240298" y="104089"/>
                </a:moveTo>
                <a:lnTo>
                  <a:pt x="254146" y="104902"/>
                </a:lnTo>
                <a:lnTo>
                  <a:pt x="267994" y="106529"/>
                </a:lnTo>
                <a:lnTo>
                  <a:pt x="282656" y="108155"/>
                </a:lnTo>
                <a:lnTo>
                  <a:pt x="295689" y="111408"/>
                </a:lnTo>
                <a:lnTo>
                  <a:pt x="309537" y="115474"/>
                </a:lnTo>
                <a:lnTo>
                  <a:pt x="321755" y="118727"/>
                </a:lnTo>
                <a:lnTo>
                  <a:pt x="334788" y="124419"/>
                </a:lnTo>
                <a:lnTo>
                  <a:pt x="347821" y="130111"/>
                </a:lnTo>
                <a:lnTo>
                  <a:pt x="351080" y="132551"/>
                </a:lnTo>
                <a:lnTo>
                  <a:pt x="353523" y="134990"/>
                </a:lnTo>
                <a:lnTo>
                  <a:pt x="355967" y="137430"/>
                </a:lnTo>
                <a:lnTo>
                  <a:pt x="356782" y="141496"/>
                </a:lnTo>
                <a:lnTo>
                  <a:pt x="357596" y="144749"/>
                </a:lnTo>
                <a:lnTo>
                  <a:pt x="359225" y="149628"/>
                </a:lnTo>
                <a:lnTo>
                  <a:pt x="357596" y="152881"/>
                </a:lnTo>
                <a:lnTo>
                  <a:pt x="355967" y="156133"/>
                </a:lnTo>
                <a:lnTo>
                  <a:pt x="354338" y="160199"/>
                </a:lnTo>
                <a:lnTo>
                  <a:pt x="351894" y="162639"/>
                </a:lnTo>
                <a:lnTo>
                  <a:pt x="348636" y="164265"/>
                </a:lnTo>
                <a:lnTo>
                  <a:pt x="345378" y="166705"/>
                </a:lnTo>
                <a:lnTo>
                  <a:pt x="342119" y="167518"/>
                </a:lnTo>
                <a:lnTo>
                  <a:pt x="338047" y="167518"/>
                </a:lnTo>
                <a:lnTo>
                  <a:pt x="333974" y="166705"/>
                </a:lnTo>
                <a:lnTo>
                  <a:pt x="329901" y="165078"/>
                </a:lnTo>
                <a:lnTo>
                  <a:pt x="319312" y="160199"/>
                </a:lnTo>
                <a:lnTo>
                  <a:pt x="308722" y="156133"/>
                </a:lnTo>
                <a:lnTo>
                  <a:pt x="297318" y="152067"/>
                </a:lnTo>
                <a:lnTo>
                  <a:pt x="286729" y="149628"/>
                </a:lnTo>
                <a:lnTo>
                  <a:pt x="275325" y="146375"/>
                </a:lnTo>
                <a:lnTo>
                  <a:pt x="263921" y="144749"/>
                </a:lnTo>
                <a:lnTo>
                  <a:pt x="252517" y="143935"/>
                </a:lnTo>
                <a:lnTo>
                  <a:pt x="240298" y="143935"/>
                </a:lnTo>
                <a:lnTo>
                  <a:pt x="230523" y="143935"/>
                </a:lnTo>
                <a:lnTo>
                  <a:pt x="220749" y="144749"/>
                </a:lnTo>
                <a:lnTo>
                  <a:pt x="209345" y="145562"/>
                </a:lnTo>
                <a:lnTo>
                  <a:pt x="199570" y="147188"/>
                </a:lnTo>
                <a:lnTo>
                  <a:pt x="189795" y="150441"/>
                </a:lnTo>
                <a:lnTo>
                  <a:pt x="180835" y="152881"/>
                </a:lnTo>
                <a:lnTo>
                  <a:pt x="171060" y="155320"/>
                </a:lnTo>
                <a:lnTo>
                  <a:pt x="162099" y="160199"/>
                </a:lnTo>
                <a:lnTo>
                  <a:pt x="153139" y="163452"/>
                </a:lnTo>
                <a:lnTo>
                  <a:pt x="144993" y="168331"/>
                </a:lnTo>
                <a:lnTo>
                  <a:pt x="136033" y="172397"/>
                </a:lnTo>
                <a:lnTo>
                  <a:pt x="127888" y="178089"/>
                </a:lnTo>
                <a:lnTo>
                  <a:pt x="119742" y="184595"/>
                </a:lnTo>
                <a:lnTo>
                  <a:pt x="112411" y="189474"/>
                </a:lnTo>
                <a:lnTo>
                  <a:pt x="105080" y="195980"/>
                </a:lnTo>
                <a:lnTo>
                  <a:pt x="97748" y="203298"/>
                </a:lnTo>
                <a:lnTo>
                  <a:pt x="90417" y="210617"/>
                </a:lnTo>
                <a:lnTo>
                  <a:pt x="84715" y="217936"/>
                </a:lnTo>
                <a:lnTo>
                  <a:pt x="79013" y="224441"/>
                </a:lnTo>
                <a:lnTo>
                  <a:pt x="72497" y="232573"/>
                </a:lnTo>
                <a:lnTo>
                  <a:pt x="68424" y="240705"/>
                </a:lnTo>
                <a:lnTo>
                  <a:pt x="62722" y="248837"/>
                </a:lnTo>
                <a:lnTo>
                  <a:pt x="58649" y="257782"/>
                </a:lnTo>
                <a:lnTo>
                  <a:pt x="54576" y="266727"/>
                </a:lnTo>
                <a:lnTo>
                  <a:pt x="51318" y="275672"/>
                </a:lnTo>
                <a:lnTo>
                  <a:pt x="47245" y="285431"/>
                </a:lnTo>
                <a:lnTo>
                  <a:pt x="44801" y="294376"/>
                </a:lnTo>
                <a:lnTo>
                  <a:pt x="43172" y="304947"/>
                </a:lnTo>
                <a:lnTo>
                  <a:pt x="41543" y="314706"/>
                </a:lnTo>
                <a:lnTo>
                  <a:pt x="39914" y="324464"/>
                </a:lnTo>
                <a:lnTo>
                  <a:pt x="38285" y="335035"/>
                </a:lnTo>
                <a:lnTo>
                  <a:pt x="38285" y="344794"/>
                </a:lnTo>
                <a:lnTo>
                  <a:pt x="38285" y="356178"/>
                </a:lnTo>
                <a:lnTo>
                  <a:pt x="39914" y="365937"/>
                </a:lnTo>
                <a:lnTo>
                  <a:pt x="41543" y="376508"/>
                </a:lnTo>
                <a:lnTo>
                  <a:pt x="43172" y="386266"/>
                </a:lnTo>
                <a:lnTo>
                  <a:pt x="44801" y="396025"/>
                </a:lnTo>
                <a:lnTo>
                  <a:pt x="47245" y="404970"/>
                </a:lnTo>
                <a:lnTo>
                  <a:pt x="51318" y="414728"/>
                </a:lnTo>
                <a:lnTo>
                  <a:pt x="54576" y="424486"/>
                </a:lnTo>
                <a:lnTo>
                  <a:pt x="58649" y="433431"/>
                </a:lnTo>
                <a:lnTo>
                  <a:pt x="62722" y="442377"/>
                </a:lnTo>
                <a:lnTo>
                  <a:pt x="68424" y="450508"/>
                </a:lnTo>
                <a:lnTo>
                  <a:pt x="72497" y="457827"/>
                </a:lnTo>
                <a:lnTo>
                  <a:pt x="79013" y="465959"/>
                </a:lnTo>
                <a:lnTo>
                  <a:pt x="84715" y="474091"/>
                </a:lnTo>
                <a:lnTo>
                  <a:pt x="90417" y="481410"/>
                </a:lnTo>
                <a:lnTo>
                  <a:pt x="97748" y="487915"/>
                </a:lnTo>
                <a:lnTo>
                  <a:pt x="105080" y="495234"/>
                </a:lnTo>
                <a:lnTo>
                  <a:pt x="112411" y="500926"/>
                </a:lnTo>
                <a:lnTo>
                  <a:pt x="119742" y="507432"/>
                </a:lnTo>
                <a:lnTo>
                  <a:pt x="127888" y="513124"/>
                </a:lnTo>
                <a:lnTo>
                  <a:pt x="136033" y="518003"/>
                </a:lnTo>
                <a:lnTo>
                  <a:pt x="144993" y="522882"/>
                </a:lnTo>
                <a:lnTo>
                  <a:pt x="153139" y="526948"/>
                </a:lnTo>
                <a:lnTo>
                  <a:pt x="162099" y="531014"/>
                </a:lnTo>
                <a:lnTo>
                  <a:pt x="171060" y="534267"/>
                </a:lnTo>
                <a:lnTo>
                  <a:pt x="180835" y="538333"/>
                </a:lnTo>
                <a:lnTo>
                  <a:pt x="189795" y="540773"/>
                </a:lnTo>
                <a:lnTo>
                  <a:pt x="199570" y="542399"/>
                </a:lnTo>
                <a:lnTo>
                  <a:pt x="209345" y="544025"/>
                </a:lnTo>
                <a:lnTo>
                  <a:pt x="220749" y="546465"/>
                </a:lnTo>
                <a:lnTo>
                  <a:pt x="230523" y="547278"/>
                </a:lnTo>
                <a:lnTo>
                  <a:pt x="240298" y="547278"/>
                </a:lnTo>
                <a:lnTo>
                  <a:pt x="250888" y="547278"/>
                </a:lnTo>
                <a:lnTo>
                  <a:pt x="260662" y="546465"/>
                </a:lnTo>
                <a:lnTo>
                  <a:pt x="271252" y="544025"/>
                </a:lnTo>
                <a:lnTo>
                  <a:pt x="281841" y="542399"/>
                </a:lnTo>
                <a:lnTo>
                  <a:pt x="291616" y="540773"/>
                </a:lnTo>
                <a:lnTo>
                  <a:pt x="300576" y="538333"/>
                </a:lnTo>
                <a:lnTo>
                  <a:pt x="310351" y="534267"/>
                </a:lnTo>
                <a:lnTo>
                  <a:pt x="319312" y="531014"/>
                </a:lnTo>
                <a:lnTo>
                  <a:pt x="328272" y="526948"/>
                </a:lnTo>
                <a:lnTo>
                  <a:pt x="336417" y="522882"/>
                </a:lnTo>
                <a:lnTo>
                  <a:pt x="345378" y="518003"/>
                </a:lnTo>
                <a:lnTo>
                  <a:pt x="353523" y="513124"/>
                </a:lnTo>
                <a:lnTo>
                  <a:pt x="361669" y="507432"/>
                </a:lnTo>
                <a:lnTo>
                  <a:pt x="369000" y="500926"/>
                </a:lnTo>
                <a:lnTo>
                  <a:pt x="376331" y="495234"/>
                </a:lnTo>
                <a:lnTo>
                  <a:pt x="382848" y="487915"/>
                </a:lnTo>
                <a:lnTo>
                  <a:pt x="390179" y="481410"/>
                </a:lnTo>
                <a:lnTo>
                  <a:pt x="396696" y="474091"/>
                </a:lnTo>
                <a:lnTo>
                  <a:pt x="402398" y="465959"/>
                </a:lnTo>
                <a:lnTo>
                  <a:pt x="408100" y="457827"/>
                </a:lnTo>
                <a:lnTo>
                  <a:pt x="412987" y="450508"/>
                </a:lnTo>
                <a:lnTo>
                  <a:pt x="417875" y="442377"/>
                </a:lnTo>
                <a:lnTo>
                  <a:pt x="422762" y="433431"/>
                </a:lnTo>
                <a:lnTo>
                  <a:pt x="426020" y="424486"/>
                </a:lnTo>
                <a:lnTo>
                  <a:pt x="430093" y="414728"/>
                </a:lnTo>
                <a:lnTo>
                  <a:pt x="433351" y="404970"/>
                </a:lnTo>
                <a:lnTo>
                  <a:pt x="436610" y="396025"/>
                </a:lnTo>
                <a:lnTo>
                  <a:pt x="438239" y="386266"/>
                </a:lnTo>
                <a:lnTo>
                  <a:pt x="439868" y="376508"/>
                </a:lnTo>
                <a:lnTo>
                  <a:pt x="441497" y="365937"/>
                </a:lnTo>
                <a:lnTo>
                  <a:pt x="442312" y="356178"/>
                </a:lnTo>
                <a:lnTo>
                  <a:pt x="442312" y="344794"/>
                </a:lnTo>
                <a:lnTo>
                  <a:pt x="442312" y="334222"/>
                </a:lnTo>
                <a:lnTo>
                  <a:pt x="441497" y="322837"/>
                </a:lnTo>
                <a:lnTo>
                  <a:pt x="439868" y="311453"/>
                </a:lnTo>
                <a:lnTo>
                  <a:pt x="437424" y="300068"/>
                </a:lnTo>
                <a:lnTo>
                  <a:pt x="437424" y="296815"/>
                </a:lnTo>
                <a:lnTo>
                  <a:pt x="437424" y="292749"/>
                </a:lnTo>
                <a:lnTo>
                  <a:pt x="438239" y="289497"/>
                </a:lnTo>
                <a:lnTo>
                  <a:pt x="439868" y="287057"/>
                </a:lnTo>
                <a:lnTo>
                  <a:pt x="442312" y="282991"/>
                </a:lnTo>
                <a:lnTo>
                  <a:pt x="445570" y="280552"/>
                </a:lnTo>
                <a:lnTo>
                  <a:pt x="448014" y="278925"/>
                </a:lnTo>
                <a:lnTo>
                  <a:pt x="452086" y="276486"/>
                </a:lnTo>
                <a:lnTo>
                  <a:pt x="456159" y="276486"/>
                </a:lnTo>
                <a:lnTo>
                  <a:pt x="459418" y="278112"/>
                </a:lnTo>
                <a:lnTo>
                  <a:pt x="463490" y="278925"/>
                </a:lnTo>
                <a:lnTo>
                  <a:pt x="466749" y="280552"/>
                </a:lnTo>
                <a:lnTo>
                  <a:pt x="469192" y="282178"/>
                </a:lnTo>
                <a:lnTo>
                  <a:pt x="472451" y="284618"/>
                </a:lnTo>
                <a:lnTo>
                  <a:pt x="474080" y="288683"/>
                </a:lnTo>
                <a:lnTo>
                  <a:pt x="475709" y="291936"/>
                </a:lnTo>
                <a:lnTo>
                  <a:pt x="478153" y="305760"/>
                </a:lnTo>
                <a:lnTo>
                  <a:pt x="480596" y="318772"/>
                </a:lnTo>
                <a:lnTo>
                  <a:pt x="481411" y="332596"/>
                </a:lnTo>
                <a:lnTo>
                  <a:pt x="481411" y="344794"/>
                </a:lnTo>
                <a:lnTo>
                  <a:pt x="481411" y="357805"/>
                </a:lnTo>
                <a:lnTo>
                  <a:pt x="480596" y="370003"/>
                </a:lnTo>
                <a:lnTo>
                  <a:pt x="478153" y="382200"/>
                </a:lnTo>
                <a:lnTo>
                  <a:pt x="476524" y="394398"/>
                </a:lnTo>
                <a:lnTo>
                  <a:pt x="474080" y="405783"/>
                </a:lnTo>
                <a:lnTo>
                  <a:pt x="470007" y="417168"/>
                </a:lnTo>
                <a:lnTo>
                  <a:pt x="466749" y="428552"/>
                </a:lnTo>
                <a:lnTo>
                  <a:pt x="462676" y="439124"/>
                </a:lnTo>
                <a:lnTo>
                  <a:pt x="457788" y="450508"/>
                </a:lnTo>
                <a:lnTo>
                  <a:pt x="452086" y="460267"/>
                </a:lnTo>
                <a:lnTo>
                  <a:pt x="447199" y="470838"/>
                </a:lnTo>
                <a:lnTo>
                  <a:pt x="440683" y="479783"/>
                </a:lnTo>
                <a:lnTo>
                  <a:pt x="433351" y="489542"/>
                </a:lnTo>
                <a:lnTo>
                  <a:pt x="426020" y="498487"/>
                </a:lnTo>
                <a:lnTo>
                  <a:pt x="419504" y="507432"/>
                </a:lnTo>
                <a:lnTo>
                  <a:pt x="411358" y="515564"/>
                </a:lnTo>
                <a:lnTo>
                  <a:pt x="402398" y="523696"/>
                </a:lnTo>
                <a:lnTo>
                  <a:pt x="394252" y="531014"/>
                </a:lnTo>
                <a:lnTo>
                  <a:pt x="385292" y="538333"/>
                </a:lnTo>
                <a:lnTo>
                  <a:pt x="374702" y="545652"/>
                </a:lnTo>
                <a:lnTo>
                  <a:pt x="364927" y="551344"/>
                </a:lnTo>
                <a:lnTo>
                  <a:pt x="355153" y="557036"/>
                </a:lnTo>
                <a:lnTo>
                  <a:pt x="344563" y="562729"/>
                </a:lnTo>
                <a:lnTo>
                  <a:pt x="334788" y="566795"/>
                </a:lnTo>
                <a:lnTo>
                  <a:pt x="322570" y="571674"/>
                </a:lnTo>
                <a:lnTo>
                  <a:pt x="311980" y="574927"/>
                </a:lnTo>
                <a:lnTo>
                  <a:pt x="300576" y="578179"/>
                </a:lnTo>
                <a:lnTo>
                  <a:pt x="288358" y="581432"/>
                </a:lnTo>
                <a:lnTo>
                  <a:pt x="276954" y="583059"/>
                </a:lnTo>
                <a:lnTo>
                  <a:pt x="265550" y="584685"/>
                </a:lnTo>
                <a:lnTo>
                  <a:pt x="252517" y="585498"/>
                </a:lnTo>
                <a:lnTo>
                  <a:pt x="240298" y="585498"/>
                </a:lnTo>
                <a:lnTo>
                  <a:pt x="228080" y="585498"/>
                </a:lnTo>
                <a:lnTo>
                  <a:pt x="215861" y="584685"/>
                </a:lnTo>
                <a:lnTo>
                  <a:pt x="204457" y="583059"/>
                </a:lnTo>
                <a:lnTo>
                  <a:pt x="192239" y="581432"/>
                </a:lnTo>
                <a:lnTo>
                  <a:pt x="180835" y="578179"/>
                </a:lnTo>
                <a:lnTo>
                  <a:pt x="169431" y="574927"/>
                </a:lnTo>
                <a:lnTo>
                  <a:pt x="157212" y="571674"/>
                </a:lnTo>
                <a:lnTo>
                  <a:pt x="146623" y="566795"/>
                </a:lnTo>
                <a:lnTo>
                  <a:pt x="136033" y="562729"/>
                </a:lnTo>
                <a:lnTo>
                  <a:pt x="126258" y="557036"/>
                </a:lnTo>
                <a:lnTo>
                  <a:pt x="115669" y="551344"/>
                </a:lnTo>
                <a:lnTo>
                  <a:pt x="105894" y="545652"/>
                </a:lnTo>
                <a:lnTo>
                  <a:pt x="96119" y="538333"/>
                </a:lnTo>
                <a:lnTo>
                  <a:pt x="87159" y="531014"/>
                </a:lnTo>
                <a:lnTo>
                  <a:pt x="78199" y="523696"/>
                </a:lnTo>
                <a:lnTo>
                  <a:pt x="70053" y="515564"/>
                </a:lnTo>
                <a:lnTo>
                  <a:pt x="61907" y="507432"/>
                </a:lnTo>
                <a:lnTo>
                  <a:pt x="54576" y="498487"/>
                </a:lnTo>
                <a:lnTo>
                  <a:pt x="47245" y="489542"/>
                </a:lnTo>
                <a:lnTo>
                  <a:pt x="40729" y="479783"/>
                </a:lnTo>
                <a:lnTo>
                  <a:pt x="34212" y="470838"/>
                </a:lnTo>
                <a:lnTo>
                  <a:pt x="28510" y="460267"/>
                </a:lnTo>
                <a:lnTo>
                  <a:pt x="23623" y="450508"/>
                </a:lnTo>
                <a:lnTo>
                  <a:pt x="18735" y="439124"/>
                </a:lnTo>
                <a:lnTo>
                  <a:pt x="14662" y="428552"/>
                </a:lnTo>
                <a:lnTo>
                  <a:pt x="10589" y="417168"/>
                </a:lnTo>
                <a:lnTo>
                  <a:pt x="7331" y="405783"/>
                </a:lnTo>
                <a:lnTo>
                  <a:pt x="4073" y="394398"/>
                </a:lnTo>
                <a:lnTo>
                  <a:pt x="2444" y="382200"/>
                </a:lnTo>
                <a:lnTo>
                  <a:pt x="815" y="370003"/>
                </a:lnTo>
                <a:lnTo>
                  <a:pt x="0" y="357805"/>
                </a:lnTo>
                <a:lnTo>
                  <a:pt x="0" y="344794"/>
                </a:lnTo>
                <a:lnTo>
                  <a:pt x="0" y="333409"/>
                </a:lnTo>
                <a:lnTo>
                  <a:pt x="815" y="321211"/>
                </a:lnTo>
                <a:lnTo>
                  <a:pt x="2444" y="309013"/>
                </a:lnTo>
                <a:lnTo>
                  <a:pt x="4073" y="297629"/>
                </a:lnTo>
                <a:lnTo>
                  <a:pt x="7331" y="285431"/>
                </a:lnTo>
                <a:lnTo>
                  <a:pt x="10589" y="274046"/>
                </a:lnTo>
                <a:lnTo>
                  <a:pt x="14662" y="262661"/>
                </a:lnTo>
                <a:lnTo>
                  <a:pt x="18735" y="251277"/>
                </a:lnTo>
                <a:lnTo>
                  <a:pt x="23623" y="240705"/>
                </a:lnTo>
                <a:lnTo>
                  <a:pt x="28510" y="230947"/>
                </a:lnTo>
                <a:lnTo>
                  <a:pt x="34212" y="221189"/>
                </a:lnTo>
                <a:lnTo>
                  <a:pt x="40729" y="211430"/>
                </a:lnTo>
                <a:lnTo>
                  <a:pt x="47245" y="201672"/>
                </a:lnTo>
                <a:lnTo>
                  <a:pt x="54576" y="192727"/>
                </a:lnTo>
                <a:lnTo>
                  <a:pt x="61907" y="183782"/>
                </a:lnTo>
                <a:lnTo>
                  <a:pt x="70053" y="175650"/>
                </a:lnTo>
                <a:lnTo>
                  <a:pt x="78199" y="167518"/>
                </a:lnTo>
                <a:lnTo>
                  <a:pt x="87159" y="160199"/>
                </a:lnTo>
                <a:lnTo>
                  <a:pt x="96119" y="152881"/>
                </a:lnTo>
                <a:lnTo>
                  <a:pt x="105894" y="145562"/>
                </a:lnTo>
                <a:lnTo>
                  <a:pt x="115669" y="139056"/>
                </a:lnTo>
                <a:lnTo>
                  <a:pt x="126258" y="134177"/>
                </a:lnTo>
                <a:lnTo>
                  <a:pt x="136033" y="128485"/>
                </a:lnTo>
                <a:lnTo>
                  <a:pt x="146623" y="124419"/>
                </a:lnTo>
                <a:lnTo>
                  <a:pt x="157212" y="119540"/>
                </a:lnTo>
                <a:lnTo>
                  <a:pt x="169431" y="116287"/>
                </a:lnTo>
                <a:lnTo>
                  <a:pt x="180835" y="112221"/>
                </a:lnTo>
                <a:lnTo>
                  <a:pt x="192239" y="109781"/>
                </a:lnTo>
                <a:lnTo>
                  <a:pt x="204457" y="108155"/>
                </a:lnTo>
                <a:lnTo>
                  <a:pt x="215861" y="106529"/>
                </a:lnTo>
                <a:lnTo>
                  <a:pt x="228080" y="104902"/>
                </a:lnTo>
                <a:close/>
                <a:moveTo>
                  <a:pt x="564324" y="0"/>
                </a:moveTo>
                <a:lnTo>
                  <a:pt x="568397" y="0"/>
                </a:lnTo>
                <a:lnTo>
                  <a:pt x="571655" y="816"/>
                </a:lnTo>
                <a:lnTo>
                  <a:pt x="575728" y="1632"/>
                </a:lnTo>
                <a:lnTo>
                  <a:pt x="578171" y="4081"/>
                </a:lnTo>
                <a:lnTo>
                  <a:pt x="581429" y="6529"/>
                </a:lnTo>
                <a:lnTo>
                  <a:pt x="583873" y="9793"/>
                </a:lnTo>
                <a:lnTo>
                  <a:pt x="585502" y="13058"/>
                </a:lnTo>
                <a:lnTo>
                  <a:pt x="585502" y="16322"/>
                </a:lnTo>
                <a:lnTo>
                  <a:pt x="585502" y="20402"/>
                </a:lnTo>
                <a:lnTo>
                  <a:pt x="585502" y="23667"/>
                </a:lnTo>
                <a:lnTo>
                  <a:pt x="583873" y="27747"/>
                </a:lnTo>
                <a:lnTo>
                  <a:pt x="581429" y="31011"/>
                </a:lnTo>
                <a:lnTo>
                  <a:pt x="240143" y="452112"/>
                </a:lnTo>
                <a:lnTo>
                  <a:pt x="236884" y="454561"/>
                </a:lnTo>
                <a:lnTo>
                  <a:pt x="233626" y="456193"/>
                </a:lnTo>
                <a:lnTo>
                  <a:pt x="230368" y="458641"/>
                </a:lnTo>
                <a:lnTo>
                  <a:pt x="225481" y="458641"/>
                </a:lnTo>
                <a:lnTo>
                  <a:pt x="224667" y="458641"/>
                </a:lnTo>
                <a:lnTo>
                  <a:pt x="221408" y="458641"/>
                </a:lnTo>
                <a:lnTo>
                  <a:pt x="217336" y="457009"/>
                </a:lnTo>
                <a:lnTo>
                  <a:pt x="214078" y="455377"/>
                </a:lnTo>
                <a:lnTo>
                  <a:pt x="210820" y="453745"/>
                </a:lnTo>
                <a:lnTo>
                  <a:pt x="94342" y="336228"/>
                </a:lnTo>
                <a:lnTo>
                  <a:pt x="91084" y="332964"/>
                </a:lnTo>
                <a:lnTo>
                  <a:pt x="89455" y="329699"/>
                </a:lnTo>
                <a:lnTo>
                  <a:pt x="88641" y="325619"/>
                </a:lnTo>
                <a:lnTo>
                  <a:pt x="87826" y="322355"/>
                </a:lnTo>
                <a:lnTo>
                  <a:pt x="88641" y="318274"/>
                </a:lnTo>
                <a:lnTo>
                  <a:pt x="89455" y="315010"/>
                </a:lnTo>
                <a:lnTo>
                  <a:pt x="91084" y="311745"/>
                </a:lnTo>
                <a:lnTo>
                  <a:pt x="94342" y="307665"/>
                </a:lnTo>
                <a:lnTo>
                  <a:pt x="96786" y="305217"/>
                </a:lnTo>
                <a:lnTo>
                  <a:pt x="100858" y="303585"/>
                </a:lnTo>
                <a:lnTo>
                  <a:pt x="104117" y="302768"/>
                </a:lnTo>
                <a:lnTo>
                  <a:pt x="107375" y="302768"/>
                </a:lnTo>
                <a:lnTo>
                  <a:pt x="111447" y="302768"/>
                </a:lnTo>
                <a:lnTo>
                  <a:pt x="114705" y="303585"/>
                </a:lnTo>
                <a:lnTo>
                  <a:pt x="118778" y="305217"/>
                </a:lnTo>
                <a:lnTo>
                  <a:pt x="121222" y="307665"/>
                </a:lnTo>
                <a:lnTo>
                  <a:pt x="223037" y="410492"/>
                </a:lnTo>
                <a:lnTo>
                  <a:pt x="551292" y="6529"/>
                </a:lnTo>
                <a:lnTo>
                  <a:pt x="553735" y="4081"/>
                </a:lnTo>
                <a:lnTo>
                  <a:pt x="556994" y="1632"/>
                </a:lnTo>
                <a:lnTo>
                  <a:pt x="560252" y="816"/>
                </a:lnTo>
                <a:close/>
              </a:path>
            </a:pathLst>
          </a:custGeom>
          <a:solidFill>
            <a:srgbClr val="4276AA"/>
          </a:solidFill>
          <a:ln>
            <a:noFill/>
          </a:ln>
        </p:spPr>
        <p:txBody>
          <a:bodyPr vert="horz" wrap="square" lIns="113395" tIns="56698" rIns="113395" bIns="56698" numCol="1" anchor="t" anchorCtr="0" compatLnSpc="1">
            <a:normAutofit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32">
              <a:solidFill>
                <a:srgbClr val="000000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>
            <a:off x="9736058" y="2244737"/>
            <a:ext cx="0" cy="5245641"/>
          </a:xfrm>
          <a:prstGeom prst="line">
            <a:avLst/>
          </a:prstGeom>
          <a:ln w="3175" cap="rnd">
            <a:solidFill>
              <a:srgbClr val="FFFFFF">
                <a:lumMod val="85000"/>
              </a:srgbClr>
            </a:solidFill>
            <a:round/>
            <a:headEnd type="none"/>
            <a:tailEnd type="none" w="med" len="med"/>
          </a:ln>
        </p:spPr>
        <p:style>
          <a:lnRef idx="1">
            <a:srgbClr val="4276AA"/>
          </a:lnRef>
          <a:fillRef idx="0">
            <a:srgbClr val="4276AA"/>
          </a:fillRef>
          <a:effectRef idx="0">
            <a:srgbClr val="4276AA"/>
          </a:effectRef>
          <a:fontRef idx="minor">
            <a:srgbClr val="000000"/>
          </a:fontRef>
        </p:style>
      </p:cxn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 bwMode="auto">
          <a:xfrm>
            <a:off x="10098467" y="5575862"/>
            <a:ext cx="4522418" cy="58272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3395" tIns="56698" rIns="113395" bIns="0" anchor="b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lvl="0"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2356" b="1" spc="372">
                <a:solidFill>
                  <a:srgbClr val="000000">
                    <a:lumMod val="95000"/>
                    <a:lumOff val="5000"/>
                  </a:srgbClr>
                </a:solidFill>
                <a:ea typeface="微软雅黑" panose="020B0503020204020204" pitchFamily="34" charset="-122"/>
                <a:sym typeface="+mn-ea"/>
              </a:rPr>
              <a:t>护理人员不足 影响机构运转</a:t>
            </a:r>
          </a:p>
        </p:txBody>
      </p:sp>
      <p:sp>
        <p:nvSpPr>
          <p:cNvPr id="74" name="矩形 73"/>
          <p:cNvSpPr/>
          <p:nvPr>
            <p:custDataLst>
              <p:tags r:id="rId9"/>
            </p:custDataLst>
          </p:nvPr>
        </p:nvSpPr>
        <p:spPr bwMode="auto">
          <a:xfrm>
            <a:off x="1533220" y="3540445"/>
            <a:ext cx="7980416" cy="1088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3395" tIns="56698" rIns="113395" bIns="56698" anchor="ctr" anchorCtr="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marL="354359" indent="-354359" fontAlgn="ctr">
              <a:lnSpc>
                <a:spcPct val="130000"/>
              </a:lnSpc>
              <a:spcBef>
                <a:spcPts val="124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32" spc="186">
                <a:ea typeface="微软雅黑" panose="020B0503020204020204" pitchFamily="34" charset="-122"/>
              </a:rPr>
              <a:t>护理工作劳动强度大</a:t>
            </a:r>
          </a:p>
          <a:p>
            <a:pPr marL="354359" indent="-354359" fontAlgn="ctr">
              <a:lnSpc>
                <a:spcPct val="130000"/>
              </a:lnSpc>
              <a:spcBef>
                <a:spcPts val="124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32" spc="186">
                <a:ea typeface="微软雅黑" panose="020B0503020204020204" pitchFamily="34" charset="-122"/>
              </a:rPr>
              <a:t>照顾中风后遗症、血栓后遗症等半失能老人， 每天重复一个动作，一人护理超过8名老人，年弯腰数万次</a:t>
            </a:r>
          </a:p>
        </p:txBody>
      </p:sp>
      <p:sp>
        <p:nvSpPr>
          <p:cNvPr id="69" name="矩形 68"/>
          <p:cNvSpPr/>
          <p:nvPr>
            <p:custDataLst>
              <p:tags r:id="rId10"/>
            </p:custDataLst>
          </p:nvPr>
        </p:nvSpPr>
        <p:spPr>
          <a:xfrm>
            <a:off x="1032368" y="1936088"/>
            <a:ext cx="348668" cy="348411"/>
          </a:xfrm>
          <a:prstGeom prst="rect">
            <a:avLst/>
          </a:prstGeom>
          <a:solidFill>
            <a:srgbClr val="FFFFFF"/>
          </a:solidFill>
          <a:ln w="22225">
            <a:solidFill>
              <a:srgbClr val="778495">
                <a:lumMod val="20000"/>
                <a:lumOff val="80000"/>
              </a:srgbClr>
            </a:solidFill>
          </a:ln>
        </p:spPr>
        <p:style>
          <a:lnRef idx="2">
            <a:srgbClr val="4276AA">
              <a:hueOff val="0"/>
              <a:satOff val="0"/>
              <a:lumOff val="0"/>
              <a:alphaOff val="0"/>
            </a:srgbClr>
          </a:lnRef>
          <a:fillRef idx="1">
            <a:srgbClr val="FFFFFF">
              <a:hueOff val="0"/>
              <a:satOff val="0"/>
              <a:lumOff val="0"/>
              <a:alphaOff val="0"/>
            </a:srgbClr>
          </a:fillRef>
          <a:effectRef idx="0">
            <a:srgbClr val="FFFFFF">
              <a:hueOff val="0"/>
              <a:satOff val="0"/>
              <a:lumOff val="0"/>
              <a:alphaOff val="0"/>
            </a:srgbClr>
          </a:effectRef>
          <a:fontRef idx="minor">
            <a:srgbClr val="000000">
              <a:hueOff val="0"/>
              <a:satOff val="0"/>
              <a:lumOff val="0"/>
              <a:alphaOff val="0"/>
            </a:srgbClr>
          </a:fontRef>
        </p:style>
        <p:txBody>
          <a:bodyPr wrap="square" lIns="113395" tIns="56698" rIns="113395" bIns="56698">
            <a:normAutofit fontScale="80000" lnSpcReduction="20000"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3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0" name="矩形 69"/>
          <p:cNvSpPr/>
          <p:nvPr>
            <p:custDataLst>
              <p:tags r:id="rId11"/>
            </p:custDataLst>
          </p:nvPr>
        </p:nvSpPr>
        <p:spPr bwMode="auto">
          <a:xfrm>
            <a:off x="1597004" y="1776308"/>
            <a:ext cx="7980416" cy="1088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3395" tIns="56698" rIns="113395" bIns="56698" anchor="ctr" anchorCtr="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marL="354359" indent="-354359" fontAlgn="ctr">
              <a:lnSpc>
                <a:spcPct val="130000"/>
              </a:lnSpc>
              <a:spcBef>
                <a:spcPts val="124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232" spc="186">
                <a:ea typeface="微软雅黑" panose="020B0503020204020204" pitchFamily="34" charset="-122"/>
              </a:rPr>
              <a:t>90%以上的民营机构遭遇招聘难度大</a:t>
            </a:r>
          </a:p>
          <a:p>
            <a:pPr marL="354359" indent="-354359" fontAlgn="ctr">
              <a:lnSpc>
                <a:spcPct val="130000"/>
              </a:lnSpc>
              <a:spcBef>
                <a:spcPts val="124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2232" spc="186">
                <a:ea typeface="微软雅黑" panose="020B0503020204020204" pitchFamily="34" charset="-122"/>
              </a:rPr>
              <a:t>50%以上的养老机构都存在人手紧张的局面</a:t>
            </a:r>
          </a:p>
        </p:txBody>
      </p:sp>
      <p:sp>
        <p:nvSpPr>
          <p:cNvPr id="75" name="任意多边形 74"/>
          <p:cNvSpPr/>
          <p:nvPr>
            <p:custDataLst>
              <p:tags r:id="rId12"/>
            </p:custDataLst>
          </p:nvPr>
        </p:nvSpPr>
        <p:spPr bwMode="auto">
          <a:xfrm>
            <a:off x="1072450" y="1856617"/>
            <a:ext cx="420858" cy="387848"/>
          </a:xfrm>
          <a:custGeom>
            <a:avLst/>
            <a:gdLst>
              <a:gd name="T0" fmla="*/ 602 w 611"/>
              <a:gd name="T1" fmla="*/ 5 h 562"/>
              <a:gd name="T2" fmla="*/ 599 w 611"/>
              <a:gd name="T3" fmla="*/ 2 h 562"/>
              <a:gd name="T4" fmla="*/ 594 w 611"/>
              <a:gd name="T5" fmla="*/ 1 h 562"/>
              <a:gd name="T6" fmla="*/ 590 w 611"/>
              <a:gd name="T7" fmla="*/ 0 h 562"/>
              <a:gd name="T8" fmla="*/ 585 w 611"/>
              <a:gd name="T9" fmla="*/ 0 h 562"/>
              <a:gd name="T10" fmla="*/ 580 w 611"/>
              <a:gd name="T11" fmla="*/ 1 h 562"/>
              <a:gd name="T12" fmla="*/ 576 w 611"/>
              <a:gd name="T13" fmla="*/ 2 h 562"/>
              <a:gd name="T14" fmla="*/ 572 w 611"/>
              <a:gd name="T15" fmla="*/ 5 h 562"/>
              <a:gd name="T16" fmla="*/ 569 w 611"/>
              <a:gd name="T17" fmla="*/ 8 h 562"/>
              <a:gd name="T18" fmla="*/ 166 w 611"/>
              <a:gd name="T19" fmla="*/ 503 h 562"/>
              <a:gd name="T20" fmla="*/ 41 w 611"/>
              <a:gd name="T21" fmla="*/ 377 h 562"/>
              <a:gd name="T22" fmla="*/ 38 w 611"/>
              <a:gd name="T23" fmla="*/ 374 h 562"/>
              <a:gd name="T24" fmla="*/ 33 w 611"/>
              <a:gd name="T25" fmla="*/ 372 h 562"/>
              <a:gd name="T26" fmla="*/ 29 w 611"/>
              <a:gd name="T27" fmla="*/ 371 h 562"/>
              <a:gd name="T28" fmla="*/ 24 w 611"/>
              <a:gd name="T29" fmla="*/ 371 h 562"/>
              <a:gd name="T30" fmla="*/ 20 w 611"/>
              <a:gd name="T31" fmla="*/ 371 h 562"/>
              <a:gd name="T32" fmla="*/ 16 w 611"/>
              <a:gd name="T33" fmla="*/ 372 h 562"/>
              <a:gd name="T34" fmla="*/ 11 w 611"/>
              <a:gd name="T35" fmla="*/ 374 h 562"/>
              <a:gd name="T36" fmla="*/ 8 w 611"/>
              <a:gd name="T37" fmla="*/ 377 h 562"/>
              <a:gd name="T38" fmla="*/ 4 w 611"/>
              <a:gd name="T39" fmla="*/ 382 h 562"/>
              <a:gd name="T40" fmla="*/ 2 w 611"/>
              <a:gd name="T41" fmla="*/ 386 h 562"/>
              <a:gd name="T42" fmla="*/ 1 w 611"/>
              <a:gd name="T43" fmla="*/ 390 h 562"/>
              <a:gd name="T44" fmla="*/ 0 w 611"/>
              <a:gd name="T45" fmla="*/ 395 h 562"/>
              <a:gd name="T46" fmla="*/ 1 w 611"/>
              <a:gd name="T47" fmla="*/ 399 h 562"/>
              <a:gd name="T48" fmla="*/ 2 w 611"/>
              <a:gd name="T49" fmla="*/ 404 h 562"/>
              <a:gd name="T50" fmla="*/ 4 w 611"/>
              <a:gd name="T51" fmla="*/ 408 h 562"/>
              <a:gd name="T52" fmla="*/ 8 w 611"/>
              <a:gd name="T53" fmla="*/ 412 h 562"/>
              <a:gd name="T54" fmla="*/ 151 w 611"/>
              <a:gd name="T55" fmla="*/ 556 h 562"/>
              <a:gd name="T56" fmla="*/ 155 w 611"/>
              <a:gd name="T57" fmla="*/ 558 h 562"/>
              <a:gd name="T58" fmla="*/ 159 w 611"/>
              <a:gd name="T59" fmla="*/ 560 h 562"/>
              <a:gd name="T60" fmla="*/ 164 w 611"/>
              <a:gd name="T61" fmla="*/ 562 h 562"/>
              <a:gd name="T62" fmla="*/ 168 w 611"/>
              <a:gd name="T63" fmla="*/ 562 h 562"/>
              <a:gd name="T64" fmla="*/ 169 w 611"/>
              <a:gd name="T65" fmla="*/ 562 h 562"/>
              <a:gd name="T66" fmla="*/ 169 w 611"/>
              <a:gd name="T67" fmla="*/ 562 h 562"/>
              <a:gd name="T68" fmla="*/ 175 w 611"/>
              <a:gd name="T69" fmla="*/ 562 h 562"/>
              <a:gd name="T70" fmla="*/ 179 w 611"/>
              <a:gd name="T71" fmla="*/ 559 h 562"/>
              <a:gd name="T72" fmla="*/ 183 w 611"/>
              <a:gd name="T73" fmla="*/ 557 h 562"/>
              <a:gd name="T74" fmla="*/ 187 w 611"/>
              <a:gd name="T75" fmla="*/ 554 h 562"/>
              <a:gd name="T76" fmla="*/ 606 w 611"/>
              <a:gd name="T77" fmla="*/ 38 h 562"/>
              <a:gd name="T78" fmla="*/ 609 w 611"/>
              <a:gd name="T79" fmla="*/ 34 h 562"/>
              <a:gd name="T80" fmla="*/ 611 w 611"/>
              <a:gd name="T81" fmla="*/ 29 h 562"/>
              <a:gd name="T82" fmla="*/ 611 w 611"/>
              <a:gd name="T83" fmla="*/ 25 h 562"/>
              <a:gd name="T84" fmla="*/ 611 w 611"/>
              <a:gd name="T85" fmla="*/ 20 h 562"/>
              <a:gd name="T86" fmla="*/ 611 w 611"/>
              <a:gd name="T87" fmla="*/ 16 h 562"/>
              <a:gd name="T88" fmla="*/ 609 w 611"/>
              <a:gd name="T89" fmla="*/ 12 h 562"/>
              <a:gd name="T90" fmla="*/ 606 w 611"/>
              <a:gd name="T91" fmla="*/ 8 h 562"/>
              <a:gd name="T92" fmla="*/ 602 w 611"/>
              <a:gd name="T93" fmla="*/ 5 h 5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11" h="562">
                <a:moveTo>
                  <a:pt x="602" y="5"/>
                </a:moveTo>
                <a:lnTo>
                  <a:pt x="599" y="2"/>
                </a:lnTo>
                <a:lnTo>
                  <a:pt x="594" y="1"/>
                </a:lnTo>
                <a:lnTo>
                  <a:pt x="590" y="0"/>
                </a:lnTo>
                <a:lnTo>
                  <a:pt x="585" y="0"/>
                </a:lnTo>
                <a:lnTo>
                  <a:pt x="580" y="1"/>
                </a:lnTo>
                <a:lnTo>
                  <a:pt x="576" y="2"/>
                </a:lnTo>
                <a:lnTo>
                  <a:pt x="572" y="5"/>
                </a:lnTo>
                <a:lnTo>
                  <a:pt x="569" y="8"/>
                </a:lnTo>
                <a:lnTo>
                  <a:pt x="166" y="503"/>
                </a:lnTo>
                <a:lnTo>
                  <a:pt x="41" y="377"/>
                </a:lnTo>
                <a:lnTo>
                  <a:pt x="38" y="374"/>
                </a:lnTo>
                <a:lnTo>
                  <a:pt x="33" y="372"/>
                </a:lnTo>
                <a:lnTo>
                  <a:pt x="29" y="371"/>
                </a:lnTo>
                <a:lnTo>
                  <a:pt x="24" y="371"/>
                </a:lnTo>
                <a:lnTo>
                  <a:pt x="20" y="371"/>
                </a:lnTo>
                <a:lnTo>
                  <a:pt x="16" y="372"/>
                </a:lnTo>
                <a:lnTo>
                  <a:pt x="11" y="374"/>
                </a:lnTo>
                <a:lnTo>
                  <a:pt x="8" y="377"/>
                </a:lnTo>
                <a:lnTo>
                  <a:pt x="4" y="382"/>
                </a:lnTo>
                <a:lnTo>
                  <a:pt x="2" y="386"/>
                </a:lnTo>
                <a:lnTo>
                  <a:pt x="1" y="390"/>
                </a:lnTo>
                <a:lnTo>
                  <a:pt x="0" y="395"/>
                </a:lnTo>
                <a:lnTo>
                  <a:pt x="1" y="399"/>
                </a:lnTo>
                <a:lnTo>
                  <a:pt x="2" y="404"/>
                </a:lnTo>
                <a:lnTo>
                  <a:pt x="4" y="408"/>
                </a:lnTo>
                <a:lnTo>
                  <a:pt x="8" y="412"/>
                </a:lnTo>
                <a:lnTo>
                  <a:pt x="151" y="556"/>
                </a:lnTo>
                <a:lnTo>
                  <a:pt x="155" y="558"/>
                </a:lnTo>
                <a:lnTo>
                  <a:pt x="159" y="560"/>
                </a:lnTo>
                <a:lnTo>
                  <a:pt x="164" y="562"/>
                </a:lnTo>
                <a:lnTo>
                  <a:pt x="168" y="562"/>
                </a:lnTo>
                <a:lnTo>
                  <a:pt x="169" y="562"/>
                </a:lnTo>
                <a:lnTo>
                  <a:pt x="169" y="562"/>
                </a:lnTo>
                <a:lnTo>
                  <a:pt x="175" y="562"/>
                </a:lnTo>
                <a:lnTo>
                  <a:pt x="179" y="559"/>
                </a:lnTo>
                <a:lnTo>
                  <a:pt x="183" y="557"/>
                </a:lnTo>
                <a:lnTo>
                  <a:pt x="187" y="554"/>
                </a:lnTo>
                <a:lnTo>
                  <a:pt x="606" y="38"/>
                </a:lnTo>
                <a:lnTo>
                  <a:pt x="609" y="34"/>
                </a:lnTo>
                <a:lnTo>
                  <a:pt x="611" y="29"/>
                </a:lnTo>
                <a:lnTo>
                  <a:pt x="611" y="25"/>
                </a:lnTo>
                <a:lnTo>
                  <a:pt x="611" y="20"/>
                </a:lnTo>
                <a:lnTo>
                  <a:pt x="611" y="16"/>
                </a:lnTo>
                <a:lnTo>
                  <a:pt x="609" y="12"/>
                </a:lnTo>
                <a:lnTo>
                  <a:pt x="606" y="8"/>
                </a:lnTo>
                <a:lnTo>
                  <a:pt x="602" y="5"/>
                </a:lnTo>
                <a:close/>
              </a:path>
            </a:pathLst>
          </a:custGeom>
          <a:solidFill>
            <a:srgbClr val="4276AA"/>
          </a:solidFill>
          <a:ln w="19050">
            <a:solidFill>
              <a:srgbClr val="4276AA"/>
            </a:solidFill>
          </a:ln>
        </p:spPr>
        <p:txBody>
          <a:bodyPr vert="horz" wrap="square" lIns="113395" tIns="56698" rIns="113395" bIns="56698" numCol="1" anchor="t" anchorCtr="0" compatLnSpc="1">
            <a:normAutofit fontScale="87500" lnSpcReduction="10000"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32">
              <a:solidFill>
                <a:srgbClr val="000000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13"/>
            </p:custDataLst>
          </p:nvPr>
        </p:nvSpPr>
        <p:spPr>
          <a:xfrm>
            <a:off x="968583" y="3404351"/>
            <a:ext cx="348668" cy="348411"/>
          </a:xfrm>
          <a:prstGeom prst="rect">
            <a:avLst/>
          </a:prstGeom>
          <a:solidFill>
            <a:srgbClr val="FFFFFF"/>
          </a:solidFill>
          <a:ln w="22225">
            <a:solidFill>
              <a:srgbClr val="778495">
                <a:lumMod val="20000"/>
                <a:lumOff val="80000"/>
              </a:srgbClr>
            </a:solidFill>
          </a:ln>
        </p:spPr>
        <p:style>
          <a:lnRef idx="2">
            <a:srgbClr val="4276AA">
              <a:hueOff val="0"/>
              <a:satOff val="0"/>
              <a:lumOff val="0"/>
              <a:alphaOff val="0"/>
            </a:srgbClr>
          </a:lnRef>
          <a:fillRef idx="1">
            <a:srgbClr val="FFFFFF">
              <a:hueOff val="0"/>
              <a:satOff val="0"/>
              <a:lumOff val="0"/>
              <a:alphaOff val="0"/>
            </a:srgbClr>
          </a:fillRef>
          <a:effectRef idx="0">
            <a:srgbClr val="FFFFFF">
              <a:hueOff val="0"/>
              <a:satOff val="0"/>
              <a:lumOff val="0"/>
              <a:alphaOff val="0"/>
            </a:srgbClr>
          </a:effectRef>
          <a:fontRef idx="minor">
            <a:srgbClr val="000000">
              <a:hueOff val="0"/>
              <a:satOff val="0"/>
              <a:lumOff val="0"/>
              <a:alphaOff val="0"/>
            </a:srgbClr>
          </a:fontRef>
        </p:style>
        <p:txBody>
          <a:bodyPr wrap="square" lIns="113395" tIns="56698" rIns="113395" bIns="56698">
            <a:normAutofit fontScale="80000" lnSpcReduction="20000"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3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任意多边形 64"/>
          <p:cNvSpPr/>
          <p:nvPr>
            <p:custDataLst>
              <p:tags r:id="rId14"/>
            </p:custDataLst>
          </p:nvPr>
        </p:nvSpPr>
        <p:spPr bwMode="auto">
          <a:xfrm>
            <a:off x="1008665" y="3322453"/>
            <a:ext cx="420858" cy="387848"/>
          </a:xfrm>
          <a:custGeom>
            <a:avLst/>
            <a:gdLst>
              <a:gd name="T0" fmla="*/ 602 w 611"/>
              <a:gd name="T1" fmla="*/ 5 h 562"/>
              <a:gd name="T2" fmla="*/ 599 w 611"/>
              <a:gd name="T3" fmla="*/ 2 h 562"/>
              <a:gd name="T4" fmla="*/ 594 w 611"/>
              <a:gd name="T5" fmla="*/ 1 h 562"/>
              <a:gd name="T6" fmla="*/ 590 w 611"/>
              <a:gd name="T7" fmla="*/ 0 h 562"/>
              <a:gd name="T8" fmla="*/ 585 w 611"/>
              <a:gd name="T9" fmla="*/ 0 h 562"/>
              <a:gd name="T10" fmla="*/ 580 w 611"/>
              <a:gd name="T11" fmla="*/ 1 h 562"/>
              <a:gd name="T12" fmla="*/ 576 w 611"/>
              <a:gd name="T13" fmla="*/ 2 h 562"/>
              <a:gd name="T14" fmla="*/ 572 w 611"/>
              <a:gd name="T15" fmla="*/ 5 h 562"/>
              <a:gd name="T16" fmla="*/ 569 w 611"/>
              <a:gd name="T17" fmla="*/ 8 h 562"/>
              <a:gd name="T18" fmla="*/ 166 w 611"/>
              <a:gd name="T19" fmla="*/ 503 h 562"/>
              <a:gd name="T20" fmla="*/ 41 w 611"/>
              <a:gd name="T21" fmla="*/ 377 h 562"/>
              <a:gd name="T22" fmla="*/ 38 w 611"/>
              <a:gd name="T23" fmla="*/ 374 h 562"/>
              <a:gd name="T24" fmla="*/ 33 w 611"/>
              <a:gd name="T25" fmla="*/ 372 h 562"/>
              <a:gd name="T26" fmla="*/ 29 w 611"/>
              <a:gd name="T27" fmla="*/ 371 h 562"/>
              <a:gd name="T28" fmla="*/ 24 w 611"/>
              <a:gd name="T29" fmla="*/ 371 h 562"/>
              <a:gd name="T30" fmla="*/ 20 w 611"/>
              <a:gd name="T31" fmla="*/ 371 h 562"/>
              <a:gd name="T32" fmla="*/ 16 w 611"/>
              <a:gd name="T33" fmla="*/ 372 h 562"/>
              <a:gd name="T34" fmla="*/ 11 w 611"/>
              <a:gd name="T35" fmla="*/ 374 h 562"/>
              <a:gd name="T36" fmla="*/ 8 w 611"/>
              <a:gd name="T37" fmla="*/ 377 h 562"/>
              <a:gd name="T38" fmla="*/ 4 w 611"/>
              <a:gd name="T39" fmla="*/ 382 h 562"/>
              <a:gd name="T40" fmla="*/ 2 w 611"/>
              <a:gd name="T41" fmla="*/ 386 h 562"/>
              <a:gd name="T42" fmla="*/ 1 w 611"/>
              <a:gd name="T43" fmla="*/ 390 h 562"/>
              <a:gd name="T44" fmla="*/ 0 w 611"/>
              <a:gd name="T45" fmla="*/ 395 h 562"/>
              <a:gd name="T46" fmla="*/ 1 w 611"/>
              <a:gd name="T47" fmla="*/ 399 h 562"/>
              <a:gd name="T48" fmla="*/ 2 w 611"/>
              <a:gd name="T49" fmla="*/ 404 h 562"/>
              <a:gd name="T50" fmla="*/ 4 w 611"/>
              <a:gd name="T51" fmla="*/ 408 h 562"/>
              <a:gd name="T52" fmla="*/ 8 w 611"/>
              <a:gd name="T53" fmla="*/ 412 h 562"/>
              <a:gd name="T54" fmla="*/ 151 w 611"/>
              <a:gd name="T55" fmla="*/ 556 h 562"/>
              <a:gd name="T56" fmla="*/ 155 w 611"/>
              <a:gd name="T57" fmla="*/ 558 h 562"/>
              <a:gd name="T58" fmla="*/ 159 w 611"/>
              <a:gd name="T59" fmla="*/ 560 h 562"/>
              <a:gd name="T60" fmla="*/ 164 w 611"/>
              <a:gd name="T61" fmla="*/ 562 h 562"/>
              <a:gd name="T62" fmla="*/ 168 w 611"/>
              <a:gd name="T63" fmla="*/ 562 h 562"/>
              <a:gd name="T64" fmla="*/ 169 w 611"/>
              <a:gd name="T65" fmla="*/ 562 h 562"/>
              <a:gd name="T66" fmla="*/ 169 w 611"/>
              <a:gd name="T67" fmla="*/ 562 h 562"/>
              <a:gd name="T68" fmla="*/ 175 w 611"/>
              <a:gd name="T69" fmla="*/ 562 h 562"/>
              <a:gd name="T70" fmla="*/ 179 w 611"/>
              <a:gd name="T71" fmla="*/ 559 h 562"/>
              <a:gd name="T72" fmla="*/ 183 w 611"/>
              <a:gd name="T73" fmla="*/ 557 h 562"/>
              <a:gd name="T74" fmla="*/ 187 w 611"/>
              <a:gd name="T75" fmla="*/ 554 h 562"/>
              <a:gd name="T76" fmla="*/ 606 w 611"/>
              <a:gd name="T77" fmla="*/ 38 h 562"/>
              <a:gd name="T78" fmla="*/ 609 w 611"/>
              <a:gd name="T79" fmla="*/ 34 h 562"/>
              <a:gd name="T80" fmla="*/ 611 w 611"/>
              <a:gd name="T81" fmla="*/ 29 h 562"/>
              <a:gd name="T82" fmla="*/ 611 w 611"/>
              <a:gd name="T83" fmla="*/ 25 h 562"/>
              <a:gd name="T84" fmla="*/ 611 w 611"/>
              <a:gd name="T85" fmla="*/ 20 h 562"/>
              <a:gd name="T86" fmla="*/ 611 w 611"/>
              <a:gd name="T87" fmla="*/ 16 h 562"/>
              <a:gd name="T88" fmla="*/ 609 w 611"/>
              <a:gd name="T89" fmla="*/ 12 h 562"/>
              <a:gd name="T90" fmla="*/ 606 w 611"/>
              <a:gd name="T91" fmla="*/ 8 h 562"/>
              <a:gd name="T92" fmla="*/ 602 w 611"/>
              <a:gd name="T93" fmla="*/ 5 h 5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11" h="562">
                <a:moveTo>
                  <a:pt x="602" y="5"/>
                </a:moveTo>
                <a:lnTo>
                  <a:pt x="599" y="2"/>
                </a:lnTo>
                <a:lnTo>
                  <a:pt x="594" y="1"/>
                </a:lnTo>
                <a:lnTo>
                  <a:pt x="590" y="0"/>
                </a:lnTo>
                <a:lnTo>
                  <a:pt x="585" y="0"/>
                </a:lnTo>
                <a:lnTo>
                  <a:pt x="580" y="1"/>
                </a:lnTo>
                <a:lnTo>
                  <a:pt x="576" y="2"/>
                </a:lnTo>
                <a:lnTo>
                  <a:pt x="572" y="5"/>
                </a:lnTo>
                <a:lnTo>
                  <a:pt x="569" y="8"/>
                </a:lnTo>
                <a:lnTo>
                  <a:pt x="166" y="503"/>
                </a:lnTo>
                <a:lnTo>
                  <a:pt x="41" y="377"/>
                </a:lnTo>
                <a:lnTo>
                  <a:pt x="38" y="374"/>
                </a:lnTo>
                <a:lnTo>
                  <a:pt x="33" y="372"/>
                </a:lnTo>
                <a:lnTo>
                  <a:pt x="29" y="371"/>
                </a:lnTo>
                <a:lnTo>
                  <a:pt x="24" y="371"/>
                </a:lnTo>
                <a:lnTo>
                  <a:pt x="20" y="371"/>
                </a:lnTo>
                <a:lnTo>
                  <a:pt x="16" y="372"/>
                </a:lnTo>
                <a:lnTo>
                  <a:pt x="11" y="374"/>
                </a:lnTo>
                <a:lnTo>
                  <a:pt x="8" y="377"/>
                </a:lnTo>
                <a:lnTo>
                  <a:pt x="4" y="382"/>
                </a:lnTo>
                <a:lnTo>
                  <a:pt x="2" y="386"/>
                </a:lnTo>
                <a:lnTo>
                  <a:pt x="1" y="390"/>
                </a:lnTo>
                <a:lnTo>
                  <a:pt x="0" y="395"/>
                </a:lnTo>
                <a:lnTo>
                  <a:pt x="1" y="399"/>
                </a:lnTo>
                <a:lnTo>
                  <a:pt x="2" y="404"/>
                </a:lnTo>
                <a:lnTo>
                  <a:pt x="4" y="408"/>
                </a:lnTo>
                <a:lnTo>
                  <a:pt x="8" y="412"/>
                </a:lnTo>
                <a:lnTo>
                  <a:pt x="151" y="556"/>
                </a:lnTo>
                <a:lnTo>
                  <a:pt x="155" y="558"/>
                </a:lnTo>
                <a:lnTo>
                  <a:pt x="159" y="560"/>
                </a:lnTo>
                <a:lnTo>
                  <a:pt x="164" y="562"/>
                </a:lnTo>
                <a:lnTo>
                  <a:pt x="168" y="562"/>
                </a:lnTo>
                <a:lnTo>
                  <a:pt x="169" y="562"/>
                </a:lnTo>
                <a:lnTo>
                  <a:pt x="169" y="562"/>
                </a:lnTo>
                <a:lnTo>
                  <a:pt x="175" y="562"/>
                </a:lnTo>
                <a:lnTo>
                  <a:pt x="179" y="559"/>
                </a:lnTo>
                <a:lnTo>
                  <a:pt x="183" y="557"/>
                </a:lnTo>
                <a:lnTo>
                  <a:pt x="187" y="554"/>
                </a:lnTo>
                <a:lnTo>
                  <a:pt x="606" y="38"/>
                </a:lnTo>
                <a:lnTo>
                  <a:pt x="609" y="34"/>
                </a:lnTo>
                <a:lnTo>
                  <a:pt x="611" y="29"/>
                </a:lnTo>
                <a:lnTo>
                  <a:pt x="611" y="25"/>
                </a:lnTo>
                <a:lnTo>
                  <a:pt x="611" y="20"/>
                </a:lnTo>
                <a:lnTo>
                  <a:pt x="611" y="16"/>
                </a:lnTo>
                <a:lnTo>
                  <a:pt x="609" y="12"/>
                </a:lnTo>
                <a:lnTo>
                  <a:pt x="606" y="8"/>
                </a:lnTo>
                <a:lnTo>
                  <a:pt x="602" y="5"/>
                </a:ln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  <a:ln w="19050">
            <a:solidFill>
              <a:srgbClr val="000000">
                <a:lumMod val="50000"/>
                <a:lumOff val="50000"/>
              </a:srgbClr>
            </a:solidFill>
          </a:ln>
        </p:spPr>
        <p:txBody>
          <a:bodyPr vert="horz" wrap="square" lIns="113395" tIns="56698" rIns="113395" bIns="56698" numCol="1" anchor="t" anchorCtr="0" compatLnSpc="1">
            <a:normAutofit fontScale="87500" lnSpcReduction="10000"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32">
              <a:solidFill>
                <a:srgbClr val="000000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15"/>
            </p:custDataLst>
          </p:nvPr>
        </p:nvSpPr>
        <p:spPr>
          <a:xfrm>
            <a:off x="1072529" y="5344242"/>
            <a:ext cx="348668" cy="348411"/>
          </a:xfrm>
          <a:prstGeom prst="rect">
            <a:avLst/>
          </a:prstGeom>
          <a:solidFill>
            <a:srgbClr val="FFFFFF"/>
          </a:solidFill>
          <a:ln w="22225">
            <a:solidFill>
              <a:srgbClr val="778495">
                <a:lumMod val="20000"/>
                <a:lumOff val="80000"/>
              </a:srgbClr>
            </a:solidFill>
          </a:ln>
        </p:spPr>
        <p:style>
          <a:lnRef idx="2">
            <a:srgbClr val="4276AA">
              <a:hueOff val="0"/>
              <a:satOff val="0"/>
              <a:lumOff val="0"/>
              <a:alphaOff val="0"/>
            </a:srgbClr>
          </a:lnRef>
          <a:fillRef idx="1">
            <a:srgbClr val="FFFFFF">
              <a:hueOff val="0"/>
              <a:satOff val="0"/>
              <a:lumOff val="0"/>
              <a:alphaOff val="0"/>
            </a:srgbClr>
          </a:fillRef>
          <a:effectRef idx="0">
            <a:srgbClr val="FFFFFF">
              <a:hueOff val="0"/>
              <a:satOff val="0"/>
              <a:lumOff val="0"/>
              <a:alphaOff val="0"/>
            </a:srgbClr>
          </a:effectRef>
          <a:fontRef idx="minor">
            <a:srgbClr val="000000">
              <a:hueOff val="0"/>
              <a:satOff val="0"/>
              <a:lumOff val="0"/>
              <a:alphaOff val="0"/>
            </a:srgbClr>
          </a:fontRef>
        </p:style>
        <p:txBody>
          <a:bodyPr wrap="square" lIns="113395" tIns="56698" rIns="113395" bIns="56698">
            <a:normAutofit fontScale="80000" lnSpcReduction="20000"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3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任意多边形 8"/>
          <p:cNvSpPr/>
          <p:nvPr>
            <p:custDataLst>
              <p:tags r:id="rId16"/>
            </p:custDataLst>
          </p:nvPr>
        </p:nvSpPr>
        <p:spPr bwMode="auto">
          <a:xfrm>
            <a:off x="1112611" y="5304143"/>
            <a:ext cx="420858" cy="387848"/>
          </a:xfrm>
          <a:custGeom>
            <a:avLst/>
            <a:gdLst>
              <a:gd name="T0" fmla="*/ 602 w 611"/>
              <a:gd name="T1" fmla="*/ 5 h 562"/>
              <a:gd name="T2" fmla="*/ 599 w 611"/>
              <a:gd name="T3" fmla="*/ 2 h 562"/>
              <a:gd name="T4" fmla="*/ 594 w 611"/>
              <a:gd name="T5" fmla="*/ 1 h 562"/>
              <a:gd name="T6" fmla="*/ 590 w 611"/>
              <a:gd name="T7" fmla="*/ 0 h 562"/>
              <a:gd name="T8" fmla="*/ 585 w 611"/>
              <a:gd name="T9" fmla="*/ 0 h 562"/>
              <a:gd name="T10" fmla="*/ 580 w 611"/>
              <a:gd name="T11" fmla="*/ 1 h 562"/>
              <a:gd name="T12" fmla="*/ 576 w 611"/>
              <a:gd name="T13" fmla="*/ 2 h 562"/>
              <a:gd name="T14" fmla="*/ 572 w 611"/>
              <a:gd name="T15" fmla="*/ 5 h 562"/>
              <a:gd name="T16" fmla="*/ 569 w 611"/>
              <a:gd name="T17" fmla="*/ 8 h 562"/>
              <a:gd name="T18" fmla="*/ 166 w 611"/>
              <a:gd name="T19" fmla="*/ 503 h 562"/>
              <a:gd name="T20" fmla="*/ 41 w 611"/>
              <a:gd name="T21" fmla="*/ 377 h 562"/>
              <a:gd name="T22" fmla="*/ 38 w 611"/>
              <a:gd name="T23" fmla="*/ 374 h 562"/>
              <a:gd name="T24" fmla="*/ 33 w 611"/>
              <a:gd name="T25" fmla="*/ 372 h 562"/>
              <a:gd name="T26" fmla="*/ 29 w 611"/>
              <a:gd name="T27" fmla="*/ 371 h 562"/>
              <a:gd name="T28" fmla="*/ 24 w 611"/>
              <a:gd name="T29" fmla="*/ 371 h 562"/>
              <a:gd name="T30" fmla="*/ 20 w 611"/>
              <a:gd name="T31" fmla="*/ 371 h 562"/>
              <a:gd name="T32" fmla="*/ 16 w 611"/>
              <a:gd name="T33" fmla="*/ 372 h 562"/>
              <a:gd name="T34" fmla="*/ 11 w 611"/>
              <a:gd name="T35" fmla="*/ 374 h 562"/>
              <a:gd name="T36" fmla="*/ 8 w 611"/>
              <a:gd name="T37" fmla="*/ 377 h 562"/>
              <a:gd name="T38" fmla="*/ 4 w 611"/>
              <a:gd name="T39" fmla="*/ 382 h 562"/>
              <a:gd name="T40" fmla="*/ 2 w 611"/>
              <a:gd name="T41" fmla="*/ 386 h 562"/>
              <a:gd name="T42" fmla="*/ 1 w 611"/>
              <a:gd name="T43" fmla="*/ 390 h 562"/>
              <a:gd name="T44" fmla="*/ 0 w 611"/>
              <a:gd name="T45" fmla="*/ 395 h 562"/>
              <a:gd name="T46" fmla="*/ 1 w 611"/>
              <a:gd name="T47" fmla="*/ 399 h 562"/>
              <a:gd name="T48" fmla="*/ 2 w 611"/>
              <a:gd name="T49" fmla="*/ 404 h 562"/>
              <a:gd name="T50" fmla="*/ 4 w 611"/>
              <a:gd name="T51" fmla="*/ 408 h 562"/>
              <a:gd name="T52" fmla="*/ 8 w 611"/>
              <a:gd name="T53" fmla="*/ 412 h 562"/>
              <a:gd name="T54" fmla="*/ 151 w 611"/>
              <a:gd name="T55" fmla="*/ 556 h 562"/>
              <a:gd name="T56" fmla="*/ 155 w 611"/>
              <a:gd name="T57" fmla="*/ 558 h 562"/>
              <a:gd name="T58" fmla="*/ 159 w 611"/>
              <a:gd name="T59" fmla="*/ 560 h 562"/>
              <a:gd name="T60" fmla="*/ 164 w 611"/>
              <a:gd name="T61" fmla="*/ 562 h 562"/>
              <a:gd name="T62" fmla="*/ 168 w 611"/>
              <a:gd name="T63" fmla="*/ 562 h 562"/>
              <a:gd name="T64" fmla="*/ 169 w 611"/>
              <a:gd name="T65" fmla="*/ 562 h 562"/>
              <a:gd name="T66" fmla="*/ 169 w 611"/>
              <a:gd name="T67" fmla="*/ 562 h 562"/>
              <a:gd name="T68" fmla="*/ 175 w 611"/>
              <a:gd name="T69" fmla="*/ 562 h 562"/>
              <a:gd name="T70" fmla="*/ 179 w 611"/>
              <a:gd name="T71" fmla="*/ 559 h 562"/>
              <a:gd name="T72" fmla="*/ 183 w 611"/>
              <a:gd name="T73" fmla="*/ 557 h 562"/>
              <a:gd name="T74" fmla="*/ 187 w 611"/>
              <a:gd name="T75" fmla="*/ 554 h 562"/>
              <a:gd name="T76" fmla="*/ 606 w 611"/>
              <a:gd name="T77" fmla="*/ 38 h 562"/>
              <a:gd name="T78" fmla="*/ 609 w 611"/>
              <a:gd name="T79" fmla="*/ 34 h 562"/>
              <a:gd name="T80" fmla="*/ 611 w 611"/>
              <a:gd name="T81" fmla="*/ 29 h 562"/>
              <a:gd name="T82" fmla="*/ 611 w 611"/>
              <a:gd name="T83" fmla="*/ 25 h 562"/>
              <a:gd name="T84" fmla="*/ 611 w 611"/>
              <a:gd name="T85" fmla="*/ 20 h 562"/>
              <a:gd name="T86" fmla="*/ 611 w 611"/>
              <a:gd name="T87" fmla="*/ 16 h 562"/>
              <a:gd name="T88" fmla="*/ 609 w 611"/>
              <a:gd name="T89" fmla="*/ 12 h 562"/>
              <a:gd name="T90" fmla="*/ 606 w 611"/>
              <a:gd name="T91" fmla="*/ 8 h 562"/>
              <a:gd name="T92" fmla="*/ 602 w 611"/>
              <a:gd name="T93" fmla="*/ 5 h 5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11" h="562">
                <a:moveTo>
                  <a:pt x="602" y="5"/>
                </a:moveTo>
                <a:lnTo>
                  <a:pt x="599" y="2"/>
                </a:lnTo>
                <a:lnTo>
                  <a:pt x="594" y="1"/>
                </a:lnTo>
                <a:lnTo>
                  <a:pt x="590" y="0"/>
                </a:lnTo>
                <a:lnTo>
                  <a:pt x="585" y="0"/>
                </a:lnTo>
                <a:lnTo>
                  <a:pt x="580" y="1"/>
                </a:lnTo>
                <a:lnTo>
                  <a:pt x="576" y="2"/>
                </a:lnTo>
                <a:lnTo>
                  <a:pt x="572" y="5"/>
                </a:lnTo>
                <a:lnTo>
                  <a:pt x="569" y="8"/>
                </a:lnTo>
                <a:lnTo>
                  <a:pt x="166" y="503"/>
                </a:lnTo>
                <a:lnTo>
                  <a:pt x="41" y="377"/>
                </a:lnTo>
                <a:lnTo>
                  <a:pt x="38" y="374"/>
                </a:lnTo>
                <a:lnTo>
                  <a:pt x="33" y="372"/>
                </a:lnTo>
                <a:lnTo>
                  <a:pt x="29" y="371"/>
                </a:lnTo>
                <a:lnTo>
                  <a:pt x="24" y="371"/>
                </a:lnTo>
                <a:lnTo>
                  <a:pt x="20" y="371"/>
                </a:lnTo>
                <a:lnTo>
                  <a:pt x="16" y="372"/>
                </a:lnTo>
                <a:lnTo>
                  <a:pt x="11" y="374"/>
                </a:lnTo>
                <a:lnTo>
                  <a:pt x="8" y="377"/>
                </a:lnTo>
                <a:lnTo>
                  <a:pt x="4" y="382"/>
                </a:lnTo>
                <a:lnTo>
                  <a:pt x="2" y="386"/>
                </a:lnTo>
                <a:lnTo>
                  <a:pt x="1" y="390"/>
                </a:lnTo>
                <a:lnTo>
                  <a:pt x="0" y="395"/>
                </a:lnTo>
                <a:lnTo>
                  <a:pt x="1" y="399"/>
                </a:lnTo>
                <a:lnTo>
                  <a:pt x="2" y="404"/>
                </a:lnTo>
                <a:lnTo>
                  <a:pt x="4" y="408"/>
                </a:lnTo>
                <a:lnTo>
                  <a:pt x="8" y="412"/>
                </a:lnTo>
                <a:lnTo>
                  <a:pt x="151" y="556"/>
                </a:lnTo>
                <a:lnTo>
                  <a:pt x="155" y="558"/>
                </a:lnTo>
                <a:lnTo>
                  <a:pt x="159" y="560"/>
                </a:lnTo>
                <a:lnTo>
                  <a:pt x="164" y="562"/>
                </a:lnTo>
                <a:lnTo>
                  <a:pt x="168" y="562"/>
                </a:lnTo>
                <a:lnTo>
                  <a:pt x="169" y="562"/>
                </a:lnTo>
                <a:lnTo>
                  <a:pt x="169" y="562"/>
                </a:lnTo>
                <a:lnTo>
                  <a:pt x="175" y="562"/>
                </a:lnTo>
                <a:lnTo>
                  <a:pt x="179" y="559"/>
                </a:lnTo>
                <a:lnTo>
                  <a:pt x="183" y="557"/>
                </a:lnTo>
                <a:lnTo>
                  <a:pt x="187" y="554"/>
                </a:lnTo>
                <a:lnTo>
                  <a:pt x="606" y="38"/>
                </a:lnTo>
                <a:lnTo>
                  <a:pt x="609" y="34"/>
                </a:lnTo>
                <a:lnTo>
                  <a:pt x="611" y="29"/>
                </a:lnTo>
                <a:lnTo>
                  <a:pt x="611" y="25"/>
                </a:lnTo>
                <a:lnTo>
                  <a:pt x="611" y="20"/>
                </a:lnTo>
                <a:lnTo>
                  <a:pt x="611" y="16"/>
                </a:lnTo>
                <a:lnTo>
                  <a:pt x="609" y="12"/>
                </a:lnTo>
                <a:lnTo>
                  <a:pt x="606" y="8"/>
                </a:lnTo>
                <a:lnTo>
                  <a:pt x="602" y="5"/>
                </a:lnTo>
                <a:close/>
              </a:path>
            </a:pathLst>
          </a:custGeom>
          <a:solidFill>
            <a:srgbClr val="4276AA"/>
          </a:solidFill>
          <a:ln w="19050">
            <a:solidFill>
              <a:srgbClr val="4276AA"/>
            </a:solidFill>
          </a:ln>
        </p:spPr>
        <p:txBody>
          <a:bodyPr vert="horz" wrap="square" lIns="113395" tIns="56698" rIns="113395" bIns="56698" numCol="1" anchor="t" anchorCtr="0" compatLnSpc="1">
            <a:normAutofit fontScale="87500" lnSpcReduction="10000"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32">
              <a:solidFill>
                <a:srgbClr val="000000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7"/>
            </p:custDataLst>
          </p:nvPr>
        </p:nvSpPr>
        <p:spPr bwMode="auto">
          <a:xfrm>
            <a:off x="1756050" y="5147481"/>
            <a:ext cx="3660930" cy="70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3395" tIns="56698" rIns="113395" bIns="56698" anchor="ctr" anchorCtr="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marL="354359" indent="-354359" fontAlgn="ctr">
              <a:lnSpc>
                <a:spcPct val="130000"/>
              </a:lnSpc>
              <a:spcBef>
                <a:spcPts val="124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32" spc="186">
                <a:ea typeface="微软雅黑" panose="020B0503020204020204" pitchFamily="34" charset="-122"/>
                <a:sym typeface="+mn-ea"/>
              </a:rPr>
              <a:t>护理人员招聘难</a:t>
            </a:r>
            <a:endParaRPr lang="en-US" altLang="zh-CN" sz="2232" spc="186"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1144976" y="6355348"/>
            <a:ext cx="348668" cy="348411"/>
          </a:xfrm>
          <a:prstGeom prst="rect">
            <a:avLst/>
          </a:prstGeom>
          <a:solidFill>
            <a:srgbClr val="FFFFFF"/>
          </a:solidFill>
          <a:ln w="22225">
            <a:solidFill>
              <a:srgbClr val="778495">
                <a:lumMod val="20000"/>
                <a:lumOff val="80000"/>
              </a:srgbClr>
            </a:solidFill>
          </a:ln>
        </p:spPr>
        <p:style>
          <a:lnRef idx="2">
            <a:srgbClr val="4276AA">
              <a:hueOff val="0"/>
              <a:satOff val="0"/>
              <a:lumOff val="0"/>
              <a:alphaOff val="0"/>
            </a:srgbClr>
          </a:lnRef>
          <a:fillRef idx="1">
            <a:srgbClr val="FFFFFF">
              <a:hueOff val="0"/>
              <a:satOff val="0"/>
              <a:lumOff val="0"/>
              <a:alphaOff val="0"/>
            </a:srgbClr>
          </a:fillRef>
          <a:effectRef idx="0">
            <a:srgbClr val="FFFFFF">
              <a:hueOff val="0"/>
              <a:satOff val="0"/>
              <a:lumOff val="0"/>
              <a:alphaOff val="0"/>
            </a:srgbClr>
          </a:effectRef>
          <a:fontRef idx="minor">
            <a:srgbClr val="000000">
              <a:hueOff val="0"/>
              <a:satOff val="0"/>
              <a:lumOff val="0"/>
              <a:alphaOff val="0"/>
            </a:srgbClr>
          </a:fontRef>
        </p:style>
        <p:txBody>
          <a:bodyPr wrap="square" lIns="113395" tIns="56698" rIns="113395" bIns="56698">
            <a:normAutofit fontScale="80000" lnSpcReduction="20000"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3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任意多边形 11"/>
          <p:cNvSpPr/>
          <p:nvPr>
            <p:custDataLst>
              <p:tags r:id="rId19"/>
            </p:custDataLst>
          </p:nvPr>
        </p:nvSpPr>
        <p:spPr bwMode="auto">
          <a:xfrm>
            <a:off x="1185058" y="6315250"/>
            <a:ext cx="420858" cy="387848"/>
          </a:xfrm>
          <a:custGeom>
            <a:avLst/>
            <a:gdLst>
              <a:gd name="T0" fmla="*/ 602 w 611"/>
              <a:gd name="T1" fmla="*/ 5 h 562"/>
              <a:gd name="T2" fmla="*/ 599 w 611"/>
              <a:gd name="T3" fmla="*/ 2 h 562"/>
              <a:gd name="T4" fmla="*/ 594 w 611"/>
              <a:gd name="T5" fmla="*/ 1 h 562"/>
              <a:gd name="T6" fmla="*/ 590 w 611"/>
              <a:gd name="T7" fmla="*/ 0 h 562"/>
              <a:gd name="T8" fmla="*/ 585 w 611"/>
              <a:gd name="T9" fmla="*/ 0 h 562"/>
              <a:gd name="T10" fmla="*/ 580 w 611"/>
              <a:gd name="T11" fmla="*/ 1 h 562"/>
              <a:gd name="T12" fmla="*/ 576 w 611"/>
              <a:gd name="T13" fmla="*/ 2 h 562"/>
              <a:gd name="T14" fmla="*/ 572 w 611"/>
              <a:gd name="T15" fmla="*/ 5 h 562"/>
              <a:gd name="T16" fmla="*/ 569 w 611"/>
              <a:gd name="T17" fmla="*/ 8 h 562"/>
              <a:gd name="T18" fmla="*/ 166 w 611"/>
              <a:gd name="T19" fmla="*/ 503 h 562"/>
              <a:gd name="T20" fmla="*/ 41 w 611"/>
              <a:gd name="T21" fmla="*/ 377 h 562"/>
              <a:gd name="T22" fmla="*/ 38 w 611"/>
              <a:gd name="T23" fmla="*/ 374 h 562"/>
              <a:gd name="T24" fmla="*/ 33 w 611"/>
              <a:gd name="T25" fmla="*/ 372 h 562"/>
              <a:gd name="T26" fmla="*/ 29 w 611"/>
              <a:gd name="T27" fmla="*/ 371 h 562"/>
              <a:gd name="T28" fmla="*/ 24 w 611"/>
              <a:gd name="T29" fmla="*/ 371 h 562"/>
              <a:gd name="T30" fmla="*/ 20 w 611"/>
              <a:gd name="T31" fmla="*/ 371 h 562"/>
              <a:gd name="T32" fmla="*/ 16 w 611"/>
              <a:gd name="T33" fmla="*/ 372 h 562"/>
              <a:gd name="T34" fmla="*/ 11 w 611"/>
              <a:gd name="T35" fmla="*/ 374 h 562"/>
              <a:gd name="T36" fmla="*/ 8 w 611"/>
              <a:gd name="T37" fmla="*/ 377 h 562"/>
              <a:gd name="T38" fmla="*/ 4 w 611"/>
              <a:gd name="T39" fmla="*/ 382 h 562"/>
              <a:gd name="T40" fmla="*/ 2 w 611"/>
              <a:gd name="T41" fmla="*/ 386 h 562"/>
              <a:gd name="T42" fmla="*/ 1 w 611"/>
              <a:gd name="T43" fmla="*/ 390 h 562"/>
              <a:gd name="T44" fmla="*/ 0 w 611"/>
              <a:gd name="T45" fmla="*/ 395 h 562"/>
              <a:gd name="T46" fmla="*/ 1 w 611"/>
              <a:gd name="T47" fmla="*/ 399 h 562"/>
              <a:gd name="T48" fmla="*/ 2 w 611"/>
              <a:gd name="T49" fmla="*/ 404 h 562"/>
              <a:gd name="T50" fmla="*/ 4 w 611"/>
              <a:gd name="T51" fmla="*/ 408 h 562"/>
              <a:gd name="T52" fmla="*/ 8 w 611"/>
              <a:gd name="T53" fmla="*/ 412 h 562"/>
              <a:gd name="T54" fmla="*/ 151 w 611"/>
              <a:gd name="T55" fmla="*/ 556 h 562"/>
              <a:gd name="T56" fmla="*/ 155 w 611"/>
              <a:gd name="T57" fmla="*/ 558 h 562"/>
              <a:gd name="T58" fmla="*/ 159 w 611"/>
              <a:gd name="T59" fmla="*/ 560 h 562"/>
              <a:gd name="T60" fmla="*/ 164 w 611"/>
              <a:gd name="T61" fmla="*/ 562 h 562"/>
              <a:gd name="T62" fmla="*/ 168 w 611"/>
              <a:gd name="T63" fmla="*/ 562 h 562"/>
              <a:gd name="T64" fmla="*/ 169 w 611"/>
              <a:gd name="T65" fmla="*/ 562 h 562"/>
              <a:gd name="T66" fmla="*/ 169 w 611"/>
              <a:gd name="T67" fmla="*/ 562 h 562"/>
              <a:gd name="T68" fmla="*/ 175 w 611"/>
              <a:gd name="T69" fmla="*/ 562 h 562"/>
              <a:gd name="T70" fmla="*/ 179 w 611"/>
              <a:gd name="T71" fmla="*/ 559 h 562"/>
              <a:gd name="T72" fmla="*/ 183 w 611"/>
              <a:gd name="T73" fmla="*/ 557 h 562"/>
              <a:gd name="T74" fmla="*/ 187 w 611"/>
              <a:gd name="T75" fmla="*/ 554 h 562"/>
              <a:gd name="T76" fmla="*/ 606 w 611"/>
              <a:gd name="T77" fmla="*/ 38 h 562"/>
              <a:gd name="T78" fmla="*/ 609 w 611"/>
              <a:gd name="T79" fmla="*/ 34 h 562"/>
              <a:gd name="T80" fmla="*/ 611 w 611"/>
              <a:gd name="T81" fmla="*/ 29 h 562"/>
              <a:gd name="T82" fmla="*/ 611 w 611"/>
              <a:gd name="T83" fmla="*/ 25 h 562"/>
              <a:gd name="T84" fmla="*/ 611 w 611"/>
              <a:gd name="T85" fmla="*/ 20 h 562"/>
              <a:gd name="T86" fmla="*/ 611 w 611"/>
              <a:gd name="T87" fmla="*/ 16 h 562"/>
              <a:gd name="T88" fmla="*/ 609 w 611"/>
              <a:gd name="T89" fmla="*/ 12 h 562"/>
              <a:gd name="T90" fmla="*/ 606 w 611"/>
              <a:gd name="T91" fmla="*/ 8 h 562"/>
              <a:gd name="T92" fmla="*/ 602 w 611"/>
              <a:gd name="T93" fmla="*/ 5 h 5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11" h="562">
                <a:moveTo>
                  <a:pt x="602" y="5"/>
                </a:moveTo>
                <a:lnTo>
                  <a:pt x="599" y="2"/>
                </a:lnTo>
                <a:lnTo>
                  <a:pt x="594" y="1"/>
                </a:lnTo>
                <a:lnTo>
                  <a:pt x="590" y="0"/>
                </a:lnTo>
                <a:lnTo>
                  <a:pt x="585" y="0"/>
                </a:lnTo>
                <a:lnTo>
                  <a:pt x="580" y="1"/>
                </a:lnTo>
                <a:lnTo>
                  <a:pt x="576" y="2"/>
                </a:lnTo>
                <a:lnTo>
                  <a:pt x="572" y="5"/>
                </a:lnTo>
                <a:lnTo>
                  <a:pt x="569" y="8"/>
                </a:lnTo>
                <a:lnTo>
                  <a:pt x="166" y="503"/>
                </a:lnTo>
                <a:lnTo>
                  <a:pt x="41" y="377"/>
                </a:lnTo>
                <a:lnTo>
                  <a:pt x="38" y="374"/>
                </a:lnTo>
                <a:lnTo>
                  <a:pt x="33" y="372"/>
                </a:lnTo>
                <a:lnTo>
                  <a:pt x="29" y="371"/>
                </a:lnTo>
                <a:lnTo>
                  <a:pt x="24" y="371"/>
                </a:lnTo>
                <a:lnTo>
                  <a:pt x="20" y="371"/>
                </a:lnTo>
                <a:lnTo>
                  <a:pt x="16" y="372"/>
                </a:lnTo>
                <a:lnTo>
                  <a:pt x="11" y="374"/>
                </a:lnTo>
                <a:lnTo>
                  <a:pt x="8" y="377"/>
                </a:lnTo>
                <a:lnTo>
                  <a:pt x="4" y="382"/>
                </a:lnTo>
                <a:lnTo>
                  <a:pt x="2" y="386"/>
                </a:lnTo>
                <a:lnTo>
                  <a:pt x="1" y="390"/>
                </a:lnTo>
                <a:lnTo>
                  <a:pt x="0" y="395"/>
                </a:lnTo>
                <a:lnTo>
                  <a:pt x="1" y="399"/>
                </a:lnTo>
                <a:lnTo>
                  <a:pt x="2" y="404"/>
                </a:lnTo>
                <a:lnTo>
                  <a:pt x="4" y="408"/>
                </a:lnTo>
                <a:lnTo>
                  <a:pt x="8" y="412"/>
                </a:lnTo>
                <a:lnTo>
                  <a:pt x="151" y="556"/>
                </a:lnTo>
                <a:lnTo>
                  <a:pt x="155" y="558"/>
                </a:lnTo>
                <a:lnTo>
                  <a:pt x="159" y="560"/>
                </a:lnTo>
                <a:lnTo>
                  <a:pt x="164" y="562"/>
                </a:lnTo>
                <a:lnTo>
                  <a:pt x="168" y="562"/>
                </a:lnTo>
                <a:lnTo>
                  <a:pt x="169" y="562"/>
                </a:lnTo>
                <a:lnTo>
                  <a:pt x="169" y="562"/>
                </a:lnTo>
                <a:lnTo>
                  <a:pt x="175" y="562"/>
                </a:lnTo>
                <a:lnTo>
                  <a:pt x="179" y="559"/>
                </a:lnTo>
                <a:lnTo>
                  <a:pt x="183" y="557"/>
                </a:lnTo>
                <a:lnTo>
                  <a:pt x="187" y="554"/>
                </a:lnTo>
                <a:lnTo>
                  <a:pt x="606" y="38"/>
                </a:lnTo>
                <a:lnTo>
                  <a:pt x="609" y="34"/>
                </a:lnTo>
                <a:lnTo>
                  <a:pt x="611" y="29"/>
                </a:lnTo>
                <a:lnTo>
                  <a:pt x="611" y="25"/>
                </a:lnTo>
                <a:lnTo>
                  <a:pt x="611" y="20"/>
                </a:lnTo>
                <a:lnTo>
                  <a:pt x="611" y="16"/>
                </a:lnTo>
                <a:lnTo>
                  <a:pt x="609" y="12"/>
                </a:lnTo>
                <a:lnTo>
                  <a:pt x="606" y="8"/>
                </a:lnTo>
                <a:lnTo>
                  <a:pt x="602" y="5"/>
                </a:lnTo>
                <a:close/>
              </a:path>
            </a:pathLst>
          </a:custGeom>
          <a:solidFill>
            <a:srgbClr val="4276AA"/>
          </a:solidFill>
          <a:ln w="19050">
            <a:solidFill>
              <a:srgbClr val="4276AA"/>
            </a:solidFill>
          </a:ln>
        </p:spPr>
        <p:txBody>
          <a:bodyPr vert="horz" wrap="square" lIns="113395" tIns="56698" rIns="113395" bIns="56698" numCol="1" anchor="t" anchorCtr="0" compatLnSpc="1">
            <a:normAutofit fontScale="87500" lnSpcReduction="10000"/>
          </a:bodyPr>
          <a:lstStyle/>
          <a:p>
            <a:pPr defTabSz="113316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32">
              <a:solidFill>
                <a:srgbClr val="000000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20"/>
            </p:custDataLst>
          </p:nvPr>
        </p:nvSpPr>
        <p:spPr bwMode="auto">
          <a:xfrm>
            <a:off x="1828497" y="6356240"/>
            <a:ext cx="7684882" cy="801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3395" tIns="56698" rIns="113395" bIns="56698" anchor="ctr" anchorCtr="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marL="354359" indent="-354359" fontAlgn="ctr">
              <a:lnSpc>
                <a:spcPct val="130000"/>
              </a:lnSpc>
              <a:spcBef>
                <a:spcPts val="124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232" spc="186">
                <a:ea typeface="微软雅黑" panose="020B0503020204020204" pitchFamily="34" charset="-122"/>
              </a:rPr>
              <a:t>重症监护室护士</a:t>
            </a:r>
            <a:r>
              <a:rPr lang="en-US" altLang="zh-CN" sz="2232" spc="186">
                <a:ea typeface="微软雅黑" panose="020B0503020204020204" pitchFamily="34" charset="-122"/>
              </a:rPr>
              <a:t>24H</a:t>
            </a:r>
            <a:r>
              <a:rPr lang="zh-CN" altLang="en-US" sz="2232" spc="186">
                <a:ea typeface="微软雅黑" panose="020B0503020204020204" pitchFamily="34" charset="-122"/>
              </a:rPr>
              <a:t>高强度工作</a:t>
            </a:r>
            <a:endParaRPr lang="en-US" altLang="zh-CN" sz="2232" spc="186">
              <a:ea typeface="微软雅黑" panose="020B0503020204020204" pitchFamily="34" charset="-122"/>
            </a:endParaRPr>
          </a:p>
          <a:p>
            <a:pPr marL="354359" indent="-354359" fontAlgn="ctr">
              <a:lnSpc>
                <a:spcPct val="130000"/>
              </a:lnSpc>
              <a:spcBef>
                <a:spcPts val="124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endParaRPr lang="en-US" altLang="zh-CN" sz="2232" spc="186"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2273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行业背景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26077" y="3412692"/>
            <a:ext cx="10637880" cy="23391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4359" indent="-354359">
              <a:lnSpc>
                <a:spcPct val="140000"/>
              </a:lnSpc>
              <a:spcBef>
                <a:spcPts val="0"/>
              </a:spcBef>
              <a:spcAft>
                <a:spcPts val="1240"/>
              </a:spcAft>
              <a:buClr>
                <a:srgbClr val="FF0000"/>
              </a:buClr>
              <a:buSzPct val="130000"/>
              <a:buFont typeface="Wingdings" panose="05000000000000000000" charset="0"/>
              <a:buChar char="Ø"/>
            </a:pPr>
            <a:r>
              <a:rPr lang="zh-CN" altLang="en-US" spc="186" dirty="0">
                <a:ea typeface="微软雅黑" panose="020B0503020204020204" pitchFamily="34" charset="-122"/>
                <a:sym typeface="+mn-ea"/>
              </a:rPr>
              <a:t>智能护理设备的研发在我国刚刚起步，大多处于仿制和摸索的初级阶段；</a:t>
            </a:r>
            <a:endParaRPr lang="zh-CN" altLang="en-US" spc="186" dirty="0">
              <a:ea typeface="微软雅黑" panose="020B0503020204020204" pitchFamily="34" charset="-122"/>
            </a:endParaRPr>
          </a:p>
          <a:p>
            <a:pPr marL="354359" indent="-354359">
              <a:lnSpc>
                <a:spcPct val="140000"/>
              </a:lnSpc>
              <a:spcBef>
                <a:spcPts val="0"/>
              </a:spcBef>
              <a:spcAft>
                <a:spcPts val="1240"/>
              </a:spcAft>
              <a:buClr>
                <a:srgbClr val="FF0000"/>
              </a:buClr>
              <a:buSzPct val="130000"/>
              <a:buFont typeface="Wingdings" panose="05000000000000000000" charset="0"/>
              <a:buChar char="Ø"/>
            </a:pPr>
            <a:r>
              <a:rPr lang="zh-CN" altLang="en-US" spc="186" dirty="0">
                <a:ea typeface="微软雅黑" panose="020B0503020204020204" pitchFamily="34" charset="-122"/>
                <a:sym typeface="+mn-ea"/>
              </a:rPr>
              <a:t>欧美和日本等发达国家起步较早，工艺精良，但其功能多侧重于患者后期精神层面，对护理功能考虑较少，设计理念不符合中国国情；</a:t>
            </a:r>
            <a:endParaRPr lang="zh-CN" altLang="en-US" spc="186" dirty="0">
              <a:ea typeface="微软雅黑" panose="020B0503020204020204" pitchFamily="34" charset="-122"/>
            </a:endParaRPr>
          </a:p>
          <a:p>
            <a:pPr marL="354359" indent="-354359">
              <a:lnSpc>
                <a:spcPct val="140000"/>
              </a:lnSpc>
              <a:spcBef>
                <a:spcPts val="0"/>
              </a:spcBef>
              <a:spcAft>
                <a:spcPts val="1240"/>
              </a:spcAft>
              <a:buClr>
                <a:srgbClr val="FF0000"/>
              </a:buClr>
              <a:buSzPct val="130000"/>
              <a:buFont typeface="Wingdings" panose="05000000000000000000" charset="0"/>
              <a:buChar char="Ø"/>
            </a:pPr>
            <a:r>
              <a:rPr lang="zh-CN" altLang="en-US" spc="186" dirty="0">
                <a:ea typeface="微软雅黑" panose="020B0503020204020204" pitchFamily="34" charset="-122"/>
                <a:sym typeface="+mn-ea"/>
              </a:rPr>
              <a:t>助老助残服务机器人是国家机器人行业十大重点发展方向之一，也是2025中国制造的重点发展方向六个重点之一。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0325" y="1175501"/>
            <a:ext cx="2768731" cy="192141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15938" y="4367889"/>
            <a:ext cx="2262390" cy="33955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6459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竞</a:t>
            </a:r>
            <a:r>
              <a:rPr lang="zh-CN" altLang="en-US" sz="3472" b="1" dirty="0" smtClean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品分析</a:t>
            </a:r>
            <a:endParaRPr lang="zh-CN" altLang="en-US" sz="3472" b="1" dirty="0">
              <a:solidFill>
                <a:srgbClr val="28426F"/>
              </a:solidFill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67" name="表格 66"/>
          <p:cNvGraphicFramePr>
            <a:graphicFrameLocks noGrp="1"/>
          </p:cNvGraphicFramePr>
          <p:nvPr>
            <p:custDataLst>
              <p:tags r:id="rId3"/>
            </p:custDataLst>
            <p:extLst/>
          </p:nvPr>
        </p:nvGraphicFramePr>
        <p:xfrm>
          <a:off x="1310344" y="1151089"/>
          <a:ext cx="13070362" cy="5568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240"/>
                <a:gridCol w="1178049"/>
                <a:gridCol w="1831646"/>
                <a:gridCol w="785891"/>
                <a:gridCol w="717382"/>
                <a:gridCol w="729981"/>
                <a:gridCol w="660684"/>
                <a:gridCol w="5774489"/>
              </a:tblGrid>
              <a:tr h="9079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公司</a:t>
                      </a:r>
                    </a:p>
                  </a:txBody>
                  <a:tcPr marL="36587" marR="36587" marT="18314" marB="18314" anchor="ctr">
                    <a:solidFill>
                      <a:srgbClr val="24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产品名称</a:t>
                      </a:r>
                    </a:p>
                  </a:txBody>
                  <a:tcPr marL="36587" marR="36587" marT="18314" marB="18314" anchor="ctr">
                    <a:solidFill>
                      <a:srgbClr val="24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产品图片</a:t>
                      </a:r>
                    </a:p>
                  </a:txBody>
                  <a:tcPr marL="36587" marR="36587" marT="18314" marB="18314" anchor="ctr">
                    <a:solidFill>
                      <a:srgbClr val="24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转换</a:t>
                      </a:r>
                      <a:endParaRPr lang="en-US" altLang="zh-CN" sz="1700" dirty="0" smtClean="0"/>
                    </a:p>
                    <a:p>
                      <a:pPr algn="ctr"/>
                      <a:r>
                        <a:rPr lang="zh-CN" altLang="en-US" sz="1700" dirty="0" smtClean="0"/>
                        <a:t>体位</a:t>
                      </a:r>
                    </a:p>
                  </a:txBody>
                  <a:tcPr marL="36587" marR="36587" marT="18314" marB="18314" anchor="ctr">
                    <a:solidFill>
                      <a:srgbClr val="24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操作</a:t>
                      </a:r>
                    </a:p>
                  </a:txBody>
                  <a:tcPr marL="36587" marR="36587" marT="18314" marB="18314" anchor="ctr">
                    <a:solidFill>
                      <a:srgbClr val="24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侧漏臭味</a:t>
                      </a:r>
                    </a:p>
                  </a:txBody>
                  <a:tcPr marL="36587" marR="36587" marT="18314" marB="18314" anchor="ctr">
                    <a:solidFill>
                      <a:srgbClr val="24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远程操作</a:t>
                      </a:r>
                    </a:p>
                  </a:txBody>
                  <a:tcPr marL="36587" marR="36587" marT="18314" marB="18314" anchor="ctr">
                    <a:solidFill>
                      <a:srgbClr val="24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备注</a:t>
                      </a:r>
                    </a:p>
                  </a:txBody>
                  <a:tcPr marL="36587" marR="36587" marT="18314" marB="18314" anchor="ctr">
                    <a:solidFill>
                      <a:srgbClr val="2457A6"/>
                    </a:solidFill>
                  </a:tcPr>
                </a:tc>
              </a:tr>
              <a:tr h="10949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哈工海姬尔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护理机器人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700" dirty="0"/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可以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7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700" dirty="0" smtClean="0"/>
                        <a:t>简单</a:t>
                      </a:r>
                    </a:p>
                    <a:p>
                      <a:pPr algn="ctr"/>
                      <a:endParaRPr lang="zh-CN" altLang="en-US" sz="1700" dirty="0" smtClean="0"/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无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有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 dirty="0" smtClean="0"/>
                        <a:t>具有自动翻身、定时翻身、坐起、曲腿、洗头、洗脚、洗澡等电动床的功能</a:t>
                      </a:r>
                      <a:r>
                        <a:rPr lang="en-US" altLang="zh-CN" sz="1700" dirty="0" smtClean="0"/>
                        <a:t>;</a:t>
                      </a:r>
                    </a:p>
                    <a:p>
                      <a:pPr algn="l"/>
                      <a:r>
                        <a:rPr lang="zh-CN" altLang="en-US" sz="1700" dirty="0" smtClean="0"/>
                        <a:t>有语音导航功能，故障闭锁保障功能</a:t>
                      </a:r>
                      <a:r>
                        <a:rPr lang="en-US" altLang="zh-CN" sz="1700" dirty="0" smtClean="0"/>
                        <a:t>;</a:t>
                      </a:r>
                      <a:r>
                        <a:rPr lang="zh-CN" altLang="en-US" sz="1700" dirty="0" smtClean="0"/>
                        <a:t>可语音控制、可</a:t>
                      </a:r>
                      <a:r>
                        <a:rPr lang="en-US" altLang="zh-CN" sz="1700" dirty="0" smtClean="0"/>
                        <a:t>APP</a:t>
                      </a:r>
                      <a:r>
                        <a:rPr lang="zh-CN" altLang="en-US" sz="1700" dirty="0" smtClean="0"/>
                        <a:t>操作、可远程操作、可</a:t>
                      </a:r>
                      <a:r>
                        <a:rPr lang="en-US" altLang="zh-CN" sz="1700" dirty="0" smtClean="0"/>
                        <a:t>5G</a:t>
                      </a:r>
                      <a:r>
                        <a:rPr lang="zh-CN" altLang="en-US" sz="1700" dirty="0" smtClean="0"/>
                        <a:t>互联、</a:t>
                      </a:r>
                      <a:r>
                        <a:rPr lang="en-US" altLang="zh-CN" sz="1700" dirty="0" smtClean="0"/>
                        <a:t>;</a:t>
                      </a:r>
                      <a:endParaRPr lang="zh-CN" altLang="en-US" sz="1700" dirty="0" smtClean="0"/>
                    </a:p>
                  </a:txBody>
                  <a:tcPr marL="36587" marR="36587" marT="18314" marB="18314" anchor="ctr"/>
                </a:tc>
              </a:tr>
              <a:tr h="16241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 err="1" smtClean="0"/>
                        <a:t>Personlife</a:t>
                      </a:r>
                      <a:r>
                        <a:rPr lang="zh-CN" altLang="en-US" sz="1700" dirty="0" smtClean="0"/>
                        <a:t>株式会社 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0" dirty="0" err="1" smtClean="0"/>
                        <a:t>EverCare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700" dirty="0"/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不可以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较复杂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严重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无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 dirty="0" smtClean="0"/>
                        <a:t>有臭氧洗净功能</a:t>
                      </a:r>
                      <a:r>
                        <a:rPr lang="en-US" altLang="zh-CN" sz="1700" dirty="0" smtClean="0"/>
                        <a:t>;</a:t>
                      </a:r>
                    </a:p>
                    <a:p>
                      <a:pPr algn="l"/>
                      <a:r>
                        <a:rPr lang="zh-CN" altLang="en-US" sz="1700" dirty="0" smtClean="0"/>
                        <a:t>因为管子只有一根，所以装配相对不太复杂</a:t>
                      </a:r>
                      <a:r>
                        <a:rPr lang="en-US" altLang="zh-CN" sz="1700" dirty="0" smtClean="0"/>
                        <a:t>;</a:t>
                      </a:r>
                    </a:p>
                    <a:p>
                      <a:pPr algn="l"/>
                      <a:r>
                        <a:rPr lang="zh-CN" altLang="en-US" sz="1700" dirty="0" smtClean="0"/>
                        <a:t>床上为安全带方式固定身体，因此不能睡觉翻身；</a:t>
                      </a:r>
                      <a:endParaRPr lang="en-US" altLang="zh-CN" sz="1700" dirty="0" smtClean="0"/>
                    </a:p>
                    <a:p>
                      <a:pPr algn="l"/>
                      <a:r>
                        <a:rPr lang="zh-CN" altLang="en-US" sz="1700" dirty="0" smtClean="0"/>
                        <a:t>吸入压力小，可能有未能充分将便吸入的情况</a:t>
                      </a:r>
                      <a:r>
                        <a:rPr lang="en-US" altLang="zh-CN" sz="1700" dirty="0" smtClean="0"/>
                        <a:t>;</a:t>
                      </a:r>
                    </a:p>
                    <a:p>
                      <a:pPr algn="l"/>
                      <a:r>
                        <a:rPr lang="zh-CN" altLang="en-US" sz="1700" dirty="0" smtClean="0"/>
                        <a:t>尿漏、排便漏出会比较多，所以会有臭味</a:t>
                      </a:r>
                      <a:r>
                        <a:rPr lang="en-US" altLang="zh-CN" sz="1700" dirty="0" smtClean="0"/>
                        <a:t>;</a:t>
                      </a:r>
                    </a:p>
                    <a:p>
                      <a:pPr algn="l"/>
                      <a:r>
                        <a:rPr lang="zh-CN" altLang="en-US" sz="1700" dirty="0" smtClean="0"/>
                        <a:t>整机轻盈小巧，为韩国制造。</a:t>
                      </a:r>
                    </a:p>
                  </a:txBody>
                  <a:tcPr marL="36587" marR="36587" marT="18314" marB="18314" anchor="ctr"/>
                </a:tc>
              </a:tr>
              <a:tr h="194110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中国公司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>
                          <a:sym typeface="+mn-ea"/>
                        </a:rPr>
                        <a:t>卧床大小便护理机</a:t>
                      </a:r>
                      <a:endParaRPr lang="zh-CN" altLang="en-US" sz="1700" dirty="0" smtClean="0"/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700" dirty="0"/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不可以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复杂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有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无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 dirty="0" smtClean="0"/>
                        <a:t>穿戴部分护垫与用户身体的接触性不好防漏防臭效果不佳</a:t>
                      </a:r>
                      <a:r>
                        <a:rPr lang="en-US" altLang="zh-CN" sz="1700" dirty="0" smtClean="0"/>
                        <a:t>;</a:t>
                      </a:r>
                    </a:p>
                    <a:p>
                      <a:pPr algn="l"/>
                      <a:r>
                        <a:rPr lang="zh-CN" altLang="en-US" sz="1700" dirty="0" smtClean="0"/>
                        <a:t>需要配置专用床垫</a:t>
                      </a:r>
                      <a:r>
                        <a:rPr lang="en-US" altLang="zh-CN" sz="1700" dirty="0" smtClean="0"/>
                        <a:t>;</a:t>
                      </a:r>
                    </a:p>
                    <a:p>
                      <a:pPr algn="l"/>
                      <a:r>
                        <a:rPr lang="zh-CN" altLang="en-US" sz="1700" dirty="0" smtClean="0"/>
                        <a:t>卧便器需要分男式和女式种类，使用操作非常复杂。</a:t>
                      </a:r>
                    </a:p>
                  </a:txBody>
                  <a:tcPr marL="36587" marR="36587" marT="18314" marB="18314" anchor="ctr"/>
                </a:tc>
              </a:tr>
            </a:tbl>
          </a:graphicData>
        </a:graphic>
      </p:graphicFrame>
      <p:pic>
        <p:nvPicPr>
          <p:cNvPr id="77" name="图片 76" descr="huliji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674316" y="3283548"/>
            <a:ext cx="1941223" cy="1207973"/>
          </a:xfrm>
          <a:prstGeom prst="rect">
            <a:avLst/>
          </a:prstGeom>
        </p:spPr>
      </p:pic>
      <p:graphicFrame>
        <p:nvGraphicFramePr>
          <p:cNvPr id="79" name="表格 78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07982" y="6623191"/>
          <a:ext cx="13072725" cy="140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690"/>
                <a:gridCol w="1152063"/>
                <a:gridCol w="1867082"/>
                <a:gridCol w="774079"/>
                <a:gridCol w="759905"/>
                <a:gridCol w="685883"/>
                <a:gridCol w="650447"/>
                <a:gridCol w="5781576"/>
              </a:tblGrid>
              <a:tr h="1404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中国公司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>
                          <a:sym typeface="+mn-ea"/>
                        </a:rPr>
                        <a:t>电动护理床</a:t>
                      </a:r>
                    </a:p>
                    <a:p>
                      <a:pPr algn="ctr"/>
                      <a:endParaRPr lang="zh-CN" altLang="en-US" sz="1700" dirty="0" smtClean="0">
                        <a:sym typeface="+mn-ea"/>
                      </a:endParaRP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700" dirty="0"/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可以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复杂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有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dirty="0" smtClean="0"/>
                        <a:t>无</a:t>
                      </a:r>
                    </a:p>
                  </a:txBody>
                  <a:tcPr marL="36587" marR="36587" marT="18314" marB="1831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 dirty="0" smtClean="0"/>
                        <a:t>不带水系统，不能自动冲洗，需人工清理，无防漏、防臭功能。</a:t>
                      </a:r>
                    </a:p>
                  </a:txBody>
                  <a:tcPr marL="36587" marR="36587" marT="18314" marB="18314" anchor="ctr"/>
                </a:tc>
              </a:tr>
            </a:tbl>
          </a:graphicData>
        </a:graphic>
      </p:graphicFrame>
      <p:pic>
        <p:nvPicPr>
          <p:cNvPr id="75" name="图片 74" descr="huliji3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723927" y="5120707"/>
            <a:ext cx="1891612" cy="1221360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4317" y="6728713"/>
            <a:ext cx="1634780" cy="101346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3106" y="1509387"/>
            <a:ext cx="592175" cy="10082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976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对比</a:t>
            </a:r>
          </a:p>
        </p:txBody>
      </p:sp>
      <p:graphicFrame>
        <p:nvGraphicFramePr>
          <p:cNvPr id="18" name="对象 17"/>
          <p:cNvGraphicFramePr/>
          <p:nvPr>
            <p:extLst>
              <p:ext uri="{D42A27DB-BD31-4B8C-83A1-F6EECF244321}">
                <p14:modId xmlns:p14="http://schemas.microsoft.com/office/powerpoint/2010/main" val="2175987471"/>
              </p:ext>
            </p:extLst>
          </p:nvPr>
        </p:nvGraphicFramePr>
        <p:xfrm>
          <a:off x="3887420" y="2036613"/>
          <a:ext cx="1800125" cy="1117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r:id="rId11" imgW="8391525" imgH="4514850" progId="Paint.Picture">
                  <p:embed/>
                </p:oleObj>
              </mc:Choice>
              <mc:Fallback>
                <p:oleObj r:id="rId11" imgW="8391525" imgH="451485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87420" y="2036613"/>
                        <a:ext cx="1800125" cy="1117791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 w="79375" cmpd="dbl">
                        <a:solidFill>
                          <a:schemeClr val="accent1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014322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27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 smtClean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优势分析</a:t>
            </a:r>
            <a:endParaRPr lang="zh-CN" altLang="en-US" sz="3472" b="1" dirty="0">
              <a:solidFill>
                <a:srgbClr val="28426F"/>
              </a:solidFill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Rectangle 3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455852" y="2541221"/>
            <a:ext cx="763934" cy="900445"/>
          </a:xfrm>
          <a:prstGeom prst="rect">
            <a:avLst/>
          </a:prstGeom>
          <a:solidFill>
            <a:srgbClr val="79B6D3">
              <a:lumMod val="60000"/>
              <a:lumOff val="40000"/>
            </a:srgbClr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Freeform 37"/>
          <p:cNvSpPr/>
          <p:nvPr>
            <p:custDataLst>
              <p:tags r:id="rId3"/>
            </p:custDataLst>
          </p:nvPr>
        </p:nvSpPr>
        <p:spPr bwMode="auto">
          <a:xfrm>
            <a:off x="6602662" y="2541222"/>
            <a:ext cx="763934" cy="1664377"/>
          </a:xfrm>
          <a:custGeom>
            <a:avLst/>
            <a:gdLst>
              <a:gd name="T0" fmla="*/ 0 w 291"/>
              <a:gd name="T1" fmla="*/ 0 h 634"/>
              <a:gd name="T2" fmla="*/ 0 w 291"/>
              <a:gd name="T3" fmla="*/ 343 h 634"/>
              <a:gd name="T4" fmla="*/ 0 w 291"/>
              <a:gd name="T5" fmla="*/ 634 h 634"/>
              <a:gd name="T6" fmla="*/ 291 w 291"/>
              <a:gd name="T7" fmla="*/ 343 h 634"/>
              <a:gd name="T8" fmla="*/ 291 w 291"/>
              <a:gd name="T9" fmla="*/ 0 h 634"/>
              <a:gd name="T10" fmla="*/ 0 w 291"/>
              <a:gd name="T11" fmla="*/ 0 h 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1" h="634">
                <a:moveTo>
                  <a:pt x="0" y="0"/>
                </a:moveTo>
                <a:lnTo>
                  <a:pt x="0" y="343"/>
                </a:lnTo>
                <a:lnTo>
                  <a:pt x="0" y="634"/>
                </a:lnTo>
                <a:lnTo>
                  <a:pt x="291" y="343"/>
                </a:lnTo>
                <a:lnTo>
                  <a:pt x="291" y="0"/>
                </a:lnTo>
                <a:lnTo>
                  <a:pt x="0" y="0"/>
                </a:lnTo>
                <a:close/>
              </a:path>
            </a:pathLst>
          </a:custGeom>
          <a:solidFill>
            <a:srgbClr val="8590CA"/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Rectangle 3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602662" y="5058790"/>
            <a:ext cx="763934" cy="900445"/>
          </a:xfrm>
          <a:prstGeom prst="rect">
            <a:avLst/>
          </a:prstGeom>
          <a:solidFill>
            <a:srgbClr val="79B6D3">
              <a:lumMod val="60000"/>
              <a:lumOff val="40000"/>
            </a:srgbClr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3" name="Freeform 40"/>
          <p:cNvSpPr/>
          <p:nvPr>
            <p:custDataLst>
              <p:tags r:id="rId5"/>
            </p:custDataLst>
          </p:nvPr>
        </p:nvSpPr>
        <p:spPr bwMode="auto">
          <a:xfrm>
            <a:off x="7455852" y="4294857"/>
            <a:ext cx="763934" cy="1664377"/>
          </a:xfrm>
          <a:custGeom>
            <a:avLst/>
            <a:gdLst>
              <a:gd name="T0" fmla="*/ 0 w 291"/>
              <a:gd name="T1" fmla="*/ 291 h 634"/>
              <a:gd name="T2" fmla="*/ 0 w 291"/>
              <a:gd name="T3" fmla="*/ 634 h 634"/>
              <a:gd name="T4" fmla="*/ 291 w 291"/>
              <a:gd name="T5" fmla="*/ 634 h 634"/>
              <a:gd name="T6" fmla="*/ 291 w 291"/>
              <a:gd name="T7" fmla="*/ 291 h 634"/>
              <a:gd name="T8" fmla="*/ 291 w 291"/>
              <a:gd name="T9" fmla="*/ 0 h 634"/>
              <a:gd name="T10" fmla="*/ 0 w 291"/>
              <a:gd name="T11" fmla="*/ 291 h 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1" h="634">
                <a:moveTo>
                  <a:pt x="0" y="291"/>
                </a:moveTo>
                <a:lnTo>
                  <a:pt x="0" y="634"/>
                </a:lnTo>
                <a:lnTo>
                  <a:pt x="291" y="634"/>
                </a:lnTo>
                <a:lnTo>
                  <a:pt x="291" y="291"/>
                </a:lnTo>
                <a:lnTo>
                  <a:pt x="291" y="0"/>
                </a:lnTo>
                <a:lnTo>
                  <a:pt x="0" y="291"/>
                </a:lnTo>
                <a:close/>
              </a:path>
            </a:pathLst>
          </a:custGeom>
          <a:solidFill>
            <a:srgbClr val="8590CA"/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" name="Rectangle 4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699592" y="3441666"/>
            <a:ext cx="903070" cy="763934"/>
          </a:xfrm>
          <a:prstGeom prst="rect">
            <a:avLst/>
          </a:prstGeom>
          <a:solidFill>
            <a:srgbClr val="8590CA">
              <a:lumMod val="60000"/>
              <a:lumOff val="40000"/>
            </a:srgbClr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2" name="Freeform 43"/>
          <p:cNvSpPr/>
          <p:nvPr>
            <p:custDataLst>
              <p:tags r:id="rId7"/>
            </p:custDataLst>
          </p:nvPr>
        </p:nvSpPr>
        <p:spPr bwMode="auto">
          <a:xfrm>
            <a:off x="5699592" y="4294856"/>
            <a:ext cx="1667003" cy="763934"/>
          </a:xfrm>
          <a:custGeom>
            <a:avLst/>
            <a:gdLst>
              <a:gd name="T0" fmla="*/ 344 w 635"/>
              <a:gd name="T1" fmla="*/ 0 h 291"/>
              <a:gd name="T2" fmla="*/ 0 w 635"/>
              <a:gd name="T3" fmla="*/ 0 h 291"/>
              <a:gd name="T4" fmla="*/ 0 w 635"/>
              <a:gd name="T5" fmla="*/ 291 h 291"/>
              <a:gd name="T6" fmla="*/ 344 w 635"/>
              <a:gd name="T7" fmla="*/ 291 h 291"/>
              <a:gd name="T8" fmla="*/ 635 w 635"/>
              <a:gd name="T9" fmla="*/ 291 h 291"/>
              <a:gd name="T10" fmla="*/ 344 w 635"/>
              <a:gd name="T11" fmla="*/ 0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35" h="291">
                <a:moveTo>
                  <a:pt x="344" y="0"/>
                </a:moveTo>
                <a:lnTo>
                  <a:pt x="0" y="0"/>
                </a:lnTo>
                <a:lnTo>
                  <a:pt x="0" y="291"/>
                </a:lnTo>
                <a:lnTo>
                  <a:pt x="344" y="291"/>
                </a:lnTo>
                <a:lnTo>
                  <a:pt x="635" y="291"/>
                </a:lnTo>
                <a:lnTo>
                  <a:pt x="344" y="0"/>
                </a:lnTo>
                <a:close/>
              </a:path>
            </a:pathLst>
          </a:custGeom>
          <a:solidFill>
            <a:srgbClr val="79B6D3"/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Rectangle 4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219787" y="4294856"/>
            <a:ext cx="903070" cy="763934"/>
          </a:xfrm>
          <a:prstGeom prst="rect">
            <a:avLst/>
          </a:prstGeom>
          <a:solidFill>
            <a:srgbClr val="8590CA">
              <a:lumMod val="60000"/>
              <a:lumOff val="40000"/>
            </a:srgbClr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Freeform 46"/>
          <p:cNvSpPr/>
          <p:nvPr>
            <p:custDataLst>
              <p:tags r:id="rId9"/>
            </p:custDataLst>
          </p:nvPr>
        </p:nvSpPr>
        <p:spPr bwMode="auto">
          <a:xfrm>
            <a:off x="7455852" y="3441666"/>
            <a:ext cx="1667003" cy="763934"/>
          </a:xfrm>
          <a:custGeom>
            <a:avLst/>
            <a:gdLst>
              <a:gd name="T0" fmla="*/ 291 w 635"/>
              <a:gd name="T1" fmla="*/ 0 h 291"/>
              <a:gd name="T2" fmla="*/ 0 w 635"/>
              <a:gd name="T3" fmla="*/ 0 h 291"/>
              <a:gd name="T4" fmla="*/ 291 w 635"/>
              <a:gd name="T5" fmla="*/ 291 h 291"/>
              <a:gd name="T6" fmla="*/ 635 w 635"/>
              <a:gd name="T7" fmla="*/ 291 h 291"/>
              <a:gd name="T8" fmla="*/ 635 w 635"/>
              <a:gd name="T9" fmla="*/ 0 h 291"/>
              <a:gd name="T10" fmla="*/ 291 w 635"/>
              <a:gd name="T11" fmla="*/ 0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35" h="291">
                <a:moveTo>
                  <a:pt x="291" y="0"/>
                </a:moveTo>
                <a:lnTo>
                  <a:pt x="0" y="0"/>
                </a:lnTo>
                <a:lnTo>
                  <a:pt x="291" y="291"/>
                </a:lnTo>
                <a:lnTo>
                  <a:pt x="635" y="291"/>
                </a:lnTo>
                <a:lnTo>
                  <a:pt x="635" y="0"/>
                </a:lnTo>
                <a:lnTo>
                  <a:pt x="291" y="0"/>
                </a:lnTo>
                <a:close/>
              </a:path>
            </a:pathLst>
          </a:custGeom>
          <a:solidFill>
            <a:srgbClr val="79B6D3"/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6" name="Text Box 48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658735" y="2690859"/>
            <a:ext cx="654414" cy="57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590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ysClr val="windowText" lastClr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wrap="non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80" b="1" dirty="0">
                <a:solidFill>
                  <a:sysClr val="window" lastClr="FFFFF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3" name="Text Box 49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519801" y="2690859"/>
            <a:ext cx="654414" cy="57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590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ysClr val="windowText" lastClr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wrap="non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80" b="1" dirty="0">
                <a:solidFill>
                  <a:sysClr val="window" lastClr="FFFFF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68" name="Text Box 50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314294" y="3551924"/>
            <a:ext cx="724556" cy="606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590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ysClr val="windowText" lastClr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wrap="non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80" b="1" dirty="0">
                <a:solidFill>
                  <a:sysClr val="window" lastClr="FFFFF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21" name="Freeform 35"/>
          <p:cNvSpPr/>
          <p:nvPr>
            <p:custDataLst>
              <p:tags r:id="rId13"/>
            </p:custDataLst>
          </p:nvPr>
        </p:nvSpPr>
        <p:spPr bwMode="auto">
          <a:xfrm>
            <a:off x="6602663" y="1997805"/>
            <a:ext cx="1617124" cy="543416"/>
          </a:xfrm>
          <a:custGeom>
            <a:avLst/>
            <a:gdLst>
              <a:gd name="T0" fmla="*/ 308 w 616"/>
              <a:gd name="T1" fmla="*/ 0 h 207"/>
              <a:gd name="T2" fmla="*/ 0 w 616"/>
              <a:gd name="T3" fmla="*/ 207 h 207"/>
              <a:gd name="T4" fmla="*/ 308 w 616"/>
              <a:gd name="T5" fmla="*/ 207 h 207"/>
              <a:gd name="T6" fmla="*/ 616 w 616"/>
              <a:gd name="T7" fmla="*/ 207 h 207"/>
              <a:gd name="T8" fmla="*/ 308 w 616"/>
              <a:gd name="T9" fmla="*/ 0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6" h="207">
                <a:moveTo>
                  <a:pt x="308" y="0"/>
                </a:moveTo>
                <a:lnTo>
                  <a:pt x="0" y="207"/>
                </a:lnTo>
                <a:lnTo>
                  <a:pt x="308" y="207"/>
                </a:lnTo>
                <a:lnTo>
                  <a:pt x="616" y="207"/>
                </a:lnTo>
                <a:lnTo>
                  <a:pt x="308" y="0"/>
                </a:ln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Freeform 38"/>
          <p:cNvSpPr/>
          <p:nvPr>
            <p:custDataLst>
              <p:tags r:id="rId14"/>
            </p:custDataLst>
          </p:nvPr>
        </p:nvSpPr>
        <p:spPr bwMode="auto">
          <a:xfrm>
            <a:off x="6602663" y="5959235"/>
            <a:ext cx="1617124" cy="543416"/>
          </a:xfrm>
          <a:custGeom>
            <a:avLst/>
            <a:gdLst>
              <a:gd name="T0" fmla="*/ 308 w 616"/>
              <a:gd name="T1" fmla="*/ 207 h 207"/>
              <a:gd name="T2" fmla="*/ 616 w 616"/>
              <a:gd name="T3" fmla="*/ 0 h 207"/>
              <a:gd name="T4" fmla="*/ 308 w 616"/>
              <a:gd name="T5" fmla="*/ 0 h 207"/>
              <a:gd name="T6" fmla="*/ 0 w 616"/>
              <a:gd name="T7" fmla="*/ 0 h 207"/>
              <a:gd name="T8" fmla="*/ 308 w 616"/>
              <a:gd name="T9" fmla="*/ 207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6" h="207">
                <a:moveTo>
                  <a:pt x="308" y="207"/>
                </a:moveTo>
                <a:lnTo>
                  <a:pt x="616" y="0"/>
                </a:lnTo>
                <a:lnTo>
                  <a:pt x="308" y="0"/>
                </a:lnTo>
                <a:lnTo>
                  <a:pt x="0" y="0"/>
                </a:lnTo>
                <a:lnTo>
                  <a:pt x="308" y="207"/>
                </a:ln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Freeform 41"/>
          <p:cNvSpPr/>
          <p:nvPr>
            <p:custDataLst>
              <p:tags r:id="rId15"/>
            </p:custDataLst>
          </p:nvPr>
        </p:nvSpPr>
        <p:spPr bwMode="auto">
          <a:xfrm>
            <a:off x="5156176" y="3441667"/>
            <a:ext cx="543416" cy="1617124"/>
          </a:xfrm>
          <a:custGeom>
            <a:avLst/>
            <a:gdLst>
              <a:gd name="T0" fmla="*/ 0 w 207"/>
              <a:gd name="T1" fmla="*/ 307 h 616"/>
              <a:gd name="T2" fmla="*/ 207 w 207"/>
              <a:gd name="T3" fmla="*/ 616 h 616"/>
              <a:gd name="T4" fmla="*/ 207 w 207"/>
              <a:gd name="T5" fmla="*/ 307 h 616"/>
              <a:gd name="T6" fmla="*/ 207 w 207"/>
              <a:gd name="T7" fmla="*/ 0 h 616"/>
              <a:gd name="T8" fmla="*/ 0 w 207"/>
              <a:gd name="T9" fmla="*/ 307 h 6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616">
                <a:moveTo>
                  <a:pt x="0" y="307"/>
                </a:moveTo>
                <a:lnTo>
                  <a:pt x="207" y="616"/>
                </a:lnTo>
                <a:lnTo>
                  <a:pt x="207" y="307"/>
                </a:lnTo>
                <a:lnTo>
                  <a:pt x="207" y="0"/>
                </a:lnTo>
                <a:lnTo>
                  <a:pt x="0" y="307"/>
                </a:ln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Freeform 44"/>
          <p:cNvSpPr/>
          <p:nvPr>
            <p:custDataLst>
              <p:tags r:id="rId16"/>
            </p:custDataLst>
          </p:nvPr>
        </p:nvSpPr>
        <p:spPr bwMode="auto">
          <a:xfrm>
            <a:off x="9122856" y="3441667"/>
            <a:ext cx="543416" cy="1617124"/>
          </a:xfrm>
          <a:custGeom>
            <a:avLst/>
            <a:gdLst>
              <a:gd name="T0" fmla="*/ 207 w 207"/>
              <a:gd name="T1" fmla="*/ 307 h 616"/>
              <a:gd name="T2" fmla="*/ 0 w 207"/>
              <a:gd name="T3" fmla="*/ 0 h 616"/>
              <a:gd name="T4" fmla="*/ 0 w 207"/>
              <a:gd name="T5" fmla="*/ 307 h 616"/>
              <a:gd name="T6" fmla="*/ 0 w 207"/>
              <a:gd name="T7" fmla="*/ 616 h 616"/>
              <a:gd name="T8" fmla="*/ 207 w 207"/>
              <a:gd name="T9" fmla="*/ 307 h 6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616">
                <a:moveTo>
                  <a:pt x="207" y="307"/>
                </a:moveTo>
                <a:lnTo>
                  <a:pt x="0" y="0"/>
                </a:lnTo>
                <a:lnTo>
                  <a:pt x="0" y="307"/>
                </a:lnTo>
                <a:lnTo>
                  <a:pt x="0" y="616"/>
                </a:lnTo>
                <a:lnTo>
                  <a:pt x="207" y="307"/>
                </a:ln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7"/>
            </p:custDataLst>
          </p:nvPr>
        </p:nvSpPr>
        <p:spPr>
          <a:xfrm>
            <a:off x="1525322" y="2112701"/>
            <a:ext cx="4705625" cy="1332246"/>
          </a:xfrm>
          <a:prstGeom prst="rect">
            <a:avLst/>
          </a:prstGeom>
          <a:noFill/>
        </p:spPr>
        <p:txBody>
          <a:bodyPr wrap="square" lIns="113395" tIns="56698" rIns="113395" bIns="56698" rtlCol="0" anchor="ctr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736" spc="186" dirty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微软雅黑" panose="020B0503020204020204" pitchFamily="34" charset="-122"/>
              </a:rPr>
              <a:t>首创床式智能马桶系统：温水洗臀，暖风烘干，马桶自清洁，污水自动收集并密封。</a:t>
            </a:r>
          </a:p>
        </p:txBody>
      </p:sp>
      <p:sp>
        <p:nvSpPr>
          <p:cNvPr id="28" name="文本框 27"/>
          <p:cNvSpPr txBox="1"/>
          <p:nvPr>
            <p:custDataLst>
              <p:tags r:id="rId18"/>
            </p:custDataLst>
          </p:nvPr>
        </p:nvSpPr>
        <p:spPr>
          <a:xfrm>
            <a:off x="8591501" y="2112701"/>
            <a:ext cx="4705625" cy="1332246"/>
          </a:xfrm>
          <a:prstGeom prst="rect">
            <a:avLst/>
          </a:prstGeom>
          <a:noFill/>
        </p:spPr>
        <p:txBody>
          <a:bodyPr wrap="square" lIns="113395" tIns="56698" rIns="113395" bIns="56698" rtlCol="0" anchor="ctr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736" spc="186" dirty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微软雅黑" panose="020B0503020204020204" pitchFamily="34" charset="-122"/>
              </a:rPr>
              <a:t>三点弧式翻身机构：速度适宜，角度可调，重力分布科学合理，方便清洗和护理。</a:t>
            </a:r>
          </a:p>
        </p:txBody>
      </p:sp>
      <p:sp>
        <p:nvSpPr>
          <p:cNvPr id="29" name="文本框 28"/>
          <p:cNvSpPr txBox="1"/>
          <p:nvPr>
            <p:custDataLst>
              <p:tags r:id="rId19"/>
            </p:custDataLst>
          </p:nvPr>
        </p:nvSpPr>
        <p:spPr>
          <a:xfrm>
            <a:off x="628126" y="3584105"/>
            <a:ext cx="4438793" cy="1332246"/>
          </a:xfrm>
          <a:prstGeom prst="rect">
            <a:avLst/>
          </a:prstGeom>
          <a:noFill/>
        </p:spPr>
        <p:txBody>
          <a:bodyPr wrap="square" lIns="113395" tIns="56698" rIns="113395" bIns="56698" rtlCol="0" anchor="ctr"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736" spc="186" dirty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微软雅黑" panose="020B0503020204020204" pitchFamily="34" charset="-122"/>
              </a:rPr>
              <a:t>军工品质，产品由完善的硬件和科学的软件组成，智能化程度高，各个机构之间配合良好，并具有完善的保护和自检功能。</a:t>
            </a:r>
          </a:p>
        </p:txBody>
      </p:sp>
      <p:sp>
        <p:nvSpPr>
          <p:cNvPr id="32" name="文本框 31"/>
          <p:cNvSpPr txBox="1"/>
          <p:nvPr>
            <p:custDataLst>
              <p:tags r:id="rId20"/>
            </p:custDataLst>
          </p:nvPr>
        </p:nvSpPr>
        <p:spPr>
          <a:xfrm>
            <a:off x="9762920" y="3584105"/>
            <a:ext cx="4438793" cy="1332246"/>
          </a:xfrm>
          <a:prstGeom prst="rect">
            <a:avLst/>
          </a:prstGeom>
          <a:noFill/>
        </p:spPr>
        <p:txBody>
          <a:bodyPr wrap="square" lIns="113395" tIns="56698" rIns="113395" bIns="56698" rtlCol="0" anchor="ctr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736" spc="186" dirty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微软雅黑" panose="020B0503020204020204" pitchFamily="34" charset="-122"/>
              </a:rPr>
              <a:t>升降脚踏板，可根据用户身高、生活习惯以及护理的要求进行上下调节。</a:t>
            </a:r>
          </a:p>
        </p:txBody>
      </p:sp>
      <p:sp>
        <p:nvSpPr>
          <p:cNvPr id="33" name="文本框 32"/>
          <p:cNvSpPr txBox="1"/>
          <p:nvPr>
            <p:custDataLst>
              <p:tags r:id="rId21"/>
            </p:custDataLst>
          </p:nvPr>
        </p:nvSpPr>
        <p:spPr>
          <a:xfrm>
            <a:off x="1525322" y="5055347"/>
            <a:ext cx="4705898" cy="1763924"/>
          </a:xfrm>
          <a:prstGeom prst="rect">
            <a:avLst/>
          </a:prstGeom>
          <a:noFill/>
        </p:spPr>
        <p:txBody>
          <a:bodyPr wrap="square" lIns="113395" tIns="56698" rIns="113395" bIns="56698" rtlCol="0" anchor="ctr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736" spc="186" dirty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微软雅黑" panose="020B0503020204020204" pitchFamily="34" charset="-122"/>
              </a:rPr>
              <a:t>“物联网”功能（5G），具有APP远程操作、语音（视频）通话、定位、与医疗机构的ERP系统联网、大数据采集等功能。具有灵活性，开放性、扩展性和完备的二次开发能力</a:t>
            </a:r>
          </a:p>
        </p:txBody>
      </p:sp>
      <p:sp>
        <p:nvSpPr>
          <p:cNvPr id="34" name="文本框 33"/>
          <p:cNvSpPr txBox="1"/>
          <p:nvPr>
            <p:custDataLst>
              <p:tags r:id="rId22"/>
            </p:custDataLst>
          </p:nvPr>
        </p:nvSpPr>
        <p:spPr>
          <a:xfrm>
            <a:off x="8591501" y="5055508"/>
            <a:ext cx="4705625" cy="1332246"/>
          </a:xfrm>
          <a:prstGeom prst="rect">
            <a:avLst/>
          </a:prstGeom>
          <a:noFill/>
        </p:spPr>
        <p:txBody>
          <a:bodyPr wrap="square" lIns="113395" tIns="56698" rIns="113395" bIns="56698" rtlCol="0" anchor="ctr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736" spc="186" dirty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微软雅黑" panose="020B0503020204020204" pitchFamily="34" charset="-122"/>
              </a:rPr>
              <a:t>采用独创的仿生遥控器，操作方便，形象易学，历史性地实现了患者的自我护理操作。</a:t>
            </a:r>
          </a:p>
        </p:txBody>
      </p:sp>
      <p:sp>
        <p:nvSpPr>
          <p:cNvPr id="35" name="Text Box 48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658735" y="5230116"/>
            <a:ext cx="654414" cy="57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590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ysClr val="windowText" lastClr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wrap="non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80" b="1" dirty="0">
                <a:solidFill>
                  <a:sysClr val="window" lastClr="FFFFF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05</a:t>
            </a:r>
          </a:p>
        </p:txBody>
      </p:sp>
      <p:sp>
        <p:nvSpPr>
          <p:cNvPr id="36" name="Text Box 49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519801" y="5230116"/>
            <a:ext cx="654414" cy="57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590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ysClr val="windowText" lastClr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wrap="non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80" b="1" dirty="0">
                <a:solidFill>
                  <a:sysClr val="window" lastClr="FFFFF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37" name="Text Box 50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781458" y="3551924"/>
            <a:ext cx="724556" cy="606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590C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ysClr val="windowText" lastClr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wrap="non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80" b="1" dirty="0">
                <a:solidFill>
                  <a:sysClr val="window" lastClr="FFFFF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06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20253" y="3968644"/>
            <a:ext cx="947695" cy="55027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976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特点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0908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基本参数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115922" y="6076691"/>
            <a:ext cx="3233336" cy="39767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984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护理床型号：</a:t>
            </a:r>
            <a:r>
              <a:rPr lang="en-US" sz="1984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HJE-NA01</a:t>
            </a:r>
            <a:endParaRPr lang="en-US" altLang="en-US" sz="1984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32" name="表格 31"/>
          <p:cNvGraphicFramePr/>
          <p:nvPr>
            <p:custDataLst>
              <p:tags r:id="rId3"/>
            </p:custDataLst>
          </p:nvPr>
        </p:nvGraphicFramePr>
        <p:xfrm>
          <a:off x="7467542" y="2031831"/>
          <a:ext cx="6421786" cy="1798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7074"/>
                <a:gridCol w="2201755"/>
                <a:gridCol w="2452957"/>
              </a:tblGrid>
              <a:tr h="119252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sz="20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长度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（mm）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5046" marR="85046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sz="20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宽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度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（mm）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5046" marR="85046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sz="2000" b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高度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（mm）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5046" marR="85046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6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2200</a:t>
                      </a:r>
                    </a:p>
                  </a:txBody>
                  <a:tcPr marL="85046" marR="85046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1200</a:t>
                      </a:r>
                      <a:endParaRPr lang="en-US" altLang="zh-CN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85046" marR="85046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680/</a:t>
                      </a: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570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5046" marR="85046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" name="文本框 34"/>
          <p:cNvSpPr txBox="1"/>
          <p:nvPr/>
        </p:nvSpPr>
        <p:spPr>
          <a:xfrm>
            <a:off x="7467541" y="4078102"/>
            <a:ext cx="7080896" cy="2936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正常工作条件</a:t>
            </a:r>
            <a:r>
              <a:rPr lang="en-US" altLang="zh-CN" dirty="0"/>
              <a:t>:</a:t>
            </a:r>
          </a:p>
          <a:p>
            <a:endParaRPr lang="zh-CN" altLang="en-US" dirty="0"/>
          </a:p>
          <a:p>
            <a:pPr fontAlgn="auto">
              <a:lnSpc>
                <a:spcPct val="150000"/>
              </a:lnSpc>
            </a:pPr>
            <a:r>
              <a:rPr lang="zh-CN" altLang="en-US" sz="1984" dirty="0"/>
              <a:t>      环境温度：5～40℃ </a:t>
            </a:r>
          </a:p>
          <a:p>
            <a:pPr fontAlgn="auto">
              <a:lnSpc>
                <a:spcPct val="150000"/>
              </a:lnSpc>
            </a:pPr>
            <a:r>
              <a:rPr lang="zh-CN" altLang="en-US" sz="1984" dirty="0"/>
              <a:t>      相对湿度：≤80%</a:t>
            </a:r>
          </a:p>
          <a:p>
            <a:pPr fontAlgn="auto">
              <a:lnSpc>
                <a:spcPct val="150000"/>
              </a:lnSpc>
            </a:pPr>
            <a:r>
              <a:rPr lang="zh-CN" altLang="en-US" sz="1984" dirty="0"/>
              <a:t>      水温调节范围：</a:t>
            </a:r>
            <a:r>
              <a:rPr lang="en-US" altLang="zh-CN" sz="1984" dirty="0"/>
              <a:t>25~70</a:t>
            </a:r>
            <a:r>
              <a:rPr lang="zh-CN" altLang="en-US" sz="1984" dirty="0">
                <a:sym typeface="+mn-ea"/>
              </a:rPr>
              <a:t>℃</a:t>
            </a:r>
            <a:endParaRPr lang="zh-CN" altLang="en-US" sz="1984" dirty="0"/>
          </a:p>
          <a:p>
            <a:pPr fontAlgn="auto">
              <a:lnSpc>
                <a:spcPct val="150000"/>
              </a:lnSpc>
            </a:pPr>
            <a:r>
              <a:rPr lang="zh-CN" altLang="en-US" sz="1984" dirty="0"/>
              <a:t>      最大输入功率：</a:t>
            </a:r>
            <a:r>
              <a:rPr lang="en-US" altLang="zh-CN" sz="1984" dirty="0"/>
              <a:t>1500W     </a:t>
            </a:r>
            <a:r>
              <a:rPr lang="zh-CN" altLang="en-US" sz="1984" dirty="0"/>
              <a:t>待机功率：</a:t>
            </a:r>
            <a:r>
              <a:rPr lang="en-US" altLang="zh-CN" sz="1984" dirty="0"/>
              <a:t>10W</a:t>
            </a:r>
            <a:endParaRPr lang="zh-CN" altLang="en-US" sz="1984" dirty="0"/>
          </a:p>
          <a:p>
            <a:pPr fontAlgn="auto">
              <a:lnSpc>
                <a:spcPct val="150000"/>
              </a:lnSpc>
            </a:pPr>
            <a:r>
              <a:rPr lang="zh-CN" altLang="en-US" sz="1984" dirty="0"/>
              <a:t>      电源电压：AC220V   频率：50Hz</a:t>
            </a:r>
          </a:p>
        </p:txBody>
      </p:sp>
      <p:sp>
        <p:nvSpPr>
          <p:cNvPr id="37" name="五边形 36"/>
          <p:cNvSpPr/>
          <p:nvPr/>
        </p:nvSpPr>
        <p:spPr>
          <a:xfrm>
            <a:off x="7624247" y="4958488"/>
            <a:ext cx="266164" cy="218916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五边形 38"/>
          <p:cNvSpPr/>
          <p:nvPr/>
        </p:nvSpPr>
        <p:spPr>
          <a:xfrm>
            <a:off x="7624247" y="5394744"/>
            <a:ext cx="266164" cy="218916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五边形 39"/>
          <p:cNvSpPr/>
          <p:nvPr/>
        </p:nvSpPr>
        <p:spPr>
          <a:xfrm>
            <a:off x="7624247" y="5857774"/>
            <a:ext cx="266164" cy="218916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五边形 41"/>
          <p:cNvSpPr/>
          <p:nvPr/>
        </p:nvSpPr>
        <p:spPr>
          <a:xfrm>
            <a:off x="7624247" y="6311355"/>
            <a:ext cx="266164" cy="218916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五边形 43"/>
          <p:cNvSpPr/>
          <p:nvPr/>
        </p:nvSpPr>
        <p:spPr>
          <a:xfrm>
            <a:off x="7624247" y="6804309"/>
            <a:ext cx="266164" cy="218916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6" name="对象 45"/>
          <p:cNvGraphicFramePr/>
          <p:nvPr/>
        </p:nvGraphicFramePr>
        <p:xfrm>
          <a:off x="1104028" y="2031477"/>
          <a:ext cx="5257911" cy="336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r:id="rId7" imgW="9115425" imgH="5572125" progId="Paint.Picture">
                  <p:embed/>
                </p:oleObj>
              </mc:Choice>
              <mc:Fallback>
                <p:oleObj r:id="rId7" imgW="9115425" imgH="5572125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04028" y="2031477"/>
                        <a:ext cx="5257911" cy="3364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962946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应用场所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17029" y="1203062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产品功能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1581232" y="1254248"/>
            <a:ext cx="11780494" cy="42704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肘形连接符 1"/>
          <p:cNvCxnSpPr/>
          <p:nvPr/>
        </p:nvCxnSpPr>
        <p:spPr>
          <a:xfrm flipV="1">
            <a:off x="4677990" y="1880376"/>
            <a:ext cx="3608019" cy="939019"/>
          </a:xfrm>
          <a:prstGeom prst="bentConnector3">
            <a:avLst>
              <a:gd name="adj1" fmla="val 62381"/>
            </a:avLst>
          </a:prstGeom>
          <a:ln w="9525" cap="rnd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/>
          <p:nvPr/>
        </p:nvCxnSpPr>
        <p:spPr>
          <a:xfrm>
            <a:off x="4679565" y="3051027"/>
            <a:ext cx="3839789" cy="1007409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8286797" y="1520905"/>
            <a:ext cx="678256" cy="678256"/>
          </a:xfrm>
          <a:prstGeom prst="ellipse">
            <a:avLst/>
          </a:prstGeom>
          <a:gradFill>
            <a:gsLst>
              <a:gs pos="0">
                <a:srgbClr val="0E1A40"/>
              </a:gs>
              <a:gs pos="100000">
                <a:srgbClr val="2F5EB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80">
              <a:solidFill>
                <a:schemeClr val="bg1"/>
              </a:solidFill>
              <a:latin typeface="Impact MT Std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3" name="标题 4"/>
          <p:cNvSpPr txBox="1"/>
          <p:nvPr/>
        </p:nvSpPr>
        <p:spPr>
          <a:xfrm>
            <a:off x="8322920" y="1638186"/>
            <a:ext cx="642132" cy="446488"/>
          </a:xfrm>
          <a:prstGeom prst="rect">
            <a:avLst/>
          </a:prstGeom>
        </p:spPr>
        <p:txBody>
          <a:bodyPr vert="horz" lIns="113395" tIns="56698" rIns="113395" bIns="56698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80" b="1" dirty="0">
                <a:solidFill>
                  <a:schemeClr val="bg1"/>
                </a:solidFill>
                <a:latin typeface="Impact MT Std" pitchFamily="34" charset="0"/>
                <a:ea typeface="方正兰亭黑简体" panose="02000000000000000000" pitchFamily="2" charset="-122"/>
              </a:rPr>
              <a:t>01</a:t>
            </a:r>
          </a:p>
        </p:txBody>
      </p:sp>
      <p:cxnSp>
        <p:nvCxnSpPr>
          <p:cNvPr id="24" name="肘形连接符 23"/>
          <p:cNvCxnSpPr/>
          <p:nvPr/>
        </p:nvCxnSpPr>
        <p:spPr>
          <a:xfrm flipV="1">
            <a:off x="5419342" y="2941001"/>
            <a:ext cx="3760938" cy="588237"/>
          </a:xfrm>
          <a:prstGeom prst="bentConnector3">
            <a:avLst>
              <a:gd name="adj1" fmla="val 50021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/>
          <p:nvPr/>
        </p:nvCxnSpPr>
        <p:spPr>
          <a:xfrm>
            <a:off x="5301222" y="4205671"/>
            <a:ext cx="3915282" cy="859913"/>
          </a:xfrm>
          <a:prstGeom prst="bentConnector3">
            <a:avLst>
              <a:gd name="adj1" fmla="val 5002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9180560" y="2551366"/>
            <a:ext cx="678256" cy="678256"/>
          </a:xfrm>
          <a:prstGeom prst="ellipse">
            <a:avLst/>
          </a:prstGeom>
          <a:gradFill>
            <a:gsLst>
              <a:gs pos="0">
                <a:srgbClr val="0E1A40"/>
              </a:gs>
              <a:gs pos="100000">
                <a:srgbClr val="2F5EB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80">
              <a:solidFill>
                <a:schemeClr val="bg1"/>
              </a:solidFill>
              <a:latin typeface="Impact MT Std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8" name="标题 4"/>
          <p:cNvSpPr txBox="1"/>
          <p:nvPr/>
        </p:nvSpPr>
        <p:spPr>
          <a:xfrm>
            <a:off x="9216683" y="2668647"/>
            <a:ext cx="642132" cy="446488"/>
          </a:xfrm>
          <a:prstGeom prst="rect">
            <a:avLst/>
          </a:prstGeom>
        </p:spPr>
        <p:txBody>
          <a:bodyPr vert="horz" lIns="113395" tIns="56698" rIns="113395" bIns="56698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80" b="1" dirty="0">
                <a:solidFill>
                  <a:schemeClr val="bg1"/>
                </a:solidFill>
                <a:latin typeface="Impact MT Std" pitchFamily="34" charset="0"/>
                <a:ea typeface="方正兰亭黑简体" panose="02000000000000000000" pitchFamily="2" charset="-122"/>
              </a:rPr>
              <a:t>02</a:t>
            </a:r>
          </a:p>
        </p:txBody>
      </p:sp>
      <p:sp>
        <p:nvSpPr>
          <p:cNvPr id="29" name="椭圆 28"/>
          <p:cNvSpPr/>
          <p:nvPr/>
        </p:nvSpPr>
        <p:spPr>
          <a:xfrm>
            <a:off x="8198289" y="3676110"/>
            <a:ext cx="678256" cy="678256"/>
          </a:xfrm>
          <a:prstGeom prst="ellipse">
            <a:avLst/>
          </a:prstGeom>
          <a:gradFill>
            <a:gsLst>
              <a:gs pos="0">
                <a:srgbClr val="0E1A40"/>
              </a:gs>
              <a:gs pos="100000">
                <a:srgbClr val="2F5EB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80">
              <a:solidFill>
                <a:schemeClr val="bg1"/>
              </a:solidFill>
              <a:latin typeface="Impact MT Std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0" name="标题 4"/>
          <p:cNvSpPr txBox="1"/>
          <p:nvPr/>
        </p:nvSpPr>
        <p:spPr>
          <a:xfrm>
            <a:off x="8234411" y="3793390"/>
            <a:ext cx="642132" cy="446488"/>
          </a:xfrm>
          <a:prstGeom prst="rect">
            <a:avLst/>
          </a:prstGeom>
        </p:spPr>
        <p:txBody>
          <a:bodyPr vert="horz" lIns="113395" tIns="56698" rIns="113395" bIns="56698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80" b="1" dirty="0">
                <a:solidFill>
                  <a:schemeClr val="bg1"/>
                </a:solidFill>
                <a:latin typeface="Impact MT Std" pitchFamily="34" charset="0"/>
                <a:ea typeface="方正兰亭黑简体" panose="02000000000000000000" pitchFamily="2" charset="-122"/>
              </a:rPr>
              <a:t>03</a:t>
            </a:r>
          </a:p>
        </p:txBody>
      </p:sp>
      <p:sp>
        <p:nvSpPr>
          <p:cNvPr id="31" name="椭圆 30"/>
          <p:cNvSpPr/>
          <p:nvPr/>
        </p:nvSpPr>
        <p:spPr>
          <a:xfrm>
            <a:off x="9090475" y="4692396"/>
            <a:ext cx="678256" cy="678256"/>
          </a:xfrm>
          <a:prstGeom prst="ellipse">
            <a:avLst/>
          </a:prstGeom>
          <a:gradFill>
            <a:gsLst>
              <a:gs pos="0">
                <a:srgbClr val="0E1A40"/>
              </a:gs>
              <a:gs pos="100000">
                <a:srgbClr val="2F5EB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80">
              <a:solidFill>
                <a:schemeClr val="bg1"/>
              </a:solidFill>
              <a:latin typeface="Impact MT Std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4" name="标题 4"/>
          <p:cNvSpPr txBox="1"/>
          <p:nvPr/>
        </p:nvSpPr>
        <p:spPr>
          <a:xfrm>
            <a:off x="9126598" y="4809676"/>
            <a:ext cx="642132" cy="446488"/>
          </a:xfrm>
          <a:prstGeom prst="rect">
            <a:avLst/>
          </a:prstGeom>
        </p:spPr>
        <p:txBody>
          <a:bodyPr vert="horz" lIns="113395" tIns="56698" rIns="113395" bIns="56698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80" b="1" dirty="0">
                <a:solidFill>
                  <a:schemeClr val="bg1"/>
                </a:solidFill>
                <a:latin typeface="Impact MT Std" pitchFamily="34" charset="0"/>
                <a:ea typeface="方正兰亭黑简体" panose="02000000000000000000" pitchFamily="2" charset="-122"/>
              </a:rPr>
              <a:t>04</a:t>
            </a:r>
          </a:p>
        </p:txBody>
      </p:sp>
      <p:sp>
        <p:nvSpPr>
          <p:cNvPr id="33" name="Freeform 9"/>
          <p:cNvSpPr/>
          <p:nvPr/>
        </p:nvSpPr>
        <p:spPr bwMode="auto">
          <a:xfrm flipH="1">
            <a:off x="2106788" y="2068756"/>
            <a:ext cx="3661194" cy="2286242"/>
          </a:xfrm>
          <a:custGeom>
            <a:avLst/>
            <a:gdLst>
              <a:gd name="T0" fmla="*/ 262 w 320"/>
              <a:gd name="T1" fmla="*/ 70 h 200"/>
              <a:gd name="T2" fmla="*/ 163 w 320"/>
              <a:gd name="T3" fmla="*/ 0 h 200"/>
              <a:gd name="T4" fmla="*/ 63 w 320"/>
              <a:gd name="T5" fmla="*/ 94 h 200"/>
              <a:gd name="T6" fmla="*/ 54 w 320"/>
              <a:gd name="T7" fmla="*/ 93 h 200"/>
              <a:gd name="T8" fmla="*/ 0 w 320"/>
              <a:gd name="T9" fmla="*/ 146 h 200"/>
              <a:gd name="T10" fmla="*/ 43 w 320"/>
              <a:gd name="T11" fmla="*/ 200 h 200"/>
              <a:gd name="T12" fmla="*/ 251 w 320"/>
              <a:gd name="T13" fmla="*/ 200 h 200"/>
              <a:gd name="T14" fmla="*/ 320 w 320"/>
              <a:gd name="T15" fmla="*/ 134 h 200"/>
              <a:gd name="T16" fmla="*/ 262 w 320"/>
              <a:gd name="T17" fmla="*/ 7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0" h="200">
                <a:moveTo>
                  <a:pt x="262" y="70"/>
                </a:moveTo>
                <a:cubicBezTo>
                  <a:pt x="249" y="29"/>
                  <a:pt x="209" y="0"/>
                  <a:pt x="163" y="0"/>
                </a:cubicBezTo>
                <a:cubicBezTo>
                  <a:pt x="108" y="0"/>
                  <a:pt x="66" y="41"/>
                  <a:pt x="63" y="94"/>
                </a:cubicBezTo>
                <a:cubicBezTo>
                  <a:pt x="60" y="94"/>
                  <a:pt x="57" y="93"/>
                  <a:pt x="54" y="93"/>
                </a:cubicBezTo>
                <a:cubicBezTo>
                  <a:pt x="24" y="93"/>
                  <a:pt x="0" y="117"/>
                  <a:pt x="0" y="146"/>
                </a:cubicBezTo>
                <a:cubicBezTo>
                  <a:pt x="0" y="171"/>
                  <a:pt x="19" y="195"/>
                  <a:pt x="43" y="200"/>
                </a:cubicBezTo>
                <a:cubicBezTo>
                  <a:pt x="251" y="200"/>
                  <a:pt x="251" y="200"/>
                  <a:pt x="251" y="200"/>
                </a:cubicBezTo>
                <a:cubicBezTo>
                  <a:pt x="287" y="200"/>
                  <a:pt x="320" y="170"/>
                  <a:pt x="320" y="134"/>
                </a:cubicBezTo>
                <a:cubicBezTo>
                  <a:pt x="320" y="101"/>
                  <a:pt x="295" y="74"/>
                  <a:pt x="262" y="70"/>
                </a:cubicBezTo>
                <a:close/>
              </a:path>
            </a:pathLst>
          </a:custGeom>
          <a:gradFill>
            <a:gsLst>
              <a:gs pos="0">
                <a:srgbClr val="0E1A40"/>
              </a:gs>
              <a:gs pos="100000">
                <a:srgbClr val="2F5EB0"/>
              </a:gs>
            </a:gsLst>
            <a:lin ang="13800000" scaled="0"/>
          </a:gradFill>
          <a:ln>
            <a:noFill/>
          </a:ln>
        </p:spPr>
        <p:txBody>
          <a:bodyPr vert="horz" wrap="square" lIns="93653" tIns="46826" rIns="93653" bIns="46826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6294">
              <a:defRPr/>
            </a:pPr>
            <a:endParaRPr lang="zh-CN" altLang="en-US" sz="186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4" name="KSO_Shape"/>
          <p:cNvSpPr/>
          <p:nvPr/>
        </p:nvSpPr>
        <p:spPr bwMode="auto">
          <a:xfrm>
            <a:off x="3526915" y="2550812"/>
            <a:ext cx="786650" cy="786650"/>
          </a:xfrm>
          <a:custGeom>
            <a:avLst/>
            <a:gdLst>
              <a:gd name="T0" fmla="*/ 984018 w 1589088"/>
              <a:gd name="T1" fmla="*/ 589506 h 1589088"/>
              <a:gd name="T2" fmla="*/ 955171 w 1589088"/>
              <a:gd name="T3" fmla="*/ 645802 h 1589088"/>
              <a:gd name="T4" fmla="*/ 898294 w 1589088"/>
              <a:gd name="T5" fmla="*/ 673272 h 1589088"/>
              <a:gd name="T6" fmla="*/ 881422 w 1589088"/>
              <a:gd name="T7" fmla="*/ 964824 h 1589088"/>
              <a:gd name="T8" fmla="*/ 873530 w 1589088"/>
              <a:gd name="T9" fmla="*/ 1040159 h 1589088"/>
              <a:gd name="T10" fmla="*/ 824817 w 1589088"/>
              <a:gd name="T11" fmla="*/ 1084490 h 1589088"/>
              <a:gd name="T12" fmla="*/ 756238 w 1589088"/>
              <a:gd name="T13" fmla="*/ 1088026 h 1589088"/>
              <a:gd name="T14" fmla="*/ 703444 w 1589088"/>
              <a:gd name="T15" fmla="*/ 1048590 h 1589088"/>
              <a:gd name="T16" fmla="*/ 686571 w 1589088"/>
              <a:gd name="T17" fmla="*/ 985493 h 1589088"/>
              <a:gd name="T18" fmla="*/ 486007 w 1589088"/>
              <a:gd name="T19" fmla="*/ 893024 h 1589088"/>
              <a:gd name="T20" fmla="*/ 398106 w 1589088"/>
              <a:gd name="T21" fmla="*/ 820680 h 1589088"/>
              <a:gd name="T22" fmla="*/ 402189 w 1589088"/>
              <a:gd name="T23" fmla="*/ 755134 h 1589088"/>
              <a:gd name="T24" fmla="*/ 446547 w 1589088"/>
              <a:gd name="T25" fmla="*/ 706452 h 1589088"/>
              <a:gd name="T26" fmla="*/ 514037 w 1589088"/>
              <a:gd name="T27" fmla="*/ 696389 h 1589088"/>
              <a:gd name="T28" fmla="*/ 570641 w 1589088"/>
              <a:gd name="T29" fmla="*/ 730385 h 1589088"/>
              <a:gd name="T30" fmla="*/ 593501 w 1589088"/>
              <a:gd name="T31" fmla="*/ 794027 h 1589088"/>
              <a:gd name="T32" fmla="*/ 818558 w 1589088"/>
              <a:gd name="T33" fmla="*/ 648522 h 1589088"/>
              <a:gd name="T34" fmla="*/ 785901 w 1589088"/>
              <a:gd name="T35" fmla="*/ 575091 h 1589088"/>
              <a:gd name="T36" fmla="*/ 808761 w 1589088"/>
              <a:gd name="T37" fmla="*/ 511721 h 1589088"/>
              <a:gd name="T38" fmla="*/ 865365 w 1589088"/>
              <a:gd name="T39" fmla="*/ 477726 h 1589088"/>
              <a:gd name="T40" fmla="*/ 728574 w 1589088"/>
              <a:gd name="T41" fmla="*/ 144010 h 1589088"/>
              <a:gd name="T42" fmla="*/ 531280 w 1589088"/>
              <a:gd name="T43" fmla="*/ 182593 h 1589088"/>
              <a:gd name="T44" fmla="*/ 353281 w 1589088"/>
              <a:gd name="T45" fmla="*/ 288291 h 1589088"/>
              <a:gd name="T46" fmla="*/ 219577 w 1589088"/>
              <a:gd name="T47" fmla="*/ 451592 h 1589088"/>
              <a:gd name="T48" fmla="*/ 152454 w 1589088"/>
              <a:gd name="T49" fmla="*/ 642880 h 1589088"/>
              <a:gd name="T50" fmla="*/ 152454 w 1589088"/>
              <a:gd name="T51" fmla="*/ 843135 h 1589088"/>
              <a:gd name="T52" fmla="*/ 219577 w 1589088"/>
              <a:gd name="T53" fmla="*/ 1034422 h 1589088"/>
              <a:gd name="T54" fmla="*/ 353281 w 1589088"/>
              <a:gd name="T55" fmla="*/ 1197724 h 1589088"/>
              <a:gd name="T56" fmla="*/ 531280 w 1589088"/>
              <a:gd name="T57" fmla="*/ 1303421 h 1589088"/>
              <a:gd name="T58" fmla="*/ 728574 w 1589088"/>
              <a:gd name="T59" fmla="*/ 1341734 h 1589088"/>
              <a:gd name="T60" fmla="*/ 927227 w 1589088"/>
              <a:gd name="T61" fmla="*/ 1312931 h 1589088"/>
              <a:gd name="T62" fmla="*/ 1109302 w 1589088"/>
              <a:gd name="T63" fmla="*/ 1217015 h 1589088"/>
              <a:gd name="T64" fmla="*/ 1251431 w 1589088"/>
              <a:gd name="T65" fmla="*/ 1059964 h 1589088"/>
              <a:gd name="T66" fmla="*/ 1328065 w 1589088"/>
              <a:gd name="T67" fmla="*/ 871393 h 1589088"/>
              <a:gd name="T68" fmla="*/ 1337576 w 1589088"/>
              <a:gd name="T69" fmla="*/ 671410 h 1589088"/>
              <a:gd name="T70" fmla="*/ 1280237 w 1589088"/>
              <a:gd name="T71" fmla="*/ 477677 h 1589088"/>
              <a:gd name="T72" fmla="*/ 1155500 w 1589088"/>
              <a:gd name="T73" fmla="*/ 308670 h 1589088"/>
              <a:gd name="T74" fmla="*/ 981849 w 1589088"/>
              <a:gd name="T75" fmla="*/ 193462 h 1589088"/>
              <a:gd name="T76" fmla="*/ 785915 w 1589088"/>
              <a:gd name="T77" fmla="*/ 145640 h 1589088"/>
              <a:gd name="T78" fmla="*/ 902226 w 1589088"/>
              <a:gd name="T79" fmla="*/ 17390 h 1589088"/>
              <a:gd name="T80" fmla="*/ 1136207 w 1589088"/>
              <a:gd name="T81" fmla="*/ 112491 h 1589088"/>
              <a:gd name="T82" fmla="*/ 1320999 w 1589088"/>
              <a:gd name="T83" fmla="*/ 276063 h 1589088"/>
              <a:gd name="T84" fmla="*/ 1429702 w 1589088"/>
              <a:gd name="T85" fmla="*/ 459201 h 1589088"/>
              <a:gd name="T86" fmla="*/ 1481334 w 1589088"/>
              <a:gd name="T87" fmla="*/ 660270 h 1589088"/>
              <a:gd name="T88" fmla="*/ 1475356 w 1589088"/>
              <a:gd name="T89" fmla="*/ 866502 h 1589088"/>
              <a:gd name="T90" fmla="*/ 1412581 w 1589088"/>
              <a:gd name="T91" fmla="*/ 1064855 h 1589088"/>
              <a:gd name="T92" fmla="*/ 1892771 w 1589088"/>
              <a:gd name="T93" fmla="*/ 1636001 h 1589088"/>
              <a:gd name="T94" fmla="*/ 1896304 w 1589088"/>
              <a:gd name="T95" fmla="*/ 1759632 h 1589088"/>
              <a:gd name="T96" fmla="*/ 1783798 w 1589088"/>
              <a:gd name="T97" fmla="*/ 1885980 h 1589088"/>
              <a:gd name="T98" fmla="*/ 1662866 w 1589088"/>
              <a:gd name="T99" fmla="*/ 1900381 h 1589088"/>
              <a:gd name="T100" fmla="*/ 1104954 w 1589088"/>
              <a:gd name="T101" fmla="*/ 1391458 h 1589088"/>
              <a:gd name="T102" fmla="*/ 909835 w 1589088"/>
              <a:gd name="T103" fmla="*/ 1466451 h 1589088"/>
              <a:gd name="T104" fmla="*/ 704388 w 1589088"/>
              <a:gd name="T105" fmla="*/ 1484656 h 1589088"/>
              <a:gd name="T106" fmla="*/ 501116 w 1589088"/>
              <a:gd name="T107" fmla="*/ 1445528 h 1589088"/>
              <a:gd name="T108" fmla="*/ 313061 w 1589088"/>
              <a:gd name="T109" fmla="*/ 1349069 h 1589088"/>
              <a:gd name="T110" fmla="*/ 143758 w 1589088"/>
              <a:gd name="T111" fmla="*/ 1181965 h 1589088"/>
              <a:gd name="T112" fmla="*/ 30708 w 1589088"/>
              <a:gd name="T113" fmla="*/ 954538 h 1589088"/>
              <a:gd name="T114" fmla="*/ 815 w 1589088"/>
              <a:gd name="T115" fmla="*/ 707277 h 1589088"/>
              <a:gd name="T116" fmla="*/ 54351 w 1589088"/>
              <a:gd name="T117" fmla="*/ 463275 h 1589088"/>
              <a:gd name="T118" fmla="*/ 191315 w 1589088"/>
              <a:gd name="T119" fmla="*/ 245360 h 1589088"/>
              <a:gd name="T120" fmla="*/ 397577 w 1589088"/>
              <a:gd name="T121" fmla="*/ 85319 h 1589088"/>
              <a:gd name="T122" fmla="*/ 636177 w 1589088"/>
              <a:gd name="T123" fmla="*/ 7880 h 158908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589088" h="1589088">
                <a:moveTo>
                  <a:pt x="916859" y="288925"/>
                </a:moveTo>
                <a:lnTo>
                  <a:pt x="954088" y="332030"/>
                </a:lnTo>
                <a:lnTo>
                  <a:pt x="816067" y="450682"/>
                </a:lnTo>
                <a:lnTo>
                  <a:pt x="817430" y="454085"/>
                </a:lnTo>
                <a:lnTo>
                  <a:pt x="818338" y="457488"/>
                </a:lnTo>
                <a:lnTo>
                  <a:pt x="819246" y="461118"/>
                </a:lnTo>
                <a:lnTo>
                  <a:pt x="820381" y="464748"/>
                </a:lnTo>
                <a:lnTo>
                  <a:pt x="820835" y="468378"/>
                </a:lnTo>
                <a:lnTo>
                  <a:pt x="821289" y="472008"/>
                </a:lnTo>
                <a:lnTo>
                  <a:pt x="821743" y="475865"/>
                </a:lnTo>
                <a:lnTo>
                  <a:pt x="821743" y="479722"/>
                </a:lnTo>
                <a:lnTo>
                  <a:pt x="821743" y="483805"/>
                </a:lnTo>
                <a:lnTo>
                  <a:pt x="821289" y="487662"/>
                </a:lnTo>
                <a:lnTo>
                  <a:pt x="820835" y="491746"/>
                </a:lnTo>
                <a:lnTo>
                  <a:pt x="820154" y="495602"/>
                </a:lnTo>
                <a:lnTo>
                  <a:pt x="819246" y="499459"/>
                </a:lnTo>
                <a:lnTo>
                  <a:pt x="818338" y="503089"/>
                </a:lnTo>
                <a:lnTo>
                  <a:pt x="816976" y="506946"/>
                </a:lnTo>
                <a:lnTo>
                  <a:pt x="815840" y="510349"/>
                </a:lnTo>
                <a:lnTo>
                  <a:pt x="814251" y="513979"/>
                </a:lnTo>
                <a:lnTo>
                  <a:pt x="812662" y="517382"/>
                </a:lnTo>
                <a:lnTo>
                  <a:pt x="810619" y="520785"/>
                </a:lnTo>
                <a:lnTo>
                  <a:pt x="808803" y="523961"/>
                </a:lnTo>
                <a:lnTo>
                  <a:pt x="806760" y="527137"/>
                </a:lnTo>
                <a:lnTo>
                  <a:pt x="804263" y="530313"/>
                </a:lnTo>
                <a:lnTo>
                  <a:pt x="801993" y="533036"/>
                </a:lnTo>
                <a:lnTo>
                  <a:pt x="799496" y="535985"/>
                </a:lnTo>
                <a:lnTo>
                  <a:pt x="796772" y="538707"/>
                </a:lnTo>
                <a:lnTo>
                  <a:pt x="794048" y="541203"/>
                </a:lnTo>
                <a:lnTo>
                  <a:pt x="791324" y="543698"/>
                </a:lnTo>
                <a:lnTo>
                  <a:pt x="788146" y="545967"/>
                </a:lnTo>
                <a:lnTo>
                  <a:pt x="785194" y="548009"/>
                </a:lnTo>
                <a:lnTo>
                  <a:pt x="781789" y="550051"/>
                </a:lnTo>
                <a:lnTo>
                  <a:pt x="778611" y="552093"/>
                </a:lnTo>
                <a:lnTo>
                  <a:pt x="775433" y="553908"/>
                </a:lnTo>
                <a:lnTo>
                  <a:pt x="771801" y="555496"/>
                </a:lnTo>
                <a:lnTo>
                  <a:pt x="768396" y="556857"/>
                </a:lnTo>
                <a:lnTo>
                  <a:pt x="764537" y="558218"/>
                </a:lnTo>
                <a:lnTo>
                  <a:pt x="760905" y="559352"/>
                </a:lnTo>
                <a:lnTo>
                  <a:pt x="757046" y="560260"/>
                </a:lnTo>
                <a:lnTo>
                  <a:pt x="753413" y="560940"/>
                </a:lnTo>
                <a:lnTo>
                  <a:pt x="749327" y="561621"/>
                </a:lnTo>
                <a:lnTo>
                  <a:pt x="745241" y="562075"/>
                </a:lnTo>
                <a:lnTo>
                  <a:pt x="692121" y="754005"/>
                </a:lnTo>
                <a:lnTo>
                  <a:pt x="697343" y="756728"/>
                </a:lnTo>
                <a:lnTo>
                  <a:pt x="702110" y="759904"/>
                </a:lnTo>
                <a:lnTo>
                  <a:pt x="706650" y="763080"/>
                </a:lnTo>
                <a:lnTo>
                  <a:pt x="710963" y="766937"/>
                </a:lnTo>
                <a:lnTo>
                  <a:pt x="715049" y="770794"/>
                </a:lnTo>
                <a:lnTo>
                  <a:pt x="718908" y="774877"/>
                </a:lnTo>
                <a:lnTo>
                  <a:pt x="722313" y="779188"/>
                </a:lnTo>
                <a:lnTo>
                  <a:pt x="725718" y="783952"/>
                </a:lnTo>
                <a:lnTo>
                  <a:pt x="728670" y="788943"/>
                </a:lnTo>
                <a:lnTo>
                  <a:pt x="731167" y="793934"/>
                </a:lnTo>
                <a:lnTo>
                  <a:pt x="733437" y="799379"/>
                </a:lnTo>
                <a:lnTo>
                  <a:pt x="735253" y="804824"/>
                </a:lnTo>
                <a:lnTo>
                  <a:pt x="736615" y="810496"/>
                </a:lnTo>
                <a:lnTo>
                  <a:pt x="737750" y="816167"/>
                </a:lnTo>
                <a:lnTo>
                  <a:pt x="738431" y="822066"/>
                </a:lnTo>
                <a:lnTo>
                  <a:pt x="738658" y="828191"/>
                </a:lnTo>
                <a:lnTo>
                  <a:pt x="738658" y="832729"/>
                </a:lnTo>
                <a:lnTo>
                  <a:pt x="738431" y="836812"/>
                </a:lnTo>
                <a:lnTo>
                  <a:pt x="737523" y="840896"/>
                </a:lnTo>
                <a:lnTo>
                  <a:pt x="736842" y="844980"/>
                </a:lnTo>
                <a:lnTo>
                  <a:pt x="735934" y="849063"/>
                </a:lnTo>
                <a:lnTo>
                  <a:pt x="734799" y="852920"/>
                </a:lnTo>
                <a:lnTo>
                  <a:pt x="733664" y="856777"/>
                </a:lnTo>
                <a:lnTo>
                  <a:pt x="732075" y="860407"/>
                </a:lnTo>
                <a:lnTo>
                  <a:pt x="730259" y="864263"/>
                </a:lnTo>
                <a:lnTo>
                  <a:pt x="728670" y="867666"/>
                </a:lnTo>
                <a:lnTo>
                  <a:pt x="726626" y="871296"/>
                </a:lnTo>
                <a:lnTo>
                  <a:pt x="724583" y="874699"/>
                </a:lnTo>
                <a:lnTo>
                  <a:pt x="722086" y="877876"/>
                </a:lnTo>
                <a:lnTo>
                  <a:pt x="719589" y="881052"/>
                </a:lnTo>
                <a:lnTo>
                  <a:pt x="717092" y="884228"/>
                </a:lnTo>
                <a:lnTo>
                  <a:pt x="714141" y="886950"/>
                </a:lnTo>
                <a:lnTo>
                  <a:pt x="711417" y="889673"/>
                </a:lnTo>
                <a:lnTo>
                  <a:pt x="708239" y="892395"/>
                </a:lnTo>
                <a:lnTo>
                  <a:pt x="705288" y="894891"/>
                </a:lnTo>
                <a:lnTo>
                  <a:pt x="702110" y="896933"/>
                </a:lnTo>
                <a:lnTo>
                  <a:pt x="698705" y="899428"/>
                </a:lnTo>
                <a:lnTo>
                  <a:pt x="695299" y="901243"/>
                </a:lnTo>
                <a:lnTo>
                  <a:pt x="691440" y="903058"/>
                </a:lnTo>
                <a:lnTo>
                  <a:pt x="688035" y="904646"/>
                </a:lnTo>
                <a:lnTo>
                  <a:pt x="684176" y="906234"/>
                </a:lnTo>
                <a:lnTo>
                  <a:pt x="680317" y="907595"/>
                </a:lnTo>
                <a:lnTo>
                  <a:pt x="676231" y="908730"/>
                </a:lnTo>
                <a:lnTo>
                  <a:pt x="672372" y="909637"/>
                </a:lnTo>
                <a:lnTo>
                  <a:pt x="668286" y="910318"/>
                </a:lnTo>
                <a:lnTo>
                  <a:pt x="664199" y="910771"/>
                </a:lnTo>
                <a:lnTo>
                  <a:pt x="659886" y="911225"/>
                </a:lnTo>
                <a:lnTo>
                  <a:pt x="655573" y="911225"/>
                </a:lnTo>
                <a:lnTo>
                  <a:pt x="651260" y="911225"/>
                </a:lnTo>
                <a:lnTo>
                  <a:pt x="646947" y="910771"/>
                </a:lnTo>
                <a:lnTo>
                  <a:pt x="643088" y="910318"/>
                </a:lnTo>
                <a:lnTo>
                  <a:pt x="638775" y="909637"/>
                </a:lnTo>
                <a:lnTo>
                  <a:pt x="634915" y="908730"/>
                </a:lnTo>
                <a:lnTo>
                  <a:pt x="630829" y="907595"/>
                </a:lnTo>
                <a:lnTo>
                  <a:pt x="627197" y="906234"/>
                </a:lnTo>
                <a:lnTo>
                  <a:pt x="623338" y="904646"/>
                </a:lnTo>
                <a:lnTo>
                  <a:pt x="619706" y="903058"/>
                </a:lnTo>
                <a:lnTo>
                  <a:pt x="616074" y="901243"/>
                </a:lnTo>
                <a:lnTo>
                  <a:pt x="612669" y="899428"/>
                </a:lnTo>
                <a:lnTo>
                  <a:pt x="609037" y="896933"/>
                </a:lnTo>
                <a:lnTo>
                  <a:pt x="605858" y="894891"/>
                </a:lnTo>
                <a:lnTo>
                  <a:pt x="602680" y="892395"/>
                </a:lnTo>
                <a:lnTo>
                  <a:pt x="599729" y="889673"/>
                </a:lnTo>
                <a:lnTo>
                  <a:pt x="596778" y="886950"/>
                </a:lnTo>
                <a:lnTo>
                  <a:pt x="594054" y="884228"/>
                </a:lnTo>
                <a:lnTo>
                  <a:pt x="591557" y="881052"/>
                </a:lnTo>
                <a:lnTo>
                  <a:pt x="588833" y="877876"/>
                </a:lnTo>
                <a:lnTo>
                  <a:pt x="586790" y="874699"/>
                </a:lnTo>
                <a:lnTo>
                  <a:pt x="584520" y="871296"/>
                </a:lnTo>
                <a:lnTo>
                  <a:pt x="582704" y="867666"/>
                </a:lnTo>
                <a:lnTo>
                  <a:pt x="580661" y="864263"/>
                </a:lnTo>
                <a:lnTo>
                  <a:pt x="579072" y="860407"/>
                </a:lnTo>
                <a:lnTo>
                  <a:pt x="577710" y="856777"/>
                </a:lnTo>
                <a:lnTo>
                  <a:pt x="576348" y="852920"/>
                </a:lnTo>
                <a:lnTo>
                  <a:pt x="575212" y="849063"/>
                </a:lnTo>
                <a:lnTo>
                  <a:pt x="574077" y="844980"/>
                </a:lnTo>
                <a:lnTo>
                  <a:pt x="573396" y="840896"/>
                </a:lnTo>
                <a:lnTo>
                  <a:pt x="572942" y="836812"/>
                </a:lnTo>
                <a:lnTo>
                  <a:pt x="572488" y="832729"/>
                </a:lnTo>
                <a:lnTo>
                  <a:pt x="572488" y="828191"/>
                </a:lnTo>
                <a:lnTo>
                  <a:pt x="572488" y="825242"/>
                </a:lnTo>
                <a:lnTo>
                  <a:pt x="572715" y="822066"/>
                </a:lnTo>
                <a:lnTo>
                  <a:pt x="573623" y="815940"/>
                </a:lnTo>
                <a:lnTo>
                  <a:pt x="574986" y="810042"/>
                </a:lnTo>
                <a:lnTo>
                  <a:pt x="576575" y="804370"/>
                </a:lnTo>
                <a:lnTo>
                  <a:pt x="454445" y="733134"/>
                </a:lnTo>
                <a:lnTo>
                  <a:pt x="449904" y="736083"/>
                </a:lnTo>
                <a:lnTo>
                  <a:pt x="444910" y="738352"/>
                </a:lnTo>
                <a:lnTo>
                  <a:pt x="439689" y="740166"/>
                </a:lnTo>
                <a:lnTo>
                  <a:pt x="434468" y="741981"/>
                </a:lnTo>
                <a:lnTo>
                  <a:pt x="429020" y="743569"/>
                </a:lnTo>
                <a:lnTo>
                  <a:pt x="423571" y="744477"/>
                </a:lnTo>
                <a:lnTo>
                  <a:pt x="417669" y="745158"/>
                </a:lnTo>
                <a:lnTo>
                  <a:pt x="412221" y="745384"/>
                </a:lnTo>
                <a:lnTo>
                  <a:pt x="408589" y="745158"/>
                </a:lnTo>
                <a:lnTo>
                  <a:pt x="405411" y="744931"/>
                </a:lnTo>
                <a:lnTo>
                  <a:pt x="398828" y="744023"/>
                </a:lnTo>
                <a:lnTo>
                  <a:pt x="305755" y="898294"/>
                </a:lnTo>
                <a:lnTo>
                  <a:pt x="257175" y="869255"/>
                </a:lnTo>
                <a:lnTo>
                  <a:pt x="349113" y="716118"/>
                </a:lnTo>
                <a:lnTo>
                  <a:pt x="347070" y="713396"/>
                </a:lnTo>
                <a:lnTo>
                  <a:pt x="344573" y="710220"/>
                </a:lnTo>
                <a:lnTo>
                  <a:pt x="342757" y="707497"/>
                </a:lnTo>
                <a:lnTo>
                  <a:pt x="340714" y="704321"/>
                </a:lnTo>
                <a:lnTo>
                  <a:pt x="339125" y="701145"/>
                </a:lnTo>
                <a:lnTo>
                  <a:pt x="337536" y="697969"/>
                </a:lnTo>
                <a:lnTo>
                  <a:pt x="335720" y="694793"/>
                </a:lnTo>
                <a:lnTo>
                  <a:pt x="334358" y="691390"/>
                </a:lnTo>
                <a:lnTo>
                  <a:pt x="333223" y="687987"/>
                </a:lnTo>
                <a:lnTo>
                  <a:pt x="332087" y="684584"/>
                </a:lnTo>
                <a:lnTo>
                  <a:pt x="331179" y="680954"/>
                </a:lnTo>
                <a:lnTo>
                  <a:pt x="330498" y="677324"/>
                </a:lnTo>
                <a:lnTo>
                  <a:pt x="329590" y="673467"/>
                </a:lnTo>
                <a:lnTo>
                  <a:pt x="329136" y="670064"/>
                </a:lnTo>
                <a:lnTo>
                  <a:pt x="328909" y="665981"/>
                </a:lnTo>
                <a:lnTo>
                  <a:pt x="328909" y="662351"/>
                </a:lnTo>
                <a:lnTo>
                  <a:pt x="328909" y="658040"/>
                </a:lnTo>
                <a:lnTo>
                  <a:pt x="329363" y="653730"/>
                </a:lnTo>
                <a:lnTo>
                  <a:pt x="330044" y="649646"/>
                </a:lnTo>
                <a:lnTo>
                  <a:pt x="330725" y="645335"/>
                </a:lnTo>
                <a:lnTo>
                  <a:pt x="331633" y="641479"/>
                </a:lnTo>
                <a:lnTo>
                  <a:pt x="332768" y="637395"/>
                </a:lnTo>
                <a:lnTo>
                  <a:pt x="333904" y="633765"/>
                </a:lnTo>
                <a:lnTo>
                  <a:pt x="335493" y="629908"/>
                </a:lnTo>
                <a:lnTo>
                  <a:pt x="337082" y="626279"/>
                </a:lnTo>
                <a:lnTo>
                  <a:pt x="339125" y="622649"/>
                </a:lnTo>
                <a:lnTo>
                  <a:pt x="340941" y="619246"/>
                </a:lnTo>
                <a:lnTo>
                  <a:pt x="342984" y="615843"/>
                </a:lnTo>
                <a:lnTo>
                  <a:pt x="345481" y="612666"/>
                </a:lnTo>
                <a:lnTo>
                  <a:pt x="347978" y="609263"/>
                </a:lnTo>
                <a:lnTo>
                  <a:pt x="350475" y="606314"/>
                </a:lnTo>
                <a:lnTo>
                  <a:pt x="353426" y="603592"/>
                </a:lnTo>
                <a:lnTo>
                  <a:pt x="356150" y="600642"/>
                </a:lnTo>
                <a:lnTo>
                  <a:pt x="359101" y="598147"/>
                </a:lnTo>
                <a:lnTo>
                  <a:pt x="362279" y="595878"/>
                </a:lnTo>
                <a:lnTo>
                  <a:pt x="365458" y="593383"/>
                </a:lnTo>
                <a:lnTo>
                  <a:pt x="369090" y="591341"/>
                </a:lnTo>
                <a:lnTo>
                  <a:pt x="372495" y="589299"/>
                </a:lnTo>
                <a:lnTo>
                  <a:pt x="376127" y="587484"/>
                </a:lnTo>
                <a:lnTo>
                  <a:pt x="379759" y="585669"/>
                </a:lnTo>
                <a:lnTo>
                  <a:pt x="383618" y="584308"/>
                </a:lnTo>
                <a:lnTo>
                  <a:pt x="387250" y="582947"/>
                </a:lnTo>
                <a:lnTo>
                  <a:pt x="391336" y="581812"/>
                </a:lnTo>
                <a:lnTo>
                  <a:pt x="395196" y="580905"/>
                </a:lnTo>
                <a:lnTo>
                  <a:pt x="399509" y="580224"/>
                </a:lnTo>
                <a:lnTo>
                  <a:pt x="403368" y="579544"/>
                </a:lnTo>
                <a:lnTo>
                  <a:pt x="407681" y="579317"/>
                </a:lnTo>
                <a:lnTo>
                  <a:pt x="412221" y="579090"/>
                </a:lnTo>
                <a:lnTo>
                  <a:pt x="416307" y="579317"/>
                </a:lnTo>
                <a:lnTo>
                  <a:pt x="420620" y="579544"/>
                </a:lnTo>
                <a:lnTo>
                  <a:pt x="424707" y="580224"/>
                </a:lnTo>
                <a:lnTo>
                  <a:pt x="428793" y="580905"/>
                </a:lnTo>
                <a:lnTo>
                  <a:pt x="432652" y="581812"/>
                </a:lnTo>
                <a:lnTo>
                  <a:pt x="436738" y="582947"/>
                </a:lnTo>
                <a:lnTo>
                  <a:pt x="440597" y="584308"/>
                </a:lnTo>
                <a:lnTo>
                  <a:pt x="444456" y="585669"/>
                </a:lnTo>
                <a:lnTo>
                  <a:pt x="447861" y="587484"/>
                </a:lnTo>
                <a:lnTo>
                  <a:pt x="451720" y="589299"/>
                </a:lnTo>
                <a:lnTo>
                  <a:pt x="454899" y="591341"/>
                </a:lnTo>
                <a:lnTo>
                  <a:pt x="458531" y="593383"/>
                </a:lnTo>
                <a:lnTo>
                  <a:pt x="461709" y="595878"/>
                </a:lnTo>
                <a:lnTo>
                  <a:pt x="464887" y="598147"/>
                </a:lnTo>
                <a:lnTo>
                  <a:pt x="467838" y="600642"/>
                </a:lnTo>
                <a:lnTo>
                  <a:pt x="470562" y="603592"/>
                </a:lnTo>
                <a:lnTo>
                  <a:pt x="473513" y="606314"/>
                </a:lnTo>
                <a:lnTo>
                  <a:pt x="476010" y="609263"/>
                </a:lnTo>
                <a:lnTo>
                  <a:pt x="478734" y="612666"/>
                </a:lnTo>
                <a:lnTo>
                  <a:pt x="481004" y="615843"/>
                </a:lnTo>
                <a:lnTo>
                  <a:pt x="483047" y="619246"/>
                </a:lnTo>
                <a:lnTo>
                  <a:pt x="484864" y="622649"/>
                </a:lnTo>
                <a:lnTo>
                  <a:pt x="486907" y="626279"/>
                </a:lnTo>
                <a:lnTo>
                  <a:pt x="488496" y="629908"/>
                </a:lnTo>
                <a:lnTo>
                  <a:pt x="490085" y="633765"/>
                </a:lnTo>
                <a:lnTo>
                  <a:pt x="491220" y="637395"/>
                </a:lnTo>
                <a:lnTo>
                  <a:pt x="492355" y="641479"/>
                </a:lnTo>
                <a:lnTo>
                  <a:pt x="493490" y="645335"/>
                </a:lnTo>
                <a:lnTo>
                  <a:pt x="494171" y="649646"/>
                </a:lnTo>
                <a:lnTo>
                  <a:pt x="494625" y="653730"/>
                </a:lnTo>
                <a:lnTo>
                  <a:pt x="495079" y="658040"/>
                </a:lnTo>
                <a:lnTo>
                  <a:pt x="495079" y="662351"/>
                </a:lnTo>
                <a:lnTo>
                  <a:pt x="495079" y="665527"/>
                </a:lnTo>
                <a:lnTo>
                  <a:pt x="494852" y="669157"/>
                </a:lnTo>
                <a:lnTo>
                  <a:pt x="494398" y="672333"/>
                </a:lnTo>
                <a:lnTo>
                  <a:pt x="493944" y="675509"/>
                </a:lnTo>
                <a:lnTo>
                  <a:pt x="492355" y="682088"/>
                </a:lnTo>
                <a:lnTo>
                  <a:pt x="490539" y="688214"/>
                </a:lnTo>
                <a:lnTo>
                  <a:pt x="610853" y="758543"/>
                </a:lnTo>
                <a:lnTo>
                  <a:pt x="616528" y="755140"/>
                </a:lnTo>
                <a:lnTo>
                  <a:pt x="622430" y="752417"/>
                </a:lnTo>
                <a:lnTo>
                  <a:pt x="628559" y="749922"/>
                </a:lnTo>
                <a:lnTo>
                  <a:pt x="634915" y="748107"/>
                </a:lnTo>
                <a:lnTo>
                  <a:pt x="690305" y="547101"/>
                </a:lnTo>
                <a:lnTo>
                  <a:pt x="686673" y="544152"/>
                </a:lnTo>
                <a:lnTo>
                  <a:pt x="682814" y="540976"/>
                </a:lnTo>
                <a:lnTo>
                  <a:pt x="679409" y="537800"/>
                </a:lnTo>
                <a:lnTo>
                  <a:pt x="676004" y="533943"/>
                </a:lnTo>
                <a:lnTo>
                  <a:pt x="673053" y="530540"/>
                </a:lnTo>
                <a:lnTo>
                  <a:pt x="670102" y="526456"/>
                </a:lnTo>
                <a:lnTo>
                  <a:pt x="667605" y="522373"/>
                </a:lnTo>
                <a:lnTo>
                  <a:pt x="665107" y="518062"/>
                </a:lnTo>
                <a:lnTo>
                  <a:pt x="662837" y="513979"/>
                </a:lnTo>
                <a:lnTo>
                  <a:pt x="661021" y="509214"/>
                </a:lnTo>
                <a:lnTo>
                  <a:pt x="659432" y="504450"/>
                </a:lnTo>
                <a:lnTo>
                  <a:pt x="658070" y="499913"/>
                </a:lnTo>
                <a:lnTo>
                  <a:pt x="657162" y="494922"/>
                </a:lnTo>
                <a:lnTo>
                  <a:pt x="656027" y="489931"/>
                </a:lnTo>
                <a:lnTo>
                  <a:pt x="655573" y="484940"/>
                </a:lnTo>
                <a:lnTo>
                  <a:pt x="655573" y="479722"/>
                </a:lnTo>
                <a:lnTo>
                  <a:pt x="655573" y="475411"/>
                </a:lnTo>
                <a:lnTo>
                  <a:pt x="655800" y="471327"/>
                </a:lnTo>
                <a:lnTo>
                  <a:pt x="656708" y="467017"/>
                </a:lnTo>
                <a:lnTo>
                  <a:pt x="657389" y="463160"/>
                </a:lnTo>
                <a:lnTo>
                  <a:pt x="658297" y="458850"/>
                </a:lnTo>
                <a:lnTo>
                  <a:pt x="659432" y="455220"/>
                </a:lnTo>
                <a:lnTo>
                  <a:pt x="660567" y="451136"/>
                </a:lnTo>
                <a:lnTo>
                  <a:pt x="661929" y="447506"/>
                </a:lnTo>
                <a:lnTo>
                  <a:pt x="663745" y="443649"/>
                </a:lnTo>
                <a:lnTo>
                  <a:pt x="665561" y="440246"/>
                </a:lnTo>
                <a:lnTo>
                  <a:pt x="667605" y="436617"/>
                </a:lnTo>
                <a:lnTo>
                  <a:pt x="669648" y="433440"/>
                </a:lnTo>
                <a:lnTo>
                  <a:pt x="672145" y="430037"/>
                </a:lnTo>
                <a:lnTo>
                  <a:pt x="674642" y="426861"/>
                </a:lnTo>
                <a:lnTo>
                  <a:pt x="677139" y="423912"/>
                </a:lnTo>
                <a:lnTo>
                  <a:pt x="679863" y="420963"/>
                </a:lnTo>
                <a:lnTo>
                  <a:pt x="682814" y="418240"/>
                </a:lnTo>
                <a:lnTo>
                  <a:pt x="685765" y="415518"/>
                </a:lnTo>
                <a:lnTo>
                  <a:pt x="688943" y="413249"/>
                </a:lnTo>
                <a:lnTo>
                  <a:pt x="692121" y="410980"/>
                </a:lnTo>
                <a:lnTo>
                  <a:pt x="695526" y="408712"/>
                </a:lnTo>
                <a:lnTo>
                  <a:pt x="698932" y="406670"/>
                </a:lnTo>
                <a:lnTo>
                  <a:pt x="702791" y="404855"/>
                </a:lnTo>
                <a:lnTo>
                  <a:pt x="706196" y="403267"/>
                </a:lnTo>
                <a:lnTo>
                  <a:pt x="710055" y="401679"/>
                </a:lnTo>
                <a:lnTo>
                  <a:pt x="713914" y="400318"/>
                </a:lnTo>
                <a:lnTo>
                  <a:pt x="718000" y="399410"/>
                </a:lnTo>
                <a:lnTo>
                  <a:pt x="721859" y="398503"/>
                </a:lnTo>
                <a:lnTo>
                  <a:pt x="725945" y="397595"/>
                </a:lnTo>
                <a:lnTo>
                  <a:pt x="730032" y="397141"/>
                </a:lnTo>
                <a:lnTo>
                  <a:pt x="734345" y="396915"/>
                </a:lnTo>
                <a:lnTo>
                  <a:pt x="738658" y="396688"/>
                </a:lnTo>
                <a:lnTo>
                  <a:pt x="744106" y="396915"/>
                </a:lnTo>
                <a:lnTo>
                  <a:pt x="749554" y="397595"/>
                </a:lnTo>
                <a:lnTo>
                  <a:pt x="754775" y="398276"/>
                </a:lnTo>
                <a:lnTo>
                  <a:pt x="759770" y="399637"/>
                </a:lnTo>
                <a:lnTo>
                  <a:pt x="764764" y="400998"/>
                </a:lnTo>
                <a:lnTo>
                  <a:pt x="769758" y="403040"/>
                </a:lnTo>
                <a:lnTo>
                  <a:pt x="774298" y="405082"/>
                </a:lnTo>
                <a:lnTo>
                  <a:pt x="778838" y="407577"/>
                </a:lnTo>
                <a:lnTo>
                  <a:pt x="916859" y="288925"/>
                </a:lnTo>
                <a:close/>
                <a:moveTo>
                  <a:pt x="607752" y="120128"/>
                </a:moveTo>
                <a:lnTo>
                  <a:pt x="595738" y="120581"/>
                </a:lnTo>
                <a:lnTo>
                  <a:pt x="583950" y="121488"/>
                </a:lnTo>
                <a:lnTo>
                  <a:pt x="571936" y="122621"/>
                </a:lnTo>
                <a:lnTo>
                  <a:pt x="559921" y="123755"/>
                </a:lnTo>
                <a:lnTo>
                  <a:pt x="548133" y="125341"/>
                </a:lnTo>
                <a:lnTo>
                  <a:pt x="536119" y="127154"/>
                </a:lnTo>
                <a:lnTo>
                  <a:pt x="524331" y="129421"/>
                </a:lnTo>
                <a:lnTo>
                  <a:pt x="512543" y="131688"/>
                </a:lnTo>
                <a:lnTo>
                  <a:pt x="500755" y="134407"/>
                </a:lnTo>
                <a:lnTo>
                  <a:pt x="489194" y="137581"/>
                </a:lnTo>
                <a:lnTo>
                  <a:pt x="477406" y="140754"/>
                </a:lnTo>
                <a:lnTo>
                  <a:pt x="466072" y="144380"/>
                </a:lnTo>
                <a:lnTo>
                  <a:pt x="454511" y="148234"/>
                </a:lnTo>
                <a:lnTo>
                  <a:pt x="443176" y="152313"/>
                </a:lnTo>
                <a:lnTo>
                  <a:pt x="431615" y="156620"/>
                </a:lnTo>
                <a:lnTo>
                  <a:pt x="420508" y="161380"/>
                </a:lnTo>
                <a:lnTo>
                  <a:pt x="409400" y="166593"/>
                </a:lnTo>
                <a:lnTo>
                  <a:pt x="398519" y="171579"/>
                </a:lnTo>
                <a:lnTo>
                  <a:pt x="387411" y="177246"/>
                </a:lnTo>
                <a:lnTo>
                  <a:pt x="376530" y="183139"/>
                </a:lnTo>
                <a:lnTo>
                  <a:pt x="365876" y="189485"/>
                </a:lnTo>
                <a:lnTo>
                  <a:pt x="355221" y="195831"/>
                </a:lnTo>
                <a:lnTo>
                  <a:pt x="344794" y="202631"/>
                </a:lnTo>
                <a:lnTo>
                  <a:pt x="334593" y="209431"/>
                </a:lnTo>
                <a:lnTo>
                  <a:pt x="324392" y="216684"/>
                </a:lnTo>
                <a:lnTo>
                  <a:pt x="314191" y="224163"/>
                </a:lnTo>
                <a:lnTo>
                  <a:pt x="304443" y="232323"/>
                </a:lnTo>
                <a:lnTo>
                  <a:pt x="294695" y="240483"/>
                </a:lnTo>
                <a:lnTo>
                  <a:pt x="284948" y="248869"/>
                </a:lnTo>
                <a:lnTo>
                  <a:pt x="275654" y="257482"/>
                </a:lnTo>
                <a:lnTo>
                  <a:pt x="266359" y="266548"/>
                </a:lnTo>
                <a:lnTo>
                  <a:pt x="257518" y="275614"/>
                </a:lnTo>
                <a:lnTo>
                  <a:pt x="248678" y="285134"/>
                </a:lnTo>
                <a:lnTo>
                  <a:pt x="240290" y="294654"/>
                </a:lnTo>
                <a:lnTo>
                  <a:pt x="232129" y="304400"/>
                </a:lnTo>
                <a:lnTo>
                  <a:pt x="224195" y="314373"/>
                </a:lnTo>
                <a:lnTo>
                  <a:pt x="216714" y="324346"/>
                </a:lnTo>
                <a:lnTo>
                  <a:pt x="209460" y="334545"/>
                </a:lnTo>
                <a:lnTo>
                  <a:pt x="202433" y="344971"/>
                </a:lnTo>
                <a:lnTo>
                  <a:pt x="195632" y="355397"/>
                </a:lnTo>
                <a:lnTo>
                  <a:pt x="189058" y="366050"/>
                </a:lnTo>
                <a:lnTo>
                  <a:pt x="183164" y="376703"/>
                </a:lnTo>
                <a:lnTo>
                  <a:pt x="177271" y="387583"/>
                </a:lnTo>
                <a:lnTo>
                  <a:pt x="171603" y="398462"/>
                </a:lnTo>
                <a:lnTo>
                  <a:pt x="166390" y="409342"/>
                </a:lnTo>
                <a:lnTo>
                  <a:pt x="161402" y="420448"/>
                </a:lnTo>
                <a:lnTo>
                  <a:pt x="156642" y="431554"/>
                </a:lnTo>
                <a:lnTo>
                  <a:pt x="152108" y="443114"/>
                </a:lnTo>
                <a:lnTo>
                  <a:pt x="148028" y="454673"/>
                </a:lnTo>
                <a:lnTo>
                  <a:pt x="144174" y="466006"/>
                </a:lnTo>
                <a:lnTo>
                  <a:pt x="140774" y="477565"/>
                </a:lnTo>
                <a:lnTo>
                  <a:pt x="137373" y="489125"/>
                </a:lnTo>
                <a:lnTo>
                  <a:pt x="134426" y="500911"/>
                </a:lnTo>
                <a:lnTo>
                  <a:pt x="131706" y="512470"/>
                </a:lnTo>
                <a:lnTo>
                  <a:pt x="129213" y="524256"/>
                </a:lnTo>
                <a:lnTo>
                  <a:pt x="127172" y="536269"/>
                </a:lnTo>
                <a:lnTo>
                  <a:pt x="125359" y="548055"/>
                </a:lnTo>
                <a:lnTo>
                  <a:pt x="123772" y="560068"/>
                </a:lnTo>
                <a:lnTo>
                  <a:pt x="122185" y="571854"/>
                </a:lnTo>
                <a:lnTo>
                  <a:pt x="121278" y="583867"/>
                </a:lnTo>
                <a:lnTo>
                  <a:pt x="120598" y="595880"/>
                </a:lnTo>
                <a:lnTo>
                  <a:pt x="120145" y="607666"/>
                </a:lnTo>
                <a:lnTo>
                  <a:pt x="120145" y="619905"/>
                </a:lnTo>
                <a:lnTo>
                  <a:pt x="120145" y="631918"/>
                </a:lnTo>
                <a:lnTo>
                  <a:pt x="120598" y="643704"/>
                </a:lnTo>
                <a:lnTo>
                  <a:pt x="121278" y="655717"/>
                </a:lnTo>
                <a:lnTo>
                  <a:pt x="122185" y="667503"/>
                </a:lnTo>
                <a:lnTo>
                  <a:pt x="123772" y="679516"/>
                </a:lnTo>
                <a:lnTo>
                  <a:pt x="125359" y="691529"/>
                </a:lnTo>
                <a:lnTo>
                  <a:pt x="127172" y="703315"/>
                </a:lnTo>
                <a:lnTo>
                  <a:pt x="129213" y="715328"/>
                </a:lnTo>
                <a:lnTo>
                  <a:pt x="131706" y="726887"/>
                </a:lnTo>
                <a:lnTo>
                  <a:pt x="134426" y="738673"/>
                </a:lnTo>
                <a:lnTo>
                  <a:pt x="137373" y="750460"/>
                </a:lnTo>
                <a:lnTo>
                  <a:pt x="140774" y="762019"/>
                </a:lnTo>
                <a:lnTo>
                  <a:pt x="144174" y="773579"/>
                </a:lnTo>
                <a:lnTo>
                  <a:pt x="148028" y="784911"/>
                </a:lnTo>
                <a:lnTo>
                  <a:pt x="152108" y="796471"/>
                </a:lnTo>
                <a:lnTo>
                  <a:pt x="156642" y="807804"/>
                </a:lnTo>
                <a:lnTo>
                  <a:pt x="161402" y="819136"/>
                </a:lnTo>
                <a:lnTo>
                  <a:pt x="166390" y="830016"/>
                </a:lnTo>
                <a:lnTo>
                  <a:pt x="171603" y="841122"/>
                </a:lnTo>
                <a:lnTo>
                  <a:pt x="177271" y="852002"/>
                </a:lnTo>
                <a:lnTo>
                  <a:pt x="183164" y="862881"/>
                </a:lnTo>
                <a:lnTo>
                  <a:pt x="189058" y="873534"/>
                </a:lnTo>
                <a:lnTo>
                  <a:pt x="195632" y="884187"/>
                </a:lnTo>
                <a:lnTo>
                  <a:pt x="202433" y="894613"/>
                </a:lnTo>
                <a:lnTo>
                  <a:pt x="209460" y="904813"/>
                </a:lnTo>
                <a:lnTo>
                  <a:pt x="216714" y="915239"/>
                </a:lnTo>
                <a:lnTo>
                  <a:pt x="224195" y="925212"/>
                </a:lnTo>
                <a:lnTo>
                  <a:pt x="232129" y="934958"/>
                </a:lnTo>
                <a:lnTo>
                  <a:pt x="240290" y="944931"/>
                </a:lnTo>
                <a:lnTo>
                  <a:pt x="248678" y="954450"/>
                </a:lnTo>
                <a:lnTo>
                  <a:pt x="257518" y="963743"/>
                </a:lnTo>
                <a:lnTo>
                  <a:pt x="266359" y="973036"/>
                </a:lnTo>
                <a:lnTo>
                  <a:pt x="275654" y="982102"/>
                </a:lnTo>
                <a:lnTo>
                  <a:pt x="284948" y="990715"/>
                </a:lnTo>
                <a:lnTo>
                  <a:pt x="294695" y="999102"/>
                </a:lnTo>
                <a:lnTo>
                  <a:pt x="304443" y="1007261"/>
                </a:lnTo>
                <a:lnTo>
                  <a:pt x="314191" y="1015194"/>
                </a:lnTo>
                <a:lnTo>
                  <a:pt x="324392" y="1022674"/>
                </a:lnTo>
                <a:lnTo>
                  <a:pt x="334593" y="1029927"/>
                </a:lnTo>
                <a:lnTo>
                  <a:pt x="344794" y="1036953"/>
                </a:lnTo>
                <a:lnTo>
                  <a:pt x="355221" y="1043753"/>
                </a:lnTo>
                <a:lnTo>
                  <a:pt x="365876" y="1050099"/>
                </a:lnTo>
                <a:lnTo>
                  <a:pt x="376530" y="1056446"/>
                </a:lnTo>
                <a:lnTo>
                  <a:pt x="387411" y="1062339"/>
                </a:lnTo>
                <a:lnTo>
                  <a:pt x="398292" y="1067779"/>
                </a:lnTo>
                <a:lnTo>
                  <a:pt x="409400" y="1072992"/>
                </a:lnTo>
                <a:lnTo>
                  <a:pt x="420508" y="1078205"/>
                </a:lnTo>
                <a:lnTo>
                  <a:pt x="431615" y="1082738"/>
                </a:lnTo>
                <a:lnTo>
                  <a:pt x="443176" y="1087271"/>
                </a:lnTo>
                <a:lnTo>
                  <a:pt x="454511" y="1091351"/>
                </a:lnTo>
                <a:lnTo>
                  <a:pt x="466072" y="1095204"/>
                </a:lnTo>
                <a:lnTo>
                  <a:pt x="477406" y="1098830"/>
                </a:lnTo>
                <a:lnTo>
                  <a:pt x="489194" y="1102004"/>
                </a:lnTo>
                <a:lnTo>
                  <a:pt x="500755" y="1104950"/>
                </a:lnTo>
                <a:lnTo>
                  <a:pt x="512543" y="1107897"/>
                </a:lnTo>
                <a:lnTo>
                  <a:pt x="524331" y="1110163"/>
                </a:lnTo>
                <a:lnTo>
                  <a:pt x="536119" y="1112203"/>
                </a:lnTo>
                <a:lnTo>
                  <a:pt x="548133" y="1114243"/>
                </a:lnTo>
                <a:lnTo>
                  <a:pt x="559921" y="1115830"/>
                </a:lnTo>
                <a:lnTo>
                  <a:pt x="571936" y="1116963"/>
                </a:lnTo>
                <a:lnTo>
                  <a:pt x="583950" y="1118096"/>
                </a:lnTo>
                <a:lnTo>
                  <a:pt x="595738" y="1118776"/>
                </a:lnTo>
                <a:lnTo>
                  <a:pt x="607752" y="1119230"/>
                </a:lnTo>
                <a:lnTo>
                  <a:pt x="619540" y="1119230"/>
                </a:lnTo>
                <a:lnTo>
                  <a:pt x="631782" y="1119230"/>
                </a:lnTo>
                <a:lnTo>
                  <a:pt x="643796" y="1118776"/>
                </a:lnTo>
                <a:lnTo>
                  <a:pt x="655584" y="1118096"/>
                </a:lnTo>
                <a:lnTo>
                  <a:pt x="667598" y="1116963"/>
                </a:lnTo>
                <a:lnTo>
                  <a:pt x="679613" y="1115830"/>
                </a:lnTo>
                <a:lnTo>
                  <a:pt x="691401" y="1114243"/>
                </a:lnTo>
                <a:lnTo>
                  <a:pt x="703415" y="1112203"/>
                </a:lnTo>
                <a:lnTo>
                  <a:pt x="715203" y="1110163"/>
                </a:lnTo>
                <a:lnTo>
                  <a:pt x="726991" y="1107897"/>
                </a:lnTo>
                <a:lnTo>
                  <a:pt x="738779" y="1104950"/>
                </a:lnTo>
                <a:lnTo>
                  <a:pt x="750340" y="1102004"/>
                </a:lnTo>
                <a:lnTo>
                  <a:pt x="762128" y="1098830"/>
                </a:lnTo>
                <a:lnTo>
                  <a:pt x="773462" y="1095204"/>
                </a:lnTo>
                <a:lnTo>
                  <a:pt x="785023" y="1091351"/>
                </a:lnTo>
                <a:lnTo>
                  <a:pt x="796358" y="1087271"/>
                </a:lnTo>
                <a:lnTo>
                  <a:pt x="807692" y="1082738"/>
                </a:lnTo>
                <a:lnTo>
                  <a:pt x="819026" y="1078205"/>
                </a:lnTo>
                <a:lnTo>
                  <a:pt x="830134" y="1072992"/>
                </a:lnTo>
                <a:lnTo>
                  <a:pt x="841015" y="1067779"/>
                </a:lnTo>
                <a:lnTo>
                  <a:pt x="852123" y="1062339"/>
                </a:lnTo>
                <a:lnTo>
                  <a:pt x="862777" y="1056446"/>
                </a:lnTo>
                <a:lnTo>
                  <a:pt x="873658" y="1050099"/>
                </a:lnTo>
                <a:lnTo>
                  <a:pt x="884086" y="1043753"/>
                </a:lnTo>
                <a:lnTo>
                  <a:pt x="894740" y="1036953"/>
                </a:lnTo>
                <a:lnTo>
                  <a:pt x="904941" y="1029927"/>
                </a:lnTo>
                <a:lnTo>
                  <a:pt x="915142" y="1022674"/>
                </a:lnTo>
                <a:lnTo>
                  <a:pt x="925343" y="1015194"/>
                </a:lnTo>
                <a:lnTo>
                  <a:pt x="935091" y="1007261"/>
                </a:lnTo>
                <a:lnTo>
                  <a:pt x="944839" y="999102"/>
                </a:lnTo>
                <a:lnTo>
                  <a:pt x="954586" y="990715"/>
                </a:lnTo>
                <a:lnTo>
                  <a:pt x="963880" y="982102"/>
                </a:lnTo>
                <a:lnTo>
                  <a:pt x="972948" y="973036"/>
                </a:lnTo>
                <a:lnTo>
                  <a:pt x="982016" y="963743"/>
                </a:lnTo>
                <a:lnTo>
                  <a:pt x="990856" y="954450"/>
                </a:lnTo>
                <a:lnTo>
                  <a:pt x="999244" y="944931"/>
                </a:lnTo>
                <a:lnTo>
                  <a:pt x="1007405" y="934958"/>
                </a:lnTo>
                <a:lnTo>
                  <a:pt x="1015339" y="925212"/>
                </a:lnTo>
                <a:lnTo>
                  <a:pt x="1022820" y="915239"/>
                </a:lnTo>
                <a:lnTo>
                  <a:pt x="1030074" y="904813"/>
                </a:lnTo>
                <a:lnTo>
                  <a:pt x="1037101" y="894613"/>
                </a:lnTo>
                <a:lnTo>
                  <a:pt x="1043902" y="884187"/>
                </a:lnTo>
                <a:lnTo>
                  <a:pt x="1050249" y="873534"/>
                </a:lnTo>
                <a:lnTo>
                  <a:pt x="1056370" y="862881"/>
                </a:lnTo>
                <a:lnTo>
                  <a:pt x="1062263" y="852002"/>
                </a:lnTo>
                <a:lnTo>
                  <a:pt x="1067931" y="841122"/>
                </a:lnTo>
                <a:lnTo>
                  <a:pt x="1073144" y="830016"/>
                </a:lnTo>
                <a:lnTo>
                  <a:pt x="1078132" y="819136"/>
                </a:lnTo>
                <a:lnTo>
                  <a:pt x="1082892" y="807804"/>
                </a:lnTo>
                <a:lnTo>
                  <a:pt x="1087426" y="796471"/>
                </a:lnTo>
                <a:lnTo>
                  <a:pt x="1091280" y="784911"/>
                </a:lnTo>
                <a:lnTo>
                  <a:pt x="1095360" y="773579"/>
                </a:lnTo>
                <a:lnTo>
                  <a:pt x="1098760" y="762019"/>
                </a:lnTo>
                <a:lnTo>
                  <a:pt x="1102161" y="750460"/>
                </a:lnTo>
                <a:lnTo>
                  <a:pt x="1105108" y="738673"/>
                </a:lnTo>
                <a:lnTo>
                  <a:pt x="1107828" y="726887"/>
                </a:lnTo>
                <a:lnTo>
                  <a:pt x="1110321" y="715328"/>
                </a:lnTo>
                <a:lnTo>
                  <a:pt x="1112362" y="703315"/>
                </a:lnTo>
                <a:lnTo>
                  <a:pt x="1114175" y="691529"/>
                </a:lnTo>
                <a:lnTo>
                  <a:pt x="1115762" y="679516"/>
                </a:lnTo>
                <a:lnTo>
                  <a:pt x="1117122" y="667503"/>
                </a:lnTo>
                <a:lnTo>
                  <a:pt x="1118256" y="655717"/>
                </a:lnTo>
                <a:lnTo>
                  <a:pt x="1118936" y="643704"/>
                </a:lnTo>
                <a:lnTo>
                  <a:pt x="1119389" y="631918"/>
                </a:lnTo>
                <a:lnTo>
                  <a:pt x="1119389" y="619905"/>
                </a:lnTo>
                <a:lnTo>
                  <a:pt x="1119389" y="607666"/>
                </a:lnTo>
                <a:lnTo>
                  <a:pt x="1118936" y="595880"/>
                </a:lnTo>
                <a:lnTo>
                  <a:pt x="1118256" y="583867"/>
                </a:lnTo>
                <a:lnTo>
                  <a:pt x="1117122" y="571854"/>
                </a:lnTo>
                <a:lnTo>
                  <a:pt x="1115762" y="560068"/>
                </a:lnTo>
                <a:lnTo>
                  <a:pt x="1114175" y="548055"/>
                </a:lnTo>
                <a:lnTo>
                  <a:pt x="1112362" y="536269"/>
                </a:lnTo>
                <a:lnTo>
                  <a:pt x="1110321" y="524256"/>
                </a:lnTo>
                <a:lnTo>
                  <a:pt x="1107828" y="512470"/>
                </a:lnTo>
                <a:lnTo>
                  <a:pt x="1105108" y="500911"/>
                </a:lnTo>
                <a:lnTo>
                  <a:pt x="1102161" y="489125"/>
                </a:lnTo>
                <a:lnTo>
                  <a:pt x="1098760" y="477565"/>
                </a:lnTo>
                <a:lnTo>
                  <a:pt x="1095360" y="466006"/>
                </a:lnTo>
                <a:lnTo>
                  <a:pt x="1091280" y="454673"/>
                </a:lnTo>
                <a:lnTo>
                  <a:pt x="1087426" y="443114"/>
                </a:lnTo>
                <a:lnTo>
                  <a:pt x="1082892" y="431554"/>
                </a:lnTo>
                <a:lnTo>
                  <a:pt x="1078132" y="420448"/>
                </a:lnTo>
                <a:lnTo>
                  <a:pt x="1073144" y="409342"/>
                </a:lnTo>
                <a:lnTo>
                  <a:pt x="1067931" y="398462"/>
                </a:lnTo>
                <a:lnTo>
                  <a:pt x="1062263" y="387583"/>
                </a:lnTo>
                <a:lnTo>
                  <a:pt x="1056370" y="376703"/>
                </a:lnTo>
                <a:lnTo>
                  <a:pt x="1050249" y="366050"/>
                </a:lnTo>
                <a:lnTo>
                  <a:pt x="1043902" y="355397"/>
                </a:lnTo>
                <a:lnTo>
                  <a:pt x="1037101" y="344971"/>
                </a:lnTo>
                <a:lnTo>
                  <a:pt x="1030074" y="334545"/>
                </a:lnTo>
                <a:lnTo>
                  <a:pt x="1022820" y="324346"/>
                </a:lnTo>
                <a:lnTo>
                  <a:pt x="1015339" y="314373"/>
                </a:lnTo>
                <a:lnTo>
                  <a:pt x="1007405" y="304400"/>
                </a:lnTo>
                <a:lnTo>
                  <a:pt x="999244" y="294654"/>
                </a:lnTo>
                <a:lnTo>
                  <a:pt x="990856" y="285134"/>
                </a:lnTo>
                <a:lnTo>
                  <a:pt x="982016" y="275614"/>
                </a:lnTo>
                <a:lnTo>
                  <a:pt x="972948" y="266548"/>
                </a:lnTo>
                <a:lnTo>
                  <a:pt x="963880" y="257482"/>
                </a:lnTo>
                <a:lnTo>
                  <a:pt x="954586" y="248869"/>
                </a:lnTo>
                <a:lnTo>
                  <a:pt x="944839" y="240483"/>
                </a:lnTo>
                <a:lnTo>
                  <a:pt x="935091" y="232323"/>
                </a:lnTo>
                <a:lnTo>
                  <a:pt x="925343" y="224163"/>
                </a:lnTo>
                <a:lnTo>
                  <a:pt x="915142" y="216684"/>
                </a:lnTo>
                <a:lnTo>
                  <a:pt x="904941" y="209431"/>
                </a:lnTo>
                <a:lnTo>
                  <a:pt x="894740" y="202631"/>
                </a:lnTo>
                <a:lnTo>
                  <a:pt x="884086" y="195831"/>
                </a:lnTo>
                <a:lnTo>
                  <a:pt x="873658" y="189485"/>
                </a:lnTo>
                <a:lnTo>
                  <a:pt x="862777" y="183139"/>
                </a:lnTo>
                <a:lnTo>
                  <a:pt x="852123" y="177246"/>
                </a:lnTo>
                <a:lnTo>
                  <a:pt x="841015" y="171579"/>
                </a:lnTo>
                <a:lnTo>
                  <a:pt x="830134" y="166593"/>
                </a:lnTo>
                <a:lnTo>
                  <a:pt x="819026" y="161380"/>
                </a:lnTo>
                <a:lnTo>
                  <a:pt x="807692" y="156620"/>
                </a:lnTo>
                <a:lnTo>
                  <a:pt x="796358" y="152313"/>
                </a:lnTo>
                <a:lnTo>
                  <a:pt x="785023" y="148234"/>
                </a:lnTo>
                <a:lnTo>
                  <a:pt x="773462" y="144380"/>
                </a:lnTo>
                <a:lnTo>
                  <a:pt x="762128" y="140754"/>
                </a:lnTo>
                <a:lnTo>
                  <a:pt x="750340" y="137581"/>
                </a:lnTo>
                <a:lnTo>
                  <a:pt x="738779" y="134407"/>
                </a:lnTo>
                <a:lnTo>
                  <a:pt x="726991" y="131688"/>
                </a:lnTo>
                <a:lnTo>
                  <a:pt x="715203" y="129421"/>
                </a:lnTo>
                <a:lnTo>
                  <a:pt x="703415" y="127154"/>
                </a:lnTo>
                <a:lnTo>
                  <a:pt x="691401" y="125341"/>
                </a:lnTo>
                <a:lnTo>
                  <a:pt x="679613" y="123755"/>
                </a:lnTo>
                <a:lnTo>
                  <a:pt x="667598" y="122621"/>
                </a:lnTo>
                <a:lnTo>
                  <a:pt x="655584" y="121488"/>
                </a:lnTo>
                <a:lnTo>
                  <a:pt x="643796" y="120581"/>
                </a:lnTo>
                <a:lnTo>
                  <a:pt x="631782" y="120128"/>
                </a:lnTo>
                <a:lnTo>
                  <a:pt x="619540" y="120128"/>
                </a:lnTo>
                <a:lnTo>
                  <a:pt x="607752" y="120128"/>
                </a:lnTo>
                <a:close/>
                <a:moveTo>
                  <a:pt x="619540" y="0"/>
                </a:moveTo>
                <a:lnTo>
                  <a:pt x="634502" y="227"/>
                </a:lnTo>
                <a:lnTo>
                  <a:pt x="649690" y="907"/>
                </a:lnTo>
                <a:lnTo>
                  <a:pt x="664198" y="1587"/>
                </a:lnTo>
                <a:lnTo>
                  <a:pt x="678933" y="3173"/>
                </a:lnTo>
                <a:lnTo>
                  <a:pt x="694121" y="4533"/>
                </a:lnTo>
                <a:lnTo>
                  <a:pt x="708629" y="6573"/>
                </a:lnTo>
                <a:lnTo>
                  <a:pt x="723364" y="8840"/>
                </a:lnTo>
                <a:lnTo>
                  <a:pt x="738098" y="11560"/>
                </a:lnTo>
                <a:lnTo>
                  <a:pt x="752607" y="14506"/>
                </a:lnTo>
                <a:lnTo>
                  <a:pt x="767115" y="17906"/>
                </a:lnTo>
                <a:lnTo>
                  <a:pt x="781623" y="21533"/>
                </a:lnTo>
                <a:lnTo>
                  <a:pt x="796131" y="25839"/>
                </a:lnTo>
                <a:lnTo>
                  <a:pt x="810412" y="30146"/>
                </a:lnTo>
                <a:lnTo>
                  <a:pt x="824694" y="34905"/>
                </a:lnTo>
                <a:lnTo>
                  <a:pt x="838975" y="40118"/>
                </a:lnTo>
                <a:lnTo>
                  <a:pt x="853030" y="45558"/>
                </a:lnTo>
                <a:lnTo>
                  <a:pt x="866858" y="51451"/>
                </a:lnTo>
                <a:lnTo>
                  <a:pt x="880686" y="57571"/>
                </a:lnTo>
                <a:lnTo>
                  <a:pt x="894514" y="64144"/>
                </a:lnTo>
                <a:lnTo>
                  <a:pt x="907888" y="71170"/>
                </a:lnTo>
                <a:lnTo>
                  <a:pt x="921263" y="78423"/>
                </a:lnTo>
                <a:lnTo>
                  <a:pt x="934638" y="85903"/>
                </a:lnTo>
                <a:lnTo>
                  <a:pt x="947786" y="93836"/>
                </a:lnTo>
                <a:lnTo>
                  <a:pt x="960934" y="102222"/>
                </a:lnTo>
                <a:lnTo>
                  <a:pt x="973401" y="110835"/>
                </a:lnTo>
                <a:lnTo>
                  <a:pt x="986096" y="119901"/>
                </a:lnTo>
                <a:lnTo>
                  <a:pt x="998791" y="129421"/>
                </a:lnTo>
                <a:lnTo>
                  <a:pt x="1010805" y="139167"/>
                </a:lnTo>
                <a:lnTo>
                  <a:pt x="1023046" y="149140"/>
                </a:lnTo>
                <a:lnTo>
                  <a:pt x="1034607" y="159793"/>
                </a:lnTo>
                <a:lnTo>
                  <a:pt x="1046395" y="170446"/>
                </a:lnTo>
                <a:lnTo>
                  <a:pt x="1057956" y="181779"/>
                </a:lnTo>
                <a:lnTo>
                  <a:pt x="1067251" y="191072"/>
                </a:lnTo>
                <a:lnTo>
                  <a:pt x="1076318" y="200591"/>
                </a:lnTo>
                <a:lnTo>
                  <a:pt x="1084932" y="210564"/>
                </a:lnTo>
                <a:lnTo>
                  <a:pt x="1093546" y="220310"/>
                </a:lnTo>
                <a:lnTo>
                  <a:pt x="1101934" y="230283"/>
                </a:lnTo>
                <a:lnTo>
                  <a:pt x="1110095" y="240709"/>
                </a:lnTo>
                <a:lnTo>
                  <a:pt x="1117802" y="250909"/>
                </a:lnTo>
                <a:lnTo>
                  <a:pt x="1125510" y="261108"/>
                </a:lnTo>
                <a:lnTo>
                  <a:pt x="1132764" y="271988"/>
                </a:lnTo>
                <a:lnTo>
                  <a:pt x="1139791" y="282414"/>
                </a:lnTo>
                <a:lnTo>
                  <a:pt x="1146592" y="293294"/>
                </a:lnTo>
                <a:lnTo>
                  <a:pt x="1153166" y="304173"/>
                </a:lnTo>
                <a:lnTo>
                  <a:pt x="1159513" y="315279"/>
                </a:lnTo>
                <a:lnTo>
                  <a:pt x="1165634" y="326159"/>
                </a:lnTo>
                <a:lnTo>
                  <a:pt x="1171527" y="337492"/>
                </a:lnTo>
                <a:lnTo>
                  <a:pt x="1177195" y="348598"/>
                </a:lnTo>
                <a:lnTo>
                  <a:pt x="1182408" y="360157"/>
                </a:lnTo>
                <a:lnTo>
                  <a:pt x="1187622" y="371490"/>
                </a:lnTo>
                <a:lnTo>
                  <a:pt x="1192610" y="383050"/>
                </a:lnTo>
                <a:lnTo>
                  <a:pt x="1197143" y="394609"/>
                </a:lnTo>
                <a:lnTo>
                  <a:pt x="1201677" y="406395"/>
                </a:lnTo>
                <a:lnTo>
                  <a:pt x="1205984" y="418181"/>
                </a:lnTo>
                <a:lnTo>
                  <a:pt x="1209611" y="429741"/>
                </a:lnTo>
                <a:lnTo>
                  <a:pt x="1213465" y="441754"/>
                </a:lnTo>
                <a:lnTo>
                  <a:pt x="1216865" y="453540"/>
                </a:lnTo>
                <a:lnTo>
                  <a:pt x="1219812" y="465552"/>
                </a:lnTo>
                <a:lnTo>
                  <a:pt x="1222986" y="477792"/>
                </a:lnTo>
                <a:lnTo>
                  <a:pt x="1225706" y="489578"/>
                </a:lnTo>
                <a:lnTo>
                  <a:pt x="1228200" y="501818"/>
                </a:lnTo>
                <a:lnTo>
                  <a:pt x="1230240" y="514057"/>
                </a:lnTo>
                <a:lnTo>
                  <a:pt x="1232280" y="526070"/>
                </a:lnTo>
                <a:lnTo>
                  <a:pt x="1233867" y="538536"/>
                </a:lnTo>
                <a:lnTo>
                  <a:pt x="1235680" y="550775"/>
                </a:lnTo>
                <a:lnTo>
                  <a:pt x="1236814" y="563015"/>
                </a:lnTo>
                <a:lnTo>
                  <a:pt x="1237720" y="575254"/>
                </a:lnTo>
                <a:lnTo>
                  <a:pt x="1238401" y="587720"/>
                </a:lnTo>
                <a:lnTo>
                  <a:pt x="1239081" y="599733"/>
                </a:lnTo>
                <a:lnTo>
                  <a:pt x="1239307" y="612199"/>
                </a:lnTo>
                <a:lnTo>
                  <a:pt x="1239307" y="624665"/>
                </a:lnTo>
                <a:lnTo>
                  <a:pt x="1239081" y="636678"/>
                </a:lnTo>
                <a:lnTo>
                  <a:pt x="1238627" y="649144"/>
                </a:lnTo>
                <a:lnTo>
                  <a:pt x="1237947" y="661610"/>
                </a:lnTo>
                <a:lnTo>
                  <a:pt x="1237040" y="673623"/>
                </a:lnTo>
                <a:lnTo>
                  <a:pt x="1235907" y="686089"/>
                </a:lnTo>
                <a:lnTo>
                  <a:pt x="1234320" y="698102"/>
                </a:lnTo>
                <a:lnTo>
                  <a:pt x="1232507" y="710341"/>
                </a:lnTo>
                <a:lnTo>
                  <a:pt x="1230693" y="722807"/>
                </a:lnTo>
                <a:lnTo>
                  <a:pt x="1228653" y="734820"/>
                </a:lnTo>
                <a:lnTo>
                  <a:pt x="1226159" y="746833"/>
                </a:lnTo>
                <a:lnTo>
                  <a:pt x="1223439" y="759073"/>
                </a:lnTo>
                <a:lnTo>
                  <a:pt x="1220719" y="771085"/>
                </a:lnTo>
                <a:lnTo>
                  <a:pt x="1217545" y="783098"/>
                </a:lnTo>
                <a:lnTo>
                  <a:pt x="1214145" y="795111"/>
                </a:lnTo>
                <a:lnTo>
                  <a:pt x="1210518" y="806897"/>
                </a:lnTo>
                <a:lnTo>
                  <a:pt x="1206664" y="818683"/>
                </a:lnTo>
                <a:lnTo>
                  <a:pt x="1202357" y="830469"/>
                </a:lnTo>
                <a:lnTo>
                  <a:pt x="1198277" y="842255"/>
                </a:lnTo>
                <a:lnTo>
                  <a:pt x="1193516" y="853588"/>
                </a:lnTo>
                <a:lnTo>
                  <a:pt x="1188529" y="865374"/>
                </a:lnTo>
                <a:lnTo>
                  <a:pt x="1183769" y="876934"/>
                </a:lnTo>
                <a:lnTo>
                  <a:pt x="1178328" y="888267"/>
                </a:lnTo>
                <a:lnTo>
                  <a:pt x="1172661" y="899599"/>
                </a:lnTo>
                <a:lnTo>
                  <a:pt x="1166767" y="910706"/>
                </a:lnTo>
                <a:lnTo>
                  <a:pt x="1160646" y="921812"/>
                </a:lnTo>
                <a:lnTo>
                  <a:pt x="1534229" y="1295115"/>
                </a:lnTo>
                <a:lnTo>
                  <a:pt x="1540350" y="1301461"/>
                </a:lnTo>
                <a:lnTo>
                  <a:pt x="1545790" y="1308034"/>
                </a:lnTo>
                <a:lnTo>
                  <a:pt x="1551231" y="1314607"/>
                </a:lnTo>
                <a:lnTo>
                  <a:pt x="1556445" y="1321407"/>
                </a:lnTo>
                <a:lnTo>
                  <a:pt x="1560752" y="1328433"/>
                </a:lnTo>
                <a:lnTo>
                  <a:pt x="1565286" y="1335460"/>
                </a:lnTo>
                <a:lnTo>
                  <a:pt x="1569366" y="1342713"/>
                </a:lnTo>
                <a:lnTo>
                  <a:pt x="1572766" y="1349966"/>
                </a:lnTo>
                <a:lnTo>
                  <a:pt x="1576167" y="1357219"/>
                </a:lnTo>
                <a:lnTo>
                  <a:pt x="1578887" y="1364698"/>
                </a:lnTo>
                <a:lnTo>
                  <a:pt x="1581381" y="1372178"/>
                </a:lnTo>
                <a:lnTo>
                  <a:pt x="1583648" y="1379658"/>
                </a:lnTo>
                <a:lnTo>
                  <a:pt x="1585461" y="1387137"/>
                </a:lnTo>
                <a:lnTo>
                  <a:pt x="1586821" y="1394617"/>
                </a:lnTo>
                <a:lnTo>
                  <a:pt x="1587955" y="1402323"/>
                </a:lnTo>
                <a:lnTo>
                  <a:pt x="1588635" y="1409803"/>
                </a:lnTo>
                <a:lnTo>
                  <a:pt x="1589088" y="1417283"/>
                </a:lnTo>
                <a:lnTo>
                  <a:pt x="1589088" y="1424762"/>
                </a:lnTo>
                <a:lnTo>
                  <a:pt x="1588861" y="1432242"/>
                </a:lnTo>
                <a:lnTo>
                  <a:pt x="1588181" y="1439495"/>
                </a:lnTo>
                <a:lnTo>
                  <a:pt x="1587274" y="1446748"/>
                </a:lnTo>
                <a:lnTo>
                  <a:pt x="1585914" y="1454001"/>
                </a:lnTo>
                <a:lnTo>
                  <a:pt x="1584101" y="1461027"/>
                </a:lnTo>
                <a:lnTo>
                  <a:pt x="1581834" y="1467827"/>
                </a:lnTo>
                <a:lnTo>
                  <a:pt x="1579340" y="1474627"/>
                </a:lnTo>
                <a:lnTo>
                  <a:pt x="1576620" y="1481200"/>
                </a:lnTo>
                <a:lnTo>
                  <a:pt x="1573220" y="1487773"/>
                </a:lnTo>
                <a:lnTo>
                  <a:pt x="1569593" y="1494119"/>
                </a:lnTo>
                <a:lnTo>
                  <a:pt x="1565512" y="1500239"/>
                </a:lnTo>
                <a:lnTo>
                  <a:pt x="1561432" y="1506132"/>
                </a:lnTo>
                <a:lnTo>
                  <a:pt x="1556445" y="1511572"/>
                </a:lnTo>
                <a:lnTo>
                  <a:pt x="1551231" y="1517011"/>
                </a:lnTo>
                <a:lnTo>
                  <a:pt x="1517228" y="1551237"/>
                </a:lnTo>
                <a:lnTo>
                  <a:pt x="1511787" y="1556223"/>
                </a:lnTo>
                <a:lnTo>
                  <a:pt x="1506120" y="1561209"/>
                </a:lnTo>
                <a:lnTo>
                  <a:pt x="1500226" y="1565516"/>
                </a:lnTo>
                <a:lnTo>
                  <a:pt x="1494106" y="1569369"/>
                </a:lnTo>
                <a:lnTo>
                  <a:pt x="1487985" y="1573222"/>
                </a:lnTo>
                <a:lnTo>
                  <a:pt x="1481411" y="1576395"/>
                </a:lnTo>
                <a:lnTo>
                  <a:pt x="1474837" y="1579342"/>
                </a:lnTo>
                <a:lnTo>
                  <a:pt x="1468036" y="1581835"/>
                </a:lnTo>
                <a:lnTo>
                  <a:pt x="1461009" y="1583875"/>
                </a:lnTo>
                <a:lnTo>
                  <a:pt x="1453982" y="1585688"/>
                </a:lnTo>
                <a:lnTo>
                  <a:pt x="1446728" y="1587275"/>
                </a:lnTo>
                <a:lnTo>
                  <a:pt x="1439474" y="1588182"/>
                </a:lnTo>
                <a:lnTo>
                  <a:pt x="1432219" y="1588862"/>
                </a:lnTo>
                <a:lnTo>
                  <a:pt x="1424739" y="1589088"/>
                </a:lnTo>
                <a:lnTo>
                  <a:pt x="1417258" y="1589088"/>
                </a:lnTo>
                <a:lnTo>
                  <a:pt x="1409777" y="1588862"/>
                </a:lnTo>
                <a:lnTo>
                  <a:pt x="1402296" y="1587955"/>
                </a:lnTo>
                <a:lnTo>
                  <a:pt x="1394589" y="1587048"/>
                </a:lnTo>
                <a:lnTo>
                  <a:pt x="1387108" y="1585235"/>
                </a:lnTo>
                <a:lnTo>
                  <a:pt x="1379628" y="1583422"/>
                </a:lnTo>
                <a:lnTo>
                  <a:pt x="1372147" y="1581382"/>
                </a:lnTo>
                <a:lnTo>
                  <a:pt x="1364666" y="1578662"/>
                </a:lnTo>
                <a:lnTo>
                  <a:pt x="1357186" y="1575942"/>
                </a:lnTo>
                <a:lnTo>
                  <a:pt x="1349931" y="1572769"/>
                </a:lnTo>
                <a:lnTo>
                  <a:pt x="1342677" y="1569142"/>
                </a:lnTo>
                <a:lnTo>
                  <a:pt x="1335423" y="1565289"/>
                </a:lnTo>
                <a:lnTo>
                  <a:pt x="1328396" y="1560756"/>
                </a:lnTo>
                <a:lnTo>
                  <a:pt x="1321369" y="1556223"/>
                </a:lnTo>
                <a:lnTo>
                  <a:pt x="1314568" y="1551237"/>
                </a:lnTo>
                <a:lnTo>
                  <a:pt x="1307994" y="1545797"/>
                </a:lnTo>
                <a:lnTo>
                  <a:pt x="1301420" y="1540130"/>
                </a:lnTo>
                <a:lnTo>
                  <a:pt x="1295299" y="1534011"/>
                </a:lnTo>
                <a:lnTo>
                  <a:pt x="921716" y="1160708"/>
                </a:lnTo>
                <a:lnTo>
                  <a:pt x="910835" y="1166827"/>
                </a:lnTo>
                <a:lnTo>
                  <a:pt x="899501" y="1172720"/>
                </a:lnTo>
                <a:lnTo>
                  <a:pt x="888166" y="1178160"/>
                </a:lnTo>
                <a:lnTo>
                  <a:pt x="876832" y="1183600"/>
                </a:lnTo>
                <a:lnTo>
                  <a:pt x="865498" y="1188586"/>
                </a:lnTo>
                <a:lnTo>
                  <a:pt x="853710" y="1193346"/>
                </a:lnTo>
                <a:lnTo>
                  <a:pt x="842375" y="1198106"/>
                </a:lnTo>
                <a:lnTo>
                  <a:pt x="830588" y="1202412"/>
                </a:lnTo>
                <a:lnTo>
                  <a:pt x="818573" y="1206492"/>
                </a:lnTo>
                <a:lnTo>
                  <a:pt x="807012" y="1210572"/>
                </a:lnTo>
                <a:lnTo>
                  <a:pt x="794997" y="1213972"/>
                </a:lnTo>
                <a:lnTo>
                  <a:pt x="783210" y="1217598"/>
                </a:lnTo>
                <a:lnTo>
                  <a:pt x="771195" y="1220545"/>
                </a:lnTo>
                <a:lnTo>
                  <a:pt x="758954" y="1223265"/>
                </a:lnTo>
                <a:lnTo>
                  <a:pt x="746939" y="1226211"/>
                </a:lnTo>
                <a:lnTo>
                  <a:pt x="734698" y="1228478"/>
                </a:lnTo>
                <a:lnTo>
                  <a:pt x="722457" y="1230518"/>
                </a:lnTo>
                <a:lnTo>
                  <a:pt x="710442" y="1232784"/>
                </a:lnTo>
                <a:lnTo>
                  <a:pt x="698201" y="1234371"/>
                </a:lnTo>
                <a:lnTo>
                  <a:pt x="685960" y="1235731"/>
                </a:lnTo>
                <a:lnTo>
                  <a:pt x="673719" y="1236864"/>
                </a:lnTo>
                <a:lnTo>
                  <a:pt x="661478" y="1237771"/>
                </a:lnTo>
                <a:lnTo>
                  <a:pt x="649010" y="1238451"/>
                </a:lnTo>
                <a:lnTo>
                  <a:pt x="636769" y="1239131"/>
                </a:lnTo>
                <a:lnTo>
                  <a:pt x="624527" y="1239357"/>
                </a:lnTo>
                <a:lnTo>
                  <a:pt x="612060" y="1239357"/>
                </a:lnTo>
                <a:lnTo>
                  <a:pt x="599818" y="1239131"/>
                </a:lnTo>
                <a:lnTo>
                  <a:pt x="587577" y="1238451"/>
                </a:lnTo>
                <a:lnTo>
                  <a:pt x="575109" y="1237544"/>
                </a:lnTo>
                <a:lnTo>
                  <a:pt x="562868" y="1236638"/>
                </a:lnTo>
                <a:lnTo>
                  <a:pt x="550627" y="1235504"/>
                </a:lnTo>
                <a:lnTo>
                  <a:pt x="538612" y="1233918"/>
                </a:lnTo>
                <a:lnTo>
                  <a:pt x="526145" y="1232331"/>
                </a:lnTo>
                <a:lnTo>
                  <a:pt x="513903" y="1230291"/>
                </a:lnTo>
                <a:lnTo>
                  <a:pt x="501889" y="1228025"/>
                </a:lnTo>
                <a:lnTo>
                  <a:pt x="489648" y="1225758"/>
                </a:lnTo>
                <a:lnTo>
                  <a:pt x="477633" y="1222811"/>
                </a:lnTo>
                <a:lnTo>
                  <a:pt x="465619" y="1219865"/>
                </a:lnTo>
                <a:lnTo>
                  <a:pt x="453604" y="1216918"/>
                </a:lnTo>
                <a:lnTo>
                  <a:pt x="441590" y="1213292"/>
                </a:lnTo>
                <a:lnTo>
                  <a:pt x="429802" y="1209665"/>
                </a:lnTo>
                <a:lnTo>
                  <a:pt x="418014" y="1205812"/>
                </a:lnTo>
                <a:lnTo>
                  <a:pt x="406453" y="1201506"/>
                </a:lnTo>
                <a:lnTo>
                  <a:pt x="394665" y="1197199"/>
                </a:lnTo>
                <a:lnTo>
                  <a:pt x="383104" y="1192440"/>
                </a:lnTo>
                <a:lnTo>
                  <a:pt x="371543" y="1187680"/>
                </a:lnTo>
                <a:lnTo>
                  <a:pt x="359982" y="1182467"/>
                </a:lnTo>
                <a:lnTo>
                  <a:pt x="348647" y="1177027"/>
                </a:lnTo>
                <a:lnTo>
                  <a:pt x="337313" y="1171360"/>
                </a:lnTo>
                <a:lnTo>
                  <a:pt x="326205" y="1165694"/>
                </a:lnTo>
                <a:lnTo>
                  <a:pt x="315097" y="1159574"/>
                </a:lnTo>
                <a:lnTo>
                  <a:pt x="304216" y="1153228"/>
                </a:lnTo>
                <a:lnTo>
                  <a:pt x="293109" y="1146655"/>
                </a:lnTo>
                <a:lnTo>
                  <a:pt x="282454" y="1139629"/>
                </a:lnTo>
                <a:lnTo>
                  <a:pt x="272026" y="1132602"/>
                </a:lnTo>
                <a:lnTo>
                  <a:pt x="261145" y="1125349"/>
                </a:lnTo>
                <a:lnTo>
                  <a:pt x="250944" y="1117643"/>
                </a:lnTo>
                <a:lnTo>
                  <a:pt x="240517" y="1109937"/>
                </a:lnTo>
                <a:lnTo>
                  <a:pt x="230316" y="1101777"/>
                </a:lnTo>
                <a:lnTo>
                  <a:pt x="220341" y="1093617"/>
                </a:lnTo>
                <a:lnTo>
                  <a:pt x="210367" y="1085004"/>
                </a:lnTo>
                <a:lnTo>
                  <a:pt x="200620" y="1076391"/>
                </a:lnTo>
                <a:lnTo>
                  <a:pt x="191099" y="1067099"/>
                </a:lnTo>
                <a:lnTo>
                  <a:pt x="181578" y="1057806"/>
                </a:lnTo>
                <a:lnTo>
                  <a:pt x="170470" y="1046473"/>
                </a:lnTo>
                <a:lnTo>
                  <a:pt x="159589" y="1034913"/>
                </a:lnTo>
                <a:lnTo>
                  <a:pt x="149161" y="1022901"/>
                </a:lnTo>
                <a:lnTo>
                  <a:pt x="139187" y="1010888"/>
                </a:lnTo>
                <a:lnTo>
                  <a:pt x="129213" y="998648"/>
                </a:lnTo>
                <a:lnTo>
                  <a:pt x="119918" y="985956"/>
                </a:lnTo>
                <a:lnTo>
                  <a:pt x="110851" y="973489"/>
                </a:lnTo>
                <a:lnTo>
                  <a:pt x="102237" y="960797"/>
                </a:lnTo>
                <a:lnTo>
                  <a:pt x="93849" y="947651"/>
                </a:lnTo>
                <a:lnTo>
                  <a:pt x="85688" y="934505"/>
                </a:lnTo>
                <a:lnTo>
                  <a:pt x="78208" y="921358"/>
                </a:lnTo>
                <a:lnTo>
                  <a:pt x="70954" y="907986"/>
                </a:lnTo>
                <a:lnTo>
                  <a:pt x="64153" y="894386"/>
                </a:lnTo>
                <a:lnTo>
                  <a:pt x="57579" y="880560"/>
                </a:lnTo>
                <a:lnTo>
                  <a:pt x="51232" y="866734"/>
                </a:lnTo>
                <a:lnTo>
                  <a:pt x="45338" y="852908"/>
                </a:lnTo>
                <a:lnTo>
                  <a:pt x="39897" y="838856"/>
                </a:lnTo>
                <a:lnTo>
                  <a:pt x="34910" y="824803"/>
                </a:lnTo>
                <a:lnTo>
                  <a:pt x="30150" y="810524"/>
                </a:lnTo>
                <a:lnTo>
                  <a:pt x="25616" y="796244"/>
                </a:lnTo>
                <a:lnTo>
                  <a:pt x="21535" y="781738"/>
                </a:lnTo>
                <a:lnTo>
                  <a:pt x="17682" y="767232"/>
                </a:lnTo>
                <a:lnTo>
                  <a:pt x="14508" y="752726"/>
                </a:lnTo>
                <a:lnTo>
                  <a:pt x="11334" y="738220"/>
                </a:lnTo>
                <a:lnTo>
                  <a:pt x="8841" y="723487"/>
                </a:lnTo>
                <a:lnTo>
                  <a:pt x="6574" y="708755"/>
                </a:lnTo>
                <a:lnTo>
                  <a:pt x="4307" y="694022"/>
                </a:lnTo>
                <a:lnTo>
                  <a:pt x="2947" y="679289"/>
                </a:lnTo>
                <a:lnTo>
                  <a:pt x="1587" y="664330"/>
                </a:lnTo>
                <a:lnTo>
                  <a:pt x="680" y="649597"/>
                </a:lnTo>
                <a:lnTo>
                  <a:pt x="227" y="634638"/>
                </a:lnTo>
                <a:lnTo>
                  <a:pt x="0" y="619905"/>
                </a:lnTo>
                <a:lnTo>
                  <a:pt x="227" y="604946"/>
                </a:lnTo>
                <a:lnTo>
                  <a:pt x="680" y="589987"/>
                </a:lnTo>
                <a:lnTo>
                  <a:pt x="1587" y="575254"/>
                </a:lnTo>
                <a:lnTo>
                  <a:pt x="2947" y="560295"/>
                </a:lnTo>
                <a:lnTo>
                  <a:pt x="4307" y="545562"/>
                </a:lnTo>
                <a:lnTo>
                  <a:pt x="6574" y="530830"/>
                </a:lnTo>
                <a:lnTo>
                  <a:pt x="8841" y="516097"/>
                </a:lnTo>
                <a:lnTo>
                  <a:pt x="11334" y="501364"/>
                </a:lnTo>
                <a:lnTo>
                  <a:pt x="14508" y="486858"/>
                </a:lnTo>
                <a:lnTo>
                  <a:pt x="17682" y="472352"/>
                </a:lnTo>
                <a:lnTo>
                  <a:pt x="21535" y="457846"/>
                </a:lnTo>
                <a:lnTo>
                  <a:pt x="25616" y="443340"/>
                </a:lnTo>
                <a:lnTo>
                  <a:pt x="30150" y="429061"/>
                </a:lnTo>
                <a:lnTo>
                  <a:pt x="34910" y="414781"/>
                </a:lnTo>
                <a:lnTo>
                  <a:pt x="39897" y="400502"/>
                </a:lnTo>
                <a:lnTo>
                  <a:pt x="45338" y="386449"/>
                </a:lnTo>
                <a:lnTo>
                  <a:pt x="51232" y="372850"/>
                </a:lnTo>
                <a:lnTo>
                  <a:pt x="57579" y="359024"/>
                </a:lnTo>
                <a:lnTo>
                  <a:pt x="64153" y="345198"/>
                </a:lnTo>
                <a:lnTo>
                  <a:pt x="70954" y="331599"/>
                </a:lnTo>
                <a:lnTo>
                  <a:pt x="78208" y="318226"/>
                </a:lnTo>
                <a:lnTo>
                  <a:pt x="85688" y="304853"/>
                </a:lnTo>
                <a:lnTo>
                  <a:pt x="93849" y="291934"/>
                </a:lnTo>
                <a:lnTo>
                  <a:pt x="102237" y="278788"/>
                </a:lnTo>
                <a:lnTo>
                  <a:pt x="110851" y="266095"/>
                </a:lnTo>
                <a:lnTo>
                  <a:pt x="119918" y="253402"/>
                </a:lnTo>
                <a:lnTo>
                  <a:pt x="129213" y="240936"/>
                </a:lnTo>
                <a:lnTo>
                  <a:pt x="139187" y="228697"/>
                </a:lnTo>
                <a:lnTo>
                  <a:pt x="149161" y="216457"/>
                </a:lnTo>
                <a:lnTo>
                  <a:pt x="159589" y="204671"/>
                </a:lnTo>
                <a:lnTo>
                  <a:pt x="170470" y="193111"/>
                </a:lnTo>
                <a:lnTo>
                  <a:pt x="181578" y="181779"/>
                </a:lnTo>
                <a:lnTo>
                  <a:pt x="193139" y="170446"/>
                </a:lnTo>
                <a:lnTo>
                  <a:pt x="204473" y="159793"/>
                </a:lnTo>
                <a:lnTo>
                  <a:pt x="216488" y="149140"/>
                </a:lnTo>
                <a:lnTo>
                  <a:pt x="228729" y="139167"/>
                </a:lnTo>
                <a:lnTo>
                  <a:pt x="240743" y="129421"/>
                </a:lnTo>
                <a:lnTo>
                  <a:pt x="253438" y="119901"/>
                </a:lnTo>
                <a:lnTo>
                  <a:pt x="266133" y="110835"/>
                </a:lnTo>
                <a:lnTo>
                  <a:pt x="278600" y="102222"/>
                </a:lnTo>
                <a:lnTo>
                  <a:pt x="291748" y="93836"/>
                </a:lnTo>
                <a:lnTo>
                  <a:pt x="304896" y="85903"/>
                </a:lnTo>
                <a:lnTo>
                  <a:pt x="318271" y="78423"/>
                </a:lnTo>
                <a:lnTo>
                  <a:pt x="331646" y="71170"/>
                </a:lnTo>
                <a:lnTo>
                  <a:pt x="345020" y="64144"/>
                </a:lnTo>
                <a:lnTo>
                  <a:pt x="358848" y="57571"/>
                </a:lnTo>
                <a:lnTo>
                  <a:pt x="372676" y="51451"/>
                </a:lnTo>
                <a:lnTo>
                  <a:pt x="386504" y="45558"/>
                </a:lnTo>
                <a:lnTo>
                  <a:pt x="400559" y="40118"/>
                </a:lnTo>
                <a:lnTo>
                  <a:pt x="414840" y="34905"/>
                </a:lnTo>
                <a:lnTo>
                  <a:pt x="429122" y="30146"/>
                </a:lnTo>
                <a:lnTo>
                  <a:pt x="443403" y="25839"/>
                </a:lnTo>
                <a:lnTo>
                  <a:pt x="457911" y="21533"/>
                </a:lnTo>
                <a:lnTo>
                  <a:pt x="472419" y="17906"/>
                </a:lnTo>
                <a:lnTo>
                  <a:pt x="486927" y="14506"/>
                </a:lnTo>
                <a:lnTo>
                  <a:pt x="501435" y="11560"/>
                </a:lnTo>
                <a:lnTo>
                  <a:pt x="515944" y="8840"/>
                </a:lnTo>
                <a:lnTo>
                  <a:pt x="530678" y="6573"/>
                </a:lnTo>
                <a:lnTo>
                  <a:pt x="545413" y="4533"/>
                </a:lnTo>
                <a:lnTo>
                  <a:pt x="560148" y="3173"/>
                </a:lnTo>
                <a:lnTo>
                  <a:pt x="575109" y="1587"/>
                </a:lnTo>
                <a:lnTo>
                  <a:pt x="589844" y="907"/>
                </a:lnTo>
                <a:lnTo>
                  <a:pt x="604806" y="227"/>
                </a:lnTo>
                <a:lnTo>
                  <a:pt x="6195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248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626577" y="3787789"/>
            <a:ext cx="2588773" cy="457985"/>
          </a:xfrm>
          <a:prstGeom prst="rect">
            <a:avLst/>
          </a:prstGeom>
        </p:spPr>
        <p:txBody>
          <a:bodyPr wrap="square" lIns="113384" tIns="56693" rIns="113384" bIns="56693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32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主要适用人群</a:t>
            </a:r>
            <a:endParaRPr lang="zh-CN" altLang="en-US" sz="2232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216874" y="1572352"/>
            <a:ext cx="3420462" cy="457985"/>
          </a:xfrm>
          <a:prstGeom prst="rect">
            <a:avLst/>
          </a:prstGeom>
        </p:spPr>
        <p:txBody>
          <a:bodyPr wrap="square" lIns="113384" tIns="56693" rIns="113384" bIns="56693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32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残、瘫人群</a:t>
            </a:r>
          </a:p>
        </p:txBody>
      </p:sp>
      <p:sp>
        <p:nvSpPr>
          <p:cNvPr id="41" name="矩形 40"/>
          <p:cNvSpPr/>
          <p:nvPr/>
        </p:nvSpPr>
        <p:spPr>
          <a:xfrm>
            <a:off x="9133038" y="3756842"/>
            <a:ext cx="2633422" cy="457985"/>
          </a:xfrm>
          <a:prstGeom prst="rect">
            <a:avLst/>
          </a:prstGeom>
        </p:spPr>
        <p:txBody>
          <a:bodyPr wrap="square" lIns="113384" tIns="56693" rIns="113384" bIns="56693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32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植物人</a:t>
            </a:r>
          </a:p>
        </p:txBody>
      </p:sp>
      <p:sp>
        <p:nvSpPr>
          <p:cNvPr id="43" name="矩形 42"/>
          <p:cNvSpPr/>
          <p:nvPr/>
        </p:nvSpPr>
        <p:spPr>
          <a:xfrm>
            <a:off x="10007907" y="4789970"/>
            <a:ext cx="2269477" cy="457985"/>
          </a:xfrm>
          <a:prstGeom prst="rect">
            <a:avLst/>
          </a:prstGeom>
        </p:spPr>
        <p:txBody>
          <a:bodyPr wrap="square" lIns="113384" tIns="56693" rIns="113384" bIns="56693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32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临终关怀用户</a:t>
            </a:r>
          </a:p>
        </p:txBody>
      </p:sp>
      <p:sp>
        <p:nvSpPr>
          <p:cNvPr id="45" name="矩形 44"/>
          <p:cNvSpPr/>
          <p:nvPr/>
        </p:nvSpPr>
        <p:spPr>
          <a:xfrm>
            <a:off x="10029835" y="2653587"/>
            <a:ext cx="3332914" cy="457985"/>
          </a:xfrm>
          <a:prstGeom prst="rect">
            <a:avLst/>
          </a:prstGeom>
        </p:spPr>
        <p:txBody>
          <a:bodyPr wrap="square" lIns="113384" tIns="56693" rIns="113384" bIns="56693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32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手术后的卧床用户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332475" y="5801864"/>
            <a:ext cx="1568633" cy="156863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4790" y="5890849"/>
            <a:ext cx="1490673" cy="149067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0389" y="5744380"/>
            <a:ext cx="1602494" cy="16875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rcRect r="2356" b="1827"/>
          <a:stretch>
            <a:fillRect/>
          </a:stretch>
        </p:blipFill>
        <p:spPr>
          <a:xfrm>
            <a:off x="8519597" y="5801864"/>
            <a:ext cx="1599344" cy="1608006"/>
          </a:xfrm>
          <a:prstGeom prst="ellipse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9752" y="5744380"/>
            <a:ext cx="1600919" cy="168675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411222" y="7588626"/>
            <a:ext cx="1281207" cy="419833"/>
          </a:xfrm>
          <a:prstGeom prst="rect">
            <a:avLst/>
          </a:prstGeom>
        </p:spPr>
        <p:txBody>
          <a:bodyPr wrap="square" lIns="113384" tIns="56693" rIns="113384" bIns="56693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84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养老机构</a:t>
            </a:r>
          </a:p>
        </p:txBody>
      </p:sp>
      <p:sp>
        <p:nvSpPr>
          <p:cNvPr id="13" name="矩形 12"/>
          <p:cNvSpPr/>
          <p:nvPr/>
        </p:nvSpPr>
        <p:spPr>
          <a:xfrm>
            <a:off x="4624790" y="7588626"/>
            <a:ext cx="1281207" cy="419833"/>
          </a:xfrm>
          <a:prstGeom prst="rect">
            <a:avLst/>
          </a:prstGeom>
        </p:spPr>
        <p:txBody>
          <a:bodyPr wrap="square" lIns="113384" tIns="56693" rIns="113384" bIns="56693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84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医疗机构</a:t>
            </a:r>
          </a:p>
        </p:txBody>
      </p:sp>
      <p:sp>
        <p:nvSpPr>
          <p:cNvPr id="14" name="矩形 13"/>
          <p:cNvSpPr/>
          <p:nvPr/>
        </p:nvSpPr>
        <p:spPr>
          <a:xfrm>
            <a:off x="7200591" y="7588626"/>
            <a:ext cx="1062292" cy="419833"/>
          </a:xfrm>
          <a:prstGeom prst="rect">
            <a:avLst/>
          </a:prstGeom>
        </p:spPr>
        <p:txBody>
          <a:bodyPr wrap="square" lIns="113384" tIns="56693" rIns="113384" bIns="56693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84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家庭</a:t>
            </a:r>
          </a:p>
        </p:txBody>
      </p:sp>
      <p:sp>
        <p:nvSpPr>
          <p:cNvPr id="15" name="矩形 14"/>
          <p:cNvSpPr/>
          <p:nvPr/>
        </p:nvSpPr>
        <p:spPr>
          <a:xfrm>
            <a:off x="8904668" y="7588626"/>
            <a:ext cx="1252859" cy="419833"/>
          </a:xfrm>
          <a:prstGeom prst="rect">
            <a:avLst/>
          </a:prstGeom>
        </p:spPr>
        <p:txBody>
          <a:bodyPr wrap="square" lIns="113384" tIns="56693" rIns="113384" bIns="56693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84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社区</a:t>
            </a:r>
          </a:p>
        </p:txBody>
      </p:sp>
      <p:sp>
        <p:nvSpPr>
          <p:cNvPr id="18" name="矩形 17"/>
          <p:cNvSpPr/>
          <p:nvPr/>
        </p:nvSpPr>
        <p:spPr>
          <a:xfrm>
            <a:off x="10703240" y="7588626"/>
            <a:ext cx="1472562" cy="419833"/>
          </a:xfrm>
          <a:prstGeom prst="rect">
            <a:avLst/>
          </a:prstGeom>
        </p:spPr>
        <p:txBody>
          <a:bodyPr wrap="square" lIns="113384" tIns="56693" rIns="113384" bIns="56693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84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租赁机构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3607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 wrap="square" lIns="91405" tIns="45702" rIns="91405" bIns="45702" numCol="1" anchor="ctr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95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kumimoji="0" lang="en-US" altLang="zh-CN" sz="1195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26</a:t>
            </a:fld>
            <a:endParaRPr kumimoji="0" lang="en-US" altLang="zh-CN" sz="1195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577216" y="726772"/>
            <a:ext cx="14539383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42" name="直接连接符 13"/>
          <p:cNvCxnSpPr/>
          <p:nvPr/>
        </p:nvCxnSpPr>
        <p:spPr>
          <a:xfrm>
            <a:off x="3889124" y="295129"/>
            <a:ext cx="0" cy="36023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47" name="标题 1"/>
          <p:cNvSpPr>
            <a:spLocks noGrp="1"/>
          </p:cNvSpPr>
          <p:nvPr/>
        </p:nvSpPr>
        <p:spPr>
          <a:xfrm>
            <a:off x="3889375" y="162560"/>
            <a:ext cx="1729740" cy="623570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公司业务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3888329" y="294730"/>
            <a:ext cx="0" cy="3599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14" name="灯片编号占位符 1"/>
          <p:cNvSpPr txBox="1">
            <a:spLocks noGrp="1"/>
          </p:cNvSpPr>
          <p:nvPr/>
        </p:nvSpPr>
        <p:spPr>
          <a:xfrm>
            <a:off x="13021000" y="8124023"/>
            <a:ext cx="1940952" cy="301538"/>
          </a:xfrm>
          <a:prstGeom prst="rect">
            <a:avLst/>
          </a:prstGeom>
          <a:ln>
            <a:miter lim="800000"/>
          </a:ln>
        </p:spPr>
        <p:txBody>
          <a:bodyPr vert="horz" wrap="square" lIns="113395" tIns="56697" rIns="113395" bIns="56697" numCol="1" rtlCol="0" anchor="ctr" anchorCtr="0" compatLnSpc="1">
            <a:norm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195" dirty="0">
                <a:solidFill>
                  <a:srgbClr val="7F7F7F"/>
                </a:solidFill>
                <a:ea typeface="微软雅黑" panose="020B0503020204020204" pitchFamily="34" charset="-122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lang="en-US" altLang="zh-CN" sz="1195" dirty="0">
                <a:solidFill>
                  <a:srgbClr val="7F7F7F"/>
                </a:solidFill>
                <a:ea typeface="微软雅黑" panose="020B0503020204020204" pitchFamily="34" charset="-122"/>
                <a:sym typeface="微软雅黑" panose="020B0503020204020204" pitchFamily="34" charset="-122"/>
              </a:rPr>
              <a:t>26</a:t>
            </a:fld>
            <a:endParaRPr lang="en-US" altLang="zh-CN" sz="1195" dirty="0">
              <a:solidFill>
                <a:srgbClr val="7F7F7F"/>
              </a:solidFill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19" name="文本框 1"/>
          <p:cNvSpPr txBox="1"/>
          <p:nvPr/>
        </p:nvSpPr>
        <p:spPr>
          <a:xfrm>
            <a:off x="1008842" y="1061691"/>
            <a:ext cx="11229901" cy="5530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99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应用场景（实际案例）</a:t>
            </a:r>
            <a:endParaRPr lang="en-US" altLang="zh-CN" sz="199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 bwMode="auto">
          <a:xfrm flipV="1">
            <a:off x="2088650" y="4254024"/>
            <a:ext cx="11589934" cy="71987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 descr="微信图片_2019022813552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06423" y="2160780"/>
            <a:ext cx="4796456" cy="2698646"/>
          </a:xfrm>
          <a:prstGeom prst="rect">
            <a:avLst/>
          </a:prstGeom>
        </p:spPr>
      </p:pic>
      <p:pic>
        <p:nvPicPr>
          <p:cNvPr id="6" name="图片 5" descr="微信图片_2019022813550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06423" y="5020857"/>
            <a:ext cx="4796456" cy="2697859"/>
          </a:xfrm>
          <a:prstGeom prst="rect">
            <a:avLst/>
          </a:prstGeom>
        </p:spPr>
      </p:pic>
      <p:pic>
        <p:nvPicPr>
          <p:cNvPr id="2" name="图片 1" descr="微信图片_20190228135511"/>
          <p:cNvPicPr>
            <a:picLocks noChangeAspect="1"/>
          </p:cNvPicPr>
          <p:nvPr/>
        </p:nvPicPr>
        <p:blipFill>
          <a:blip r:embed="rId4" cstate="print"/>
          <a:srcRect b="28213"/>
          <a:stretch>
            <a:fillRect/>
          </a:stretch>
        </p:blipFill>
        <p:spPr>
          <a:xfrm>
            <a:off x="6465885" y="2485216"/>
            <a:ext cx="3887720" cy="4963399"/>
          </a:xfrm>
          <a:prstGeom prst="rect">
            <a:avLst/>
          </a:prstGeom>
        </p:spPr>
      </p:pic>
      <p:pic>
        <p:nvPicPr>
          <p:cNvPr id="8" name="图片 7" descr="IMG_5915"/>
          <p:cNvPicPr>
            <a:picLocks noChangeAspect="1"/>
          </p:cNvPicPr>
          <p:nvPr/>
        </p:nvPicPr>
        <p:blipFill>
          <a:blip r:embed="rId5" cstate="print"/>
          <a:srcRect r="11920"/>
          <a:stretch>
            <a:fillRect/>
          </a:stretch>
        </p:blipFill>
        <p:spPr>
          <a:xfrm>
            <a:off x="10516610" y="3361666"/>
            <a:ext cx="3675892" cy="3568797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7037585" y="1061477"/>
            <a:ext cx="7154917" cy="358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152400"/>
            <a:r>
              <a:rPr lang="zh-CN" altLang="en-US" sz="1735"/>
              <a:t>项目产品的应用场景包含：医院、养老院、家庭等多个场所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27</a:t>
            </a:fld>
            <a:endParaRPr lang="en-US" altLang="zh-CN" sz="1200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458" name="文本框 8"/>
          <p:cNvSpPr txBox="1"/>
          <p:nvPr/>
        </p:nvSpPr>
        <p:spPr>
          <a:xfrm>
            <a:off x="1150938" y="1733550"/>
            <a:ext cx="12961937" cy="62471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营销思路：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抢占行业制高点树立高端品牌形象：和全国超大型康养机构泰康健投、太平保险、平安保险等建立战略伙伴合作关系。以先入为主抢占高端消费者心智。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2.2021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局域市场，以安徽为主线主攻北京、天津、河北、河南、上海、杭州、南京、广州、深圳、武汉等市场，基本目标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万必达成，挑战目标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万。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根据需要开发山东、山西、陕西、海南、福建、重庆、四川、湖南、江西、广西等市场。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全国布局。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制定积极有效的代理商体系，完善销售及回款政策，通过行业展会、百度推广、实行全网营销体系，实现销售最大化。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降低市场准入门槛，通过引流产品主打高端智能电动床市场。凸显海姬尔多功能智能床的功能优势与价格优势。抢占市场份额。同时通过利润产品拉高产品客单价。</a:t>
            </a:r>
          </a:p>
          <a:p>
            <a:pPr algn="l"/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59" name="矩形 5"/>
          <p:cNvSpPr/>
          <p:nvPr/>
        </p:nvSpPr>
        <p:spPr>
          <a:xfrm>
            <a:off x="12888913" y="581025"/>
            <a:ext cx="2230437" cy="2889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0000" tIns="46800" rIns="90000" bIns="46800" anchor="t"/>
          <a:lstStyle/>
          <a:p>
            <a:pPr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标题 1"/>
          <p:cNvSpPr>
            <a:spLocks noGrp="1"/>
          </p:cNvSpPr>
          <p:nvPr/>
        </p:nvSpPr>
        <p:spPr>
          <a:xfrm>
            <a:off x="3311525" y="149225"/>
            <a:ext cx="2819400" cy="623888"/>
          </a:xfrm>
          <a:prstGeom prst="rect">
            <a:avLst/>
          </a:prstGeom>
          <a:noFill/>
          <a:ln w="9525">
            <a:noFill/>
          </a:ln>
        </p:spPr>
        <p:txBody>
          <a:bodyPr lIns="119951" tIns="59975" rIns="119951" bIns="59975" anchor="ctr"/>
          <a:lstStyle/>
          <a:p>
            <a:pPr marL="1200150" indent="-1200150" algn="ctr" defTabSz="0" eaLnBrk="0" hangingPunct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营销思路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574675" y="725488"/>
            <a:ext cx="14544675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62" name="直接连接符 8"/>
          <p:cNvCxnSpPr/>
          <p:nvPr/>
        </p:nvCxnSpPr>
        <p:spPr>
          <a:xfrm>
            <a:off x="3887788" y="29368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28</a:t>
            </a:fld>
            <a:endParaRPr lang="en-US" altLang="zh-CN" sz="1200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458" name="文本框 8"/>
          <p:cNvSpPr txBox="1"/>
          <p:nvPr/>
        </p:nvSpPr>
        <p:spPr>
          <a:xfrm>
            <a:off x="1150938" y="1733550"/>
            <a:ext cx="12961937" cy="47078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客户及营销体系：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主要目标客户有：养老院、医院、社区中心、民用市场、残联、新零售。</a:t>
            </a:r>
          </a:p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端，营销团队及体系正在规划搭建中。</a:t>
            </a:r>
          </a:p>
          <a:p>
            <a:pPr algn="l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、产品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：系列化、个性化定制、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5G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链接医疗中心中央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ERP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系统。做到及时收集数据传输遥控。</a:t>
            </a:r>
          </a:p>
          <a:p>
            <a:pPr algn="l"/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、价格：降低消费者进入门槛，以金融、租赁等多样化价格体系实现销售最大化。金融租赁：制定租赁、分期付款及投放方案。</a:t>
            </a:r>
          </a:p>
          <a:p>
            <a:pPr algn="l"/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、渠道：直销代理商并存。大力发展合伙人制度，运用互联网等新零售渠道多维度营销。</a:t>
            </a:r>
          </a:p>
          <a:p>
            <a:pPr algn="l"/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、服务：提高后市场服务质量。提高可持续性收入。</a:t>
            </a:r>
          </a:p>
          <a:p>
            <a:pPr algn="l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59" name="矩形 5"/>
          <p:cNvSpPr/>
          <p:nvPr/>
        </p:nvSpPr>
        <p:spPr>
          <a:xfrm>
            <a:off x="12888913" y="581025"/>
            <a:ext cx="2230437" cy="2889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0000" tIns="46800" rIns="90000" bIns="46800" anchor="t"/>
          <a:lstStyle/>
          <a:p>
            <a:pPr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标题 1"/>
          <p:cNvSpPr>
            <a:spLocks noGrp="1"/>
          </p:cNvSpPr>
          <p:nvPr/>
        </p:nvSpPr>
        <p:spPr>
          <a:xfrm>
            <a:off x="3311525" y="149225"/>
            <a:ext cx="2819400" cy="623888"/>
          </a:xfrm>
          <a:prstGeom prst="rect">
            <a:avLst/>
          </a:prstGeom>
          <a:noFill/>
          <a:ln w="9525">
            <a:noFill/>
          </a:ln>
        </p:spPr>
        <p:txBody>
          <a:bodyPr lIns="119951" tIns="59975" rIns="119951" bIns="59975" anchor="ctr"/>
          <a:lstStyle/>
          <a:p>
            <a:pPr marL="1200150" indent="-1200150" algn="ctr" defTabSz="0" eaLnBrk="0" hangingPunct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营销体系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574675" y="725488"/>
            <a:ext cx="14544675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62" name="直接连接符 8"/>
          <p:cNvCxnSpPr/>
          <p:nvPr/>
        </p:nvCxnSpPr>
        <p:spPr>
          <a:xfrm>
            <a:off x="3887788" y="29368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海姬尔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0" cstate="print"/>
          <a:stretch>
            <a:fillRect/>
          </a:stretch>
        </p:blipFill>
        <p:spPr>
          <a:xfrm>
            <a:off x="12749077" y="151166"/>
            <a:ext cx="2067099" cy="784316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570575" y="8119536"/>
            <a:ext cx="7312660" cy="3200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1490" kern="3000" spc="110">
                <a:solidFill>
                  <a:schemeClr val="bg1">
                    <a:lumMod val="50000"/>
                    <a:alpha val="60000"/>
                  </a:schemeClr>
                </a:solidFill>
                <a:uFillTx/>
                <a:sym typeface="+mn-ea"/>
              </a:rPr>
              <a:t>安徽海姬尔智能科技有限公司</a:t>
            </a:r>
            <a:r>
              <a:rPr lang="zh-CN" altLang="en-US" sz="1490" kern="3000">
                <a:solidFill>
                  <a:schemeClr val="bg1">
                    <a:lumMod val="50000"/>
                    <a:alpha val="60000"/>
                  </a:schemeClr>
                </a:solidFill>
                <a:uFillTx/>
                <a:sym typeface="+mn-ea"/>
              </a:rPr>
              <a:t>  </a:t>
            </a:r>
            <a:r>
              <a:rPr lang="zh-CN" altLang="en-US" sz="1490" kern="3000" spc="100">
                <a:solidFill>
                  <a:schemeClr val="bg1">
                    <a:lumMod val="50000"/>
                    <a:alpha val="60000"/>
                  </a:schemeClr>
                </a:solidFill>
                <a:uFillTx/>
                <a:sym typeface="+mn-ea"/>
              </a:rPr>
              <a:t>Anhui Hygeia intelligent technology Co., LTD.</a:t>
            </a:r>
          </a:p>
        </p:txBody>
      </p:sp>
      <p:sp>
        <p:nvSpPr>
          <p:cNvPr id="47" name="五边形 46"/>
          <p:cNvSpPr/>
          <p:nvPr>
            <p:custDataLst>
              <p:tags r:id="rId4"/>
            </p:custDataLst>
          </p:nvPr>
        </p:nvSpPr>
        <p:spPr>
          <a:xfrm>
            <a:off x="674071" y="781927"/>
            <a:ext cx="3995603" cy="108040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US" altLang="zh-CN" sz="397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Marketing model</a:t>
            </a:r>
          </a:p>
        </p:txBody>
      </p:sp>
      <p:sp>
        <p:nvSpPr>
          <p:cNvPr id="42" name="文本框 11"/>
          <p:cNvSpPr txBox="1"/>
          <p:nvPr>
            <p:custDataLst>
              <p:tags r:id="rId5"/>
            </p:custDataLst>
          </p:nvPr>
        </p:nvSpPr>
        <p:spPr>
          <a:xfrm>
            <a:off x="6176097" y="911859"/>
            <a:ext cx="3291608" cy="1466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Business</a:t>
            </a:r>
          </a:p>
          <a:p>
            <a:r>
              <a:rPr lang="en-US" altLang="zh-CN" sz="446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</a:p>
        </p:txBody>
      </p:sp>
      <p:sp>
        <p:nvSpPr>
          <p:cNvPr id="43" name="同心圆 42"/>
          <p:cNvSpPr/>
          <p:nvPr>
            <p:custDataLst>
              <p:tags r:id="rId6"/>
            </p:custDataLst>
          </p:nvPr>
        </p:nvSpPr>
        <p:spPr>
          <a:xfrm>
            <a:off x="587307" y="3827046"/>
            <a:ext cx="1945041" cy="1932442"/>
          </a:xfrm>
          <a:prstGeom prst="donut">
            <a:avLst>
              <a:gd name="adj" fmla="val 1526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tx1"/>
              </a:solidFill>
            </a:endParaRPr>
          </a:p>
        </p:txBody>
      </p:sp>
      <p:sp>
        <p:nvSpPr>
          <p:cNvPr id="44" name="同心圆 43"/>
          <p:cNvSpPr/>
          <p:nvPr>
            <p:custDataLst>
              <p:tags r:id="rId7"/>
            </p:custDataLst>
          </p:nvPr>
        </p:nvSpPr>
        <p:spPr>
          <a:xfrm>
            <a:off x="2994945" y="3741270"/>
            <a:ext cx="1983627" cy="1960791"/>
          </a:xfrm>
          <a:prstGeom prst="donut">
            <a:avLst>
              <a:gd name="adj" fmla="val 1526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tx1"/>
              </a:solidFill>
            </a:endParaRPr>
          </a:p>
        </p:txBody>
      </p:sp>
      <p:sp>
        <p:nvSpPr>
          <p:cNvPr id="46" name="文本框 24"/>
          <p:cNvSpPr txBox="1"/>
          <p:nvPr>
            <p:custDataLst>
              <p:tags r:id="rId8"/>
            </p:custDataLst>
          </p:nvPr>
        </p:nvSpPr>
        <p:spPr>
          <a:xfrm>
            <a:off x="1026713" y="4259365"/>
            <a:ext cx="943610" cy="1008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975" b="1" dirty="0" smtClean="0"/>
              <a:t>公司</a:t>
            </a:r>
            <a:endParaRPr lang="en-US" altLang="zh-CN" sz="2975" b="1" dirty="0" smtClean="0"/>
          </a:p>
          <a:p>
            <a:pPr algn="l"/>
            <a:r>
              <a:rPr lang="zh-CN" altLang="en-US" sz="2975" b="1" dirty="0" smtClean="0"/>
              <a:t>直营</a:t>
            </a:r>
            <a:endParaRPr lang="zh-CN" altLang="en-US" sz="2975" b="1" dirty="0"/>
          </a:p>
        </p:txBody>
      </p:sp>
      <p:sp>
        <p:nvSpPr>
          <p:cNvPr id="53" name="文本框 26"/>
          <p:cNvSpPr txBox="1"/>
          <p:nvPr>
            <p:custDataLst>
              <p:tags r:id="rId9"/>
            </p:custDataLst>
          </p:nvPr>
        </p:nvSpPr>
        <p:spPr>
          <a:xfrm>
            <a:off x="3431988" y="4169652"/>
            <a:ext cx="939800" cy="1008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975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代理</a:t>
            </a:r>
            <a:endParaRPr lang="en-US" altLang="zh-CN" sz="2975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975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招商</a:t>
            </a:r>
            <a:endParaRPr lang="zh-CN" altLang="en-US" sz="297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同心圆 53"/>
          <p:cNvSpPr/>
          <p:nvPr>
            <p:custDataLst>
              <p:tags r:id="rId10"/>
            </p:custDataLst>
          </p:nvPr>
        </p:nvSpPr>
        <p:spPr>
          <a:xfrm>
            <a:off x="5382601" y="3757420"/>
            <a:ext cx="1979690" cy="1923780"/>
          </a:xfrm>
          <a:prstGeom prst="donut">
            <a:avLst>
              <a:gd name="adj" fmla="val 1526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tx1"/>
              </a:solidFill>
            </a:endParaRPr>
          </a:p>
        </p:txBody>
      </p:sp>
      <p:sp>
        <p:nvSpPr>
          <p:cNvPr id="55" name="文本框 28"/>
          <p:cNvSpPr txBox="1"/>
          <p:nvPr>
            <p:custDataLst>
              <p:tags r:id="rId11"/>
            </p:custDataLst>
          </p:nvPr>
        </p:nvSpPr>
        <p:spPr>
          <a:xfrm>
            <a:off x="5888155" y="4206276"/>
            <a:ext cx="939800" cy="1008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975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残联</a:t>
            </a:r>
            <a:endParaRPr lang="en-US" altLang="zh-CN" sz="2975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97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养老</a:t>
            </a:r>
          </a:p>
        </p:txBody>
      </p:sp>
      <p:sp>
        <p:nvSpPr>
          <p:cNvPr id="56" name="同心圆 55"/>
          <p:cNvSpPr/>
          <p:nvPr>
            <p:custDataLst>
              <p:tags r:id="rId12"/>
            </p:custDataLst>
          </p:nvPr>
        </p:nvSpPr>
        <p:spPr>
          <a:xfrm>
            <a:off x="5324059" y="357483"/>
            <a:ext cx="4223181" cy="2639587"/>
          </a:xfrm>
          <a:prstGeom prst="donut">
            <a:avLst>
              <a:gd name="adj" fmla="val 1634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tx1"/>
              </a:solidFill>
            </a:endParaRPr>
          </a:p>
        </p:txBody>
      </p:sp>
      <p:sp>
        <p:nvSpPr>
          <p:cNvPr id="57" name="圆角矩形 56"/>
          <p:cNvSpPr/>
          <p:nvPr>
            <p:custDataLst>
              <p:tags r:id="rId13"/>
            </p:custDataLst>
          </p:nvPr>
        </p:nvSpPr>
        <p:spPr>
          <a:xfrm>
            <a:off x="1365797" y="6094420"/>
            <a:ext cx="12393941" cy="1557069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58" name="文本框 640002"/>
          <p:cNvSpPr txBox="1"/>
          <p:nvPr>
            <p:custDataLst>
              <p:tags r:id="rId14"/>
            </p:custDataLst>
          </p:nvPr>
        </p:nvSpPr>
        <p:spPr>
          <a:xfrm>
            <a:off x="1470141" y="6305227"/>
            <a:ext cx="12272671" cy="10090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</a:pPr>
            <a:r>
              <a:rPr lang="zh-CN" altLang="en-US" sz="1985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●</a:t>
            </a:r>
            <a:r>
              <a:rPr lang="zh-CN" altLang="en-US" sz="1985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通过与政府合作，充分利用国家政策，减少前期工作难度。 </a:t>
            </a:r>
            <a:r>
              <a:rPr lang="zh-CN" altLang="en-US" sz="1985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●</a:t>
            </a:r>
            <a:r>
              <a:rPr lang="zh-CN" altLang="en-US" sz="1985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利用代理商的资源和渠道，可迅速占领市场。</a:t>
            </a:r>
            <a:r>
              <a:rPr lang="zh-CN" altLang="en-US" sz="1985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●</a:t>
            </a:r>
            <a:r>
              <a:rPr lang="zh-CN" altLang="en-US" sz="1985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通过与银行等金融机构合作，开展租赁和投放业务。 </a:t>
            </a:r>
            <a:r>
              <a:rPr lang="zh-CN" altLang="en-US" sz="1985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●</a:t>
            </a:r>
            <a:r>
              <a:rPr lang="zh-CN" altLang="en-US" sz="1985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通过与投资养老和医疗机构的集团合作，打入高端养老和养老市场。</a:t>
            </a:r>
            <a:r>
              <a:rPr lang="zh-CN" altLang="en-US" sz="1985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●</a:t>
            </a:r>
            <a:r>
              <a:rPr lang="zh-CN" altLang="en-US" sz="1985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通过参加展会，扩大公司知名度，同时可开展会销。</a:t>
            </a:r>
            <a:endParaRPr lang="en-US" altLang="zh-CN" sz="1985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同心圆 58"/>
          <p:cNvSpPr/>
          <p:nvPr>
            <p:custDataLst>
              <p:tags r:id="rId15"/>
            </p:custDataLst>
          </p:nvPr>
        </p:nvSpPr>
        <p:spPr>
          <a:xfrm>
            <a:off x="7670248" y="3777166"/>
            <a:ext cx="1979690" cy="1923780"/>
          </a:xfrm>
          <a:prstGeom prst="donut">
            <a:avLst>
              <a:gd name="adj" fmla="val 1526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tx1"/>
              </a:solidFill>
            </a:endParaRPr>
          </a:p>
        </p:txBody>
      </p:sp>
      <p:sp>
        <p:nvSpPr>
          <p:cNvPr id="60" name="文本框 28"/>
          <p:cNvSpPr txBox="1"/>
          <p:nvPr>
            <p:custDataLst>
              <p:tags r:id="rId16"/>
            </p:custDataLst>
          </p:nvPr>
        </p:nvSpPr>
        <p:spPr>
          <a:xfrm>
            <a:off x="8175801" y="4226022"/>
            <a:ext cx="939800" cy="1008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975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共享</a:t>
            </a:r>
            <a:endParaRPr lang="en-US" altLang="zh-CN" sz="2975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975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租赁</a:t>
            </a:r>
            <a:endParaRPr lang="zh-CN" altLang="en-US" sz="297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同心圆 60"/>
          <p:cNvSpPr/>
          <p:nvPr>
            <p:custDataLst>
              <p:tags r:id="rId17"/>
            </p:custDataLst>
          </p:nvPr>
        </p:nvSpPr>
        <p:spPr>
          <a:xfrm>
            <a:off x="10008670" y="3746135"/>
            <a:ext cx="1979690" cy="1923780"/>
          </a:xfrm>
          <a:prstGeom prst="donut">
            <a:avLst>
              <a:gd name="adj" fmla="val 1526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tx1"/>
              </a:solidFill>
            </a:endParaRPr>
          </a:p>
        </p:txBody>
      </p:sp>
      <p:sp>
        <p:nvSpPr>
          <p:cNvPr id="62" name="文本框 28"/>
          <p:cNvSpPr txBox="1"/>
          <p:nvPr>
            <p:custDataLst>
              <p:tags r:id="rId18"/>
            </p:custDataLst>
          </p:nvPr>
        </p:nvSpPr>
        <p:spPr>
          <a:xfrm>
            <a:off x="10514223" y="4194991"/>
            <a:ext cx="939800" cy="1008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975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展会</a:t>
            </a:r>
            <a:endParaRPr lang="en-US" altLang="zh-CN" sz="2975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975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会销</a:t>
            </a:r>
            <a:endParaRPr lang="zh-CN" altLang="en-US" sz="297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>
            <p:custDataLst>
              <p:tags r:id="rId19"/>
            </p:custDataLst>
          </p:nvPr>
        </p:nvSpPr>
        <p:spPr>
          <a:xfrm>
            <a:off x="1404744" y="2997210"/>
            <a:ext cx="11965724" cy="3215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4" name="下箭头 63"/>
          <p:cNvSpPr/>
          <p:nvPr>
            <p:custDataLst>
              <p:tags r:id="rId20"/>
            </p:custDataLst>
          </p:nvPr>
        </p:nvSpPr>
        <p:spPr>
          <a:xfrm flipH="1">
            <a:off x="1218571" y="3217230"/>
            <a:ext cx="727763" cy="541587"/>
          </a:xfrm>
          <a:prstGeom prst="downArrow">
            <a:avLst>
              <a:gd name="adj1" fmla="val 50000"/>
              <a:gd name="adj2" fmla="val 5357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5" name="下箭头 64"/>
          <p:cNvSpPr/>
          <p:nvPr>
            <p:custDataLst>
              <p:tags r:id="rId21"/>
            </p:custDataLst>
          </p:nvPr>
        </p:nvSpPr>
        <p:spPr>
          <a:xfrm flipH="1">
            <a:off x="3624692" y="3169276"/>
            <a:ext cx="727763" cy="541587"/>
          </a:xfrm>
          <a:prstGeom prst="downArrow">
            <a:avLst>
              <a:gd name="adj1" fmla="val 50000"/>
              <a:gd name="adj2" fmla="val 5357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6" name="下箭头 65"/>
          <p:cNvSpPr/>
          <p:nvPr>
            <p:custDataLst>
              <p:tags r:id="rId22"/>
            </p:custDataLst>
          </p:nvPr>
        </p:nvSpPr>
        <p:spPr>
          <a:xfrm flipH="1">
            <a:off x="5943368" y="3203125"/>
            <a:ext cx="727763" cy="541587"/>
          </a:xfrm>
          <a:prstGeom prst="downArrow">
            <a:avLst>
              <a:gd name="adj1" fmla="val 50000"/>
              <a:gd name="adj2" fmla="val 5357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7" name="下箭头 66"/>
          <p:cNvSpPr/>
          <p:nvPr>
            <p:custDataLst>
              <p:tags r:id="rId23"/>
            </p:custDataLst>
          </p:nvPr>
        </p:nvSpPr>
        <p:spPr>
          <a:xfrm flipH="1">
            <a:off x="8295894" y="3186201"/>
            <a:ext cx="727763" cy="541587"/>
          </a:xfrm>
          <a:prstGeom prst="downArrow">
            <a:avLst>
              <a:gd name="adj1" fmla="val 50000"/>
              <a:gd name="adj2" fmla="val 5357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8" name="下箭头 67"/>
          <p:cNvSpPr/>
          <p:nvPr>
            <p:custDataLst>
              <p:tags r:id="rId24"/>
            </p:custDataLst>
          </p:nvPr>
        </p:nvSpPr>
        <p:spPr>
          <a:xfrm flipH="1">
            <a:off x="10614570" y="3186202"/>
            <a:ext cx="727763" cy="541587"/>
          </a:xfrm>
          <a:prstGeom prst="downArrow">
            <a:avLst>
              <a:gd name="adj1" fmla="val 50000"/>
              <a:gd name="adj2" fmla="val 5357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9" name="同心圆 68"/>
          <p:cNvSpPr/>
          <p:nvPr>
            <p:custDataLst>
              <p:tags r:id="rId25"/>
            </p:custDataLst>
          </p:nvPr>
        </p:nvSpPr>
        <p:spPr>
          <a:xfrm>
            <a:off x="12211695" y="3732030"/>
            <a:ext cx="1979690" cy="1923780"/>
          </a:xfrm>
          <a:prstGeom prst="donut">
            <a:avLst>
              <a:gd name="adj" fmla="val 1526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tx1"/>
              </a:solidFill>
            </a:endParaRPr>
          </a:p>
        </p:txBody>
      </p:sp>
      <p:sp>
        <p:nvSpPr>
          <p:cNvPr id="70" name="文本框 28"/>
          <p:cNvSpPr txBox="1"/>
          <p:nvPr>
            <p:custDataLst>
              <p:tags r:id="rId26"/>
            </p:custDataLst>
          </p:nvPr>
        </p:nvSpPr>
        <p:spPr>
          <a:xfrm>
            <a:off x="12717248" y="4180886"/>
            <a:ext cx="939800" cy="1466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zh-CN" sz="2975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金融</a:t>
            </a:r>
          </a:p>
          <a:p>
            <a:pPr algn="l"/>
            <a:r>
              <a:rPr lang="zh-CN" altLang="zh-CN" sz="2975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机构</a:t>
            </a:r>
            <a:endParaRPr lang="en-US" altLang="zh-CN" sz="2975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97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下箭头 70"/>
          <p:cNvSpPr/>
          <p:nvPr>
            <p:custDataLst>
              <p:tags r:id="rId27"/>
            </p:custDataLst>
          </p:nvPr>
        </p:nvSpPr>
        <p:spPr>
          <a:xfrm flipH="1">
            <a:off x="12817595" y="3155175"/>
            <a:ext cx="727763" cy="541587"/>
          </a:xfrm>
          <a:prstGeom prst="downArrow">
            <a:avLst>
              <a:gd name="adj1" fmla="val 50000"/>
              <a:gd name="adj2" fmla="val 5357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logo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962" y="365986"/>
            <a:ext cx="1524534" cy="5512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497" y="365986"/>
            <a:ext cx="1482011" cy="5858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8" name="直接连接符 57"/>
          <p:cNvCxnSpPr/>
          <p:nvPr/>
        </p:nvCxnSpPr>
        <p:spPr>
          <a:xfrm>
            <a:off x="3503437" y="818779"/>
            <a:ext cx="11588352" cy="15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03437" y="861302"/>
            <a:ext cx="11600164" cy="31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 flipH="1">
            <a:off x="3503437" y="740820"/>
            <a:ext cx="195292" cy="1763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0" y="8337506"/>
            <a:ext cx="15152424" cy="151981"/>
          </a:xfrm>
          <a:prstGeom prst="rect">
            <a:avLst/>
          </a:prstGeom>
          <a:solidFill>
            <a:srgbClr val="2475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44935" y="8028819"/>
            <a:ext cx="4845365" cy="32130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88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Anhui HRG&amp;Hygeia intelligent technology Co., LTD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23337" y="173057"/>
            <a:ext cx="1967205" cy="62664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472" b="1" dirty="0">
                <a:solidFill>
                  <a:srgbClr val="28426F"/>
                </a:solidFill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盈利模式</a:t>
            </a:r>
          </a:p>
        </p:txBody>
      </p:sp>
      <p:sp>
        <p:nvSpPr>
          <p:cNvPr id="50" name="椭圆 49"/>
          <p:cNvSpPr/>
          <p:nvPr/>
        </p:nvSpPr>
        <p:spPr>
          <a:xfrm>
            <a:off x="6329817" y="3233997"/>
            <a:ext cx="2200204" cy="20648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zh-CN" altLang="en-US" sz="396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盈利</a:t>
            </a:r>
            <a:endParaRPr lang="en-US" altLang="zh-CN" sz="3968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396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en-US" altLang="zh-CN" sz="3968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 159"/>
          <p:cNvSpPr/>
          <p:nvPr/>
        </p:nvSpPr>
        <p:spPr>
          <a:xfrm rot="16200000">
            <a:off x="6901218" y="2613855"/>
            <a:ext cx="1025586" cy="234912"/>
          </a:xfrm>
          <a:custGeom>
            <a:avLst/>
            <a:gdLst>
              <a:gd name="connsiteX0" fmla="*/ 545178 w 812503"/>
              <a:gd name="connsiteY0" fmla="*/ 0 h 310097"/>
              <a:gd name="connsiteX1" fmla="*/ 812503 w 812503"/>
              <a:gd name="connsiteY1" fmla="*/ 155049 h 310097"/>
              <a:gd name="connsiteX2" fmla="*/ 545178 w 812503"/>
              <a:gd name="connsiteY2" fmla="*/ 310097 h 310097"/>
              <a:gd name="connsiteX3" fmla="*/ 545178 w 812503"/>
              <a:gd name="connsiteY3" fmla="*/ 212220 h 310097"/>
              <a:gd name="connsiteX4" fmla="*/ 0 w 812503"/>
              <a:gd name="connsiteY4" fmla="*/ 259590 h 310097"/>
              <a:gd name="connsiteX5" fmla="*/ 160832 w 812503"/>
              <a:gd name="connsiteY5" fmla="*/ 155049 h 310097"/>
              <a:gd name="connsiteX6" fmla="*/ 0 w 812503"/>
              <a:gd name="connsiteY6" fmla="*/ 50507 h 310097"/>
              <a:gd name="connsiteX7" fmla="*/ 545178 w 812503"/>
              <a:gd name="connsiteY7" fmla="*/ 97878 h 3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503" h="310097">
                <a:moveTo>
                  <a:pt x="545178" y="0"/>
                </a:moveTo>
                <a:lnTo>
                  <a:pt x="812503" y="155049"/>
                </a:lnTo>
                <a:lnTo>
                  <a:pt x="545178" y="310097"/>
                </a:lnTo>
                <a:lnTo>
                  <a:pt x="545178" y="212220"/>
                </a:lnTo>
                <a:lnTo>
                  <a:pt x="0" y="259590"/>
                </a:lnTo>
                <a:lnTo>
                  <a:pt x="160832" y="155049"/>
                </a:lnTo>
                <a:lnTo>
                  <a:pt x="0" y="50507"/>
                </a:lnTo>
                <a:lnTo>
                  <a:pt x="545178" y="978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6685235" y="1304588"/>
            <a:ext cx="1489370" cy="863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4" b="1" dirty="0"/>
              <a:t>护理床及附件销售</a:t>
            </a:r>
            <a:endParaRPr lang="zh-CN" altLang="en-US" sz="1984" b="1" dirty="0"/>
          </a:p>
        </p:txBody>
      </p:sp>
      <p:sp>
        <p:nvSpPr>
          <p:cNvPr id="53" name=" 159"/>
          <p:cNvSpPr/>
          <p:nvPr/>
        </p:nvSpPr>
        <p:spPr>
          <a:xfrm rot="5400000">
            <a:off x="7005329" y="5711272"/>
            <a:ext cx="959905" cy="178421"/>
          </a:xfrm>
          <a:custGeom>
            <a:avLst/>
            <a:gdLst>
              <a:gd name="connsiteX0" fmla="*/ 545178 w 812503"/>
              <a:gd name="connsiteY0" fmla="*/ 0 h 310097"/>
              <a:gd name="connsiteX1" fmla="*/ 812503 w 812503"/>
              <a:gd name="connsiteY1" fmla="*/ 155049 h 310097"/>
              <a:gd name="connsiteX2" fmla="*/ 545178 w 812503"/>
              <a:gd name="connsiteY2" fmla="*/ 310097 h 310097"/>
              <a:gd name="connsiteX3" fmla="*/ 545178 w 812503"/>
              <a:gd name="connsiteY3" fmla="*/ 212220 h 310097"/>
              <a:gd name="connsiteX4" fmla="*/ 0 w 812503"/>
              <a:gd name="connsiteY4" fmla="*/ 259590 h 310097"/>
              <a:gd name="connsiteX5" fmla="*/ 160832 w 812503"/>
              <a:gd name="connsiteY5" fmla="*/ 155049 h 310097"/>
              <a:gd name="connsiteX6" fmla="*/ 0 w 812503"/>
              <a:gd name="connsiteY6" fmla="*/ 50507 h 310097"/>
              <a:gd name="connsiteX7" fmla="*/ 545178 w 812503"/>
              <a:gd name="connsiteY7" fmla="*/ 97878 h 3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503" h="310097">
                <a:moveTo>
                  <a:pt x="545178" y="0"/>
                </a:moveTo>
                <a:lnTo>
                  <a:pt x="812503" y="155049"/>
                </a:lnTo>
                <a:lnTo>
                  <a:pt x="545178" y="310097"/>
                </a:lnTo>
                <a:lnTo>
                  <a:pt x="545178" y="212220"/>
                </a:lnTo>
                <a:lnTo>
                  <a:pt x="0" y="259590"/>
                </a:lnTo>
                <a:lnTo>
                  <a:pt x="160832" y="155049"/>
                </a:lnTo>
                <a:lnTo>
                  <a:pt x="0" y="50507"/>
                </a:lnTo>
                <a:lnTo>
                  <a:pt x="545178" y="978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6789604" y="6350953"/>
            <a:ext cx="1489370" cy="863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4" b="1" dirty="0"/>
              <a:t>产品租赁</a:t>
            </a:r>
            <a:endParaRPr lang="zh-CN" altLang="en-US" sz="1984" b="1" dirty="0"/>
          </a:p>
        </p:txBody>
      </p:sp>
      <p:sp>
        <p:nvSpPr>
          <p:cNvPr id="55" name=" 159"/>
          <p:cNvSpPr/>
          <p:nvPr/>
        </p:nvSpPr>
        <p:spPr>
          <a:xfrm rot="13380000">
            <a:off x="5592568" y="3242465"/>
            <a:ext cx="939942" cy="243163"/>
          </a:xfrm>
          <a:custGeom>
            <a:avLst/>
            <a:gdLst>
              <a:gd name="connsiteX0" fmla="*/ 545178 w 812503"/>
              <a:gd name="connsiteY0" fmla="*/ 0 h 310097"/>
              <a:gd name="connsiteX1" fmla="*/ 812503 w 812503"/>
              <a:gd name="connsiteY1" fmla="*/ 155049 h 310097"/>
              <a:gd name="connsiteX2" fmla="*/ 545178 w 812503"/>
              <a:gd name="connsiteY2" fmla="*/ 310097 h 310097"/>
              <a:gd name="connsiteX3" fmla="*/ 545178 w 812503"/>
              <a:gd name="connsiteY3" fmla="*/ 212220 h 310097"/>
              <a:gd name="connsiteX4" fmla="*/ 0 w 812503"/>
              <a:gd name="connsiteY4" fmla="*/ 259590 h 310097"/>
              <a:gd name="connsiteX5" fmla="*/ 160832 w 812503"/>
              <a:gd name="connsiteY5" fmla="*/ 155049 h 310097"/>
              <a:gd name="connsiteX6" fmla="*/ 0 w 812503"/>
              <a:gd name="connsiteY6" fmla="*/ 50507 h 310097"/>
              <a:gd name="connsiteX7" fmla="*/ 545178 w 812503"/>
              <a:gd name="connsiteY7" fmla="*/ 97878 h 3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503" h="310097">
                <a:moveTo>
                  <a:pt x="545178" y="0"/>
                </a:moveTo>
                <a:lnTo>
                  <a:pt x="812503" y="155049"/>
                </a:lnTo>
                <a:lnTo>
                  <a:pt x="545178" y="310097"/>
                </a:lnTo>
                <a:lnTo>
                  <a:pt x="545178" y="212220"/>
                </a:lnTo>
                <a:lnTo>
                  <a:pt x="0" y="259590"/>
                </a:lnTo>
                <a:lnTo>
                  <a:pt x="160832" y="155049"/>
                </a:lnTo>
                <a:lnTo>
                  <a:pt x="0" y="50507"/>
                </a:lnTo>
                <a:lnTo>
                  <a:pt x="545178" y="978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4166284" y="2238263"/>
            <a:ext cx="1489370" cy="863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4" b="1" dirty="0"/>
              <a:t>政府政策补贴</a:t>
            </a:r>
            <a:endParaRPr lang="zh-CN" altLang="en-US" sz="1984" b="1" dirty="0"/>
          </a:p>
        </p:txBody>
      </p:sp>
      <p:sp>
        <p:nvSpPr>
          <p:cNvPr id="2" name=" 159"/>
          <p:cNvSpPr/>
          <p:nvPr/>
        </p:nvSpPr>
        <p:spPr>
          <a:xfrm rot="18780000">
            <a:off x="8275998" y="3185770"/>
            <a:ext cx="1029992" cy="223456"/>
          </a:xfrm>
          <a:custGeom>
            <a:avLst/>
            <a:gdLst>
              <a:gd name="connsiteX0" fmla="*/ 545178 w 812503"/>
              <a:gd name="connsiteY0" fmla="*/ 0 h 310097"/>
              <a:gd name="connsiteX1" fmla="*/ 812503 w 812503"/>
              <a:gd name="connsiteY1" fmla="*/ 155049 h 310097"/>
              <a:gd name="connsiteX2" fmla="*/ 545178 w 812503"/>
              <a:gd name="connsiteY2" fmla="*/ 310097 h 310097"/>
              <a:gd name="connsiteX3" fmla="*/ 545178 w 812503"/>
              <a:gd name="connsiteY3" fmla="*/ 212220 h 310097"/>
              <a:gd name="connsiteX4" fmla="*/ 0 w 812503"/>
              <a:gd name="connsiteY4" fmla="*/ 259590 h 310097"/>
              <a:gd name="connsiteX5" fmla="*/ 160832 w 812503"/>
              <a:gd name="connsiteY5" fmla="*/ 155049 h 310097"/>
              <a:gd name="connsiteX6" fmla="*/ 0 w 812503"/>
              <a:gd name="connsiteY6" fmla="*/ 50507 h 310097"/>
              <a:gd name="connsiteX7" fmla="*/ 545178 w 812503"/>
              <a:gd name="connsiteY7" fmla="*/ 97878 h 3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503" h="310097">
                <a:moveTo>
                  <a:pt x="545178" y="0"/>
                </a:moveTo>
                <a:lnTo>
                  <a:pt x="812503" y="155049"/>
                </a:lnTo>
                <a:lnTo>
                  <a:pt x="545178" y="310097"/>
                </a:lnTo>
                <a:lnTo>
                  <a:pt x="545178" y="212220"/>
                </a:lnTo>
                <a:lnTo>
                  <a:pt x="0" y="259590"/>
                </a:lnTo>
                <a:lnTo>
                  <a:pt x="160832" y="155049"/>
                </a:lnTo>
                <a:lnTo>
                  <a:pt x="0" y="50507"/>
                </a:lnTo>
                <a:lnTo>
                  <a:pt x="545178" y="978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9192903" y="2170565"/>
            <a:ext cx="1489370" cy="863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4" b="1" dirty="0"/>
              <a:t>产品投放分成</a:t>
            </a:r>
            <a:endParaRPr lang="zh-CN" altLang="en-US" sz="1984" b="1" dirty="0"/>
          </a:p>
        </p:txBody>
      </p:sp>
      <p:sp>
        <p:nvSpPr>
          <p:cNvPr id="4" name=" 159"/>
          <p:cNvSpPr/>
          <p:nvPr/>
        </p:nvSpPr>
        <p:spPr>
          <a:xfrm rot="7920000" flipV="1">
            <a:off x="5485158" y="5169969"/>
            <a:ext cx="1149604" cy="242780"/>
          </a:xfrm>
          <a:custGeom>
            <a:avLst/>
            <a:gdLst>
              <a:gd name="connsiteX0" fmla="*/ 545178 w 812503"/>
              <a:gd name="connsiteY0" fmla="*/ 0 h 310097"/>
              <a:gd name="connsiteX1" fmla="*/ 812503 w 812503"/>
              <a:gd name="connsiteY1" fmla="*/ 155049 h 310097"/>
              <a:gd name="connsiteX2" fmla="*/ 545178 w 812503"/>
              <a:gd name="connsiteY2" fmla="*/ 310097 h 310097"/>
              <a:gd name="connsiteX3" fmla="*/ 545178 w 812503"/>
              <a:gd name="connsiteY3" fmla="*/ 212220 h 310097"/>
              <a:gd name="connsiteX4" fmla="*/ 0 w 812503"/>
              <a:gd name="connsiteY4" fmla="*/ 259590 h 310097"/>
              <a:gd name="connsiteX5" fmla="*/ 160832 w 812503"/>
              <a:gd name="connsiteY5" fmla="*/ 155049 h 310097"/>
              <a:gd name="connsiteX6" fmla="*/ 0 w 812503"/>
              <a:gd name="connsiteY6" fmla="*/ 50507 h 310097"/>
              <a:gd name="connsiteX7" fmla="*/ 545178 w 812503"/>
              <a:gd name="connsiteY7" fmla="*/ 97878 h 3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503" h="310097">
                <a:moveTo>
                  <a:pt x="545178" y="0"/>
                </a:moveTo>
                <a:lnTo>
                  <a:pt x="812503" y="155049"/>
                </a:lnTo>
                <a:lnTo>
                  <a:pt x="545178" y="310097"/>
                </a:lnTo>
                <a:lnTo>
                  <a:pt x="545178" y="212220"/>
                </a:lnTo>
                <a:lnTo>
                  <a:pt x="0" y="259590"/>
                </a:lnTo>
                <a:lnTo>
                  <a:pt x="160832" y="155049"/>
                </a:lnTo>
                <a:lnTo>
                  <a:pt x="0" y="50507"/>
                </a:lnTo>
                <a:lnTo>
                  <a:pt x="545178" y="978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4169105" y="5558316"/>
            <a:ext cx="1489370" cy="863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4" b="1" dirty="0"/>
              <a:t>产品后端增值服务</a:t>
            </a:r>
            <a:endParaRPr lang="zh-CN" altLang="en-US" sz="1984" b="1" dirty="0"/>
          </a:p>
        </p:txBody>
      </p:sp>
      <p:sp>
        <p:nvSpPr>
          <p:cNvPr id="63" name=" 159"/>
          <p:cNvSpPr/>
          <p:nvPr/>
        </p:nvSpPr>
        <p:spPr>
          <a:xfrm rot="2340000">
            <a:off x="8291687" y="5030382"/>
            <a:ext cx="997191" cy="200510"/>
          </a:xfrm>
          <a:custGeom>
            <a:avLst/>
            <a:gdLst>
              <a:gd name="connsiteX0" fmla="*/ 545178 w 812503"/>
              <a:gd name="connsiteY0" fmla="*/ 0 h 310097"/>
              <a:gd name="connsiteX1" fmla="*/ 812503 w 812503"/>
              <a:gd name="connsiteY1" fmla="*/ 155049 h 310097"/>
              <a:gd name="connsiteX2" fmla="*/ 545178 w 812503"/>
              <a:gd name="connsiteY2" fmla="*/ 310097 h 310097"/>
              <a:gd name="connsiteX3" fmla="*/ 545178 w 812503"/>
              <a:gd name="connsiteY3" fmla="*/ 212220 h 310097"/>
              <a:gd name="connsiteX4" fmla="*/ 0 w 812503"/>
              <a:gd name="connsiteY4" fmla="*/ 259590 h 310097"/>
              <a:gd name="connsiteX5" fmla="*/ 160832 w 812503"/>
              <a:gd name="connsiteY5" fmla="*/ 155049 h 310097"/>
              <a:gd name="connsiteX6" fmla="*/ 0 w 812503"/>
              <a:gd name="connsiteY6" fmla="*/ 50507 h 310097"/>
              <a:gd name="connsiteX7" fmla="*/ 545178 w 812503"/>
              <a:gd name="connsiteY7" fmla="*/ 97878 h 3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503" h="310097">
                <a:moveTo>
                  <a:pt x="545178" y="0"/>
                </a:moveTo>
                <a:lnTo>
                  <a:pt x="812503" y="155049"/>
                </a:lnTo>
                <a:lnTo>
                  <a:pt x="545178" y="310097"/>
                </a:lnTo>
                <a:lnTo>
                  <a:pt x="545178" y="212220"/>
                </a:lnTo>
                <a:lnTo>
                  <a:pt x="0" y="259590"/>
                </a:lnTo>
                <a:lnTo>
                  <a:pt x="160832" y="155049"/>
                </a:lnTo>
                <a:lnTo>
                  <a:pt x="0" y="50507"/>
                </a:lnTo>
                <a:lnTo>
                  <a:pt x="545178" y="978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094176" y="5473694"/>
            <a:ext cx="1489370" cy="863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4" b="1" dirty="0"/>
              <a:t>产品保养维护</a:t>
            </a:r>
            <a:endParaRPr lang="zh-CN" altLang="en-US" sz="1984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118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05" tIns="45702" rIns="91405" bIns="45702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195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lang="en-US" altLang="zh-CN" sz="1195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31</a:t>
            </a:fld>
            <a:endParaRPr lang="en-US" altLang="zh-CN" sz="1195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555" name="矩形 5"/>
          <p:cNvSpPr/>
          <p:nvPr/>
        </p:nvSpPr>
        <p:spPr>
          <a:xfrm>
            <a:off x="12886974" y="582362"/>
            <a:ext cx="2229625" cy="28882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89967" tIns="46782" rIns="89967" bIns="46782" anchor="t"/>
          <a:lstStyle/>
          <a:p>
            <a:pPr>
              <a:buSzTx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577216" y="726772"/>
            <a:ext cx="14539383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58" name="直接连接符 8"/>
          <p:cNvCxnSpPr/>
          <p:nvPr/>
        </p:nvCxnSpPr>
        <p:spPr>
          <a:xfrm>
            <a:off x="3889124" y="295129"/>
            <a:ext cx="0" cy="36023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标题 1"/>
          <p:cNvSpPr>
            <a:spLocks noGrp="1"/>
          </p:cNvSpPr>
          <p:nvPr/>
        </p:nvSpPr>
        <p:spPr>
          <a:xfrm>
            <a:off x="3312432" y="150755"/>
            <a:ext cx="2818584" cy="623707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行业分析 </a:t>
            </a: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3888329" y="294730"/>
            <a:ext cx="0" cy="3599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47" name="标题 1"/>
          <p:cNvSpPr>
            <a:spLocks noGrp="1"/>
          </p:cNvSpPr>
          <p:nvPr/>
        </p:nvSpPr>
        <p:spPr>
          <a:xfrm>
            <a:off x="7541126" y="162567"/>
            <a:ext cx="2818584" cy="623707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3469926" y="308248"/>
            <a:ext cx="2818584" cy="623707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7708068" y="91695"/>
            <a:ext cx="2818584" cy="623707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411" name="标题 1"/>
          <p:cNvSpPr>
            <a:spLocks noGrp="1"/>
          </p:cNvSpPr>
          <p:nvPr/>
        </p:nvSpPr>
        <p:spPr>
          <a:xfrm>
            <a:off x="5686148" y="885464"/>
            <a:ext cx="6776159" cy="983892"/>
          </a:xfrm>
          <a:prstGeom prst="rect">
            <a:avLst/>
          </a:prstGeom>
          <a:noFill/>
          <a:ln w="9525">
            <a:noFill/>
          </a:ln>
        </p:spPr>
        <p:txBody>
          <a:bodyPr lIns="119862" tIns="59929" rIns="119862" bIns="59929" anchor="ctr"/>
          <a:lstStyle/>
          <a:p>
            <a:pPr marL="1200150" marR="0" lvl="0" indent="-1200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 </a:t>
            </a:r>
            <a:r>
              <a:rPr kumimoji="0" lang="en-US" altLang="zh-CN" sz="3465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</a:t>
            </a:r>
            <a:endParaRPr kumimoji="0" lang="zh-CN" altLang="en-US" sz="3465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412" name="文本框 1"/>
          <p:cNvSpPr txBox="1"/>
          <p:nvPr/>
        </p:nvSpPr>
        <p:spPr>
          <a:xfrm>
            <a:off x="4761808" y="1952101"/>
            <a:ext cx="6814732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defTabSz="914400" eaLnBrk="0" hangingPunct="0">
              <a:lnSpc>
                <a:spcPct val="15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995" b="1" kern="1200" cap="none" spc="0" normalizeH="0" baseline="0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未来几年高端护理床行业规模预测（单位：亿元）</a:t>
            </a:r>
            <a:endParaRPr kumimoji="0" lang="zh-CN" altLang="en-US" sz="1995" kern="1200" cap="none" spc="0" normalizeH="0" baseline="0" noProof="1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3798" name="L 形 11"/>
          <p:cNvSpPr/>
          <p:nvPr/>
        </p:nvSpPr>
        <p:spPr bwMode="auto">
          <a:xfrm rot="5400000">
            <a:off x="2008630" y="4937583"/>
            <a:ext cx="1569026" cy="2610450"/>
          </a:xfrm>
          <a:custGeom>
            <a:avLst/>
            <a:gdLst>
              <a:gd name="T0" fmla="*/ 0 w 1265237"/>
              <a:gd name="T1" fmla="*/ 0 h 2105025"/>
              <a:gd name="T2" fmla="*/ 203830 w 1265237"/>
              <a:gd name="T3" fmla="*/ 0 h 2105025"/>
              <a:gd name="T4" fmla="*/ 203830 w 1265237"/>
              <a:gd name="T5" fmla="*/ 1901069 h 2105025"/>
              <a:gd name="T6" fmla="*/ 1265237 w 1265237"/>
              <a:gd name="T7" fmla="*/ 1901069 h 2105025"/>
              <a:gd name="T8" fmla="*/ 1265237 w 1265237"/>
              <a:gd name="T9" fmla="*/ 2105025 h 2105025"/>
              <a:gd name="T10" fmla="*/ 0 w 1265237"/>
              <a:gd name="T11" fmla="*/ 2105025 h 2105025"/>
              <a:gd name="T12" fmla="*/ 0 w 1265237"/>
              <a:gd name="T13" fmla="*/ 0 h 21050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5237" h="2105025">
                <a:moveTo>
                  <a:pt x="0" y="0"/>
                </a:moveTo>
                <a:lnTo>
                  <a:pt x="203830" y="0"/>
                </a:lnTo>
                <a:lnTo>
                  <a:pt x="203830" y="1901069"/>
                </a:lnTo>
                <a:lnTo>
                  <a:pt x="1265237" y="1901069"/>
                </a:lnTo>
                <a:lnTo>
                  <a:pt x="1265237" y="2105025"/>
                </a:lnTo>
                <a:lnTo>
                  <a:pt x="0" y="2105025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00"/>
          </a:p>
        </p:txBody>
      </p:sp>
      <p:sp>
        <p:nvSpPr>
          <p:cNvPr id="33799" name="等腰三角形 12"/>
          <p:cNvSpPr>
            <a:spLocks noChangeArrowheads="1"/>
          </p:cNvSpPr>
          <p:nvPr/>
        </p:nvSpPr>
        <p:spPr bwMode="auto">
          <a:xfrm>
            <a:off x="3659355" y="4745638"/>
            <a:ext cx="444918" cy="444918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zh-CN" altLang="en-US" sz="1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800" name="L 形 13"/>
          <p:cNvSpPr/>
          <p:nvPr/>
        </p:nvSpPr>
        <p:spPr bwMode="auto">
          <a:xfrm rot="5400000">
            <a:off x="4894694" y="4224926"/>
            <a:ext cx="1569026" cy="2610450"/>
          </a:xfrm>
          <a:custGeom>
            <a:avLst/>
            <a:gdLst>
              <a:gd name="T0" fmla="*/ 0 w 1265237"/>
              <a:gd name="T1" fmla="*/ 0 h 2105025"/>
              <a:gd name="T2" fmla="*/ 203830 w 1265237"/>
              <a:gd name="T3" fmla="*/ 0 h 2105025"/>
              <a:gd name="T4" fmla="*/ 203830 w 1265237"/>
              <a:gd name="T5" fmla="*/ 1901069 h 2105025"/>
              <a:gd name="T6" fmla="*/ 1265237 w 1265237"/>
              <a:gd name="T7" fmla="*/ 1901069 h 2105025"/>
              <a:gd name="T8" fmla="*/ 1265237 w 1265237"/>
              <a:gd name="T9" fmla="*/ 2105025 h 2105025"/>
              <a:gd name="T10" fmla="*/ 0 w 1265237"/>
              <a:gd name="T11" fmla="*/ 2105025 h 2105025"/>
              <a:gd name="T12" fmla="*/ 0 w 1265237"/>
              <a:gd name="T13" fmla="*/ 0 h 21050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5237" h="2105025">
                <a:moveTo>
                  <a:pt x="0" y="0"/>
                </a:moveTo>
                <a:lnTo>
                  <a:pt x="203830" y="0"/>
                </a:lnTo>
                <a:lnTo>
                  <a:pt x="203830" y="1901069"/>
                </a:lnTo>
                <a:lnTo>
                  <a:pt x="1265237" y="1901069"/>
                </a:lnTo>
                <a:lnTo>
                  <a:pt x="1265237" y="2105025"/>
                </a:lnTo>
                <a:lnTo>
                  <a:pt x="0" y="2105025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00"/>
          </a:p>
        </p:txBody>
      </p:sp>
      <p:sp>
        <p:nvSpPr>
          <p:cNvPr id="33801" name="等腰三角形 14"/>
          <p:cNvSpPr>
            <a:spLocks noChangeArrowheads="1"/>
          </p:cNvSpPr>
          <p:nvPr/>
        </p:nvSpPr>
        <p:spPr bwMode="auto">
          <a:xfrm>
            <a:off x="6545419" y="4031012"/>
            <a:ext cx="444918" cy="444918"/>
          </a:xfrm>
          <a:prstGeom prst="triangle">
            <a:avLst>
              <a:gd name="adj" fmla="val 10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zh-CN" altLang="en-US" sz="1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802" name="L 形 15"/>
          <p:cNvSpPr/>
          <p:nvPr/>
        </p:nvSpPr>
        <p:spPr bwMode="auto">
          <a:xfrm rot="5400000">
            <a:off x="7780757" y="3510300"/>
            <a:ext cx="1569027" cy="2610450"/>
          </a:xfrm>
          <a:custGeom>
            <a:avLst/>
            <a:gdLst>
              <a:gd name="T0" fmla="*/ 0 w 1265238"/>
              <a:gd name="T1" fmla="*/ 0 h 2105025"/>
              <a:gd name="T2" fmla="*/ 203830 w 1265238"/>
              <a:gd name="T3" fmla="*/ 0 h 2105025"/>
              <a:gd name="T4" fmla="*/ 203830 w 1265238"/>
              <a:gd name="T5" fmla="*/ 1901069 h 2105025"/>
              <a:gd name="T6" fmla="*/ 1265238 w 1265238"/>
              <a:gd name="T7" fmla="*/ 1901069 h 2105025"/>
              <a:gd name="T8" fmla="*/ 1265238 w 1265238"/>
              <a:gd name="T9" fmla="*/ 2105025 h 2105025"/>
              <a:gd name="T10" fmla="*/ 0 w 1265238"/>
              <a:gd name="T11" fmla="*/ 2105025 h 2105025"/>
              <a:gd name="T12" fmla="*/ 0 w 1265238"/>
              <a:gd name="T13" fmla="*/ 0 h 21050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5238" h="2105025">
                <a:moveTo>
                  <a:pt x="0" y="0"/>
                </a:moveTo>
                <a:lnTo>
                  <a:pt x="203830" y="0"/>
                </a:lnTo>
                <a:lnTo>
                  <a:pt x="203830" y="1901069"/>
                </a:lnTo>
                <a:lnTo>
                  <a:pt x="1265238" y="1901069"/>
                </a:lnTo>
                <a:lnTo>
                  <a:pt x="1265238" y="2105025"/>
                </a:lnTo>
                <a:lnTo>
                  <a:pt x="0" y="2105025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00"/>
          </a:p>
        </p:txBody>
      </p:sp>
      <p:sp>
        <p:nvSpPr>
          <p:cNvPr id="33803" name="等腰三角形 16"/>
          <p:cNvSpPr>
            <a:spLocks noChangeArrowheads="1"/>
          </p:cNvSpPr>
          <p:nvPr/>
        </p:nvSpPr>
        <p:spPr bwMode="auto">
          <a:xfrm>
            <a:off x="9431482" y="3316387"/>
            <a:ext cx="444918" cy="444918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zh-CN" altLang="en-US" sz="1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804" name="L 形 17"/>
          <p:cNvSpPr/>
          <p:nvPr/>
        </p:nvSpPr>
        <p:spPr bwMode="auto">
          <a:xfrm rot="5400000">
            <a:off x="10665836" y="2794690"/>
            <a:ext cx="1569026" cy="2612420"/>
          </a:xfrm>
          <a:custGeom>
            <a:avLst/>
            <a:gdLst>
              <a:gd name="T0" fmla="*/ 0 w 1265237"/>
              <a:gd name="T1" fmla="*/ 0 h 2106613"/>
              <a:gd name="T2" fmla="*/ 203830 w 1265237"/>
              <a:gd name="T3" fmla="*/ 0 h 2106613"/>
              <a:gd name="T4" fmla="*/ 203830 w 1265237"/>
              <a:gd name="T5" fmla="*/ 1902657 h 2106613"/>
              <a:gd name="T6" fmla="*/ 1265237 w 1265237"/>
              <a:gd name="T7" fmla="*/ 1902657 h 2106613"/>
              <a:gd name="T8" fmla="*/ 1265237 w 1265237"/>
              <a:gd name="T9" fmla="*/ 2106613 h 2106613"/>
              <a:gd name="T10" fmla="*/ 0 w 1265237"/>
              <a:gd name="T11" fmla="*/ 2106613 h 2106613"/>
              <a:gd name="T12" fmla="*/ 0 w 1265237"/>
              <a:gd name="T13" fmla="*/ 0 h 21066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5237" h="2106613">
                <a:moveTo>
                  <a:pt x="0" y="0"/>
                </a:moveTo>
                <a:lnTo>
                  <a:pt x="203830" y="0"/>
                </a:lnTo>
                <a:lnTo>
                  <a:pt x="203830" y="1902657"/>
                </a:lnTo>
                <a:lnTo>
                  <a:pt x="1265237" y="1902657"/>
                </a:lnTo>
                <a:lnTo>
                  <a:pt x="1265237" y="2106613"/>
                </a:lnTo>
                <a:lnTo>
                  <a:pt x="0" y="2106613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00"/>
          </a:p>
        </p:txBody>
      </p:sp>
      <p:sp>
        <p:nvSpPr>
          <p:cNvPr id="33809" name="TextBox 13"/>
          <p:cNvSpPr txBox="1">
            <a:spLocks noChangeArrowheads="1"/>
          </p:cNvSpPr>
          <p:nvPr/>
        </p:nvSpPr>
        <p:spPr bwMode="auto">
          <a:xfrm>
            <a:off x="1343417" y="6009521"/>
            <a:ext cx="2899845" cy="305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2020</a:t>
            </a:r>
            <a:r>
              <a:rPr lang="zh-CN" altLang="en-US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</a:t>
            </a:r>
          </a:p>
        </p:txBody>
      </p:sp>
      <p:sp>
        <p:nvSpPr>
          <p:cNvPr id="33811" name="TextBox 13"/>
          <p:cNvSpPr txBox="1">
            <a:spLocks noChangeArrowheads="1"/>
          </p:cNvSpPr>
          <p:nvPr/>
        </p:nvSpPr>
        <p:spPr bwMode="auto">
          <a:xfrm>
            <a:off x="4360200" y="5295290"/>
            <a:ext cx="2899845" cy="305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2021</a:t>
            </a:r>
            <a:r>
              <a:rPr lang="zh-CN" altLang="en-US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</a:t>
            </a:r>
          </a:p>
        </p:txBody>
      </p:sp>
      <p:sp>
        <p:nvSpPr>
          <p:cNvPr id="33813" name="TextBox 13"/>
          <p:cNvSpPr txBox="1">
            <a:spLocks noChangeArrowheads="1"/>
          </p:cNvSpPr>
          <p:nvPr/>
        </p:nvSpPr>
        <p:spPr bwMode="auto">
          <a:xfrm>
            <a:off x="7429350" y="4663347"/>
            <a:ext cx="2897875" cy="305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2022</a:t>
            </a:r>
            <a:r>
              <a:rPr lang="zh-CN" altLang="en-US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</a:t>
            </a:r>
          </a:p>
        </p:txBody>
      </p:sp>
      <p:sp>
        <p:nvSpPr>
          <p:cNvPr id="33815" name="TextBox 13"/>
          <p:cNvSpPr txBox="1">
            <a:spLocks noChangeArrowheads="1"/>
          </p:cNvSpPr>
          <p:nvPr/>
        </p:nvSpPr>
        <p:spPr bwMode="auto">
          <a:xfrm>
            <a:off x="10000427" y="4100703"/>
            <a:ext cx="2899843" cy="305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2023</a:t>
            </a:r>
            <a:r>
              <a:rPr lang="zh-CN" altLang="en-US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</a:t>
            </a:r>
          </a:p>
        </p:txBody>
      </p:sp>
      <p:sp>
        <p:nvSpPr>
          <p:cNvPr id="5" name="TextBox 13"/>
          <p:cNvSpPr txBox="1">
            <a:spLocks noChangeArrowheads="1"/>
          </p:cNvSpPr>
          <p:nvPr/>
        </p:nvSpPr>
        <p:spPr bwMode="auto">
          <a:xfrm>
            <a:off x="1459962" y="4967704"/>
            <a:ext cx="2899845" cy="305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100</a:t>
            </a:r>
          </a:p>
        </p:txBody>
      </p:sp>
      <p:sp>
        <p:nvSpPr>
          <p:cNvPr id="4" name="TextBox 13"/>
          <p:cNvSpPr txBox="1">
            <a:spLocks noChangeArrowheads="1"/>
          </p:cNvSpPr>
          <p:nvPr/>
        </p:nvSpPr>
        <p:spPr bwMode="auto">
          <a:xfrm>
            <a:off x="4374374" y="4170788"/>
            <a:ext cx="2899845" cy="305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150</a:t>
            </a:r>
            <a:endParaRPr lang="zh-CN" altLang="en-US" sz="1985" b="1">
              <a:solidFill>
                <a:srgbClr val="445469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13"/>
          <p:cNvSpPr txBox="1">
            <a:spLocks noChangeArrowheads="1"/>
          </p:cNvSpPr>
          <p:nvPr/>
        </p:nvSpPr>
        <p:spPr bwMode="auto">
          <a:xfrm>
            <a:off x="6984825" y="3456556"/>
            <a:ext cx="2899845" cy="305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200</a:t>
            </a: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10144139" y="2768311"/>
            <a:ext cx="2899845" cy="305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985" b="1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05" tIns="45702" rIns="91405" bIns="45702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195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lang="en-US" altLang="zh-CN" sz="1195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32</a:t>
            </a:fld>
            <a:endParaRPr lang="en-US" altLang="zh-CN" sz="1195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554" name="文本框 13"/>
          <p:cNvSpPr txBox="1"/>
          <p:nvPr/>
        </p:nvSpPr>
        <p:spPr>
          <a:xfrm>
            <a:off x="1008859" y="1239348"/>
            <a:ext cx="13173044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199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主要竞争优势</a:t>
            </a:r>
            <a:r>
              <a:rPr lang="en-US" altLang="zh-CN" sz="1995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sz="1995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555" name="矩形 5"/>
          <p:cNvSpPr/>
          <p:nvPr/>
        </p:nvSpPr>
        <p:spPr>
          <a:xfrm>
            <a:off x="12886974" y="582362"/>
            <a:ext cx="2229625" cy="28882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89967" tIns="46782" rIns="89967" bIns="46782" anchor="t"/>
          <a:lstStyle/>
          <a:p>
            <a:pPr>
              <a:buSzTx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577216" y="726772"/>
            <a:ext cx="14539383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58" name="直接连接符 8"/>
          <p:cNvCxnSpPr/>
          <p:nvPr/>
        </p:nvCxnSpPr>
        <p:spPr>
          <a:xfrm>
            <a:off x="3889124" y="295129"/>
            <a:ext cx="0" cy="36023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2072097" y="2917676"/>
            <a:ext cx="12109806" cy="2242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95" dirty="0"/>
              <a:t>产品优势：产品功能最全</a:t>
            </a:r>
            <a:r>
              <a:rPr lang="zh-CN" altLang="en-US" sz="2795" dirty="0" smtClean="0"/>
              <a:t>，解决市场痛点、智能化</a:t>
            </a:r>
            <a:r>
              <a:rPr lang="zh-CN" altLang="en-US" sz="2795" dirty="0"/>
              <a:t>程度最高，技术世界领先。</a:t>
            </a:r>
          </a:p>
          <a:p>
            <a:r>
              <a:rPr lang="zh-CN" altLang="en-US" sz="2795" dirty="0"/>
              <a:t>技术优势：研发团队强大，技术和理念先进，产品技术升级速度</a:t>
            </a:r>
            <a:r>
              <a:rPr lang="zh-CN" altLang="en-US" sz="2795" dirty="0" smtClean="0"/>
              <a:t>快</a:t>
            </a:r>
            <a:r>
              <a:rPr lang="en-US" altLang="zh-CN" sz="2795" dirty="0" smtClean="0"/>
              <a:t>.</a:t>
            </a:r>
            <a:endParaRPr lang="zh-CN" altLang="en-US" sz="2795" dirty="0"/>
          </a:p>
          <a:p>
            <a:r>
              <a:rPr lang="zh-CN" altLang="en-US" sz="2795" dirty="0"/>
              <a:t>知识产权：拥有自主</a:t>
            </a:r>
            <a:r>
              <a:rPr lang="zh-CN" altLang="en-US" sz="2795" dirty="0" smtClean="0"/>
              <a:t>知识产权</a:t>
            </a:r>
            <a:r>
              <a:rPr lang="en-US" altLang="zh-CN" sz="2795" dirty="0" smtClean="0"/>
              <a:t>.</a:t>
            </a:r>
            <a:endParaRPr lang="zh-CN" altLang="en-US" sz="2795" dirty="0"/>
          </a:p>
          <a:p>
            <a:r>
              <a:rPr lang="zh-CN" altLang="en-US" sz="2795" dirty="0"/>
              <a:t>经营团队：新成立的营销团队起点高、理念新、从业经验</a:t>
            </a:r>
            <a:r>
              <a:rPr lang="zh-CN" altLang="en-US" sz="2795" dirty="0" smtClean="0"/>
              <a:t>丰富</a:t>
            </a:r>
            <a:r>
              <a:rPr lang="en-US" altLang="zh-CN" sz="2795" dirty="0" smtClean="0"/>
              <a:t>.</a:t>
            </a:r>
            <a:endParaRPr lang="zh-CN" altLang="en-US" sz="2795" dirty="0"/>
          </a:p>
          <a:p>
            <a:endParaRPr lang="zh-CN" altLang="en-US" sz="2795" dirty="0"/>
          </a:p>
        </p:txBody>
      </p:sp>
      <p:sp>
        <p:nvSpPr>
          <p:cNvPr id="13" name="标题 1"/>
          <p:cNvSpPr>
            <a:spLocks noGrp="1"/>
          </p:cNvSpPr>
          <p:nvPr/>
        </p:nvSpPr>
        <p:spPr>
          <a:xfrm>
            <a:off x="3312432" y="150755"/>
            <a:ext cx="2818584" cy="623707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3888329" y="294730"/>
            <a:ext cx="0" cy="3599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47" name="标题 1"/>
          <p:cNvSpPr>
            <a:spLocks noGrp="1"/>
          </p:cNvSpPr>
          <p:nvPr/>
        </p:nvSpPr>
        <p:spPr>
          <a:xfrm>
            <a:off x="7541126" y="162567"/>
            <a:ext cx="2818584" cy="623707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3469926" y="308248"/>
            <a:ext cx="2818584" cy="623707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3386455" y="91440"/>
            <a:ext cx="2640965" cy="623570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竞争分析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r>
              <a:rPr lang="en-US" altLang="zh-CN" sz="1195" dirty="0">
                <a:solidFill>
                  <a:srgbClr val="7F7F7F"/>
                </a:solidFill>
                <a:ea typeface="微软雅黑" panose="020B0503020204020204" pitchFamily="34" charset="-122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lang="en-US" altLang="zh-CN" sz="1195" dirty="0">
                <a:solidFill>
                  <a:srgbClr val="7F7F7F"/>
                </a:solidFill>
                <a:ea typeface="微软雅黑" panose="020B0503020204020204" pitchFamily="34" charset="-122"/>
                <a:sym typeface="微软雅黑" panose="020B0503020204020204" pitchFamily="34" charset="-122"/>
              </a:rPr>
              <a:t>33</a:t>
            </a:fld>
            <a:endParaRPr lang="en-US" altLang="zh-CN" sz="1195" dirty="0">
              <a:solidFill>
                <a:srgbClr val="7F7F7F"/>
              </a:solidFill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655" name="文本框 7"/>
          <p:cNvSpPr txBox="1"/>
          <p:nvPr/>
        </p:nvSpPr>
        <p:spPr>
          <a:xfrm>
            <a:off x="1296577" y="1795857"/>
            <a:ext cx="12526514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99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政策环境风险分析</a:t>
            </a:r>
            <a:r>
              <a:rPr lang="zh-CN" altLang="en-US" sz="1995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endParaRPr lang="en-US" altLang="zh-CN" sz="1995" b="1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安徽海姬尔智能科技有限公司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所处</a:t>
            </a:r>
            <a:r>
              <a:rPr lang="zh-CN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的智慧养老、医疗器械、服务机器人、物联应用以及智能设备等，均属于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国家发改委、科技部、工信</a:t>
            </a:r>
            <a:r>
              <a:rPr lang="zh-CN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部、商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务部、国家知识产权局联合发布的《当前优先发展的高技术产业化重点领域指南》范畴。国家对此类领域的认可对公司后期快速健康发展意义重大。</a:t>
            </a:r>
          </a:p>
          <a:p>
            <a:pPr>
              <a:lnSpc>
                <a:spcPct val="150000"/>
              </a:lnSpc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随着我国社会老年化的快速发展，国内人力成本的快速提高，助老助残类的智能设备将成刚需，市场前景巨大。</a:t>
            </a:r>
          </a:p>
          <a:p>
            <a:pPr>
              <a:lnSpc>
                <a:spcPct val="150000"/>
              </a:lnSpc>
            </a:pPr>
            <a:r>
              <a:rPr lang="en-US" altLang="zh-CN" sz="1995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如发生战争疫情等不可抗因素，会对这一市场造成巨大冲击。</a:t>
            </a:r>
          </a:p>
        </p:txBody>
      </p:sp>
      <p:sp>
        <p:nvSpPr>
          <p:cNvPr id="27656" name="文本框 10"/>
          <p:cNvSpPr txBox="1"/>
          <p:nvPr/>
        </p:nvSpPr>
        <p:spPr>
          <a:xfrm>
            <a:off x="1403861" y="4901060"/>
            <a:ext cx="12310677" cy="2214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99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经营管理风险分析</a:t>
            </a:r>
            <a:r>
              <a:rPr lang="zh-CN" altLang="en-US" sz="1995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99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制定完善的内部</a:t>
            </a:r>
            <a:r>
              <a:rPr lang="zh-CN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r>
              <a:rPr lang="zh-CN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规范人员安全行为，增强安全防范意识，提高风险保护能力；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制定项目建设安全保障体系，明确角色与责任，建立责任制、追溯体系、监督检查等机制；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建立强健的安全技术保障体系，保证该项目安全、平稳、高效的运行。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公司计划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4~5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年内股改上市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，规范经验管理，规避相关风险。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12886726" y="582678"/>
            <a:ext cx="2230438" cy="2879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89973" tIns="46785" rIns="89973" bIns="46785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3629025" y="103505"/>
            <a:ext cx="2197100" cy="623570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</a:t>
            </a:r>
            <a:r>
              <a:rPr lang="zh-CN" altLang="en-US" sz="2400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风险</a:t>
            </a:r>
            <a:r>
              <a:rPr lang="zh-CN" altLang="en-US" sz="2400" dirty="0" smtClean="0">
                <a:solidFill>
                  <a:srgbClr val="0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分析</a:t>
            </a:r>
            <a:endParaRPr lang="zh-CN" altLang="en-US" sz="2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576919" y="726652"/>
            <a:ext cx="14540244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>
            <a:off x="3888329" y="294730"/>
            <a:ext cx="0" cy="3599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34</a:t>
            </a:fld>
            <a:endParaRPr lang="en-US" altLang="zh-CN" sz="1200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530" name="文本框 10"/>
          <p:cNvSpPr txBox="1"/>
          <p:nvPr/>
        </p:nvSpPr>
        <p:spPr>
          <a:xfrm>
            <a:off x="1222375" y="1228725"/>
            <a:ext cx="1238567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企业的市场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定位：让方便 更方便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</p:txBody>
      </p:sp>
      <p:sp>
        <p:nvSpPr>
          <p:cNvPr id="22531" name="矩形 5"/>
          <p:cNvSpPr/>
          <p:nvPr/>
        </p:nvSpPr>
        <p:spPr>
          <a:xfrm>
            <a:off x="12888913" y="581025"/>
            <a:ext cx="2230437" cy="2889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0000" tIns="46800" rIns="90000" bIns="46800" anchor="t"/>
          <a:lstStyle/>
          <a:p>
            <a:pPr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标题 1"/>
          <p:cNvSpPr>
            <a:spLocks noGrp="1"/>
          </p:cNvSpPr>
          <p:nvPr/>
        </p:nvSpPr>
        <p:spPr>
          <a:xfrm>
            <a:off x="3311525" y="149225"/>
            <a:ext cx="2819400" cy="623888"/>
          </a:xfrm>
          <a:prstGeom prst="rect">
            <a:avLst/>
          </a:prstGeom>
          <a:noFill/>
          <a:ln w="9525">
            <a:noFill/>
          </a:ln>
        </p:spPr>
        <p:txBody>
          <a:bodyPr lIns="119951" tIns="59975" rIns="119951" bIns="59975" anchor="ctr"/>
          <a:lstStyle/>
          <a:p>
            <a:pPr marL="1200150" indent="-1200150" algn="ctr" defTabSz="0" eaLnBrk="0" hangingPunct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竞争分析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574675" y="725488"/>
            <a:ext cx="14544675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34" name="直接连接符 8"/>
          <p:cNvCxnSpPr/>
          <p:nvPr/>
        </p:nvCxnSpPr>
        <p:spPr>
          <a:xfrm>
            <a:off x="3887788" y="29368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3364865" y="2701925"/>
            <a:ext cx="100272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公司市场</a:t>
            </a:r>
            <a:r>
              <a:rPr lang="en-US" altLang="zh-CN" sz="2400" dirty="0"/>
              <a:t>2020</a:t>
            </a:r>
            <a:r>
              <a:rPr lang="zh-CN" altLang="en-US" sz="2400" dirty="0"/>
              <a:t>正式启动，定位国内</a:t>
            </a:r>
            <a:r>
              <a:rPr lang="zh-CN" altLang="en-US" sz="2400" dirty="0" smtClean="0"/>
              <a:t>最智能的</a:t>
            </a:r>
            <a:r>
              <a:rPr lang="zh-CN" altLang="en-US" sz="2400" dirty="0"/>
              <a:t>护理床。在本行业的高端产品市场形成有较大的影响力品牌。</a:t>
            </a:r>
          </a:p>
          <a:p>
            <a:r>
              <a:rPr lang="zh-CN" altLang="en-US" sz="2400" dirty="0"/>
              <a:t>公司目标：做全球智能床领域领导</a:t>
            </a:r>
            <a:r>
              <a:rPr lang="zh-CN" altLang="en-US" sz="2400" dirty="0" smtClean="0"/>
              <a:t>品牌。</a:t>
            </a:r>
            <a:endParaRPr lang="zh-CN" altLang="en-US" sz="2400" dirty="0"/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05" tIns="45702" rIns="91405" bIns="45702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195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lang="en-US" altLang="zh-CN" sz="1195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35</a:t>
            </a:fld>
            <a:endParaRPr lang="en-US" altLang="zh-CN" sz="1195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626" name="文本框 8"/>
          <p:cNvSpPr txBox="1"/>
          <p:nvPr/>
        </p:nvSpPr>
        <p:spPr>
          <a:xfrm>
            <a:off x="4255703" y="1444061"/>
            <a:ext cx="6607945" cy="553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zh-CN" altLang="en-US" sz="199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盈利预期（未来三年）</a:t>
            </a:r>
          </a:p>
        </p:txBody>
      </p:sp>
      <p:sp>
        <p:nvSpPr>
          <p:cNvPr id="26627" name="文本框 9"/>
          <p:cNvSpPr txBox="1"/>
          <p:nvPr/>
        </p:nvSpPr>
        <p:spPr>
          <a:xfrm>
            <a:off x="6334571" y="4075178"/>
            <a:ext cx="2434339" cy="5530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zh-CN" altLang="en-US" sz="199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盈利预期分析</a:t>
            </a:r>
            <a:r>
              <a:rPr lang="zh-CN" altLang="en-US" sz="1995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endParaRPr lang="zh-CN" altLang="en-US" sz="199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2454106"/>
              </p:ext>
            </p:extLst>
          </p:nvPr>
        </p:nvGraphicFramePr>
        <p:xfrm>
          <a:off x="1797561" y="2177219"/>
          <a:ext cx="11372215" cy="168148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046095"/>
                <a:gridCol w="2776220"/>
                <a:gridCol w="2774950"/>
                <a:gridCol w="2774950"/>
              </a:tblGrid>
              <a:tr h="420370">
                <a:tc gridSpan="4">
                  <a:txBody>
                    <a:bodyPr/>
                    <a:lstStyle/>
                    <a:p>
                      <a:pPr marL="6350" indent="-6350"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单位：万元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370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</a:t>
                      </a:r>
                      <a:r>
                        <a:rPr lang="en-US" altLang="zh-CN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</a:t>
                      </a:r>
                      <a:r>
                        <a:rPr lang="en-US" altLang="zh-CN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2023</a:t>
                      </a:r>
                      <a:endParaRPr lang="en-US" alt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420370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营业收入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3000</a:t>
                      </a: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5000</a:t>
                      </a:r>
                      <a:endParaRPr lang="en-US" alt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10000</a:t>
                      </a:r>
                      <a:endParaRPr lang="en-US" alt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370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净利润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1200</a:t>
                      </a:r>
                      <a:endParaRPr lang="en-US" alt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1500</a:t>
                      </a:r>
                      <a:endParaRPr lang="en-US" alt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3800</a:t>
                      </a:r>
                    </a:p>
                  </a:txBody>
                  <a:tcPr marL="68556" marR="6855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652" name="矩形 3"/>
          <p:cNvSpPr/>
          <p:nvPr/>
        </p:nvSpPr>
        <p:spPr>
          <a:xfrm>
            <a:off x="5004731" y="4646470"/>
            <a:ext cx="3207929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en-US" altLang="zh-CN" sz="1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2021-2023</a:t>
            </a:r>
            <a:r>
              <a:rPr lang="zh-CN" altLang="zh-CN" sz="1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收入构成如：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858214"/>
              </p:ext>
            </p:extLst>
          </p:nvPr>
        </p:nvGraphicFramePr>
        <p:xfrm>
          <a:off x="1858814" y="5089855"/>
          <a:ext cx="11384915" cy="3142615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95375"/>
                <a:gridCol w="1301750"/>
                <a:gridCol w="1292860"/>
                <a:gridCol w="1254125"/>
                <a:gridCol w="1156335"/>
                <a:gridCol w="1369060"/>
                <a:gridCol w="1306830"/>
                <a:gridCol w="1303655"/>
                <a:gridCol w="1304925"/>
              </a:tblGrid>
              <a:tr h="523875">
                <a:tc gridSpan="9">
                  <a:txBody>
                    <a:bodyPr/>
                    <a:lstStyle/>
                    <a:p>
                      <a:pPr marL="6350" indent="-6350"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单位：万元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1061085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产品收入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整体毛利率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</a:t>
                      </a:r>
                      <a:r>
                        <a:rPr lang="zh-CN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费用</a:t>
                      </a:r>
                      <a:endParaRPr lang="en-US" altLang="zh-CN" sz="1800" kern="100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应纳税所得额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所得税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净利润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</a:t>
                      </a:r>
                      <a:r>
                        <a:rPr lang="en-US" altLang="zh-CN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3000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40</a:t>
                      </a: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680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520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130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1200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</a:t>
                      </a:r>
                      <a:r>
                        <a:rPr lang="en-US" altLang="zh-CN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</a:t>
                      </a:r>
                      <a:r>
                        <a:rPr lang="en-US" sz="1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38</a:t>
                      </a: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1133.33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2666.67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666.67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15</a:t>
                      </a:r>
                      <a:r>
                        <a:rPr lang="en-US" sz="1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kern="1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2023</a:t>
                      </a:r>
                      <a:endParaRPr lang="en-US" altLang="zh-CN" sz="18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59" marR="6855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  <a:r>
                        <a:rPr lang="en-US" altLang="en-US" sz="1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0000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35</a:t>
                      </a: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1933.33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5066.67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1266.67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3800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694" marR="12694" marT="12694" marB="457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707" name="矩形 9"/>
          <p:cNvSpPr/>
          <p:nvPr/>
        </p:nvSpPr>
        <p:spPr>
          <a:xfrm>
            <a:off x="12886974" y="582362"/>
            <a:ext cx="2229625" cy="28882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89967" tIns="46782" rIns="89967" bIns="46782" anchor="t"/>
          <a:lstStyle/>
          <a:p>
            <a:pPr>
              <a:buSzTx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708" name="标题 1"/>
          <p:cNvSpPr>
            <a:spLocks noGrp="1"/>
          </p:cNvSpPr>
          <p:nvPr/>
        </p:nvSpPr>
        <p:spPr>
          <a:xfrm>
            <a:off x="3442970" y="163830"/>
            <a:ext cx="2892425" cy="623570"/>
          </a:xfrm>
          <a:prstGeom prst="rect">
            <a:avLst/>
          </a:prstGeom>
          <a:noFill/>
          <a:ln w="9525">
            <a:noFill/>
          </a:ln>
        </p:spPr>
        <p:txBody>
          <a:bodyPr lIns="119906" tIns="59952" rIns="119906" bIns="59952" anchor="ctr"/>
          <a:lstStyle/>
          <a:p>
            <a:pPr marL="1200150" indent="-1200150" algn="ctr" defTabSz="0" eaLnBrk="0" hangingPunct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财务分析</a:t>
            </a:r>
          </a:p>
        </p:txBody>
      </p:sp>
      <p:cxnSp>
        <p:nvCxnSpPr>
          <p:cNvPr id="12" name="直接连接符 11"/>
          <p:cNvCxnSpPr/>
          <p:nvPr/>
        </p:nvCxnSpPr>
        <p:spPr bwMode="auto">
          <a:xfrm>
            <a:off x="577216" y="726772"/>
            <a:ext cx="14539383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710" name="直接连接符 12"/>
          <p:cNvCxnSpPr/>
          <p:nvPr/>
        </p:nvCxnSpPr>
        <p:spPr>
          <a:xfrm>
            <a:off x="3889124" y="295129"/>
            <a:ext cx="0" cy="36023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36</a:t>
            </a:fld>
            <a:endParaRPr lang="en-US" altLang="zh-CN" sz="1200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650" name="矩形 5"/>
          <p:cNvSpPr/>
          <p:nvPr/>
        </p:nvSpPr>
        <p:spPr>
          <a:xfrm>
            <a:off x="12888913" y="581025"/>
            <a:ext cx="2230437" cy="2889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0000" tIns="46800" rIns="90000" bIns="46800" anchor="t"/>
          <a:lstStyle/>
          <a:p>
            <a:pPr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标题 1"/>
          <p:cNvSpPr>
            <a:spLocks noGrp="1"/>
          </p:cNvSpPr>
          <p:nvPr/>
        </p:nvSpPr>
        <p:spPr>
          <a:xfrm>
            <a:off x="3887788" y="149225"/>
            <a:ext cx="6264275" cy="623888"/>
          </a:xfrm>
          <a:prstGeom prst="rect">
            <a:avLst/>
          </a:prstGeom>
          <a:noFill/>
          <a:ln w="9525">
            <a:noFill/>
          </a:ln>
        </p:spPr>
        <p:txBody>
          <a:bodyPr lIns="119951" tIns="59975" rIns="119951" bIns="59975" anchor="ctr"/>
          <a:lstStyle/>
          <a:p>
            <a:pPr marL="1200150" indent="-1200150" defTabSz="0" eaLnBrk="0" hangingPunct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公司发展战略及未来发展规划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574675" y="725488"/>
            <a:ext cx="14544675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53" name="直接连接符 8"/>
          <p:cNvCxnSpPr/>
          <p:nvPr/>
        </p:nvCxnSpPr>
        <p:spPr>
          <a:xfrm>
            <a:off x="3887788" y="29368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654" name="标题 1"/>
          <p:cNvSpPr>
            <a:spLocks noGrp="1"/>
          </p:cNvSpPr>
          <p:nvPr/>
        </p:nvSpPr>
        <p:spPr>
          <a:xfrm>
            <a:off x="568325" y="830580"/>
            <a:ext cx="14188440" cy="5111115"/>
          </a:xfrm>
          <a:prstGeom prst="rect">
            <a:avLst/>
          </a:prstGeom>
          <a:noFill/>
          <a:ln w="9525">
            <a:noFill/>
          </a:ln>
        </p:spPr>
        <p:txBody>
          <a:bodyPr lIns="119951" tIns="59975" rIns="119951" bIns="59975" anchor="ctr"/>
          <a:lstStyle/>
          <a:p>
            <a:pPr marL="1200150" indent="-1200150" defTabSz="0" eaLnBrk="0" hangingPunct="0"/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发展战略及未来发展规划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</a:p>
          <a:p>
            <a:pPr marL="1200150" indent="-1200150" defTabSz="0" eaLnBrk="0" hangingPunct="0"/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</a:t>
            </a:r>
          </a:p>
          <a:p>
            <a:pPr marL="1200150" indent="-1200150" defTabSz="0" eaLnBrk="0" hangingPunct="0"/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1200150" indent="-1200150" defTabSz="0" eaLnBrk="0" hangingPunct="0"/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公司战略：寡头战略，通过护城河的打造，不断完善智能医疗床细分领域产品线，丰富康复医疗领域      的产品线，做智能康复领域的领军企业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.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1200150" indent="-1200150" defTabSz="0" eaLnBrk="0" hangingPunct="0"/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发展规划：三年过亿，</a:t>
            </a:r>
            <a:r>
              <a:rPr lang="zh-CN" altLang="en-US" sz="2400" b="1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五年上市</a:t>
            </a: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lang="en-US" altLang="zh-CN" sz="1200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37</a:t>
            </a:fld>
            <a:endParaRPr lang="en-US" altLang="zh-CN" sz="1200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674" name="文本框 7"/>
          <p:cNvSpPr txBox="1"/>
          <p:nvPr/>
        </p:nvSpPr>
        <p:spPr>
          <a:xfrm>
            <a:off x="1293495" y="1764348"/>
            <a:ext cx="12530138" cy="1892826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计划融资：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1000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万。释放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10%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股权。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融资用途：营销团队搭建。全国市场启动开发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。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养老与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C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端市场租赁投放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模具开发应用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。新品开发，丰富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产品线。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文本框 10"/>
          <p:cNvSpPr txBox="1"/>
          <p:nvPr/>
        </p:nvSpPr>
        <p:spPr>
          <a:xfrm>
            <a:off x="1401763" y="4900613"/>
            <a:ext cx="12314237" cy="5064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</a:pP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6" name="矩形 6"/>
          <p:cNvSpPr/>
          <p:nvPr/>
        </p:nvSpPr>
        <p:spPr>
          <a:xfrm>
            <a:off x="12888913" y="581025"/>
            <a:ext cx="2230437" cy="2889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0000" tIns="46800" rIns="90000" bIns="46800" anchor="t"/>
          <a:lstStyle/>
          <a:p>
            <a:pPr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标题 1"/>
          <p:cNvSpPr>
            <a:spLocks noGrp="1"/>
          </p:cNvSpPr>
          <p:nvPr/>
        </p:nvSpPr>
        <p:spPr>
          <a:xfrm>
            <a:off x="3311525" y="149225"/>
            <a:ext cx="2819400" cy="623888"/>
          </a:xfrm>
          <a:prstGeom prst="rect">
            <a:avLst/>
          </a:prstGeom>
          <a:noFill/>
          <a:ln w="9525">
            <a:noFill/>
          </a:ln>
        </p:spPr>
        <p:txBody>
          <a:bodyPr lIns="119951" tIns="59975" rIns="119951" bIns="59975" anchor="ctr"/>
          <a:lstStyle/>
          <a:p>
            <a:pPr marL="1200150" indent="-1200150" algn="ctr" defTabSz="0" eaLnBrk="0" hangingPunct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融资计划</a:t>
            </a: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574675" y="725488"/>
            <a:ext cx="14544675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79" name="直接连接符 9"/>
          <p:cNvCxnSpPr/>
          <p:nvPr/>
        </p:nvCxnSpPr>
        <p:spPr>
          <a:xfrm>
            <a:off x="3887788" y="29368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/>
          <p:cNvSpPr txBox="1"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/>
        <p:txBody>
          <a:bodyPr wrap="square" lIns="91405" tIns="45702" rIns="91405" bIns="45702" numCol="1" anchor="ctr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7055" lvl="1" indent="-1098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33475" lvl="2" indent="-2190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700530" lvl="3" indent="-32893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266950" lvl="4" indent="-438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95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PAGE </a:t>
            </a:r>
            <a:fld id="{9A0DB2DC-4C9A-4742-B13C-FB6460FD3503}" type="slidenum">
              <a:rPr kumimoji="0" lang="en-US" altLang="zh-CN" sz="1195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38</a:t>
            </a:fld>
            <a:endParaRPr kumimoji="0" lang="en-US" altLang="zh-CN" sz="1195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577216" y="726772"/>
            <a:ext cx="14539383" cy="0"/>
          </a:xfrm>
          <a:prstGeom prst="line">
            <a:avLst/>
          </a:prstGeom>
          <a:ln>
            <a:solidFill>
              <a:srgbClr val="C8C8C8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42" name="直接连接符 13"/>
          <p:cNvCxnSpPr/>
          <p:nvPr>
            <p:custDataLst>
              <p:tags r:id="rId2"/>
            </p:custDataLst>
          </p:nvPr>
        </p:nvCxnSpPr>
        <p:spPr>
          <a:xfrm>
            <a:off x="3889124" y="295129"/>
            <a:ext cx="0" cy="36023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47" name="标题 1"/>
          <p:cNvSpPr>
            <a:spLocks noGrp="1"/>
          </p:cNvSpPr>
          <p:nvPr/>
        </p:nvSpPr>
        <p:spPr>
          <a:xfrm>
            <a:off x="3802380" y="162560"/>
            <a:ext cx="1656080" cy="623570"/>
          </a:xfrm>
          <a:prstGeom prst="rect">
            <a:avLst/>
          </a:prstGeom>
          <a:noFill/>
          <a:ln w="9525">
            <a:noFill/>
          </a:ln>
        </p:spPr>
        <p:txBody>
          <a:bodyPr lIns="119915" tIns="59956" rIns="119915" bIns="59956" anchor="ctr"/>
          <a:lstStyle/>
          <a:p>
            <a:pPr marL="1200150" indent="-1200150" algn="ctr" defTabSz="0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</a:t>
            </a:r>
            <a:r>
              <a:rPr lang="zh-CN" altLang="en-US" sz="2400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lang="zh-CN" altLang="en-US" sz="2400" dirty="0">
                <a:solidFill>
                  <a:srgbClr val="0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总结</a:t>
            </a:r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3"/>
            </p:custDataLst>
          </p:nvPr>
        </p:nvCxnSpPr>
        <p:spPr bwMode="auto">
          <a:xfrm>
            <a:off x="3888329" y="294730"/>
            <a:ext cx="0" cy="3599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7703263" y="7630764"/>
            <a:ext cx="7312660" cy="3200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1490" kern="3000" spc="110">
                <a:solidFill>
                  <a:schemeClr val="bg1">
                    <a:lumMod val="50000"/>
                    <a:alpha val="60000"/>
                  </a:schemeClr>
                </a:solidFill>
                <a:uFillTx/>
                <a:sym typeface="+mn-ea"/>
              </a:rPr>
              <a:t>安徽海姬尔智能科技有限公司</a:t>
            </a:r>
            <a:r>
              <a:rPr lang="zh-CN" altLang="en-US" sz="1490" kern="3000">
                <a:solidFill>
                  <a:schemeClr val="bg1">
                    <a:lumMod val="50000"/>
                    <a:alpha val="60000"/>
                  </a:schemeClr>
                </a:solidFill>
                <a:uFillTx/>
                <a:sym typeface="+mn-ea"/>
              </a:rPr>
              <a:t>  </a:t>
            </a:r>
            <a:r>
              <a:rPr lang="zh-CN" altLang="en-US" sz="1490" kern="3000" spc="100">
                <a:solidFill>
                  <a:schemeClr val="bg1">
                    <a:lumMod val="50000"/>
                    <a:alpha val="60000"/>
                  </a:schemeClr>
                </a:solidFill>
                <a:uFillTx/>
                <a:sym typeface="+mn-ea"/>
              </a:rPr>
              <a:t>Anhui Hygeia intelligent technology Co., LTD.</a:t>
            </a:r>
          </a:p>
        </p:txBody>
      </p:sp>
      <p:sp>
        <p:nvSpPr>
          <p:cNvPr id="17" name="八边形 16"/>
          <p:cNvSpPr/>
          <p:nvPr/>
        </p:nvSpPr>
        <p:spPr>
          <a:xfrm>
            <a:off x="1628621" y="2341158"/>
            <a:ext cx="1356804" cy="1284357"/>
          </a:xfrm>
          <a:prstGeom prst="octagon">
            <a:avLst/>
          </a:prstGeom>
          <a:solidFill>
            <a:srgbClr val="E818CA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bg1"/>
              </a:solidFill>
            </a:endParaRPr>
          </a:p>
        </p:txBody>
      </p:sp>
      <p:sp>
        <p:nvSpPr>
          <p:cNvPr id="28" name="出自【趣你的PPT】(微信:qunideppt)：最优质的PPT资源库"/>
          <p:cNvSpPr txBox="1"/>
          <p:nvPr/>
        </p:nvSpPr>
        <p:spPr>
          <a:xfrm>
            <a:off x="1969594" y="2554561"/>
            <a:ext cx="675646" cy="762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21666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2480" b="1" dirty="0" smtClean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市场巨大</a:t>
            </a:r>
            <a:endParaRPr lang="zh-CN" altLang="en-US" sz="2480" b="1" dirty="0">
              <a:solidFill>
                <a:srgbClr val="FFFF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正五边形 30"/>
          <p:cNvSpPr/>
          <p:nvPr/>
        </p:nvSpPr>
        <p:spPr>
          <a:xfrm>
            <a:off x="2318676" y="3234155"/>
            <a:ext cx="2132505" cy="1895561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2" name="TextBox 31"/>
          <p:cNvSpPr txBox="1"/>
          <p:nvPr/>
        </p:nvSpPr>
        <p:spPr>
          <a:xfrm>
            <a:off x="2826416" y="3674196"/>
            <a:ext cx="1201650" cy="11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470" b="1" dirty="0" smtClean="0">
                <a:solidFill>
                  <a:schemeClr val="bg1"/>
                </a:solidFill>
              </a:rPr>
              <a:t>核心</a:t>
            </a:r>
            <a:endParaRPr lang="en-US" altLang="zh-CN" sz="3470" b="1" dirty="0" smtClean="0">
              <a:solidFill>
                <a:schemeClr val="bg1"/>
              </a:solidFill>
            </a:endParaRPr>
          </a:p>
          <a:p>
            <a:r>
              <a:rPr lang="zh-CN" altLang="en-US" sz="3470" b="1" dirty="0" smtClean="0">
                <a:solidFill>
                  <a:schemeClr val="bg1"/>
                </a:solidFill>
              </a:rPr>
              <a:t>优势</a:t>
            </a:r>
            <a:endParaRPr lang="zh-CN" altLang="en-US" sz="3470" b="1" dirty="0">
              <a:solidFill>
                <a:schemeClr val="bg1"/>
              </a:solidFill>
            </a:endParaRPr>
          </a:p>
        </p:txBody>
      </p:sp>
      <p:sp>
        <p:nvSpPr>
          <p:cNvPr id="33" name="内容占位符 2"/>
          <p:cNvSpPr>
            <a:spLocks noGrp="1"/>
          </p:cNvSpPr>
          <p:nvPr>
            <p:ph idx="4294967295"/>
            <p:custDataLst>
              <p:tags r:id="rId5"/>
            </p:custDataLst>
          </p:nvPr>
        </p:nvSpPr>
        <p:spPr>
          <a:xfrm>
            <a:off x="7367905" y="1873885"/>
            <a:ext cx="6899910" cy="5756275"/>
          </a:xfrm>
        </p:spPr>
        <p:txBody>
          <a:bodyPr>
            <a:noAutofit/>
          </a:bodyPr>
          <a:lstStyle/>
          <a:p>
            <a:pPr marL="0" indent="-508000" algn="just" fontAlgn="auto">
              <a:lnSpc>
                <a:spcPct val="120000"/>
              </a:lnSpc>
              <a:buNone/>
            </a:pPr>
            <a:r>
              <a:rPr sz="1985" dirty="0" err="1" smtClean="0">
                <a:solidFill>
                  <a:schemeClr val="tx1"/>
                </a:solidFill>
              </a:rPr>
              <a:t>市场刚需巨大</a:t>
            </a:r>
            <a:r>
              <a:rPr lang="zh-CN" altLang="en-US" sz="1985" dirty="0" smtClean="0">
                <a:solidFill>
                  <a:schemeClr val="tx1"/>
                </a:solidFill>
              </a:rPr>
              <a:t>：目前我国失能半失能老人已达</a:t>
            </a:r>
            <a:r>
              <a:rPr lang="en-US" altLang="zh-CN" sz="1985" dirty="0" smtClean="0">
                <a:solidFill>
                  <a:schemeClr val="tx1"/>
                </a:solidFill>
              </a:rPr>
              <a:t>4000</a:t>
            </a:r>
            <a:r>
              <a:rPr lang="zh-CN" altLang="en-US" sz="1985" dirty="0" smtClean="0">
                <a:solidFill>
                  <a:schemeClr val="tx1"/>
                </a:solidFill>
              </a:rPr>
              <a:t>多万；</a:t>
            </a:r>
            <a:endParaRPr sz="1985" dirty="0">
              <a:solidFill>
                <a:schemeClr val="tx1"/>
              </a:solidFill>
            </a:endParaRPr>
          </a:p>
          <a:p>
            <a:pPr marL="0" indent="-508000" algn="just" fontAlgn="auto">
              <a:lnSpc>
                <a:spcPct val="120000"/>
              </a:lnSpc>
              <a:buNone/>
            </a:pPr>
            <a:r>
              <a:rPr sz="1985" dirty="0" err="1" smtClean="0">
                <a:solidFill>
                  <a:schemeClr val="tx1"/>
                </a:solidFill>
              </a:rPr>
              <a:t>国家政策扶持</a:t>
            </a:r>
            <a:r>
              <a:rPr lang="zh-CN" altLang="en-US" sz="1985" dirty="0" smtClean="0">
                <a:solidFill>
                  <a:schemeClr val="tx1"/>
                </a:solidFill>
              </a:rPr>
              <a:t>：近期国家密集出台养老和智能制造等系列利好政策；</a:t>
            </a:r>
            <a:endParaRPr sz="1985" dirty="0">
              <a:solidFill>
                <a:schemeClr val="tx1"/>
              </a:solidFill>
            </a:endParaRPr>
          </a:p>
          <a:p>
            <a:pPr marL="0" indent="-508000" algn="just" fontAlgn="auto">
              <a:lnSpc>
                <a:spcPct val="120000"/>
              </a:lnSpc>
              <a:buNone/>
            </a:pPr>
            <a:r>
              <a:rPr sz="1985" dirty="0" err="1" smtClean="0">
                <a:solidFill>
                  <a:schemeClr val="tx1"/>
                </a:solidFill>
              </a:rPr>
              <a:t>技术</a:t>
            </a:r>
            <a:r>
              <a:rPr lang="zh-CN" altLang="en-US" sz="1985" dirty="0" smtClean="0">
                <a:solidFill>
                  <a:schemeClr val="tx1"/>
                </a:solidFill>
              </a:rPr>
              <a:t>领先</a:t>
            </a:r>
            <a:r>
              <a:rPr sz="1985" dirty="0" smtClean="0">
                <a:solidFill>
                  <a:schemeClr val="tx1"/>
                </a:solidFill>
              </a:rPr>
              <a:t>：</a:t>
            </a:r>
            <a:r>
              <a:rPr lang="zh-CN" altLang="en-US" sz="1985" dirty="0" smtClean="0">
                <a:solidFill>
                  <a:schemeClr val="tx1"/>
                </a:solidFill>
              </a:rPr>
              <a:t>本项目为同领域</a:t>
            </a:r>
            <a:r>
              <a:rPr sz="1985" dirty="0" err="1" smtClean="0">
                <a:solidFill>
                  <a:schemeClr val="tx1"/>
                </a:solidFill>
              </a:rPr>
              <a:t>智能化程度最高</a:t>
            </a:r>
            <a:r>
              <a:rPr sz="1985" dirty="0" err="1">
                <a:solidFill>
                  <a:schemeClr val="tx1"/>
                </a:solidFill>
              </a:rPr>
              <a:t>、最具实用性、</a:t>
            </a:r>
            <a:r>
              <a:rPr sz="1985" dirty="0" err="1" smtClean="0">
                <a:solidFill>
                  <a:schemeClr val="tx1"/>
                </a:solidFill>
              </a:rPr>
              <a:t>功能最完备</a:t>
            </a:r>
            <a:r>
              <a:rPr lang="zh-CN" altLang="en-US" sz="1985" dirty="0" smtClean="0">
                <a:solidFill>
                  <a:schemeClr val="tx1"/>
                </a:solidFill>
              </a:rPr>
              <a:t>的产品</a:t>
            </a:r>
            <a:r>
              <a:rPr sz="1985" dirty="0" smtClean="0">
                <a:solidFill>
                  <a:schemeClr val="tx1"/>
                </a:solidFill>
              </a:rPr>
              <a:t>；</a:t>
            </a:r>
            <a:endParaRPr sz="1985" dirty="0">
              <a:solidFill>
                <a:schemeClr val="tx1"/>
              </a:solidFill>
            </a:endParaRPr>
          </a:p>
          <a:p>
            <a:pPr marL="0" indent="-508000" algn="just" fontAlgn="auto">
              <a:lnSpc>
                <a:spcPct val="120000"/>
              </a:lnSpc>
              <a:buNone/>
            </a:pPr>
            <a:r>
              <a:rPr sz="1985" dirty="0" err="1" smtClean="0">
                <a:solidFill>
                  <a:schemeClr val="tx1"/>
                </a:solidFill>
              </a:rPr>
              <a:t>产品线长</a:t>
            </a:r>
            <a:r>
              <a:rPr sz="1985" dirty="0" smtClean="0">
                <a:solidFill>
                  <a:schemeClr val="tx1"/>
                </a:solidFill>
              </a:rPr>
              <a:t>：</a:t>
            </a:r>
            <a:r>
              <a:rPr lang="zh-CN" altLang="en-US" sz="1985" dirty="0" smtClean="0">
                <a:solidFill>
                  <a:schemeClr val="tx1"/>
                </a:solidFill>
              </a:rPr>
              <a:t>助老助残智能产品系列非常丰富，</a:t>
            </a:r>
            <a:r>
              <a:rPr sz="1985" dirty="0" err="1" smtClean="0">
                <a:solidFill>
                  <a:schemeClr val="tx1"/>
                </a:solidFill>
              </a:rPr>
              <a:t>除了智能护理床</a:t>
            </a:r>
            <a:r>
              <a:rPr lang="zh-CN" altLang="en-US" sz="1985" dirty="0" smtClean="0">
                <a:solidFill>
                  <a:schemeClr val="tx1"/>
                </a:solidFill>
              </a:rPr>
              <a:t>外，如</a:t>
            </a:r>
            <a:r>
              <a:rPr sz="1985" dirty="0" err="1" smtClean="0">
                <a:solidFill>
                  <a:schemeClr val="tx1"/>
                </a:solidFill>
              </a:rPr>
              <a:t>智能浴缸、智能轮椅</a:t>
            </a:r>
            <a:r>
              <a:rPr sz="1985" dirty="0" err="1">
                <a:solidFill>
                  <a:schemeClr val="tx1"/>
                </a:solidFill>
              </a:rPr>
              <a:t>、智能坐便器、智能助行器、智能移位器、智能拐杖、</a:t>
            </a:r>
            <a:r>
              <a:rPr sz="1985" dirty="0" err="1" smtClean="0">
                <a:solidFill>
                  <a:schemeClr val="tx1"/>
                </a:solidFill>
              </a:rPr>
              <a:t>智能</a:t>
            </a:r>
            <a:r>
              <a:rPr lang="zh-CN" altLang="en-US" sz="1985" dirty="0" smtClean="0">
                <a:solidFill>
                  <a:schemeClr val="tx1"/>
                </a:solidFill>
              </a:rPr>
              <a:t>床头柜等</a:t>
            </a:r>
            <a:r>
              <a:rPr sz="1985" dirty="0" smtClean="0">
                <a:solidFill>
                  <a:schemeClr val="tx1"/>
                </a:solidFill>
              </a:rPr>
              <a:t>。</a:t>
            </a:r>
            <a:endParaRPr lang="en-US" sz="1985" dirty="0" smtClean="0">
              <a:solidFill>
                <a:schemeClr val="tx1"/>
              </a:solidFill>
            </a:endParaRPr>
          </a:p>
          <a:p>
            <a:pPr marL="0" indent="-508000" algn="just">
              <a:buNone/>
            </a:pPr>
            <a:r>
              <a:rPr lang="zh-CN" altLang="en-US" sz="1985" dirty="0" smtClean="0">
                <a:solidFill>
                  <a:schemeClr val="tx1"/>
                </a:solidFill>
              </a:rPr>
              <a:t>市场切入点好：本</a:t>
            </a:r>
            <a:r>
              <a:rPr lang="zh-CN" altLang="zh-CN" sz="1985" dirty="0" smtClean="0">
                <a:solidFill>
                  <a:schemeClr val="tx1"/>
                </a:solidFill>
              </a:rPr>
              <a:t>类项目产品均处于起步阶段，竞争产品相对较弱，具备迅速占领市场</a:t>
            </a:r>
            <a:r>
              <a:rPr lang="en-US" altLang="zh-CN" sz="1985" dirty="0" smtClean="0">
                <a:solidFill>
                  <a:schemeClr val="tx1"/>
                </a:solidFill>
              </a:rPr>
              <a:t>	</a:t>
            </a:r>
            <a:r>
              <a:rPr lang="zh-CN" altLang="en-US" sz="1985" dirty="0" smtClean="0">
                <a:solidFill>
                  <a:schemeClr val="tx1"/>
                </a:solidFill>
              </a:rPr>
              <a:t>制高点的</a:t>
            </a:r>
            <a:r>
              <a:rPr lang="zh-CN" altLang="zh-CN" sz="1985" dirty="0" smtClean="0">
                <a:solidFill>
                  <a:schemeClr val="tx1"/>
                </a:solidFill>
              </a:rPr>
              <a:t>良机。</a:t>
            </a:r>
            <a:endParaRPr sz="1985" dirty="0">
              <a:solidFill>
                <a:schemeClr val="tx1"/>
              </a:solidFill>
            </a:endParaRPr>
          </a:p>
          <a:p>
            <a:pPr marL="0" indent="-508000" algn="just">
              <a:buNone/>
            </a:pPr>
            <a:endParaRPr sz="1985" dirty="0">
              <a:solidFill>
                <a:schemeClr val="tx1"/>
              </a:solidFill>
            </a:endParaRPr>
          </a:p>
        </p:txBody>
      </p:sp>
      <p:sp>
        <p:nvSpPr>
          <p:cNvPr id="34" name="七边形 33"/>
          <p:cNvSpPr/>
          <p:nvPr/>
        </p:nvSpPr>
        <p:spPr>
          <a:xfrm>
            <a:off x="6722034" y="1850315"/>
            <a:ext cx="474361" cy="490815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80" b="1" dirty="0" smtClean="0"/>
              <a:t>1</a:t>
            </a:r>
            <a:endParaRPr lang="zh-CN" altLang="en-US" sz="2480" b="1" dirty="0"/>
          </a:p>
        </p:txBody>
      </p:sp>
      <p:sp>
        <p:nvSpPr>
          <p:cNvPr id="36" name="七边形 35"/>
          <p:cNvSpPr/>
          <p:nvPr/>
        </p:nvSpPr>
        <p:spPr>
          <a:xfrm>
            <a:off x="6668770" y="2607945"/>
            <a:ext cx="527685" cy="490855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80" b="1" dirty="0" smtClean="0"/>
              <a:t>2</a:t>
            </a:r>
            <a:endParaRPr lang="zh-CN" altLang="en-US" sz="2480" b="1" dirty="0"/>
          </a:p>
        </p:txBody>
      </p:sp>
      <p:sp>
        <p:nvSpPr>
          <p:cNvPr id="37" name="七边形 36"/>
          <p:cNvSpPr/>
          <p:nvPr/>
        </p:nvSpPr>
        <p:spPr>
          <a:xfrm>
            <a:off x="6668135" y="3234055"/>
            <a:ext cx="527685" cy="445770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80" b="1" dirty="0" smtClean="0"/>
              <a:t>3</a:t>
            </a:r>
            <a:endParaRPr lang="zh-CN" altLang="en-US" sz="2480" b="1" dirty="0"/>
          </a:p>
        </p:txBody>
      </p:sp>
      <p:sp>
        <p:nvSpPr>
          <p:cNvPr id="38" name="七边形 37"/>
          <p:cNvSpPr/>
          <p:nvPr/>
        </p:nvSpPr>
        <p:spPr>
          <a:xfrm>
            <a:off x="6668135" y="3917315"/>
            <a:ext cx="527685" cy="485140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80" b="1" dirty="0" smtClean="0"/>
              <a:t>4</a:t>
            </a:r>
            <a:endParaRPr lang="zh-CN" altLang="en-US" sz="2480" b="1" dirty="0"/>
          </a:p>
        </p:txBody>
      </p:sp>
      <p:sp>
        <p:nvSpPr>
          <p:cNvPr id="39" name="七边形 38"/>
          <p:cNvSpPr/>
          <p:nvPr/>
        </p:nvSpPr>
        <p:spPr>
          <a:xfrm>
            <a:off x="6668135" y="4616450"/>
            <a:ext cx="527685" cy="513715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80" b="1" dirty="0" smtClean="0"/>
              <a:t>5</a:t>
            </a:r>
            <a:endParaRPr lang="zh-CN" altLang="en-US" sz="2480" b="1" dirty="0"/>
          </a:p>
        </p:txBody>
      </p:sp>
      <p:sp>
        <p:nvSpPr>
          <p:cNvPr id="40" name="八边形 39"/>
          <p:cNvSpPr/>
          <p:nvPr/>
        </p:nvSpPr>
        <p:spPr>
          <a:xfrm>
            <a:off x="1089853" y="4239538"/>
            <a:ext cx="1356804" cy="1284357"/>
          </a:xfrm>
          <a:prstGeom prst="octagon">
            <a:avLst/>
          </a:prstGeom>
          <a:solidFill>
            <a:srgbClr val="E818CA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bg1"/>
              </a:solidFill>
            </a:endParaRPr>
          </a:p>
        </p:txBody>
      </p:sp>
      <p:sp>
        <p:nvSpPr>
          <p:cNvPr id="41" name="出自【趣你的PPT】(微信:qunideppt)：最优质的PPT资源库"/>
          <p:cNvSpPr txBox="1"/>
          <p:nvPr/>
        </p:nvSpPr>
        <p:spPr>
          <a:xfrm>
            <a:off x="1430826" y="4452941"/>
            <a:ext cx="675646" cy="762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21666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2480" b="1" dirty="0" smtClean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切入点好</a:t>
            </a:r>
            <a:endParaRPr lang="zh-CN" altLang="en-US" sz="2480" b="1" dirty="0">
              <a:solidFill>
                <a:srgbClr val="FFFF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八边形 41"/>
          <p:cNvSpPr/>
          <p:nvPr/>
        </p:nvSpPr>
        <p:spPr>
          <a:xfrm>
            <a:off x="2663845" y="5322716"/>
            <a:ext cx="1356804" cy="1284357"/>
          </a:xfrm>
          <a:prstGeom prst="octagon">
            <a:avLst/>
          </a:prstGeom>
          <a:solidFill>
            <a:srgbClr val="E818CA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bg1"/>
              </a:solidFill>
            </a:endParaRPr>
          </a:p>
        </p:txBody>
      </p:sp>
      <p:sp>
        <p:nvSpPr>
          <p:cNvPr id="43" name="出自【趣你的PPT】(微信:qunideppt)：最优质的PPT资源库"/>
          <p:cNvSpPr txBox="1"/>
          <p:nvPr/>
        </p:nvSpPr>
        <p:spPr>
          <a:xfrm>
            <a:off x="3004818" y="5536119"/>
            <a:ext cx="675646" cy="762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21666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2480" b="1" dirty="0" smtClean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产品线长</a:t>
            </a:r>
            <a:endParaRPr lang="zh-CN" altLang="en-US" sz="2480" b="1" dirty="0">
              <a:solidFill>
                <a:srgbClr val="FFFF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4" name="八边形 43"/>
          <p:cNvSpPr/>
          <p:nvPr/>
        </p:nvSpPr>
        <p:spPr>
          <a:xfrm>
            <a:off x="4440933" y="4188766"/>
            <a:ext cx="1356804" cy="1284357"/>
          </a:xfrm>
          <a:prstGeom prst="octagon">
            <a:avLst/>
          </a:prstGeom>
          <a:solidFill>
            <a:srgbClr val="E818CA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bg1"/>
              </a:solidFill>
            </a:endParaRPr>
          </a:p>
        </p:txBody>
      </p:sp>
      <p:sp>
        <p:nvSpPr>
          <p:cNvPr id="45" name="出自【趣你的PPT】(微信:qunideppt)：最优质的PPT资源库"/>
          <p:cNvSpPr txBox="1"/>
          <p:nvPr/>
        </p:nvSpPr>
        <p:spPr>
          <a:xfrm>
            <a:off x="4781906" y="4402169"/>
            <a:ext cx="675646" cy="762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21666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2480" b="1" dirty="0" smtClean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技术领先</a:t>
            </a:r>
            <a:endParaRPr lang="zh-CN" altLang="en-US" sz="2480" b="1" dirty="0">
              <a:solidFill>
                <a:srgbClr val="FFFF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八边形 45"/>
          <p:cNvSpPr/>
          <p:nvPr/>
        </p:nvSpPr>
        <p:spPr>
          <a:xfrm>
            <a:off x="3899345" y="2394753"/>
            <a:ext cx="1356804" cy="1284357"/>
          </a:xfrm>
          <a:prstGeom prst="octagon">
            <a:avLst/>
          </a:prstGeom>
          <a:solidFill>
            <a:srgbClr val="E818CA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7" name="出自【趣你的PPT】(微信:qunideppt)：最优质的PPT资源库"/>
          <p:cNvSpPr txBox="1"/>
          <p:nvPr/>
        </p:nvSpPr>
        <p:spPr>
          <a:xfrm>
            <a:off x="4240318" y="2608156"/>
            <a:ext cx="675646" cy="762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21666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2480" b="1" dirty="0" smtClean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支持扶持</a:t>
            </a:r>
            <a:endParaRPr lang="zh-CN" altLang="en-US" sz="2480" b="1" dirty="0">
              <a:solidFill>
                <a:srgbClr val="FFFF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08842" y="1061691"/>
            <a:ext cx="11229901" cy="5530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995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项目优势</a:t>
            </a:r>
          </a:p>
        </p:txBody>
      </p:sp>
    </p:spTree>
    <p:extLst>
      <p:ext uri="{BB962C8B-B14F-4D97-AF65-F5344CB8AC3E}">
        <p14:creationId xmlns:p14="http://schemas.microsoft.com/office/powerpoint/2010/main" val="16354799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936084" y="6387645"/>
            <a:ext cx="4836617" cy="7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90" dirty="0">
                <a:solidFill>
                  <a:schemeClr val="bg1">
                    <a:lumMod val="50000"/>
                  </a:schemeClr>
                </a:solidFill>
              </a:rPr>
              <a:t>电话：</a:t>
            </a:r>
            <a:r>
              <a:rPr lang="en-US" altLang="zh-CN" sz="1490" dirty="0">
                <a:solidFill>
                  <a:schemeClr val="bg1">
                    <a:lumMod val="50000"/>
                  </a:schemeClr>
                </a:solidFill>
              </a:rPr>
              <a:t>0551-62883002 </a:t>
            </a:r>
            <a:r>
              <a:rPr lang="zh-CN" altLang="en-US" sz="1490" dirty="0">
                <a:solidFill>
                  <a:schemeClr val="bg1">
                    <a:lumMod val="50000"/>
                  </a:schemeClr>
                </a:solidFill>
              </a:rPr>
              <a:t>；</a:t>
            </a:r>
            <a:r>
              <a:rPr lang="en-US" altLang="zh-CN" sz="1490" dirty="0">
                <a:solidFill>
                  <a:schemeClr val="bg1">
                    <a:lumMod val="50000"/>
                  </a:schemeClr>
                </a:solidFill>
              </a:rPr>
              <a:t>13355692878 </a:t>
            </a:r>
            <a:r>
              <a:rPr lang="zh-CN" altLang="en-US" sz="1490" dirty="0">
                <a:solidFill>
                  <a:schemeClr val="bg1">
                    <a:lumMod val="50000"/>
                  </a:schemeClr>
                </a:solidFill>
              </a:rPr>
              <a:t>张一谋</a:t>
            </a:r>
            <a:endParaRPr lang="en-US" altLang="zh-CN" sz="149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sz="1490" dirty="0">
                <a:solidFill>
                  <a:schemeClr val="bg1">
                    <a:lumMod val="50000"/>
                  </a:schemeClr>
                </a:solidFill>
              </a:rPr>
              <a:t>地址：合肥经济技术开发区哈工大智能装备科技园</a:t>
            </a:r>
          </a:p>
          <a:p>
            <a:r>
              <a:rPr lang="zh-CN" altLang="en-US" sz="1490" dirty="0">
                <a:solidFill>
                  <a:schemeClr val="bg1">
                    <a:lumMod val="50000"/>
                  </a:schemeClr>
                </a:solidFill>
              </a:rPr>
              <a:t>邮编：</a:t>
            </a:r>
            <a:r>
              <a:rPr lang="en-US" altLang="zh-CN" sz="1490" dirty="0">
                <a:solidFill>
                  <a:schemeClr val="bg1">
                    <a:lumMod val="50000"/>
                  </a:schemeClr>
                </a:solidFill>
              </a:rPr>
              <a:t>230001   </a:t>
            </a:r>
            <a:r>
              <a:rPr lang="zh-CN" altLang="en-US" sz="1490" dirty="0">
                <a:solidFill>
                  <a:schemeClr val="bg1">
                    <a:lumMod val="50000"/>
                  </a:schemeClr>
                </a:solidFill>
              </a:rPr>
              <a:t>邮箱：</a:t>
            </a:r>
            <a:r>
              <a:rPr lang="en-US" altLang="zh-CN" sz="1490" dirty="0">
                <a:solidFill>
                  <a:schemeClr val="bg1">
                    <a:lumMod val="50000"/>
                  </a:schemeClr>
                </a:solidFill>
              </a:rPr>
              <a:t>476501004@qq.com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7476204" y="4902737"/>
            <a:ext cx="0" cy="225372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9051"/>
  <p:tag name="KSO_WM_TAG_VERSION" val="1.0"/>
  <p:tag name="KSO_WM_BEAUTIFY_FLAG" val="#wm#"/>
  <p:tag name="KSO_WM_UNIT_PRESET_TEXT_LEN" val="465"/>
  <p:tag name="KSO_WM_UNIT_PRESET_TEXT_INDEX" val="5"/>
  <p:tag name="KSO_WM_UNIT_CLEAR" val="0"/>
  <p:tag name="KSO_WM_UNIT_COMPATIBLE" val="0"/>
  <p:tag name="KSO_WM_UNIT_HIGHLIGHT" val="0"/>
  <p:tag name="KSO_WM_UNIT_VALUE" val="585"/>
  <p:tag name="KSO_WM_UNIT_LAYERLEVEL" val="1"/>
  <p:tag name="KSO_WM_UNIT_INDEX" val="1"/>
  <p:tag name="KSO_WM_UNIT_TYPE" val="f"/>
  <p:tag name="KSO_WM_UNIT_ID" val="custom20189051_2*f*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acfce9f-6b45-4133-9cce-928f89af05df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480,&quot;width&quot;:624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h_i"/>
  <p:tag name="KSO_WM_UNIT_INDEX" val="1_1"/>
  <p:tag name="KSO_WM_UNIT_ID" val="diagram20195818_3*h_i*1_1"/>
  <p:tag name="KSO_WM_TEMPLATE_CATEGORY" val="diagram"/>
  <p:tag name="KSO_WM_TEMPLATE_INDEX" val="20195818"/>
  <p:tag name="KSO_WM_UNIT_LAYERLEVEL" val="1_1"/>
  <p:tag name="KSO_WM_TAG_VERSION" val="1.0"/>
  <p:tag name="KSO_WM_BEAUTIFY_FLAG" val="#wm#"/>
  <p:tag name="KSO_WM_UNIT_FILL_FORE_SCHEMECOLOR_INDEX" val="5"/>
  <p:tag name="KSO_WM_UNIT_FILL_TYPE" val="1"/>
  <p:tag name="KSO_WM_UNIT_LINE_FORE_SCHEMECOLOR_INDEX" val="14"/>
  <p:tag name="KSO_WM_UNIT_LINE_FILL_TYPE" val="2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h_i"/>
  <p:tag name="KSO_WM_UNIT_INDEX" val="1_2"/>
  <p:tag name="KSO_WM_UNIT_ID" val="diagram20195818_3*h_i*1_2"/>
  <p:tag name="KSO_WM_TEMPLATE_CATEGORY" val="diagram"/>
  <p:tag name="KSO_WM_TEMPLATE_INDEX" val="20195818"/>
  <p:tag name="KSO_WM_UNIT_LAYERLEVEL" val="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4"/>
  <p:tag name="KSO_WM_UNIT_LINE_FILL_TYPE" val="2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h_i"/>
  <p:tag name="KSO_WM_UNIT_INDEX" val="1_3"/>
  <p:tag name="KSO_WM_UNIT_ID" val="diagram20195818_3*h_i*1_3"/>
  <p:tag name="KSO_WM_TEMPLATE_CATEGORY" val="diagram"/>
  <p:tag name="KSO_WM_TEMPLATE_INDEX" val="20195818"/>
  <p:tag name="KSO_WM_UNIT_LAYERLEVEL" val="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4"/>
  <p:tag name="KSO_WM_UNIT_LINE_FILL_TYPE" val="2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h_i"/>
  <p:tag name="KSO_WM_UNIT_INDEX" val="1_4"/>
  <p:tag name="KSO_WM_UNIT_ID" val="diagram20195818_3*h_i*1_4"/>
  <p:tag name="KSO_WM_TEMPLATE_CATEGORY" val="diagram"/>
  <p:tag name="KSO_WM_TEMPLATE_INDEX" val="20195818"/>
  <p:tag name="KSO_WM_UNIT_LAYERLEVEL" val="1_1"/>
  <p:tag name="KSO_WM_TAG_VERSION" val="1.0"/>
  <p:tag name="KSO_WM_BEAUTIFY_FLAG" val="#wm#"/>
  <p:tag name="KSO_WM_UNIT_FILL_FORE_SCHEMECOLOR_INDEX" val="14"/>
  <p:tag name="KSO_WM_UNIT_FILL_TYP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52*15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h_x"/>
  <p:tag name="KSO_WM_UNIT_INDEX" val="1_1"/>
  <p:tag name="KSO_WM_UNIT_ID" val="diagram20195818_3*h_x*1_1"/>
  <p:tag name="KSO_WM_TEMPLATE_CATEGORY" val="diagram"/>
  <p:tag name="KSO_WM_TEMPLATE_INDEX" val="20195818"/>
  <p:tag name="KSO_WM_UNIT_LAYERLEVEL" val="1_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diagram20195818_3*i*2"/>
  <p:tag name="KSO_WM_TEMPLATE_CATEGORY" val="diagram"/>
  <p:tag name="KSO_WM_TEMPLATE_INDEX" val="20195818"/>
  <p:tag name="KSO_WM_UNIT_LAYERLEVEL" val="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h_a"/>
  <p:tag name="KSO_WM_UNIT_INDEX" val="1_1"/>
  <p:tag name="KSO_WM_UNIT_ID" val="diagram20195818_3*h_a*1_1"/>
  <p:tag name="KSO_WM_TEMPLATE_CATEGORY" val="diagram"/>
  <p:tag name="KSO_WM_TEMPLATE_INDEX" val="20195818"/>
  <p:tag name="KSO_WM_UNIT_LAYERLEVEL" val="1_1"/>
  <p:tag name="KSO_WM_TAG_VERSION" val="1.0"/>
  <p:tag name="KSO_WM_BEAUTIFY_FLAG" val="#wm#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文本具体内容，简明扼要的阐述您的观点。根据需要可酌情增减文字，以便观者准确的理解您传达的思想。"/>
  <p:tag name="KSO_WM_UNIT_NOCLEAR" val="0"/>
  <p:tag name="KSO_WM_UNIT_VALUE" val="1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195818_3*l_h_f*1_3_1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5818_3*l_h_i*1_2_1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5"/>
  <p:tag name="KSO_WM_UNIT_LINE_FILL_TYPE" val="2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文本具体内容，简明扼要的阐述您的观点。根据需要可酌情增减文字，以便观者准确的理解您传达的思想。"/>
  <p:tag name="KSO_WM_UNIT_NOCLEAR" val="0"/>
  <p:tag name="KSO_WM_UNIT_VALUE" val="1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195818_3*l_h_f*1_2_1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5818_3*l_h_i*1_2_2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195818_3*l_h_i*1_4_1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5"/>
  <p:tag name="KSO_WM_UNIT_LINE_FILL_TYPE" val="2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195818_3*l_h_i*1_4_2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FILL_FORE_SCHEMECOLOR_INDEX" val="13"/>
  <p:tag name="KSO_WM_UNIT_FILL_TYPE" val="1"/>
  <p:tag name="KSO_WM_UNIT_LINE_FORE_SCHEMECOLOR_INDEX" val="13"/>
  <p:tag name="KSO_WM_UNIT_LINE_FILL_TYPE" val="2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5818_3*l_h_i*1_2_1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5"/>
  <p:tag name="KSO_WM_UNIT_LINE_FILL_TYPE" val="2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5818_3*l_h_i*1_2_2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文本具体内容，简明扼要的阐述您的观点。根据需要可酌情增减文字，以便观者准确的理解您传达的思想。"/>
  <p:tag name="KSO_WM_UNIT_NOCLEAR" val="0"/>
  <p:tag name="KSO_WM_UNIT_VALUE" val="1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195818_3*l_h_f*1_2_1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5818_3*l_h_i*1_2_1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LINE_FORE_SCHEMECOLOR_INDEX" val="15"/>
  <p:tag name="KSO_WM_UNIT_LINE_FILL_TYPE" val="2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5818_3*l_h_i*1_2_2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单击此处添加文本具体内容，简明扼要的阐述您的观点。根据需要可酌情增减文字，以便观者准确的理解您传达的思想。"/>
  <p:tag name="KSO_WM_UNIT_NOCLEAR" val="0"/>
  <p:tag name="KSO_WM_UNIT_VALUE" val="1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195818_3*l_h_f*1_2_1"/>
  <p:tag name="KSO_WM_TEMPLATE_CATEGORY" val="diagram"/>
  <p:tag name="KSO_WM_TEMPLATE_INDEX" val="20195818"/>
  <p:tag name="KSO_WM_UNIT_LAYERLEVEL" val="1_1_1"/>
  <p:tag name="KSO_WM_TAG_VERSION" val="1.0"/>
  <p:tag name="KSO_WM_BEAUTIFY_FLAG" val="#wm#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f945474-a2c2-4e35-8421-7edbfdec8861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6d737b5c-17f0-460a-bd55-e90c6d71ba7f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168689_6*q_h_i*1_2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168689_6*q_h_i*1_1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5_1"/>
  <p:tag name="KSO_WM_UNIT_ID" val="diagram20168689_6*q_h_i*1_5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4_1"/>
  <p:tag name="KSO_WM_UNIT_ID" val="diagram20168689_6*q_h_i*1_4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6_1"/>
  <p:tag name="KSO_WM_UNIT_ID" val="diagram20168689_6*q_h_i*1_6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i"/>
  <p:tag name="KSO_WM_UNIT_INDEX" val="1_1"/>
  <p:tag name="KSO_WM_UNIT_ID" val="diagram20168689_6*q_i*1_1"/>
  <p:tag name="KSO_WM_TEMPLATE_CATEGORY" val="diagram"/>
  <p:tag name="KSO_WM_TEMPLATE_INDEX" val="20168689"/>
  <p:tag name="KSO_WM_UNIT_LAYERLEVEL" val="1_1"/>
  <p:tag name="KSO_WM_TAG_VERSION" val="1.0"/>
  <p:tag name="KSO_WM_BEAUTIFY_FLAG" val="#wm#"/>
  <p:tag name="KSO_WM_UNIT_FILL_FORE_SCHEMECOLOR_INDEX" val="7"/>
  <p:tag name="KSO_WM_UNIT_FILL_TYPE" val="1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i"/>
  <p:tag name="KSO_WM_UNIT_INDEX" val="1_2"/>
  <p:tag name="KSO_WM_UNIT_ID" val="diagram20168689_6*q_i*1_2"/>
  <p:tag name="KSO_WM_TEMPLATE_CATEGORY" val="diagram"/>
  <p:tag name="KSO_WM_TEMPLATE_INDEX" val="20168689"/>
  <p:tag name="KSO_WM_UNIT_LAYERLEVEL" val="1_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168689_6*q_h_i*1_3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1_1"/>
  <p:tag name="KSO_WM_UNIT_ID" val="diagram20168689_6*q_h_i*1_1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SHADOW_SCHEMECOLOR_INDEX" val="16"/>
  <p:tag name="KSO_WM_UNIT_TEXT_FILL_FORE_SCHEMECOLOR_INDEX" val="14"/>
  <p:tag name="KSO_WM_UNIT_TEXT_FILL_TYPE" val="1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2_1"/>
  <p:tag name="KSO_WM_UNIT_ID" val="diagram20168689_6*q_h_i*1_2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SHADOW_SCHEMECOLOR_INDEX" val="16"/>
  <p:tag name="KSO_WM_UNIT_TEXT_FILL_FORE_SCHEMECOLOR_INDEX" val="14"/>
  <p:tag name="KSO_WM_UNIT_TEXT_FILL_TYPE" val="1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3_1"/>
  <p:tag name="KSO_WM_UNIT_ID" val="diagram20168689_6*q_h_i*1_3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SHADOW_SCHEMECOLOR_INDEX" val="16"/>
  <p:tag name="KSO_WM_UNIT_TEXT_FILL_FORE_SCHEMECOLOR_INDEX" val="14"/>
  <p:tag name="KSO_WM_UNIT_TEXT_FILL_TYPE" val="1"/>
  <p:tag name="KSO_WM_UNIT_USESOURCEFORMAT_APPL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i"/>
  <p:tag name="KSO_WM_UNIT_INDEX" val="1_3"/>
  <p:tag name="KSO_WM_UNIT_ID" val="diagram20168689_6*q_i*1_3"/>
  <p:tag name="KSO_WM_TEMPLATE_CATEGORY" val="diagram"/>
  <p:tag name="KSO_WM_TEMPLATE_INDEX" val="20168689"/>
  <p:tag name="KSO_WM_UNIT_LAYERLEVEL" val="1_1"/>
  <p:tag name="KSO_WM_TAG_VERSION" val="1.0"/>
  <p:tag name="KSO_WM_BEAUTIFY_FLAG" val="#wm#"/>
  <p:tag name="KSO_WM_UNIT_FILL_FORE_SCHEMECOLOR_INDEX" val="13"/>
  <p:tag name="KSO_WM_UNIT_FILL_TYPE" val="1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i"/>
  <p:tag name="KSO_WM_UNIT_INDEX" val="1_4"/>
  <p:tag name="KSO_WM_UNIT_ID" val="diagram20168689_6*q_i*1_4"/>
  <p:tag name="KSO_WM_TEMPLATE_CATEGORY" val="diagram"/>
  <p:tag name="KSO_WM_TEMPLATE_INDEX" val="20168689"/>
  <p:tag name="KSO_WM_UNIT_LAYERLEVEL" val="1_1"/>
  <p:tag name="KSO_WM_TAG_VERSION" val="1.0"/>
  <p:tag name="KSO_WM_BEAUTIFY_FLAG" val="#wm#"/>
  <p:tag name="KSO_WM_UNIT_FILL_FORE_SCHEMECOLOR_INDEX" val="13"/>
  <p:tag name="KSO_WM_UNIT_FILL_TYPE" val="1"/>
  <p:tag name="KSO_WM_UNIT_USESOURCEFORMAT_APPL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i"/>
  <p:tag name="KSO_WM_UNIT_INDEX" val="1_5"/>
  <p:tag name="KSO_WM_UNIT_ID" val="diagram20168689_6*q_i*1_5"/>
  <p:tag name="KSO_WM_TEMPLATE_CATEGORY" val="diagram"/>
  <p:tag name="KSO_WM_TEMPLATE_INDEX" val="20168689"/>
  <p:tag name="KSO_WM_UNIT_LAYERLEVEL" val="1_1"/>
  <p:tag name="KSO_WM_TAG_VERSION" val="1.0"/>
  <p:tag name="KSO_WM_BEAUTIFY_FLAG" val="#wm#"/>
  <p:tag name="KSO_WM_UNIT_FILL_FORE_SCHEMECOLOR_INDEX" val="13"/>
  <p:tag name="KSO_WM_UNIT_FILL_TYPE" val="1"/>
  <p:tag name="KSO_WM_UNIT_USESOURCEFORMAT_APPL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i"/>
  <p:tag name="KSO_WM_UNIT_INDEX" val="1_6"/>
  <p:tag name="KSO_WM_UNIT_ID" val="diagram20168689_6*q_i*1_6"/>
  <p:tag name="KSO_WM_TEMPLATE_CATEGORY" val="diagram"/>
  <p:tag name="KSO_WM_TEMPLATE_INDEX" val="20168689"/>
  <p:tag name="KSO_WM_UNIT_LAYERLEVEL" val="1_1"/>
  <p:tag name="KSO_WM_TAG_VERSION" val="1.0"/>
  <p:tag name="KSO_WM_BEAUTIFY_FLAG" val="#wm#"/>
  <p:tag name="KSO_WM_UNIT_FILL_FORE_SCHEMECOLOR_INDEX" val="13"/>
  <p:tag name="KSO_WM_UNIT_FILL_TYPE" val="1"/>
  <p:tag name="KSO_WM_UNIT_USESOURCEFORMAT_APPL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1_1_1"/>
  <p:tag name="KSO_WM_UNIT_ID" val="diagram20168689_6*q_h_f*1_1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1_2_1"/>
  <p:tag name="KSO_WM_UNIT_ID" val="diagram20168689_6*q_h_f*1_2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1_6_1"/>
  <p:tag name="KSO_WM_UNIT_ID" val="diagram20168689_6*q_h_f*1_6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1_3_1"/>
  <p:tag name="KSO_WM_UNIT_ID" val="diagram20168689_6*q_h_f*1_3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1_5_1"/>
  <p:tag name="KSO_WM_UNIT_ID" val="diagram20168689_6*q_h_f*1_5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1_4_1"/>
  <p:tag name="KSO_WM_UNIT_ID" val="diagram20168689_6*q_h_f*1_4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5_1"/>
  <p:tag name="KSO_WM_UNIT_ID" val="diagram20168689_6*q_h_i*1_5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SHADOW_SCHEMECOLOR_INDEX" val="16"/>
  <p:tag name="KSO_WM_UNIT_TEXT_FILL_FORE_SCHEMECOLOR_INDEX" val="14"/>
  <p:tag name="KSO_WM_UNIT_TEXT_FILL_TYPE" val="1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4_1"/>
  <p:tag name="KSO_WM_UNIT_ID" val="diagram20168689_6*q_h_i*1_4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SHADOW_SCHEMECOLOR_INDEX" val="16"/>
  <p:tag name="KSO_WM_UNIT_TEXT_FILL_FORE_SCHEMECOLOR_INDEX" val="14"/>
  <p:tag name="KSO_WM_UNIT_TEXT_FILL_TYPE" val="1"/>
  <p:tag name="KSO_WM_UNIT_USESOURCEFORMAT_APPL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6_1"/>
  <p:tag name="KSO_WM_UNIT_ID" val="diagram20168689_6*q_h_i*1_6_1"/>
  <p:tag name="KSO_WM_TEMPLATE_CATEGORY" val="diagram"/>
  <p:tag name="KSO_WM_TEMPLATE_INDEX" val="20168689"/>
  <p:tag name="KSO_WM_UNIT_LAYERLEVEL" val="1_1_1"/>
  <p:tag name="KSO_WM_TAG_VERSION" val="1.0"/>
  <p:tag name="KSO_WM_BEAUTIFY_FLAG" val="#wm#"/>
  <p:tag name="KSO_WM_UNIT_SHADOW_SCHEMECOLOR_INDEX" val="16"/>
  <p:tag name="KSO_WM_UNIT_TEXT_FILL_FORE_SCHEMECOLOR_INDEX" val="14"/>
  <p:tag name="KSO_WM_UNIT_TEXT_FILL_TYPE" val="1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9064a781-635e-446f-b917-89e1dfa846ef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785,&quot;width&quot;:578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TAG_VERSION" val="1.0"/>
  <p:tag name="KSO_WM_SLIDE_SUBTYPE" val="pureTxt"/>
  <p:tag name="KSO_WM_COMBINE_RELATE_SLIDE_ID" val="background20185112_2"/>
  <p:tag name="KSO_WM_TEMPLATE_CATEGORY" val="custom"/>
  <p:tag name="KSO_WM_TEMPLATE_INDEX" val="20201971"/>
  <p:tag name="KSO_WM_SLIDE_ID" val="custom20189051_2"/>
  <p:tag name="KSO_WM_SLIDE_INDEX" val="2"/>
  <p:tag name="KSO_WM_TEMPLATE_SUBCATEGORY" val="combin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5812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58396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5730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5703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15428476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1542942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1543038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1542874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1476461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1476651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5880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1476379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1476719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1476733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1476665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5948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5962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59756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5989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6002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6016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6030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60436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6057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6070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0676084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034ac50-61d2-40b7-ac55-d5c2e2d77c8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5e9e240-7385-446a-9c8f-c5b7541c5179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58663381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58663340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58663408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58663490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9051"/>
  <p:tag name="KSO_WM_TAG_VERSION" val="1.0"/>
  <p:tag name="KSO_WM_BEAUTIFY_FLAG" val="#wm#"/>
  <p:tag name="KSO_WM_UNIT_PRESET_TEXT_LEN" val="465"/>
  <p:tag name="KSO_WM_UNIT_PRESET_TEXT_INDEX" val="5"/>
  <p:tag name="KSO_WM_UNIT_CLEAR" val="0"/>
  <p:tag name="KSO_WM_UNIT_COMPATIBLE" val="0"/>
  <p:tag name="KSO_WM_UNIT_HIGHLIGHT" val="0"/>
  <p:tag name="KSO_WM_UNIT_VALUE" val="585"/>
  <p:tag name="KSO_WM_UNIT_LAYERLEVEL" val="1"/>
  <p:tag name="KSO_WM_UNIT_INDEX" val="1"/>
  <p:tag name="KSO_WM_UNIT_TYPE" val="f"/>
  <p:tag name="KSO_WM_UNIT_ID" val="custom20189051_2*f*1"/>
</p:tagLst>
</file>

<file path=ppt/theme/theme1.xml><?xml version="1.0" encoding="utf-8"?>
<a:theme xmlns:a="http://schemas.openxmlformats.org/drawingml/2006/main" name="Pixel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10376B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3579</Words>
  <Application>Microsoft Office PowerPoint</Application>
  <PresentationFormat>自定义</PresentationFormat>
  <Paragraphs>536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7" baseType="lpstr">
      <vt:lpstr>Impact MT Std</vt:lpstr>
      <vt:lpstr>方正兰亭黑简体</vt:lpstr>
      <vt:lpstr>仿宋</vt:lpstr>
      <vt:lpstr>黑体</vt:lpstr>
      <vt:lpstr>华文宋体</vt:lpstr>
      <vt:lpstr>楷体</vt:lpstr>
      <vt:lpstr>思源宋体</vt:lpstr>
      <vt:lpstr>宋体</vt:lpstr>
      <vt:lpstr>微软雅黑</vt:lpstr>
      <vt:lpstr>造字工房悦黑体验版细体</vt:lpstr>
      <vt:lpstr>Arial</vt:lpstr>
      <vt:lpstr>Calibri</vt:lpstr>
      <vt:lpstr>Cambria</vt:lpstr>
      <vt:lpstr>Times New Roman</vt:lpstr>
      <vt:lpstr>Wingdings</vt:lpstr>
      <vt:lpstr>Pixel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咨询中心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卫通讲稿</dc:title>
  <dc:creator>刘在东</dc:creator>
  <cp:lastModifiedBy>Zhang</cp:lastModifiedBy>
  <cp:revision>782</cp:revision>
  <dcterms:created xsi:type="dcterms:W3CDTF">2005-10-24T08:18:00Z</dcterms:created>
  <dcterms:modified xsi:type="dcterms:W3CDTF">2021-05-20T08:58:34Z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