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ebp"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Lst>
  <p:notesMasterIdLst>
    <p:notesMasterId r:id="rId24"/>
  </p:notesMasterIdLst>
  <p:sldIdLst>
    <p:sldId id="257" r:id="rId3"/>
    <p:sldId id="285" r:id="rId4"/>
    <p:sldId id="279" r:id="rId5"/>
    <p:sldId id="289" r:id="rId6"/>
    <p:sldId id="303" r:id="rId7"/>
    <p:sldId id="304" r:id="rId8"/>
    <p:sldId id="290" r:id="rId9"/>
    <p:sldId id="288" r:id="rId10"/>
    <p:sldId id="302" r:id="rId11"/>
    <p:sldId id="301" r:id="rId12"/>
    <p:sldId id="291" r:id="rId13"/>
    <p:sldId id="292" r:id="rId14"/>
    <p:sldId id="293" r:id="rId15"/>
    <p:sldId id="294" r:id="rId16"/>
    <p:sldId id="282" r:id="rId17"/>
    <p:sldId id="296" r:id="rId18"/>
    <p:sldId id="283" r:id="rId19"/>
    <p:sldId id="300" r:id="rId20"/>
    <p:sldId id="298" r:id="rId21"/>
    <p:sldId id="299" r:id="rId22"/>
    <p:sldId id="258"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64B2"/>
    <a:srgbClr val="276EE1"/>
    <a:srgbClr val="40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2857" autoAdjust="0"/>
  </p:normalViewPr>
  <p:slideViewPr>
    <p:cSldViewPr snapToGrid="0" snapToObjects="1">
      <p:cViewPr varScale="1">
        <p:scale>
          <a:sx n="78" d="100"/>
          <a:sy n="78" d="100"/>
        </p:scale>
        <p:origin x="81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312876047393149"/>
          <c:y val="0.11789448579816818"/>
          <c:w val="0.65119093575873266"/>
          <c:h val="0.76111538508230681"/>
        </c:manualLayout>
      </c:layout>
      <c:radarChart>
        <c:radarStyle val="marker"/>
        <c:varyColors val="0"/>
        <c:ser>
          <c:idx val="0"/>
          <c:order val="0"/>
          <c:tx>
            <c:strRef>
              <c:f>Sheet1!$B$1</c:f>
              <c:strCache>
                <c:ptCount val="1"/>
                <c:pt idx="0">
                  <c:v>WiFi</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strRef>
              <c:f>Sheet1!$A$2:$A$7</c:f>
              <c:strCache>
                <c:ptCount val="6"/>
                <c:pt idx="0">
                  <c:v>吞吐</c:v>
                </c:pt>
                <c:pt idx="1">
                  <c:v>连接数</c:v>
                </c:pt>
                <c:pt idx="2">
                  <c:v>距离</c:v>
                </c:pt>
                <c:pt idx="3">
                  <c:v>功耗</c:v>
                </c:pt>
                <c:pt idx="4">
                  <c:v>可靠性</c:v>
                </c:pt>
                <c:pt idx="5">
                  <c:v>成本</c:v>
                </c:pt>
              </c:strCache>
            </c:strRef>
          </c:cat>
          <c:val>
            <c:numRef>
              <c:f>Sheet1!$B$2:$B$7</c:f>
              <c:numCache>
                <c:formatCode>General</c:formatCode>
                <c:ptCount val="6"/>
                <c:pt idx="0">
                  <c:v>100</c:v>
                </c:pt>
                <c:pt idx="1">
                  <c:v>40</c:v>
                </c:pt>
                <c:pt idx="2">
                  <c:v>50</c:v>
                </c:pt>
                <c:pt idx="3">
                  <c:v>50</c:v>
                </c:pt>
                <c:pt idx="4">
                  <c:v>40</c:v>
                </c:pt>
                <c:pt idx="5">
                  <c:v>50</c:v>
                </c:pt>
              </c:numCache>
            </c:numRef>
          </c:val>
          <c:extLst>
            <c:ext xmlns:c16="http://schemas.microsoft.com/office/drawing/2014/chart" uri="{C3380CC4-5D6E-409C-BE32-E72D297353CC}">
              <c16:uniqueId val="{00000000-84B1-4B0C-8934-45224ADBD4C2}"/>
            </c:ext>
          </c:extLst>
        </c:ser>
        <c:ser>
          <c:idx val="1"/>
          <c:order val="1"/>
          <c:tx>
            <c:strRef>
              <c:f>Sheet1!$C$1</c:f>
              <c:strCache>
                <c:ptCount val="1"/>
                <c:pt idx="0">
                  <c:v>BLE Mesh</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Sheet1!$A$2:$A$7</c:f>
              <c:strCache>
                <c:ptCount val="6"/>
                <c:pt idx="0">
                  <c:v>吞吐</c:v>
                </c:pt>
                <c:pt idx="1">
                  <c:v>连接数</c:v>
                </c:pt>
                <c:pt idx="2">
                  <c:v>距离</c:v>
                </c:pt>
                <c:pt idx="3">
                  <c:v>功耗</c:v>
                </c:pt>
                <c:pt idx="4">
                  <c:v>可靠性</c:v>
                </c:pt>
                <c:pt idx="5">
                  <c:v>成本</c:v>
                </c:pt>
              </c:strCache>
            </c:strRef>
          </c:cat>
          <c:val>
            <c:numRef>
              <c:f>Sheet1!$C$2:$C$7</c:f>
              <c:numCache>
                <c:formatCode>General</c:formatCode>
                <c:ptCount val="6"/>
                <c:pt idx="0">
                  <c:v>1</c:v>
                </c:pt>
                <c:pt idx="1">
                  <c:v>100</c:v>
                </c:pt>
                <c:pt idx="2">
                  <c:v>80</c:v>
                </c:pt>
                <c:pt idx="3">
                  <c:v>80</c:v>
                </c:pt>
                <c:pt idx="4">
                  <c:v>50</c:v>
                </c:pt>
                <c:pt idx="5">
                  <c:v>80</c:v>
                </c:pt>
              </c:numCache>
            </c:numRef>
          </c:val>
          <c:extLst>
            <c:ext xmlns:c16="http://schemas.microsoft.com/office/drawing/2014/chart" uri="{C3380CC4-5D6E-409C-BE32-E72D297353CC}">
              <c16:uniqueId val="{00000001-84B1-4B0C-8934-45224ADBD4C2}"/>
            </c:ext>
          </c:extLst>
        </c:ser>
        <c:ser>
          <c:idx val="2"/>
          <c:order val="2"/>
          <c:tx>
            <c:strRef>
              <c:f>Sheet1!$D$1</c:f>
              <c:strCache>
                <c:ptCount val="1"/>
                <c:pt idx="0">
                  <c:v>Zigbee</c:v>
                </c:pt>
              </c:strCache>
            </c:strRef>
          </c:tx>
          <c:spPr>
            <a:ln w="34925" cap="rnd">
              <a:solidFill>
                <a:srgbClr val="00B050"/>
              </a:solidFill>
              <a:round/>
            </a:ln>
            <a:effectLst>
              <a:outerShdw blurRad="57150" dist="19050" dir="5400000" algn="ctr" rotWithShape="0">
                <a:srgbClr val="000000">
                  <a:alpha val="63000"/>
                </a:srgbClr>
              </a:outerShdw>
            </a:effectLst>
          </c:spPr>
          <c:marker>
            <c:symbol val="none"/>
          </c:marker>
          <c:cat>
            <c:strRef>
              <c:f>Sheet1!$A$2:$A$7</c:f>
              <c:strCache>
                <c:ptCount val="6"/>
                <c:pt idx="0">
                  <c:v>吞吐</c:v>
                </c:pt>
                <c:pt idx="1">
                  <c:v>连接数</c:v>
                </c:pt>
                <c:pt idx="2">
                  <c:v>距离</c:v>
                </c:pt>
                <c:pt idx="3">
                  <c:v>功耗</c:v>
                </c:pt>
                <c:pt idx="4">
                  <c:v>可靠性</c:v>
                </c:pt>
                <c:pt idx="5">
                  <c:v>成本</c:v>
                </c:pt>
              </c:strCache>
            </c:strRef>
          </c:cat>
          <c:val>
            <c:numRef>
              <c:f>Sheet1!$D$2:$D$7</c:f>
              <c:numCache>
                <c:formatCode>General</c:formatCode>
                <c:ptCount val="6"/>
                <c:pt idx="0">
                  <c:v>1</c:v>
                </c:pt>
                <c:pt idx="1">
                  <c:v>100</c:v>
                </c:pt>
                <c:pt idx="2">
                  <c:v>80</c:v>
                </c:pt>
                <c:pt idx="3">
                  <c:v>80</c:v>
                </c:pt>
                <c:pt idx="4">
                  <c:v>60</c:v>
                </c:pt>
                <c:pt idx="5">
                  <c:v>40</c:v>
                </c:pt>
              </c:numCache>
            </c:numRef>
          </c:val>
          <c:extLst>
            <c:ext xmlns:c16="http://schemas.microsoft.com/office/drawing/2014/chart" uri="{C3380CC4-5D6E-409C-BE32-E72D297353CC}">
              <c16:uniqueId val="{00000002-84B1-4B0C-8934-45224ADBD4C2}"/>
            </c:ext>
          </c:extLst>
        </c:ser>
        <c:ser>
          <c:idx val="3"/>
          <c:order val="3"/>
          <c:tx>
            <c:strRef>
              <c:f>Sheet1!$E$1</c:f>
              <c:strCache>
                <c:ptCount val="1"/>
                <c:pt idx="0">
                  <c:v>PLC-IoT</c:v>
                </c:pt>
              </c:strCache>
            </c:strRef>
          </c:tx>
          <c:spPr>
            <a:ln w="34925" cap="rnd">
              <a:solidFill>
                <a:schemeClr val="accent4"/>
              </a:solidFill>
              <a:round/>
            </a:ln>
            <a:effectLst>
              <a:outerShdw blurRad="57150" dist="19050" dir="5400000" algn="ctr" rotWithShape="0">
                <a:srgbClr val="000000">
                  <a:alpha val="63000"/>
                </a:srgbClr>
              </a:outerShdw>
            </a:effectLst>
          </c:spPr>
          <c:marker>
            <c:symbol val="none"/>
          </c:marker>
          <c:cat>
            <c:strRef>
              <c:f>Sheet1!$A$2:$A$7</c:f>
              <c:strCache>
                <c:ptCount val="6"/>
                <c:pt idx="0">
                  <c:v>吞吐</c:v>
                </c:pt>
                <c:pt idx="1">
                  <c:v>连接数</c:v>
                </c:pt>
                <c:pt idx="2">
                  <c:v>距离</c:v>
                </c:pt>
                <c:pt idx="3">
                  <c:v>功耗</c:v>
                </c:pt>
                <c:pt idx="4">
                  <c:v>可靠性</c:v>
                </c:pt>
                <c:pt idx="5">
                  <c:v>成本</c:v>
                </c:pt>
              </c:strCache>
            </c:strRef>
          </c:cat>
          <c:val>
            <c:numRef>
              <c:f>Sheet1!$E$2:$E$7</c:f>
              <c:numCache>
                <c:formatCode>General</c:formatCode>
                <c:ptCount val="6"/>
                <c:pt idx="0">
                  <c:v>10</c:v>
                </c:pt>
                <c:pt idx="1">
                  <c:v>100</c:v>
                </c:pt>
                <c:pt idx="2">
                  <c:v>100</c:v>
                </c:pt>
                <c:pt idx="3">
                  <c:v>50</c:v>
                </c:pt>
                <c:pt idx="4">
                  <c:v>90</c:v>
                </c:pt>
                <c:pt idx="5">
                  <c:v>30</c:v>
                </c:pt>
              </c:numCache>
            </c:numRef>
          </c:val>
          <c:extLst>
            <c:ext xmlns:c16="http://schemas.microsoft.com/office/drawing/2014/chart" uri="{C3380CC4-5D6E-409C-BE32-E72D297353CC}">
              <c16:uniqueId val="{00000003-84B1-4B0C-8934-45224ADBD4C2}"/>
            </c:ext>
          </c:extLst>
        </c:ser>
        <c:dLbls>
          <c:showLegendKey val="0"/>
          <c:showVal val="0"/>
          <c:showCatName val="0"/>
          <c:showSerName val="0"/>
          <c:showPercent val="0"/>
          <c:showBubbleSize val="0"/>
        </c:dLbls>
        <c:axId val="171404176"/>
        <c:axId val="171395472"/>
      </c:radarChart>
      <c:catAx>
        <c:axId val="17140417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rgbClr val="3864B2"/>
                </a:solidFill>
                <a:latin typeface="微软雅黑" panose="020B0503020204020204" pitchFamily="34" charset="-122"/>
                <a:ea typeface="微软雅黑" panose="020B0503020204020204" pitchFamily="34" charset="-122"/>
                <a:cs typeface="+mn-cs"/>
              </a:defRPr>
            </a:pPr>
            <a:endParaRPr lang="zh-CN"/>
          </a:p>
        </c:txPr>
        <c:crossAx val="171395472"/>
        <c:crosses val="autoZero"/>
        <c:auto val="1"/>
        <c:lblAlgn val="ctr"/>
        <c:lblOffset val="100"/>
        <c:noMultiLvlLbl val="0"/>
      </c:catAx>
      <c:valAx>
        <c:axId val="171395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rgbClr val="3864B2"/>
                </a:solidFill>
                <a:latin typeface="微软雅黑" panose="020B0503020204020204" pitchFamily="34" charset="-122"/>
                <a:ea typeface="微软雅黑" panose="020B0503020204020204" pitchFamily="34" charset="-122"/>
                <a:cs typeface="+mn-cs"/>
              </a:defRPr>
            </a:pPr>
            <a:endParaRPr lang="zh-CN"/>
          </a:p>
        </c:txPr>
        <c:crossAx val="171404176"/>
        <c:crosses val="autoZero"/>
        <c:crossBetween val="between"/>
      </c:valAx>
      <c:spPr>
        <a:noFill/>
        <a:ln>
          <a:noFill/>
        </a:ln>
        <a:effectLst/>
      </c:spPr>
    </c:plotArea>
    <c:legend>
      <c:legendPos val="t"/>
      <c:layout>
        <c:manualLayout>
          <c:xMode val="edge"/>
          <c:yMode val="edge"/>
          <c:x val="0"/>
          <c:y val="0.83613081897070463"/>
          <c:w val="1"/>
          <c:h val="0.16130790653684257"/>
        </c:manualLayout>
      </c:layout>
      <c:overlay val="0"/>
      <c:spPr>
        <a:noFill/>
        <a:ln>
          <a:noFill/>
        </a:ln>
        <a:effectLst/>
      </c:spPr>
      <c:txPr>
        <a:bodyPr rot="0" spcFirstLastPara="1" vertOverflow="ellipsis" vert="horz" wrap="square" anchor="ctr" anchorCtr="1"/>
        <a:lstStyle/>
        <a:p>
          <a:pPr>
            <a:defRPr sz="1200" b="1" i="0" u="none" strike="noStrike" kern="1200" baseline="0">
              <a:solidFill>
                <a:srgbClr val="3864B2"/>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sz="1200" b="1">
          <a:solidFill>
            <a:srgbClr val="3864B2"/>
          </a:solidFill>
          <a:latin typeface="微软雅黑" panose="020B0503020204020204" pitchFamily="34" charset="-122"/>
          <a:ea typeface="微软雅黑" panose="020B0503020204020204" pitchFamily="34" charset="-122"/>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5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A2C4D-0C02-468A-8D50-7A54938203D3}" type="datetimeFigureOut">
              <a:rPr lang="zh-CN" altLang="en-US" smtClean="0"/>
              <a:t>2021/5/31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9322-6E7E-4146-B5B6-42EE0C3039A0}" type="slidenum">
              <a:rPr lang="zh-CN" altLang="en-US" smtClean="0"/>
              <a:t>‹#›</a:t>
            </a:fld>
            <a:endParaRPr lang="zh-CN" altLang="en-US"/>
          </a:p>
        </p:txBody>
      </p:sp>
    </p:spTree>
    <p:extLst>
      <p:ext uri="{BB962C8B-B14F-4D97-AF65-F5344CB8AC3E}">
        <p14:creationId xmlns:p14="http://schemas.microsoft.com/office/powerpoint/2010/main" val="1755941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file:///G:\Work\IoT\&#232;&#138;&#175;&#232;&#177;&#161;\&#231;&#160;&#148;&#231;&#169;&#182;&#230;&#138;&#165;&#229;&#145;&#138;\20210511-&#230;&#150;&#185;&#230;&#173;&#163;&#232;&#175;&#129;&#229;&#136;&#184;-&#229;&#141;&#138;&#229;&#175;&#188;&#228;&#189;&#147;&#239;&#188;&#154;MCU&#230;&#183;&#177;&#229;&#186;&#166;&#230;&#138;&#165;&#229;&#145;&#138;-&#229;&#190;&#174;&#230;&#142;&#167;&#229;&#136;&#182;&#229;&#153;&#168;&#231;&#160;&#148;&#231;&#169;&#182;&#230;&#161;&#134;&#230;&#158;&#182;.pdf"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file:///G:\Work\IoT\&#232;&#138;&#175;&#232;&#177;&#161;\&#231;&#160;&#148;&#231;&#169;&#182;&#230;&#138;&#165;&#229;&#145;&#138;\20210511-&#230;&#150;&#185;&#230;&#173;&#163;&#232;&#175;&#129;&#229;&#136;&#184;-&#229;&#141;&#138;&#229;&#175;&#188;&#228;&#189;&#147;&#239;&#188;&#154;MCU&#230;&#183;&#177;&#229;&#186;&#166;&#230;&#138;&#165;&#229;&#145;&#138;-&#229;&#190;&#174;&#230;&#142;&#167;&#229;&#136;&#182;&#229;&#153;&#168;&#231;&#160;&#148;&#231;&#169;&#182;&#230;&#161;&#134;&#230;&#158;&#182;.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file:///G:\Work\IoT\&#232;&#138;&#175;&#232;&#177;&#161;\&#231;&#160;&#148;&#231;&#169;&#182;&#230;&#138;&#165;&#229;&#145;&#138;\20210511-&#230;&#150;&#185;&#230;&#173;&#163;&#232;&#175;&#129;&#229;&#136;&#184;-&#229;&#141;&#138;&#229;&#175;&#188;&#228;&#189;&#147;&#239;&#188;&#154;MCU&#230;&#183;&#177;&#229;&#186;&#166;&#230;&#138;&#165;&#229;&#145;&#138;-&#229;&#190;&#174;&#230;&#142;&#167;&#229;&#136;&#182;&#229;&#153;&#168;&#231;&#160;&#148;&#231;&#169;&#182;&#230;&#161;&#134;&#230;&#158;&#182;.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file:///G:\Work\IoT\&#232;&#138;&#175;&#232;&#177;&#161;\&#231;&#160;&#148;&#231;&#169;&#182;&#230;&#138;&#165;&#229;&#145;&#138;\20210511-&#230;&#150;&#185;&#230;&#173;&#163;&#232;&#175;&#129;&#229;&#136;&#184;-&#229;&#141;&#138;&#229;&#175;&#188;&#228;&#189;&#147;&#239;&#188;&#154;MCU&#230;&#183;&#177;&#229;&#186;&#166;&#230;&#138;&#165;&#229;&#145;&#138;-&#229;&#190;&#174;&#230;&#142;&#167;&#229;&#136;&#182;&#229;&#153;&#168;&#231;&#160;&#148;&#231;&#169;&#182;&#230;&#161;&#134;&#230;&#158;&#182;.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全球物联网设备</a:t>
            </a:r>
            <a:r>
              <a:rPr lang="en-US" altLang="zh-CN" dirty="0" smtClean="0"/>
              <a:t>2019</a:t>
            </a:r>
            <a:r>
              <a:rPr lang="zh-CN" altLang="en-US" dirty="0" smtClean="0"/>
              <a:t>年</a:t>
            </a:r>
            <a:r>
              <a:rPr lang="en-US" altLang="zh-CN" dirty="0" smtClean="0"/>
              <a:t>107</a:t>
            </a:r>
            <a:r>
              <a:rPr lang="zh-CN" altLang="en-US" dirty="0" smtClean="0"/>
              <a:t>亿，</a:t>
            </a:r>
            <a:r>
              <a:rPr lang="en-US" altLang="zh-CN" dirty="0" smtClean="0"/>
              <a:t>25</a:t>
            </a:r>
            <a:r>
              <a:rPr lang="zh-CN" altLang="en-US" dirty="0" smtClean="0"/>
              <a:t>年</a:t>
            </a:r>
            <a:r>
              <a:rPr lang="en-US" altLang="zh-CN" dirty="0" smtClean="0"/>
              <a:t>252</a:t>
            </a:r>
            <a:r>
              <a:rPr lang="zh-CN" altLang="en-US" dirty="0" smtClean="0"/>
              <a:t>亿。国内智能家电</a:t>
            </a:r>
            <a:r>
              <a:rPr lang="en-US" altLang="zh-CN" dirty="0" smtClean="0"/>
              <a:t>2020</a:t>
            </a:r>
            <a:r>
              <a:rPr lang="zh-CN" altLang="en-US" dirty="0" smtClean="0"/>
              <a:t>年</a:t>
            </a:r>
            <a:r>
              <a:rPr lang="en-US" altLang="zh-CN" dirty="0" smtClean="0"/>
              <a:t>2.8</a:t>
            </a:r>
            <a:r>
              <a:rPr lang="zh-CN" altLang="en-US" dirty="0" smtClean="0"/>
              <a:t>亿台，</a:t>
            </a:r>
            <a:r>
              <a:rPr lang="en-US" altLang="zh-CN" dirty="0" smtClean="0"/>
              <a:t>2025</a:t>
            </a:r>
            <a:r>
              <a:rPr lang="zh-CN" altLang="en-US" dirty="0" smtClean="0"/>
              <a:t>年</a:t>
            </a:r>
            <a:r>
              <a:rPr lang="en-US" altLang="zh-CN" dirty="0" smtClean="0"/>
              <a:t>8.1</a:t>
            </a:r>
            <a:r>
              <a:rPr lang="zh-CN" altLang="en-US" dirty="0" smtClean="0"/>
              <a:t>亿台。（</a:t>
            </a:r>
            <a:r>
              <a:rPr lang="en-US" altLang="zh-CN" dirty="0" smtClean="0">
                <a:hlinkClick r:id="rId3"/>
              </a:rPr>
              <a:t>20210511-</a:t>
            </a:r>
            <a:r>
              <a:rPr lang="zh-CN" altLang="en-US" dirty="0" smtClean="0">
                <a:hlinkClick r:id="rId3"/>
              </a:rPr>
              <a:t>方正证券</a:t>
            </a:r>
            <a:r>
              <a:rPr lang="en-US" altLang="zh-CN" dirty="0" smtClean="0">
                <a:hlinkClick r:id="rId3"/>
              </a:rPr>
              <a:t>-</a:t>
            </a:r>
            <a:r>
              <a:rPr lang="zh-CN" altLang="en-US" dirty="0" smtClean="0">
                <a:hlinkClick r:id="rId3"/>
              </a:rPr>
              <a:t>半导体：</a:t>
            </a:r>
            <a:r>
              <a:rPr lang="en-US" altLang="zh-CN" dirty="0" smtClean="0">
                <a:hlinkClick r:id="rId3"/>
              </a:rPr>
              <a:t>MCU</a:t>
            </a:r>
            <a:r>
              <a:rPr lang="zh-CN" altLang="en-US" dirty="0" smtClean="0">
                <a:hlinkClick r:id="rId3"/>
              </a:rPr>
              <a:t>深度报告</a:t>
            </a:r>
            <a:r>
              <a:rPr lang="en-US" altLang="zh-CN" dirty="0" smtClean="0">
                <a:hlinkClick r:id="rId3"/>
              </a:rPr>
              <a:t>-</a:t>
            </a:r>
            <a:r>
              <a:rPr lang="zh-CN" altLang="en-US" dirty="0" smtClean="0">
                <a:hlinkClick r:id="rId3"/>
              </a:rPr>
              <a:t>微控制器研究框架</a:t>
            </a:r>
            <a:r>
              <a:rPr lang="en-US" altLang="zh-CN" dirty="0" smtClean="0">
                <a:hlinkClick r:id="rId3"/>
              </a:rPr>
              <a:t>.pdf</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C0719322-6E7E-4146-B5B6-42EE0C3039A0}" type="slidenum">
              <a:rPr lang="zh-CN" altLang="en-US" smtClean="0"/>
              <a:t>2</a:t>
            </a:fld>
            <a:endParaRPr lang="zh-CN" altLang="en-US"/>
          </a:p>
        </p:txBody>
      </p:sp>
    </p:spTree>
    <p:extLst>
      <p:ext uri="{BB962C8B-B14F-4D97-AF65-F5344CB8AC3E}">
        <p14:creationId xmlns:p14="http://schemas.microsoft.com/office/powerpoint/2010/main" val="3323593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全球物联网设备</a:t>
            </a:r>
            <a:r>
              <a:rPr lang="en-US" altLang="zh-CN" dirty="0" smtClean="0"/>
              <a:t>2019</a:t>
            </a:r>
            <a:r>
              <a:rPr lang="zh-CN" altLang="en-US" dirty="0" smtClean="0"/>
              <a:t>年</a:t>
            </a:r>
            <a:r>
              <a:rPr lang="en-US" altLang="zh-CN" dirty="0" smtClean="0"/>
              <a:t>107</a:t>
            </a:r>
            <a:r>
              <a:rPr lang="zh-CN" altLang="en-US" dirty="0" smtClean="0"/>
              <a:t>亿，</a:t>
            </a:r>
            <a:r>
              <a:rPr lang="en-US" altLang="zh-CN" dirty="0" smtClean="0"/>
              <a:t>25</a:t>
            </a:r>
            <a:r>
              <a:rPr lang="zh-CN" altLang="en-US" dirty="0" smtClean="0"/>
              <a:t>年</a:t>
            </a:r>
            <a:r>
              <a:rPr lang="en-US" altLang="zh-CN" dirty="0" smtClean="0"/>
              <a:t>252</a:t>
            </a:r>
            <a:r>
              <a:rPr lang="zh-CN" altLang="en-US" dirty="0" smtClean="0"/>
              <a:t>亿。国内智能家电</a:t>
            </a:r>
            <a:r>
              <a:rPr lang="en-US" altLang="zh-CN" dirty="0" smtClean="0"/>
              <a:t>2020</a:t>
            </a:r>
            <a:r>
              <a:rPr lang="zh-CN" altLang="en-US" dirty="0" smtClean="0"/>
              <a:t>年</a:t>
            </a:r>
            <a:r>
              <a:rPr lang="en-US" altLang="zh-CN" dirty="0" smtClean="0"/>
              <a:t>2.8</a:t>
            </a:r>
            <a:r>
              <a:rPr lang="zh-CN" altLang="en-US" dirty="0" smtClean="0"/>
              <a:t>亿台，</a:t>
            </a:r>
            <a:r>
              <a:rPr lang="en-US" altLang="zh-CN" dirty="0" smtClean="0"/>
              <a:t>2025</a:t>
            </a:r>
            <a:r>
              <a:rPr lang="zh-CN" altLang="en-US" dirty="0" smtClean="0"/>
              <a:t>年</a:t>
            </a:r>
            <a:r>
              <a:rPr lang="en-US" altLang="zh-CN" dirty="0" smtClean="0"/>
              <a:t>8.1</a:t>
            </a:r>
            <a:r>
              <a:rPr lang="zh-CN" altLang="en-US" dirty="0" smtClean="0"/>
              <a:t>亿台。（</a:t>
            </a:r>
            <a:r>
              <a:rPr lang="en-US" altLang="zh-CN" dirty="0" smtClean="0">
                <a:hlinkClick r:id="rId3"/>
              </a:rPr>
              <a:t>20210511-</a:t>
            </a:r>
            <a:r>
              <a:rPr lang="zh-CN" altLang="en-US" dirty="0" smtClean="0">
                <a:hlinkClick r:id="rId3"/>
              </a:rPr>
              <a:t>方正证券</a:t>
            </a:r>
            <a:r>
              <a:rPr lang="en-US" altLang="zh-CN" dirty="0" smtClean="0">
                <a:hlinkClick r:id="rId3"/>
              </a:rPr>
              <a:t>-</a:t>
            </a:r>
            <a:r>
              <a:rPr lang="zh-CN" altLang="en-US" dirty="0" smtClean="0">
                <a:hlinkClick r:id="rId3"/>
              </a:rPr>
              <a:t>半导体：</a:t>
            </a:r>
            <a:r>
              <a:rPr lang="en-US" altLang="zh-CN" dirty="0" smtClean="0">
                <a:hlinkClick r:id="rId3"/>
              </a:rPr>
              <a:t>MCU</a:t>
            </a:r>
            <a:r>
              <a:rPr lang="zh-CN" altLang="en-US" dirty="0" smtClean="0">
                <a:hlinkClick r:id="rId3"/>
              </a:rPr>
              <a:t>深度报告</a:t>
            </a:r>
            <a:r>
              <a:rPr lang="en-US" altLang="zh-CN" dirty="0" smtClean="0">
                <a:hlinkClick r:id="rId3"/>
              </a:rPr>
              <a:t>-</a:t>
            </a:r>
            <a:r>
              <a:rPr lang="zh-CN" altLang="en-US" dirty="0" smtClean="0">
                <a:hlinkClick r:id="rId3"/>
              </a:rPr>
              <a:t>微控制器研究框架</a:t>
            </a:r>
            <a:r>
              <a:rPr lang="en-US" altLang="zh-CN" dirty="0" smtClean="0">
                <a:hlinkClick r:id="rId3"/>
              </a:rPr>
              <a:t>.pdf</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C0719322-6E7E-4146-B5B6-42EE0C3039A0}" type="slidenum">
              <a:rPr lang="zh-CN" altLang="en-US" smtClean="0"/>
              <a:t>5</a:t>
            </a:fld>
            <a:endParaRPr lang="zh-CN" altLang="en-US"/>
          </a:p>
        </p:txBody>
      </p:sp>
    </p:spTree>
    <p:extLst>
      <p:ext uri="{BB962C8B-B14F-4D97-AF65-F5344CB8AC3E}">
        <p14:creationId xmlns:p14="http://schemas.microsoft.com/office/powerpoint/2010/main" val="417568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全球物联网设备</a:t>
            </a:r>
            <a:r>
              <a:rPr lang="en-US" altLang="zh-CN" dirty="0" smtClean="0"/>
              <a:t>2019</a:t>
            </a:r>
            <a:r>
              <a:rPr lang="zh-CN" altLang="en-US" dirty="0" smtClean="0"/>
              <a:t>年</a:t>
            </a:r>
            <a:r>
              <a:rPr lang="en-US" altLang="zh-CN" dirty="0" smtClean="0"/>
              <a:t>107</a:t>
            </a:r>
            <a:r>
              <a:rPr lang="zh-CN" altLang="en-US" dirty="0" smtClean="0"/>
              <a:t>亿，</a:t>
            </a:r>
            <a:r>
              <a:rPr lang="en-US" altLang="zh-CN" dirty="0" smtClean="0"/>
              <a:t>25</a:t>
            </a:r>
            <a:r>
              <a:rPr lang="zh-CN" altLang="en-US" dirty="0" smtClean="0"/>
              <a:t>年</a:t>
            </a:r>
            <a:r>
              <a:rPr lang="en-US" altLang="zh-CN" dirty="0" smtClean="0"/>
              <a:t>252</a:t>
            </a:r>
            <a:r>
              <a:rPr lang="zh-CN" altLang="en-US" dirty="0" smtClean="0"/>
              <a:t>亿。国内智能家电</a:t>
            </a:r>
            <a:r>
              <a:rPr lang="en-US" altLang="zh-CN" dirty="0" smtClean="0"/>
              <a:t>2020</a:t>
            </a:r>
            <a:r>
              <a:rPr lang="zh-CN" altLang="en-US" dirty="0" smtClean="0"/>
              <a:t>年</a:t>
            </a:r>
            <a:r>
              <a:rPr lang="en-US" altLang="zh-CN" dirty="0" smtClean="0"/>
              <a:t>2.8</a:t>
            </a:r>
            <a:r>
              <a:rPr lang="zh-CN" altLang="en-US" dirty="0" smtClean="0"/>
              <a:t>亿台，</a:t>
            </a:r>
            <a:r>
              <a:rPr lang="en-US" altLang="zh-CN" dirty="0" smtClean="0"/>
              <a:t>2025</a:t>
            </a:r>
            <a:r>
              <a:rPr lang="zh-CN" altLang="en-US" dirty="0" smtClean="0"/>
              <a:t>年</a:t>
            </a:r>
            <a:r>
              <a:rPr lang="en-US" altLang="zh-CN" dirty="0" smtClean="0"/>
              <a:t>8.1</a:t>
            </a:r>
            <a:r>
              <a:rPr lang="zh-CN" altLang="en-US" dirty="0" smtClean="0"/>
              <a:t>亿台。（</a:t>
            </a:r>
            <a:r>
              <a:rPr lang="en-US" altLang="zh-CN" dirty="0" smtClean="0">
                <a:hlinkClick r:id="rId3"/>
              </a:rPr>
              <a:t>20210511-</a:t>
            </a:r>
            <a:r>
              <a:rPr lang="zh-CN" altLang="en-US" dirty="0" smtClean="0">
                <a:hlinkClick r:id="rId3"/>
              </a:rPr>
              <a:t>方正证券</a:t>
            </a:r>
            <a:r>
              <a:rPr lang="en-US" altLang="zh-CN" dirty="0" smtClean="0">
                <a:hlinkClick r:id="rId3"/>
              </a:rPr>
              <a:t>-</a:t>
            </a:r>
            <a:r>
              <a:rPr lang="zh-CN" altLang="en-US" dirty="0" smtClean="0">
                <a:hlinkClick r:id="rId3"/>
              </a:rPr>
              <a:t>半导体：</a:t>
            </a:r>
            <a:r>
              <a:rPr lang="en-US" altLang="zh-CN" dirty="0" smtClean="0">
                <a:hlinkClick r:id="rId3"/>
              </a:rPr>
              <a:t>MCU</a:t>
            </a:r>
            <a:r>
              <a:rPr lang="zh-CN" altLang="en-US" dirty="0" smtClean="0">
                <a:hlinkClick r:id="rId3"/>
              </a:rPr>
              <a:t>深度报告</a:t>
            </a:r>
            <a:r>
              <a:rPr lang="en-US" altLang="zh-CN" dirty="0" smtClean="0">
                <a:hlinkClick r:id="rId3"/>
              </a:rPr>
              <a:t>-</a:t>
            </a:r>
            <a:r>
              <a:rPr lang="zh-CN" altLang="en-US" dirty="0" smtClean="0">
                <a:hlinkClick r:id="rId3"/>
              </a:rPr>
              <a:t>微控制器研究框架</a:t>
            </a:r>
            <a:r>
              <a:rPr lang="en-US" altLang="zh-CN" dirty="0" smtClean="0">
                <a:hlinkClick r:id="rId3"/>
              </a:rPr>
              <a:t>.pdf</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C0719322-6E7E-4146-B5B6-42EE0C3039A0}" type="slidenum">
              <a:rPr lang="zh-CN" altLang="en-US" smtClean="0"/>
              <a:t>6</a:t>
            </a:fld>
            <a:endParaRPr lang="zh-CN" altLang="en-US"/>
          </a:p>
        </p:txBody>
      </p:sp>
    </p:spTree>
    <p:extLst>
      <p:ext uri="{BB962C8B-B14F-4D97-AF65-F5344CB8AC3E}">
        <p14:creationId xmlns:p14="http://schemas.microsoft.com/office/powerpoint/2010/main" val="3516523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全球物联网设备</a:t>
            </a:r>
            <a:r>
              <a:rPr lang="en-US" altLang="zh-CN" dirty="0" smtClean="0"/>
              <a:t>2019</a:t>
            </a:r>
            <a:r>
              <a:rPr lang="zh-CN" altLang="en-US" dirty="0" smtClean="0"/>
              <a:t>年</a:t>
            </a:r>
            <a:r>
              <a:rPr lang="en-US" altLang="zh-CN" dirty="0" smtClean="0"/>
              <a:t>107</a:t>
            </a:r>
            <a:r>
              <a:rPr lang="zh-CN" altLang="en-US" dirty="0" smtClean="0"/>
              <a:t>亿，</a:t>
            </a:r>
            <a:r>
              <a:rPr lang="en-US" altLang="zh-CN" dirty="0" smtClean="0"/>
              <a:t>25</a:t>
            </a:r>
            <a:r>
              <a:rPr lang="zh-CN" altLang="en-US" dirty="0" smtClean="0"/>
              <a:t>年</a:t>
            </a:r>
            <a:r>
              <a:rPr lang="en-US" altLang="zh-CN" dirty="0" smtClean="0"/>
              <a:t>252</a:t>
            </a:r>
            <a:r>
              <a:rPr lang="zh-CN" altLang="en-US" dirty="0" smtClean="0"/>
              <a:t>亿。国内智能家电</a:t>
            </a:r>
            <a:r>
              <a:rPr lang="en-US" altLang="zh-CN" dirty="0" smtClean="0"/>
              <a:t>2020</a:t>
            </a:r>
            <a:r>
              <a:rPr lang="zh-CN" altLang="en-US" dirty="0" smtClean="0"/>
              <a:t>年</a:t>
            </a:r>
            <a:r>
              <a:rPr lang="en-US" altLang="zh-CN" dirty="0" smtClean="0"/>
              <a:t>2.8</a:t>
            </a:r>
            <a:r>
              <a:rPr lang="zh-CN" altLang="en-US" dirty="0" smtClean="0"/>
              <a:t>亿台，</a:t>
            </a:r>
            <a:r>
              <a:rPr lang="en-US" altLang="zh-CN" dirty="0" smtClean="0"/>
              <a:t>2025</a:t>
            </a:r>
            <a:r>
              <a:rPr lang="zh-CN" altLang="en-US" dirty="0" smtClean="0"/>
              <a:t>年</a:t>
            </a:r>
            <a:r>
              <a:rPr lang="en-US" altLang="zh-CN" dirty="0" smtClean="0"/>
              <a:t>8.1</a:t>
            </a:r>
            <a:r>
              <a:rPr lang="zh-CN" altLang="en-US" dirty="0" smtClean="0"/>
              <a:t>亿台。（</a:t>
            </a:r>
            <a:r>
              <a:rPr lang="en-US" altLang="zh-CN" dirty="0" smtClean="0">
                <a:hlinkClick r:id="rId3"/>
              </a:rPr>
              <a:t>20210511-</a:t>
            </a:r>
            <a:r>
              <a:rPr lang="zh-CN" altLang="en-US" dirty="0" smtClean="0">
                <a:hlinkClick r:id="rId3"/>
              </a:rPr>
              <a:t>方正证券</a:t>
            </a:r>
            <a:r>
              <a:rPr lang="en-US" altLang="zh-CN" dirty="0" smtClean="0">
                <a:hlinkClick r:id="rId3"/>
              </a:rPr>
              <a:t>-</a:t>
            </a:r>
            <a:r>
              <a:rPr lang="zh-CN" altLang="en-US" dirty="0" smtClean="0">
                <a:hlinkClick r:id="rId3"/>
              </a:rPr>
              <a:t>半导体：</a:t>
            </a:r>
            <a:r>
              <a:rPr lang="en-US" altLang="zh-CN" dirty="0" smtClean="0">
                <a:hlinkClick r:id="rId3"/>
              </a:rPr>
              <a:t>MCU</a:t>
            </a:r>
            <a:r>
              <a:rPr lang="zh-CN" altLang="en-US" dirty="0" smtClean="0">
                <a:hlinkClick r:id="rId3"/>
              </a:rPr>
              <a:t>深度报告</a:t>
            </a:r>
            <a:r>
              <a:rPr lang="en-US" altLang="zh-CN" dirty="0" smtClean="0">
                <a:hlinkClick r:id="rId3"/>
              </a:rPr>
              <a:t>-</a:t>
            </a:r>
            <a:r>
              <a:rPr lang="zh-CN" altLang="en-US" dirty="0" smtClean="0">
                <a:hlinkClick r:id="rId3"/>
              </a:rPr>
              <a:t>微控制器研究框架</a:t>
            </a:r>
            <a:r>
              <a:rPr lang="en-US" altLang="zh-CN" dirty="0" smtClean="0">
                <a:hlinkClick r:id="rId3"/>
              </a:rPr>
              <a:t>.pdf</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C0719322-6E7E-4146-B5B6-42EE0C3039A0}" type="slidenum">
              <a:rPr lang="zh-CN" altLang="en-US" smtClean="0"/>
              <a:t>8</a:t>
            </a:fld>
            <a:endParaRPr lang="zh-CN" altLang="en-US"/>
          </a:p>
        </p:txBody>
      </p:sp>
    </p:spTree>
    <p:extLst>
      <p:ext uri="{BB962C8B-B14F-4D97-AF65-F5344CB8AC3E}">
        <p14:creationId xmlns:p14="http://schemas.microsoft.com/office/powerpoint/2010/main" val="4035832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1FE4AC-2D8B-0C4E-B1F2-E5FE0ABCA39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C9C23CD4-332D-D546-8DAD-10A3FA71DE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9164463-E9A3-F640-9640-FC85B177811A}"/>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082A597F-072F-6042-8CB8-E3B60C3646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1C8050E-7AC8-4049-BAA7-92E07D326C52}"/>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718106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F9A92-7EF3-B746-95FB-BB874875795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C7E845D-D8EA-994F-B8AB-2210A548C72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E3B6F6C-2688-2547-964E-C0AB58876F65}"/>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61506DB0-7731-6348-9D97-DE6683C2096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9642EB1-C533-F843-9903-249D7BFBDD49}"/>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1629672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A9C010-1BA7-9C43-AC50-96EACC237A2D}"/>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5F8DE38-64AE-074A-B545-89CD1B91EE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A3C4E69-079F-A54A-BC6A-52AAF916E77C}"/>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2D04B274-955E-E343-B00A-8602FBF012F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2233B15-95F5-D840-AAA1-D907A5BE8F4E}"/>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277557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B1F81A-5EF6-F448-BAD3-825D123CA6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4B9D6B6-DEEA-DA4E-A743-A1E1E4F21FC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A152233-87B9-024A-BE92-BC1A5D92178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9D870BB-B5B9-934D-BFB6-367CC3456405}"/>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6" name="页脚占位符 5">
            <a:extLst>
              <a:ext uri="{FF2B5EF4-FFF2-40B4-BE49-F238E27FC236}">
                <a16:creationId xmlns:a16="http://schemas.microsoft.com/office/drawing/2014/main" id="{34EAF093-A2BC-9642-B669-30E52FB6516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A70C679-F812-1A44-A0AB-D7B1B5367AA6}"/>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3475308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3423D-9DD0-AB48-AE1C-878FF83B0F4D}"/>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670480E-8E32-2D49-B372-D90141034F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89A04DF-F6D8-9A43-AEF4-8D3150924E9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23B2011-5AAB-664F-810F-3323166233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D1CF88A-BA4C-994A-B646-D38BB806EC9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D0466D7-EC8B-D845-B9BB-51555D9BBF9E}"/>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8" name="页脚占位符 7">
            <a:extLst>
              <a:ext uri="{FF2B5EF4-FFF2-40B4-BE49-F238E27FC236}">
                <a16:creationId xmlns:a16="http://schemas.microsoft.com/office/drawing/2014/main" id="{49BFC3CE-E8BC-A345-98D9-AFCB204DEFF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0E0683CF-7C55-2648-AA66-CFF339CF6F18}"/>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780123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CBAA2D-8C3B-8D45-8803-B391D360405A}"/>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A9972FD-EAE5-D44B-B66A-E566F8AFAB55}"/>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4" name="页脚占位符 3">
            <a:extLst>
              <a:ext uri="{FF2B5EF4-FFF2-40B4-BE49-F238E27FC236}">
                <a16:creationId xmlns:a16="http://schemas.microsoft.com/office/drawing/2014/main" id="{FDDADFDA-9F9D-4A4E-B41B-99AB60D898A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01BB8D6-576D-7246-A972-44CCFC56C824}"/>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4107083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5D4C3E-54A4-BB4A-84DD-06A863ED6EF3}"/>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3" name="页脚占位符 2">
            <a:extLst>
              <a:ext uri="{FF2B5EF4-FFF2-40B4-BE49-F238E27FC236}">
                <a16:creationId xmlns:a16="http://schemas.microsoft.com/office/drawing/2014/main" id="{188341C9-685A-B541-A824-AAD766DE52C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D29FB60-BF08-F24B-9194-6B15018CF805}"/>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289883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A3129-FEDF-C449-B270-801EFC5BE4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56958A9-87E8-8244-87D9-25A3CF84A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211F007F-03FD-4941-A562-C489A750D7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9F40D5F-2F64-E84B-9ACB-DFA4E93120DE}"/>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6" name="页脚占位符 5">
            <a:extLst>
              <a:ext uri="{FF2B5EF4-FFF2-40B4-BE49-F238E27FC236}">
                <a16:creationId xmlns:a16="http://schemas.microsoft.com/office/drawing/2014/main" id="{13B8710D-1097-C74A-9DE2-EBF4CD781F8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E00027F-5456-8F47-BE67-C20AFBEBD4D1}"/>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144537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0A9C4-92A0-1B4B-9ECC-8BEBD48591F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D873933-0A64-9340-BABB-BE8941156E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2E3A77F-6920-0C44-89E1-BA39A49C5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6F1A993-E507-5546-A3F3-950A7399AEC2}"/>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6" name="页脚占位符 5">
            <a:extLst>
              <a:ext uri="{FF2B5EF4-FFF2-40B4-BE49-F238E27FC236}">
                <a16:creationId xmlns:a16="http://schemas.microsoft.com/office/drawing/2014/main" id="{2900F9BB-94CE-C448-B919-584DD925B81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ED05904-13FC-014E-BB5F-79D5935A4650}"/>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1367364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2AF2D0-682E-1A46-968C-9ABD4A55139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C518902-1C31-5349-B13F-705B5977E2DE}"/>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EC91054-0E14-004C-B045-746E3E19A1EC}"/>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19AB6188-0508-5F47-B759-FA87466B1B2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F039DBC-09B6-C447-8E8D-5AC8D806C7F0}"/>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2886238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382353-AC6F-2248-919D-FD474A43DAF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6543A39-5A87-6643-B06B-EA6FF7EA822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CF187AD-172F-4F4C-B239-7427C511587E}"/>
              </a:ext>
            </a:extLst>
          </p:cNvPr>
          <p:cNvSpPr>
            <a:spLocks noGrp="1"/>
          </p:cNvSpPr>
          <p:nvPr>
            <p:ph type="dt" sz="half" idx="10"/>
          </p:nvPr>
        </p:nvSpPr>
        <p:spPr/>
        <p:txBody>
          <a:body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30D3716A-7CDD-2A4E-9302-E63BB5DCE7E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8FCAE03-17B5-BF42-ACC4-25832851BF0F}"/>
              </a:ext>
            </a:extLst>
          </p:cNvPr>
          <p:cNvSpPr>
            <a:spLocks noGrp="1"/>
          </p:cNvSpPr>
          <p:nvPr>
            <p:ph type="sldNum" sz="quarter" idx="12"/>
          </p:nvPr>
        </p:nvSpPr>
        <p:spPr/>
        <p:txBody>
          <a:body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3479653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671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25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95571" y="363037"/>
            <a:ext cx="5136819" cy="599491"/>
          </a:xfrm>
        </p:spPr>
        <p:txBody>
          <a:bodyPr>
            <a:normAutofit/>
          </a:bodyPr>
          <a:lstStyle>
            <a:lvl1pPr marL="0" algn="l" defTabSz="914377" rtl="0" eaLnBrk="0" fontAlgn="base" latinLnBrk="0" hangingPunct="0">
              <a:spcBef>
                <a:spcPct val="0"/>
              </a:spcBef>
              <a:spcAft>
                <a:spcPct val="0"/>
              </a:spcAft>
              <a:defRPr lang="zh-CN" altLang="en-US" sz="2400" b="1" kern="1200" spc="100">
                <a:solidFill>
                  <a:schemeClr val="tx1">
                    <a:lumMod val="95000"/>
                    <a:lumOff val="5000"/>
                  </a:schemeClr>
                </a:solidFill>
                <a:latin typeface="微软雅黑" panose="020B0503020204020204" pitchFamily="34" charset="-122"/>
                <a:ea typeface="微软雅黑" panose="020B0503020204020204" pitchFamily="34" charset="-122"/>
                <a:cs typeface="+mj-cs"/>
              </a:defRPr>
            </a:lvl1pPr>
          </a:lstStyle>
          <a:p>
            <a:r>
              <a:rPr kumimoji="1" lang="zh-CN" altLang="en-US"/>
              <a:t>单击此处编辑母版标题样式</a:t>
            </a:r>
            <a:endParaRPr kumimoji="1" lang="zh-CN" altLang="en-US" dirty="0"/>
          </a:p>
        </p:txBody>
      </p:sp>
      <p:sp>
        <p:nvSpPr>
          <p:cNvPr id="3" name="内容占位符 2"/>
          <p:cNvSpPr>
            <a:spLocks noGrp="1"/>
          </p:cNvSpPr>
          <p:nvPr>
            <p:ph idx="1"/>
          </p:nvPr>
        </p:nvSpPr>
        <p:spPr>
          <a:xfrm>
            <a:off x="720079" y="1419788"/>
            <a:ext cx="10515600" cy="4351339"/>
          </a:xfrm>
        </p:spPr>
        <p:txBody>
          <a:bodyPr/>
          <a:lstStyle>
            <a:lvl1pPr>
              <a:lnSpc>
                <a:spcPct val="150000"/>
              </a:lnSpc>
              <a:defRPr sz="2400" b="0" i="0" spc="100" baseline="0">
                <a:latin typeface="Microsoft YaHei" charset="-122"/>
                <a:ea typeface="Microsoft YaHei" charset="-122"/>
                <a:cs typeface="Microsoft YaHei" charset="-122"/>
              </a:defRPr>
            </a:lvl1pPr>
            <a:lvl2pPr>
              <a:lnSpc>
                <a:spcPct val="150000"/>
              </a:lnSpc>
              <a:defRPr sz="2000" b="0" i="0" spc="100" baseline="0">
                <a:latin typeface="Microsoft YaHei" charset="-122"/>
                <a:ea typeface="Microsoft YaHei" charset="-122"/>
                <a:cs typeface="Microsoft YaHei" charset="-122"/>
              </a:defRPr>
            </a:lvl2pPr>
            <a:lvl3pPr>
              <a:lnSpc>
                <a:spcPct val="150000"/>
              </a:lnSpc>
              <a:defRPr sz="1800" b="0" i="0" spc="100" baseline="0">
                <a:latin typeface="Microsoft YaHei" charset="-122"/>
                <a:ea typeface="Microsoft YaHei" charset="-122"/>
                <a:cs typeface="Microsoft YaHei" charset="-122"/>
              </a:defRPr>
            </a:lvl3pPr>
            <a:lvl4pPr>
              <a:lnSpc>
                <a:spcPct val="150000"/>
              </a:lnSpc>
              <a:defRPr sz="1600" b="0" i="0" spc="100" baseline="0">
                <a:latin typeface="Microsoft YaHei" charset="-122"/>
                <a:ea typeface="Microsoft YaHei" charset="-122"/>
                <a:cs typeface="Microsoft YaHei" charset="-122"/>
              </a:defRPr>
            </a:lvl4pPr>
            <a:lvl5pPr>
              <a:lnSpc>
                <a:spcPct val="150000"/>
              </a:lnSpc>
              <a:defRPr sz="1600" b="0" i="0" spc="100" baseline="0">
                <a:latin typeface="Microsoft YaHei" charset="-122"/>
                <a:ea typeface="Microsoft YaHei" charset="-122"/>
                <a:cs typeface="Microsoft YaHei" charset="-122"/>
              </a:defRPr>
            </a:lvl5p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endParaRPr kumimoji="1" lang="zh-CN" altLang="en-US" dirty="0"/>
          </a:p>
        </p:txBody>
      </p:sp>
      <p:grpSp>
        <p:nvGrpSpPr>
          <p:cNvPr id="24" name="组 23"/>
          <p:cNvGrpSpPr/>
          <p:nvPr userDrawn="1"/>
        </p:nvGrpSpPr>
        <p:grpSpPr>
          <a:xfrm>
            <a:off x="-299933" y="391678"/>
            <a:ext cx="12607263" cy="6356687"/>
            <a:chOff x="-299933" y="327075"/>
            <a:chExt cx="9552452" cy="4816425"/>
          </a:xfrm>
        </p:grpSpPr>
        <p:pic>
          <p:nvPicPr>
            <p:cNvPr id="16" name="图片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00392" y="411510"/>
              <a:ext cx="680288" cy="248305"/>
            </a:xfrm>
            <a:prstGeom prst="rect">
              <a:avLst/>
            </a:prstGeom>
          </p:spPr>
        </p:pic>
        <p:sp>
          <p:nvSpPr>
            <p:cNvPr id="17" name="平行四边形 16"/>
            <p:cNvSpPr/>
            <p:nvPr userDrawn="1"/>
          </p:nvSpPr>
          <p:spPr>
            <a:xfrm flipH="1">
              <a:off x="-299926" y="327075"/>
              <a:ext cx="706892" cy="380814"/>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grpSp>
          <p:nvGrpSpPr>
            <p:cNvPr id="18" name="组 17"/>
            <p:cNvGrpSpPr/>
            <p:nvPr userDrawn="1"/>
          </p:nvGrpSpPr>
          <p:grpSpPr>
            <a:xfrm>
              <a:off x="-299933" y="5020022"/>
              <a:ext cx="9552452" cy="123478"/>
              <a:chOff x="-299933" y="5020022"/>
              <a:chExt cx="9552452" cy="123478"/>
            </a:xfrm>
          </p:grpSpPr>
          <p:sp>
            <p:nvSpPr>
              <p:cNvPr id="19" name="平行四边形 18"/>
              <p:cNvSpPr/>
              <p:nvPr/>
            </p:nvSpPr>
            <p:spPr>
              <a:xfrm flipH="1">
                <a:off x="-299933" y="5020022"/>
                <a:ext cx="47944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20" name="平行四边形 19"/>
              <p:cNvSpPr/>
              <p:nvPr/>
            </p:nvSpPr>
            <p:spPr>
              <a:xfrm flipH="1">
                <a:off x="161750"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21" name="平行四边形 20"/>
              <p:cNvSpPr/>
              <p:nvPr/>
            </p:nvSpPr>
            <p:spPr>
              <a:xfrm flipH="1">
                <a:off x="373401"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22" name="平行四边形 21"/>
              <p:cNvSpPr/>
              <p:nvPr/>
            </p:nvSpPr>
            <p:spPr>
              <a:xfrm flipH="1">
                <a:off x="589214" y="5020022"/>
                <a:ext cx="866330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grpSp>
      </p:grpSp>
    </p:spTree>
    <p:extLst>
      <p:ext uri="{BB962C8B-B14F-4D97-AF65-F5344CB8AC3E}">
        <p14:creationId xmlns:p14="http://schemas.microsoft.com/office/powerpoint/2010/main" val="1984737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kumimoji="1" lang="zh-CN" altLang="en-US"/>
              <a:t>编辑母版文本样式</a:t>
            </a:r>
          </a:p>
        </p:txBody>
      </p:sp>
      <p:sp>
        <p:nvSpPr>
          <p:cNvPr id="4" name="日期占位符 3"/>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3225913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日期占位符 4"/>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1273963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7" name="日期占位符 6"/>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20845737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1860884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4279733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文本占位符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1310715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kumimoji="1" lang="zh-CN" altLang="en-US"/>
              <a:t>单击图标添加图片</a:t>
            </a:r>
          </a:p>
        </p:txBody>
      </p:sp>
      <p:sp>
        <p:nvSpPr>
          <p:cNvPr id="4" name="文本占位符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27761764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23469408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6"/>
            <a:ext cx="2628900" cy="5811839"/>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838201" y="365126"/>
            <a:ext cx="7734300" cy="5811839"/>
          </a:xfrm>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5ABD5C38-0129-0E45-8CA8-202AEC2432EA}" type="datetimeFigureOut">
              <a:rPr kumimoji="1" lang="zh-CN" altLang="en-US" smtClean="0"/>
              <a:t>2021/5/31</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19054644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空白">
    <p:bg bwMode="auto">
      <p:bgPr>
        <a:solidFill>
          <a:schemeClr val="bg1"/>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0524" y="548682"/>
            <a:ext cx="907051" cy="331073"/>
          </a:xfrm>
          <a:prstGeom prst="rect">
            <a:avLst/>
          </a:prstGeom>
        </p:spPr>
      </p:pic>
      <p:sp>
        <p:nvSpPr>
          <p:cNvPr id="7" name="平行四边形 6"/>
          <p:cNvSpPr/>
          <p:nvPr userDrawn="1"/>
        </p:nvSpPr>
        <p:spPr>
          <a:xfrm flipH="1">
            <a:off x="-336715" y="436100"/>
            <a:ext cx="942523" cy="507752"/>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sp>
        <p:nvSpPr>
          <p:cNvPr id="8" name="平行四边形 7"/>
          <p:cNvSpPr/>
          <p:nvPr userDrawn="1"/>
        </p:nvSpPr>
        <p:spPr>
          <a:xfrm flipH="1">
            <a:off x="-1872884" y="3862593"/>
            <a:ext cx="3446383" cy="3037155"/>
          </a:xfrm>
          <a:prstGeom prst="parallelogram">
            <a:avLst>
              <a:gd name="adj" fmla="val 54576"/>
            </a:avLst>
          </a:prstGeom>
          <a:solidFill>
            <a:schemeClr val="bg1">
              <a:lumMod val="85000"/>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grpSp>
        <p:nvGrpSpPr>
          <p:cNvPr id="9" name="组 8"/>
          <p:cNvGrpSpPr/>
          <p:nvPr userDrawn="1"/>
        </p:nvGrpSpPr>
        <p:grpSpPr>
          <a:xfrm>
            <a:off x="-399911" y="6693364"/>
            <a:ext cx="12736603" cy="164637"/>
            <a:chOff x="-299933" y="5020022"/>
            <a:chExt cx="9552452" cy="123478"/>
          </a:xfrm>
        </p:grpSpPr>
        <p:sp>
          <p:nvSpPr>
            <p:cNvPr id="10" name="平行四边形 9"/>
            <p:cNvSpPr/>
            <p:nvPr/>
          </p:nvSpPr>
          <p:spPr>
            <a:xfrm flipH="1">
              <a:off x="-299933" y="5020022"/>
              <a:ext cx="47944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sp>
          <p:nvSpPr>
            <p:cNvPr id="11" name="平行四边形 10"/>
            <p:cNvSpPr/>
            <p:nvPr/>
          </p:nvSpPr>
          <p:spPr>
            <a:xfrm flipH="1">
              <a:off x="161750"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sp>
          <p:nvSpPr>
            <p:cNvPr id="12" name="平行四边形 11"/>
            <p:cNvSpPr/>
            <p:nvPr/>
          </p:nvSpPr>
          <p:spPr>
            <a:xfrm flipH="1">
              <a:off x="373401"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sp>
          <p:nvSpPr>
            <p:cNvPr id="13" name="平行四边形 12"/>
            <p:cNvSpPr/>
            <p:nvPr/>
          </p:nvSpPr>
          <p:spPr>
            <a:xfrm flipH="1">
              <a:off x="589214" y="5020022"/>
              <a:ext cx="866330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67" dirty="0">
                <a:latin typeface="Microsoft YaHei" charset="-122"/>
                <a:ea typeface="Microsoft YaHei" charset="-122"/>
                <a:cs typeface="Microsoft YaHei" charset="-122"/>
              </a:endParaRPr>
            </a:p>
          </p:txBody>
        </p:sp>
      </p:grpSp>
      <p:sp>
        <p:nvSpPr>
          <p:cNvPr id="14" name="标题 1">
            <a:extLst>
              <a:ext uri="{FF2B5EF4-FFF2-40B4-BE49-F238E27FC236}">
                <a16:creationId xmlns:a16="http://schemas.microsoft.com/office/drawing/2014/main" id="{D9EB9E0C-0732-4296-9A6B-80EEFC206DAC}"/>
              </a:ext>
            </a:extLst>
          </p:cNvPr>
          <p:cNvSpPr>
            <a:spLocks noGrp="1"/>
          </p:cNvSpPr>
          <p:nvPr>
            <p:ph type="title" idx="4294967295" hasCustomPrompt="1"/>
          </p:nvPr>
        </p:nvSpPr>
        <p:spPr>
          <a:xfrm>
            <a:off x="549820" y="166747"/>
            <a:ext cx="7488832" cy="1028700"/>
          </a:xfrm>
          <a:prstGeom prst="rect">
            <a:avLst/>
          </a:prstGeom>
        </p:spPr>
        <p:txBody>
          <a:bodyPr/>
          <a:lstStyle>
            <a:lvl1pPr algn="l">
              <a:defRPr/>
            </a:lvl1pPr>
          </a:lstStyle>
          <a:p>
            <a:r>
              <a:rPr lang="zh-CN" altLang="en-US" sz="3200" b="1" spc="133" dirty="0">
                <a:solidFill>
                  <a:schemeClr val="tx1">
                    <a:lumMod val="95000"/>
                    <a:lumOff val="5000"/>
                  </a:schemeClr>
                </a:solidFill>
                <a:latin typeface="微软雅黑" panose="020B0503020204020204" pitchFamily="34" charset="-122"/>
                <a:ea typeface="微软雅黑" panose="020B0503020204020204" pitchFamily="34" charset="-122"/>
              </a:rPr>
              <a:t>发</a:t>
            </a:r>
          </a:p>
        </p:txBody>
      </p:sp>
    </p:spTree>
    <p:extLst>
      <p:ext uri="{BB962C8B-B14F-4D97-AF65-F5344CB8AC3E}">
        <p14:creationId xmlns:p14="http://schemas.microsoft.com/office/powerpoint/2010/main" val="312602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0822B29-5CA1-DB4D-8F6F-67FC2BE44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7046799-3FE2-6845-86AA-725565E203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876EC5A-B5E1-684C-A30F-0DA56D9DD4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ED10C1-EF23-B14D-A591-9AF7DCDB7431}" type="datetimeFigureOut">
              <a:rPr kumimoji="1" lang="zh-CN" altLang="en-US" smtClean="0"/>
              <a:t>2021/5/31</a:t>
            </a:fld>
            <a:endParaRPr kumimoji="1" lang="zh-CN" altLang="en-US"/>
          </a:p>
        </p:txBody>
      </p:sp>
      <p:sp>
        <p:nvSpPr>
          <p:cNvPr id="5" name="页脚占位符 4">
            <a:extLst>
              <a:ext uri="{FF2B5EF4-FFF2-40B4-BE49-F238E27FC236}">
                <a16:creationId xmlns:a16="http://schemas.microsoft.com/office/drawing/2014/main" id="{D77E305C-8BC5-6644-AD9F-6B407E3433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2CC68EE-81A6-DD4B-89CF-B3B56E9E4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E65DC-0E4A-AB40-BA75-CB65581EFC64}" type="slidenum">
              <a:rPr kumimoji="1" lang="zh-CN" altLang="en-US" smtClean="0"/>
              <a:t>‹#›</a:t>
            </a:fld>
            <a:endParaRPr kumimoji="1" lang="zh-CN" altLang="en-US"/>
          </a:p>
        </p:txBody>
      </p:sp>
    </p:spTree>
    <p:extLst>
      <p:ext uri="{BB962C8B-B14F-4D97-AF65-F5344CB8AC3E}">
        <p14:creationId xmlns:p14="http://schemas.microsoft.com/office/powerpoint/2010/main" val="1576991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D5C38-0129-0E45-8CA8-202AEC2432EA}" type="datetimeFigureOut">
              <a:rPr kumimoji="1" lang="zh-CN" altLang="en-US" smtClean="0"/>
              <a:t>2021/5/31</a:t>
            </a:fld>
            <a:endParaRPr kumimoji="1"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3B246-9348-084B-8B41-0C6C783332C5}" type="slidenum">
              <a:rPr kumimoji="1" lang="zh-CN" altLang="en-US" smtClean="0"/>
              <a:t>‹#›</a:t>
            </a:fld>
            <a:endParaRPr kumimoji="1" lang="zh-CN" altLang="en-US"/>
          </a:p>
        </p:txBody>
      </p:sp>
    </p:spTree>
    <p:extLst>
      <p:ext uri="{BB962C8B-B14F-4D97-AF65-F5344CB8AC3E}">
        <p14:creationId xmlns:p14="http://schemas.microsoft.com/office/powerpoint/2010/main" val="81158398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webp"/><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chart" Target="../charts/char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27.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9448C612-DA54-1147-9F55-DF79DEC26C7B}"/>
              </a:ext>
            </a:extLst>
          </p:cNvPr>
          <p:cNvSpPr/>
          <p:nvPr/>
        </p:nvSpPr>
        <p:spPr>
          <a:xfrm>
            <a:off x="0" y="290285"/>
            <a:ext cx="12192000" cy="972458"/>
          </a:xfrm>
          <a:prstGeom prst="rect">
            <a:avLst/>
          </a:prstGeom>
          <a:solidFill>
            <a:srgbClr val="157A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2" name="组 11"/>
          <p:cNvGrpSpPr/>
          <p:nvPr/>
        </p:nvGrpSpPr>
        <p:grpSpPr>
          <a:xfrm>
            <a:off x="-361720" y="6521302"/>
            <a:ext cx="12664283" cy="163703"/>
            <a:chOff x="-299933" y="5020022"/>
            <a:chExt cx="9552452" cy="123478"/>
          </a:xfrm>
        </p:grpSpPr>
        <p:sp>
          <p:nvSpPr>
            <p:cNvPr id="13" name="平行四边形 12"/>
            <p:cNvSpPr/>
            <p:nvPr/>
          </p:nvSpPr>
          <p:spPr>
            <a:xfrm flipH="1">
              <a:off x="-299933" y="5020022"/>
              <a:ext cx="47944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14" name="平行四边形 13"/>
            <p:cNvSpPr/>
            <p:nvPr/>
          </p:nvSpPr>
          <p:spPr>
            <a:xfrm flipH="1">
              <a:off x="161750"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15" name="平行四边形 14"/>
            <p:cNvSpPr/>
            <p:nvPr/>
          </p:nvSpPr>
          <p:spPr>
            <a:xfrm flipH="1">
              <a:off x="373401" y="5020022"/>
              <a:ext cx="227447"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sp>
          <p:nvSpPr>
            <p:cNvPr id="16" name="平行四边形 15"/>
            <p:cNvSpPr/>
            <p:nvPr/>
          </p:nvSpPr>
          <p:spPr>
            <a:xfrm flipH="1">
              <a:off x="589214" y="5020022"/>
              <a:ext cx="8663305" cy="123478"/>
            </a:xfrm>
            <a:prstGeom prst="parallelogram">
              <a:avLst>
                <a:gd name="adj" fmla="val 54576"/>
              </a:avLst>
            </a:prstGeom>
            <a:solidFill>
              <a:srgbClr val="00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grpSp>
      <p:grpSp>
        <p:nvGrpSpPr>
          <p:cNvPr id="19" name="组合 18">
            <a:extLst>
              <a:ext uri="{FF2B5EF4-FFF2-40B4-BE49-F238E27FC236}">
                <a16:creationId xmlns:a16="http://schemas.microsoft.com/office/drawing/2014/main" id="{E4587BE9-4018-3640-9AF8-7FA3196E3DB2}"/>
              </a:ext>
            </a:extLst>
          </p:cNvPr>
          <p:cNvGrpSpPr/>
          <p:nvPr/>
        </p:nvGrpSpPr>
        <p:grpSpPr>
          <a:xfrm>
            <a:off x="0" y="1499574"/>
            <a:ext cx="12186452" cy="4032724"/>
            <a:chOff x="0" y="1499574"/>
            <a:chExt cx="12186452" cy="4032724"/>
          </a:xfrm>
        </p:grpSpPr>
        <p:grpSp>
          <p:nvGrpSpPr>
            <p:cNvPr id="4" name="组 3"/>
            <p:cNvGrpSpPr/>
            <p:nvPr/>
          </p:nvGrpSpPr>
          <p:grpSpPr>
            <a:xfrm>
              <a:off x="0" y="1499574"/>
              <a:ext cx="12186452" cy="4032724"/>
              <a:chOff x="-36513" y="1222418"/>
              <a:chExt cx="9192033" cy="3041815"/>
            </a:xfrm>
          </p:grpSpPr>
          <p:pic>
            <p:nvPicPr>
              <p:cNvPr id="5" name="图片 4"/>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6000"/>
                        </a14:imgEffect>
                      </a14:imgLayer>
                    </a14:imgProps>
                  </a:ext>
                </a:extLst>
              </a:blip>
              <a:srcRect l="6" t="29622" r="-6" b="25976"/>
              <a:stretch/>
            </p:blipFill>
            <p:spPr>
              <a:xfrm>
                <a:off x="11520" y="1222418"/>
                <a:ext cx="9144000" cy="2304256"/>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13" y="1226244"/>
                <a:ext cx="5034105" cy="3037989"/>
              </a:xfrm>
              <a:prstGeom prst="rect">
                <a:avLst/>
              </a:prstGeom>
            </p:spPr>
          </p:pic>
          <p:sp>
            <p:nvSpPr>
              <p:cNvPr id="7" name="平行四边形 6"/>
              <p:cNvSpPr/>
              <p:nvPr/>
            </p:nvSpPr>
            <p:spPr>
              <a:xfrm>
                <a:off x="2726509" y="1222418"/>
                <a:ext cx="2319115" cy="2304256"/>
              </a:xfrm>
              <a:prstGeom prst="parallelogram">
                <a:avLst>
                  <a:gd name="adj" fmla="val 41015"/>
                </a:avLst>
              </a:prstGeom>
              <a:solidFill>
                <a:srgbClr val="0256F9">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grpSp>
        <p:sp>
          <p:nvSpPr>
            <p:cNvPr id="17" name="平行四边形 16"/>
            <p:cNvSpPr/>
            <p:nvPr/>
          </p:nvSpPr>
          <p:spPr>
            <a:xfrm>
              <a:off x="4358656" y="1499574"/>
              <a:ext cx="3074596" cy="3054896"/>
            </a:xfrm>
            <a:prstGeom prst="parallelogram">
              <a:avLst>
                <a:gd name="adj" fmla="val 41015"/>
              </a:avLst>
            </a:prstGeom>
            <a:solidFill>
              <a:srgbClr val="0256F9">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Microsoft YaHei" charset="-122"/>
                <a:ea typeface="Microsoft YaHei" charset="-122"/>
                <a:cs typeface="Microsoft YaHei" charset="-122"/>
              </a:endParaRPr>
            </a:p>
          </p:txBody>
        </p:sp>
      </p:grpSp>
      <p:sp>
        <p:nvSpPr>
          <p:cNvPr id="18" name="标题 1"/>
          <p:cNvSpPr txBox="1">
            <a:spLocks/>
          </p:cNvSpPr>
          <p:nvPr/>
        </p:nvSpPr>
        <p:spPr>
          <a:xfrm>
            <a:off x="6555547" y="2251747"/>
            <a:ext cx="5221586" cy="1091281"/>
          </a:xfrm>
          <a:prstGeom prst="rect">
            <a:avLst/>
          </a:prstGeom>
        </p:spPr>
        <p:txBody>
          <a:bodyPr anchor="b">
            <a:noAutofit/>
          </a:bodyPr>
          <a:lstStyle>
            <a:lvl1pPr algn="l" defTabSz="914377" rtl="0" eaLnBrk="1" latinLnBrk="0" hangingPunct="1">
              <a:lnSpc>
                <a:spcPct val="90000"/>
              </a:lnSpc>
              <a:spcBef>
                <a:spcPct val="0"/>
              </a:spcBef>
              <a:buNone/>
              <a:defRPr lang="en-US" altLang="zh-CN" sz="3200" b="1" kern="1200" spc="200" dirty="0">
                <a:solidFill>
                  <a:schemeClr val="tx1"/>
                </a:solidFill>
                <a:latin typeface="Bauhaus 93" panose="04030905020B02020C02" pitchFamily="82" charset="0"/>
                <a:ea typeface="+mj-ea"/>
                <a:cs typeface="+mj-cs"/>
              </a:defRPr>
            </a:lvl1pPr>
          </a:lstStyle>
          <a:p>
            <a:pPr>
              <a:lnSpc>
                <a:spcPct val="150000"/>
              </a:lnSpc>
              <a:defRPr/>
            </a:pPr>
            <a:r>
              <a:rPr lang="zh-CN" altLang="en-US" dirty="0">
                <a:solidFill>
                  <a:schemeClr val="bg1"/>
                </a:solidFill>
                <a:latin typeface="微软雅黑" panose="020B0503020204020204" pitchFamily="34" charset="-122"/>
                <a:ea typeface="微软雅黑" panose="020B0503020204020204" pitchFamily="34" charset="-122"/>
              </a:rPr>
              <a:t>面向全屋智能的新一代</a:t>
            </a:r>
            <a:r>
              <a:rPr lang="en-US" altLang="zh-CN" dirty="0">
                <a:solidFill>
                  <a:schemeClr val="bg1"/>
                </a:solidFill>
                <a:latin typeface="微软雅黑" panose="020B0503020204020204" pitchFamily="34" charset="-122"/>
                <a:ea typeface="微软雅黑" panose="020B0503020204020204" pitchFamily="34" charset="-122"/>
              </a:rPr>
              <a:t>PLC-</a:t>
            </a:r>
            <a:r>
              <a:rPr lang="en-US" altLang="zh-CN" dirty="0" err="1">
                <a:solidFill>
                  <a:schemeClr val="bg1"/>
                </a:solidFill>
                <a:latin typeface="微软雅黑" panose="020B0503020204020204" pitchFamily="34" charset="-122"/>
                <a:ea typeface="微软雅黑" panose="020B0503020204020204" pitchFamily="34" charset="-122"/>
              </a:rPr>
              <a:t>IoT</a:t>
            </a:r>
            <a:r>
              <a:rPr lang="zh-CN" altLang="en-US" dirty="0">
                <a:solidFill>
                  <a:schemeClr val="bg1"/>
                </a:solidFill>
                <a:latin typeface="微软雅黑" panose="020B0503020204020204" pitchFamily="34" charset="-122"/>
                <a:ea typeface="微软雅黑" panose="020B0503020204020204" pitchFamily="34" charset="-122"/>
              </a:rPr>
              <a:t>芯片</a:t>
            </a:r>
            <a:endParaRPr lang="zh-CN" altLang="en-US" dirty="0">
              <a:solidFill>
                <a:schemeClr val="bg1"/>
              </a:solidFill>
            </a:endParaRPr>
          </a:p>
        </p:txBody>
      </p:sp>
      <p:sp>
        <p:nvSpPr>
          <p:cNvPr id="3" name="副标题 2"/>
          <p:cNvSpPr>
            <a:spLocks noGrp="1"/>
          </p:cNvSpPr>
          <p:nvPr>
            <p:ph type="subTitle" idx="4294967295"/>
          </p:nvPr>
        </p:nvSpPr>
        <p:spPr>
          <a:xfrm>
            <a:off x="6674027" y="3905343"/>
            <a:ext cx="5108382" cy="369571"/>
          </a:xfrm>
        </p:spPr>
        <p:txBody>
          <a:bodyPr>
            <a:normAutofit/>
          </a:bodyPr>
          <a:lstStyle/>
          <a:p>
            <a:pPr marL="0" indent="0" algn="r">
              <a:buNone/>
              <a:defRPr/>
            </a:pPr>
            <a:r>
              <a:rPr lang="zh-CN" altLang="en-US" sz="1800" spc="200" dirty="0" smtClean="0">
                <a:solidFill>
                  <a:schemeClr val="bg1"/>
                </a:solidFill>
                <a:latin typeface="Microsoft YaHei" charset="-122"/>
                <a:ea typeface="Microsoft YaHei" charset="-122"/>
                <a:cs typeface="Microsoft YaHei" charset="-122"/>
              </a:rPr>
              <a:t>北京四季豆信息技术有限公司</a:t>
            </a:r>
            <a:endParaRPr lang="zh-CN" altLang="en-US" sz="1800" spc="200" dirty="0">
              <a:solidFill>
                <a:schemeClr val="bg1"/>
              </a:solidFill>
              <a:latin typeface="Microsoft YaHei" charset="-122"/>
              <a:ea typeface="Microsoft YaHei" charset="-122"/>
              <a:cs typeface="Microsoft YaHei" charset="-122"/>
            </a:endParaRPr>
          </a:p>
          <a:p>
            <a:pPr marL="0" indent="0">
              <a:buNone/>
              <a:defRPr/>
            </a:pPr>
            <a:endParaRPr lang="zh-CN" altLang="en-US" sz="1200" spc="200" dirty="0">
              <a:solidFill>
                <a:schemeClr val="bg1"/>
              </a:solidFill>
              <a:latin typeface="Microsoft YaHei" charset="-122"/>
              <a:ea typeface="Microsoft YaHei" charset="-122"/>
              <a:cs typeface="Microsoft YaHei" charset="-122"/>
            </a:endParaRPr>
          </a:p>
          <a:p>
            <a:pPr marL="0" indent="0">
              <a:buNone/>
              <a:defRPr/>
            </a:pPr>
            <a:endParaRPr lang="zh-CN" altLang="en-US" sz="1200" spc="200" dirty="0">
              <a:solidFill>
                <a:schemeClr val="bg1"/>
              </a:solidFill>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35583294-E947-D142-8C0A-2B40B7651002}"/>
              </a:ext>
            </a:extLst>
          </p:cNvPr>
          <p:cNvSpPr txBox="1"/>
          <p:nvPr/>
        </p:nvSpPr>
        <p:spPr>
          <a:xfrm>
            <a:off x="34340" y="523419"/>
            <a:ext cx="12123319" cy="523220"/>
          </a:xfrm>
          <a:prstGeom prst="rect">
            <a:avLst/>
          </a:prstGeom>
          <a:noFill/>
        </p:spPr>
        <p:txBody>
          <a:bodyPr wrap="none" rtlCol="0">
            <a:spAutoFit/>
          </a:bodyPr>
          <a:lstStyle/>
          <a:p>
            <a:r>
              <a:rPr kumimoji="1" lang="zh-CN" altLang="en-US" sz="2800" dirty="0">
                <a:solidFill>
                  <a:schemeClr val="bg1"/>
                </a:solidFill>
                <a:latin typeface="Microsoft YaHei" panose="020B0503020204020204" pitchFamily="34" charset="-122"/>
                <a:ea typeface="Microsoft YaHei" panose="020B0503020204020204" pitchFamily="34" charset="-122"/>
              </a:rPr>
              <a:t>国内</a:t>
            </a:r>
            <a:r>
              <a:rPr kumimoji="1" lang="zh-CN" altLang="en-US" sz="2800" dirty="0" smtClean="0">
                <a:solidFill>
                  <a:schemeClr val="bg1"/>
                </a:solidFill>
                <a:latin typeface="Microsoft YaHei" panose="020B0503020204020204" pitchFamily="34" charset="-122"/>
                <a:ea typeface="Microsoft YaHei" panose="020B0503020204020204" pitchFamily="34" charset="-122"/>
              </a:rPr>
              <a:t>唯一</a:t>
            </a:r>
            <a:r>
              <a:rPr kumimoji="1" lang="zh-CN" altLang="en-US" sz="2800" dirty="0">
                <a:solidFill>
                  <a:schemeClr val="bg1"/>
                </a:solidFill>
                <a:latin typeface="Microsoft YaHei" panose="020B0503020204020204" pitchFamily="34" charset="-122"/>
                <a:ea typeface="Microsoft YaHei" panose="020B0503020204020204" pitchFamily="34" charset="-122"/>
              </a:rPr>
              <a:t>全面</a:t>
            </a:r>
            <a:r>
              <a:rPr kumimoji="1" lang="zh-CN" altLang="en-US" sz="2800" dirty="0" smtClean="0">
                <a:solidFill>
                  <a:schemeClr val="bg1"/>
                </a:solidFill>
                <a:latin typeface="Microsoft YaHei" panose="020B0503020204020204" pitchFamily="34" charset="-122"/>
                <a:ea typeface="Microsoft YaHei" panose="020B0503020204020204" pitchFamily="34" charset="-122"/>
              </a:rPr>
              <a:t>掌握</a:t>
            </a:r>
            <a:r>
              <a:rPr kumimoji="1" lang="en-US" altLang="zh-CN" sz="2800" dirty="0">
                <a:solidFill>
                  <a:schemeClr val="bg1"/>
                </a:solidFill>
                <a:latin typeface="Microsoft YaHei" panose="020B0503020204020204" pitchFamily="34" charset="-122"/>
                <a:ea typeface="Microsoft YaHei" panose="020B0503020204020204" pitchFamily="34" charset="-122"/>
              </a:rPr>
              <a:t>PLC-</a:t>
            </a:r>
            <a:r>
              <a:rPr kumimoji="1" lang="en-US" altLang="zh-CN" sz="2800" dirty="0" err="1">
                <a:solidFill>
                  <a:schemeClr val="bg1"/>
                </a:solidFill>
                <a:latin typeface="Microsoft YaHei" panose="020B0503020204020204" pitchFamily="34" charset="-122"/>
                <a:ea typeface="Microsoft YaHei" panose="020B0503020204020204" pitchFamily="34" charset="-122"/>
              </a:rPr>
              <a:t>loT</a:t>
            </a:r>
            <a:r>
              <a:rPr kumimoji="1" lang="en-US" altLang="zh-CN" sz="2800" dirty="0">
                <a:solidFill>
                  <a:schemeClr val="bg1"/>
                </a:solidFill>
                <a:latin typeface="Microsoft YaHei" panose="020B0503020204020204" pitchFamily="34" charset="-122"/>
                <a:ea typeface="Microsoft YaHei" panose="020B0503020204020204" pitchFamily="34" charset="-122"/>
              </a:rPr>
              <a:t> </a:t>
            </a:r>
            <a:r>
              <a:rPr kumimoji="1" lang="zh-CN" altLang="en-US" sz="2800" dirty="0">
                <a:solidFill>
                  <a:schemeClr val="bg1"/>
                </a:solidFill>
                <a:latin typeface="Microsoft YaHei" panose="020B0503020204020204" pitchFamily="34" charset="-122"/>
                <a:ea typeface="Microsoft YaHei" panose="020B0503020204020204" pitchFamily="34" charset="-122"/>
              </a:rPr>
              <a:t>，</a:t>
            </a:r>
            <a:r>
              <a:rPr kumimoji="1" lang="en-US" altLang="zh-CN" sz="2800" dirty="0" smtClean="0">
                <a:solidFill>
                  <a:schemeClr val="bg1"/>
                </a:solidFill>
                <a:latin typeface="Microsoft YaHei" panose="020B0503020204020204" pitchFamily="34" charset="-122"/>
                <a:ea typeface="Microsoft YaHei" panose="020B0503020204020204" pitchFamily="34" charset="-122"/>
              </a:rPr>
              <a:t>NB-</a:t>
            </a:r>
            <a:r>
              <a:rPr kumimoji="1" lang="en-US" altLang="zh-CN" sz="2800" dirty="0" err="1" smtClean="0">
                <a:solidFill>
                  <a:schemeClr val="bg1"/>
                </a:solidFill>
                <a:latin typeface="Microsoft YaHei" panose="020B0503020204020204" pitchFamily="34" charset="-122"/>
                <a:ea typeface="Microsoft YaHei" panose="020B0503020204020204" pitchFamily="34" charset="-122"/>
              </a:rPr>
              <a:t>loT</a:t>
            </a:r>
            <a:r>
              <a:rPr kumimoji="1" lang="en-US" altLang="zh-CN" sz="2800" dirty="0" smtClean="0">
                <a:solidFill>
                  <a:schemeClr val="bg1"/>
                </a:solidFill>
                <a:latin typeface="Microsoft YaHei" panose="020B0503020204020204" pitchFamily="34" charset="-122"/>
                <a:ea typeface="Microsoft YaHei" panose="020B0503020204020204" pitchFamily="34" charset="-122"/>
              </a:rPr>
              <a:t> </a:t>
            </a:r>
            <a:r>
              <a:rPr kumimoji="1" lang="zh-CN" altLang="en-US" sz="2800" dirty="0" smtClean="0">
                <a:solidFill>
                  <a:schemeClr val="bg1"/>
                </a:solidFill>
                <a:latin typeface="Microsoft YaHei" panose="020B0503020204020204" pitchFamily="34" charset="-122"/>
                <a:ea typeface="Microsoft YaHei" panose="020B0503020204020204" pitchFamily="34" charset="-122"/>
              </a:rPr>
              <a:t>，</a:t>
            </a:r>
            <a:r>
              <a:rPr kumimoji="1" lang="en-US" altLang="zh-CN" sz="2800" dirty="0" smtClean="0">
                <a:solidFill>
                  <a:schemeClr val="bg1"/>
                </a:solidFill>
                <a:latin typeface="Microsoft YaHei" panose="020B0503020204020204" pitchFamily="34" charset="-122"/>
                <a:ea typeface="Microsoft YaHei" panose="020B0503020204020204" pitchFamily="34" charset="-122"/>
              </a:rPr>
              <a:t>LTE Cat.1 </a:t>
            </a:r>
            <a:r>
              <a:rPr kumimoji="1" lang="zh-CN" altLang="en-US" sz="2800" dirty="0" smtClean="0">
                <a:solidFill>
                  <a:schemeClr val="bg1"/>
                </a:solidFill>
                <a:latin typeface="Microsoft YaHei" panose="020B0503020204020204" pitchFamily="34" charset="-122"/>
                <a:ea typeface="Microsoft YaHei" panose="020B0503020204020204" pitchFamily="34" charset="-122"/>
              </a:rPr>
              <a:t>芯片核心技术</a:t>
            </a:r>
            <a:r>
              <a:rPr kumimoji="1" lang="zh-CN" altLang="en-US" sz="2800" dirty="0">
                <a:solidFill>
                  <a:schemeClr val="bg1"/>
                </a:solidFill>
                <a:latin typeface="Microsoft YaHei" panose="020B0503020204020204" pitchFamily="34" charset="-122"/>
                <a:ea typeface="Microsoft YaHei" panose="020B0503020204020204" pitchFamily="34" charset="-122"/>
              </a:rPr>
              <a:t>的初创企业</a:t>
            </a:r>
          </a:p>
        </p:txBody>
      </p:sp>
      <p:sp>
        <p:nvSpPr>
          <p:cNvPr id="9" name="文本框 8"/>
          <p:cNvSpPr txBox="1"/>
          <p:nvPr/>
        </p:nvSpPr>
        <p:spPr>
          <a:xfrm>
            <a:off x="6087533" y="5345092"/>
            <a:ext cx="5689600" cy="461665"/>
          </a:xfrm>
          <a:prstGeom prst="rect">
            <a:avLst/>
          </a:prstGeom>
          <a:noFill/>
        </p:spPr>
        <p:txBody>
          <a:bodyPr wrap="square" rtlCol="0">
            <a:spAutoFit/>
          </a:bodyPr>
          <a:lstStyle/>
          <a:p>
            <a:pPr algn="r"/>
            <a:r>
              <a:rPr lang="zh-CN" altLang="en-US" sz="2400" dirty="0" smtClean="0">
                <a:solidFill>
                  <a:srgbClr val="002060"/>
                </a:solidFill>
                <a:latin typeface="微软雅黑" panose="020B0503020204020204" pitchFamily="34" charset="-122"/>
                <a:ea typeface="微软雅黑" panose="020B0503020204020204" pitchFamily="34" charset="-122"/>
              </a:rPr>
              <a:t>广域智慧物联网全场景连接技术供应商</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345767" y="5855481"/>
            <a:ext cx="5431366" cy="400110"/>
          </a:xfrm>
          <a:prstGeom prst="rect">
            <a:avLst/>
          </a:prstGeom>
          <a:noFill/>
        </p:spPr>
        <p:txBody>
          <a:bodyPr wrap="square" rtlCol="0">
            <a:spAutoFit/>
          </a:bodyPr>
          <a:lstStyle/>
          <a:p>
            <a:pPr algn="r"/>
            <a:r>
              <a:rPr lang="zh-CN" altLang="en-US" sz="2000" dirty="0" smtClean="0">
                <a:solidFill>
                  <a:srgbClr val="002060"/>
                </a:solidFill>
                <a:latin typeface="微软雅黑" panose="020B0503020204020204" pitchFamily="34" charset="-122"/>
                <a:ea typeface="微软雅黑" panose="020B0503020204020204" pitchFamily="34" charset="-122"/>
              </a:rPr>
              <a:t>北京四季豆 </a:t>
            </a:r>
            <a:r>
              <a:rPr lang="en-US" altLang="zh-CN" sz="2000" dirty="0" smtClean="0">
                <a:solidFill>
                  <a:srgbClr val="002060"/>
                </a:solidFill>
                <a:latin typeface="微软雅黑" panose="020B0503020204020204" pitchFamily="34" charset="-122"/>
                <a:ea typeface="微软雅黑" panose="020B0503020204020204" pitchFamily="34" charset="-122"/>
              </a:rPr>
              <a:t>A</a:t>
            </a:r>
            <a:r>
              <a:rPr lang="zh-CN" altLang="en-US" sz="2000" dirty="0" smtClean="0">
                <a:solidFill>
                  <a:srgbClr val="002060"/>
                </a:solidFill>
                <a:latin typeface="微软雅黑" panose="020B0503020204020204" pitchFamily="34" charset="-122"/>
                <a:ea typeface="微软雅黑" panose="020B0503020204020204" pitchFamily="34" charset="-122"/>
              </a:rPr>
              <a:t>轮融资 </a:t>
            </a:r>
            <a:r>
              <a:rPr lang="en-US" altLang="zh-CN" sz="2000" dirty="0" smtClean="0">
                <a:solidFill>
                  <a:srgbClr val="002060"/>
                </a:solidFill>
                <a:latin typeface="微软雅黑" panose="020B0503020204020204" pitchFamily="34" charset="-122"/>
                <a:ea typeface="微软雅黑" panose="020B0503020204020204" pitchFamily="34" charset="-122"/>
              </a:rPr>
              <a:t>2021</a:t>
            </a:r>
            <a:r>
              <a:rPr lang="zh-CN" altLang="en-US" sz="2000" dirty="0" smtClean="0">
                <a:solidFill>
                  <a:srgbClr val="002060"/>
                </a:solidFill>
                <a:latin typeface="微软雅黑" panose="020B0503020204020204" pitchFamily="34" charset="-122"/>
                <a:ea typeface="微软雅黑" panose="020B0503020204020204" pitchFamily="34" charset="-122"/>
              </a:rPr>
              <a:t>年</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937354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smtClean="0">
                <a:solidFill>
                  <a:srgbClr val="0078FF"/>
                </a:solidFill>
              </a:rPr>
              <a:t>四季豆项目投资</a:t>
            </a:r>
            <a:r>
              <a:rPr kumimoji="1" lang="zh-CN" altLang="en-US" dirty="0">
                <a:solidFill>
                  <a:srgbClr val="0078FF"/>
                </a:solidFill>
              </a:rPr>
              <a:t>亮点</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3"/>
          <a:stretch>
            <a:fillRect/>
          </a:stretch>
        </p:blipFill>
        <p:spPr>
          <a:xfrm>
            <a:off x="9796072" y="266110"/>
            <a:ext cx="2133600" cy="1028700"/>
          </a:xfrm>
          <a:prstGeom prst="rect">
            <a:avLst/>
          </a:prstGeom>
        </p:spPr>
      </p:pic>
      <p:pic>
        <p:nvPicPr>
          <p:cNvPr id="3" name="图片 2"/>
          <p:cNvPicPr>
            <a:picLocks noChangeAspect="1"/>
          </p:cNvPicPr>
          <p:nvPr/>
        </p:nvPicPr>
        <p:blipFill>
          <a:blip r:embed="rId4"/>
          <a:stretch>
            <a:fillRect/>
          </a:stretch>
        </p:blipFill>
        <p:spPr>
          <a:xfrm>
            <a:off x="1058743" y="1706760"/>
            <a:ext cx="10074513" cy="876376"/>
          </a:xfrm>
          <a:prstGeom prst="rect">
            <a:avLst/>
          </a:prstGeom>
        </p:spPr>
      </p:pic>
      <p:sp>
        <p:nvSpPr>
          <p:cNvPr id="4" name="矩形 3"/>
          <p:cNvSpPr/>
          <p:nvPr/>
        </p:nvSpPr>
        <p:spPr>
          <a:xfrm>
            <a:off x="1143650" y="2714017"/>
            <a:ext cx="2106280" cy="3369143"/>
          </a:xfrm>
          <a:prstGeom prst="rect">
            <a:avLst/>
          </a:prstGeom>
          <a:solidFill>
            <a:srgbClr val="40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43649" y="2908570"/>
            <a:ext cx="2106280" cy="2729978"/>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1600" dirty="0" smtClean="0">
                <a:solidFill>
                  <a:schemeClr val="bg1"/>
                </a:solidFill>
              </a:rPr>
              <a:t>目标市场：</a:t>
            </a:r>
            <a:r>
              <a:rPr lang="en-US" altLang="zh-CN" sz="1600" dirty="0" smtClean="0">
                <a:solidFill>
                  <a:schemeClr val="bg1"/>
                </a:solidFill>
              </a:rPr>
              <a:t>PLC-</a:t>
            </a:r>
            <a:r>
              <a:rPr lang="en-US" altLang="zh-CN" sz="1600" dirty="0" err="1" smtClean="0">
                <a:solidFill>
                  <a:schemeClr val="bg1"/>
                </a:solidFill>
              </a:rPr>
              <a:t>IoT</a:t>
            </a:r>
            <a:r>
              <a:rPr lang="zh-CN" altLang="zh-CN" sz="1600" dirty="0">
                <a:solidFill>
                  <a:schemeClr val="bg1"/>
                </a:solidFill>
              </a:rPr>
              <a:t>领域和电力线</a:t>
            </a:r>
            <a:r>
              <a:rPr lang="zh-CN" altLang="zh-CN" sz="1600" dirty="0" smtClean="0">
                <a:solidFill>
                  <a:schemeClr val="bg1"/>
                </a:solidFill>
              </a:rPr>
              <a:t>载波通信</a:t>
            </a:r>
            <a:r>
              <a:rPr lang="zh-CN" altLang="en-US" sz="1600" dirty="0" smtClean="0">
                <a:solidFill>
                  <a:schemeClr val="bg1"/>
                </a:solidFill>
              </a:rPr>
              <a:t>领域千</a:t>
            </a:r>
            <a:r>
              <a:rPr lang="zh-CN" altLang="zh-CN" sz="1600" dirty="0" smtClean="0">
                <a:solidFill>
                  <a:schemeClr val="bg1"/>
                </a:solidFill>
              </a:rPr>
              <a:t>亿</a:t>
            </a:r>
            <a:r>
              <a:rPr lang="zh-CN" altLang="zh-CN" sz="1600" dirty="0">
                <a:solidFill>
                  <a:schemeClr val="bg1"/>
                </a:solidFill>
              </a:rPr>
              <a:t>级</a:t>
            </a:r>
            <a:r>
              <a:rPr lang="zh-CN" altLang="zh-CN" sz="1600" dirty="0" smtClean="0">
                <a:solidFill>
                  <a:schemeClr val="bg1"/>
                </a:solidFill>
              </a:rPr>
              <a:t>市场</a:t>
            </a:r>
            <a:endParaRPr lang="en-US" altLang="zh-CN" sz="1600" dirty="0" smtClean="0">
              <a:solidFill>
                <a:schemeClr val="bg1"/>
              </a:solidFill>
            </a:endParaRPr>
          </a:p>
          <a:p>
            <a:pPr marL="285750" indent="-285750">
              <a:lnSpc>
                <a:spcPct val="130000"/>
              </a:lnSpc>
              <a:spcBef>
                <a:spcPts val="600"/>
              </a:spcBef>
              <a:buFont typeface="Arial" panose="020B0604020202020204" pitchFamily="34" charset="0"/>
              <a:buChar char="•"/>
            </a:pPr>
            <a:r>
              <a:rPr lang="zh-CN" altLang="zh-CN" sz="1600" dirty="0" smtClean="0">
                <a:solidFill>
                  <a:schemeClr val="bg1"/>
                </a:solidFill>
              </a:rPr>
              <a:t>两个</a:t>
            </a:r>
            <a:r>
              <a:rPr lang="zh-CN" altLang="en-US" sz="1600" dirty="0" smtClean="0">
                <a:solidFill>
                  <a:schemeClr val="bg1"/>
                </a:solidFill>
              </a:rPr>
              <a:t>市场领域</a:t>
            </a:r>
            <a:r>
              <a:rPr lang="zh-CN" altLang="zh-CN" sz="1600" dirty="0" smtClean="0">
                <a:solidFill>
                  <a:schemeClr val="bg1"/>
                </a:solidFill>
              </a:rPr>
              <a:t>均</a:t>
            </a:r>
            <a:r>
              <a:rPr lang="zh-CN" altLang="zh-CN" sz="1600" dirty="0">
                <a:solidFill>
                  <a:schemeClr val="bg1"/>
                </a:solidFill>
              </a:rPr>
              <a:t>适逢行业洗牌、技术升级时间窗，机遇极</a:t>
            </a:r>
            <a:r>
              <a:rPr lang="zh-CN" altLang="zh-CN" sz="1600" dirty="0" smtClean="0">
                <a:solidFill>
                  <a:schemeClr val="bg1"/>
                </a:solidFill>
              </a:rPr>
              <a:t>佳</a:t>
            </a:r>
            <a:endParaRPr lang="zh-CN" altLang="en-US" sz="1600" dirty="0">
              <a:solidFill>
                <a:schemeClr val="bg1"/>
              </a:solidFill>
            </a:endParaRPr>
          </a:p>
        </p:txBody>
      </p:sp>
      <p:sp>
        <p:nvSpPr>
          <p:cNvPr id="9" name="矩形 8"/>
          <p:cNvSpPr/>
          <p:nvPr/>
        </p:nvSpPr>
        <p:spPr>
          <a:xfrm>
            <a:off x="6355730" y="2714017"/>
            <a:ext cx="2106280" cy="3369143"/>
          </a:xfrm>
          <a:prstGeom prst="rect">
            <a:avLst/>
          </a:prstGeom>
          <a:solidFill>
            <a:srgbClr val="40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55729" y="2908570"/>
            <a:ext cx="2106281" cy="3024867"/>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1600" dirty="0">
                <a:solidFill>
                  <a:schemeClr val="bg1"/>
                </a:solidFill>
              </a:rPr>
              <a:t>业内少数全面掌握高速电力线载波和广域蜂窝物联网连接技术的</a:t>
            </a:r>
            <a:r>
              <a:rPr lang="zh-CN" altLang="en-US" sz="1600" dirty="0" smtClean="0">
                <a:solidFill>
                  <a:schemeClr val="bg1"/>
                </a:solidFill>
              </a:rPr>
              <a:t>企业</a:t>
            </a:r>
            <a:endParaRPr lang="en-US" altLang="zh-CN" sz="1600" dirty="0" smtClean="0">
              <a:solidFill>
                <a:schemeClr val="bg1"/>
              </a:solidFill>
            </a:endParaRPr>
          </a:p>
          <a:p>
            <a:pPr marL="285750" indent="-285750">
              <a:lnSpc>
                <a:spcPct val="130000"/>
              </a:lnSpc>
              <a:spcBef>
                <a:spcPts val="600"/>
              </a:spcBef>
              <a:buFont typeface="Arial" panose="020B0604020202020204" pitchFamily="34" charset="0"/>
              <a:buChar char="•"/>
            </a:pPr>
            <a:r>
              <a:rPr lang="zh-CN" altLang="en-US" sz="1600" dirty="0" smtClean="0">
                <a:solidFill>
                  <a:schemeClr val="bg1"/>
                </a:solidFill>
              </a:rPr>
              <a:t>依托</a:t>
            </a:r>
            <a:r>
              <a:rPr lang="zh-CN" altLang="en-US" sz="1600" dirty="0">
                <a:solidFill>
                  <a:schemeClr val="bg1"/>
                </a:solidFill>
              </a:rPr>
              <a:t>团队的深厚技术积累，以创新设计思路量产</a:t>
            </a:r>
            <a:r>
              <a:rPr lang="en-US" altLang="zh-CN" sz="1600" dirty="0">
                <a:solidFill>
                  <a:schemeClr val="bg1"/>
                </a:solidFill>
              </a:rPr>
              <a:t>HPLC</a:t>
            </a:r>
            <a:r>
              <a:rPr lang="zh-CN" altLang="en-US" sz="1600" dirty="0">
                <a:solidFill>
                  <a:schemeClr val="bg1"/>
                </a:solidFill>
              </a:rPr>
              <a:t>芯片，</a:t>
            </a:r>
            <a:r>
              <a:rPr lang="en-US" altLang="zh-CN" sz="1600" dirty="0">
                <a:solidFill>
                  <a:schemeClr val="bg1"/>
                </a:solidFill>
              </a:rPr>
              <a:t>HPLC+HRF</a:t>
            </a:r>
            <a:r>
              <a:rPr lang="zh-CN" altLang="en-US" sz="1600" dirty="0">
                <a:solidFill>
                  <a:schemeClr val="bg1"/>
                </a:solidFill>
              </a:rPr>
              <a:t>正在研发</a:t>
            </a:r>
            <a:r>
              <a:rPr lang="zh-CN" altLang="en-US" sz="1600" dirty="0" smtClean="0">
                <a:solidFill>
                  <a:schemeClr val="bg1"/>
                </a:solidFill>
              </a:rPr>
              <a:t>中</a:t>
            </a:r>
            <a:endParaRPr lang="zh-CN" altLang="en-US" sz="1600" dirty="0">
              <a:solidFill>
                <a:schemeClr val="bg1"/>
              </a:solidFill>
            </a:endParaRPr>
          </a:p>
        </p:txBody>
      </p:sp>
      <p:sp>
        <p:nvSpPr>
          <p:cNvPr id="11" name="矩形 10"/>
          <p:cNvSpPr/>
          <p:nvPr/>
        </p:nvSpPr>
        <p:spPr>
          <a:xfrm>
            <a:off x="3749690" y="2714017"/>
            <a:ext cx="2106280" cy="3369143"/>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749689" y="2908570"/>
            <a:ext cx="2018651" cy="2704779"/>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1600" dirty="0" smtClean="0">
                <a:solidFill>
                  <a:srgbClr val="0070C0"/>
                </a:solidFill>
              </a:rPr>
              <a:t>公司</a:t>
            </a:r>
            <a:r>
              <a:rPr lang="zh-CN" altLang="en-US" sz="1600" dirty="0">
                <a:solidFill>
                  <a:srgbClr val="0070C0"/>
                </a:solidFill>
              </a:rPr>
              <a:t>已经稳定运营</a:t>
            </a:r>
            <a:r>
              <a:rPr lang="en-US" altLang="zh-CN" sz="1600" dirty="0">
                <a:solidFill>
                  <a:srgbClr val="0070C0"/>
                </a:solidFill>
              </a:rPr>
              <a:t>4</a:t>
            </a:r>
            <a:r>
              <a:rPr lang="zh-CN" altLang="en-US" sz="1600" dirty="0">
                <a:solidFill>
                  <a:srgbClr val="0070C0"/>
                </a:solidFill>
              </a:rPr>
              <a:t>年</a:t>
            </a:r>
            <a:r>
              <a:rPr lang="zh-CN" altLang="en-US" sz="1600" dirty="0" smtClean="0">
                <a:solidFill>
                  <a:srgbClr val="0070C0"/>
                </a:solidFill>
              </a:rPr>
              <a:t>，技术风险期安全度过</a:t>
            </a:r>
            <a:endParaRPr lang="en-US" altLang="zh-CN" sz="1600" dirty="0" smtClean="0">
              <a:solidFill>
                <a:srgbClr val="0070C0"/>
              </a:solidFill>
            </a:endParaRPr>
          </a:p>
          <a:p>
            <a:pPr marL="285750" indent="-285750">
              <a:lnSpc>
                <a:spcPct val="130000"/>
              </a:lnSpc>
              <a:spcBef>
                <a:spcPts val="600"/>
              </a:spcBef>
              <a:buFont typeface="Arial" panose="020B0604020202020204" pitchFamily="34" charset="0"/>
              <a:buChar char="•"/>
            </a:pPr>
            <a:r>
              <a:rPr lang="zh-CN" altLang="en-US" sz="1600" dirty="0" smtClean="0">
                <a:solidFill>
                  <a:srgbClr val="0070C0"/>
                </a:solidFill>
              </a:rPr>
              <a:t>核心</a:t>
            </a:r>
            <a:r>
              <a:rPr lang="zh-CN" altLang="en-US" sz="1600" dirty="0">
                <a:solidFill>
                  <a:srgbClr val="0070C0"/>
                </a:solidFill>
              </a:rPr>
              <a:t>团队长期协同作战，已形成较为完善的芯片设计企业研发与运营</a:t>
            </a:r>
            <a:r>
              <a:rPr lang="zh-CN" altLang="en-US" sz="1600" dirty="0" smtClean="0">
                <a:solidFill>
                  <a:srgbClr val="0070C0"/>
                </a:solidFill>
              </a:rPr>
              <a:t>流程</a:t>
            </a:r>
            <a:endParaRPr lang="zh-CN" altLang="en-US" sz="1600" dirty="0">
              <a:solidFill>
                <a:srgbClr val="0070C0"/>
              </a:solidFill>
            </a:endParaRPr>
          </a:p>
        </p:txBody>
      </p:sp>
      <p:sp>
        <p:nvSpPr>
          <p:cNvPr id="13" name="矩形 12"/>
          <p:cNvSpPr/>
          <p:nvPr/>
        </p:nvSpPr>
        <p:spPr>
          <a:xfrm>
            <a:off x="8961770" y="2715314"/>
            <a:ext cx="2106280" cy="3369143"/>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961769" y="2909867"/>
            <a:ext cx="2018651" cy="2729978"/>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1600" dirty="0">
                <a:solidFill>
                  <a:srgbClr val="0070C0"/>
                </a:solidFill>
              </a:rPr>
              <a:t>在电力领域已经与排名前</a:t>
            </a:r>
            <a:r>
              <a:rPr lang="zh-CN" altLang="en-US" sz="1600" dirty="0" smtClean="0">
                <a:solidFill>
                  <a:srgbClr val="0070C0"/>
                </a:solidFill>
              </a:rPr>
              <a:t>五民营</a:t>
            </a:r>
            <a:r>
              <a:rPr lang="zh-CN" altLang="en-US" sz="1600" dirty="0">
                <a:solidFill>
                  <a:srgbClr val="0070C0"/>
                </a:solidFill>
              </a:rPr>
              <a:t>企业形成</a:t>
            </a:r>
            <a:r>
              <a:rPr lang="zh-CN" altLang="en-US" sz="1600" dirty="0" smtClean="0">
                <a:solidFill>
                  <a:srgbClr val="0070C0"/>
                </a:solidFill>
              </a:rPr>
              <a:t>合作</a:t>
            </a:r>
            <a:endParaRPr lang="en-US" altLang="zh-CN" sz="1600" dirty="0" smtClean="0">
              <a:solidFill>
                <a:srgbClr val="0070C0"/>
              </a:solidFill>
            </a:endParaRPr>
          </a:p>
          <a:p>
            <a:pPr marL="285750" indent="-285750">
              <a:lnSpc>
                <a:spcPct val="130000"/>
              </a:lnSpc>
              <a:spcBef>
                <a:spcPts val="600"/>
              </a:spcBef>
              <a:buFont typeface="Arial" panose="020B0604020202020204" pitchFamily="34" charset="0"/>
              <a:buChar char="•"/>
            </a:pPr>
            <a:r>
              <a:rPr lang="zh-CN" altLang="en-US" sz="1600" dirty="0" smtClean="0">
                <a:solidFill>
                  <a:srgbClr val="0070C0"/>
                </a:solidFill>
              </a:rPr>
              <a:t>在</a:t>
            </a:r>
            <a:r>
              <a:rPr lang="en-US" altLang="zh-CN" sz="1600" dirty="0">
                <a:solidFill>
                  <a:srgbClr val="0070C0"/>
                </a:solidFill>
              </a:rPr>
              <a:t>PLC-</a:t>
            </a:r>
            <a:r>
              <a:rPr lang="en-US" altLang="zh-CN" sz="1600" dirty="0" err="1">
                <a:solidFill>
                  <a:srgbClr val="0070C0"/>
                </a:solidFill>
              </a:rPr>
              <a:t>IoT</a:t>
            </a:r>
            <a:r>
              <a:rPr lang="zh-CN" altLang="en-US" sz="1600" dirty="0">
                <a:solidFill>
                  <a:srgbClr val="0070C0"/>
                </a:solidFill>
              </a:rPr>
              <a:t>领域正在与某知名智能照明方案企业及某头部智能家居企业密切接触。</a:t>
            </a:r>
          </a:p>
        </p:txBody>
      </p:sp>
      <p:pic>
        <p:nvPicPr>
          <p:cNvPr id="15" name="图片 14"/>
          <p:cNvPicPr>
            <a:picLocks noChangeAspect="1"/>
          </p:cNvPicPr>
          <p:nvPr/>
        </p:nvPicPr>
        <p:blipFill>
          <a:blip r:embed="rId5"/>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1623759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smtClean="0">
                <a:solidFill>
                  <a:srgbClr val="0078FF"/>
                </a:solidFill>
              </a:rPr>
              <a:t>四季豆公司</a:t>
            </a:r>
            <a:r>
              <a:rPr kumimoji="1" lang="zh-CN" altLang="en-US" dirty="0">
                <a:solidFill>
                  <a:srgbClr val="0078FF"/>
                </a:solidFill>
              </a:rPr>
              <a:t>简介</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7" name="图片 6"/>
          <p:cNvPicPr>
            <a:picLocks noChangeAspect="1"/>
          </p:cNvPicPr>
          <p:nvPr/>
        </p:nvPicPr>
        <p:blipFill>
          <a:blip r:embed="rId3"/>
          <a:stretch>
            <a:fillRect/>
          </a:stretch>
        </p:blipFill>
        <p:spPr>
          <a:xfrm>
            <a:off x="190365" y="1548374"/>
            <a:ext cx="4869075" cy="1904371"/>
          </a:xfrm>
          <a:prstGeom prst="rect">
            <a:avLst/>
          </a:prstGeom>
        </p:spPr>
      </p:pic>
      <p:pic>
        <p:nvPicPr>
          <p:cNvPr id="9" name="图片 8"/>
          <p:cNvPicPr>
            <a:picLocks noChangeAspect="1"/>
          </p:cNvPicPr>
          <p:nvPr/>
        </p:nvPicPr>
        <p:blipFill>
          <a:blip r:embed="rId4"/>
          <a:stretch>
            <a:fillRect/>
          </a:stretch>
        </p:blipFill>
        <p:spPr>
          <a:xfrm>
            <a:off x="190365" y="3739500"/>
            <a:ext cx="4861542" cy="2143041"/>
          </a:xfrm>
          <a:prstGeom prst="rect">
            <a:avLst/>
          </a:prstGeom>
        </p:spPr>
      </p:pic>
      <p:pic>
        <p:nvPicPr>
          <p:cNvPr id="10" name="图片 9"/>
          <p:cNvPicPr>
            <a:picLocks noChangeAspect="1"/>
          </p:cNvPicPr>
          <p:nvPr/>
        </p:nvPicPr>
        <p:blipFill>
          <a:blip r:embed="rId5"/>
          <a:stretch>
            <a:fillRect/>
          </a:stretch>
        </p:blipFill>
        <p:spPr>
          <a:xfrm>
            <a:off x="5059440" y="1514442"/>
            <a:ext cx="4128391" cy="4450115"/>
          </a:xfrm>
          <a:prstGeom prst="rect">
            <a:avLst/>
          </a:prstGeom>
        </p:spPr>
      </p:pic>
      <p:pic>
        <p:nvPicPr>
          <p:cNvPr id="11" name="图片 10"/>
          <p:cNvPicPr>
            <a:picLocks noChangeAspect="1"/>
          </p:cNvPicPr>
          <p:nvPr/>
        </p:nvPicPr>
        <p:blipFill>
          <a:blip r:embed="rId6"/>
          <a:stretch>
            <a:fillRect/>
          </a:stretch>
        </p:blipFill>
        <p:spPr>
          <a:xfrm>
            <a:off x="9124373" y="1402725"/>
            <a:ext cx="2870199" cy="4479816"/>
          </a:xfrm>
          <a:prstGeom prst="rect">
            <a:avLst/>
          </a:prstGeom>
        </p:spPr>
      </p:pic>
      <p:pic>
        <p:nvPicPr>
          <p:cNvPr id="12" name="图片 11"/>
          <p:cNvPicPr>
            <a:picLocks noChangeAspect="1"/>
          </p:cNvPicPr>
          <p:nvPr/>
        </p:nvPicPr>
        <p:blipFill>
          <a:blip r:embed="rId7"/>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27548013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en-US" altLang="zh-CN" dirty="0" smtClean="0">
                <a:solidFill>
                  <a:srgbClr val="0078FF"/>
                </a:solidFill>
              </a:rPr>
              <a:t> </a:t>
            </a:r>
            <a:r>
              <a:rPr kumimoji="1" lang="zh-CN" altLang="en-US" dirty="0" smtClean="0">
                <a:solidFill>
                  <a:srgbClr val="0078FF"/>
                </a:solidFill>
              </a:rPr>
              <a:t>技术简介</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sp>
        <p:nvSpPr>
          <p:cNvPr id="26" name="文本框 25">
            <a:extLst>
              <a:ext uri="{FF2B5EF4-FFF2-40B4-BE49-F238E27FC236}">
                <a16:creationId xmlns:a16="http://schemas.microsoft.com/office/drawing/2014/main" id="{652CFD82-4803-4065-9E8C-7FDDFF8F539B}"/>
              </a:ext>
            </a:extLst>
          </p:cNvPr>
          <p:cNvSpPr txBox="1"/>
          <p:nvPr/>
        </p:nvSpPr>
        <p:spPr>
          <a:xfrm>
            <a:off x="7534344" y="2488517"/>
            <a:ext cx="3769360" cy="2885726"/>
          </a:xfrm>
          <a:prstGeom prst="rect">
            <a:avLst/>
          </a:prstGeom>
          <a:noFill/>
        </p:spPr>
        <p:txBody>
          <a:bodyPr wrap="square" rtlCol="0">
            <a:spAutoFit/>
          </a:bodyPr>
          <a:lstStyle/>
          <a:p>
            <a:pPr marL="285750" indent="-285750">
              <a:lnSpc>
                <a:spcPct val="130000"/>
              </a:lnSpc>
              <a:spcBef>
                <a:spcPts val="600"/>
              </a:spcBef>
              <a:buFont typeface="Wingdings" panose="05000000000000000000" pitchFamily="2" charset="2"/>
              <a:buChar char="p"/>
            </a:pPr>
            <a:r>
              <a:rPr lang="zh-CN" altLang="en-US" dirty="0">
                <a:solidFill>
                  <a:srgbClr val="FFFFFF">
                    <a:lumMod val="50000"/>
                  </a:srgbClr>
                </a:solidFill>
                <a:latin typeface="微软雅黑"/>
                <a:ea typeface="微软雅黑"/>
              </a:rPr>
              <a:t>网随电通，无须专门布线</a:t>
            </a:r>
            <a:endParaRPr lang="en-US" altLang="zh-CN" dirty="0">
              <a:solidFill>
                <a:srgbClr val="FFFFFF">
                  <a:lumMod val="50000"/>
                </a:srgbClr>
              </a:solidFill>
              <a:latin typeface="微软雅黑"/>
              <a:ea typeface="微软雅黑"/>
            </a:endParaRPr>
          </a:p>
          <a:p>
            <a:pPr marL="285750" indent="-285750">
              <a:lnSpc>
                <a:spcPct val="130000"/>
              </a:lnSpc>
              <a:spcBef>
                <a:spcPts val="600"/>
              </a:spcBef>
              <a:buFont typeface="Wingdings" panose="05000000000000000000" pitchFamily="2" charset="2"/>
              <a:buChar char="p"/>
            </a:pPr>
            <a:r>
              <a:rPr lang="en-US" altLang="zh-CN" dirty="0">
                <a:solidFill>
                  <a:srgbClr val="FFFFFF">
                    <a:lumMod val="50000"/>
                  </a:srgbClr>
                </a:solidFill>
                <a:latin typeface="微软雅黑"/>
                <a:ea typeface="微软雅黑"/>
              </a:rPr>
              <a:t>OFDM</a:t>
            </a:r>
            <a:r>
              <a:rPr lang="zh-CN" altLang="en-US" dirty="0">
                <a:solidFill>
                  <a:srgbClr val="FFFFFF">
                    <a:lumMod val="50000"/>
                  </a:srgbClr>
                </a:solidFill>
                <a:latin typeface="微软雅黑"/>
                <a:ea typeface="微软雅黑"/>
              </a:rPr>
              <a:t>技术，频带利用率高，抗干扰能力强</a:t>
            </a:r>
            <a:endParaRPr lang="en-US" altLang="zh-CN" dirty="0">
              <a:solidFill>
                <a:srgbClr val="FFFFFF">
                  <a:lumMod val="50000"/>
                </a:srgbClr>
              </a:solidFill>
              <a:latin typeface="微软雅黑"/>
              <a:ea typeface="微软雅黑"/>
            </a:endParaRPr>
          </a:p>
          <a:p>
            <a:pPr marL="285750" indent="-285750">
              <a:lnSpc>
                <a:spcPct val="130000"/>
              </a:lnSpc>
              <a:spcBef>
                <a:spcPts val="600"/>
              </a:spcBef>
              <a:buFont typeface="Wingdings" panose="05000000000000000000" pitchFamily="2" charset="2"/>
              <a:buChar char="p"/>
            </a:pPr>
            <a:r>
              <a:rPr lang="zh-CN" altLang="en-US" dirty="0">
                <a:solidFill>
                  <a:srgbClr val="FFFFFF">
                    <a:lumMod val="50000"/>
                  </a:srgbClr>
                </a:solidFill>
                <a:latin typeface="微软雅黑"/>
                <a:ea typeface="微软雅黑"/>
              </a:rPr>
              <a:t>应用层通信速率可达</a:t>
            </a:r>
            <a:r>
              <a:rPr lang="en-US" altLang="zh-CN" dirty="0">
                <a:solidFill>
                  <a:srgbClr val="FFFFFF">
                    <a:lumMod val="50000"/>
                  </a:srgbClr>
                </a:solidFill>
                <a:latin typeface="微软雅黑"/>
                <a:ea typeface="微软雅黑"/>
              </a:rPr>
              <a:t>100Kbps~2Mbps</a:t>
            </a:r>
          </a:p>
          <a:p>
            <a:pPr marL="285750" indent="-285750">
              <a:lnSpc>
                <a:spcPct val="130000"/>
              </a:lnSpc>
              <a:spcBef>
                <a:spcPts val="600"/>
              </a:spcBef>
              <a:buFont typeface="Wingdings" panose="05000000000000000000" pitchFamily="2" charset="2"/>
              <a:buChar char="p"/>
            </a:pPr>
            <a:r>
              <a:rPr lang="zh-CN" altLang="en-US" dirty="0">
                <a:solidFill>
                  <a:srgbClr val="FFFFFF">
                    <a:lumMod val="50000"/>
                  </a:srgbClr>
                </a:solidFill>
                <a:latin typeface="微软雅黑"/>
                <a:ea typeface="微软雅黑"/>
              </a:rPr>
              <a:t>多级自组网，通信距离达公里级</a:t>
            </a:r>
            <a:endParaRPr lang="en-US" altLang="zh-CN" dirty="0">
              <a:solidFill>
                <a:srgbClr val="FFFFFF">
                  <a:lumMod val="50000"/>
                </a:srgbClr>
              </a:solidFill>
              <a:latin typeface="微软雅黑"/>
              <a:ea typeface="微软雅黑"/>
            </a:endParaRPr>
          </a:p>
          <a:p>
            <a:pPr marL="285750" indent="-285750">
              <a:lnSpc>
                <a:spcPct val="130000"/>
              </a:lnSpc>
              <a:spcBef>
                <a:spcPts val="600"/>
              </a:spcBef>
              <a:buFont typeface="Wingdings" panose="05000000000000000000" pitchFamily="2" charset="2"/>
              <a:buChar char="p"/>
            </a:pPr>
            <a:r>
              <a:rPr lang="zh-CN" altLang="en-US" dirty="0">
                <a:solidFill>
                  <a:srgbClr val="FFFFFF">
                    <a:lumMod val="50000"/>
                  </a:srgbClr>
                </a:solidFill>
                <a:latin typeface="微软雅黑"/>
                <a:ea typeface="微软雅黑"/>
              </a:rPr>
              <a:t>基于</a:t>
            </a:r>
            <a:r>
              <a:rPr lang="en-US" altLang="zh-CN" dirty="0">
                <a:solidFill>
                  <a:srgbClr val="FFFFFF">
                    <a:lumMod val="50000"/>
                  </a:srgbClr>
                </a:solidFill>
                <a:latin typeface="微软雅黑"/>
                <a:ea typeface="微软雅黑"/>
              </a:rPr>
              <a:t>IPv6</a:t>
            </a:r>
            <a:r>
              <a:rPr lang="zh-CN" altLang="en-US" dirty="0">
                <a:solidFill>
                  <a:srgbClr val="FFFFFF">
                    <a:lumMod val="50000"/>
                  </a:srgbClr>
                </a:solidFill>
                <a:latin typeface="微软雅黑"/>
                <a:ea typeface="微软雅黑"/>
              </a:rPr>
              <a:t>承载丰富的物联网协议</a:t>
            </a:r>
          </a:p>
        </p:txBody>
      </p:sp>
      <p:sp>
        <p:nvSpPr>
          <p:cNvPr id="31" name="文本框 30">
            <a:extLst>
              <a:ext uri="{FF2B5EF4-FFF2-40B4-BE49-F238E27FC236}">
                <a16:creationId xmlns:a16="http://schemas.microsoft.com/office/drawing/2014/main" id="{087BEA07-483A-401B-BF9E-9BC134EE63C1}"/>
              </a:ext>
            </a:extLst>
          </p:cNvPr>
          <p:cNvSpPr txBox="1"/>
          <p:nvPr/>
        </p:nvSpPr>
        <p:spPr>
          <a:xfrm>
            <a:off x="797499" y="5528971"/>
            <a:ext cx="10069781" cy="769441"/>
          </a:xfrm>
          <a:prstGeom prst="rect">
            <a:avLst/>
          </a:prstGeom>
          <a:noFill/>
        </p:spPr>
        <p:txBody>
          <a:bodyPr wrap="square" rtlCol="0">
            <a:spAutoFit/>
          </a:bodyPr>
          <a:lstStyle/>
          <a:p>
            <a:pPr algn="ctr">
              <a:spcAft>
                <a:spcPts val="1200"/>
              </a:spcAft>
            </a:pPr>
            <a:r>
              <a:rPr lang="en-US" altLang="zh-CN" sz="2200" kern="100" dirty="0">
                <a:solidFill>
                  <a:srgbClr val="0079C3"/>
                </a:solidFill>
                <a:latin typeface="微软雅黑"/>
                <a:ea typeface="微软雅黑"/>
                <a:cs typeface="Times New Roman" panose="02020603050405020304" pitchFamily="18" charset="0"/>
              </a:rPr>
              <a:t>PLC-IoT</a:t>
            </a:r>
            <a:r>
              <a:rPr lang="zh-CN" altLang="en-US" sz="2200" kern="100" dirty="0">
                <a:solidFill>
                  <a:srgbClr val="0079C3"/>
                </a:solidFill>
                <a:latin typeface="微软雅黑"/>
                <a:ea typeface="微软雅黑"/>
                <a:cs typeface="Times New Roman" panose="02020603050405020304" pitchFamily="18" charset="0"/>
              </a:rPr>
              <a:t>在可靠性、连接数、服务距离、成本等方面有显著优势，是真正服务于全屋智能的技术</a:t>
            </a:r>
            <a:endParaRPr lang="zh-CN" altLang="zh-CN" sz="2200" kern="100" dirty="0">
              <a:solidFill>
                <a:srgbClr val="0079C3"/>
              </a:solidFill>
              <a:latin typeface="微软雅黑"/>
              <a:ea typeface="微软雅黑"/>
              <a:cs typeface="Times New Roman" panose="02020603050405020304" pitchFamily="18" charset="0"/>
            </a:endParaRPr>
          </a:p>
        </p:txBody>
      </p:sp>
      <p:sp>
        <p:nvSpPr>
          <p:cNvPr id="34" name="矩形 33">
            <a:extLst>
              <a:ext uri="{FF2B5EF4-FFF2-40B4-BE49-F238E27FC236}">
                <a16:creationId xmlns:a16="http://schemas.microsoft.com/office/drawing/2014/main" id="{8E3F0BEA-F1A4-44A3-ABF2-52FE644B0B5D}"/>
              </a:ext>
            </a:extLst>
          </p:cNvPr>
          <p:cNvSpPr/>
          <p:nvPr/>
        </p:nvSpPr>
        <p:spPr>
          <a:xfrm>
            <a:off x="1111849" y="1388818"/>
            <a:ext cx="9441082" cy="778931"/>
          </a:xfrm>
          <a:prstGeom prst="rect">
            <a:avLst/>
          </a:prstGeom>
          <a:solidFill>
            <a:srgbClr val="0079C3"/>
          </a:solidFill>
        </p:spPr>
        <p:txBody>
          <a:bodyPr wrap="square">
            <a:spAutoFit/>
          </a:bodyPr>
          <a:lstStyle/>
          <a:p>
            <a:pPr>
              <a:lnSpc>
                <a:spcPct val="130000"/>
              </a:lnSpc>
              <a:buClr>
                <a:srgbClr val="EAF5FC"/>
              </a:buClr>
            </a:pPr>
            <a:r>
              <a:rPr lang="en-US" altLang="zh-CN" dirty="0">
                <a:solidFill>
                  <a:srgbClr val="FFFFFF"/>
                </a:solidFill>
                <a:latin typeface="Calibri"/>
                <a:ea typeface="幼圆"/>
              </a:rPr>
              <a:t>HPLC(High-speed Power-Line Carrier )</a:t>
            </a:r>
            <a:r>
              <a:rPr lang="zh-CN" altLang="en-US" dirty="0">
                <a:solidFill>
                  <a:srgbClr val="FFFFFF"/>
                </a:solidFill>
                <a:latin typeface="Calibri"/>
                <a:ea typeface="幼圆"/>
              </a:rPr>
              <a:t>：可在现有电力线上实现高速数据传输，无需重新布线，稳定、实时、抗干扰能力强，完美适配全屋智能、工业互联</a:t>
            </a:r>
          </a:p>
        </p:txBody>
      </p:sp>
      <p:pic>
        <p:nvPicPr>
          <p:cNvPr id="36" name="图片 35">
            <a:extLst>
              <a:ext uri="{FF2B5EF4-FFF2-40B4-BE49-F238E27FC236}">
                <a16:creationId xmlns:a16="http://schemas.microsoft.com/office/drawing/2014/main" id="{CDABA5F8-759F-4A5E-A9C3-1CBBCAFA756E}"/>
              </a:ext>
            </a:extLst>
          </p:cNvPr>
          <p:cNvPicPr>
            <a:picLocks noChangeAspect="1"/>
          </p:cNvPicPr>
          <p:nvPr/>
        </p:nvPicPr>
        <p:blipFill>
          <a:blip r:embed="rId3"/>
          <a:stretch>
            <a:fillRect/>
          </a:stretch>
        </p:blipFill>
        <p:spPr>
          <a:xfrm>
            <a:off x="1111849" y="2707198"/>
            <a:ext cx="5753333" cy="2448363"/>
          </a:xfrm>
          <a:prstGeom prst="rect">
            <a:avLst/>
          </a:prstGeom>
        </p:spPr>
      </p:pic>
      <p:pic>
        <p:nvPicPr>
          <p:cNvPr id="9" name="图片 8"/>
          <p:cNvPicPr>
            <a:picLocks noChangeAspect="1"/>
          </p:cNvPicPr>
          <p:nvPr/>
        </p:nvPicPr>
        <p:blipFill>
          <a:blip r:embed="rId4"/>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1293605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solidFill>
                  <a:srgbClr val="0078FF"/>
                </a:solidFill>
              </a:rPr>
              <a:t>PLC-</a:t>
            </a:r>
            <a:r>
              <a:rPr kumimoji="1" lang="en-US" altLang="zh-CN" dirty="0" err="1">
                <a:solidFill>
                  <a:srgbClr val="0078FF"/>
                </a:solidFill>
              </a:rPr>
              <a:t>IoT</a:t>
            </a:r>
            <a:r>
              <a:rPr kumimoji="1" lang="en-US" altLang="zh-CN" dirty="0">
                <a:solidFill>
                  <a:srgbClr val="0078FF"/>
                </a:solidFill>
              </a:rPr>
              <a:t> </a:t>
            </a:r>
            <a:r>
              <a:rPr kumimoji="1" lang="zh-CN" altLang="en-US" dirty="0">
                <a:solidFill>
                  <a:srgbClr val="0078FF"/>
                </a:solidFill>
              </a:rPr>
              <a:t>为全屋智能而生</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3"/>
          <a:stretch>
            <a:fillRect/>
          </a:stretch>
        </p:blipFill>
        <p:spPr>
          <a:xfrm>
            <a:off x="9796072" y="266110"/>
            <a:ext cx="2133600" cy="1028700"/>
          </a:xfrm>
          <a:prstGeom prst="rect">
            <a:avLst/>
          </a:prstGeom>
        </p:spPr>
      </p:pic>
      <p:pic>
        <p:nvPicPr>
          <p:cNvPr id="20" name="图片 19"/>
          <p:cNvPicPr>
            <a:picLocks noChangeAspect="1"/>
          </p:cNvPicPr>
          <p:nvPr/>
        </p:nvPicPr>
        <p:blipFill>
          <a:blip r:embed="rId4"/>
          <a:stretch>
            <a:fillRect/>
          </a:stretch>
        </p:blipFill>
        <p:spPr>
          <a:xfrm>
            <a:off x="10668000" y="363037"/>
            <a:ext cx="1524000" cy="658561"/>
          </a:xfrm>
          <a:prstGeom prst="rect">
            <a:avLst/>
          </a:prstGeom>
        </p:spPr>
      </p:pic>
      <p:sp>
        <p:nvSpPr>
          <p:cNvPr id="3" name="燕尾形 2"/>
          <p:cNvSpPr/>
          <p:nvPr/>
        </p:nvSpPr>
        <p:spPr>
          <a:xfrm>
            <a:off x="1032387" y="1868129"/>
            <a:ext cx="5515897" cy="580103"/>
          </a:xfrm>
          <a:prstGeom prst="chevro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cxnSp>
        <p:nvCxnSpPr>
          <p:cNvPr id="10" name="肘形连接符 9"/>
          <p:cNvCxnSpPr>
            <a:endCxn id="7" idx="1"/>
          </p:cNvCxnSpPr>
          <p:nvPr/>
        </p:nvCxnSpPr>
        <p:spPr>
          <a:xfrm rot="16200000" flipH="1">
            <a:off x="1032904" y="3275527"/>
            <a:ext cx="2466845" cy="587398"/>
          </a:xfrm>
          <a:prstGeom prst="bent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2399075" y="3283975"/>
            <a:ext cx="2556387" cy="2081980"/>
            <a:chOff x="2536723" y="3529781"/>
            <a:chExt cx="2556387" cy="1836173"/>
          </a:xfrm>
        </p:grpSpPr>
        <p:sp>
          <p:nvSpPr>
            <p:cNvPr id="5" name="圆角矩形 4"/>
            <p:cNvSpPr/>
            <p:nvPr/>
          </p:nvSpPr>
          <p:spPr>
            <a:xfrm>
              <a:off x="2536723" y="3529781"/>
              <a:ext cx="2556387" cy="1836173"/>
            </a:xfrm>
            <a:prstGeom prst="roundRect">
              <a:avLst>
                <a:gd name="adj" fmla="val 14768"/>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 name="圆角矩形 6"/>
            <p:cNvSpPr/>
            <p:nvPr/>
          </p:nvSpPr>
          <p:spPr>
            <a:xfrm>
              <a:off x="2697673" y="4512736"/>
              <a:ext cx="2238122" cy="71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6" name="圆角矩形 25"/>
            <p:cNvSpPr/>
            <p:nvPr/>
          </p:nvSpPr>
          <p:spPr>
            <a:xfrm>
              <a:off x="2697673" y="3678495"/>
              <a:ext cx="2238122" cy="6563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16" name="文本框 15"/>
          <p:cNvSpPr txBox="1"/>
          <p:nvPr/>
        </p:nvSpPr>
        <p:spPr>
          <a:xfrm>
            <a:off x="1693605" y="1963682"/>
            <a:ext cx="1383892"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基础电气</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4615014" y="1954379"/>
            <a:ext cx="1383892"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生活家电</a:t>
            </a: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34" name="肘形连接符 33"/>
          <p:cNvCxnSpPr>
            <a:stCxn id="31" idx="2"/>
            <a:endCxn id="26" idx="3"/>
          </p:cNvCxnSpPr>
          <p:nvPr/>
        </p:nvCxnSpPr>
        <p:spPr>
          <a:xfrm rot="5400000">
            <a:off x="4302071" y="2819788"/>
            <a:ext cx="1500967" cy="508813"/>
          </a:xfrm>
          <a:prstGeom prst="bent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846005" y="1451021"/>
            <a:ext cx="884903" cy="369332"/>
          </a:xfrm>
          <a:prstGeom prst="rect">
            <a:avLst/>
          </a:prstGeom>
          <a:noFill/>
        </p:spPr>
        <p:txBody>
          <a:bodyPr wrap="square" rtlCol="0">
            <a:spAutoFit/>
          </a:bodyPr>
          <a:lstStyle/>
          <a:p>
            <a:pPr algn="ctr"/>
            <a:r>
              <a:rPr lang="zh-CN" altLang="en-US" dirty="0" smtClean="0">
                <a:solidFill>
                  <a:srgbClr val="276EE1"/>
                </a:solidFill>
                <a:latin typeface="微软雅黑" panose="020B0503020204020204" pitchFamily="34" charset="-122"/>
                <a:ea typeface="微软雅黑" panose="020B0503020204020204" pitchFamily="34" charset="-122"/>
              </a:rPr>
              <a:t>前装</a:t>
            </a:r>
            <a:endParaRPr lang="zh-CN" altLang="en-US" dirty="0">
              <a:solidFill>
                <a:srgbClr val="276EE1"/>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4785850" y="1451021"/>
            <a:ext cx="884903" cy="369332"/>
          </a:xfrm>
          <a:prstGeom prst="rect">
            <a:avLst/>
          </a:prstGeom>
          <a:noFill/>
        </p:spPr>
        <p:txBody>
          <a:bodyPr wrap="square" rtlCol="0">
            <a:spAutoFit/>
          </a:bodyPr>
          <a:lstStyle/>
          <a:p>
            <a:pPr algn="ctr"/>
            <a:r>
              <a:rPr lang="zh-CN" altLang="en-US" dirty="0">
                <a:solidFill>
                  <a:srgbClr val="276EE1"/>
                </a:solidFill>
                <a:latin typeface="微软雅黑" panose="020B0503020204020204" pitchFamily="34" charset="-122"/>
                <a:ea typeface="微软雅黑" panose="020B0503020204020204" pitchFamily="34" charset="-122"/>
              </a:rPr>
              <a:t>后</a:t>
            </a:r>
            <a:r>
              <a:rPr lang="zh-CN" altLang="en-US" dirty="0" smtClean="0">
                <a:solidFill>
                  <a:srgbClr val="276EE1"/>
                </a:solidFill>
                <a:latin typeface="微软雅黑" panose="020B0503020204020204" pitchFamily="34" charset="-122"/>
                <a:ea typeface="微软雅黑" panose="020B0503020204020204" pitchFamily="34" charset="-122"/>
              </a:rPr>
              <a:t>装</a:t>
            </a:r>
            <a:endParaRPr lang="zh-CN" altLang="en-US" dirty="0">
              <a:solidFill>
                <a:srgbClr val="276EE1"/>
              </a:solidFill>
              <a:latin typeface="微软雅黑" panose="020B0503020204020204" pitchFamily="34" charset="-122"/>
              <a:ea typeface="微软雅黑" panose="020B0503020204020204" pitchFamily="34" charset="-122"/>
            </a:endParaRPr>
          </a:p>
        </p:txBody>
      </p:sp>
      <p:sp>
        <p:nvSpPr>
          <p:cNvPr id="40" name="矩形 39"/>
          <p:cNvSpPr/>
          <p:nvPr/>
        </p:nvSpPr>
        <p:spPr>
          <a:xfrm>
            <a:off x="766916" y="5616747"/>
            <a:ext cx="6096000" cy="584775"/>
          </a:xfrm>
          <a:prstGeom prst="rect">
            <a:avLst/>
          </a:prstGeom>
        </p:spPr>
        <p:txBody>
          <a:bodyPr>
            <a:spAutoFit/>
          </a:bodyPr>
          <a:lstStyle/>
          <a:p>
            <a:r>
              <a:rPr lang="zh-CN" altLang="en-US" sz="1600" dirty="0">
                <a:solidFill>
                  <a:srgbClr val="4072C4"/>
                </a:solidFill>
                <a:latin typeface="微软雅黑" panose="020B0503020204020204" pitchFamily="34" charset="-122"/>
                <a:ea typeface="微软雅黑" panose="020B0503020204020204" pitchFamily="34" charset="-122"/>
              </a:rPr>
              <a:t>相比其它连接技术，</a:t>
            </a:r>
            <a:r>
              <a:rPr lang="en-US" altLang="zh-CN" sz="1600" dirty="0">
                <a:solidFill>
                  <a:srgbClr val="4072C4"/>
                </a:solidFill>
                <a:latin typeface="微软雅黑" panose="020B0503020204020204" pitchFamily="34" charset="-122"/>
                <a:ea typeface="微软雅黑" panose="020B0503020204020204" pitchFamily="34" charset="-122"/>
              </a:rPr>
              <a:t>PLC-</a:t>
            </a:r>
            <a:r>
              <a:rPr lang="en-US" altLang="zh-CN" sz="1600" dirty="0" err="1">
                <a:solidFill>
                  <a:srgbClr val="4072C4"/>
                </a:solidFill>
                <a:latin typeface="微软雅黑" panose="020B0503020204020204" pitchFamily="34" charset="-122"/>
                <a:ea typeface="微软雅黑" panose="020B0503020204020204" pitchFamily="34" charset="-122"/>
              </a:rPr>
              <a:t>IoT</a:t>
            </a:r>
            <a:r>
              <a:rPr lang="zh-CN" altLang="en-US" sz="1600" dirty="0">
                <a:solidFill>
                  <a:srgbClr val="4072C4"/>
                </a:solidFill>
                <a:latin typeface="微软雅黑" panose="020B0503020204020204" pitchFamily="34" charset="-122"/>
                <a:ea typeface="微软雅黑" panose="020B0503020204020204" pitchFamily="34" charset="-122"/>
              </a:rPr>
              <a:t>在可行性、连接数、服务距离、成本等方面有显著优势，是真正服务于全屋智能的技术</a:t>
            </a:r>
          </a:p>
        </p:txBody>
      </p:sp>
      <p:sp>
        <p:nvSpPr>
          <p:cNvPr id="43" name="文本框 42"/>
          <p:cNvSpPr txBox="1"/>
          <p:nvPr/>
        </p:nvSpPr>
        <p:spPr>
          <a:xfrm>
            <a:off x="2700776" y="3546268"/>
            <a:ext cx="2113936"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如</a:t>
            </a:r>
            <a:r>
              <a:rPr lang="zh-CN" altLang="en-US" sz="1600" dirty="0" smtClean="0">
                <a:latin typeface="微软雅黑" panose="020B0503020204020204" pitchFamily="34" charset="-122"/>
                <a:ea typeface="微软雅黑" panose="020B0503020204020204" pitchFamily="34" charset="-122"/>
              </a:rPr>
              <a:t>黑电</a:t>
            </a:r>
            <a:r>
              <a:rPr lang="en-US" altLang="zh-CN" sz="1600" dirty="0" smtClean="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白电、个护、运动健康、母婴</a:t>
            </a:r>
            <a:r>
              <a:rPr lang="zh-CN" altLang="en-US" sz="1600" dirty="0" smtClean="0">
                <a:latin typeface="微软雅黑" panose="020B0503020204020204" pitchFamily="34" charset="-122"/>
                <a:ea typeface="微软雅黑" panose="020B0503020204020204" pitchFamily="34" charset="-122"/>
              </a:rPr>
              <a:t>等</a:t>
            </a:r>
            <a:endParaRPr lang="zh-CN" altLang="en-US" sz="1600" dirty="0">
              <a:latin typeface="微软雅黑" panose="020B0503020204020204" pitchFamily="34" charset="-122"/>
              <a:ea typeface="微软雅黑" panose="020B0503020204020204" pitchFamily="34" charset="-122"/>
            </a:endParaRPr>
          </a:p>
        </p:txBody>
      </p:sp>
      <p:sp>
        <p:nvSpPr>
          <p:cNvPr id="45" name="矩形 44"/>
          <p:cNvSpPr/>
          <p:nvPr/>
        </p:nvSpPr>
        <p:spPr>
          <a:xfrm>
            <a:off x="2648514" y="4510261"/>
            <a:ext cx="2467898" cy="584775"/>
          </a:xfrm>
          <a:prstGeom prst="rect">
            <a:avLst/>
          </a:prstGeom>
        </p:spPr>
        <p:txBody>
          <a:bodyPr wrap="square">
            <a:spAutoFit/>
          </a:bodyPr>
          <a:lstStyle/>
          <a:p>
            <a:r>
              <a:rPr lang="zh-CN" altLang="en-US" sz="1600" dirty="0">
                <a:solidFill>
                  <a:schemeClr val="bg1"/>
                </a:solidFill>
                <a:latin typeface="微软雅黑" panose="020B0503020204020204" pitchFamily="34" charset="-122"/>
                <a:ea typeface="微软雅黑" panose="020B0503020204020204" pitchFamily="34" charset="-122"/>
              </a:rPr>
              <a:t>照明</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电工</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传感</a:t>
            </a:r>
            <a:r>
              <a:rPr lang="en-US" altLang="zh-CN" sz="1600" dirty="0">
                <a:solidFill>
                  <a:schemeClr val="bg1"/>
                </a:solidFill>
                <a:latin typeface="微软雅黑" panose="020B0503020204020204" pitchFamily="34" charset="-122"/>
                <a:ea typeface="微软雅黑" panose="020B0503020204020204" pitchFamily="34" charset="-122"/>
              </a:rPr>
              <a:t>/</a:t>
            </a:r>
          </a:p>
          <a:p>
            <a:r>
              <a:rPr lang="zh-CN" altLang="en-US" sz="1600" dirty="0">
                <a:solidFill>
                  <a:schemeClr val="bg1"/>
                </a:solidFill>
                <a:latin typeface="微软雅黑" panose="020B0503020204020204" pitchFamily="34" charset="-122"/>
                <a:ea typeface="微软雅黑" panose="020B0503020204020204" pitchFamily="34" charset="-122"/>
              </a:rPr>
              <a:t>空调</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新风</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热水</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地暖</a:t>
            </a:r>
          </a:p>
        </p:txBody>
      </p:sp>
      <p:sp>
        <p:nvSpPr>
          <p:cNvPr id="49" name="矩形 48"/>
          <p:cNvSpPr/>
          <p:nvPr/>
        </p:nvSpPr>
        <p:spPr>
          <a:xfrm>
            <a:off x="384002" y="3729453"/>
            <a:ext cx="1588626" cy="1323439"/>
          </a:xfrm>
          <a:prstGeom prst="rect">
            <a:avLst/>
          </a:prstGeom>
        </p:spPr>
        <p:txBody>
          <a:bodyPr wrap="square">
            <a:spAutoFit/>
          </a:bodyPr>
          <a:lstStyle/>
          <a:p>
            <a:pPr marL="176213" indent="-176213">
              <a:spcBef>
                <a:spcPts val="600"/>
              </a:spcBef>
              <a:buFont typeface="Arial" panose="020B0604020202020204" pitchFamily="34" charset="0"/>
              <a:buChar char="•"/>
            </a:pPr>
            <a:r>
              <a:rPr lang="zh-CN" altLang="en-US" sz="1400" dirty="0">
                <a:solidFill>
                  <a:srgbClr val="3864B2"/>
                </a:solidFill>
                <a:latin typeface="微软雅黑" panose="020B0503020204020204" pitchFamily="34" charset="-122"/>
                <a:ea typeface="微软雅黑" panose="020B0503020204020204" pitchFamily="34" charset="-122"/>
              </a:rPr>
              <a:t>成组连接，强联动</a:t>
            </a:r>
          </a:p>
          <a:p>
            <a:pPr marL="176213" indent="-176213">
              <a:spcBef>
                <a:spcPts val="600"/>
              </a:spcBef>
              <a:buFont typeface="Arial" panose="020B0604020202020204" pitchFamily="34" charset="0"/>
              <a:buChar char="•"/>
            </a:pPr>
            <a:r>
              <a:rPr lang="zh-CN" altLang="en-US" sz="1400" dirty="0">
                <a:solidFill>
                  <a:srgbClr val="3864B2"/>
                </a:solidFill>
                <a:latin typeface="微软雅黑" panose="020B0503020204020204" pitchFamily="34" charset="-122"/>
                <a:ea typeface="微软雅黑" panose="020B0503020204020204" pitchFamily="34" charset="-122"/>
              </a:rPr>
              <a:t>离网可工作</a:t>
            </a:r>
          </a:p>
          <a:p>
            <a:pPr marL="176213" indent="-176213">
              <a:spcBef>
                <a:spcPts val="600"/>
              </a:spcBef>
              <a:buFont typeface="Arial" panose="020B0604020202020204" pitchFamily="34" charset="0"/>
              <a:buChar char="•"/>
            </a:pPr>
            <a:r>
              <a:rPr lang="zh-CN" altLang="en-US" sz="1400" dirty="0">
                <a:solidFill>
                  <a:srgbClr val="3864B2"/>
                </a:solidFill>
                <a:latin typeface="微软雅黑" panose="020B0503020204020204" pitchFamily="34" charset="-122"/>
                <a:ea typeface="微软雅黑" panose="020B0503020204020204" pitchFamily="34" charset="-122"/>
              </a:rPr>
              <a:t>节点多，全屋分布</a:t>
            </a:r>
          </a:p>
        </p:txBody>
      </p:sp>
      <p:sp>
        <p:nvSpPr>
          <p:cNvPr id="50" name="矩形 49"/>
          <p:cNvSpPr/>
          <p:nvPr/>
        </p:nvSpPr>
        <p:spPr>
          <a:xfrm>
            <a:off x="4997846" y="2639761"/>
            <a:ext cx="1603877" cy="815608"/>
          </a:xfrm>
          <a:prstGeom prst="rect">
            <a:avLst/>
          </a:prstGeom>
        </p:spPr>
        <p:txBody>
          <a:bodyPr wrap="square">
            <a:spAutoFit/>
          </a:bodyPr>
          <a:lstStyle/>
          <a:p>
            <a:pPr marL="285750" indent="-285750">
              <a:spcBef>
                <a:spcPts val="600"/>
              </a:spcBef>
              <a:buFont typeface="Arial" panose="020B0604020202020204" pitchFamily="34" charset="0"/>
              <a:buChar char="•"/>
            </a:pPr>
            <a:r>
              <a:rPr lang="zh-CN" altLang="en-US" sz="1400" dirty="0">
                <a:solidFill>
                  <a:srgbClr val="3864B2"/>
                </a:solidFill>
                <a:latin typeface="微软雅黑" panose="020B0503020204020204" pitchFamily="34" charset="-122"/>
                <a:ea typeface="微软雅黑" panose="020B0503020204020204" pitchFamily="34" charset="-122"/>
              </a:rPr>
              <a:t>单品智能，相互联系弱</a:t>
            </a:r>
          </a:p>
          <a:p>
            <a:pPr marL="285750" indent="-285750">
              <a:spcBef>
                <a:spcPts val="600"/>
              </a:spcBef>
              <a:buFont typeface="Arial" panose="020B0604020202020204" pitchFamily="34" charset="0"/>
              <a:buChar char="•"/>
            </a:pPr>
            <a:r>
              <a:rPr lang="zh-CN" altLang="en-US" sz="1400" dirty="0">
                <a:solidFill>
                  <a:srgbClr val="3864B2"/>
                </a:solidFill>
                <a:latin typeface="微软雅黑" panose="020B0503020204020204" pitchFamily="34" charset="-122"/>
                <a:ea typeface="微软雅黑" panose="020B0503020204020204" pitchFamily="34" charset="-122"/>
              </a:rPr>
              <a:t>弱网络依赖</a:t>
            </a:r>
          </a:p>
        </p:txBody>
      </p:sp>
      <p:graphicFrame>
        <p:nvGraphicFramePr>
          <p:cNvPr id="51" name="图表 50"/>
          <p:cNvGraphicFramePr/>
          <p:nvPr>
            <p:extLst>
              <p:ext uri="{D42A27DB-BD31-4B8C-83A1-F6EECF244321}">
                <p14:modId xmlns:p14="http://schemas.microsoft.com/office/powerpoint/2010/main" val="320976675"/>
              </p:ext>
            </p:extLst>
          </p:nvPr>
        </p:nvGraphicFramePr>
        <p:xfrm>
          <a:off x="7289363" y="1651076"/>
          <a:ext cx="4069167" cy="4486558"/>
        </p:xfrm>
        <a:graphic>
          <a:graphicData uri="http://schemas.openxmlformats.org/drawingml/2006/chart">
            <c:chart xmlns:c="http://schemas.openxmlformats.org/drawingml/2006/chart" xmlns:r="http://schemas.openxmlformats.org/officeDocument/2006/relationships" r:id="rId5"/>
          </a:graphicData>
        </a:graphic>
      </p:graphicFrame>
      <p:sp>
        <p:nvSpPr>
          <p:cNvPr id="52" name="矩形 51"/>
          <p:cNvSpPr/>
          <p:nvPr/>
        </p:nvSpPr>
        <p:spPr>
          <a:xfrm>
            <a:off x="7289363" y="1529575"/>
            <a:ext cx="4073166" cy="338554"/>
          </a:xfrm>
          <a:prstGeom prst="rect">
            <a:avLst/>
          </a:prstGeom>
        </p:spPr>
        <p:txBody>
          <a:bodyPr wrap="none">
            <a:spAutoFit/>
          </a:bodyPr>
          <a:lstStyle/>
          <a:p>
            <a:pPr algn="ctr" defTabSz="774049">
              <a:defRPr sz="1800" b="0" i="0" u="none" strike="noStrike" kern="1200" spc="70" baseline="0">
                <a:solidFill>
                  <a:srgbClr val="000000">
                    <a:lumMod val="50000"/>
                    <a:lumOff val="50000"/>
                  </a:srgbClr>
                </a:solidFill>
                <a:latin typeface="微软雅黑" panose="020B0503020204020204" pitchFamily="34" charset="-122"/>
                <a:ea typeface="微软雅黑" panose="020B0503020204020204" pitchFamily="34" charset="-122"/>
                <a:cs typeface="+mn-cs"/>
              </a:defRPr>
            </a:pPr>
            <a:r>
              <a:rPr lang="en-US" altLang="zh-CN" sz="1600" spc="63" dirty="0">
                <a:solidFill>
                  <a:srgbClr val="3864B2"/>
                </a:solidFill>
                <a:latin typeface="微软雅黑" panose="020B0503020204020204" pitchFamily="34" charset="-122"/>
                <a:ea typeface="微软雅黑" panose="020B0503020204020204" pitchFamily="34" charset="-122"/>
              </a:rPr>
              <a:t>Wi-Fi/BLE Mesh/</a:t>
            </a:r>
            <a:r>
              <a:rPr lang="en-US" altLang="zh-CN" sz="1600" spc="63" dirty="0" err="1">
                <a:solidFill>
                  <a:srgbClr val="3864B2"/>
                </a:solidFill>
                <a:latin typeface="微软雅黑" panose="020B0503020204020204" pitchFamily="34" charset="-122"/>
                <a:ea typeface="微软雅黑" panose="020B0503020204020204" pitchFamily="34" charset="-122"/>
              </a:rPr>
              <a:t>Zigbee</a:t>
            </a:r>
            <a:r>
              <a:rPr lang="en-US" altLang="zh-CN" sz="1600" spc="63" dirty="0">
                <a:solidFill>
                  <a:srgbClr val="3864B2"/>
                </a:solidFill>
                <a:latin typeface="微软雅黑" panose="020B0503020204020204" pitchFamily="34" charset="-122"/>
                <a:ea typeface="微软雅黑" panose="020B0503020204020204" pitchFamily="34" charset="-122"/>
              </a:rPr>
              <a:t>/PLC </a:t>
            </a:r>
            <a:r>
              <a:rPr lang="zh-CN" altLang="zh-CN" sz="1600" spc="63" dirty="0">
                <a:solidFill>
                  <a:srgbClr val="3864B2"/>
                </a:solidFill>
                <a:latin typeface="微软雅黑" panose="020B0503020204020204" pitchFamily="34" charset="-122"/>
                <a:ea typeface="微软雅黑" panose="020B0503020204020204" pitchFamily="34" charset="-122"/>
              </a:rPr>
              <a:t>定性对比</a:t>
            </a:r>
          </a:p>
        </p:txBody>
      </p:sp>
    </p:spTree>
    <p:extLst>
      <p:ext uri="{BB962C8B-B14F-4D97-AF65-F5344CB8AC3E}">
        <p14:creationId xmlns:p14="http://schemas.microsoft.com/office/powerpoint/2010/main" val="22665893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9049401" cy="599491"/>
          </a:xfrm>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zh-CN" altLang="en-US" dirty="0">
                <a:solidFill>
                  <a:srgbClr val="0078FF"/>
                </a:solidFill>
              </a:rPr>
              <a:t>技术，极简施工，无需布线，</a:t>
            </a:r>
            <a:r>
              <a:rPr kumimoji="1" lang="zh-CN" altLang="en-US" dirty="0" smtClean="0">
                <a:solidFill>
                  <a:srgbClr val="0078FF"/>
                </a:solidFill>
              </a:rPr>
              <a:t>上</a:t>
            </a:r>
            <a:r>
              <a:rPr kumimoji="1" lang="zh-CN" altLang="en-US" dirty="0">
                <a:solidFill>
                  <a:srgbClr val="0078FF"/>
                </a:solidFill>
              </a:rPr>
              <a:t>电即自动完成组网</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3"/>
          <a:stretch>
            <a:fillRect/>
          </a:stretch>
        </p:blipFill>
        <p:spPr>
          <a:xfrm>
            <a:off x="9796072" y="266110"/>
            <a:ext cx="2133600" cy="1028700"/>
          </a:xfrm>
          <a:prstGeom prst="rect">
            <a:avLst/>
          </a:prstGeom>
        </p:spPr>
      </p:pic>
      <p:pic>
        <p:nvPicPr>
          <p:cNvPr id="20" name="图片 19"/>
          <p:cNvPicPr>
            <a:picLocks noChangeAspect="1"/>
          </p:cNvPicPr>
          <p:nvPr/>
        </p:nvPicPr>
        <p:blipFill>
          <a:blip r:embed="rId4"/>
          <a:stretch>
            <a:fillRect/>
          </a:stretch>
        </p:blipFill>
        <p:spPr>
          <a:xfrm>
            <a:off x="10668000" y="363037"/>
            <a:ext cx="1524000" cy="658561"/>
          </a:xfrm>
          <a:prstGeom prst="rect">
            <a:avLst/>
          </a:prstGeom>
        </p:spPr>
      </p:pic>
      <p:sp>
        <p:nvSpPr>
          <p:cNvPr id="24" name="矩形 23"/>
          <p:cNvSpPr/>
          <p:nvPr/>
        </p:nvSpPr>
        <p:spPr>
          <a:xfrm>
            <a:off x="180954" y="2011592"/>
            <a:ext cx="1222141" cy="717889"/>
          </a:xfrm>
          <a:prstGeom prst="rect">
            <a:avLst/>
          </a:prstGeom>
        </p:spPr>
        <p:txBody>
          <a:bodyPr wrap="square">
            <a:spAutoFit/>
          </a:bodyPr>
          <a:lstStyle/>
          <a:p>
            <a:pPr defTabSz="1083893" hangingPunct="0"/>
            <a:r>
              <a:rPr lang="zh-CN" altLang="en-US" sz="1355" b="1" kern="0" dirty="0">
                <a:solidFill>
                  <a:srgbClr val="3864B2"/>
                </a:solidFill>
                <a:latin typeface="微软雅黑" panose="020B0503020204020204" pitchFamily="34" charset="-122"/>
                <a:ea typeface="微软雅黑" panose="020B0503020204020204" pitchFamily="34" charset="-122"/>
                <a:cs typeface="Arial"/>
                <a:sym typeface="Arial"/>
              </a:rPr>
              <a:t>传统总线方案</a:t>
            </a:r>
            <a:endParaRPr lang="en-US" altLang="zh-CN" sz="1355" kern="0" dirty="0">
              <a:solidFill>
                <a:srgbClr val="3864B2"/>
              </a:solidFill>
              <a:latin typeface="微软雅黑" panose="020B0503020204020204" pitchFamily="34" charset="-122"/>
              <a:ea typeface="微软雅黑" panose="020B0503020204020204" pitchFamily="34" charset="-122"/>
              <a:cs typeface="Arial"/>
              <a:sym typeface="Arial"/>
            </a:endParaRPr>
          </a:p>
          <a:p>
            <a:pPr algn="ctr" defTabSz="1083893" hangingPunct="0"/>
            <a:r>
              <a:rPr lang="zh-CN" altLang="en-US" sz="1355" kern="0" dirty="0">
                <a:solidFill>
                  <a:srgbClr val="3864B2"/>
                </a:solidFill>
                <a:latin typeface="微软雅黑" panose="020B0503020204020204" pitchFamily="34" charset="-122"/>
                <a:ea typeface="微软雅黑" panose="020B0503020204020204" pitchFamily="34" charset="-122"/>
                <a:cs typeface="Arial"/>
                <a:sym typeface="Arial"/>
              </a:rPr>
              <a:t>布线复杂、施工成本高</a:t>
            </a:r>
            <a:endParaRPr lang="zh-CN" altLang="en-US" sz="1355" kern="0" dirty="0">
              <a:solidFill>
                <a:srgbClr val="3864B2"/>
              </a:solidFill>
              <a:latin typeface="Arial"/>
              <a:cs typeface="Arial"/>
              <a:sym typeface="Arial"/>
            </a:endParaRPr>
          </a:p>
        </p:txBody>
      </p:sp>
      <p:sp>
        <p:nvSpPr>
          <p:cNvPr id="25" name="文本框 24"/>
          <p:cNvSpPr txBox="1"/>
          <p:nvPr/>
        </p:nvSpPr>
        <p:spPr>
          <a:xfrm>
            <a:off x="183939" y="4908486"/>
            <a:ext cx="1510621" cy="717889"/>
          </a:xfrm>
          <a:prstGeom prst="rect">
            <a:avLst/>
          </a:prstGeom>
          <a:noFill/>
          <a:ln>
            <a:noFill/>
          </a:ln>
        </p:spPr>
        <p:txBody>
          <a:bodyPr wrap="square">
            <a:spAutoFit/>
          </a:bodyPr>
          <a:lstStyle/>
          <a:p>
            <a:pPr defTabSz="1083893" hangingPunct="0">
              <a:defRPr/>
            </a:pPr>
            <a:r>
              <a:rPr lang="en-US" altLang="zh-CN" sz="1355" b="1" kern="0" dirty="0" smtClean="0">
                <a:solidFill>
                  <a:srgbClr val="3864B2"/>
                </a:solidFill>
                <a:latin typeface="微软雅黑" panose="020B0503020204020204" pitchFamily="34" charset="-122"/>
                <a:ea typeface="微软雅黑" panose="020B0503020204020204" pitchFamily="34" charset="-122"/>
                <a:cs typeface="Arial"/>
                <a:sym typeface="Arial"/>
              </a:rPr>
              <a:t>PLC-</a:t>
            </a:r>
            <a:r>
              <a:rPr lang="en-US" altLang="zh-CN" sz="1355" b="1" kern="0" dirty="0" err="1" smtClean="0">
                <a:solidFill>
                  <a:srgbClr val="3864B2"/>
                </a:solidFill>
                <a:latin typeface="微软雅黑" panose="020B0503020204020204" pitchFamily="34" charset="-122"/>
                <a:ea typeface="微软雅黑" panose="020B0503020204020204" pitchFamily="34" charset="-122"/>
                <a:cs typeface="Arial"/>
                <a:sym typeface="Arial"/>
              </a:rPr>
              <a:t>IoT</a:t>
            </a:r>
            <a:r>
              <a:rPr lang="zh-CN" altLang="en-US" sz="1355" b="1" kern="0" dirty="0">
                <a:solidFill>
                  <a:srgbClr val="3864B2"/>
                </a:solidFill>
                <a:latin typeface="微软雅黑" panose="020B0503020204020204" pitchFamily="34" charset="-122"/>
                <a:ea typeface="微软雅黑" panose="020B0503020204020204" pitchFamily="34" charset="-122"/>
                <a:cs typeface="Arial"/>
                <a:sym typeface="Arial"/>
              </a:rPr>
              <a:t>方案</a:t>
            </a:r>
            <a:endParaRPr lang="en-US" altLang="zh-CN" sz="1355" kern="0" dirty="0">
              <a:solidFill>
                <a:srgbClr val="3864B2"/>
              </a:solidFill>
              <a:latin typeface="微软雅黑" panose="020B0503020204020204" pitchFamily="34" charset="-122"/>
              <a:ea typeface="微软雅黑" panose="020B0503020204020204" pitchFamily="34" charset="-122"/>
              <a:cs typeface="Arial"/>
              <a:sym typeface="Arial"/>
            </a:endParaRPr>
          </a:p>
          <a:p>
            <a:pPr defTabSz="1083893" hangingPunct="0">
              <a:defRPr/>
            </a:pPr>
            <a:r>
              <a:rPr lang="zh-CN" altLang="en-US" sz="1355" kern="0" dirty="0">
                <a:solidFill>
                  <a:srgbClr val="3864B2"/>
                </a:solidFill>
                <a:latin typeface="微软雅黑" panose="020B0503020204020204" pitchFamily="34" charset="-122"/>
                <a:ea typeface="微软雅黑" panose="020B0503020204020204" pitchFamily="34" charset="-122"/>
                <a:cs typeface="Arial"/>
                <a:sym typeface="Arial"/>
              </a:rPr>
              <a:t>无需</a:t>
            </a:r>
            <a:r>
              <a:rPr lang="zh-CN" altLang="en-US" sz="1355" kern="0" dirty="0" smtClean="0">
                <a:solidFill>
                  <a:srgbClr val="3864B2"/>
                </a:solidFill>
                <a:latin typeface="微软雅黑" panose="020B0503020204020204" pitchFamily="34" charset="-122"/>
                <a:ea typeface="微软雅黑" panose="020B0503020204020204" pitchFamily="34" charset="-122"/>
                <a:cs typeface="Arial"/>
                <a:sym typeface="Arial"/>
              </a:rPr>
              <a:t>布线</a:t>
            </a:r>
            <a:r>
              <a:rPr lang="zh-CN" altLang="en-US" sz="1355" kern="0" dirty="0">
                <a:solidFill>
                  <a:srgbClr val="3864B2"/>
                </a:solidFill>
                <a:latin typeface="微软雅黑" panose="020B0503020204020204" pitchFamily="34" charset="-122"/>
                <a:ea typeface="微软雅黑" panose="020B0503020204020204" pitchFamily="34" charset="-122"/>
                <a:cs typeface="Arial"/>
                <a:sym typeface="Arial"/>
              </a:rPr>
              <a:t>、节省物料和工时</a:t>
            </a:r>
            <a:endParaRPr lang="en-US" altLang="zh-CN" sz="1355" kern="0" dirty="0">
              <a:solidFill>
                <a:srgbClr val="3864B2"/>
              </a:solidFill>
              <a:latin typeface="微软雅黑" panose="020B0503020204020204" pitchFamily="34" charset="-122"/>
              <a:ea typeface="微软雅黑" panose="020B0503020204020204" pitchFamily="34" charset="-122"/>
              <a:cs typeface="Arial"/>
              <a:sym typeface="Arial"/>
            </a:endParaRPr>
          </a:p>
        </p:txBody>
      </p:sp>
      <p:grpSp>
        <p:nvGrpSpPr>
          <p:cNvPr id="29" name="组合 28"/>
          <p:cNvGrpSpPr/>
          <p:nvPr/>
        </p:nvGrpSpPr>
        <p:grpSpPr>
          <a:xfrm>
            <a:off x="1587162" y="1424266"/>
            <a:ext cx="4028327" cy="2330284"/>
            <a:chOff x="1629786" y="2740109"/>
            <a:chExt cx="5467698" cy="2996572"/>
          </a:xfrm>
        </p:grpSpPr>
        <p:grpSp>
          <p:nvGrpSpPr>
            <p:cNvPr id="91" name="组合 90"/>
            <p:cNvGrpSpPr/>
            <p:nvPr/>
          </p:nvGrpSpPr>
          <p:grpSpPr>
            <a:xfrm>
              <a:off x="1629786" y="2740109"/>
              <a:ext cx="5467698" cy="2996572"/>
              <a:chOff x="2823748" y="2424701"/>
              <a:chExt cx="5272287" cy="3356549"/>
            </a:xfrm>
          </p:grpSpPr>
          <p:pic>
            <p:nvPicPr>
              <p:cNvPr id="103" name="图片 102"/>
              <p:cNvPicPr>
                <a:picLocks noChangeAspect="1"/>
              </p:cNvPicPr>
              <p:nvPr/>
            </p:nvPicPr>
            <p:blipFill>
              <a:blip r:embed="rId5"/>
              <a:stretch>
                <a:fillRect/>
              </a:stretch>
            </p:blipFill>
            <p:spPr>
              <a:xfrm>
                <a:off x="2823748" y="2424701"/>
                <a:ext cx="3810679" cy="3084334"/>
              </a:xfrm>
              <a:prstGeom prst="rect">
                <a:avLst/>
              </a:prstGeom>
            </p:spPr>
          </p:pic>
          <p:sp>
            <p:nvSpPr>
              <p:cNvPr id="104" name="矩形 103"/>
              <p:cNvSpPr/>
              <p:nvPr/>
            </p:nvSpPr>
            <p:spPr>
              <a:xfrm>
                <a:off x="7274493" y="4060782"/>
                <a:ext cx="821542" cy="1493094"/>
              </a:xfrm>
              <a:prstGeom prst="rect">
                <a:avLst/>
              </a:prstGeom>
              <a:solidFill>
                <a:schemeClr val="bg1">
                  <a:lumMod val="6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83893" hangingPunct="0">
                  <a:defRPr/>
                </a:pPr>
                <a:endParaRPr lang="zh-TW" altLang="en-US" sz="1219" kern="0" dirty="0">
                  <a:solidFill>
                    <a:srgbClr val="3864B2"/>
                  </a:solidFill>
                  <a:latin typeface="微軟正黑體" panose="020B0604030504040204" pitchFamily="34" charset="-120"/>
                  <a:ea typeface="微軟正黑體" panose="020B0604030504040204" pitchFamily="34" charset="-120"/>
                  <a:sym typeface="Arial"/>
                </a:endParaRPr>
              </a:p>
            </p:txBody>
          </p:sp>
          <p:cxnSp>
            <p:nvCxnSpPr>
              <p:cNvPr id="105" name="肘形连接符 104"/>
              <p:cNvCxnSpPr>
                <a:endCxn id="104" idx="1"/>
              </p:cNvCxnSpPr>
              <p:nvPr/>
            </p:nvCxnSpPr>
            <p:spPr>
              <a:xfrm flipV="1">
                <a:off x="5238751" y="4807329"/>
                <a:ext cx="2035742" cy="205602"/>
              </a:xfrm>
              <a:prstGeom prst="bentConnector3">
                <a:avLst>
                  <a:gd name="adj1"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肘形连接符 105"/>
              <p:cNvCxnSpPr>
                <a:endCxn id="111" idx="4"/>
              </p:cNvCxnSpPr>
              <p:nvPr/>
            </p:nvCxnSpPr>
            <p:spPr>
              <a:xfrm rot="10800000">
                <a:off x="3820273" y="4851573"/>
                <a:ext cx="3454220" cy="512087"/>
              </a:xfrm>
              <a:prstGeom prst="bent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a:off x="5077697" y="4957350"/>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08" name="椭圆 107"/>
              <p:cNvSpPr/>
              <p:nvPr/>
            </p:nvSpPr>
            <p:spPr>
              <a:xfrm>
                <a:off x="6036922" y="4966050"/>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09" name="椭圆 108"/>
              <p:cNvSpPr/>
              <p:nvPr/>
            </p:nvSpPr>
            <p:spPr>
              <a:xfrm>
                <a:off x="5018620" y="3208468"/>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10" name="椭圆 109"/>
              <p:cNvSpPr/>
              <p:nvPr/>
            </p:nvSpPr>
            <p:spPr>
              <a:xfrm>
                <a:off x="5498494" y="3424564"/>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11" name="椭圆 110"/>
              <p:cNvSpPr/>
              <p:nvPr/>
            </p:nvSpPr>
            <p:spPr>
              <a:xfrm>
                <a:off x="3761197" y="4728282"/>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12" name="椭圆 111"/>
              <p:cNvSpPr/>
              <p:nvPr/>
            </p:nvSpPr>
            <p:spPr>
              <a:xfrm>
                <a:off x="3773493" y="4947145"/>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cxnSp>
            <p:nvCxnSpPr>
              <p:cNvPr id="113" name="直接连接符 112"/>
              <p:cNvCxnSpPr/>
              <p:nvPr/>
            </p:nvCxnSpPr>
            <p:spPr>
              <a:xfrm flipH="1">
                <a:off x="5627469" y="4784722"/>
                <a:ext cx="0" cy="2778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4" name="椭圆 113"/>
              <p:cNvSpPr/>
              <p:nvPr/>
            </p:nvSpPr>
            <p:spPr>
              <a:xfrm>
                <a:off x="3365642" y="2815188"/>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15" name="椭圆 114"/>
              <p:cNvSpPr/>
              <p:nvPr/>
            </p:nvSpPr>
            <p:spPr>
              <a:xfrm>
                <a:off x="5557572" y="4957350"/>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16" name="椭圆 115"/>
              <p:cNvSpPr/>
              <p:nvPr/>
            </p:nvSpPr>
            <p:spPr>
              <a:xfrm>
                <a:off x="5557571" y="4723076"/>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cxnSp>
            <p:nvCxnSpPr>
              <p:cNvPr id="117" name="肘形连接符 116"/>
              <p:cNvCxnSpPr>
                <a:stCxn id="104" idx="0"/>
                <a:endCxn id="109" idx="4"/>
              </p:cNvCxnSpPr>
              <p:nvPr/>
            </p:nvCxnSpPr>
            <p:spPr>
              <a:xfrm rot="16200000" flipV="1">
                <a:off x="6016970" y="2392486"/>
                <a:ext cx="729023" cy="2607568"/>
              </a:xfrm>
              <a:prstGeom prst="bentConnector3">
                <a:avLst>
                  <a:gd name="adj1" fmla="val 27225"/>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10" idx="2"/>
              </p:cNvCxnSpPr>
              <p:nvPr/>
            </p:nvCxnSpPr>
            <p:spPr>
              <a:xfrm flipH="1">
                <a:off x="5095875" y="3486210"/>
                <a:ext cx="402619" cy="69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9" name="椭圆 118"/>
              <p:cNvSpPr/>
              <p:nvPr/>
            </p:nvSpPr>
            <p:spPr>
              <a:xfrm>
                <a:off x="5018620" y="3698766"/>
                <a:ext cx="118153" cy="12329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cxnSp>
            <p:nvCxnSpPr>
              <p:cNvPr id="120" name="肘形连接符 119"/>
              <p:cNvCxnSpPr>
                <a:stCxn id="114" idx="6"/>
                <a:endCxn id="109" idx="0"/>
              </p:cNvCxnSpPr>
              <p:nvPr/>
            </p:nvCxnSpPr>
            <p:spPr>
              <a:xfrm>
                <a:off x="3483795" y="2876834"/>
                <a:ext cx="1593902" cy="331634"/>
              </a:xfrm>
              <a:prstGeom prst="bent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6654452" y="3440718"/>
                <a:ext cx="783231" cy="393946"/>
              </a:xfrm>
              <a:prstGeom prst="rect">
                <a:avLst/>
              </a:prstGeom>
              <a:noFill/>
            </p:spPr>
            <p:txBody>
              <a:bodyPr wrap="none" rtlCol="0">
                <a:spAutoFit/>
              </a:bodyPr>
              <a:lstStyle/>
              <a:p>
                <a:pPr defTabSz="1083893" hangingPunct="0"/>
                <a:r>
                  <a:rPr lang="zh-CN" altLang="en-US" sz="948" b="1" kern="0" dirty="0">
                    <a:solidFill>
                      <a:srgbClr val="3864B2"/>
                    </a:solidFill>
                    <a:latin typeface="微软雅黑" panose="020B0503020204020204" pitchFamily="34" charset="-122"/>
                    <a:ea typeface="微软雅黑" panose="020B0503020204020204" pitchFamily="34" charset="-122"/>
                    <a:cs typeface="Arial"/>
                    <a:sym typeface="Arial"/>
                  </a:rPr>
                  <a:t>回路一</a:t>
                </a:r>
              </a:p>
            </p:txBody>
          </p:sp>
          <p:sp>
            <p:nvSpPr>
              <p:cNvPr id="122" name="文本框 121"/>
              <p:cNvSpPr txBox="1"/>
              <p:nvPr/>
            </p:nvSpPr>
            <p:spPr>
              <a:xfrm>
                <a:off x="6667063" y="4854713"/>
                <a:ext cx="783231" cy="393946"/>
              </a:xfrm>
              <a:prstGeom prst="rect">
                <a:avLst/>
              </a:prstGeom>
              <a:noFill/>
            </p:spPr>
            <p:txBody>
              <a:bodyPr wrap="none" rtlCol="0">
                <a:spAutoFit/>
              </a:bodyPr>
              <a:lstStyle/>
              <a:p>
                <a:pPr defTabSz="1083893" hangingPunct="0"/>
                <a:r>
                  <a:rPr lang="zh-CN" altLang="en-US" sz="948" b="1" kern="0" dirty="0">
                    <a:solidFill>
                      <a:srgbClr val="3864B2"/>
                    </a:solidFill>
                    <a:latin typeface="微软雅黑" panose="020B0503020204020204" pitchFamily="34" charset="-122"/>
                    <a:ea typeface="微软雅黑" panose="020B0503020204020204" pitchFamily="34" charset="-122"/>
                    <a:cs typeface="Arial"/>
                    <a:sym typeface="Arial"/>
                  </a:rPr>
                  <a:t>回路二</a:t>
                </a:r>
              </a:p>
            </p:txBody>
          </p:sp>
          <p:sp>
            <p:nvSpPr>
              <p:cNvPr id="123" name="文本框 122"/>
              <p:cNvSpPr txBox="1"/>
              <p:nvPr/>
            </p:nvSpPr>
            <p:spPr>
              <a:xfrm>
                <a:off x="6667063" y="5387304"/>
                <a:ext cx="783231" cy="393946"/>
              </a:xfrm>
              <a:prstGeom prst="rect">
                <a:avLst/>
              </a:prstGeom>
              <a:noFill/>
            </p:spPr>
            <p:txBody>
              <a:bodyPr wrap="none" rtlCol="0">
                <a:spAutoFit/>
              </a:bodyPr>
              <a:lstStyle/>
              <a:p>
                <a:pPr defTabSz="1083893" hangingPunct="0"/>
                <a:r>
                  <a:rPr lang="zh-CN" altLang="en-US" sz="948" b="1" kern="0" dirty="0">
                    <a:solidFill>
                      <a:srgbClr val="3864B2"/>
                    </a:solidFill>
                    <a:latin typeface="微软雅黑" panose="020B0503020204020204" pitchFamily="34" charset="-122"/>
                    <a:ea typeface="微软雅黑" panose="020B0503020204020204" pitchFamily="34" charset="-122"/>
                    <a:cs typeface="Arial"/>
                    <a:sym typeface="Arial"/>
                  </a:rPr>
                  <a:t>回路三</a:t>
                </a:r>
              </a:p>
            </p:txBody>
          </p:sp>
        </p:grpSp>
        <p:sp>
          <p:nvSpPr>
            <p:cNvPr id="92" name="矩形 91"/>
            <p:cNvSpPr/>
            <p:nvPr/>
          </p:nvSpPr>
          <p:spPr>
            <a:xfrm>
              <a:off x="6305004" y="4210253"/>
              <a:ext cx="710307" cy="505722"/>
            </a:xfrm>
            <a:prstGeom prst="rect">
              <a:avLst/>
            </a:prstGeom>
          </p:spPr>
          <p:txBody>
            <a:bodyPr wrap="square">
              <a:spAutoFit/>
            </a:bodyPr>
            <a:lstStyle/>
            <a:p>
              <a:pPr algn="ctr" defTabSz="1083893" hangingPunct="0">
                <a:defRPr/>
              </a:pPr>
              <a:r>
                <a:rPr lang="zh-CN" altLang="en-US" sz="813" b="1" kern="0" dirty="0">
                  <a:solidFill>
                    <a:srgbClr val="3864B2"/>
                  </a:solidFill>
                  <a:latin typeface="微軟正黑體" panose="020B0604030504040204" pitchFamily="34" charset="-120"/>
                  <a:ea typeface="微軟正黑體" panose="020B0604030504040204" pitchFamily="34" charset="-120"/>
                  <a:cs typeface="Arial"/>
                  <a:sym typeface="Arial"/>
                </a:rPr>
                <a:t>配电箱</a:t>
              </a:r>
              <a:endParaRPr lang="zh-TW" altLang="en-US" sz="813" b="1" kern="0" dirty="0">
                <a:solidFill>
                  <a:srgbClr val="3864B2"/>
                </a:solidFill>
                <a:latin typeface="微軟正黑體" panose="020B0604030504040204" pitchFamily="34" charset="-120"/>
                <a:ea typeface="微軟正黑體" panose="020B0604030504040204" pitchFamily="34" charset="-120"/>
                <a:cs typeface="Arial"/>
                <a:sym typeface="Arial"/>
              </a:endParaRPr>
            </a:p>
          </p:txBody>
        </p:sp>
        <p:sp>
          <p:nvSpPr>
            <p:cNvPr id="93" name="矩形 92"/>
            <p:cNvSpPr/>
            <p:nvPr/>
          </p:nvSpPr>
          <p:spPr>
            <a:xfrm>
              <a:off x="6424770" y="4525490"/>
              <a:ext cx="558946" cy="3305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r>
                <a:rPr lang="zh-CN" altLang="en-US" sz="711" kern="0" dirty="0">
                  <a:solidFill>
                    <a:srgbClr val="3864B2"/>
                  </a:solidFill>
                  <a:latin typeface="微软雅黑" panose="020B0503020204020204" pitchFamily="34" charset="-122"/>
                  <a:ea typeface="微软雅黑" panose="020B0503020204020204" pitchFamily="34" charset="-122"/>
                  <a:sym typeface="Arial"/>
                </a:rPr>
                <a:t>主机</a:t>
              </a:r>
            </a:p>
          </p:txBody>
        </p:sp>
        <p:sp>
          <p:nvSpPr>
            <p:cNvPr id="94" name="矩形 93"/>
            <p:cNvSpPr/>
            <p:nvPr/>
          </p:nvSpPr>
          <p:spPr>
            <a:xfrm>
              <a:off x="6419792" y="4953434"/>
              <a:ext cx="558946" cy="3305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r>
                <a:rPr lang="zh-CN" altLang="en-US" sz="711" kern="0" dirty="0">
                  <a:solidFill>
                    <a:srgbClr val="3864B2"/>
                  </a:solidFill>
                  <a:latin typeface="微软雅黑" panose="020B0503020204020204" pitchFamily="34" charset="-122"/>
                  <a:ea typeface="微软雅黑" panose="020B0503020204020204" pitchFamily="34" charset="-122"/>
                  <a:sym typeface="Arial"/>
                </a:rPr>
                <a:t>调光模块</a:t>
              </a:r>
            </a:p>
          </p:txBody>
        </p:sp>
        <p:sp>
          <p:nvSpPr>
            <p:cNvPr id="95" name="矩形 94"/>
            <p:cNvSpPr/>
            <p:nvPr/>
          </p:nvSpPr>
          <p:spPr>
            <a:xfrm>
              <a:off x="1703147" y="3629677"/>
              <a:ext cx="381029" cy="20704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cxnSp>
          <p:nvCxnSpPr>
            <p:cNvPr id="96" name="肘形连接符 95"/>
            <p:cNvCxnSpPr>
              <a:stCxn id="95" idx="3"/>
            </p:cNvCxnSpPr>
            <p:nvPr/>
          </p:nvCxnSpPr>
          <p:spPr>
            <a:xfrm>
              <a:off x="2084176" y="3733200"/>
              <a:ext cx="4150901" cy="903376"/>
            </a:xfrm>
            <a:prstGeom prst="bentConnector3">
              <a:avLst>
                <a:gd name="adj1" fmla="val 2221"/>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1740428" y="3656091"/>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98" name="矩形 97"/>
            <p:cNvSpPr/>
            <p:nvPr/>
          </p:nvSpPr>
          <p:spPr>
            <a:xfrm>
              <a:off x="1739801" y="3749038"/>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99" name="矩形 98"/>
            <p:cNvSpPr/>
            <p:nvPr/>
          </p:nvSpPr>
          <p:spPr>
            <a:xfrm>
              <a:off x="1882811" y="3749038"/>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00" name="矩形 99"/>
            <p:cNvSpPr/>
            <p:nvPr/>
          </p:nvSpPr>
          <p:spPr>
            <a:xfrm>
              <a:off x="1880017" y="3661353"/>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2439" kern="0">
                <a:solidFill>
                  <a:srgbClr val="3864B2"/>
                </a:solidFill>
                <a:sym typeface="Arial"/>
              </a:endParaRPr>
            </a:p>
          </p:txBody>
        </p:sp>
        <p:sp>
          <p:nvSpPr>
            <p:cNvPr id="101" name="文本框 100"/>
            <p:cNvSpPr txBox="1"/>
            <p:nvPr/>
          </p:nvSpPr>
          <p:spPr>
            <a:xfrm>
              <a:off x="1677492" y="3390802"/>
              <a:ext cx="542453" cy="297829"/>
            </a:xfrm>
            <a:prstGeom prst="rect">
              <a:avLst/>
            </a:prstGeom>
            <a:noFill/>
          </p:spPr>
          <p:txBody>
            <a:bodyPr wrap="none" rtlCol="0">
              <a:spAutoFit/>
            </a:bodyPr>
            <a:lstStyle/>
            <a:p>
              <a:pPr defTabSz="1083893" hangingPunct="0"/>
              <a:r>
                <a:rPr lang="zh-CN" altLang="en-US" sz="711" kern="0" dirty="0">
                  <a:solidFill>
                    <a:srgbClr val="3864B2"/>
                  </a:solidFill>
                  <a:latin typeface="微软雅黑" panose="020B0503020204020204" pitchFamily="34" charset="-122"/>
                  <a:ea typeface="微软雅黑" panose="020B0503020204020204" pitchFamily="34" charset="-122"/>
                  <a:cs typeface="Arial"/>
                  <a:sym typeface="Arial"/>
                </a:rPr>
                <a:t>面板</a:t>
              </a:r>
            </a:p>
          </p:txBody>
        </p:sp>
        <p:sp>
          <p:nvSpPr>
            <p:cNvPr id="102" name="文本框 101"/>
            <p:cNvSpPr txBox="1"/>
            <p:nvPr/>
          </p:nvSpPr>
          <p:spPr>
            <a:xfrm>
              <a:off x="5617002" y="4383866"/>
              <a:ext cx="812261" cy="351696"/>
            </a:xfrm>
            <a:prstGeom prst="rect">
              <a:avLst/>
            </a:prstGeom>
            <a:noFill/>
          </p:spPr>
          <p:txBody>
            <a:bodyPr wrap="none" rtlCol="0">
              <a:spAutoFit/>
            </a:bodyPr>
            <a:lstStyle/>
            <a:p>
              <a:pPr defTabSz="1083893" hangingPunct="0"/>
              <a:r>
                <a:rPr lang="zh-CN" altLang="en-US" sz="948" b="1" kern="0" dirty="0">
                  <a:solidFill>
                    <a:srgbClr val="3864B2"/>
                  </a:solidFill>
                  <a:latin typeface="微软雅黑" panose="020B0503020204020204" pitchFamily="34" charset="-122"/>
                  <a:ea typeface="微软雅黑" panose="020B0503020204020204" pitchFamily="34" charset="-122"/>
                  <a:cs typeface="Arial"/>
                  <a:sym typeface="Arial"/>
                </a:rPr>
                <a:t>控制线</a:t>
              </a:r>
            </a:p>
          </p:txBody>
        </p:sp>
      </p:grpSp>
      <p:sp>
        <p:nvSpPr>
          <p:cNvPr id="30" name="箭头: 上 18">
            <a:extLst>
              <a:ext uri="{FF2B5EF4-FFF2-40B4-BE49-F238E27FC236}">
                <a16:creationId xmlns:a16="http://schemas.microsoft.com/office/drawing/2014/main" id="{4C6773AC-EA9C-4317-A656-306675F791D0}"/>
              </a:ext>
            </a:extLst>
          </p:cNvPr>
          <p:cNvSpPr/>
          <p:nvPr/>
        </p:nvSpPr>
        <p:spPr>
          <a:xfrm rot="5400000">
            <a:off x="4816631" y="4930207"/>
            <a:ext cx="565849" cy="484539"/>
          </a:xfrm>
          <a:prstGeom prst="upArrow">
            <a:avLst/>
          </a:prstGeom>
          <a:noFill/>
          <a:ln w="25400" cap="flat" cmpd="sng" algn="ctr">
            <a:solidFill>
              <a:srgbClr val="FFFFFF"/>
            </a:solidFill>
            <a:prstDash val="solid"/>
          </a:ln>
          <a:effectLst/>
        </p:spPr>
        <p:txBody>
          <a:bodyPr rtlCol="0" anchor="ctr"/>
          <a:lstStyle/>
          <a:p>
            <a:pPr algn="ctr" defTabSz="1083893" hangingPunct="0">
              <a:defRPr/>
            </a:pPr>
            <a:endParaRPr lang="zh-CN" altLang="en-US" sz="2133" kern="0">
              <a:solidFill>
                <a:srgbClr val="3864B2"/>
              </a:solidFill>
              <a:latin typeface="微软雅黑" panose="020B0503020204020204" pitchFamily="34" charset="-122"/>
              <a:ea typeface="微软雅黑" panose="020B0503020204020204" pitchFamily="34" charset="-122"/>
              <a:sym typeface="Arial"/>
            </a:endParaRPr>
          </a:p>
        </p:txBody>
      </p:sp>
      <p:grpSp>
        <p:nvGrpSpPr>
          <p:cNvPr id="32" name="组合 31"/>
          <p:cNvGrpSpPr/>
          <p:nvPr/>
        </p:nvGrpSpPr>
        <p:grpSpPr>
          <a:xfrm>
            <a:off x="1587163" y="4098615"/>
            <a:ext cx="3969972" cy="2310047"/>
            <a:chOff x="10551252" y="3177380"/>
            <a:chExt cx="5672569" cy="3175212"/>
          </a:xfrm>
        </p:grpSpPr>
        <p:pic>
          <p:nvPicPr>
            <p:cNvPr id="64" name="图片 63"/>
            <p:cNvPicPr>
              <a:picLocks noChangeAspect="1"/>
            </p:cNvPicPr>
            <p:nvPr/>
          </p:nvPicPr>
          <p:blipFill>
            <a:blip r:embed="rId5"/>
            <a:stretch>
              <a:fillRect/>
            </a:stretch>
          </p:blipFill>
          <p:spPr>
            <a:xfrm>
              <a:off x="10607917" y="3177380"/>
              <a:ext cx="4024191" cy="3141269"/>
            </a:xfrm>
            <a:prstGeom prst="rect">
              <a:avLst/>
            </a:prstGeom>
          </p:spPr>
        </p:pic>
        <p:sp>
          <p:nvSpPr>
            <p:cNvPr id="65" name="矩形 64"/>
            <p:cNvSpPr/>
            <p:nvPr/>
          </p:nvSpPr>
          <p:spPr>
            <a:xfrm>
              <a:off x="15356247" y="6028901"/>
              <a:ext cx="867574" cy="323691"/>
            </a:xfrm>
            <a:prstGeom prst="rect">
              <a:avLst/>
            </a:prstGeom>
            <a:solidFill>
              <a:schemeClr val="bg1">
                <a:lumMod val="6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83893" hangingPunct="0">
                <a:defRPr/>
              </a:pPr>
              <a:r>
                <a:rPr lang="zh-CN" altLang="en-US" sz="948" kern="0" dirty="0">
                  <a:solidFill>
                    <a:srgbClr val="3864B2"/>
                  </a:solidFill>
                  <a:latin typeface="微软雅黑" panose="020B0503020204020204" pitchFamily="34" charset="-122"/>
                  <a:ea typeface="微软雅黑" panose="020B0503020204020204" pitchFamily="34" charset="-122"/>
                  <a:sym typeface="Arial"/>
                </a:rPr>
                <a:t>配电箱</a:t>
              </a:r>
              <a:endParaRPr lang="zh-TW" altLang="en-US" sz="948" kern="0" dirty="0">
                <a:solidFill>
                  <a:srgbClr val="3864B2"/>
                </a:solidFill>
                <a:latin typeface="微软雅黑" panose="020B0503020204020204" pitchFamily="34" charset="-122"/>
                <a:ea typeface="微软雅黑" panose="020B0503020204020204" pitchFamily="34" charset="-122"/>
                <a:sym typeface="Arial"/>
              </a:endParaRPr>
            </a:p>
          </p:txBody>
        </p:sp>
        <p:cxnSp>
          <p:nvCxnSpPr>
            <p:cNvPr id="66" name="肘形连接符 65"/>
            <p:cNvCxnSpPr>
              <a:endCxn id="65" idx="1"/>
            </p:cNvCxnSpPr>
            <p:nvPr/>
          </p:nvCxnSpPr>
          <p:spPr>
            <a:xfrm>
              <a:off x="11663995" y="5797443"/>
              <a:ext cx="3692251" cy="393303"/>
            </a:xfrm>
            <a:prstGeom prst="bentConnector3">
              <a:avLst>
                <a:gd name="adj1" fmla="val 8837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12988154" y="5756781"/>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68" name="椭圆 67"/>
            <p:cNvSpPr/>
            <p:nvPr/>
          </p:nvSpPr>
          <p:spPr>
            <a:xfrm>
              <a:off x="14001124" y="5765641"/>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69" name="椭圆 68"/>
            <p:cNvSpPr/>
            <p:nvPr/>
          </p:nvSpPr>
          <p:spPr>
            <a:xfrm>
              <a:off x="13432529" y="4195701"/>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cxnSp>
          <p:nvCxnSpPr>
            <p:cNvPr id="70" name="直接连接符 69"/>
            <p:cNvCxnSpPr/>
            <p:nvPr/>
          </p:nvCxnSpPr>
          <p:spPr>
            <a:xfrm flipH="1">
              <a:off x="13568730" y="5580966"/>
              <a:ext cx="0" cy="28299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a:off x="11180173" y="3575076"/>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72" name="椭圆 71"/>
            <p:cNvSpPr/>
            <p:nvPr/>
          </p:nvSpPr>
          <p:spPr>
            <a:xfrm>
              <a:off x="13494917" y="5756781"/>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cxnSp>
          <p:nvCxnSpPr>
            <p:cNvPr id="73" name="肘形连接符 72"/>
            <p:cNvCxnSpPr>
              <a:stCxn id="80" idx="0"/>
            </p:cNvCxnSpPr>
            <p:nvPr/>
          </p:nvCxnSpPr>
          <p:spPr>
            <a:xfrm rot="16200000" flipV="1">
              <a:off x="10544678" y="4397094"/>
              <a:ext cx="1829947" cy="437044"/>
            </a:xfrm>
            <a:prstGeom prst="bentConnector3">
              <a:avLst>
                <a:gd name="adj1"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13007351" y="4542836"/>
              <a:ext cx="472417" cy="70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12925767" y="4474964"/>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cxnSp>
          <p:nvCxnSpPr>
            <p:cNvPr id="76" name="肘形连接符 75"/>
            <p:cNvCxnSpPr>
              <a:stCxn id="71" idx="6"/>
              <a:endCxn id="75" idx="0"/>
            </p:cNvCxnSpPr>
            <p:nvPr/>
          </p:nvCxnSpPr>
          <p:spPr>
            <a:xfrm>
              <a:off x="11304947" y="3637859"/>
              <a:ext cx="1683207" cy="837104"/>
            </a:xfrm>
            <a:prstGeom prst="bent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14941100" y="5802058"/>
              <a:ext cx="632388" cy="351697"/>
            </a:xfrm>
            <a:prstGeom prst="rect">
              <a:avLst/>
            </a:prstGeom>
            <a:noFill/>
          </p:spPr>
          <p:txBody>
            <a:bodyPr wrap="none" rtlCol="0">
              <a:spAutoFit/>
            </a:bodyPr>
            <a:lstStyle/>
            <a:p>
              <a:pPr defTabSz="1083893" hangingPunct="0"/>
              <a:r>
                <a:rPr lang="zh-CN" altLang="en-US" sz="948" b="1" kern="0" dirty="0">
                  <a:solidFill>
                    <a:srgbClr val="3864B2"/>
                  </a:solidFill>
                  <a:latin typeface="微软雅黑" panose="020B0503020204020204" pitchFamily="34" charset="-122"/>
                  <a:ea typeface="微软雅黑" panose="020B0503020204020204" pitchFamily="34" charset="-122"/>
                  <a:cs typeface="Arial"/>
                  <a:sym typeface="Arial"/>
                </a:rPr>
                <a:t>回路</a:t>
              </a:r>
            </a:p>
          </p:txBody>
        </p:sp>
        <p:sp>
          <p:nvSpPr>
            <p:cNvPr id="78" name="椭圆 77"/>
            <p:cNvSpPr/>
            <p:nvPr/>
          </p:nvSpPr>
          <p:spPr>
            <a:xfrm>
              <a:off x="13494915" y="5518182"/>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79" name="椭圆 78"/>
            <p:cNvSpPr/>
            <p:nvPr/>
          </p:nvSpPr>
          <p:spPr>
            <a:xfrm>
              <a:off x="11615785" y="5749016"/>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0" name="椭圆 79"/>
            <p:cNvSpPr/>
            <p:nvPr/>
          </p:nvSpPr>
          <p:spPr>
            <a:xfrm>
              <a:off x="11615785" y="5530589"/>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cxnSp>
          <p:nvCxnSpPr>
            <p:cNvPr id="81" name="直接连接符 80"/>
            <p:cNvCxnSpPr/>
            <p:nvPr/>
          </p:nvCxnSpPr>
          <p:spPr>
            <a:xfrm flipH="1" flipV="1">
              <a:off x="11677680" y="5650781"/>
              <a:ext cx="492" cy="956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endCxn id="69" idx="4"/>
            </p:cNvCxnSpPr>
            <p:nvPr/>
          </p:nvCxnSpPr>
          <p:spPr>
            <a:xfrm flipV="1">
              <a:off x="13494915" y="4321267"/>
              <a:ext cx="0" cy="22508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椭圆 82"/>
            <p:cNvSpPr/>
            <p:nvPr/>
          </p:nvSpPr>
          <p:spPr>
            <a:xfrm>
              <a:off x="12925767" y="3975615"/>
              <a:ext cx="124773" cy="125567"/>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4" name="矩形 83"/>
            <p:cNvSpPr/>
            <p:nvPr/>
          </p:nvSpPr>
          <p:spPr>
            <a:xfrm>
              <a:off x="10668093" y="4034161"/>
              <a:ext cx="381029" cy="20704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5" name="矩形 84"/>
            <p:cNvSpPr/>
            <p:nvPr/>
          </p:nvSpPr>
          <p:spPr>
            <a:xfrm>
              <a:off x="10705374" y="4060575"/>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6" name="矩形 85"/>
            <p:cNvSpPr/>
            <p:nvPr/>
          </p:nvSpPr>
          <p:spPr>
            <a:xfrm>
              <a:off x="10704747" y="4153522"/>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7" name="矩形 86"/>
            <p:cNvSpPr/>
            <p:nvPr/>
          </p:nvSpPr>
          <p:spPr>
            <a:xfrm>
              <a:off x="10847757" y="4153522"/>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8" name="矩形 87"/>
            <p:cNvSpPr/>
            <p:nvPr/>
          </p:nvSpPr>
          <p:spPr>
            <a:xfrm>
              <a:off x="10844963" y="4065837"/>
              <a:ext cx="78121" cy="5999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3893" hangingPunct="0"/>
              <a:endParaRPr lang="zh-CN" altLang="en-US" sz="948" kern="0">
                <a:solidFill>
                  <a:srgbClr val="3864B2"/>
                </a:solidFill>
                <a:latin typeface="微软雅黑" panose="020B0503020204020204" pitchFamily="34" charset="-122"/>
                <a:ea typeface="微软雅黑" panose="020B0503020204020204" pitchFamily="34" charset="-122"/>
                <a:sym typeface="Arial"/>
              </a:endParaRPr>
            </a:p>
          </p:txBody>
        </p:sp>
        <p:sp>
          <p:nvSpPr>
            <p:cNvPr id="89" name="文本框 88"/>
            <p:cNvSpPr txBox="1"/>
            <p:nvPr/>
          </p:nvSpPr>
          <p:spPr>
            <a:xfrm>
              <a:off x="10551252" y="3793730"/>
              <a:ext cx="1067866" cy="351697"/>
            </a:xfrm>
            <a:prstGeom prst="rect">
              <a:avLst/>
            </a:prstGeom>
            <a:noFill/>
          </p:spPr>
          <p:txBody>
            <a:bodyPr wrap="none" rtlCol="0">
              <a:spAutoFit/>
            </a:bodyPr>
            <a:lstStyle/>
            <a:p>
              <a:pPr defTabSz="1083893" hangingPunct="0"/>
              <a:r>
                <a:rPr lang="zh-CN" altLang="en-US" sz="948" kern="0" dirty="0">
                  <a:solidFill>
                    <a:srgbClr val="3864B2"/>
                  </a:solidFill>
                  <a:latin typeface="微软雅黑" panose="020B0503020204020204" pitchFamily="34" charset="-122"/>
                  <a:ea typeface="微软雅黑" panose="020B0503020204020204" pitchFamily="34" charset="-122"/>
                  <a:cs typeface="Arial"/>
                  <a:sym typeface="Arial"/>
                </a:rPr>
                <a:t>面板</a:t>
              </a:r>
              <a:r>
                <a:rPr lang="en-US" altLang="zh-CN" sz="948" kern="0" dirty="0">
                  <a:solidFill>
                    <a:srgbClr val="3864B2"/>
                  </a:solidFill>
                  <a:latin typeface="微软雅黑" panose="020B0503020204020204" pitchFamily="34" charset="-122"/>
                  <a:ea typeface="微软雅黑" panose="020B0503020204020204" pitchFamily="34" charset="-122"/>
                  <a:cs typeface="Arial"/>
                  <a:sym typeface="Arial"/>
                </a:rPr>
                <a:t>/</a:t>
              </a:r>
              <a:r>
                <a:rPr lang="zh-CN" altLang="en-US" sz="948" kern="0" dirty="0">
                  <a:solidFill>
                    <a:srgbClr val="3864B2"/>
                  </a:solidFill>
                  <a:latin typeface="微软雅黑" panose="020B0503020204020204" pitchFamily="34" charset="-122"/>
                  <a:ea typeface="微软雅黑" panose="020B0503020204020204" pitchFamily="34" charset="-122"/>
                  <a:cs typeface="Arial"/>
                  <a:sym typeface="Arial"/>
                </a:rPr>
                <a:t>网关</a:t>
              </a:r>
            </a:p>
          </p:txBody>
        </p:sp>
        <p:cxnSp>
          <p:nvCxnSpPr>
            <p:cNvPr id="90" name="直接连接符 89"/>
            <p:cNvCxnSpPr/>
            <p:nvPr/>
          </p:nvCxnSpPr>
          <p:spPr>
            <a:xfrm flipH="1">
              <a:off x="11049123" y="4144711"/>
              <a:ext cx="20055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5948527" y="1294811"/>
            <a:ext cx="5928163" cy="2579604"/>
            <a:chOff x="139461" y="1049164"/>
            <a:chExt cx="6658857" cy="3570269"/>
          </a:xfrm>
        </p:grpSpPr>
        <p:grpSp>
          <p:nvGrpSpPr>
            <p:cNvPr id="42" name="组合 41"/>
            <p:cNvGrpSpPr/>
            <p:nvPr/>
          </p:nvGrpSpPr>
          <p:grpSpPr>
            <a:xfrm>
              <a:off x="139461" y="1049164"/>
              <a:ext cx="6658857" cy="3570269"/>
              <a:chOff x="1179920" y="772703"/>
              <a:chExt cx="10350140" cy="5280505"/>
            </a:xfrm>
          </p:grpSpPr>
          <p:pic>
            <p:nvPicPr>
              <p:cNvPr id="62" name="图片 61"/>
              <p:cNvPicPr>
                <a:picLocks noChangeAspect="1"/>
              </p:cNvPicPr>
              <p:nvPr/>
            </p:nvPicPr>
            <p:blipFill rotWithShape="1">
              <a:blip r:embed="rId6" cstate="print">
                <a:extLst>
                  <a:ext uri="{28A0092B-C50C-407E-A947-70E740481C1C}">
                    <a14:useLocalDpi xmlns:a14="http://schemas.microsoft.com/office/drawing/2010/main" val="0"/>
                  </a:ext>
                </a:extLst>
              </a:blip>
              <a:srcRect l="3293" t="15754" r="3055" b="13739"/>
              <a:stretch/>
            </p:blipFill>
            <p:spPr>
              <a:xfrm>
                <a:off x="1200155" y="772703"/>
                <a:ext cx="10329905" cy="5280505"/>
              </a:xfrm>
              <a:prstGeom prst="rect">
                <a:avLst/>
              </a:prstGeom>
            </p:spPr>
          </p:pic>
          <p:sp>
            <p:nvSpPr>
              <p:cNvPr id="63" name="文本框 62"/>
              <p:cNvSpPr txBox="1"/>
              <p:nvPr/>
            </p:nvSpPr>
            <p:spPr>
              <a:xfrm>
                <a:off x="1179920" y="2291246"/>
                <a:ext cx="385893" cy="530606"/>
              </a:xfrm>
              <a:prstGeom prst="rect">
                <a:avLst/>
              </a:prstGeom>
              <a:noFill/>
            </p:spPr>
            <p:txBody>
              <a:bodyPr wrap="none" rtlCol="0">
                <a:spAutoFit/>
              </a:bodyPr>
              <a:lstStyle/>
              <a:p>
                <a:pPr algn="l"/>
                <a:endParaRPr lang="zh-CN" altLang="en-US" sz="813" b="1" dirty="0">
                  <a:solidFill>
                    <a:srgbClr val="3864B2"/>
                  </a:solidFill>
                  <a:latin typeface="微软雅黑" panose="020B0503020204020204" pitchFamily="34" charset="-122"/>
                  <a:ea typeface="微软雅黑" panose="020B0503020204020204" pitchFamily="34" charset="-122"/>
                </a:endParaRPr>
              </a:p>
            </p:txBody>
          </p:sp>
        </p:grpSp>
        <p:sp>
          <p:nvSpPr>
            <p:cNvPr id="44" name="椭圆 43"/>
            <p:cNvSpPr/>
            <p:nvPr/>
          </p:nvSpPr>
          <p:spPr>
            <a:xfrm>
              <a:off x="2166980" y="3328139"/>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46" name="椭圆 45"/>
            <p:cNvSpPr/>
            <p:nvPr/>
          </p:nvSpPr>
          <p:spPr>
            <a:xfrm>
              <a:off x="2712959" y="3325143"/>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47" name="椭圆 46"/>
            <p:cNvSpPr/>
            <p:nvPr/>
          </p:nvSpPr>
          <p:spPr>
            <a:xfrm>
              <a:off x="3011961" y="2668363"/>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48" name="椭圆 47"/>
            <p:cNvSpPr/>
            <p:nvPr/>
          </p:nvSpPr>
          <p:spPr>
            <a:xfrm>
              <a:off x="4616362" y="1151822"/>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3" name="椭圆 52"/>
            <p:cNvSpPr/>
            <p:nvPr/>
          </p:nvSpPr>
          <p:spPr>
            <a:xfrm>
              <a:off x="3418921" y="2642878"/>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4" name="椭圆 53"/>
            <p:cNvSpPr/>
            <p:nvPr/>
          </p:nvSpPr>
          <p:spPr>
            <a:xfrm>
              <a:off x="3809288" y="2649555"/>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5" name="椭圆 54"/>
            <p:cNvSpPr/>
            <p:nvPr/>
          </p:nvSpPr>
          <p:spPr>
            <a:xfrm>
              <a:off x="4403848" y="2645386"/>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6" name="椭圆 55"/>
            <p:cNvSpPr/>
            <p:nvPr/>
          </p:nvSpPr>
          <p:spPr>
            <a:xfrm>
              <a:off x="5103564" y="2635936"/>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7" name="椭圆 56"/>
            <p:cNvSpPr/>
            <p:nvPr/>
          </p:nvSpPr>
          <p:spPr>
            <a:xfrm>
              <a:off x="5618101" y="2632857"/>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8" name="椭圆 57"/>
            <p:cNvSpPr/>
            <p:nvPr/>
          </p:nvSpPr>
          <p:spPr>
            <a:xfrm>
              <a:off x="3696333" y="3377199"/>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59" name="椭圆 58"/>
            <p:cNvSpPr/>
            <p:nvPr/>
          </p:nvSpPr>
          <p:spPr>
            <a:xfrm>
              <a:off x="4040137" y="3377199"/>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60" name="椭圆 59"/>
            <p:cNvSpPr/>
            <p:nvPr/>
          </p:nvSpPr>
          <p:spPr>
            <a:xfrm>
              <a:off x="4460325" y="3377199"/>
              <a:ext cx="112955" cy="9681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15">
                <a:solidFill>
                  <a:srgbClr val="3864B2"/>
                </a:solidFill>
              </a:endParaRPr>
            </a:p>
          </p:txBody>
        </p:sp>
        <p:sp>
          <p:nvSpPr>
            <p:cNvPr id="61" name="文本框 60"/>
            <p:cNvSpPr txBox="1"/>
            <p:nvPr/>
          </p:nvSpPr>
          <p:spPr>
            <a:xfrm>
              <a:off x="4765337" y="1062509"/>
              <a:ext cx="1289762" cy="565162"/>
            </a:xfrm>
            <a:prstGeom prst="rect">
              <a:avLst/>
            </a:prstGeom>
            <a:noFill/>
          </p:spPr>
          <p:txBody>
            <a:bodyPr wrap="square" rtlCol="0">
              <a:spAutoFit/>
            </a:bodyPr>
            <a:lstStyle/>
            <a:p>
              <a:r>
                <a:rPr lang="zh-CN" altLang="en-US" sz="813" b="1" dirty="0">
                  <a:solidFill>
                    <a:srgbClr val="3864B2"/>
                  </a:solidFill>
                  <a:latin typeface="微软雅黑" panose="020B0503020204020204" pitchFamily="34" charset="-122"/>
                  <a:ea typeface="微软雅黑" panose="020B0503020204020204" pitchFamily="34" charset="-122"/>
                </a:rPr>
                <a:t>内置</a:t>
              </a:r>
              <a:r>
                <a:rPr lang="en-US" altLang="zh-CN" sz="813" b="1" dirty="0">
                  <a:solidFill>
                    <a:srgbClr val="3864B2"/>
                  </a:solidFill>
                  <a:latin typeface="微软雅黑" panose="020B0503020204020204" pitchFamily="34" charset="-122"/>
                  <a:ea typeface="微软雅黑" panose="020B0503020204020204" pitchFamily="34" charset="-122"/>
                </a:rPr>
                <a:t>PLC-IoT</a:t>
              </a:r>
              <a:r>
                <a:rPr lang="zh-CN" altLang="en-US" sz="813" b="1" dirty="0">
                  <a:solidFill>
                    <a:srgbClr val="3864B2"/>
                  </a:solidFill>
                  <a:latin typeface="微软雅黑" panose="020B0503020204020204" pitchFamily="34" charset="-122"/>
                  <a:ea typeface="微软雅黑" panose="020B0503020204020204" pitchFamily="34" charset="-122"/>
                </a:rPr>
                <a:t>芯片</a:t>
              </a:r>
            </a:p>
          </p:txBody>
        </p:sp>
      </p:grpSp>
      <p:sp>
        <p:nvSpPr>
          <p:cNvPr id="37" name="文本框 36"/>
          <p:cNvSpPr txBox="1"/>
          <p:nvPr/>
        </p:nvSpPr>
        <p:spPr>
          <a:xfrm>
            <a:off x="6309674" y="3817640"/>
            <a:ext cx="5049352" cy="3157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407" tIns="34407" rIns="34407" bIns="34407" numCol="1" spcCol="38100" rtlCol="0" anchor="ctr">
            <a:spAutoFit/>
          </a:bodyPr>
          <a:lstStyle/>
          <a:p>
            <a:pPr algn="ctr" defTabSz="559125"/>
            <a:r>
              <a:rPr lang="zh-CN" altLang="en-US" sz="1600" b="1" dirty="0">
                <a:solidFill>
                  <a:srgbClr val="3864B2"/>
                </a:solidFill>
                <a:latin typeface="微软雅黑" panose="020B0503020204020204" pitchFamily="34" charset="-122"/>
                <a:ea typeface="微软雅黑" panose="020B0503020204020204" pitchFamily="34" charset="-122"/>
                <a:cs typeface="Helvetica Neue"/>
                <a:sym typeface="Helvetica Neue"/>
              </a:rPr>
              <a:t>在隔离器范围内，上电即自动完成组网，</a:t>
            </a:r>
            <a:r>
              <a:rPr lang="zh-CN" altLang="en-US" sz="1600" b="1" dirty="0">
                <a:solidFill>
                  <a:srgbClr val="3864B2"/>
                </a:solidFill>
                <a:latin typeface="微软雅黑" panose="020B0503020204020204" pitchFamily="34" charset="-122"/>
                <a:ea typeface="微软雅黑" panose="020B0503020204020204" pitchFamily="34" charset="-122"/>
                <a:cs typeface="Helvetica Neue"/>
              </a:rPr>
              <a:t>不受墙体阻扰</a:t>
            </a:r>
            <a:endParaRPr lang="zh-CN" altLang="en-US" sz="1600" b="1" dirty="0">
              <a:solidFill>
                <a:srgbClr val="3864B2"/>
              </a:solidFill>
              <a:latin typeface="微软雅黑" panose="020B0503020204020204" pitchFamily="34" charset="-122"/>
              <a:ea typeface="微软雅黑" panose="020B0503020204020204" pitchFamily="34" charset="-122"/>
              <a:cs typeface="Helvetica Neue"/>
              <a:sym typeface="Helvetica Neue"/>
            </a:endParaRPr>
          </a:p>
        </p:txBody>
      </p:sp>
      <p:sp>
        <p:nvSpPr>
          <p:cNvPr id="38" name="圆角矩形 37"/>
          <p:cNvSpPr/>
          <p:nvPr/>
        </p:nvSpPr>
        <p:spPr>
          <a:xfrm>
            <a:off x="6291878" y="4358390"/>
            <a:ext cx="4959149" cy="1950515"/>
          </a:xfrm>
          <a:prstGeom prst="roundRect">
            <a:avLst>
              <a:gd name="adj" fmla="val 6018"/>
            </a:avLst>
          </a:prstGeom>
          <a:noFill/>
        </p:spPr>
        <p:txBody>
          <a:bodyPr wrap="square">
            <a:spAutoFit/>
          </a:bodyPr>
          <a:lstStyle/>
          <a:p>
            <a:pPr defTabSz="825949" hangingPunct="0">
              <a:lnSpc>
                <a:spcPct val="150000"/>
              </a:lnSpc>
              <a:defRPr/>
            </a:pPr>
            <a:r>
              <a:rPr lang="zh-CN" altLang="en-US" sz="1600" b="1" kern="0" dirty="0">
                <a:solidFill>
                  <a:srgbClr val="3864B2"/>
                </a:solidFill>
                <a:latin typeface="微软雅黑" panose="020B0503020204020204" pitchFamily="34" charset="-122"/>
                <a:ea typeface="微软雅黑" panose="020B0503020204020204" pitchFamily="34" charset="-122"/>
                <a:cs typeface="Arial"/>
                <a:sym typeface="Arial"/>
              </a:rPr>
              <a:t>普通电力线，既供电，又传输控制信号</a:t>
            </a:r>
            <a:r>
              <a:rPr lang="zh-CN" altLang="en-US" sz="1600" b="1" kern="0" dirty="0">
                <a:solidFill>
                  <a:srgbClr val="3864B2"/>
                </a:solidFill>
                <a:latin typeface="微软雅黑" panose="020B0503020204020204" pitchFamily="34" charset="-122"/>
                <a:ea typeface="微软雅黑" panose="020B0503020204020204" pitchFamily="34" charset="-122"/>
                <a:cs typeface="Arial" charset="0"/>
                <a:sym typeface="Arial"/>
              </a:rPr>
              <a:t>，可以搭载</a:t>
            </a:r>
            <a:r>
              <a:rPr lang="en-US" altLang="zh-CN" sz="1600" b="1" kern="0" dirty="0">
                <a:solidFill>
                  <a:srgbClr val="3864B2"/>
                </a:solidFill>
                <a:latin typeface="微软雅黑" panose="020B0503020204020204" pitchFamily="34" charset="-122"/>
                <a:ea typeface="微软雅黑" panose="020B0503020204020204" pitchFamily="34" charset="-122"/>
                <a:cs typeface="Arial" charset="0"/>
                <a:sym typeface="Arial"/>
              </a:rPr>
              <a:t>:</a:t>
            </a:r>
          </a:p>
          <a:p>
            <a:pPr marL="193543" indent="-193543" defTabSz="825949" hangingPunct="0">
              <a:lnSpc>
                <a:spcPct val="150000"/>
              </a:lnSpc>
              <a:buFont typeface="Arial" panose="020B0604020202020204" pitchFamily="34" charset="0"/>
              <a:buChar char="•"/>
              <a:defRPr/>
            </a:pPr>
            <a:r>
              <a:rPr lang="zh-CN" altLang="en-US" sz="1600" kern="0" dirty="0">
                <a:solidFill>
                  <a:srgbClr val="3864B2"/>
                </a:solidFill>
                <a:latin typeface="微软雅黑" panose="020B0503020204020204" pitchFamily="34" charset="-122"/>
                <a:ea typeface="微软雅黑" panose="020B0503020204020204" pitchFamily="34" charset="-122"/>
                <a:cs typeface="Arial" charset="0"/>
                <a:sym typeface="Arial"/>
              </a:rPr>
              <a:t>主机面板</a:t>
            </a:r>
            <a:endPar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endParaRPr>
          </a:p>
          <a:p>
            <a:pPr marL="193543" indent="-193543" defTabSz="825949" hangingPunct="0">
              <a:lnSpc>
                <a:spcPct val="150000"/>
              </a:lnSpc>
              <a:buFont typeface="Arial" panose="020B0604020202020204" pitchFamily="34" charset="0"/>
              <a:buChar char="•"/>
              <a:defRPr/>
            </a:pPr>
            <a:r>
              <a:rPr lang="zh-CN" altLang="en-US" sz="1600" kern="0" dirty="0">
                <a:solidFill>
                  <a:srgbClr val="3864B2"/>
                </a:solidFill>
                <a:latin typeface="微软雅黑" panose="020B0503020204020204" pitchFamily="34" charset="-122"/>
                <a:ea typeface="微软雅黑" panose="020B0503020204020204" pitchFamily="34" charset="-122"/>
                <a:cs typeface="Arial" charset="0"/>
                <a:sym typeface="Arial"/>
              </a:rPr>
              <a:t>普通或无线面板</a:t>
            </a:r>
            <a:endPar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endParaRPr>
          </a:p>
          <a:p>
            <a:pPr marL="193543" indent="-193543" defTabSz="825949" hangingPunct="0">
              <a:lnSpc>
                <a:spcPct val="150000"/>
              </a:lnSpc>
              <a:buFont typeface="Arial" panose="020B0604020202020204" pitchFamily="34" charset="0"/>
              <a:buChar char="•"/>
              <a:defRPr/>
            </a:pPr>
            <a:r>
              <a:rPr lang="zh-CN" altLang="en-US" sz="1600" kern="0" dirty="0">
                <a:solidFill>
                  <a:srgbClr val="3864B2"/>
                </a:solidFill>
                <a:latin typeface="微软雅黑" panose="020B0503020204020204" pitchFamily="34" charset="-122"/>
                <a:ea typeface="微软雅黑" panose="020B0503020204020204" pitchFamily="34" charset="-122"/>
                <a:cs typeface="Arial" charset="0"/>
                <a:sym typeface="Arial"/>
              </a:rPr>
              <a:t>窗帘</a:t>
            </a:r>
            <a:r>
              <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rPr>
              <a:t>/</a:t>
            </a:r>
            <a:r>
              <a:rPr lang="zh-CN" altLang="en-US" sz="1600" kern="0" dirty="0">
                <a:solidFill>
                  <a:srgbClr val="3864B2"/>
                </a:solidFill>
                <a:latin typeface="微软雅黑" panose="020B0503020204020204" pitchFamily="34" charset="-122"/>
                <a:ea typeface="微软雅黑" panose="020B0503020204020204" pitchFamily="34" charset="-122"/>
                <a:cs typeface="Arial" charset="0"/>
                <a:sym typeface="Arial"/>
              </a:rPr>
              <a:t>灯具</a:t>
            </a:r>
            <a:r>
              <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rPr>
              <a:t>/</a:t>
            </a:r>
            <a:r>
              <a:rPr lang="zh-CN" altLang="en-US" sz="1600" kern="0" dirty="0">
                <a:solidFill>
                  <a:srgbClr val="3864B2"/>
                </a:solidFill>
                <a:latin typeface="微软雅黑" panose="020B0503020204020204" pitchFamily="34" charset="-122"/>
                <a:ea typeface="微软雅黑" panose="020B0503020204020204" pitchFamily="34" charset="-122"/>
                <a:cs typeface="Arial" charset="0"/>
                <a:sym typeface="Arial"/>
              </a:rPr>
              <a:t>传感器</a:t>
            </a:r>
            <a:endPar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endParaRPr>
          </a:p>
          <a:p>
            <a:pPr marL="193543" indent="-193543" defTabSz="825949" hangingPunct="0">
              <a:lnSpc>
                <a:spcPct val="150000"/>
              </a:lnSpc>
              <a:buFont typeface="Arial" panose="020B0604020202020204" pitchFamily="34" charset="0"/>
              <a:buChar char="•"/>
              <a:defRPr/>
            </a:pPr>
            <a:r>
              <a:rPr lang="en-US" altLang="zh-CN" sz="1600" kern="0" dirty="0">
                <a:solidFill>
                  <a:srgbClr val="3864B2"/>
                </a:solidFill>
                <a:latin typeface="微软雅黑" panose="020B0503020204020204" pitchFamily="34" charset="-122"/>
                <a:ea typeface="微软雅黑" panose="020B0503020204020204" pitchFamily="34" charset="-122"/>
                <a:cs typeface="Arial" charset="0"/>
                <a:sym typeface="Arial"/>
              </a:rPr>
              <a:t>…..</a:t>
            </a:r>
          </a:p>
        </p:txBody>
      </p:sp>
      <p:sp>
        <p:nvSpPr>
          <p:cNvPr id="39" name="箭头: 上 18">
            <a:extLst>
              <a:ext uri="{FF2B5EF4-FFF2-40B4-BE49-F238E27FC236}">
                <a16:creationId xmlns:a16="http://schemas.microsoft.com/office/drawing/2014/main" id="{4C6773AC-EA9C-4317-A656-306675F791D0}"/>
              </a:ext>
            </a:extLst>
          </p:cNvPr>
          <p:cNvSpPr/>
          <p:nvPr/>
        </p:nvSpPr>
        <p:spPr>
          <a:xfrm rot="10800000">
            <a:off x="2833319" y="3539357"/>
            <a:ext cx="565849" cy="484539"/>
          </a:xfrm>
          <a:prstGeom prst="upArrow">
            <a:avLst/>
          </a:prstGeom>
          <a:noFill/>
          <a:ln w="25400" cap="flat" cmpd="sng" algn="ctr">
            <a:solidFill>
              <a:srgbClr val="FFFFFF"/>
            </a:solidFill>
            <a:prstDash val="solid"/>
          </a:ln>
          <a:effectLst/>
        </p:spPr>
        <p:txBody>
          <a:bodyPr rtlCol="0" anchor="ctr"/>
          <a:lstStyle/>
          <a:p>
            <a:pPr algn="ctr" defTabSz="1083893" hangingPunct="0">
              <a:defRPr/>
            </a:pPr>
            <a:endParaRPr lang="zh-CN" altLang="en-US" sz="2133" kern="0">
              <a:solidFill>
                <a:srgbClr val="3864B2"/>
              </a:solidFill>
              <a:latin typeface="微软雅黑" panose="020B0503020204020204" pitchFamily="34" charset="-122"/>
              <a:ea typeface="微软雅黑" panose="020B0503020204020204" pitchFamily="34" charset="-122"/>
              <a:sym typeface="Arial"/>
            </a:endParaRPr>
          </a:p>
        </p:txBody>
      </p:sp>
    </p:spTree>
    <p:extLst>
      <p:ext uri="{BB962C8B-B14F-4D97-AF65-F5344CB8AC3E}">
        <p14:creationId xmlns:p14="http://schemas.microsoft.com/office/powerpoint/2010/main" val="1661559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en-US" altLang="zh-CN" dirty="0" smtClean="0">
                <a:solidFill>
                  <a:srgbClr val="0078FF"/>
                </a:solidFill>
              </a:rPr>
              <a:t> </a:t>
            </a:r>
            <a:r>
              <a:rPr kumimoji="1" lang="zh-CN" altLang="en-US" dirty="0" smtClean="0">
                <a:solidFill>
                  <a:srgbClr val="0078FF"/>
                </a:solidFill>
              </a:rPr>
              <a:t>产业</a:t>
            </a:r>
            <a:r>
              <a:rPr kumimoji="1" lang="zh-CN" altLang="en-US" dirty="0">
                <a:solidFill>
                  <a:srgbClr val="0078FF"/>
                </a:solidFill>
              </a:rPr>
              <a:t>发展</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sp>
        <p:nvSpPr>
          <p:cNvPr id="12" name="文本框 11">
            <a:extLst>
              <a:ext uri="{FF2B5EF4-FFF2-40B4-BE49-F238E27FC236}">
                <a16:creationId xmlns:a16="http://schemas.microsoft.com/office/drawing/2014/main" id="{01E6B900-A2F2-442B-B474-A44535B4F84B}"/>
              </a:ext>
            </a:extLst>
          </p:cNvPr>
          <p:cNvSpPr txBox="1"/>
          <p:nvPr/>
        </p:nvSpPr>
        <p:spPr>
          <a:xfrm>
            <a:off x="1094837" y="4530000"/>
            <a:ext cx="9970253" cy="1497205"/>
          </a:xfrm>
          <a:prstGeom prst="rect">
            <a:avLst/>
          </a:prstGeom>
          <a:noFill/>
        </p:spPr>
        <p:txBody>
          <a:bodyPr wrap="square" rtlCol="0">
            <a:spAutoFit/>
          </a:bodyPr>
          <a:lstStyle/>
          <a:p>
            <a:pPr marL="360363" indent="-360363">
              <a:lnSpc>
                <a:spcPct val="130000"/>
              </a:lnSpc>
              <a:buFont typeface="Wingdings" panose="05000000000000000000" pitchFamily="2" charset="2"/>
              <a:buChar char="u"/>
            </a:pPr>
            <a:r>
              <a:rPr lang="en-US" altLang="zh-CN" dirty="0">
                <a:solidFill>
                  <a:srgbClr val="FFFFFF">
                    <a:lumMod val="50000"/>
                  </a:srgbClr>
                </a:solidFill>
                <a:latin typeface="Arial" pitchFamily="34" charset="0"/>
                <a:ea typeface="微软雅黑" pitchFamily="34" charset="-122"/>
              </a:rPr>
              <a:t>2020</a:t>
            </a:r>
            <a:r>
              <a:rPr lang="zh-CN" altLang="en-US" dirty="0">
                <a:solidFill>
                  <a:srgbClr val="FFFFFF">
                    <a:lumMod val="50000"/>
                  </a:srgbClr>
                </a:solidFill>
                <a:latin typeface="Arial" pitchFamily="34" charset="0"/>
                <a:ea typeface="微软雅黑" pitchFamily="34" charset="-122"/>
              </a:rPr>
              <a:t>年</a:t>
            </a:r>
            <a:r>
              <a:rPr lang="en-US" altLang="zh-CN" dirty="0">
                <a:solidFill>
                  <a:srgbClr val="FFFFFF">
                    <a:lumMod val="50000"/>
                  </a:srgbClr>
                </a:solidFill>
                <a:latin typeface="Arial" pitchFamily="34" charset="0"/>
                <a:ea typeface="微软雅黑" pitchFamily="34" charset="-122"/>
              </a:rPr>
              <a:t>12</a:t>
            </a:r>
            <a:r>
              <a:rPr lang="zh-CN" altLang="en-US" dirty="0">
                <a:solidFill>
                  <a:srgbClr val="FFFFFF">
                    <a:lumMod val="50000"/>
                  </a:srgbClr>
                </a:solidFill>
                <a:latin typeface="Arial" pitchFamily="34" charset="0"/>
                <a:ea typeface="微软雅黑" pitchFamily="34" charset="-122"/>
              </a:rPr>
              <a:t>月</a:t>
            </a:r>
            <a:r>
              <a:rPr lang="en-US" altLang="zh-CN" dirty="0">
                <a:solidFill>
                  <a:srgbClr val="FFFFFF">
                    <a:lumMod val="50000"/>
                  </a:srgbClr>
                </a:solidFill>
                <a:latin typeface="Arial" pitchFamily="34" charset="0"/>
                <a:ea typeface="微软雅黑" pitchFamily="34" charset="-122"/>
              </a:rPr>
              <a:t>21</a:t>
            </a:r>
            <a:r>
              <a:rPr lang="zh-CN" altLang="en-US" dirty="0">
                <a:solidFill>
                  <a:srgbClr val="FFFFFF">
                    <a:lumMod val="50000"/>
                  </a:srgbClr>
                </a:solidFill>
                <a:latin typeface="Arial" pitchFamily="34" charset="0"/>
                <a:ea typeface="微软雅黑" pitchFamily="34" charset="-122"/>
              </a:rPr>
              <a:t>日，华为发布</a:t>
            </a:r>
            <a:r>
              <a:rPr lang="zh-CN" altLang="en-US" dirty="0">
                <a:solidFill>
                  <a:srgbClr val="0079C3"/>
                </a:solidFill>
                <a:latin typeface="Arial" pitchFamily="34" charset="0"/>
                <a:ea typeface="微软雅黑" pitchFamily="34" charset="-122"/>
              </a:rPr>
              <a:t>全屋智能</a:t>
            </a:r>
            <a:r>
              <a:rPr lang="en-US" altLang="zh-CN" dirty="0">
                <a:solidFill>
                  <a:srgbClr val="0079C3"/>
                </a:solidFill>
                <a:latin typeface="Arial" pitchFamily="34" charset="0"/>
                <a:ea typeface="微软雅黑" pitchFamily="34" charset="-122"/>
              </a:rPr>
              <a:t>ALL IN ONE</a:t>
            </a:r>
            <a:r>
              <a:rPr lang="zh-CN" altLang="en-US" dirty="0">
                <a:solidFill>
                  <a:srgbClr val="FFFFFF">
                    <a:lumMod val="50000"/>
                  </a:srgbClr>
                </a:solidFill>
                <a:latin typeface="Arial" pitchFamily="34" charset="0"/>
                <a:ea typeface="微软雅黑" pitchFamily="34" charset="-122"/>
              </a:rPr>
              <a:t>解决方案，</a:t>
            </a:r>
            <a:r>
              <a:rPr lang="zh-CN" altLang="en-US" dirty="0" smtClean="0">
                <a:solidFill>
                  <a:srgbClr val="FFFFFF">
                    <a:lumMod val="50000"/>
                  </a:srgbClr>
                </a:solidFill>
                <a:latin typeface="Arial" pitchFamily="34" charset="0"/>
                <a:ea typeface="微软雅黑" pitchFamily="34" charset="-122"/>
              </a:rPr>
              <a:t>通过 “</a:t>
            </a:r>
            <a:r>
              <a:rPr lang="en-US" altLang="zh-CN" b="1" dirty="0">
                <a:solidFill>
                  <a:srgbClr val="0079C3"/>
                </a:solidFill>
                <a:latin typeface="Arial" pitchFamily="34" charset="0"/>
                <a:ea typeface="微软雅黑" pitchFamily="34" charset="-122"/>
              </a:rPr>
              <a:t>PLC-IoT</a:t>
            </a:r>
            <a:r>
              <a:rPr lang="zh-CN" altLang="en-US" b="1" dirty="0">
                <a:solidFill>
                  <a:srgbClr val="0079C3"/>
                </a:solidFill>
                <a:latin typeface="Arial" pitchFamily="34" charset="0"/>
                <a:ea typeface="微软雅黑" pitchFamily="34" charset="-122"/>
              </a:rPr>
              <a:t>家庭总线</a:t>
            </a:r>
            <a:r>
              <a:rPr lang="zh-CN" altLang="en-US" dirty="0">
                <a:solidFill>
                  <a:srgbClr val="FFFFFF">
                    <a:lumMod val="50000"/>
                  </a:srgbClr>
                </a:solidFill>
                <a:latin typeface="Arial" pitchFamily="34" charset="0"/>
                <a:ea typeface="微软雅黑" pitchFamily="34" charset="-122"/>
              </a:rPr>
              <a:t>”</a:t>
            </a:r>
            <a:r>
              <a:rPr lang="zh-CN" altLang="en-US" dirty="0" smtClean="0">
                <a:solidFill>
                  <a:srgbClr val="FFFFFF">
                    <a:lumMod val="50000"/>
                  </a:srgbClr>
                </a:solidFill>
                <a:latin typeface="Arial" pitchFamily="34" charset="0"/>
                <a:ea typeface="微软雅黑" pitchFamily="34" charset="-122"/>
              </a:rPr>
              <a:t>和“</a:t>
            </a:r>
            <a:r>
              <a:rPr lang="zh-CN" altLang="en-US" dirty="0">
                <a:solidFill>
                  <a:srgbClr val="FFFFFF">
                    <a:lumMod val="50000"/>
                  </a:srgbClr>
                </a:solidFill>
                <a:latin typeface="Arial" pitchFamily="34" charset="0"/>
                <a:ea typeface="微软雅黑" pitchFamily="34" charset="-122"/>
              </a:rPr>
              <a:t>家庭超宽带骨干网”整合起来提供智能主机解决</a:t>
            </a:r>
            <a:r>
              <a:rPr lang="zh-CN" altLang="en-US" dirty="0" smtClean="0">
                <a:solidFill>
                  <a:srgbClr val="FFFFFF">
                    <a:lumMod val="50000"/>
                  </a:srgbClr>
                </a:solidFill>
                <a:latin typeface="Arial" pitchFamily="34" charset="0"/>
                <a:ea typeface="微软雅黑" pitchFamily="34" charset="-122"/>
              </a:rPr>
              <a:t>方案</a:t>
            </a:r>
            <a:endParaRPr lang="en-US" altLang="zh-CN" dirty="0" smtClean="0">
              <a:solidFill>
                <a:srgbClr val="FFFFFF">
                  <a:lumMod val="50000"/>
                </a:srgbClr>
              </a:solidFill>
              <a:latin typeface="Arial" pitchFamily="34" charset="0"/>
              <a:ea typeface="微软雅黑" pitchFamily="34" charset="-122"/>
            </a:endParaRPr>
          </a:p>
          <a:p>
            <a:pPr marL="360363" indent="-360363">
              <a:lnSpc>
                <a:spcPct val="130000"/>
              </a:lnSpc>
              <a:buFont typeface="Wingdings" panose="05000000000000000000" pitchFamily="2" charset="2"/>
              <a:buChar char="u"/>
            </a:pPr>
            <a:r>
              <a:rPr lang="zh-CN" altLang="en-US" dirty="0" smtClean="0">
                <a:solidFill>
                  <a:srgbClr val="FFFFFF">
                    <a:lumMod val="50000"/>
                  </a:srgbClr>
                </a:solidFill>
                <a:latin typeface="Arial" pitchFamily="34" charset="0"/>
                <a:ea typeface="微软雅黑" pitchFamily="34" charset="-122"/>
              </a:rPr>
              <a:t>基于</a:t>
            </a:r>
            <a:r>
              <a:rPr lang="zh-CN" altLang="en-US" dirty="0">
                <a:solidFill>
                  <a:srgbClr val="FFFFFF">
                    <a:lumMod val="50000"/>
                  </a:srgbClr>
                </a:solidFill>
                <a:latin typeface="Arial" pitchFamily="34" charset="0"/>
                <a:ea typeface="微软雅黑" pitchFamily="34" charset="-122"/>
              </a:rPr>
              <a:t>此方案上海浦东智能照明联合会组织</a:t>
            </a:r>
            <a:r>
              <a:rPr lang="en-US" altLang="zh-CN" dirty="0">
                <a:solidFill>
                  <a:srgbClr val="FFFFFF">
                    <a:lumMod val="50000"/>
                  </a:srgbClr>
                </a:solidFill>
                <a:latin typeface="Arial" pitchFamily="34" charset="0"/>
                <a:ea typeface="微软雅黑" pitchFamily="34" charset="-122"/>
              </a:rPr>
              <a:t>40+</a:t>
            </a:r>
            <a:r>
              <a:rPr lang="zh-CN" altLang="en-US" dirty="0">
                <a:solidFill>
                  <a:srgbClr val="FFFFFF">
                    <a:lumMod val="50000"/>
                  </a:srgbClr>
                </a:solidFill>
                <a:latin typeface="Arial" pitchFamily="34" charset="0"/>
                <a:ea typeface="微软雅黑" pitchFamily="34" charset="-122"/>
              </a:rPr>
              <a:t>企业与华为及海思共同发布了</a:t>
            </a:r>
            <a:r>
              <a:rPr lang="en-US" altLang="zh-CN" dirty="0">
                <a:solidFill>
                  <a:srgbClr val="FFFFFF">
                    <a:lumMod val="50000"/>
                  </a:srgbClr>
                </a:solidFill>
                <a:latin typeface="Arial" pitchFamily="34" charset="0"/>
                <a:ea typeface="微软雅黑" pitchFamily="34" charset="-122"/>
              </a:rPr>
              <a:t>《</a:t>
            </a:r>
            <a:r>
              <a:rPr lang="zh-CN" altLang="en-US" dirty="0">
                <a:solidFill>
                  <a:srgbClr val="FFFFFF">
                    <a:lumMod val="50000"/>
                  </a:srgbClr>
                </a:solidFill>
                <a:latin typeface="Arial" pitchFamily="34" charset="0"/>
                <a:ea typeface="微软雅黑" pitchFamily="34" charset="-122"/>
              </a:rPr>
              <a:t>电力线载波通信</a:t>
            </a:r>
            <a:r>
              <a:rPr lang="en-US" altLang="zh-CN" dirty="0">
                <a:solidFill>
                  <a:srgbClr val="FFFFFF">
                    <a:lumMod val="50000"/>
                  </a:srgbClr>
                </a:solidFill>
                <a:latin typeface="Arial" pitchFamily="34" charset="0"/>
                <a:ea typeface="微软雅黑" pitchFamily="34" charset="-122"/>
              </a:rPr>
              <a:t>(PLC)</a:t>
            </a:r>
            <a:r>
              <a:rPr lang="zh-CN" altLang="en-US" dirty="0">
                <a:solidFill>
                  <a:srgbClr val="FFFFFF">
                    <a:lumMod val="50000"/>
                  </a:srgbClr>
                </a:solidFill>
                <a:latin typeface="Arial" pitchFamily="34" charset="0"/>
                <a:ea typeface="微软雅黑" pitchFamily="34" charset="-122"/>
              </a:rPr>
              <a:t>全屋互联规范</a:t>
            </a:r>
            <a:r>
              <a:rPr lang="en-US" altLang="zh-CN" dirty="0">
                <a:solidFill>
                  <a:srgbClr val="FFFFFF">
                    <a:lumMod val="50000"/>
                  </a:srgbClr>
                </a:solidFill>
                <a:latin typeface="Arial" pitchFamily="34" charset="0"/>
                <a:ea typeface="微软雅黑" pitchFamily="34" charset="-122"/>
              </a:rPr>
              <a:t>》 </a:t>
            </a:r>
            <a:r>
              <a:rPr lang="zh-CN" altLang="en-US" dirty="0">
                <a:solidFill>
                  <a:srgbClr val="FFFFFF">
                    <a:lumMod val="50000"/>
                  </a:srgbClr>
                </a:solidFill>
                <a:latin typeface="Arial" pitchFamily="34" charset="0"/>
                <a:ea typeface="微软雅黑" pitchFamily="34" charset="-122"/>
              </a:rPr>
              <a:t>团体标准</a:t>
            </a:r>
          </a:p>
        </p:txBody>
      </p:sp>
      <p:sp>
        <p:nvSpPr>
          <p:cNvPr id="13" name="文本框 12">
            <a:extLst>
              <a:ext uri="{FF2B5EF4-FFF2-40B4-BE49-F238E27FC236}">
                <a16:creationId xmlns:a16="http://schemas.microsoft.com/office/drawing/2014/main" id="{D5A7733C-6766-4850-B8DE-EBB677E0F94B}"/>
              </a:ext>
            </a:extLst>
          </p:cNvPr>
          <p:cNvSpPr txBox="1"/>
          <p:nvPr/>
        </p:nvSpPr>
        <p:spPr>
          <a:xfrm>
            <a:off x="166992" y="6111910"/>
            <a:ext cx="11858016" cy="461665"/>
          </a:xfrm>
          <a:prstGeom prst="rect">
            <a:avLst/>
          </a:prstGeom>
          <a:noFill/>
        </p:spPr>
        <p:txBody>
          <a:bodyPr wrap="square">
            <a:spAutoFit/>
          </a:bodyPr>
          <a:lstStyle/>
          <a:p>
            <a:pPr algn="ctr">
              <a:spcAft>
                <a:spcPts val="1200"/>
              </a:spcAft>
            </a:pPr>
            <a:r>
              <a:rPr lang="zh-CN" altLang="en-US" sz="2400" kern="0" dirty="0">
                <a:solidFill>
                  <a:srgbClr val="3864B2"/>
                </a:solidFill>
                <a:latin typeface="微软雅黑"/>
                <a:ea typeface="微软雅黑"/>
                <a:cs typeface="宋体" panose="02010600030101010101" pitchFamily="2" charset="-122"/>
              </a:rPr>
              <a:t>华为全屋智能 </a:t>
            </a:r>
            <a:r>
              <a:rPr lang="en-US" altLang="zh-CN" sz="2400" kern="0" dirty="0">
                <a:solidFill>
                  <a:srgbClr val="3864B2"/>
                </a:solidFill>
                <a:latin typeface="微软雅黑"/>
                <a:ea typeface="微软雅黑"/>
                <a:cs typeface="宋体" panose="02010600030101010101" pitchFamily="2" charset="-122"/>
              </a:rPr>
              <a:t>ALL IN ONE </a:t>
            </a:r>
            <a:r>
              <a:rPr lang="zh-CN" altLang="en-US" sz="2400" kern="0" dirty="0">
                <a:solidFill>
                  <a:srgbClr val="3864B2"/>
                </a:solidFill>
                <a:latin typeface="微软雅黑"/>
                <a:ea typeface="微软雅黑"/>
                <a:cs typeface="宋体" panose="02010600030101010101" pitchFamily="2" charset="-122"/>
              </a:rPr>
              <a:t>解决方案，涵盖</a:t>
            </a:r>
            <a:r>
              <a:rPr lang="zh-CN" altLang="en-US" sz="2400" kern="0" dirty="0" smtClean="0">
                <a:solidFill>
                  <a:srgbClr val="3864B2"/>
                </a:solidFill>
                <a:latin typeface="微软雅黑"/>
                <a:ea typeface="微软雅黑"/>
                <a:cs typeface="宋体" panose="02010600030101010101" pitchFamily="2" charset="-122"/>
              </a:rPr>
              <a:t>照明、安防、空气、用水、音乐及感知系统</a:t>
            </a:r>
            <a:endParaRPr lang="en-US" altLang="zh-CN" sz="2400" kern="0" dirty="0">
              <a:solidFill>
                <a:srgbClr val="3864B2"/>
              </a:solidFill>
              <a:latin typeface="微软雅黑"/>
              <a:ea typeface="微软雅黑"/>
              <a:cs typeface="宋体" panose="02010600030101010101" pitchFamily="2" charset="-122"/>
            </a:endParaRPr>
          </a:p>
        </p:txBody>
      </p:sp>
      <p:pic>
        <p:nvPicPr>
          <p:cNvPr id="14" name="图片 13">
            <a:extLst>
              <a:ext uri="{FF2B5EF4-FFF2-40B4-BE49-F238E27FC236}">
                <a16:creationId xmlns:a16="http://schemas.microsoft.com/office/drawing/2014/main" id="{8DAD59D9-05D9-4872-9769-A701011F4ADD}"/>
              </a:ext>
            </a:extLst>
          </p:cNvPr>
          <p:cNvPicPr>
            <a:picLocks noChangeAspect="1"/>
          </p:cNvPicPr>
          <p:nvPr/>
        </p:nvPicPr>
        <p:blipFill>
          <a:blip r:embed="rId3"/>
          <a:stretch>
            <a:fillRect/>
          </a:stretch>
        </p:blipFill>
        <p:spPr>
          <a:xfrm>
            <a:off x="952500" y="1293375"/>
            <a:ext cx="10287000" cy="3009900"/>
          </a:xfrm>
          <a:prstGeom prst="rect">
            <a:avLst/>
          </a:prstGeom>
        </p:spPr>
      </p:pic>
      <p:pic>
        <p:nvPicPr>
          <p:cNvPr id="9" name="图片 8"/>
          <p:cNvPicPr>
            <a:picLocks noChangeAspect="1"/>
          </p:cNvPicPr>
          <p:nvPr/>
        </p:nvPicPr>
        <p:blipFill>
          <a:blip r:embed="rId4"/>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1488318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en-US" altLang="zh-CN" dirty="0" smtClean="0">
                <a:solidFill>
                  <a:srgbClr val="0078FF"/>
                </a:solidFill>
              </a:rPr>
              <a:t> </a:t>
            </a:r>
            <a:r>
              <a:rPr kumimoji="1" lang="zh-CN" altLang="en-US" dirty="0" smtClean="0">
                <a:solidFill>
                  <a:srgbClr val="0078FF"/>
                </a:solidFill>
              </a:rPr>
              <a:t>产业</a:t>
            </a:r>
            <a:r>
              <a:rPr kumimoji="1" lang="zh-CN" altLang="en-US" dirty="0">
                <a:solidFill>
                  <a:srgbClr val="0078FF"/>
                </a:solidFill>
              </a:rPr>
              <a:t>发展</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3"/>
          <a:stretch>
            <a:fillRect/>
          </a:stretch>
        </p:blipFill>
        <p:spPr>
          <a:xfrm>
            <a:off x="9796072" y="266110"/>
            <a:ext cx="2133600" cy="1028700"/>
          </a:xfrm>
          <a:prstGeom prst="rect">
            <a:avLst/>
          </a:prstGeom>
        </p:spPr>
      </p:pic>
      <p:cxnSp>
        <p:nvCxnSpPr>
          <p:cNvPr id="4" name="直接连接符 3"/>
          <p:cNvCxnSpPr/>
          <p:nvPr/>
        </p:nvCxnSpPr>
        <p:spPr>
          <a:xfrm>
            <a:off x="6311138" y="1984434"/>
            <a:ext cx="0" cy="4610919"/>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a:off x="1480695" y="1984434"/>
            <a:ext cx="9659566" cy="0"/>
          </a:xfrm>
          <a:prstGeom prst="line">
            <a:avLst/>
          </a:prstGeom>
        </p:spPr>
        <p:style>
          <a:lnRef idx="3">
            <a:schemeClr val="accent1"/>
          </a:lnRef>
          <a:fillRef idx="0">
            <a:schemeClr val="accent1"/>
          </a:fillRef>
          <a:effectRef idx="2">
            <a:schemeClr val="accent1"/>
          </a:effectRef>
          <a:fontRef idx="minor">
            <a:schemeClr val="tx1"/>
          </a:fontRef>
        </p:style>
      </p:cxnSp>
      <p:sp>
        <p:nvSpPr>
          <p:cNvPr id="12" name="文本框 11"/>
          <p:cNvSpPr txBox="1"/>
          <p:nvPr/>
        </p:nvSpPr>
        <p:spPr>
          <a:xfrm>
            <a:off x="2949567" y="1410736"/>
            <a:ext cx="1561946" cy="461665"/>
          </a:xfrm>
          <a:prstGeom prst="rect">
            <a:avLst/>
          </a:prstGeom>
          <a:noFill/>
        </p:spPr>
        <p:txBody>
          <a:bodyPr wrap="square" rtlCol="0">
            <a:spAutoFit/>
          </a:bodyPr>
          <a:lstStyle/>
          <a:p>
            <a:r>
              <a:rPr lang="zh-CN" altLang="en-US" sz="2400" dirty="0" smtClean="0">
                <a:solidFill>
                  <a:srgbClr val="3864B2"/>
                </a:solidFill>
                <a:latin typeface="微软雅黑" panose="020B0503020204020204" pitchFamily="34" charset="-122"/>
                <a:ea typeface="微软雅黑" panose="020B0503020204020204" pitchFamily="34" charset="-122"/>
              </a:rPr>
              <a:t>公用领域</a:t>
            </a:r>
            <a:endParaRPr lang="zh-CN" altLang="en-US" sz="2400" dirty="0">
              <a:solidFill>
                <a:srgbClr val="3864B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076053" y="1410735"/>
            <a:ext cx="1595335" cy="461665"/>
          </a:xfrm>
          <a:prstGeom prst="rect">
            <a:avLst/>
          </a:prstGeom>
          <a:noFill/>
        </p:spPr>
        <p:txBody>
          <a:bodyPr wrap="square" rtlCol="0">
            <a:spAutoFit/>
          </a:bodyPr>
          <a:lstStyle/>
          <a:p>
            <a:r>
              <a:rPr lang="zh-CN" altLang="en-US" sz="2400" dirty="0" smtClean="0">
                <a:solidFill>
                  <a:srgbClr val="3864B2"/>
                </a:solidFill>
                <a:latin typeface="微软雅黑" panose="020B0503020204020204" pitchFamily="34" charset="-122"/>
                <a:ea typeface="微软雅黑" panose="020B0503020204020204" pitchFamily="34" charset="-122"/>
              </a:rPr>
              <a:t>民用领域</a:t>
            </a:r>
            <a:endParaRPr lang="zh-CN" altLang="en-US" sz="2400" dirty="0">
              <a:solidFill>
                <a:srgbClr val="3864B2"/>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480695" y="3269448"/>
            <a:ext cx="96595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059510" y="3269448"/>
            <a:ext cx="2714017"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429047" y="2461087"/>
            <a:ext cx="719847" cy="400110"/>
          </a:xfrm>
          <a:prstGeom prst="rect">
            <a:avLst/>
          </a:prstGeom>
          <a:noFill/>
        </p:spPr>
        <p:txBody>
          <a:bodyPr wrap="square" rtlCol="0">
            <a:spAutoFit/>
          </a:bodyPr>
          <a:lstStyle/>
          <a:p>
            <a:r>
              <a:rPr lang="zh-CN" altLang="en-US" sz="2000" dirty="0" smtClean="0">
                <a:solidFill>
                  <a:srgbClr val="3864B2"/>
                </a:solidFill>
                <a:latin typeface="微软雅黑" panose="020B0503020204020204" pitchFamily="34" charset="-122"/>
                <a:ea typeface="微软雅黑" panose="020B0503020204020204" pitchFamily="34" charset="-122"/>
              </a:rPr>
              <a:t>存量</a:t>
            </a:r>
            <a:endParaRPr lang="zh-CN" altLang="en-US" sz="2000" dirty="0">
              <a:solidFill>
                <a:srgbClr val="3864B2"/>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429046" y="3590006"/>
            <a:ext cx="719847" cy="400110"/>
          </a:xfrm>
          <a:prstGeom prst="rect">
            <a:avLst/>
          </a:prstGeom>
          <a:noFill/>
        </p:spPr>
        <p:txBody>
          <a:bodyPr wrap="square" rtlCol="0">
            <a:spAutoFit/>
          </a:bodyPr>
          <a:lstStyle/>
          <a:p>
            <a:r>
              <a:rPr lang="zh-CN" altLang="en-US" sz="2000" dirty="0" smtClean="0">
                <a:solidFill>
                  <a:srgbClr val="3864B2"/>
                </a:solidFill>
                <a:latin typeface="微软雅黑" panose="020B0503020204020204" pitchFamily="34" charset="-122"/>
                <a:ea typeface="微软雅黑" panose="020B0503020204020204" pitchFamily="34" charset="-122"/>
              </a:rPr>
              <a:t>增量</a:t>
            </a:r>
            <a:endParaRPr lang="zh-CN" altLang="en-US" sz="2000" dirty="0">
              <a:solidFill>
                <a:srgbClr val="3864B2"/>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2103258" y="2340684"/>
            <a:ext cx="3877131" cy="723275"/>
          </a:xfrm>
          <a:prstGeom prst="rect">
            <a:avLst/>
          </a:prstGeom>
          <a:noFill/>
        </p:spPr>
        <p:txBody>
          <a:bodyPr wrap="square" rtlCol="0">
            <a:spAutoFit/>
          </a:bodyPr>
          <a:lstStyle/>
          <a:p>
            <a:pPr>
              <a:spcBef>
                <a:spcPts val="600"/>
              </a:spcBef>
            </a:pPr>
            <a:r>
              <a:rPr lang="zh-CN" altLang="en-US" dirty="0" smtClean="0">
                <a:solidFill>
                  <a:srgbClr val="3864B2"/>
                </a:solidFill>
                <a:latin typeface="微软雅黑" panose="020B0503020204020204" pitchFamily="34" charset="-122"/>
                <a:ea typeface="微软雅黑" panose="020B0503020204020204" pitchFamily="34" charset="-122"/>
              </a:rPr>
              <a:t>电表：国网</a:t>
            </a:r>
            <a:r>
              <a:rPr lang="en-US" altLang="zh-CN" dirty="0" smtClean="0">
                <a:solidFill>
                  <a:srgbClr val="3864B2"/>
                </a:solidFill>
                <a:latin typeface="微软雅黑" panose="020B0503020204020204" pitchFamily="34" charset="-122"/>
                <a:ea typeface="微软雅黑" panose="020B0503020204020204" pitchFamily="34" charset="-122"/>
              </a:rPr>
              <a:t>4.5</a:t>
            </a:r>
            <a:r>
              <a:rPr lang="zh-CN" altLang="en-US" dirty="0" smtClean="0">
                <a:solidFill>
                  <a:srgbClr val="3864B2"/>
                </a:solidFill>
                <a:latin typeface="微软雅黑" panose="020B0503020204020204" pitchFamily="34" charset="-122"/>
                <a:ea typeface="微软雅黑" panose="020B0503020204020204" pitchFamily="34" charset="-122"/>
              </a:rPr>
              <a:t>亿只，南网</a:t>
            </a:r>
            <a:r>
              <a:rPr lang="en-US" altLang="zh-CN" dirty="0" smtClean="0">
                <a:solidFill>
                  <a:srgbClr val="3864B2"/>
                </a:solidFill>
                <a:latin typeface="微软雅黑" panose="020B0503020204020204" pitchFamily="34" charset="-122"/>
                <a:ea typeface="微软雅黑" panose="020B0503020204020204" pitchFamily="34" charset="-122"/>
              </a:rPr>
              <a:t>5000</a:t>
            </a:r>
            <a:r>
              <a:rPr lang="zh-CN" altLang="en-US" dirty="0" smtClean="0">
                <a:solidFill>
                  <a:srgbClr val="3864B2"/>
                </a:solidFill>
                <a:latin typeface="微软雅黑" panose="020B0503020204020204" pitchFamily="34" charset="-122"/>
                <a:ea typeface="微软雅黑" panose="020B0503020204020204" pitchFamily="34" charset="-122"/>
              </a:rPr>
              <a:t>万只</a:t>
            </a:r>
            <a:endParaRPr lang="en-US" altLang="zh-CN" dirty="0" smtClean="0">
              <a:solidFill>
                <a:srgbClr val="3864B2"/>
              </a:solidFill>
              <a:latin typeface="微软雅黑" panose="020B0503020204020204" pitchFamily="34" charset="-122"/>
              <a:ea typeface="微软雅黑" panose="020B0503020204020204" pitchFamily="34" charset="-122"/>
            </a:endParaRPr>
          </a:p>
          <a:p>
            <a:pPr>
              <a:spcBef>
                <a:spcPts val="600"/>
              </a:spcBef>
            </a:pPr>
            <a:r>
              <a:rPr lang="zh-CN" altLang="en-US" dirty="0" smtClean="0">
                <a:solidFill>
                  <a:srgbClr val="3864B2"/>
                </a:solidFill>
                <a:latin typeface="微软雅黑" panose="020B0503020204020204" pitchFamily="34" charset="-122"/>
                <a:ea typeface="微软雅黑" panose="020B0503020204020204" pitchFamily="34" charset="-122"/>
              </a:rPr>
              <a:t>集中器、采集器：约</a:t>
            </a:r>
            <a:r>
              <a:rPr lang="en-US" altLang="zh-CN" dirty="0" smtClean="0">
                <a:solidFill>
                  <a:srgbClr val="3864B2"/>
                </a:solidFill>
                <a:latin typeface="微软雅黑" panose="020B0503020204020204" pitchFamily="34" charset="-122"/>
                <a:ea typeface="微软雅黑" panose="020B0503020204020204" pitchFamily="34" charset="-122"/>
              </a:rPr>
              <a:t>5000</a:t>
            </a:r>
            <a:r>
              <a:rPr lang="zh-CN" altLang="en-US" dirty="0" smtClean="0">
                <a:solidFill>
                  <a:srgbClr val="3864B2"/>
                </a:solidFill>
                <a:latin typeface="微软雅黑" panose="020B0503020204020204" pitchFamily="34" charset="-122"/>
                <a:ea typeface="微软雅黑" panose="020B0503020204020204" pitchFamily="34" charset="-122"/>
              </a:rPr>
              <a:t>万只</a:t>
            </a:r>
            <a:endParaRPr lang="zh-CN" altLang="en-US" dirty="0">
              <a:solidFill>
                <a:srgbClr val="3864B2"/>
              </a:solidFill>
              <a:latin typeface="微软雅黑" panose="020B0503020204020204" pitchFamily="34" charset="-122"/>
              <a:ea typeface="微软雅黑" panose="020B0503020204020204" pitchFamily="34" charset="-122"/>
            </a:endParaRPr>
          </a:p>
        </p:txBody>
      </p:sp>
      <p:graphicFrame>
        <p:nvGraphicFramePr>
          <p:cNvPr id="28" name="表格 27"/>
          <p:cNvGraphicFramePr>
            <a:graphicFrameLocks noGrp="1"/>
          </p:cNvGraphicFramePr>
          <p:nvPr>
            <p:extLst>
              <p:ext uri="{D42A27DB-BD31-4B8C-83A1-F6EECF244321}">
                <p14:modId xmlns:p14="http://schemas.microsoft.com/office/powerpoint/2010/main" val="1039354859"/>
              </p:ext>
            </p:extLst>
          </p:nvPr>
        </p:nvGraphicFramePr>
        <p:xfrm>
          <a:off x="1156372" y="4290062"/>
          <a:ext cx="4707285" cy="1483360"/>
        </p:xfrm>
        <a:graphic>
          <a:graphicData uri="http://schemas.openxmlformats.org/drawingml/2006/table">
            <a:tbl>
              <a:tblPr firstRow="1" bandRow="1">
                <a:tableStyleId>{5C22544A-7EE6-4342-B048-85BDC9FD1C3A}</a:tableStyleId>
              </a:tblPr>
              <a:tblGrid>
                <a:gridCol w="781517">
                  <a:extLst>
                    <a:ext uri="{9D8B030D-6E8A-4147-A177-3AD203B41FA5}">
                      <a16:colId xmlns:a16="http://schemas.microsoft.com/office/drawing/2014/main" val="1622295118"/>
                    </a:ext>
                  </a:extLst>
                </a:gridCol>
                <a:gridCol w="992222">
                  <a:extLst>
                    <a:ext uri="{9D8B030D-6E8A-4147-A177-3AD203B41FA5}">
                      <a16:colId xmlns:a16="http://schemas.microsoft.com/office/drawing/2014/main" val="486419181"/>
                    </a:ext>
                  </a:extLst>
                </a:gridCol>
                <a:gridCol w="1050632">
                  <a:extLst>
                    <a:ext uri="{9D8B030D-6E8A-4147-A177-3AD203B41FA5}">
                      <a16:colId xmlns:a16="http://schemas.microsoft.com/office/drawing/2014/main" val="819626023"/>
                    </a:ext>
                  </a:extLst>
                </a:gridCol>
                <a:gridCol w="941457">
                  <a:extLst>
                    <a:ext uri="{9D8B030D-6E8A-4147-A177-3AD203B41FA5}">
                      <a16:colId xmlns:a16="http://schemas.microsoft.com/office/drawing/2014/main" val="1049086482"/>
                    </a:ext>
                  </a:extLst>
                </a:gridCol>
                <a:gridCol w="941457">
                  <a:extLst>
                    <a:ext uri="{9D8B030D-6E8A-4147-A177-3AD203B41FA5}">
                      <a16:colId xmlns:a16="http://schemas.microsoft.com/office/drawing/2014/main" val="2762168369"/>
                    </a:ext>
                  </a:extLst>
                </a:gridCol>
              </a:tblGrid>
              <a:tr h="370840">
                <a:tc>
                  <a:txBody>
                    <a:bodyPr/>
                    <a:lstStyle/>
                    <a:p>
                      <a:r>
                        <a:rPr lang="zh-CN" altLang="en-US" sz="1600" dirty="0" smtClean="0"/>
                        <a:t>年度</a:t>
                      </a:r>
                      <a:endParaRPr lang="zh-CN" altLang="en-US" sz="1600" dirty="0"/>
                    </a:p>
                  </a:txBody>
                  <a:tcPr/>
                </a:tc>
                <a:tc>
                  <a:txBody>
                    <a:bodyPr/>
                    <a:lstStyle/>
                    <a:p>
                      <a:r>
                        <a:rPr lang="zh-CN" altLang="en-US" sz="1600" dirty="0" smtClean="0"/>
                        <a:t>新增</a:t>
                      </a:r>
                      <a:endParaRPr lang="zh-CN" altLang="en-US" sz="1600" dirty="0"/>
                    </a:p>
                  </a:txBody>
                  <a:tcPr/>
                </a:tc>
                <a:tc>
                  <a:txBody>
                    <a:bodyPr/>
                    <a:lstStyle/>
                    <a:p>
                      <a:r>
                        <a:rPr lang="zh-CN" altLang="en-US" sz="1600" dirty="0" smtClean="0"/>
                        <a:t>故障更换</a:t>
                      </a:r>
                      <a:endParaRPr lang="zh-CN" altLang="en-US" sz="1600" dirty="0"/>
                    </a:p>
                  </a:txBody>
                  <a:tcPr/>
                </a:tc>
                <a:tc>
                  <a:txBody>
                    <a:bodyPr/>
                    <a:lstStyle/>
                    <a:p>
                      <a:r>
                        <a:rPr lang="zh-CN" altLang="en-US" sz="1600" dirty="0" smtClean="0"/>
                        <a:t>轮换</a:t>
                      </a:r>
                      <a:endParaRPr lang="zh-CN" altLang="en-US" sz="1600" dirty="0"/>
                    </a:p>
                  </a:txBody>
                  <a:tcPr/>
                </a:tc>
                <a:tc>
                  <a:txBody>
                    <a:bodyPr/>
                    <a:lstStyle/>
                    <a:p>
                      <a:r>
                        <a:rPr lang="zh-CN" altLang="en-US" sz="1600" dirty="0" smtClean="0"/>
                        <a:t>合计</a:t>
                      </a:r>
                      <a:endParaRPr lang="zh-CN" altLang="en-US" sz="1600" dirty="0"/>
                    </a:p>
                  </a:txBody>
                  <a:tcPr/>
                </a:tc>
                <a:extLst>
                  <a:ext uri="{0D108BD9-81ED-4DB2-BD59-A6C34878D82A}">
                    <a16:rowId xmlns:a16="http://schemas.microsoft.com/office/drawing/2014/main" val="4230606361"/>
                  </a:ext>
                </a:extLst>
              </a:tr>
              <a:tr h="370840">
                <a:tc>
                  <a:txBody>
                    <a:bodyPr/>
                    <a:lstStyle/>
                    <a:p>
                      <a:r>
                        <a:rPr lang="en-US" altLang="zh-CN" sz="1600" dirty="0" smtClean="0"/>
                        <a:t>2019</a:t>
                      </a:r>
                      <a:endParaRPr lang="zh-CN" altLang="en-US" sz="1600" dirty="0"/>
                    </a:p>
                  </a:txBody>
                  <a:tcPr/>
                </a:tc>
                <a:tc>
                  <a:txBody>
                    <a:bodyPr/>
                    <a:lstStyle/>
                    <a:p>
                      <a:r>
                        <a:rPr lang="en-US" altLang="zh-CN" sz="1600" dirty="0" smtClean="0"/>
                        <a:t>887</a:t>
                      </a:r>
                      <a:endParaRPr lang="zh-CN" altLang="en-US" sz="1600" dirty="0"/>
                    </a:p>
                  </a:txBody>
                  <a:tcPr/>
                </a:tc>
                <a:tc>
                  <a:txBody>
                    <a:bodyPr/>
                    <a:lstStyle/>
                    <a:p>
                      <a:r>
                        <a:rPr lang="en-US" altLang="zh-CN" sz="1600" dirty="0" smtClean="0"/>
                        <a:t>772</a:t>
                      </a:r>
                      <a:endParaRPr lang="zh-CN" altLang="en-US" sz="1600" dirty="0"/>
                    </a:p>
                  </a:txBody>
                  <a:tcPr/>
                </a:tc>
                <a:tc>
                  <a:txBody>
                    <a:bodyPr/>
                    <a:lstStyle/>
                    <a:p>
                      <a:r>
                        <a:rPr lang="en-US" altLang="zh-CN" sz="1600" dirty="0" smtClean="0"/>
                        <a:t>6111</a:t>
                      </a:r>
                      <a:endParaRPr lang="zh-CN" altLang="en-US" sz="1600" dirty="0"/>
                    </a:p>
                  </a:txBody>
                  <a:tcPr/>
                </a:tc>
                <a:tc>
                  <a:txBody>
                    <a:bodyPr/>
                    <a:lstStyle/>
                    <a:p>
                      <a:r>
                        <a:rPr lang="en-US" altLang="zh-CN" sz="1600" dirty="0" smtClean="0"/>
                        <a:t>7770</a:t>
                      </a:r>
                      <a:endParaRPr lang="zh-CN" altLang="en-US" sz="1600" dirty="0"/>
                    </a:p>
                  </a:txBody>
                  <a:tcPr/>
                </a:tc>
                <a:extLst>
                  <a:ext uri="{0D108BD9-81ED-4DB2-BD59-A6C34878D82A}">
                    <a16:rowId xmlns:a16="http://schemas.microsoft.com/office/drawing/2014/main" val="4044647129"/>
                  </a:ext>
                </a:extLst>
              </a:tr>
              <a:tr h="370840">
                <a:tc>
                  <a:txBody>
                    <a:bodyPr/>
                    <a:lstStyle/>
                    <a:p>
                      <a:r>
                        <a:rPr lang="en-US" altLang="zh-CN" sz="1600" dirty="0" smtClean="0"/>
                        <a:t>2020</a:t>
                      </a:r>
                      <a:endParaRPr lang="zh-CN" altLang="en-US" sz="1600" dirty="0"/>
                    </a:p>
                  </a:txBody>
                  <a:tcPr/>
                </a:tc>
                <a:tc>
                  <a:txBody>
                    <a:bodyPr/>
                    <a:lstStyle/>
                    <a:p>
                      <a:r>
                        <a:rPr lang="en-US" altLang="zh-CN" sz="1600" dirty="0" smtClean="0"/>
                        <a:t>913</a:t>
                      </a:r>
                      <a:endParaRPr lang="zh-CN" altLang="en-US" sz="1600" dirty="0"/>
                    </a:p>
                  </a:txBody>
                  <a:tcPr/>
                </a:tc>
                <a:tc>
                  <a:txBody>
                    <a:bodyPr/>
                    <a:lstStyle/>
                    <a:p>
                      <a:r>
                        <a:rPr lang="en-US" altLang="zh-CN" sz="1600" dirty="0" smtClean="0"/>
                        <a:t>797</a:t>
                      </a:r>
                      <a:endParaRPr lang="zh-CN" altLang="en-US" sz="1600" dirty="0"/>
                    </a:p>
                  </a:txBody>
                  <a:tcPr/>
                </a:tc>
                <a:tc>
                  <a:txBody>
                    <a:bodyPr/>
                    <a:lstStyle/>
                    <a:p>
                      <a:r>
                        <a:rPr lang="en-US" altLang="zh-CN" sz="1600" dirty="0" smtClean="0"/>
                        <a:t>6209</a:t>
                      </a:r>
                      <a:endParaRPr lang="zh-CN" altLang="en-US" sz="1600" dirty="0"/>
                    </a:p>
                  </a:txBody>
                  <a:tcPr/>
                </a:tc>
                <a:tc>
                  <a:txBody>
                    <a:bodyPr/>
                    <a:lstStyle/>
                    <a:p>
                      <a:r>
                        <a:rPr lang="en-US" altLang="zh-CN" sz="1600" dirty="0" smtClean="0"/>
                        <a:t>7919</a:t>
                      </a:r>
                      <a:endParaRPr lang="zh-CN" altLang="en-US" sz="1600" dirty="0"/>
                    </a:p>
                  </a:txBody>
                  <a:tcPr/>
                </a:tc>
                <a:extLst>
                  <a:ext uri="{0D108BD9-81ED-4DB2-BD59-A6C34878D82A}">
                    <a16:rowId xmlns:a16="http://schemas.microsoft.com/office/drawing/2014/main" val="3093328880"/>
                  </a:ext>
                </a:extLst>
              </a:tr>
              <a:tr h="370840">
                <a:tc>
                  <a:txBody>
                    <a:bodyPr/>
                    <a:lstStyle/>
                    <a:p>
                      <a:r>
                        <a:rPr lang="en-US" altLang="zh-CN" sz="1600" dirty="0" smtClean="0"/>
                        <a:t>2021</a:t>
                      </a:r>
                      <a:endParaRPr lang="zh-CN" altLang="en-US" sz="1600" dirty="0"/>
                    </a:p>
                  </a:txBody>
                  <a:tcPr/>
                </a:tc>
                <a:tc>
                  <a:txBody>
                    <a:bodyPr/>
                    <a:lstStyle/>
                    <a:p>
                      <a:r>
                        <a:rPr lang="en-US" altLang="zh-CN" sz="1600" dirty="0" smtClean="0"/>
                        <a:t>1011</a:t>
                      </a:r>
                      <a:endParaRPr lang="zh-CN" altLang="en-US" sz="1600" dirty="0"/>
                    </a:p>
                  </a:txBody>
                  <a:tcPr/>
                </a:tc>
                <a:tc>
                  <a:txBody>
                    <a:bodyPr/>
                    <a:lstStyle/>
                    <a:p>
                      <a:r>
                        <a:rPr lang="en-US" altLang="zh-CN" sz="1600" dirty="0" smtClean="0"/>
                        <a:t>787</a:t>
                      </a:r>
                      <a:endParaRPr lang="zh-CN" altLang="en-US" sz="1600" dirty="0"/>
                    </a:p>
                  </a:txBody>
                  <a:tcPr/>
                </a:tc>
                <a:tc>
                  <a:txBody>
                    <a:bodyPr/>
                    <a:lstStyle/>
                    <a:p>
                      <a:r>
                        <a:rPr lang="en-US" altLang="zh-CN" sz="1600" dirty="0" smtClean="0"/>
                        <a:t>6311</a:t>
                      </a:r>
                      <a:endParaRPr lang="zh-CN" altLang="en-US" sz="1600" dirty="0"/>
                    </a:p>
                  </a:txBody>
                  <a:tcPr/>
                </a:tc>
                <a:tc>
                  <a:txBody>
                    <a:bodyPr/>
                    <a:lstStyle/>
                    <a:p>
                      <a:r>
                        <a:rPr lang="en-US" altLang="zh-CN" sz="1600" dirty="0" smtClean="0"/>
                        <a:t>8109</a:t>
                      </a:r>
                      <a:endParaRPr lang="zh-CN" altLang="en-US" sz="1600" dirty="0"/>
                    </a:p>
                  </a:txBody>
                  <a:tcPr/>
                </a:tc>
                <a:extLst>
                  <a:ext uri="{0D108BD9-81ED-4DB2-BD59-A6C34878D82A}">
                    <a16:rowId xmlns:a16="http://schemas.microsoft.com/office/drawing/2014/main" val="1732238372"/>
                  </a:ext>
                </a:extLst>
              </a:tr>
            </a:tbl>
          </a:graphicData>
        </a:graphic>
      </p:graphicFrame>
      <p:sp>
        <p:nvSpPr>
          <p:cNvPr id="29" name="文本框 28"/>
          <p:cNvSpPr txBox="1"/>
          <p:nvPr/>
        </p:nvSpPr>
        <p:spPr>
          <a:xfrm>
            <a:off x="4511512" y="3881330"/>
            <a:ext cx="1468877" cy="369332"/>
          </a:xfrm>
          <a:prstGeom prst="rect">
            <a:avLst/>
          </a:prstGeom>
          <a:noFill/>
        </p:spPr>
        <p:txBody>
          <a:bodyPr wrap="square" rtlCol="0">
            <a:spAutoFit/>
          </a:bodyPr>
          <a:lstStyle/>
          <a:p>
            <a:r>
              <a:rPr lang="zh-CN" altLang="en-US" dirty="0" smtClean="0">
                <a:solidFill>
                  <a:srgbClr val="3864B2"/>
                </a:solidFill>
                <a:latin typeface="微软雅黑" panose="020B0503020204020204" pitchFamily="34" charset="-122"/>
                <a:ea typeface="微软雅黑" panose="020B0503020204020204" pitchFamily="34" charset="-122"/>
              </a:rPr>
              <a:t>单位：万只</a:t>
            </a:r>
            <a:endParaRPr lang="zh-CN" altLang="en-US" dirty="0">
              <a:solidFill>
                <a:srgbClr val="3864B2"/>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2492804" y="6061055"/>
            <a:ext cx="3487586" cy="369332"/>
          </a:xfrm>
          <a:prstGeom prst="rect">
            <a:avLst/>
          </a:prstGeom>
          <a:noFill/>
        </p:spPr>
        <p:txBody>
          <a:bodyPr wrap="square" rtlCol="0">
            <a:spAutoFit/>
          </a:bodyPr>
          <a:lstStyle/>
          <a:p>
            <a:r>
              <a:rPr lang="zh-CN" altLang="en-US" dirty="0" smtClean="0">
                <a:solidFill>
                  <a:srgbClr val="3864B2"/>
                </a:solidFill>
                <a:latin typeface="微软雅黑" panose="020B0503020204020204" pitchFamily="34" charset="-122"/>
                <a:ea typeface="微软雅黑" panose="020B0503020204020204" pitchFamily="34" charset="-122"/>
              </a:rPr>
              <a:t>数据来源：电力喵  （</a:t>
            </a:r>
            <a:r>
              <a:rPr lang="en-US" altLang="zh-CN" dirty="0" smtClean="0">
                <a:solidFill>
                  <a:srgbClr val="3864B2"/>
                </a:solidFill>
                <a:latin typeface="微软雅黑" panose="020B0503020204020204" pitchFamily="34" charset="-122"/>
                <a:ea typeface="微软雅黑" panose="020B0503020204020204" pitchFamily="34" charset="-122"/>
              </a:rPr>
              <a:t>2019</a:t>
            </a:r>
            <a:r>
              <a:rPr lang="zh-CN" altLang="en-US" dirty="0" smtClean="0">
                <a:solidFill>
                  <a:srgbClr val="3864B2"/>
                </a:solidFill>
                <a:latin typeface="微软雅黑" panose="020B0503020204020204" pitchFamily="34" charset="-122"/>
                <a:ea typeface="微软雅黑" panose="020B0503020204020204" pitchFamily="34" charset="-122"/>
              </a:rPr>
              <a:t>年末</a:t>
            </a:r>
            <a:r>
              <a:rPr lang="zh-CN" altLang="en-US" dirty="0">
                <a:solidFill>
                  <a:srgbClr val="3864B2"/>
                </a:solidFill>
                <a:latin typeface="微软雅黑" panose="020B0503020204020204" pitchFamily="34" charset="-122"/>
                <a:ea typeface="微软雅黑" panose="020B0503020204020204" pitchFamily="34" charset="-122"/>
              </a:rPr>
              <a:t>）</a:t>
            </a:r>
          </a:p>
        </p:txBody>
      </p:sp>
      <p:pic>
        <p:nvPicPr>
          <p:cNvPr id="32" name="图片 31">
            <a:extLst>
              <a:ext uri="{FF2B5EF4-FFF2-40B4-BE49-F238E27FC236}">
                <a16:creationId xmlns:a16="http://schemas.microsoft.com/office/drawing/2014/main" id="{F73A5ECB-D658-485E-99AD-2FF0A2F27463}"/>
              </a:ext>
            </a:extLst>
          </p:cNvPr>
          <p:cNvPicPr>
            <a:picLocks noChangeAspect="1"/>
          </p:cNvPicPr>
          <p:nvPr/>
        </p:nvPicPr>
        <p:blipFill>
          <a:blip r:embed="rId4"/>
          <a:stretch>
            <a:fillRect/>
          </a:stretch>
        </p:blipFill>
        <p:spPr>
          <a:xfrm>
            <a:off x="6906134" y="3381824"/>
            <a:ext cx="4118714" cy="2738677"/>
          </a:xfrm>
          <a:prstGeom prst="rect">
            <a:avLst/>
          </a:prstGeom>
        </p:spPr>
      </p:pic>
      <p:sp>
        <p:nvSpPr>
          <p:cNvPr id="33" name="文本框 32"/>
          <p:cNvSpPr txBox="1"/>
          <p:nvPr/>
        </p:nvSpPr>
        <p:spPr>
          <a:xfrm>
            <a:off x="8455438" y="6120501"/>
            <a:ext cx="2569410" cy="369332"/>
          </a:xfrm>
          <a:prstGeom prst="rect">
            <a:avLst/>
          </a:prstGeom>
          <a:noFill/>
        </p:spPr>
        <p:txBody>
          <a:bodyPr wrap="square" rtlCol="0">
            <a:spAutoFit/>
          </a:bodyPr>
          <a:lstStyle/>
          <a:p>
            <a:r>
              <a:rPr lang="zh-CN" altLang="en-US" dirty="0" smtClean="0">
                <a:solidFill>
                  <a:srgbClr val="3864B2"/>
                </a:solidFill>
                <a:latin typeface="微软雅黑" panose="020B0503020204020204" pitchFamily="34" charset="-122"/>
                <a:ea typeface="微软雅黑" panose="020B0503020204020204" pitchFamily="34" charset="-122"/>
              </a:rPr>
              <a:t>数据来源：产业信息网</a:t>
            </a:r>
            <a:endParaRPr lang="zh-CN" altLang="en-US" dirty="0">
              <a:solidFill>
                <a:srgbClr val="3864B2"/>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7026925" y="2342204"/>
            <a:ext cx="3877131" cy="723275"/>
          </a:xfrm>
          <a:prstGeom prst="rect">
            <a:avLst/>
          </a:prstGeom>
          <a:noFill/>
        </p:spPr>
        <p:txBody>
          <a:bodyPr wrap="square" rtlCol="0">
            <a:spAutoFit/>
          </a:bodyPr>
          <a:lstStyle/>
          <a:p>
            <a:pPr>
              <a:spcBef>
                <a:spcPts val="600"/>
              </a:spcBef>
            </a:pPr>
            <a:r>
              <a:rPr lang="zh-CN" altLang="en-US" dirty="0" smtClean="0">
                <a:solidFill>
                  <a:srgbClr val="3864B2"/>
                </a:solidFill>
                <a:latin typeface="微软雅黑" panose="020B0503020204020204" pitchFamily="34" charset="-122"/>
                <a:ea typeface="微软雅黑" panose="020B0503020204020204" pitchFamily="34" charset="-122"/>
              </a:rPr>
              <a:t>不同的连接</a:t>
            </a:r>
            <a:r>
              <a:rPr lang="zh-CN" altLang="en-US" dirty="0">
                <a:solidFill>
                  <a:srgbClr val="3864B2"/>
                </a:solidFill>
                <a:latin typeface="微软雅黑" panose="020B0503020204020204" pitchFamily="34" charset="-122"/>
                <a:ea typeface="微软雅黑" panose="020B0503020204020204" pitchFamily="34" charset="-122"/>
              </a:rPr>
              <a:t>技术有不同的适用场景</a:t>
            </a:r>
            <a:r>
              <a:rPr lang="zh-CN" altLang="en-US" dirty="0" smtClean="0">
                <a:solidFill>
                  <a:srgbClr val="3864B2"/>
                </a:solidFill>
                <a:latin typeface="微软雅黑" panose="020B0503020204020204" pitchFamily="34" charset="-122"/>
                <a:ea typeface="微软雅黑" panose="020B0503020204020204" pitchFamily="34" charset="-122"/>
              </a:rPr>
              <a:t>，</a:t>
            </a:r>
            <a:endParaRPr lang="en-US" altLang="zh-CN" dirty="0" smtClean="0">
              <a:solidFill>
                <a:srgbClr val="3864B2"/>
              </a:solidFill>
              <a:latin typeface="微软雅黑" panose="020B0503020204020204" pitchFamily="34" charset="-122"/>
              <a:ea typeface="微软雅黑" panose="020B0503020204020204" pitchFamily="34" charset="-122"/>
            </a:endParaRPr>
          </a:p>
          <a:p>
            <a:pPr>
              <a:spcBef>
                <a:spcPts val="600"/>
              </a:spcBef>
            </a:pPr>
            <a:r>
              <a:rPr lang="en-US" altLang="zh-CN" dirty="0" smtClean="0">
                <a:solidFill>
                  <a:srgbClr val="3864B2"/>
                </a:solidFill>
                <a:latin typeface="微软雅黑" panose="020B0503020204020204" pitchFamily="34" charset="-122"/>
                <a:ea typeface="微软雅黑" panose="020B0503020204020204" pitchFamily="34" charset="-122"/>
              </a:rPr>
              <a:t>PLC-</a:t>
            </a:r>
            <a:r>
              <a:rPr lang="en-US" altLang="zh-CN" dirty="0" err="1" smtClean="0">
                <a:solidFill>
                  <a:srgbClr val="3864B2"/>
                </a:solidFill>
                <a:latin typeface="微软雅黑" panose="020B0503020204020204" pitchFamily="34" charset="-122"/>
                <a:ea typeface="微软雅黑" panose="020B0503020204020204" pitchFamily="34" charset="-122"/>
              </a:rPr>
              <a:t>IoT</a:t>
            </a:r>
            <a:r>
              <a:rPr lang="en-US" altLang="zh-CN" dirty="0" smtClean="0">
                <a:solidFill>
                  <a:srgbClr val="3864B2"/>
                </a:solidFill>
                <a:latin typeface="微软雅黑" panose="020B0503020204020204" pitchFamily="34" charset="-122"/>
                <a:ea typeface="微软雅黑" panose="020B0503020204020204" pitchFamily="34" charset="-122"/>
              </a:rPr>
              <a:t> </a:t>
            </a:r>
            <a:r>
              <a:rPr lang="zh-CN" altLang="en-US" dirty="0" smtClean="0">
                <a:solidFill>
                  <a:srgbClr val="3864B2"/>
                </a:solidFill>
                <a:latin typeface="微软雅黑" panose="020B0503020204020204" pitchFamily="34" charset="-122"/>
                <a:ea typeface="微软雅黑" panose="020B0503020204020204" pitchFamily="34" charset="-122"/>
              </a:rPr>
              <a:t>为</a:t>
            </a:r>
            <a:r>
              <a:rPr lang="zh-CN" altLang="en-US" dirty="0">
                <a:solidFill>
                  <a:srgbClr val="3864B2"/>
                </a:solidFill>
                <a:latin typeface="微软雅黑" panose="020B0503020204020204" pitchFamily="34" charset="-122"/>
                <a:ea typeface="微软雅黑" panose="020B0503020204020204" pitchFamily="34" charset="-122"/>
              </a:rPr>
              <a:t>全屋智能而生</a:t>
            </a:r>
          </a:p>
        </p:txBody>
      </p:sp>
      <p:pic>
        <p:nvPicPr>
          <p:cNvPr id="20" name="图片 19"/>
          <p:cNvPicPr>
            <a:picLocks noChangeAspect="1"/>
          </p:cNvPicPr>
          <p:nvPr/>
        </p:nvPicPr>
        <p:blipFill>
          <a:blip r:embed="rId5"/>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27233498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6678623" cy="599491"/>
          </a:xfrm>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en-US" altLang="zh-CN" dirty="0" smtClean="0">
                <a:solidFill>
                  <a:srgbClr val="0078FF"/>
                </a:solidFill>
              </a:rPr>
              <a:t> </a:t>
            </a:r>
            <a:r>
              <a:rPr kumimoji="1" lang="zh-CN" altLang="en-US" dirty="0" smtClean="0">
                <a:solidFill>
                  <a:srgbClr val="0078FF"/>
                </a:solidFill>
              </a:rPr>
              <a:t>市场容量（智能照明领域）</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9" name="图片 8"/>
          <p:cNvPicPr>
            <a:picLocks noChangeAspect="1"/>
          </p:cNvPicPr>
          <p:nvPr/>
        </p:nvPicPr>
        <p:blipFill>
          <a:blip r:embed="rId3"/>
          <a:stretch>
            <a:fillRect/>
          </a:stretch>
        </p:blipFill>
        <p:spPr>
          <a:xfrm>
            <a:off x="10668000" y="363037"/>
            <a:ext cx="1524000" cy="658561"/>
          </a:xfrm>
          <a:prstGeom prst="rect">
            <a:avLst/>
          </a:prstGeom>
        </p:spPr>
      </p:pic>
      <p:pic>
        <p:nvPicPr>
          <p:cNvPr id="3" name="图片 2"/>
          <p:cNvPicPr>
            <a:picLocks noChangeAspect="1"/>
          </p:cNvPicPr>
          <p:nvPr/>
        </p:nvPicPr>
        <p:blipFill>
          <a:blip r:embed="rId4"/>
          <a:stretch>
            <a:fillRect/>
          </a:stretch>
        </p:blipFill>
        <p:spPr>
          <a:xfrm>
            <a:off x="850420" y="1540057"/>
            <a:ext cx="7212032" cy="4221328"/>
          </a:xfrm>
          <a:prstGeom prst="rect">
            <a:avLst/>
          </a:prstGeom>
        </p:spPr>
      </p:pic>
      <p:sp>
        <p:nvSpPr>
          <p:cNvPr id="5" name="矩形 4"/>
          <p:cNvSpPr/>
          <p:nvPr/>
        </p:nvSpPr>
        <p:spPr>
          <a:xfrm>
            <a:off x="1953275" y="5911577"/>
            <a:ext cx="5006322" cy="369332"/>
          </a:xfrm>
          <a:prstGeom prst="rect">
            <a:avLst/>
          </a:prstGeom>
        </p:spPr>
        <p:txBody>
          <a:bodyPr wrap="square">
            <a:spAutoFit/>
          </a:bodyPr>
          <a:lstStyle/>
          <a:p>
            <a:pPr algn="ctr"/>
            <a:r>
              <a:rPr lang="zh-CN" altLang="en-US" dirty="0" smtClean="0">
                <a:solidFill>
                  <a:srgbClr val="3864B2"/>
                </a:solidFill>
                <a:latin typeface="微软雅黑" panose="020B0503020204020204" pitchFamily="34" charset="-122"/>
                <a:ea typeface="微软雅黑" panose="020B0503020204020204" pitchFamily="34" charset="-122"/>
              </a:rPr>
              <a:t>（数据来源：中国</a:t>
            </a:r>
            <a:r>
              <a:rPr lang="zh-CN" altLang="en-US" dirty="0">
                <a:solidFill>
                  <a:srgbClr val="3864B2"/>
                </a:solidFill>
                <a:latin typeface="微软雅黑" panose="020B0503020204020204" pitchFamily="34" charset="-122"/>
                <a:ea typeface="微软雅黑" panose="020B0503020204020204" pitchFamily="34" charset="-122"/>
              </a:rPr>
              <a:t>照明电器协会）</a:t>
            </a:r>
          </a:p>
        </p:txBody>
      </p:sp>
      <p:sp>
        <p:nvSpPr>
          <p:cNvPr id="15" name="矩形 14"/>
          <p:cNvSpPr/>
          <p:nvPr/>
        </p:nvSpPr>
        <p:spPr>
          <a:xfrm>
            <a:off x="8424473" y="1579446"/>
            <a:ext cx="3505200" cy="1323439"/>
          </a:xfrm>
          <a:prstGeom prst="rect">
            <a:avLst/>
          </a:prstGeom>
        </p:spPr>
        <p:txBody>
          <a:bodyPr wrap="square">
            <a:spAutoFit/>
          </a:bodyPr>
          <a:lstStyle/>
          <a:p>
            <a:r>
              <a:rPr lang="zh-CN" altLang="en-US" sz="1600" b="1" dirty="0">
                <a:solidFill>
                  <a:srgbClr val="3864B2"/>
                </a:solidFill>
                <a:latin typeface="微软雅黑" panose="020B0503020204020204" pitchFamily="34" charset="-122"/>
                <a:ea typeface="微软雅黑" panose="020B0503020204020204" pitchFamily="34" charset="-122"/>
              </a:rPr>
              <a:t>第一阶段：节能灯照明</a:t>
            </a:r>
            <a:r>
              <a:rPr lang="en-US" altLang="zh-CN" sz="1600" b="1" dirty="0">
                <a:solidFill>
                  <a:srgbClr val="3864B2"/>
                </a:solidFill>
                <a:latin typeface="微软雅黑" panose="020B0503020204020204" pitchFamily="34" charset="-122"/>
                <a:ea typeface="微软雅黑" panose="020B0503020204020204" pitchFamily="34" charset="-122"/>
              </a:rPr>
              <a:t>-LED</a:t>
            </a:r>
            <a:r>
              <a:rPr lang="zh-CN" altLang="en-US" sz="1600" b="1" dirty="0">
                <a:solidFill>
                  <a:srgbClr val="3864B2"/>
                </a:solidFill>
                <a:latin typeface="微软雅黑" panose="020B0503020204020204" pitchFamily="34" charset="-122"/>
                <a:ea typeface="微软雅黑" panose="020B0503020204020204" pitchFamily="34" charset="-122"/>
              </a:rPr>
              <a:t>照明升级</a:t>
            </a:r>
          </a:p>
          <a:p>
            <a:endParaRPr lang="en-US" altLang="zh-CN"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solidFill>
                  <a:srgbClr val="276EE1"/>
                </a:solidFill>
                <a:latin typeface="微软雅黑" panose="020B0503020204020204" pitchFamily="34" charset="-122"/>
                <a:ea typeface="微软雅黑" panose="020B0503020204020204" pitchFamily="34" charset="-122"/>
              </a:rPr>
              <a:t>2000-2005</a:t>
            </a:r>
            <a:r>
              <a:rPr lang="zh-CN" altLang="en-US" sz="1600" dirty="0">
                <a:solidFill>
                  <a:srgbClr val="276EE1"/>
                </a:solidFill>
                <a:latin typeface="微软雅黑" panose="020B0503020204020204" pitchFamily="34" charset="-122"/>
                <a:ea typeface="微软雅黑" panose="020B0503020204020204" pitchFamily="34" charset="-122"/>
              </a:rPr>
              <a:t>年增长</a:t>
            </a:r>
            <a:r>
              <a:rPr lang="en-US" altLang="zh-CN" sz="1600" dirty="0">
                <a:solidFill>
                  <a:srgbClr val="276EE1"/>
                </a:solidFill>
                <a:latin typeface="微软雅黑" panose="020B0503020204020204" pitchFamily="34" charset="-122"/>
                <a:ea typeface="微软雅黑" panose="020B0503020204020204" pitchFamily="34" charset="-122"/>
              </a:rPr>
              <a:t>137.5%</a:t>
            </a:r>
          </a:p>
          <a:p>
            <a:pPr marL="285750" indent="-285750">
              <a:buFont typeface="Arial" panose="020B0604020202020204" pitchFamily="34" charset="0"/>
              <a:buChar char="•"/>
            </a:pPr>
            <a:r>
              <a:rPr lang="en-US" altLang="zh-CN" sz="1600" dirty="0">
                <a:solidFill>
                  <a:srgbClr val="276EE1"/>
                </a:solidFill>
                <a:latin typeface="微软雅黑" panose="020B0503020204020204" pitchFamily="34" charset="-122"/>
                <a:ea typeface="微软雅黑" panose="020B0503020204020204" pitchFamily="34" charset="-122"/>
              </a:rPr>
              <a:t>2005-2010</a:t>
            </a:r>
            <a:r>
              <a:rPr lang="zh-CN" altLang="en-US" sz="1600" dirty="0">
                <a:solidFill>
                  <a:srgbClr val="276EE1"/>
                </a:solidFill>
                <a:latin typeface="微软雅黑" panose="020B0503020204020204" pitchFamily="34" charset="-122"/>
                <a:ea typeface="微软雅黑" panose="020B0503020204020204" pitchFamily="34" charset="-122"/>
              </a:rPr>
              <a:t>年增长</a:t>
            </a:r>
            <a:r>
              <a:rPr lang="en-US" altLang="zh-CN" sz="1600" dirty="0">
                <a:solidFill>
                  <a:srgbClr val="276EE1"/>
                </a:solidFill>
                <a:latin typeface="微软雅黑" panose="020B0503020204020204" pitchFamily="34" charset="-122"/>
                <a:ea typeface="微软雅黑" panose="020B0503020204020204" pitchFamily="34" charset="-122"/>
              </a:rPr>
              <a:t>150.6%</a:t>
            </a:r>
          </a:p>
          <a:p>
            <a:pPr marL="285750" indent="-285750">
              <a:buFont typeface="Arial" panose="020B0604020202020204" pitchFamily="34" charset="0"/>
              <a:buChar char="•"/>
            </a:pPr>
            <a:r>
              <a:rPr lang="en-US" altLang="zh-CN" sz="1600" dirty="0">
                <a:solidFill>
                  <a:srgbClr val="276EE1"/>
                </a:solidFill>
                <a:latin typeface="微软雅黑" panose="020B0503020204020204" pitchFamily="34" charset="-122"/>
                <a:ea typeface="微软雅黑" panose="020B0503020204020204" pitchFamily="34" charset="-122"/>
              </a:rPr>
              <a:t>2010</a:t>
            </a:r>
            <a:r>
              <a:rPr lang="zh-CN" altLang="en-US" sz="1600" dirty="0">
                <a:solidFill>
                  <a:srgbClr val="276EE1"/>
                </a:solidFill>
                <a:latin typeface="微软雅黑" panose="020B0503020204020204" pitchFamily="34" charset="-122"/>
                <a:ea typeface="微软雅黑" panose="020B0503020204020204" pitchFamily="34" charset="-122"/>
              </a:rPr>
              <a:t>年</a:t>
            </a:r>
            <a:r>
              <a:rPr lang="en-US" altLang="zh-CN" sz="1600" dirty="0">
                <a:solidFill>
                  <a:srgbClr val="276EE1"/>
                </a:solidFill>
                <a:latin typeface="微软雅黑" panose="020B0503020204020204" pitchFamily="34" charset="-122"/>
                <a:ea typeface="微软雅黑" panose="020B0503020204020204" pitchFamily="34" charset="-122"/>
              </a:rPr>
              <a:t>-2015</a:t>
            </a:r>
            <a:r>
              <a:rPr lang="zh-CN" altLang="en-US" sz="1600" dirty="0">
                <a:solidFill>
                  <a:srgbClr val="276EE1"/>
                </a:solidFill>
                <a:latin typeface="微软雅黑" panose="020B0503020204020204" pitchFamily="34" charset="-122"/>
                <a:ea typeface="微软雅黑" panose="020B0503020204020204" pitchFamily="34" charset="-122"/>
              </a:rPr>
              <a:t>年增长</a:t>
            </a:r>
            <a:r>
              <a:rPr lang="en-US" altLang="zh-CN" sz="1600" dirty="0">
                <a:solidFill>
                  <a:srgbClr val="276EE1"/>
                </a:solidFill>
                <a:latin typeface="微软雅黑" panose="020B0503020204020204" pitchFamily="34" charset="-122"/>
                <a:ea typeface="微软雅黑" panose="020B0503020204020204" pitchFamily="34" charset="-122"/>
              </a:rPr>
              <a:t>80.7%</a:t>
            </a:r>
          </a:p>
        </p:txBody>
      </p:sp>
      <p:sp>
        <p:nvSpPr>
          <p:cNvPr id="19" name="矩形 18"/>
          <p:cNvSpPr/>
          <p:nvPr/>
        </p:nvSpPr>
        <p:spPr>
          <a:xfrm>
            <a:off x="8424473" y="3058699"/>
            <a:ext cx="3639708" cy="1569660"/>
          </a:xfrm>
          <a:prstGeom prst="rect">
            <a:avLst/>
          </a:prstGeom>
        </p:spPr>
        <p:txBody>
          <a:bodyPr wrap="square">
            <a:spAutoFit/>
          </a:bodyPr>
          <a:lstStyle/>
          <a:p>
            <a:r>
              <a:rPr lang="zh-CN" altLang="en-US" sz="1600" b="1" dirty="0">
                <a:solidFill>
                  <a:srgbClr val="4072C4"/>
                </a:solidFill>
                <a:latin typeface="微软雅黑" panose="020B0503020204020204" pitchFamily="34" charset="-122"/>
                <a:ea typeface="微软雅黑" panose="020B0503020204020204" pitchFamily="34" charset="-122"/>
              </a:rPr>
              <a:t>第二阶段：</a:t>
            </a:r>
            <a:r>
              <a:rPr lang="en-US" altLang="zh-CN" sz="1600" b="1" dirty="0">
                <a:solidFill>
                  <a:srgbClr val="4072C4"/>
                </a:solidFill>
                <a:latin typeface="微软雅黑" panose="020B0503020204020204" pitchFamily="34" charset="-122"/>
                <a:ea typeface="微软雅黑" panose="020B0503020204020204" pitchFamily="34" charset="-122"/>
              </a:rPr>
              <a:t>LED</a:t>
            </a:r>
            <a:r>
              <a:rPr lang="zh-CN" altLang="en-US" sz="1600" b="1" dirty="0">
                <a:solidFill>
                  <a:srgbClr val="4072C4"/>
                </a:solidFill>
                <a:latin typeface="微软雅黑" panose="020B0503020204020204" pitchFamily="34" charset="-122"/>
                <a:ea typeface="微软雅黑" panose="020B0503020204020204" pitchFamily="34" charset="-122"/>
              </a:rPr>
              <a:t>照明</a:t>
            </a:r>
            <a:r>
              <a:rPr lang="en-US" altLang="zh-CN" sz="1600" b="1" dirty="0">
                <a:solidFill>
                  <a:srgbClr val="4072C4"/>
                </a:solidFill>
                <a:latin typeface="微软雅黑" panose="020B0503020204020204" pitchFamily="34" charset="-122"/>
                <a:ea typeface="微软雅黑" panose="020B0503020204020204" pitchFamily="34" charset="-122"/>
              </a:rPr>
              <a:t>-</a:t>
            </a:r>
            <a:r>
              <a:rPr lang="zh-CN" altLang="en-US" sz="1600" b="1" dirty="0">
                <a:solidFill>
                  <a:srgbClr val="4072C4"/>
                </a:solidFill>
                <a:latin typeface="微软雅黑" panose="020B0503020204020204" pitchFamily="34" charset="-122"/>
                <a:ea typeface="微软雅黑" panose="020B0503020204020204" pitchFamily="34" charset="-122"/>
              </a:rPr>
              <a:t>智能照明升级</a:t>
            </a:r>
          </a:p>
          <a:p>
            <a:endParaRPr lang="en-US" altLang="zh-CN"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solidFill>
                  <a:srgbClr val="276EE1"/>
                </a:solidFill>
                <a:latin typeface="微软雅黑" panose="020B0503020204020204" pitchFamily="34" charset="-122"/>
                <a:ea typeface="微软雅黑" panose="020B0503020204020204" pitchFamily="34" charset="-122"/>
              </a:rPr>
              <a:t>2015-2020</a:t>
            </a:r>
            <a:r>
              <a:rPr lang="zh-CN" altLang="en-US" sz="1600" dirty="0">
                <a:solidFill>
                  <a:srgbClr val="276EE1"/>
                </a:solidFill>
                <a:latin typeface="微软雅黑" panose="020B0503020204020204" pitchFamily="34" charset="-122"/>
                <a:ea typeface="微软雅黑" panose="020B0503020204020204" pitchFamily="34" charset="-122"/>
              </a:rPr>
              <a:t>年增长</a:t>
            </a:r>
            <a:r>
              <a:rPr lang="en-US" altLang="zh-CN" sz="1600" dirty="0">
                <a:solidFill>
                  <a:srgbClr val="276EE1"/>
                </a:solidFill>
                <a:latin typeface="微软雅黑" panose="020B0503020204020204" pitchFamily="34" charset="-122"/>
                <a:ea typeface="微软雅黑" panose="020B0503020204020204" pitchFamily="34" charset="-122"/>
              </a:rPr>
              <a:t>11.1</a:t>
            </a:r>
            <a:r>
              <a:rPr lang="en-US" altLang="zh-CN" sz="1600" dirty="0" smtClean="0">
                <a:solidFill>
                  <a:srgbClr val="276EE1"/>
                </a:solidFill>
                <a:latin typeface="微软雅黑" panose="020B0503020204020204" pitchFamily="34" charset="-122"/>
                <a:ea typeface="微软雅黑" panose="020B0503020204020204" pitchFamily="34" charset="-122"/>
              </a:rPr>
              <a:t>%</a:t>
            </a:r>
            <a:r>
              <a:rPr lang="zh-CN" altLang="en-US" sz="1600" dirty="0" smtClean="0">
                <a:solidFill>
                  <a:srgbClr val="276EE1"/>
                </a:solidFill>
                <a:latin typeface="微软雅黑" panose="020B0503020204020204" pitchFamily="34" charset="-122"/>
                <a:ea typeface="微软雅黑" panose="020B0503020204020204" pitchFamily="34" charset="-122"/>
              </a:rPr>
              <a:t>（</a:t>
            </a:r>
            <a:r>
              <a:rPr lang="zh-CN" altLang="en-US" sz="1600" dirty="0">
                <a:solidFill>
                  <a:srgbClr val="276EE1"/>
                </a:solidFill>
                <a:latin typeface="微软雅黑" panose="020B0503020204020204" pitchFamily="34" charset="-122"/>
                <a:ea typeface="微软雅黑" panose="020B0503020204020204" pitchFamily="34" charset="-122"/>
              </a:rPr>
              <a:t>第一个五年，以单品为主）</a:t>
            </a:r>
          </a:p>
          <a:p>
            <a:pPr marL="285750" indent="-285750">
              <a:buFont typeface="Arial" panose="020B0604020202020204" pitchFamily="34" charset="0"/>
              <a:buChar char="•"/>
            </a:pPr>
            <a:r>
              <a:rPr lang="en-US" altLang="zh-CN" sz="1600" dirty="0">
                <a:solidFill>
                  <a:srgbClr val="276EE1"/>
                </a:solidFill>
                <a:latin typeface="微软雅黑" panose="020B0503020204020204" pitchFamily="34" charset="-122"/>
                <a:ea typeface="微软雅黑" panose="020B0503020204020204" pitchFamily="34" charset="-122"/>
              </a:rPr>
              <a:t>2020</a:t>
            </a:r>
            <a:r>
              <a:rPr lang="zh-CN" altLang="en-US" sz="1600" dirty="0">
                <a:solidFill>
                  <a:srgbClr val="276EE1"/>
                </a:solidFill>
                <a:latin typeface="微软雅黑" panose="020B0503020204020204" pitchFamily="34" charset="-122"/>
                <a:ea typeface="微软雅黑" panose="020B0503020204020204" pitchFamily="34" charset="-122"/>
              </a:rPr>
              <a:t>年</a:t>
            </a:r>
            <a:r>
              <a:rPr lang="en-US" altLang="zh-CN" sz="1600" dirty="0">
                <a:solidFill>
                  <a:srgbClr val="276EE1"/>
                </a:solidFill>
                <a:latin typeface="微软雅黑" panose="020B0503020204020204" pitchFamily="34" charset="-122"/>
                <a:ea typeface="微软雅黑" panose="020B0503020204020204" pitchFamily="34" charset="-122"/>
              </a:rPr>
              <a:t>-2025</a:t>
            </a:r>
            <a:r>
              <a:rPr lang="zh-CN" altLang="en-US" sz="1600" dirty="0">
                <a:solidFill>
                  <a:srgbClr val="276EE1"/>
                </a:solidFill>
                <a:latin typeface="微软雅黑" panose="020B0503020204020204" pitchFamily="34" charset="-122"/>
                <a:ea typeface="微软雅黑" panose="020B0503020204020204" pitchFamily="34" charset="-122"/>
              </a:rPr>
              <a:t>年预计增长</a:t>
            </a:r>
            <a:r>
              <a:rPr lang="en-US" altLang="zh-CN" sz="1600" dirty="0">
                <a:solidFill>
                  <a:srgbClr val="276EE1"/>
                </a:solidFill>
                <a:latin typeface="微软雅黑" panose="020B0503020204020204" pitchFamily="34" charset="-122"/>
                <a:ea typeface="微软雅黑" panose="020B0503020204020204" pitchFamily="34" charset="-122"/>
              </a:rPr>
              <a:t>30</a:t>
            </a:r>
            <a:r>
              <a:rPr lang="en-US" altLang="zh-CN" sz="1600" dirty="0" smtClean="0">
                <a:solidFill>
                  <a:srgbClr val="276EE1"/>
                </a:solidFill>
                <a:latin typeface="微软雅黑" panose="020B0503020204020204" pitchFamily="34" charset="-122"/>
                <a:ea typeface="微软雅黑" panose="020B0503020204020204" pitchFamily="34" charset="-122"/>
              </a:rPr>
              <a:t>%</a:t>
            </a:r>
            <a:r>
              <a:rPr lang="zh-CN" altLang="en-US" sz="1600" dirty="0" smtClean="0">
                <a:solidFill>
                  <a:srgbClr val="276EE1"/>
                </a:solidFill>
                <a:latin typeface="微软雅黑" panose="020B0503020204020204" pitchFamily="34" charset="-122"/>
                <a:ea typeface="微软雅黑" panose="020B0503020204020204" pitchFamily="34" charset="-122"/>
              </a:rPr>
              <a:t>（</a:t>
            </a:r>
            <a:r>
              <a:rPr lang="zh-CN" altLang="en-US" sz="1600" dirty="0">
                <a:solidFill>
                  <a:srgbClr val="276EE1"/>
                </a:solidFill>
                <a:latin typeface="微软雅黑" panose="020B0503020204020204" pitchFamily="34" charset="-122"/>
                <a:ea typeface="微软雅黑" panose="020B0503020204020204" pitchFamily="34" charset="-122"/>
              </a:rPr>
              <a:t>第二个五年，以互联系统为主）</a:t>
            </a:r>
          </a:p>
        </p:txBody>
      </p:sp>
      <p:sp>
        <p:nvSpPr>
          <p:cNvPr id="21" name="矩形 20"/>
          <p:cNvSpPr/>
          <p:nvPr/>
        </p:nvSpPr>
        <p:spPr>
          <a:xfrm>
            <a:off x="8424473" y="4784173"/>
            <a:ext cx="3505200" cy="1323439"/>
          </a:xfrm>
          <a:prstGeom prst="rect">
            <a:avLst/>
          </a:prstGeom>
        </p:spPr>
        <p:txBody>
          <a:bodyPr wrap="square">
            <a:spAutoFit/>
          </a:bodyPr>
          <a:lstStyle/>
          <a:p>
            <a:r>
              <a:rPr lang="zh-CN" altLang="en-US" sz="1600" dirty="0">
                <a:solidFill>
                  <a:srgbClr val="3864B2"/>
                </a:solidFill>
                <a:latin typeface="微软雅黑" panose="020B0503020204020204" pitchFamily="34" charset="-122"/>
                <a:ea typeface="微软雅黑" panose="020B0503020204020204" pitchFamily="34" charset="-122"/>
              </a:rPr>
              <a:t>智能照明成为行业风口</a:t>
            </a:r>
            <a:r>
              <a:rPr lang="zh-CN" altLang="en-US" sz="1600" dirty="0" smtClean="0">
                <a:solidFill>
                  <a:srgbClr val="3864B2"/>
                </a:solidFill>
                <a:latin typeface="微软雅黑" panose="020B0503020204020204" pitchFamily="34" charset="-122"/>
                <a:ea typeface="微软雅黑" panose="020B0503020204020204" pitchFamily="34" charset="-122"/>
              </a:rPr>
              <a:t>，跨</a:t>
            </a:r>
            <a:r>
              <a:rPr lang="zh-CN" altLang="en-US" sz="1600" dirty="0">
                <a:solidFill>
                  <a:srgbClr val="3864B2"/>
                </a:solidFill>
                <a:latin typeface="微软雅黑" panose="020B0503020204020204" pitchFamily="34" charset="-122"/>
                <a:ea typeface="微软雅黑" panose="020B0503020204020204" pitchFamily="34" charset="-122"/>
              </a:rPr>
              <a:t>界</a:t>
            </a:r>
            <a:r>
              <a:rPr lang="zh-CN" altLang="en-US" sz="1600" dirty="0" smtClean="0">
                <a:solidFill>
                  <a:srgbClr val="3864B2"/>
                </a:solidFill>
                <a:latin typeface="微软雅黑" panose="020B0503020204020204" pitchFamily="34" charset="-122"/>
                <a:ea typeface="微软雅黑" panose="020B0503020204020204" pitchFamily="34" charset="-122"/>
              </a:rPr>
              <a:t>巨头纷纷进入</a:t>
            </a:r>
            <a:r>
              <a:rPr lang="zh-CN" altLang="en-US" sz="1600" dirty="0">
                <a:solidFill>
                  <a:srgbClr val="3864B2"/>
                </a:solidFill>
                <a:latin typeface="微软雅黑" panose="020B0503020204020204" pitchFamily="34" charset="-122"/>
                <a:ea typeface="微软雅黑" panose="020B0503020204020204" pitchFamily="34" charset="-122"/>
              </a:rPr>
              <a:t>照明行业</a:t>
            </a:r>
            <a:r>
              <a:rPr lang="zh-CN" altLang="en-US" sz="1600" dirty="0" smtClean="0">
                <a:solidFill>
                  <a:srgbClr val="3864B2"/>
                </a:solidFill>
                <a:latin typeface="微软雅黑" panose="020B0503020204020204" pitchFamily="34" charset="-122"/>
                <a:ea typeface="微软雅黑" panose="020B0503020204020204" pitchFamily="34" charset="-122"/>
              </a:rPr>
              <a:t>，智能单品快速增长</a:t>
            </a:r>
            <a:endParaRPr lang="en-US" altLang="zh-CN" sz="1600" dirty="0" smtClean="0">
              <a:solidFill>
                <a:srgbClr val="3864B2"/>
              </a:solidFill>
              <a:latin typeface="微软雅黑" panose="020B0503020204020204" pitchFamily="34" charset="-122"/>
              <a:ea typeface="微软雅黑" panose="020B0503020204020204" pitchFamily="34" charset="-122"/>
            </a:endParaRPr>
          </a:p>
          <a:p>
            <a:endParaRPr lang="en-US" altLang="zh-CN" sz="1600" dirty="0" smtClean="0">
              <a:solidFill>
                <a:srgbClr val="3864B2"/>
              </a:solidFill>
              <a:latin typeface="微软雅黑" panose="020B0503020204020204" pitchFamily="34" charset="-122"/>
              <a:ea typeface="微软雅黑" panose="020B0503020204020204" pitchFamily="34" charset="-122"/>
            </a:endParaRPr>
          </a:p>
          <a:p>
            <a:r>
              <a:rPr lang="en-US" altLang="zh-CN" sz="1600" dirty="0" smtClean="0">
                <a:solidFill>
                  <a:srgbClr val="3864B2"/>
                </a:solidFill>
                <a:latin typeface="微软雅黑" panose="020B0503020204020204" pitchFamily="34" charset="-122"/>
                <a:ea typeface="微软雅黑" panose="020B0503020204020204" pitchFamily="34" charset="-122"/>
              </a:rPr>
              <a:t>2020-2025</a:t>
            </a:r>
            <a:r>
              <a:rPr lang="zh-CN" altLang="en-US" sz="1600" dirty="0">
                <a:solidFill>
                  <a:srgbClr val="3864B2"/>
                </a:solidFill>
                <a:latin typeface="微软雅黑" panose="020B0503020204020204" pitchFamily="34" charset="-122"/>
                <a:ea typeface="微软雅黑" panose="020B0503020204020204" pitchFamily="34" charset="-122"/>
              </a:rPr>
              <a:t>智能照明互联互通成为行业发展重要推动力</a:t>
            </a:r>
          </a:p>
        </p:txBody>
      </p:sp>
    </p:spTree>
    <p:extLst>
      <p:ext uri="{BB962C8B-B14F-4D97-AF65-F5344CB8AC3E}">
        <p14:creationId xmlns:p14="http://schemas.microsoft.com/office/powerpoint/2010/main" val="23721372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6678623" cy="599491"/>
          </a:xfrm>
        </p:spPr>
        <p:txBody>
          <a:bodyPr>
            <a:normAutofit/>
          </a:bodyPr>
          <a:lstStyle/>
          <a:p>
            <a:r>
              <a:rPr kumimoji="1" lang="en-US" altLang="zh-CN" dirty="0" smtClean="0">
                <a:solidFill>
                  <a:srgbClr val="0078FF"/>
                </a:solidFill>
              </a:rPr>
              <a:t>PLC-</a:t>
            </a:r>
            <a:r>
              <a:rPr kumimoji="1" lang="en-US" altLang="zh-CN" dirty="0" err="1" smtClean="0">
                <a:solidFill>
                  <a:srgbClr val="0078FF"/>
                </a:solidFill>
              </a:rPr>
              <a:t>IoT</a:t>
            </a:r>
            <a:r>
              <a:rPr kumimoji="1" lang="en-US" altLang="zh-CN" dirty="0" smtClean="0">
                <a:solidFill>
                  <a:srgbClr val="0078FF"/>
                </a:solidFill>
              </a:rPr>
              <a:t> </a:t>
            </a:r>
            <a:r>
              <a:rPr kumimoji="1" lang="zh-CN" altLang="en-US" dirty="0" smtClean="0">
                <a:solidFill>
                  <a:srgbClr val="0078FF"/>
                </a:solidFill>
              </a:rPr>
              <a:t>市场容量（全屋智能领域）</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9" name="图片 8"/>
          <p:cNvPicPr>
            <a:picLocks noChangeAspect="1"/>
          </p:cNvPicPr>
          <p:nvPr/>
        </p:nvPicPr>
        <p:blipFill>
          <a:blip r:embed="rId3"/>
          <a:stretch>
            <a:fillRect/>
          </a:stretch>
        </p:blipFill>
        <p:spPr>
          <a:xfrm>
            <a:off x="10668000" y="363037"/>
            <a:ext cx="1524000" cy="658561"/>
          </a:xfrm>
          <a:prstGeom prst="rect">
            <a:avLst/>
          </a:prstGeom>
        </p:spPr>
      </p:pic>
      <p:sp>
        <p:nvSpPr>
          <p:cNvPr id="22" name="矩形 21">
            <a:extLst>
              <a:ext uri="{FF2B5EF4-FFF2-40B4-BE49-F238E27FC236}">
                <a16:creationId xmlns:a16="http://schemas.microsoft.com/office/drawing/2014/main" id="{4A5B2D10-9421-4E79-9583-77F88A54E5D7}"/>
              </a:ext>
            </a:extLst>
          </p:cNvPr>
          <p:cNvSpPr/>
          <p:nvPr/>
        </p:nvSpPr>
        <p:spPr>
          <a:xfrm>
            <a:off x="9785590" y="6090084"/>
            <a:ext cx="1570668" cy="334707"/>
          </a:xfrm>
          <a:prstGeom prst="rect">
            <a:avLst/>
          </a:prstGeom>
        </p:spPr>
        <p:txBody>
          <a:bodyPr wrap="square">
            <a:spAutoFit/>
          </a:bodyPr>
          <a:lstStyle/>
          <a:p>
            <a:pPr defTabSz="812101">
              <a:lnSpc>
                <a:spcPct val="150000"/>
              </a:lnSpc>
            </a:pPr>
            <a:r>
              <a:rPr lang="zh-CN" altLang="en-US" sz="1050" dirty="0">
                <a:solidFill>
                  <a:srgbClr val="3864B2"/>
                </a:solidFill>
                <a:latin typeface="微软雅黑" panose="020B0503020204020204" pitchFamily="34" charset="-122"/>
                <a:ea typeface="微软雅黑" panose="020B0503020204020204" pitchFamily="34" charset="-122"/>
              </a:rPr>
              <a:t>数据来源：奥维云网</a:t>
            </a:r>
            <a:endParaRPr lang="zh-CN" altLang="en-US" sz="1050" i="1" dirty="0">
              <a:solidFill>
                <a:srgbClr val="3864B2"/>
              </a:solidFill>
              <a:latin typeface="微软雅黑" pitchFamily="34" charset="-122"/>
              <a:ea typeface="微软雅黑" pitchFamily="34" charset="-122"/>
            </a:endParaRPr>
          </a:p>
        </p:txBody>
      </p:sp>
      <p:cxnSp>
        <p:nvCxnSpPr>
          <p:cNvPr id="23" name="直接连接符 22"/>
          <p:cNvCxnSpPr/>
          <p:nvPr/>
        </p:nvCxnSpPr>
        <p:spPr bwMode="auto">
          <a:xfrm>
            <a:off x="872259" y="4941278"/>
            <a:ext cx="10569805" cy="0"/>
          </a:xfrm>
          <a:prstGeom prst="line">
            <a:avLst/>
          </a:prstGeom>
          <a:blipFill dpi="0" rotWithShape="0">
            <a:blip r:embed="rId4"/>
            <a:srcRect/>
            <a:tile tx="0" ty="0" sx="100000" sy="100000" flip="none" algn="tl"/>
          </a:blipFill>
          <a:ln w="3175" cap="flat" cmpd="sng" algn="ctr">
            <a:solidFill>
              <a:sysClr val="window" lastClr="FFFFFF">
                <a:lumMod val="65000"/>
              </a:sysClr>
            </a:solidFill>
            <a:prstDash val="solid"/>
            <a:miter lim="0"/>
            <a:headEnd type="none" w="med" len="med"/>
            <a:tailEnd type="none" w="med" len="med"/>
          </a:ln>
          <a:effectLst>
            <a:outerShdw blurRad="25400" dist="12700" dir="5400000" algn="ctr" rotWithShape="0">
              <a:srgbClr val="000000">
                <a:alpha val="50000"/>
              </a:srgbClr>
            </a:outerShdw>
          </a:effectLst>
        </p:spPr>
      </p:cxnSp>
      <p:sp>
        <p:nvSpPr>
          <p:cNvPr id="24" name="矩形 23">
            <a:extLst>
              <a:ext uri="{FF2B5EF4-FFF2-40B4-BE49-F238E27FC236}">
                <a16:creationId xmlns:a16="http://schemas.microsoft.com/office/drawing/2014/main" id="{4A5B2D10-9421-4E79-9583-77F88A54E5D7}"/>
              </a:ext>
            </a:extLst>
          </p:cNvPr>
          <p:cNvSpPr/>
          <p:nvPr/>
        </p:nvSpPr>
        <p:spPr>
          <a:xfrm>
            <a:off x="9421813" y="5482822"/>
            <a:ext cx="1934445" cy="373757"/>
          </a:xfrm>
          <a:prstGeom prst="rect">
            <a:avLst/>
          </a:prstGeom>
        </p:spPr>
        <p:txBody>
          <a:bodyPr wrap="square">
            <a:spAutoFit/>
          </a:bodyPr>
          <a:lstStyle/>
          <a:p>
            <a:pPr defTabSz="812101">
              <a:lnSpc>
                <a:spcPct val="150000"/>
              </a:lnSpc>
            </a:pPr>
            <a:r>
              <a:rPr lang="en-US" altLang="zh-CN" sz="1219" b="1" dirty="0">
                <a:solidFill>
                  <a:srgbClr val="3864B2"/>
                </a:solidFill>
                <a:latin typeface="微软雅黑" pitchFamily="34" charset="-122"/>
                <a:ea typeface="微软雅黑" pitchFamily="34" charset="-122"/>
              </a:rPr>
              <a:t>xx%</a:t>
            </a:r>
            <a:r>
              <a:rPr lang="en-US" altLang="zh-CN" sz="948" b="1" dirty="0">
                <a:solidFill>
                  <a:srgbClr val="3864B2"/>
                </a:solidFill>
                <a:latin typeface="微软雅黑" pitchFamily="34" charset="-122"/>
                <a:ea typeface="微软雅黑" pitchFamily="34" charset="-122"/>
              </a:rPr>
              <a:t>  </a:t>
            </a:r>
            <a:r>
              <a:rPr lang="zh-CN" altLang="en-US" sz="948" b="1" dirty="0">
                <a:solidFill>
                  <a:srgbClr val="3864B2"/>
                </a:solidFill>
                <a:latin typeface="微软雅黑" pitchFamily="34" charset="-122"/>
                <a:ea typeface="微软雅黑" pitchFamily="34" charset="-122"/>
              </a:rPr>
              <a:t>智能家居系统渗透率 </a:t>
            </a:r>
          </a:p>
        </p:txBody>
      </p:sp>
      <p:sp>
        <p:nvSpPr>
          <p:cNvPr id="25" name="矩形 24">
            <a:extLst>
              <a:ext uri="{FF2B5EF4-FFF2-40B4-BE49-F238E27FC236}">
                <a16:creationId xmlns:a16="http://schemas.microsoft.com/office/drawing/2014/main" id="{4A5B2D10-9421-4E79-9583-77F88A54E5D7}"/>
              </a:ext>
            </a:extLst>
          </p:cNvPr>
          <p:cNvSpPr/>
          <p:nvPr/>
        </p:nvSpPr>
        <p:spPr>
          <a:xfrm>
            <a:off x="6471936" y="6132686"/>
            <a:ext cx="3078197" cy="285399"/>
          </a:xfrm>
          <a:prstGeom prst="rect">
            <a:avLst/>
          </a:prstGeom>
        </p:spPr>
        <p:txBody>
          <a:bodyPr wrap="square">
            <a:spAutoFit/>
          </a:bodyPr>
          <a:lstStyle/>
          <a:p>
            <a:pPr defTabSz="812101">
              <a:lnSpc>
                <a:spcPct val="150000"/>
              </a:lnSpc>
            </a:pPr>
            <a:r>
              <a:rPr lang="zh-CN" altLang="en-US" sz="948" dirty="0">
                <a:solidFill>
                  <a:srgbClr val="3864B2"/>
                </a:solidFill>
                <a:latin typeface="微软雅黑" panose="020B0503020204020204" pitchFamily="34" charset="-122"/>
                <a:ea typeface="微软雅黑" panose="020B0503020204020204" pitchFamily="34" charset="-122"/>
              </a:rPr>
              <a:t>注：地产当年签约销售的一般是</a:t>
            </a:r>
            <a:r>
              <a:rPr lang="en-US" altLang="zh-CN" sz="948" dirty="0">
                <a:solidFill>
                  <a:srgbClr val="3864B2"/>
                </a:solidFill>
                <a:latin typeface="微软雅黑" panose="020B0503020204020204" pitchFamily="34" charset="-122"/>
                <a:ea typeface="微软雅黑" panose="020B0503020204020204" pitchFamily="34" charset="-122"/>
              </a:rPr>
              <a:t>2</a:t>
            </a:r>
            <a:r>
              <a:rPr lang="zh-CN" altLang="en-US" sz="948" dirty="0">
                <a:solidFill>
                  <a:srgbClr val="3864B2"/>
                </a:solidFill>
                <a:latin typeface="微软雅黑" panose="020B0503020204020204" pitchFamily="34" charset="-122"/>
                <a:ea typeface="微软雅黑" panose="020B0503020204020204" pitchFamily="34" charset="-122"/>
              </a:rPr>
              <a:t>年后交付的楼盘项目</a:t>
            </a:r>
            <a:endParaRPr lang="zh-CN" altLang="en-US" sz="948" i="1" dirty="0">
              <a:solidFill>
                <a:srgbClr val="3864B2"/>
              </a:solidFill>
              <a:latin typeface="微软雅黑" pitchFamily="34" charset="-122"/>
              <a:ea typeface="微软雅黑" pitchFamily="34" charset="-122"/>
            </a:endParaRPr>
          </a:p>
        </p:txBody>
      </p:sp>
      <p:sp>
        <p:nvSpPr>
          <p:cNvPr id="28" name="文本框 27"/>
          <p:cNvSpPr txBox="1"/>
          <p:nvPr/>
        </p:nvSpPr>
        <p:spPr>
          <a:xfrm>
            <a:off x="817609" y="1356454"/>
            <a:ext cx="671979" cy="384080"/>
          </a:xfrm>
          <a:prstGeom prst="rect">
            <a:avLst/>
          </a:prstGeom>
          <a:noFill/>
        </p:spPr>
        <p:txBody>
          <a:bodyPr wrap="none" rtlCol="0">
            <a:spAutoFit/>
          </a:bodyPr>
          <a:lstStyle/>
          <a:p>
            <a:pPr defTabSz="812496"/>
            <a:r>
              <a:rPr lang="zh-CN" altLang="en-US" sz="1896" b="1" dirty="0">
                <a:solidFill>
                  <a:srgbClr val="3864B2"/>
                </a:solidFill>
                <a:latin typeface="微软雅黑" panose="020B0503020204020204" pitchFamily="34" charset="-122"/>
                <a:ea typeface="微软雅黑" panose="020B0503020204020204" pitchFamily="34" charset="-122"/>
              </a:rPr>
              <a:t>家装</a:t>
            </a:r>
            <a:endParaRPr lang="zh-CN" altLang="en-US" sz="1084" b="1" dirty="0">
              <a:solidFill>
                <a:srgbClr val="3864B2"/>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231428" y="1764156"/>
            <a:ext cx="3836919" cy="342401"/>
          </a:xfrm>
          <a:prstGeom prst="rect">
            <a:avLst/>
          </a:prstGeom>
          <a:noFill/>
        </p:spPr>
        <p:txBody>
          <a:bodyPr wrap="square" rtlCol="0">
            <a:spAutoFit/>
          </a:bodyPr>
          <a:lstStyle/>
          <a:p>
            <a:pPr defTabSz="812496"/>
            <a:r>
              <a:rPr lang="en-US" altLang="zh-CN" sz="1625" dirty="0">
                <a:solidFill>
                  <a:srgbClr val="3864B2"/>
                </a:solidFill>
                <a:latin typeface="微软雅黑" panose="020B0503020204020204" pitchFamily="34" charset="-122"/>
                <a:ea typeface="微软雅黑" panose="020B0503020204020204" pitchFamily="34" charset="-122"/>
              </a:rPr>
              <a:t>2021</a:t>
            </a:r>
            <a:r>
              <a:rPr lang="zh-CN" altLang="en-US" sz="1625" dirty="0">
                <a:solidFill>
                  <a:srgbClr val="3864B2"/>
                </a:solidFill>
                <a:latin typeface="微软雅黑" panose="020B0503020204020204" pitchFamily="34" charset="-122"/>
                <a:ea typeface="微软雅黑" panose="020B0503020204020204" pitchFamily="34" charset="-122"/>
              </a:rPr>
              <a:t>年全屋智能家装房套数：</a:t>
            </a:r>
            <a:r>
              <a:rPr lang="en-US" altLang="zh-CN" sz="1625" b="1" dirty="0">
                <a:solidFill>
                  <a:srgbClr val="3864B2"/>
                </a:solidFill>
                <a:latin typeface="微软雅黑" panose="020B0503020204020204" pitchFamily="34" charset="-122"/>
                <a:ea typeface="微软雅黑" panose="020B0503020204020204" pitchFamily="34" charset="-122"/>
              </a:rPr>
              <a:t>350</a:t>
            </a:r>
            <a:r>
              <a:rPr lang="zh-CN" altLang="en-US" sz="1625" b="1" dirty="0">
                <a:solidFill>
                  <a:srgbClr val="3864B2"/>
                </a:solidFill>
                <a:latin typeface="微软雅黑" panose="020B0503020204020204" pitchFamily="34" charset="-122"/>
                <a:ea typeface="微软雅黑" panose="020B0503020204020204" pitchFamily="34" charset="-122"/>
              </a:rPr>
              <a:t>万套</a:t>
            </a:r>
            <a:endParaRPr lang="en-US" altLang="zh-CN" sz="1084" b="1" dirty="0">
              <a:solidFill>
                <a:srgbClr val="3864B2"/>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386843" y="1359389"/>
            <a:ext cx="671979" cy="384080"/>
          </a:xfrm>
          <a:prstGeom prst="rect">
            <a:avLst/>
          </a:prstGeom>
          <a:noFill/>
        </p:spPr>
        <p:txBody>
          <a:bodyPr wrap="none" rtlCol="0">
            <a:spAutoFit/>
          </a:bodyPr>
          <a:lstStyle/>
          <a:p>
            <a:pPr defTabSz="812496"/>
            <a:r>
              <a:rPr lang="zh-CN" altLang="en-US" sz="1896" b="1" dirty="0">
                <a:solidFill>
                  <a:srgbClr val="3864B2"/>
                </a:solidFill>
                <a:latin typeface="微软雅黑" panose="020B0503020204020204" pitchFamily="34" charset="-122"/>
                <a:ea typeface="微软雅黑" panose="020B0503020204020204" pitchFamily="34" charset="-122"/>
              </a:rPr>
              <a:t>地产</a:t>
            </a:r>
            <a:endParaRPr lang="zh-CN" altLang="en-US" sz="1084" b="1" dirty="0">
              <a:solidFill>
                <a:srgbClr val="3864B2"/>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6574152" y="1767611"/>
            <a:ext cx="4679487" cy="342401"/>
          </a:xfrm>
          <a:prstGeom prst="rect">
            <a:avLst/>
          </a:prstGeom>
          <a:noFill/>
        </p:spPr>
        <p:txBody>
          <a:bodyPr wrap="none" rtlCol="0">
            <a:spAutoFit/>
          </a:bodyPr>
          <a:lstStyle/>
          <a:p>
            <a:pPr defTabSz="812496"/>
            <a:r>
              <a:rPr lang="en-US" altLang="zh-CN" sz="1625" dirty="0">
                <a:solidFill>
                  <a:srgbClr val="3864B2"/>
                </a:solidFill>
                <a:latin typeface="微软雅黑" panose="020B0503020204020204" pitchFamily="34" charset="-122"/>
                <a:ea typeface="微软雅黑" panose="020B0503020204020204" pitchFamily="34" charset="-122"/>
              </a:rPr>
              <a:t>2021</a:t>
            </a:r>
            <a:r>
              <a:rPr lang="zh-CN" altLang="en-US" sz="1625" dirty="0">
                <a:solidFill>
                  <a:srgbClr val="3864B2"/>
                </a:solidFill>
                <a:latin typeface="微软雅黑" panose="020B0503020204020204" pitchFamily="34" charset="-122"/>
                <a:ea typeface="微软雅黑" panose="020B0503020204020204" pitchFamily="34" charset="-122"/>
              </a:rPr>
              <a:t>年配套智能家居的精装房交付套数：</a:t>
            </a:r>
            <a:r>
              <a:rPr lang="en-US" altLang="zh-CN" sz="1625" b="1" dirty="0">
                <a:solidFill>
                  <a:srgbClr val="3864B2"/>
                </a:solidFill>
                <a:latin typeface="微软雅黑" panose="020B0503020204020204" pitchFamily="34" charset="-122"/>
                <a:ea typeface="微软雅黑" panose="020B0503020204020204" pitchFamily="34" charset="-122"/>
              </a:rPr>
              <a:t>40</a:t>
            </a:r>
            <a:r>
              <a:rPr lang="zh-CN" altLang="en-US" sz="1625" b="1" dirty="0">
                <a:solidFill>
                  <a:srgbClr val="3864B2"/>
                </a:solidFill>
                <a:latin typeface="微软雅黑" panose="020B0503020204020204" pitchFamily="34" charset="-122"/>
                <a:ea typeface="微软雅黑" panose="020B0503020204020204" pitchFamily="34" charset="-122"/>
              </a:rPr>
              <a:t>万套</a:t>
            </a:r>
            <a:endParaRPr lang="en-US" altLang="zh-CN" sz="1625" b="1" dirty="0">
              <a:solidFill>
                <a:srgbClr val="3864B2"/>
              </a:solidFill>
              <a:latin typeface="微软雅黑" panose="020B0503020204020204" pitchFamily="34" charset="-122"/>
              <a:ea typeface="微软雅黑" panose="020B0503020204020204" pitchFamily="34" charset="-122"/>
            </a:endParaRPr>
          </a:p>
        </p:txBody>
      </p:sp>
      <p:sp>
        <p:nvSpPr>
          <p:cNvPr id="32" name="矩形 31"/>
          <p:cNvSpPr/>
          <p:nvPr/>
        </p:nvSpPr>
        <p:spPr>
          <a:xfrm>
            <a:off x="1144483" y="5996951"/>
            <a:ext cx="4675358" cy="334707"/>
          </a:xfrm>
          <a:prstGeom prst="rect">
            <a:avLst/>
          </a:prstGeom>
        </p:spPr>
        <p:txBody>
          <a:bodyPr wrap="square">
            <a:spAutoFit/>
          </a:bodyPr>
          <a:lstStyle/>
          <a:p>
            <a:pPr defTabSz="812101">
              <a:lnSpc>
                <a:spcPct val="150000"/>
              </a:lnSpc>
            </a:pPr>
            <a:r>
              <a:rPr lang="zh-CN" altLang="en-US" sz="1050" dirty="0">
                <a:solidFill>
                  <a:srgbClr val="3864B2"/>
                </a:solidFill>
                <a:latin typeface="微软雅黑" pitchFamily="34" charset="-122"/>
                <a:ea typeface="微软雅黑" pitchFamily="34" charset="-122"/>
              </a:rPr>
              <a:t>数据来源：</a:t>
            </a:r>
            <a:r>
              <a:rPr lang="en-US" altLang="zh-CN" sz="1050" dirty="0">
                <a:solidFill>
                  <a:srgbClr val="3864B2"/>
                </a:solidFill>
                <a:latin typeface="微软雅黑" panose="020B0503020204020204" pitchFamily="34" charset="-122"/>
                <a:ea typeface="微软雅黑" panose="020B0503020204020204" pitchFamily="34" charset="-122"/>
              </a:rPr>
              <a:t>《</a:t>
            </a:r>
            <a:r>
              <a:rPr lang="zh-CN" altLang="en-US" sz="1050" dirty="0">
                <a:solidFill>
                  <a:srgbClr val="3864B2"/>
                </a:solidFill>
                <a:latin typeface="微软雅黑" panose="020B0503020204020204" pitchFamily="34" charset="-122"/>
                <a:ea typeface="微软雅黑" panose="020B0503020204020204" pitchFamily="34" charset="-122"/>
              </a:rPr>
              <a:t>中国家装行业发展蓝皮书</a:t>
            </a:r>
            <a:r>
              <a:rPr lang="en-US" altLang="zh-CN" sz="1050" dirty="0" smtClean="0">
                <a:solidFill>
                  <a:srgbClr val="3864B2"/>
                </a:solidFill>
                <a:latin typeface="微软雅黑" panose="020B0503020204020204" pitchFamily="34" charset="-122"/>
                <a:ea typeface="微软雅黑" panose="020B0503020204020204" pitchFamily="34" charset="-122"/>
              </a:rPr>
              <a:t>》</a:t>
            </a:r>
            <a:r>
              <a:rPr lang="zh-CN" altLang="en-US" sz="1050" i="1" dirty="0" smtClean="0">
                <a:solidFill>
                  <a:srgbClr val="3864B2"/>
                </a:solidFill>
                <a:latin typeface="微软雅黑" pitchFamily="34" charset="-122"/>
                <a:ea typeface="微软雅黑" pitchFamily="34" charset="-122"/>
              </a:rPr>
              <a:t>  </a:t>
            </a:r>
            <a:r>
              <a:rPr lang="zh-CN" altLang="en-US" sz="1050" i="1" dirty="0">
                <a:solidFill>
                  <a:srgbClr val="3864B2"/>
                </a:solidFill>
                <a:latin typeface="微软雅黑" pitchFamily="34" charset="-122"/>
                <a:ea typeface="微软雅黑" pitchFamily="34" charset="-122"/>
              </a:rPr>
              <a:t>（全国工商联家具装饰业商会）</a:t>
            </a:r>
          </a:p>
        </p:txBody>
      </p:sp>
      <p:cxnSp>
        <p:nvCxnSpPr>
          <p:cNvPr id="33" name="直接连接符 32"/>
          <p:cNvCxnSpPr/>
          <p:nvPr/>
        </p:nvCxnSpPr>
        <p:spPr bwMode="auto">
          <a:xfrm>
            <a:off x="6160047" y="1471339"/>
            <a:ext cx="0" cy="4823689"/>
          </a:xfrm>
          <a:prstGeom prst="line">
            <a:avLst/>
          </a:prstGeom>
          <a:blipFill dpi="0" rotWithShape="0">
            <a:blip r:embed="rId4"/>
            <a:srcRect/>
            <a:tile tx="0" ty="0" sx="100000" sy="100000" flip="none" algn="tl"/>
          </a:blipFill>
          <a:ln w="12700" cap="flat" cmpd="sng" algn="ctr">
            <a:solidFill>
              <a:sysClr val="window" lastClr="FFFFFF"/>
            </a:solidFill>
            <a:prstDash val="lgDash"/>
            <a:miter lim="0"/>
            <a:headEnd type="none" w="med" len="med"/>
            <a:tailEnd type="none" w="med" len="med"/>
          </a:ln>
          <a:effectLst>
            <a:outerShdw blurRad="25400" dist="12700" dir="5400000" algn="ctr" rotWithShape="0">
              <a:srgbClr val="000000">
                <a:alpha val="50000"/>
              </a:srgbClr>
            </a:outerShdw>
          </a:effectLst>
        </p:spPr>
      </p:cxnSp>
      <p:sp>
        <p:nvSpPr>
          <p:cNvPr id="58" name="矩形 57">
            <a:extLst>
              <a:ext uri="{FF2B5EF4-FFF2-40B4-BE49-F238E27FC236}">
                <a16:creationId xmlns:a16="http://schemas.microsoft.com/office/drawing/2014/main" id="{C3A52DED-6C30-4B7B-B9EE-40389B5F3340}"/>
              </a:ext>
            </a:extLst>
          </p:cNvPr>
          <p:cNvSpPr/>
          <p:nvPr/>
        </p:nvSpPr>
        <p:spPr bwMode="auto">
          <a:xfrm>
            <a:off x="6526048" y="5575125"/>
            <a:ext cx="287795" cy="209409"/>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71">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59" name="矩形 58">
            <a:extLst>
              <a:ext uri="{FF2B5EF4-FFF2-40B4-BE49-F238E27FC236}">
                <a16:creationId xmlns:a16="http://schemas.microsoft.com/office/drawing/2014/main" id="{4A5B2D10-9421-4E79-9583-77F88A54E5D7}"/>
              </a:ext>
            </a:extLst>
          </p:cNvPr>
          <p:cNvSpPr/>
          <p:nvPr/>
        </p:nvSpPr>
        <p:spPr>
          <a:xfrm>
            <a:off x="6777265" y="5535422"/>
            <a:ext cx="1196335" cy="311175"/>
          </a:xfrm>
          <a:prstGeom prst="rect">
            <a:avLst/>
          </a:prstGeom>
        </p:spPr>
        <p:txBody>
          <a:bodyPr wrap="square">
            <a:spAutoFit/>
          </a:bodyPr>
          <a:lstStyle/>
          <a:p>
            <a:pPr defTabSz="812101">
              <a:lnSpc>
                <a:spcPct val="150000"/>
              </a:lnSpc>
            </a:pPr>
            <a:r>
              <a:rPr lang="zh-CN" altLang="en-US" sz="948" b="1" dirty="0">
                <a:solidFill>
                  <a:srgbClr val="3864B2"/>
                </a:solidFill>
                <a:latin typeface="微软雅黑" pitchFamily="34" charset="-122"/>
                <a:ea typeface="微软雅黑" pitchFamily="34" charset="-122"/>
              </a:rPr>
              <a:t>精装交</a:t>
            </a:r>
            <a:r>
              <a:rPr lang="zh-CN" altLang="en-US" sz="948" b="1" dirty="0" smtClean="0">
                <a:solidFill>
                  <a:srgbClr val="3864B2"/>
                </a:solidFill>
                <a:latin typeface="微软雅黑" pitchFamily="34" charset="-122"/>
                <a:ea typeface="微软雅黑" pitchFamily="34" charset="-122"/>
              </a:rPr>
              <a:t>房</a:t>
            </a:r>
            <a:endParaRPr lang="zh-CN" altLang="en-US" sz="948" b="1" dirty="0">
              <a:solidFill>
                <a:srgbClr val="3864B2"/>
              </a:solidFill>
              <a:latin typeface="微软雅黑" pitchFamily="34" charset="-122"/>
              <a:ea typeface="微软雅黑" pitchFamily="34" charset="-122"/>
            </a:endParaRPr>
          </a:p>
        </p:txBody>
      </p:sp>
      <p:sp>
        <p:nvSpPr>
          <p:cNvPr id="60" name="矩形 59">
            <a:extLst>
              <a:ext uri="{FF2B5EF4-FFF2-40B4-BE49-F238E27FC236}">
                <a16:creationId xmlns:a16="http://schemas.microsoft.com/office/drawing/2014/main" id="{C3A52DED-6C30-4B7B-B9EE-40389B5F3340}"/>
              </a:ext>
            </a:extLst>
          </p:cNvPr>
          <p:cNvSpPr/>
          <p:nvPr/>
        </p:nvSpPr>
        <p:spPr bwMode="auto">
          <a:xfrm>
            <a:off x="7640353" y="5567469"/>
            <a:ext cx="287795" cy="209409"/>
          </a:xfrm>
          <a:prstGeom prst="rect">
            <a:avLst/>
          </a:prstGeom>
          <a:solidFill>
            <a:srgbClr val="BDD7EE"/>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71">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61" name="矩形 60">
            <a:extLst>
              <a:ext uri="{FF2B5EF4-FFF2-40B4-BE49-F238E27FC236}">
                <a16:creationId xmlns:a16="http://schemas.microsoft.com/office/drawing/2014/main" id="{4A5B2D10-9421-4E79-9583-77F88A54E5D7}"/>
              </a:ext>
            </a:extLst>
          </p:cNvPr>
          <p:cNvSpPr/>
          <p:nvPr/>
        </p:nvSpPr>
        <p:spPr>
          <a:xfrm>
            <a:off x="7909684" y="5535422"/>
            <a:ext cx="1618667" cy="311175"/>
          </a:xfrm>
          <a:prstGeom prst="rect">
            <a:avLst/>
          </a:prstGeom>
        </p:spPr>
        <p:txBody>
          <a:bodyPr wrap="square">
            <a:spAutoFit/>
          </a:bodyPr>
          <a:lstStyle/>
          <a:p>
            <a:pPr defTabSz="812101">
              <a:lnSpc>
                <a:spcPct val="150000"/>
              </a:lnSpc>
            </a:pPr>
            <a:r>
              <a:rPr lang="zh-CN" altLang="en-US" sz="948" b="1" dirty="0" smtClean="0">
                <a:solidFill>
                  <a:srgbClr val="3864B2"/>
                </a:solidFill>
                <a:latin typeface="微软雅黑" pitchFamily="34" charset="-122"/>
                <a:ea typeface="微软雅黑" pitchFamily="34" charset="-122"/>
              </a:rPr>
              <a:t>配置智能</a:t>
            </a:r>
            <a:r>
              <a:rPr lang="zh-CN" altLang="en-US" sz="948" b="1" dirty="0">
                <a:solidFill>
                  <a:srgbClr val="3864B2"/>
                </a:solidFill>
                <a:latin typeface="微软雅黑" pitchFamily="34" charset="-122"/>
                <a:ea typeface="微软雅黑" pitchFamily="34" charset="-122"/>
              </a:rPr>
              <a:t>家居</a:t>
            </a:r>
            <a:r>
              <a:rPr lang="zh-CN" altLang="en-US" sz="948" b="1" dirty="0" smtClean="0">
                <a:solidFill>
                  <a:srgbClr val="3864B2"/>
                </a:solidFill>
                <a:latin typeface="微软雅黑" pitchFamily="34" charset="-122"/>
                <a:ea typeface="微软雅黑" pitchFamily="34" charset="-122"/>
              </a:rPr>
              <a:t>系统</a:t>
            </a:r>
            <a:endParaRPr lang="zh-CN" altLang="en-US" sz="948" b="1" dirty="0">
              <a:solidFill>
                <a:srgbClr val="3864B2"/>
              </a:solidFill>
              <a:latin typeface="微软雅黑" pitchFamily="34" charset="-122"/>
              <a:ea typeface="微软雅黑" pitchFamily="34" charset="-122"/>
            </a:endParaRPr>
          </a:p>
        </p:txBody>
      </p:sp>
      <p:sp>
        <p:nvSpPr>
          <p:cNvPr id="75" name="矩形 74">
            <a:extLst>
              <a:ext uri="{FF2B5EF4-FFF2-40B4-BE49-F238E27FC236}">
                <a16:creationId xmlns:a16="http://schemas.microsoft.com/office/drawing/2014/main" id="{C3A52DED-6C30-4B7B-B9EE-40389B5F3340}"/>
              </a:ext>
            </a:extLst>
          </p:cNvPr>
          <p:cNvSpPr/>
          <p:nvPr/>
        </p:nvSpPr>
        <p:spPr bwMode="auto">
          <a:xfrm>
            <a:off x="904072" y="5511850"/>
            <a:ext cx="287795" cy="209409"/>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5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76" name="矩形 75">
            <a:extLst>
              <a:ext uri="{FF2B5EF4-FFF2-40B4-BE49-F238E27FC236}">
                <a16:creationId xmlns:a16="http://schemas.microsoft.com/office/drawing/2014/main" id="{4A5B2D10-9421-4E79-9583-77F88A54E5D7}"/>
              </a:ext>
            </a:extLst>
          </p:cNvPr>
          <p:cNvSpPr/>
          <p:nvPr/>
        </p:nvSpPr>
        <p:spPr>
          <a:xfrm>
            <a:off x="1137874" y="5443065"/>
            <a:ext cx="1196335" cy="306174"/>
          </a:xfrm>
          <a:prstGeom prst="rect">
            <a:avLst/>
          </a:prstGeom>
        </p:spPr>
        <p:txBody>
          <a:bodyPr wrap="square">
            <a:spAutoFit/>
          </a:bodyPr>
          <a:lstStyle/>
          <a:p>
            <a:pPr defTabSz="812101">
              <a:lnSpc>
                <a:spcPct val="150000"/>
              </a:lnSpc>
            </a:pPr>
            <a:r>
              <a:rPr lang="zh-CN" altLang="en-US" sz="1050" b="1" dirty="0">
                <a:solidFill>
                  <a:srgbClr val="3864B2"/>
                </a:solidFill>
                <a:latin typeface="微软雅黑" pitchFamily="34" charset="-122"/>
                <a:ea typeface="微软雅黑" pitchFamily="34" charset="-122"/>
              </a:rPr>
              <a:t>家装</a:t>
            </a:r>
            <a:r>
              <a:rPr lang="zh-CN" altLang="en-US" sz="1050" b="1" dirty="0" smtClean="0">
                <a:solidFill>
                  <a:srgbClr val="3864B2"/>
                </a:solidFill>
                <a:latin typeface="微软雅黑" pitchFamily="34" charset="-122"/>
                <a:ea typeface="微软雅黑" pitchFamily="34" charset="-122"/>
              </a:rPr>
              <a:t>住宅</a:t>
            </a:r>
            <a:endParaRPr lang="zh-CN" altLang="en-US" sz="1050" b="1" dirty="0">
              <a:solidFill>
                <a:srgbClr val="3864B2"/>
              </a:solidFill>
              <a:latin typeface="微软雅黑" pitchFamily="34" charset="-122"/>
              <a:ea typeface="微软雅黑" pitchFamily="34" charset="-122"/>
            </a:endParaRPr>
          </a:p>
        </p:txBody>
      </p:sp>
      <p:sp>
        <p:nvSpPr>
          <p:cNvPr id="77" name="矩形 76">
            <a:extLst>
              <a:ext uri="{FF2B5EF4-FFF2-40B4-BE49-F238E27FC236}">
                <a16:creationId xmlns:a16="http://schemas.microsoft.com/office/drawing/2014/main" id="{C3A52DED-6C30-4B7B-B9EE-40389B5F3340}"/>
              </a:ext>
            </a:extLst>
          </p:cNvPr>
          <p:cNvSpPr/>
          <p:nvPr/>
        </p:nvSpPr>
        <p:spPr bwMode="auto">
          <a:xfrm>
            <a:off x="2018377" y="5504195"/>
            <a:ext cx="287795" cy="209409"/>
          </a:xfrm>
          <a:prstGeom prst="rect">
            <a:avLst/>
          </a:prstGeom>
          <a:solidFill>
            <a:srgbClr val="BDD7EE"/>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5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78" name="矩形 77">
            <a:extLst>
              <a:ext uri="{FF2B5EF4-FFF2-40B4-BE49-F238E27FC236}">
                <a16:creationId xmlns:a16="http://schemas.microsoft.com/office/drawing/2014/main" id="{4A5B2D10-9421-4E79-9583-77F88A54E5D7}"/>
              </a:ext>
            </a:extLst>
          </p:cNvPr>
          <p:cNvSpPr/>
          <p:nvPr/>
        </p:nvSpPr>
        <p:spPr>
          <a:xfrm>
            <a:off x="2293260" y="5443065"/>
            <a:ext cx="1246843" cy="334707"/>
          </a:xfrm>
          <a:prstGeom prst="rect">
            <a:avLst/>
          </a:prstGeom>
        </p:spPr>
        <p:txBody>
          <a:bodyPr wrap="square">
            <a:spAutoFit/>
          </a:bodyPr>
          <a:lstStyle/>
          <a:p>
            <a:pPr defTabSz="812101">
              <a:lnSpc>
                <a:spcPct val="150000"/>
              </a:lnSpc>
            </a:pPr>
            <a:r>
              <a:rPr lang="zh-CN" altLang="en-US" sz="1050" b="1" dirty="0">
                <a:solidFill>
                  <a:srgbClr val="3864B2"/>
                </a:solidFill>
                <a:latin typeface="微软雅黑" pitchFamily="34" charset="-122"/>
                <a:ea typeface="微软雅黑" pitchFamily="34" charset="-122"/>
              </a:rPr>
              <a:t>全屋智能</a:t>
            </a:r>
            <a:r>
              <a:rPr lang="zh-CN" altLang="en-US" sz="1050" b="1" dirty="0" smtClean="0">
                <a:solidFill>
                  <a:srgbClr val="3864B2"/>
                </a:solidFill>
                <a:latin typeface="微软雅黑" pitchFamily="34" charset="-122"/>
                <a:ea typeface="微软雅黑" pitchFamily="34" charset="-122"/>
              </a:rPr>
              <a:t>家装</a:t>
            </a:r>
            <a:endParaRPr lang="zh-CN" altLang="en-US" sz="1050" b="1" dirty="0">
              <a:solidFill>
                <a:srgbClr val="3864B2"/>
              </a:solidFill>
              <a:latin typeface="微软雅黑" pitchFamily="34" charset="-122"/>
              <a:ea typeface="微软雅黑" pitchFamily="34" charset="-122"/>
            </a:endParaRPr>
          </a:p>
        </p:txBody>
      </p:sp>
      <p:sp>
        <p:nvSpPr>
          <p:cNvPr id="79" name="矩形 78">
            <a:extLst>
              <a:ext uri="{FF2B5EF4-FFF2-40B4-BE49-F238E27FC236}">
                <a16:creationId xmlns:a16="http://schemas.microsoft.com/office/drawing/2014/main" id="{4A5B2D10-9421-4E79-9583-77F88A54E5D7}"/>
              </a:ext>
            </a:extLst>
          </p:cNvPr>
          <p:cNvSpPr/>
          <p:nvPr/>
        </p:nvSpPr>
        <p:spPr>
          <a:xfrm>
            <a:off x="3765457" y="5399803"/>
            <a:ext cx="1934675" cy="418191"/>
          </a:xfrm>
          <a:prstGeom prst="rect">
            <a:avLst/>
          </a:prstGeom>
        </p:spPr>
        <p:txBody>
          <a:bodyPr wrap="square">
            <a:spAutoFit/>
          </a:bodyPr>
          <a:lstStyle/>
          <a:p>
            <a:pPr defTabSz="812101">
              <a:lnSpc>
                <a:spcPct val="150000"/>
              </a:lnSpc>
            </a:pPr>
            <a:r>
              <a:rPr lang="en-US" altLang="zh-CN" sz="1400" b="1" dirty="0">
                <a:solidFill>
                  <a:srgbClr val="3864B2"/>
                </a:solidFill>
                <a:latin typeface="微软雅黑" pitchFamily="34" charset="-122"/>
                <a:ea typeface="微软雅黑" pitchFamily="34" charset="-122"/>
              </a:rPr>
              <a:t>xx%</a:t>
            </a:r>
            <a:r>
              <a:rPr lang="en-US" altLang="zh-CN" sz="1000" b="1" dirty="0">
                <a:solidFill>
                  <a:srgbClr val="3864B2"/>
                </a:solidFill>
                <a:latin typeface="微软雅黑" pitchFamily="34" charset="-122"/>
                <a:ea typeface="微软雅黑" pitchFamily="34" charset="-122"/>
              </a:rPr>
              <a:t>  </a:t>
            </a:r>
            <a:r>
              <a:rPr lang="zh-CN" altLang="en-US" sz="1050" b="1" dirty="0">
                <a:solidFill>
                  <a:srgbClr val="3864B2"/>
                </a:solidFill>
                <a:latin typeface="微软雅黑" pitchFamily="34" charset="-122"/>
                <a:ea typeface="微软雅黑" pitchFamily="34" charset="-122"/>
              </a:rPr>
              <a:t>智能家居系统渗透率 </a:t>
            </a:r>
          </a:p>
        </p:txBody>
      </p:sp>
      <p:sp>
        <p:nvSpPr>
          <p:cNvPr id="88" name="矩形 87">
            <a:extLst>
              <a:ext uri="{FF2B5EF4-FFF2-40B4-BE49-F238E27FC236}">
                <a16:creationId xmlns:a16="http://schemas.microsoft.com/office/drawing/2014/main" id="{4A5B2D10-9421-4E79-9583-77F88A54E5D7}"/>
              </a:ext>
            </a:extLst>
          </p:cNvPr>
          <p:cNvSpPr/>
          <p:nvPr/>
        </p:nvSpPr>
        <p:spPr>
          <a:xfrm>
            <a:off x="5332770" y="3470449"/>
            <a:ext cx="783748"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25.6%</a:t>
            </a:r>
            <a:endParaRPr lang="zh-CN" altLang="en-US" sz="700" b="1" dirty="0">
              <a:solidFill>
                <a:srgbClr val="3864B2"/>
              </a:solidFill>
              <a:latin typeface="微软雅黑" pitchFamily="34" charset="-122"/>
              <a:ea typeface="微软雅黑" pitchFamily="34" charset="-122"/>
            </a:endParaRPr>
          </a:p>
        </p:txBody>
      </p:sp>
      <p:grpSp>
        <p:nvGrpSpPr>
          <p:cNvPr id="117" name="组合 116"/>
          <p:cNvGrpSpPr/>
          <p:nvPr/>
        </p:nvGrpSpPr>
        <p:grpSpPr>
          <a:xfrm>
            <a:off x="6377220" y="2860422"/>
            <a:ext cx="4853588" cy="2429133"/>
            <a:chOff x="6377220" y="2197395"/>
            <a:chExt cx="4853588" cy="3092161"/>
          </a:xfrm>
        </p:grpSpPr>
        <p:sp>
          <p:nvSpPr>
            <p:cNvPr id="35" name="矩形 34">
              <a:extLst>
                <a:ext uri="{FF2B5EF4-FFF2-40B4-BE49-F238E27FC236}">
                  <a16:creationId xmlns:a16="http://schemas.microsoft.com/office/drawing/2014/main" id="{8972F15A-ABF3-4C46-9354-449D069E8E12}"/>
                </a:ext>
              </a:extLst>
            </p:cNvPr>
            <p:cNvSpPr/>
            <p:nvPr/>
          </p:nvSpPr>
          <p:spPr bwMode="auto">
            <a:xfrm>
              <a:off x="7572975" y="2920318"/>
              <a:ext cx="287795" cy="2037760"/>
            </a:xfrm>
            <a:prstGeom prst="rect">
              <a:avLst/>
            </a:prstGeom>
            <a:solidFill>
              <a:sysClr val="window" lastClr="FFFFFF">
                <a:lumMod val="85000"/>
              </a:sys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43" name="文本框 42">
              <a:extLst>
                <a:ext uri="{FF2B5EF4-FFF2-40B4-BE49-F238E27FC236}">
                  <a16:creationId xmlns:a16="http://schemas.microsoft.com/office/drawing/2014/main" id="{D14F7FF6-64A4-48CE-9E6D-EA301DEEBFCD}"/>
                </a:ext>
              </a:extLst>
            </p:cNvPr>
            <p:cNvSpPr txBox="1"/>
            <p:nvPr/>
          </p:nvSpPr>
          <p:spPr>
            <a:xfrm>
              <a:off x="6435200" y="4949917"/>
              <a:ext cx="652372" cy="300852"/>
            </a:xfrm>
            <a:prstGeom prst="rect">
              <a:avLst/>
            </a:prstGeom>
            <a:noFill/>
          </p:spPr>
          <p:txBody>
            <a:bodyPr wrap="square" rtlCol="0">
              <a:spAutoFit/>
            </a:bodyPr>
            <a:lstStyle/>
            <a:p>
              <a:pPr defTabSz="1083208" fontAlgn="base">
                <a:spcBef>
                  <a:spcPct val="0"/>
                </a:spcBef>
                <a:spcAft>
                  <a:spcPct val="0"/>
                </a:spcAft>
              </a:pPr>
              <a:r>
                <a:rPr lang="en-US" altLang="zh-CN" sz="1355" dirty="0">
                  <a:solidFill>
                    <a:srgbClr val="3864B2"/>
                  </a:solidFill>
                  <a:latin typeface="微软雅黑" panose="020B0503020204020204" pitchFamily="34" charset="-122"/>
                  <a:ea typeface="微软雅黑" panose="020B0503020204020204" pitchFamily="34" charset="-122"/>
                </a:rPr>
                <a:t>2019</a:t>
              </a:r>
              <a:endParaRPr lang="zh-CN" altLang="en-US" sz="1355" dirty="0">
                <a:solidFill>
                  <a:srgbClr val="3864B2"/>
                </a:solidFill>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D6F1CBFC-DA62-47C5-A3AC-C7E63B2AD730}"/>
                </a:ext>
              </a:extLst>
            </p:cNvPr>
            <p:cNvSpPr txBox="1"/>
            <p:nvPr/>
          </p:nvSpPr>
          <p:spPr>
            <a:xfrm>
              <a:off x="7601553" y="4968365"/>
              <a:ext cx="652372" cy="300852"/>
            </a:xfrm>
            <a:prstGeom prst="rect">
              <a:avLst/>
            </a:prstGeom>
            <a:noFill/>
          </p:spPr>
          <p:txBody>
            <a:bodyPr wrap="square" rtlCol="0">
              <a:spAutoFit/>
            </a:bodyPr>
            <a:lstStyle/>
            <a:p>
              <a:pPr defTabSz="1083208" fontAlgn="base">
                <a:spcBef>
                  <a:spcPct val="0"/>
                </a:spcBef>
                <a:spcAft>
                  <a:spcPct val="0"/>
                </a:spcAft>
              </a:pPr>
              <a:r>
                <a:rPr lang="en-US" altLang="zh-CN" sz="1355" dirty="0">
                  <a:solidFill>
                    <a:srgbClr val="3864B2"/>
                  </a:solidFill>
                  <a:latin typeface="微软雅黑" panose="020B0503020204020204" pitchFamily="34" charset="-122"/>
                  <a:ea typeface="微软雅黑" panose="020B0503020204020204" pitchFamily="34" charset="-122"/>
                </a:rPr>
                <a:t>2020</a:t>
              </a:r>
              <a:endParaRPr lang="zh-CN" altLang="en-US" sz="1355" dirty="0">
                <a:solidFill>
                  <a:srgbClr val="3864B2"/>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CF356E7D-2FE3-4AC7-A8CD-E8950E09A8DA}"/>
                </a:ext>
              </a:extLst>
            </p:cNvPr>
            <p:cNvSpPr txBox="1"/>
            <p:nvPr/>
          </p:nvSpPr>
          <p:spPr>
            <a:xfrm>
              <a:off x="8658031" y="4973316"/>
              <a:ext cx="652372" cy="300852"/>
            </a:xfrm>
            <a:prstGeom prst="rect">
              <a:avLst/>
            </a:prstGeom>
            <a:noFill/>
          </p:spPr>
          <p:txBody>
            <a:bodyPr wrap="square" rtlCol="0">
              <a:spAutoFit/>
            </a:bodyPr>
            <a:lstStyle/>
            <a:p>
              <a:pPr defTabSz="1083208" fontAlgn="base">
                <a:spcBef>
                  <a:spcPct val="0"/>
                </a:spcBef>
                <a:spcAft>
                  <a:spcPct val="0"/>
                </a:spcAft>
              </a:pPr>
              <a:r>
                <a:rPr lang="en-US" altLang="zh-CN" sz="1355" dirty="0">
                  <a:solidFill>
                    <a:srgbClr val="3864B2"/>
                  </a:solidFill>
                  <a:latin typeface="微软雅黑" panose="020B0503020204020204" pitchFamily="34" charset="-122"/>
                  <a:ea typeface="微软雅黑" panose="020B0503020204020204" pitchFamily="34" charset="-122"/>
                </a:rPr>
                <a:t>2021</a:t>
              </a:r>
              <a:endParaRPr lang="zh-CN" altLang="en-US" sz="1355" dirty="0">
                <a:solidFill>
                  <a:srgbClr val="3864B2"/>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DC0B0A9E-B808-4C11-8010-D165E658A072}"/>
                </a:ext>
              </a:extLst>
            </p:cNvPr>
            <p:cNvSpPr/>
            <p:nvPr/>
          </p:nvSpPr>
          <p:spPr bwMode="auto">
            <a:xfrm>
              <a:off x="8552999" y="2692936"/>
              <a:ext cx="305149" cy="2245602"/>
            </a:xfrm>
            <a:prstGeom prst="rect">
              <a:avLst/>
            </a:prstGeom>
            <a:solidFill>
              <a:sysClr val="window" lastClr="FFFFFF">
                <a:lumMod val="85000"/>
              </a:sys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47" name="矩形 46">
              <a:extLst>
                <a:ext uri="{FF2B5EF4-FFF2-40B4-BE49-F238E27FC236}">
                  <a16:creationId xmlns:a16="http://schemas.microsoft.com/office/drawing/2014/main" id="{C3A52DED-6C30-4B7B-B9EE-40389B5F3340}"/>
                </a:ext>
              </a:extLst>
            </p:cNvPr>
            <p:cNvSpPr/>
            <p:nvPr/>
          </p:nvSpPr>
          <p:spPr bwMode="auto">
            <a:xfrm>
              <a:off x="6578936" y="3373382"/>
              <a:ext cx="287795" cy="1586769"/>
            </a:xfrm>
            <a:prstGeom prst="rect">
              <a:avLst/>
            </a:prstGeom>
            <a:solidFill>
              <a:sysClr val="window" lastClr="FFFFFF">
                <a:lumMod val="85000"/>
              </a:sys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48" name="文本框 47">
              <a:extLst>
                <a:ext uri="{FF2B5EF4-FFF2-40B4-BE49-F238E27FC236}">
                  <a16:creationId xmlns:a16="http://schemas.microsoft.com/office/drawing/2014/main" id="{71CBEB78-319C-4836-AE1A-9B3F78A79EA1}"/>
                </a:ext>
              </a:extLst>
            </p:cNvPr>
            <p:cNvSpPr txBox="1"/>
            <p:nvPr/>
          </p:nvSpPr>
          <p:spPr>
            <a:xfrm>
              <a:off x="6377220" y="3148066"/>
              <a:ext cx="676788"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340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49" name="文本框 48">
              <a:extLst>
                <a:ext uri="{FF2B5EF4-FFF2-40B4-BE49-F238E27FC236}">
                  <a16:creationId xmlns:a16="http://schemas.microsoft.com/office/drawing/2014/main" id="{48A9497B-DADE-43A8-BA69-30644B3855AA}"/>
                </a:ext>
              </a:extLst>
            </p:cNvPr>
            <p:cNvSpPr txBox="1"/>
            <p:nvPr/>
          </p:nvSpPr>
          <p:spPr>
            <a:xfrm>
              <a:off x="7367820" y="2651876"/>
              <a:ext cx="676788"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380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50" name="文本框 49">
              <a:extLst>
                <a:ext uri="{FF2B5EF4-FFF2-40B4-BE49-F238E27FC236}">
                  <a16:creationId xmlns:a16="http://schemas.microsoft.com/office/drawing/2014/main" id="{C2F0E61F-0959-4C80-9FB5-A4DFB1D105A8}"/>
                </a:ext>
              </a:extLst>
            </p:cNvPr>
            <p:cNvSpPr txBox="1"/>
            <p:nvPr/>
          </p:nvSpPr>
          <p:spPr>
            <a:xfrm>
              <a:off x="8351955" y="2424883"/>
              <a:ext cx="676788"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420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54" name="矩形 53">
              <a:extLst>
                <a:ext uri="{FF2B5EF4-FFF2-40B4-BE49-F238E27FC236}">
                  <a16:creationId xmlns:a16="http://schemas.microsoft.com/office/drawing/2014/main" id="{DC0B0A9E-B808-4C11-8010-D165E658A072}"/>
                </a:ext>
              </a:extLst>
            </p:cNvPr>
            <p:cNvSpPr/>
            <p:nvPr/>
          </p:nvSpPr>
          <p:spPr bwMode="auto">
            <a:xfrm>
              <a:off x="9646297" y="2505531"/>
              <a:ext cx="305149" cy="2452549"/>
            </a:xfrm>
            <a:prstGeom prst="rect">
              <a:avLst/>
            </a:prstGeom>
            <a:solidFill>
              <a:sysClr val="window" lastClr="FFFFFF">
                <a:lumMod val="85000"/>
              </a:sys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55" name="文本框 54">
              <a:extLst>
                <a:ext uri="{FF2B5EF4-FFF2-40B4-BE49-F238E27FC236}">
                  <a16:creationId xmlns:a16="http://schemas.microsoft.com/office/drawing/2014/main" id="{C2F0E61F-0959-4C80-9FB5-A4DFB1D105A8}"/>
                </a:ext>
              </a:extLst>
            </p:cNvPr>
            <p:cNvSpPr txBox="1"/>
            <p:nvPr/>
          </p:nvSpPr>
          <p:spPr>
            <a:xfrm>
              <a:off x="9441272" y="2219796"/>
              <a:ext cx="676788"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450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56" name="文本框 55">
              <a:extLst>
                <a:ext uri="{FF2B5EF4-FFF2-40B4-BE49-F238E27FC236}">
                  <a16:creationId xmlns:a16="http://schemas.microsoft.com/office/drawing/2014/main" id="{CF356E7D-2FE3-4AC7-A8CD-E8950E09A8DA}"/>
                </a:ext>
              </a:extLst>
            </p:cNvPr>
            <p:cNvSpPr txBox="1"/>
            <p:nvPr/>
          </p:nvSpPr>
          <p:spPr>
            <a:xfrm>
              <a:off x="9642383" y="4988704"/>
              <a:ext cx="652372" cy="300852"/>
            </a:xfrm>
            <a:prstGeom prst="rect">
              <a:avLst/>
            </a:prstGeom>
            <a:noFill/>
          </p:spPr>
          <p:txBody>
            <a:bodyPr wrap="square" rtlCol="0">
              <a:spAutoFit/>
            </a:bodyPr>
            <a:lstStyle/>
            <a:p>
              <a:pPr defTabSz="1083208" fontAlgn="base">
                <a:spcBef>
                  <a:spcPct val="0"/>
                </a:spcBef>
                <a:spcAft>
                  <a:spcPct val="0"/>
                </a:spcAft>
              </a:pPr>
              <a:r>
                <a:rPr lang="en-US" altLang="zh-CN" sz="1355" dirty="0">
                  <a:solidFill>
                    <a:srgbClr val="3864B2"/>
                  </a:solidFill>
                  <a:latin typeface="微软雅黑" panose="020B0503020204020204" pitchFamily="34" charset="-122"/>
                  <a:ea typeface="微软雅黑" panose="020B0503020204020204" pitchFamily="34" charset="-122"/>
                </a:rPr>
                <a:t>2022</a:t>
              </a:r>
              <a:endParaRPr lang="zh-CN" altLang="en-US" sz="1355" dirty="0">
                <a:solidFill>
                  <a:srgbClr val="3864B2"/>
                </a:solidFill>
                <a:latin typeface="微软雅黑" panose="020B0503020204020204" pitchFamily="34" charset="-122"/>
                <a:ea typeface="微软雅黑" panose="020B0503020204020204" pitchFamily="34" charset="-122"/>
              </a:endParaRPr>
            </a:p>
          </p:txBody>
        </p:sp>
        <p:sp>
          <p:nvSpPr>
            <p:cNvPr id="57" name="矩形 56">
              <a:extLst>
                <a:ext uri="{FF2B5EF4-FFF2-40B4-BE49-F238E27FC236}">
                  <a16:creationId xmlns:a16="http://schemas.microsoft.com/office/drawing/2014/main" id="{C3A52DED-6C30-4B7B-B9EE-40389B5F3340}"/>
                </a:ext>
              </a:extLst>
            </p:cNvPr>
            <p:cNvSpPr/>
            <p:nvPr/>
          </p:nvSpPr>
          <p:spPr bwMode="auto">
            <a:xfrm>
              <a:off x="6584101" y="4724926"/>
              <a:ext cx="265689" cy="209409"/>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62" name="矩形 61">
              <a:extLst>
                <a:ext uri="{FF2B5EF4-FFF2-40B4-BE49-F238E27FC236}">
                  <a16:creationId xmlns:a16="http://schemas.microsoft.com/office/drawing/2014/main" id="{C3A52DED-6C30-4B7B-B9EE-40389B5F3340}"/>
                </a:ext>
              </a:extLst>
            </p:cNvPr>
            <p:cNvSpPr/>
            <p:nvPr/>
          </p:nvSpPr>
          <p:spPr bwMode="auto">
            <a:xfrm>
              <a:off x="7579916" y="4653860"/>
              <a:ext cx="280857" cy="281196"/>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63" name="矩形 62">
              <a:extLst>
                <a:ext uri="{FF2B5EF4-FFF2-40B4-BE49-F238E27FC236}">
                  <a16:creationId xmlns:a16="http://schemas.microsoft.com/office/drawing/2014/main" id="{C3A52DED-6C30-4B7B-B9EE-40389B5F3340}"/>
                </a:ext>
              </a:extLst>
            </p:cNvPr>
            <p:cNvSpPr/>
            <p:nvPr/>
          </p:nvSpPr>
          <p:spPr bwMode="auto">
            <a:xfrm>
              <a:off x="8563780" y="4511877"/>
              <a:ext cx="287795" cy="445421"/>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64" name="矩形 63">
              <a:extLst>
                <a:ext uri="{FF2B5EF4-FFF2-40B4-BE49-F238E27FC236}">
                  <a16:creationId xmlns:a16="http://schemas.microsoft.com/office/drawing/2014/main" id="{C3A52DED-6C30-4B7B-B9EE-40389B5F3340}"/>
                </a:ext>
              </a:extLst>
            </p:cNvPr>
            <p:cNvSpPr/>
            <p:nvPr/>
          </p:nvSpPr>
          <p:spPr bwMode="auto">
            <a:xfrm>
              <a:off x="9653347" y="4327466"/>
              <a:ext cx="287795" cy="611239"/>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83" name="矩形 82">
              <a:extLst>
                <a:ext uri="{FF2B5EF4-FFF2-40B4-BE49-F238E27FC236}">
                  <a16:creationId xmlns:a16="http://schemas.microsoft.com/office/drawing/2014/main" id="{DC0B0A9E-B808-4C11-8010-D165E658A072}"/>
                </a:ext>
              </a:extLst>
            </p:cNvPr>
            <p:cNvSpPr/>
            <p:nvPr/>
          </p:nvSpPr>
          <p:spPr bwMode="auto">
            <a:xfrm>
              <a:off x="10582349" y="2435919"/>
              <a:ext cx="305149" cy="2518113"/>
            </a:xfrm>
            <a:prstGeom prst="rect">
              <a:avLst/>
            </a:prstGeom>
            <a:solidFill>
              <a:sysClr val="window" lastClr="FFFFFF">
                <a:lumMod val="85000"/>
              </a:sys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84" name="文本框 83">
              <a:extLst>
                <a:ext uri="{FF2B5EF4-FFF2-40B4-BE49-F238E27FC236}">
                  <a16:creationId xmlns:a16="http://schemas.microsoft.com/office/drawing/2014/main" id="{C2F0E61F-0959-4C80-9FB5-A4DFB1D105A8}"/>
                </a:ext>
              </a:extLst>
            </p:cNvPr>
            <p:cNvSpPr txBox="1"/>
            <p:nvPr/>
          </p:nvSpPr>
          <p:spPr>
            <a:xfrm>
              <a:off x="10411245" y="2197395"/>
              <a:ext cx="676788"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460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85" name="文本框 84">
              <a:extLst>
                <a:ext uri="{FF2B5EF4-FFF2-40B4-BE49-F238E27FC236}">
                  <a16:creationId xmlns:a16="http://schemas.microsoft.com/office/drawing/2014/main" id="{CF356E7D-2FE3-4AC7-A8CD-E8950E09A8DA}"/>
                </a:ext>
              </a:extLst>
            </p:cNvPr>
            <p:cNvSpPr txBox="1"/>
            <p:nvPr/>
          </p:nvSpPr>
          <p:spPr>
            <a:xfrm>
              <a:off x="10578436" y="4984658"/>
              <a:ext cx="652372" cy="300852"/>
            </a:xfrm>
            <a:prstGeom prst="rect">
              <a:avLst/>
            </a:prstGeom>
            <a:noFill/>
          </p:spPr>
          <p:txBody>
            <a:bodyPr wrap="square" rtlCol="0">
              <a:spAutoFit/>
            </a:bodyPr>
            <a:lstStyle/>
            <a:p>
              <a:pPr defTabSz="1083208" fontAlgn="base">
                <a:spcBef>
                  <a:spcPct val="0"/>
                </a:spcBef>
                <a:spcAft>
                  <a:spcPct val="0"/>
                </a:spcAft>
              </a:pPr>
              <a:r>
                <a:rPr lang="en-US" altLang="zh-CN" sz="1355" dirty="0">
                  <a:solidFill>
                    <a:srgbClr val="3864B2"/>
                  </a:solidFill>
                  <a:latin typeface="微软雅黑" panose="020B0503020204020204" pitchFamily="34" charset="-122"/>
                  <a:ea typeface="微软雅黑" panose="020B0503020204020204" pitchFamily="34" charset="-122"/>
                </a:rPr>
                <a:t>2023</a:t>
              </a:r>
              <a:endParaRPr lang="zh-CN" altLang="en-US" sz="1355" dirty="0">
                <a:solidFill>
                  <a:srgbClr val="3864B2"/>
                </a:solidFill>
                <a:latin typeface="微软雅黑" panose="020B0503020204020204" pitchFamily="34" charset="-122"/>
                <a:ea typeface="微软雅黑" panose="020B0503020204020204" pitchFamily="34" charset="-122"/>
              </a:endParaRPr>
            </a:p>
          </p:txBody>
        </p:sp>
        <p:sp>
          <p:nvSpPr>
            <p:cNvPr id="86" name="矩形 85">
              <a:extLst>
                <a:ext uri="{FF2B5EF4-FFF2-40B4-BE49-F238E27FC236}">
                  <a16:creationId xmlns:a16="http://schemas.microsoft.com/office/drawing/2014/main" id="{C3A52DED-6C30-4B7B-B9EE-40389B5F3340}"/>
                </a:ext>
              </a:extLst>
            </p:cNvPr>
            <p:cNvSpPr/>
            <p:nvPr/>
          </p:nvSpPr>
          <p:spPr bwMode="auto">
            <a:xfrm>
              <a:off x="10588284" y="4165660"/>
              <a:ext cx="299215" cy="782247"/>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8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98" name="文本框 97">
              <a:extLst>
                <a:ext uri="{FF2B5EF4-FFF2-40B4-BE49-F238E27FC236}">
                  <a16:creationId xmlns:a16="http://schemas.microsoft.com/office/drawing/2014/main" id="{71CBEB78-319C-4836-AE1A-9B3F78A79EA1}"/>
                </a:ext>
              </a:extLst>
            </p:cNvPr>
            <p:cNvSpPr txBox="1"/>
            <p:nvPr/>
          </p:nvSpPr>
          <p:spPr>
            <a:xfrm>
              <a:off x="6405983" y="4754946"/>
              <a:ext cx="598241"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19</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99" name="文本框 98">
              <a:extLst>
                <a:ext uri="{FF2B5EF4-FFF2-40B4-BE49-F238E27FC236}">
                  <a16:creationId xmlns:a16="http://schemas.microsoft.com/office/drawing/2014/main" id="{71CBEB78-319C-4836-AE1A-9B3F78A79EA1}"/>
                </a:ext>
              </a:extLst>
            </p:cNvPr>
            <p:cNvSpPr txBox="1"/>
            <p:nvPr/>
          </p:nvSpPr>
          <p:spPr>
            <a:xfrm>
              <a:off x="7430040" y="4682486"/>
              <a:ext cx="598241"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25</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100" name="文本框 99">
              <a:extLst>
                <a:ext uri="{FF2B5EF4-FFF2-40B4-BE49-F238E27FC236}">
                  <a16:creationId xmlns:a16="http://schemas.microsoft.com/office/drawing/2014/main" id="{71CBEB78-319C-4836-AE1A-9B3F78A79EA1}"/>
                </a:ext>
              </a:extLst>
            </p:cNvPr>
            <p:cNvSpPr txBox="1"/>
            <p:nvPr/>
          </p:nvSpPr>
          <p:spPr>
            <a:xfrm>
              <a:off x="8383621" y="4534097"/>
              <a:ext cx="598241"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40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101" name="文本框 100">
              <a:extLst>
                <a:ext uri="{FF2B5EF4-FFF2-40B4-BE49-F238E27FC236}">
                  <a16:creationId xmlns:a16="http://schemas.microsoft.com/office/drawing/2014/main" id="{71CBEB78-319C-4836-AE1A-9B3F78A79EA1}"/>
                </a:ext>
              </a:extLst>
            </p:cNvPr>
            <p:cNvSpPr txBox="1"/>
            <p:nvPr/>
          </p:nvSpPr>
          <p:spPr>
            <a:xfrm>
              <a:off x="9476404" y="4350114"/>
              <a:ext cx="598241"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60</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sp>
          <p:nvSpPr>
            <p:cNvPr id="102" name="文本框 101">
              <a:extLst>
                <a:ext uri="{FF2B5EF4-FFF2-40B4-BE49-F238E27FC236}">
                  <a16:creationId xmlns:a16="http://schemas.microsoft.com/office/drawing/2014/main" id="{71CBEB78-319C-4836-AE1A-9B3F78A79EA1}"/>
                </a:ext>
              </a:extLst>
            </p:cNvPr>
            <p:cNvSpPr txBox="1"/>
            <p:nvPr/>
          </p:nvSpPr>
          <p:spPr>
            <a:xfrm>
              <a:off x="10429571" y="4192565"/>
              <a:ext cx="598241" cy="246221"/>
            </a:xfrm>
            <a:prstGeom prst="rect">
              <a:avLst/>
            </a:prstGeom>
            <a:noFill/>
          </p:spPr>
          <p:txBody>
            <a:bodyPr wrap="none" rtlCol="0">
              <a:spAutoFit/>
            </a:bodyPr>
            <a:lstStyle/>
            <a:p>
              <a:pPr defTabSz="1083208" fontAlgn="base">
                <a:spcBef>
                  <a:spcPct val="0"/>
                </a:spcBef>
                <a:spcAft>
                  <a:spcPct val="0"/>
                </a:spcAft>
              </a:pPr>
              <a:r>
                <a:rPr lang="en-US" altLang="zh-CN" sz="1000" b="1" dirty="0">
                  <a:solidFill>
                    <a:srgbClr val="3864B2"/>
                  </a:solidFill>
                  <a:latin typeface="微软雅黑" panose="020B0503020204020204" pitchFamily="34" charset="-122"/>
                  <a:ea typeface="微软雅黑" panose="020B0503020204020204" pitchFamily="34" charset="-122"/>
                </a:rPr>
                <a:t>85</a:t>
              </a:r>
              <a:r>
                <a:rPr lang="zh-CN" altLang="en-US" sz="1000" b="1" dirty="0">
                  <a:solidFill>
                    <a:srgbClr val="3864B2"/>
                  </a:solidFill>
                  <a:latin typeface="微软雅黑" panose="020B0503020204020204" pitchFamily="34" charset="-122"/>
                  <a:ea typeface="微软雅黑" panose="020B0503020204020204" pitchFamily="34" charset="-122"/>
                </a:rPr>
                <a:t>万套</a:t>
              </a:r>
            </a:p>
          </p:txBody>
        </p:sp>
        <p:cxnSp>
          <p:nvCxnSpPr>
            <p:cNvPr id="103" name="直接箭头连接符 102"/>
            <p:cNvCxnSpPr/>
            <p:nvPr/>
          </p:nvCxnSpPr>
          <p:spPr>
            <a:xfrm flipV="1">
              <a:off x="6760523" y="4483989"/>
              <a:ext cx="973488" cy="55028"/>
            </a:xfrm>
            <a:prstGeom prst="straightConnector1">
              <a:avLst/>
            </a:prstGeom>
            <a:noFill/>
            <a:ln w="6350" cap="flat" cmpd="sng" algn="ctr">
              <a:solidFill>
                <a:srgbClr val="FF0000"/>
              </a:solidFill>
              <a:prstDash val="solid"/>
              <a:miter lim="800000"/>
              <a:tailEnd type="none"/>
            </a:ln>
            <a:effectLst/>
          </p:spPr>
        </p:cxnSp>
        <p:sp>
          <p:nvSpPr>
            <p:cNvPr id="104" name="矩形 103">
              <a:extLst>
                <a:ext uri="{FF2B5EF4-FFF2-40B4-BE49-F238E27FC236}">
                  <a16:creationId xmlns:a16="http://schemas.microsoft.com/office/drawing/2014/main" id="{4A5B2D10-9421-4E79-9583-77F88A54E5D7}"/>
                </a:ext>
              </a:extLst>
            </p:cNvPr>
            <p:cNvSpPr/>
            <p:nvPr/>
          </p:nvSpPr>
          <p:spPr>
            <a:xfrm>
              <a:off x="6529720" y="4233265"/>
              <a:ext cx="631585"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5.5%</a:t>
              </a:r>
              <a:endParaRPr lang="zh-CN" altLang="en-US" sz="700" b="1" dirty="0">
                <a:solidFill>
                  <a:srgbClr val="3864B2"/>
                </a:solidFill>
                <a:latin typeface="微软雅黑" pitchFamily="34" charset="-122"/>
                <a:ea typeface="微软雅黑" pitchFamily="34" charset="-122"/>
              </a:endParaRPr>
            </a:p>
          </p:txBody>
        </p:sp>
        <p:sp>
          <p:nvSpPr>
            <p:cNvPr id="105" name="矩形 104">
              <a:extLst>
                <a:ext uri="{FF2B5EF4-FFF2-40B4-BE49-F238E27FC236}">
                  <a16:creationId xmlns:a16="http://schemas.microsoft.com/office/drawing/2014/main" id="{4A5B2D10-9421-4E79-9583-77F88A54E5D7}"/>
                </a:ext>
              </a:extLst>
            </p:cNvPr>
            <p:cNvSpPr/>
            <p:nvPr/>
          </p:nvSpPr>
          <p:spPr>
            <a:xfrm>
              <a:off x="7488543" y="4126681"/>
              <a:ext cx="605292"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 6.5%</a:t>
              </a:r>
              <a:endParaRPr lang="zh-CN" altLang="en-US" sz="700" b="1" dirty="0">
                <a:solidFill>
                  <a:srgbClr val="3864B2"/>
                </a:solidFill>
                <a:latin typeface="微软雅黑" pitchFamily="34" charset="-122"/>
                <a:ea typeface="微软雅黑" pitchFamily="34" charset="-122"/>
              </a:endParaRPr>
            </a:p>
          </p:txBody>
        </p:sp>
        <p:sp>
          <p:nvSpPr>
            <p:cNvPr id="106" name="矩形 105">
              <a:extLst>
                <a:ext uri="{FF2B5EF4-FFF2-40B4-BE49-F238E27FC236}">
                  <a16:creationId xmlns:a16="http://schemas.microsoft.com/office/drawing/2014/main" id="{4A5B2D10-9421-4E79-9583-77F88A54E5D7}"/>
                </a:ext>
              </a:extLst>
            </p:cNvPr>
            <p:cNvSpPr/>
            <p:nvPr/>
          </p:nvSpPr>
          <p:spPr>
            <a:xfrm>
              <a:off x="8486069" y="3923721"/>
              <a:ext cx="742295"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 9.5%</a:t>
              </a:r>
              <a:endParaRPr lang="zh-CN" altLang="en-US" sz="700" b="1" dirty="0">
                <a:solidFill>
                  <a:srgbClr val="3864B2"/>
                </a:solidFill>
                <a:latin typeface="微软雅黑" pitchFamily="34" charset="-122"/>
                <a:ea typeface="微软雅黑" pitchFamily="34" charset="-122"/>
              </a:endParaRPr>
            </a:p>
          </p:txBody>
        </p:sp>
        <p:sp>
          <p:nvSpPr>
            <p:cNvPr id="107" name="矩形 106">
              <a:extLst>
                <a:ext uri="{FF2B5EF4-FFF2-40B4-BE49-F238E27FC236}">
                  <a16:creationId xmlns:a16="http://schemas.microsoft.com/office/drawing/2014/main" id="{4A5B2D10-9421-4E79-9583-77F88A54E5D7}"/>
                </a:ext>
              </a:extLst>
            </p:cNvPr>
            <p:cNvSpPr/>
            <p:nvPr/>
          </p:nvSpPr>
          <p:spPr>
            <a:xfrm>
              <a:off x="9589291" y="3525441"/>
              <a:ext cx="755383"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13.3%</a:t>
              </a:r>
              <a:endParaRPr lang="zh-CN" altLang="en-US" sz="700" b="1" dirty="0">
                <a:solidFill>
                  <a:srgbClr val="3864B2"/>
                </a:solidFill>
                <a:latin typeface="微软雅黑" pitchFamily="34" charset="-122"/>
                <a:ea typeface="微软雅黑" pitchFamily="34" charset="-122"/>
              </a:endParaRPr>
            </a:p>
          </p:txBody>
        </p:sp>
        <p:sp>
          <p:nvSpPr>
            <p:cNvPr id="108" name="矩形 107">
              <a:extLst>
                <a:ext uri="{FF2B5EF4-FFF2-40B4-BE49-F238E27FC236}">
                  <a16:creationId xmlns:a16="http://schemas.microsoft.com/office/drawing/2014/main" id="{4A5B2D10-9421-4E79-9583-77F88A54E5D7}"/>
                </a:ext>
              </a:extLst>
            </p:cNvPr>
            <p:cNvSpPr/>
            <p:nvPr/>
          </p:nvSpPr>
          <p:spPr>
            <a:xfrm>
              <a:off x="10513432" y="3074330"/>
              <a:ext cx="656247" cy="295978"/>
            </a:xfrm>
            <a:prstGeom prst="rect">
              <a:avLst/>
            </a:prstGeom>
          </p:spPr>
          <p:txBody>
            <a:bodyPr wrap="square">
              <a:spAutoFit/>
            </a:bodyPr>
            <a:lstStyle/>
            <a:p>
              <a:pPr defTabSz="812101">
                <a:lnSpc>
                  <a:spcPct val="150000"/>
                </a:lnSpc>
              </a:pPr>
              <a:r>
                <a:rPr lang="en-US" altLang="zh-CN" sz="1000" b="1" dirty="0">
                  <a:solidFill>
                    <a:srgbClr val="3864B2"/>
                  </a:solidFill>
                  <a:latin typeface="微软雅黑" pitchFamily="34" charset="-122"/>
                  <a:ea typeface="微软雅黑" pitchFamily="34" charset="-122"/>
                </a:rPr>
                <a:t>18.5%</a:t>
              </a:r>
              <a:endParaRPr lang="zh-CN" altLang="en-US" sz="700" b="1" dirty="0">
                <a:solidFill>
                  <a:srgbClr val="3864B2"/>
                </a:solidFill>
                <a:latin typeface="微软雅黑" pitchFamily="34" charset="-122"/>
                <a:ea typeface="微软雅黑" pitchFamily="34" charset="-122"/>
              </a:endParaRPr>
            </a:p>
          </p:txBody>
        </p:sp>
        <p:cxnSp>
          <p:nvCxnSpPr>
            <p:cNvPr id="109" name="直接箭头连接符 108"/>
            <p:cNvCxnSpPr>
              <a:endCxn id="106" idx="2"/>
            </p:cNvCxnSpPr>
            <p:nvPr/>
          </p:nvCxnSpPr>
          <p:spPr>
            <a:xfrm flipV="1">
              <a:off x="7841487" y="4219699"/>
              <a:ext cx="1015730" cy="257737"/>
            </a:xfrm>
            <a:prstGeom prst="straightConnector1">
              <a:avLst/>
            </a:prstGeom>
            <a:noFill/>
            <a:ln w="6350" cap="flat" cmpd="sng" algn="ctr">
              <a:solidFill>
                <a:srgbClr val="FF0000"/>
              </a:solidFill>
              <a:prstDash val="solid"/>
              <a:miter lim="800000"/>
              <a:tailEnd type="none"/>
            </a:ln>
            <a:effectLst/>
          </p:spPr>
        </p:cxnSp>
        <p:cxnSp>
          <p:nvCxnSpPr>
            <p:cNvPr id="110" name="直接箭头连接符 109"/>
            <p:cNvCxnSpPr/>
            <p:nvPr/>
          </p:nvCxnSpPr>
          <p:spPr>
            <a:xfrm flipV="1">
              <a:off x="8758384" y="3845650"/>
              <a:ext cx="1110332" cy="405785"/>
            </a:xfrm>
            <a:prstGeom prst="straightConnector1">
              <a:avLst/>
            </a:prstGeom>
            <a:noFill/>
            <a:ln w="6350" cap="flat" cmpd="sng" algn="ctr">
              <a:solidFill>
                <a:srgbClr val="FF0000"/>
              </a:solidFill>
              <a:prstDash val="solid"/>
              <a:miter lim="800000"/>
              <a:tailEnd type="none"/>
            </a:ln>
            <a:effectLst/>
          </p:spPr>
        </p:cxnSp>
        <p:cxnSp>
          <p:nvCxnSpPr>
            <p:cNvPr id="111" name="直接箭头连接符 110"/>
            <p:cNvCxnSpPr/>
            <p:nvPr/>
          </p:nvCxnSpPr>
          <p:spPr>
            <a:xfrm flipV="1">
              <a:off x="9876729" y="3390128"/>
              <a:ext cx="906356" cy="454579"/>
            </a:xfrm>
            <a:prstGeom prst="straightConnector1">
              <a:avLst/>
            </a:prstGeom>
            <a:noFill/>
            <a:ln w="6350" cap="flat" cmpd="sng" algn="ctr">
              <a:solidFill>
                <a:srgbClr val="FF0000"/>
              </a:solidFill>
              <a:prstDash val="solid"/>
              <a:miter lim="800000"/>
              <a:tailEnd type="none"/>
            </a:ln>
            <a:effectLst/>
          </p:spPr>
        </p:cxnSp>
      </p:grpSp>
      <p:grpSp>
        <p:nvGrpSpPr>
          <p:cNvPr id="118" name="组合 117"/>
          <p:cNvGrpSpPr/>
          <p:nvPr/>
        </p:nvGrpSpPr>
        <p:grpSpPr>
          <a:xfrm>
            <a:off x="773638" y="2134460"/>
            <a:ext cx="5215912" cy="3110737"/>
            <a:chOff x="773638" y="2608363"/>
            <a:chExt cx="5215912" cy="2638738"/>
          </a:xfrm>
        </p:grpSpPr>
        <p:sp>
          <p:nvSpPr>
            <p:cNvPr id="34" name="矩形 33">
              <a:extLst>
                <a:ext uri="{FF2B5EF4-FFF2-40B4-BE49-F238E27FC236}">
                  <a16:creationId xmlns:a16="http://schemas.microsoft.com/office/drawing/2014/main" id="{DC62EEAF-A369-4BAF-946B-D74F80D271D6}"/>
                </a:ext>
              </a:extLst>
            </p:cNvPr>
            <p:cNvSpPr/>
            <p:nvPr/>
          </p:nvSpPr>
          <p:spPr bwMode="auto">
            <a:xfrm>
              <a:off x="1974283" y="3563104"/>
              <a:ext cx="255793" cy="1375434"/>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36" name="矩形 35">
              <a:extLst>
                <a:ext uri="{FF2B5EF4-FFF2-40B4-BE49-F238E27FC236}">
                  <a16:creationId xmlns:a16="http://schemas.microsoft.com/office/drawing/2014/main" id="{B80C7043-7574-427B-8B73-E68E5C89E9D7}"/>
                </a:ext>
              </a:extLst>
            </p:cNvPr>
            <p:cNvSpPr/>
            <p:nvPr/>
          </p:nvSpPr>
          <p:spPr bwMode="auto">
            <a:xfrm>
              <a:off x="1016587" y="3919685"/>
              <a:ext cx="255793" cy="1019359"/>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37" name="文本框 36">
              <a:extLst>
                <a:ext uri="{FF2B5EF4-FFF2-40B4-BE49-F238E27FC236}">
                  <a16:creationId xmlns:a16="http://schemas.microsoft.com/office/drawing/2014/main" id="{C421F265-03E2-4C37-ACC7-B1AFB151E7AB}"/>
                </a:ext>
              </a:extLst>
            </p:cNvPr>
            <p:cNvSpPr txBox="1"/>
            <p:nvPr/>
          </p:nvSpPr>
          <p:spPr>
            <a:xfrm>
              <a:off x="1719012" y="3337602"/>
              <a:ext cx="787395"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2140</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38" name="矩形 37">
              <a:extLst>
                <a:ext uri="{FF2B5EF4-FFF2-40B4-BE49-F238E27FC236}">
                  <a16:creationId xmlns:a16="http://schemas.microsoft.com/office/drawing/2014/main" id="{3B8F9172-8470-4ED0-AABA-3B6A8E829EA4}"/>
                </a:ext>
              </a:extLst>
            </p:cNvPr>
            <p:cNvSpPr/>
            <p:nvPr/>
          </p:nvSpPr>
          <p:spPr bwMode="auto">
            <a:xfrm>
              <a:off x="3039295" y="3199108"/>
              <a:ext cx="321640" cy="1748096"/>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39" name="文本框 38">
              <a:extLst>
                <a:ext uri="{FF2B5EF4-FFF2-40B4-BE49-F238E27FC236}">
                  <a16:creationId xmlns:a16="http://schemas.microsoft.com/office/drawing/2014/main" id="{071C3F68-8C16-4D21-97C6-5FDAC889DF7F}"/>
                </a:ext>
              </a:extLst>
            </p:cNvPr>
            <p:cNvSpPr txBox="1"/>
            <p:nvPr/>
          </p:nvSpPr>
          <p:spPr>
            <a:xfrm>
              <a:off x="2820395" y="2973925"/>
              <a:ext cx="787395"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2297</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40" name="文本框 39">
              <a:extLst>
                <a:ext uri="{FF2B5EF4-FFF2-40B4-BE49-F238E27FC236}">
                  <a16:creationId xmlns:a16="http://schemas.microsoft.com/office/drawing/2014/main" id="{582BCDD0-AFE7-4154-9581-58F29378059B}"/>
                </a:ext>
              </a:extLst>
            </p:cNvPr>
            <p:cNvSpPr txBox="1"/>
            <p:nvPr/>
          </p:nvSpPr>
          <p:spPr>
            <a:xfrm>
              <a:off x="1013470" y="4936305"/>
              <a:ext cx="607859" cy="280928"/>
            </a:xfrm>
            <a:prstGeom prst="rect">
              <a:avLst/>
            </a:prstGeom>
            <a:noFill/>
          </p:spPr>
          <p:txBody>
            <a:bodyPr wrap="none" rtlCol="0">
              <a:spAutoFit/>
            </a:bodyPr>
            <a:lstStyle/>
            <a:p>
              <a:pPr defTabSz="1083208" fontAlgn="base">
                <a:spcBef>
                  <a:spcPct val="0"/>
                </a:spcBef>
                <a:spcAft>
                  <a:spcPct val="0"/>
                </a:spcAft>
              </a:pPr>
              <a:r>
                <a:rPr lang="en-US" altLang="zh-CN" sz="1400" dirty="0">
                  <a:solidFill>
                    <a:srgbClr val="3864B2"/>
                  </a:solidFill>
                  <a:latin typeface="微软雅黑" panose="020B0503020204020204" pitchFamily="34" charset="-122"/>
                  <a:ea typeface="微软雅黑" panose="020B0503020204020204" pitchFamily="34" charset="-122"/>
                </a:rPr>
                <a:t>2019</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82743DC0-41D9-4985-9D81-A96217734EBA}"/>
                </a:ext>
              </a:extLst>
            </p:cNvPr>
            <p:cNvSpPr txBox="1"/>
            <p:nvPr/>
          </p:nvSpPr>
          <p:spPr>
            <a:xfrm>
              <a:off x="1986958" y="4961325"/>
              <a:ext cx="607859" cy="280928"/>
            </a:xfrm>
            <a:prstGeom prst="rect">
              <a:avLst/>
            </a:prstGeom>
            <a:noFill/>
          </p:spPr>
          <p:txBody>
            <a:bodyPr wrap="none" rtlCol="0">
              <a:spAutoFit/>
            </a:bodyPr>
            <a:lstStyle/>
            <a:p>
              <a:pPr defTabSz="1083208" fontAlgn="base">
                <a:spcBef>
                  <a:spcPct val="0"/>
                </a:spcBef>
                <a:spcAft>
                  <a:spcPct val="0"/>
                </a:spcAft>
              </a:pPr>
              <a:r>
                <a:rPr lang="en-US" altLang="zh-CN" sz="1400" dirty="0">
                  <a:solidFill>
                    <a:srgbClr val="3864B2"/>
                  </a:solidFill>
                  <a:latin typeface="微软雅黑" panose="020B0503020204020204" pitchFamily="34" charset="-122"/>
                  <a:ea typeface="微软雅黑" panose="020B0503020204020204" pitchFamily="34" charset="-122"/>
                </a:rPr>
                <a:t>2020</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47E9C19F-1549-4CEC-B901-AA127785F0B0}"/>
                </a:ext>
              </a:extLst>
            </p:cNvPr>
            <p:cNvSpPr txBox="1"/>
            <p:nvPr/>
          </p:nvSpPr>
          <p:spPr>
            <a:xfrm>
              <a:off x="3095142" y="4963958"/>
              <a:ext cx="607859" cy="280928"/>
            </a:xfrm>
            <a:prstGeom prst="rect">
              <a:avLst/>
            </a:prstGeom>
            <a:noFill/>
          </p:spPr>
          <p:txBody>
            <a:bodyPr wrap="none" rtlCol="0">
              <a:spAutoFit/>
            </a:bodyPr>
            <a:lstStyle/>
            <a:p>
              <a:pPr defTabSz="1083208" fontAlgn="base">
                <a:spcBef>
                  <a:spcPct val="0"/>
                </a:spcBef>
                <a:spcAft>
                  <a:spcPct val="0"/>
                </a:spcAft>
              </a:pPr>
              <a:r>
                <a:rPr lang="en-US" altLang="zh-CN" sz="1400" dirty="0">
                  <a:solidFill>
                    <a:srgbClr val="3864B2"/>
                  </a:solidFill>
                  <a:latin typeface="微软雅黑" panose="020B0503020204020204" pitchFamily="34" charset="-122"/>
                  <a:ea typeface="微软雅黑" panose="020B0503020204020204" pitchFamily="34" charset="-122"/>
                </a:rPr>
                <a:t>2021</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51" name="矩形 50">
              <a:extLst>
                <a:ext uri="{FF2B5EF4-FFF2-40B4-BE49-F238E27FC236}">
                  <a16:creationId xmlns:a16="http://schemas.microsoft.com/office/drawing/2014/main" id="{3B8F9172-8470-4ED0-AABA-3B6A8E829EA4}"/>
                </a:ext>
              </a:extLst>
            </p:cNvPr>
            <p:cNvSpPr/>
            <p:nvPr/>
          </p:nvSpPr>
          <p:spPr bwMode="auto">
            <a:xfrm>
              <a:off x="4264627" y="2990564"/>
              <a:ext cx="299511" cy="1945782"/>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52" name="文本框 51">
              <a:extLst>
                <a:ext uri="{FF2B5EF4-FFF2-40B4-BE49-F238E27FC236}">
                  <a16:creationId xmlns:a16="http://schemas.microsoft.com/office/drawing/2014/main" id="{071C3F68-8C16-4D21-97C6-5FDAC889DF7F}"/>
                </a:ext>
              </a:extLst>
            </p:cNvPr>
            <p:cNvSpPr txBox="1"/>
            <p:nvPr/>
          </p:nvSpPr>
          <p:spPr>
            <a:xfrm>
              <a:off x="4035200" y="2757833"/>
              <a:ext cx="787395"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2455</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53" name="文本框 52">
              <a:extLst>
                <a:ext uri="{FF2B5EF4-FFF2-40B4-BE49-F238E27FC236}">
                  <a16:creationId xmlns:a16="http://schemas.microsoft.com/office/drawing/2014/main" id="{47E9C19F-1549-4CEC-B901-AA127785F0B0}"/>
                </a:ext>
              </a:extLst>
            </p:cNvPr>
            <p:cNvSpPr txBox="1"/>
            <p:nvPr/>
          </p:nvSpPr>
          <p:spPr>
            <a:xfrm>
              <a:off x="4305284" y="4966173"/>
              <a:ext cx="607859" cy="280928"/>
            </a:xfrm>
            <a:prstGeom prst="rect">
              <a:avLst/>
            </a:prstGeom>
            <a:noFill/>
          </p:spPr>
          <p:txBody>
            <a:bodyPr wrap="none" rtlCol="0">
              <a:spAutoFit/>
            </a:bodyPr>
            <a:lstStyle/>
            <a:p>
              <a:pPr defTabSz="1083208" fontAlgn="base">
                <a:spcBef>
                  <a:spcPct val="0"/>
                </a:spcBef>
                <a:spcAft>
                  <a:spcPct val="0"/>
                </a:spcAft>
              </a:pPr>
              <a:r>
                <a:rPr lang="en-US" altLang="zh-CN" sz="1400" dirty="0">
                  <a:solidFill>
                    <a:srgbClr val="3864B2"/>
                  </a:solidFill>
                  <a:latin typeface="微软雅黑" panose="020B0503020204020204" pitchFamily="34" charset="-122"/>
                  <a:ea typeface="微软雅黑" panose="020B0503020204020204" pitchFamily="34" charset="-122"/>
                </a:rPr>
                <a:t>2022</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65" name="矩形 64">
              <a:extLst>
                <a:ext uri="{FF2B5EF4-FFF2-40B4-BE49-F238E27FC236}">
                  <a16:creationId xmlns:a16="http://schemas.microsoft.com/office/drawing/2014/main" id="{C3A52DED-6C30-4B7B-B9EE-40389B5F3340}"/>
                </a:ext>
              </a:extLst>
            </p:cNvPr>
            <p:cNvSpPr/>
            <p:nvPr/>
          </p:nvSpPr>
          <p:spPr bwMode="auto">
            <a:xfrm>
              <a:off x="1013470" y="4838466"/>
              <a:ext cx="264001" cy="114447"/>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4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66" name="矩形 65">
              <a:extLst>
                <a:ext uri="{FF2B5EF4-FFF2-40B4-BE49-F238E27FC236}">
                  <a16:creationId xmlns:a16="http://schemas.microsoft.com/office/drawing/2014/main" id="{4A5B2D10-9421-4E79-9583-77F88A54E5D7}"/>
                </a:ext>
              </a:extLst>
            </p:cNvPr>
            <p:cNvSpPr/>
            <p:nvPr/>
          </p:nvSpPr>
          <p:spPr>
            <a:xfrm>
              <a:off x="959675" y="4345528"/>
              <a:ext cx="644052" cy="279465"/>
            </a:xfrm>
            <a:prstGeom prst="rect">
              <a:avLst/>
            </a:prstGeom>
          </p:spPr>
          <p:txBody>
            <a:bodyPr wrap="square">
              <a:spAutoFit/>
            </a:bodyPr>
            <a:lstStyle/>
            <a:p>
              <a:pPr defTabSz="812101">
                <a:lnSpc>
                  <a:spcPct val="150000"/>
                </a:lnSpc>
              </a:pPr>
              <a:r>
                <a:rPr lang="en-US" altLang="zh-CN" sz="1050" b="1" dirty="0">
                  <a:solidFill>
                    <a:srgbClr val="3864B2"/>
                  </a:solidFill>
                  <a:latin typeface="微软雅黑" pitchFamily="34" charset="-122"/>
                  <a:ea typeface="微软雅黑" pitchFamily="34" charset="-122"/>
                </a:rPr>
                <a:t>9.7%</a:t>
              </a:r>
              <a:endParaRPr lang="zh-CN" altLang="en-US" sz="800" b="1" dirty="0">
                <a:solidFill>
                  <a:srgbClr val="3864B2"/>
                </a:solidFill>
                <a:latin typeface="微软雅黑" pitchFamily="34" charset="-122"/>
                <a:ea typeface="微软雅黑" pitchFamily="34" charset="-122"/>
              </a:endParaRPr>
            </a:p>
          </p:txBody>
        </p:sp>
        <p:sp>
          <p:nvSpPr>
            <p:cNvPr id="68" name="文本框 67">
              <a:extLst>
                <a:ext uri="{FF2B5EF4-FFF2-40B4-BE49-F238E27FC236}">
                  <a16:creationId xmlns:a16="http://schemas.microsoft.com/office/drawing/2014/main" id="{AB180063-9376-4B44-B06C-9AD494BC2605}"/>
                </a:ext>
              </a:extLst>
            </p:cNvPr>
            <p:cNvSpPr txBox="1"/>
            <p:nvPr/>
          </p:nvSpPr>
          <p:spPr>
            <a:xfrm>
              <a:off x="773638" y="3686970"/>
              <a:ext cx="787395"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2017</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69" name="矩形 68">
              <a:extLst>
                <a:ext uri="{FF2B5EF4-FFF2-40B4-BE49-F238E27FC236}">
                  <a16:creationId xmlns:a16="http://schemas.microsoft.com/office/drawing/2014/main" id="{C3A52DED-6C30-4B7B-B9EE-40389B5F3340}"/>
                </a:ext>
              </a:extLst>
            </p:cNvPr>
            <p:cNvSpPr/>
            <p:nvPr/>
          </p:nvSpPr>
          <p:spPr bwMode="auto">
            <a:xfrm>
              <a:off x="1965306" y="4748668"/>
              <a:ext cx="262280" cy="204244"/>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4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70" name="矩形 69">
              <a:extLst>
                <a:ext uri="{FF2B5EF4-FFF2-40B4-BE49-F238E27FC236}">
                  <a16:creationId xmlns:a16="http://schemas.microsoft.com/office/drawing/2014/main" id="{4A5B2D10-9421-4E79-9583-77F88A54E5D7}"/>
                </a:ext>
              </a:extLst>
            </p:cNvPr>
            <p:cNvSpPr/>
            <p:nvPr/>
          </p:nvSpPr>
          <p:spPr>
            <a:xfrm>
              <a:off x="1884460" y="4273981"/>
              <a:ext cx="640623" cy="279465"/>
            </a:xfrm>
            <a:prstGeom prst="rect">
              <a:avLst/>
            </a:prstGeom>
          </p:spPr>
          <p:txBody>
            <a:bodyPr wrap="square">
              <a:spAutoFit/>
            </a:bodyPr>
            <a:lstStyle/>
            <a:p>
              <a:pPr defTabSz="812101">
                <a:lnSpc>
                  <a:spcPct val="150000"/>
                </a:lnSpc>
              </a:pPr>
              <a:r>
                <a:rPr lang="en-US" altLang="zh-CN" sz="1050" b="1" dirty="0">
                  <a:solidFill>
                    <a:srgbClr val="3864B2"/>
                  </a:solidFill>
                  <a:latin typeface="微软雅黑" pitchFamily="34" charset="-122"/>
                  <a:ea typeface="微软雅黑" pitchFamily="34" charset="-122"/>
                </a:rPr>
                <a:t>10.7%</a:t>
              </a:r>
              <a:endParaRPr lang="zh-CN" altLang="en-US" sz="800" b="1" dirty="0">
                <a:solidFill>
                  <a:srgbClr val="3864B2"/>
                </a:solidFill>
                <a:latin typeface="微软雅黑" pitchFamily="34" charset="-122"/>
                <a:ea typeface="微软雅黑" pitchFamily="34" charset="-122"/>
              </a:endParaRPr>
            </a:p>
          </p:txBody>
        </p:sp>
        <p:sp>
          <p:nvSpPr>
            <p:cNvPr id="71" name="矩形 70">
              <a:extLst>
                <a:ext uri="{FF2B5EF4-FFF2-40B4-BE49-F238E27FC236}">
                  <a16:creationId xmlns:a16="http://schemas.microsoft.com/office/drawing/2014/main" id="{C3A52DED-6C30-4B7B-B9EE-40389B5F3340}"/>
                </a:ext>
              </a:extLst>
            </p:cNvPr>
            <p:cNvSpPr/>
            <p:nvPr/>
          </p:nvSpPr>
          <p:spPr bwMode="auto">
            <a:xfrm>
              <a:off x="3047176" y="4657809"/>
              <a:ext cx="310349" cy="294813"/>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4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72" name="矩形 71">
              <a:extLst>
                <a:ext uri="{FF2B5EF4-FFF2-40B4-BE49-F238E27FC236}">
                  <a16:creationId xmlns:a16="http://schemas.microsoft.com/office/drawing/2014/main" id="{4A5B2D10-9421-4E79-9583-77F88A54E5D7}"/>
                </a:ext>
              </a:extLst>
            </p:cNvPr>
            <p:cNvSpPr/>
            <p:nvPr/>
          </p:nvSpPr>
          <p:spPr>
            <a:xfrm>
              <a:off x="2913964" y="4021154"/>
              <a:ext cx="641748" cy="279465"/>
            </a:xfrm>
            <a:prstGeom prst="rect">
              <a:avLst/>
            </a:prstGeom>
          </p:spPr>
          <p:txBody>
            <a:bodyPr wrap="square">
              <a:spAutoFit/>
            </a:bodyPr>
            <a:lstStyle/>
            <a:p>
              <a:pPr defTabSz="812101">
                <a:lnSpc>
                  <a:spcPct val="150000"/>
                </a:lnSpc>
              </a:pPr>
              <a:r>
                <a:rPr lang="en-US" altLang="zh-CN" sz="1050" b="1" dirty="0">
                  <a:solidFill>
                    <a:srgbClr val="3864B2"/>
                  </a:solidFill>
                  <a:latin typeface="微软雅黑" pitchFamily="34" charset="-122"/>
                  <a:ea typeface="微软雅黑" pitchFamily="34" charset="-122"/>
                </a:rPr>
                <a:t>15.2%</a:t>
              </a:r>
              <a:endParaRPr lang="zh-CN" altLang="en-US" sz="800" b="1" dirty="0">
                <a:solidFill>
                  <a:srgbClr val="3864B2"/>
                </a:solidFill>
                <a:latin typeface="微软雅黑" pitchFamily="34" charset="-122"/>
                <a:ea typeface="微软雅黑" pitchFamily="34" charset="-122"/>
              </a:endParaRPr>
            </a:p>
          </p:txBody>
        </p:sp>
        <p:sp>
          <p:nvSpPr>
            <p:cNvPr id="73" name="矩形 72">
              <a:extLst>
                <a:ext uri="{FF2B5EF4-FFF2-40B4-BE49-F238E27FC236}">
                  <a16:creationId xmlns:a16="http://schemas.microsoft.com/office/drawing/2014/main" id="{C3A52DED-6C30-4B7B-B9EE-40389B5F3340}"/>
                </a:ext>
              </a:extLst>
            </p:cNvPr>
            <p:cNvSpPr/>
            <p:nvPr/>
          </p:nvSpPr>
          <p:spPr bwMode="auto">
            <a:xfrm>
              <a:off x="4279735" y="4574522"/>
              <a:ext cx="281028" cy="378099"/>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4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74" name="矩形 73">
              <a:extLst>
                <a:ext uri="{FF2B5EF4-FFF2-40B4-BE49-F238E27FC236}">
                  <a16:creationId xmlns:a16="http://schemas.microsoft.com/office/drawing/2014/main" id="{4A5B2D10-9421-4E79-9583-77F88A54E5D7}"/>
                </a:ext>
              </a:extLst>
            </p:cNvPr>
            <p:cNvSpPr/>
            <p:nvPr/>
          </p:nvSpPr>
          <p:spPr>
            <a:xfrm>
              <a:off x="4155655" y="3743225"/>
              <a:ext cx="682613" cy="279465"/>
            </a:xfrm>
            <a:prstGeom prst="rect">
              <a:avLst/>
            </a:prstGeom>
          </p:spPr>
          <p:txBody>
            <a:bodyPr wrap="square">
              <a:spAutoFit/>
            </a:bodyPr>
            <a:lstStyle/>
            <a:p>
              <a:pPr defTabSz="812101">
                <a:lnSpc>
                  <a:spcPct val="150000"/>
                </a:lnSpc>
              </a:pPr>
              <a:r>
                <a:rPr lang="en-US" altLang="zh-CN" sz="1050" b="1" dirty="0">
                  <a:solidFill>
                    <a:srgbClr val="3864B2"/>
                  </a:solidFill>
                  <a:latin typeface="微软雅黑" pitchFamily="34" charset="-122"/>
                  <a:ea typeface="微软雅黑" pitchFamily="34" charset="-122"/>
                </a:rPr>
                <a:t>19.8%</a:t>
              </a:r>
              <a:endParaRPr lang="zh-CN" altLang="en-US" sz="800" b="1" dirty="0">
                <a:solidFill>
                  <a:srgbClr val="3864B2"/>
                </a:solidFill>
                <a:latin typeface="微软雅黑" pitchFamily="34" charset="-122"/>
                <a:ea typeface="微软雅黑" pitchFamily="34" charset="-122"/>
              </a:endParaRPr>
            </a:p>
          </p:txBody>
        </p:sp>
        <p:sp>
          <p:nvSpPr>
            <p:cNvPr id="80" name="矩形 79">
              <a:extLst>
                <a:ext uri="{FF2B5EF4-FFF2-40B4-BE49-F238E27FC236}">
                  <a16:creationId xmlns:a16="http://schemas.microsoft.com/office/drawing/2014/main" id="{3B8F9172-8470-4ED0-AABA-3B6A8E829EA4}"/>
                </a:ext>
              </a:extLst>
            </p:cNvPr>
            <p:cNvSpPr/>
            <p:nvPr/>
          </p:nvSpPr>
          <p:spPr bwMode="auto">
            <a:xfrm>
              <a:off x="5400851" y="2848220"/>
              <a:ext cx="299511" cy="2098353"/>
            </a:xfrm>
            <a:prstGeom prst="rect">
              <a:avLst/>
            </a:prstGeom>
            <a:solidFill>
              <a:srgbClr val="D9D9D9"/>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pPr>
              <a:endParaRPr lang="zh-CN" altLang="en-US" sz="440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81" name="文本框 80">
              <a:extLst>
                <a:ext uri="{FF2B5EF4-FFF2-40B4-BE49-F238E27FC236}">
                  <a16:creationId xmlns:a16="http://schemas.microsoft.com/office/drawing/2014/main" id="{071C3F68-8C16-4D21-97C6-5FDAC889DF7F}"/>
                </a:ext>
              </a:extLst>
            </p:cNvPr>
            <p:cNvSpPr txBox="1"/>
            <p:nvPr/>
          </p:nvSpPr>
          <p:spPr>
            <a:xfrm>
              <a:off x="5196368" y="2608363"/>
              <a:ext cx="787395"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2623</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82" name="矩形 81">
              <a:extLst>
                <a:ext uri="{FF2B5EF4-FFF2-40B4-BE49-F238E27FC236}">
                  <a16:creationId xmlns:a16="http://schemas.microsoft.com/office/drawing/2014/main" id="{C3A52DED-6C30-4B7B-B9EE-40389B5F3340}"/>
                </a:ext>
              </a:extLst>
            </p:cNvPr>
            <p:cNvSpPr/>
            <p:nvPr/>
          </p:nvSpPr>
          <p:spPr bwMode="auto">
            <a:xfrm>
              <a:off x="5408918" y="4360872"/>
              <a:ext cx="284503" cy="581439"/>
            </a:xfrm>
            <a:prstGeom prst="rect">
              <a:avLst/>
            </a:prstGeom>
            <a:solidFill>
              <a:srgbClr val="4472C4">
                <a:lumMod val="40000"/>
                <a:lumOff val="60000"/>
              </a:srgbClr>
            </a:solidFill>
            <a:ln w="6350" cap="flat" cmpd="sng" algn="ctr">
              <a:noFill/>
              <a:prstDash val="solid"/>
              <a:miter lim="0"/>
              <a:headEnd type="none" w="med" len="med"/>
              <a:tailEnd type="none" w="med" len="med"/>
            </a:ln>
            <a:effectLst/>
          </p:spPr>
          <p:txBody>
            <a:bodyPr vert="horz" wrap="square" lIns="36092" tIns="36092" rIns="36092" bIns="36092" numCol="1" rtlCol="0" anchor="ctr" anchorCtr="0" compatLnSpc="1">
              <a:prstTxWarp prst="textNoShape">
                <a:avLst/>
              </a:prstTxWarp>
            </a:bodyPr>
            <a:lstStyle/>
            <a:p>
              <a:pPr marL="203015" algn="ctr" defTabSz="484981" fontAlgn="base" hangingPunct="0">
                <a:spcBef>
                  <a:spcPct val="0"/>
                </a:spcBef>
                <a:spcAft>
                  <a:spcPct val="0"/>
                </a:spcAft>
                <a:defRPr/>
              </a:pPr>
              <a:endParaRPr lang="zh-CN" altLang="en-US" sz="4400" kern="0">
                <a:ln w="6350">
                  <a:solidFill>
                    <a:srgbClr val="000000"/>
                  </a:solidFill>
                </a:ln>
                <a:solidFill>
                  <a:srgbClr val="3864B2"/>
                </a:solidFill>
                <a:latin typeface="微软雅黑" panose="020B0503020204020204" pitchFamily="34" charset="-122"/>
                <a:ea typeface="微软雅黑" panose="020B0503020204020204" pitchFamily="34" charset="-122"/>
                <a:sym typeface="Gill Sans" charset="0"/>
              </a:endParaRPr>
            </a:p>
          </p:txBody>
        </p:sp>
        <p:sp>
          <p:nvSpPr>
            <p:cNvPr id="87" name="文本框 86">
              <a:extLst>
                <a:ext uri="{FF2B5EF4-FFF2-40B4-BE49-F238E27FC236}">
                  <a16:creationId xmlns:a16="http://schemas.microsoft.com/office/drawing/2014/main" id="{47E9C19F-1549-4CEC-B901-AA127785F0B0}"/>
                </a:ext>
              </a:extLst>
            </p:cNvPr>
            <p:cNvSpPr txBox="1"/>
            <p:nvPr/>
          </p:nvSpPr>
          <p:spPr>
            <a:xfrm>
              <a:off x="5381691" y="4954892"/>
              <a:ext cx="607859" cy="280928"/>
            </a:xfrm>
            <a:prstGeom prst="rect">
              <a:avLst/>
            </a:prstGeom>
            <a:noFill/>
          </p:spPr>
          <p:txBody>
            <a:bodyPr wrap="none" rtlCol="0">
              <a:spAutoFit/>
            </a:bodyPr>
            <a:lstStyle/>
            <a:p>
              <a:pPr defTabSz="1083208" fontAlgn="base">
                <a:spcBef>
                  <a:spcPct val="0"/>
                </a:spcBef>
                <a:spcAft>
                  <a:spcPct val="0"/>
                </a:spcAft>
              </a:pPr>
              <a:r>
                <a:rPr lang="en-US" altLang="zh-CN" sz="1400" dirty="0">
                  <a:solidFill>
                    <a:srgbClr val="3864B2"/>
                  </a:solidFill>
                  <a:latin typeface="微软雅黑" panose="020B0503020204020204" pitchFamily="34" charset="-122"/>
                  <a:ea typeface="微软雅黑" panose="020B0503020204020204" pitchFamily="34" charset="-122"/>
                </a:rPr>
                <a:t>2023</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AB180063-9376-4B44-B06C-9AD494BC2605}"/>
                </a:ext>
              </a:extLst>
            </p:cNvPr>
            <p:cNvSpPr txBox="1"/>
            <p:nvPr/>
          </p:nvSpPr>
          <p:spPr>
            <a:xfrm>
              <a:off x="811728" y="4666174"/>
              <a:ext cx="704039"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195</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90" name="文本框 89">
              <a:extLst>
                <a:ext uri="{FF2B5EF4-FFF2-40B4-BE49-F238E27FC236}">
                  <a16:creationId xmlns:a16="http://schemas.microsoft.com/office/drawing/2014/main" id="{AB180063-9376-4B44-B06C-9AD494BC2605}"/>
                </a:ext>
              </a:extLst>
            </p:cNvPr>
            <p:cNvSpPr txBox="1"/>
            <p:nvPr/>
          </p:nvSpPr>
          <p:spPr>
            <a:xfrm>
              <a:off x="1752974" y="4640366"/>
              <a:ext cx="704039"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230</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91" name="文本框 90">
              <a:extLst>
                <a:ext uri="{FF2B5EF4-FFF2-40B4-BE49-F238E27FC236}">
                  <a16:creationId xmlns:a16="http://schemas.microsoft.com/office/drawing/2014/main" id="{AB180063-9376-4B44-B06C-9AD494BC2605}"/>
                </a:ext>
              </a:extLst>
            </p:cNvPr>
            <p:cNvSpPr txBox="1"/>
            <p:nvPr/>
          </p:nvSpPr>
          <p:spPr>
            <a:xfrm>
              <a:off x="2863315" y="4529916"/>
              <a:ext cx="704039"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350</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92" name="文本框 91">
              <a:extLst>
                <a:ext uri="{FF2B5EF4-FFF2-40B4-BE49-F238E27FC236}">
                  <a16:creationId xmlns:a16="http://schemas.microsoft.com/office/drawing/2014/main" id="{AB180063-9376-4B44-B06C-9AD494BC2605}"/>
                </a:ext>
              </a:extLst>
            </p:cNvPr>
            <p:cNvSpPr txBox="1"/>
            <p:nvPr/>
          </p:nvSpPr>
          <p:spPr>
            <a:xfrm>
              <a:off x="4065219" y="4440478"/>
              <a:ext cx="704039"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485</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sp>
          <p:nvSpPr>
            <p:cNvPr id="93" name="文本框 92">
              <a:extLst>
                <a:ext uri="{FF2B5EF4-FFF2-40B4-BE49-F238E27FC236}">
                  <a16:creationId xmlns:a16="http://schemas.microsoft.com/office/drawing/2014/main" id="{AB180063-9376-4B44-B06C-9AD494BC2605}"/>
                </a:ext>
              </a:extLst>
            </p:cNvPr>
            <p:cNvSpPr txBox="1"/>
            <p:nvPr/>
          </p:nvSpPr>
          <p:spPr>
            <a:xfrm>
              <a:off x="5217904" y="4228254"/>
              <a:ext cx="704039" cy="231766"/>
            </a:xfrm>
            <a:prstGeom prst="rect">
              <a:avLst/>
            </a:prstGeom>
            <a:noFill/>
          </p:spPr>
          <p:txBody>
            <a:bodyPr wrap="none" rtlCol="0">
              <a:spAutoFit/>
            </a:bodyPr>
            <a:lstStyle/>
            <a:p>
              <a:pPr defTabSz="1083208" fontAlgn="base">
                <a:spcBef>
                  <a:spcPct val="0"/>
                </a:spcBef>
                <a:spcAft>
                  <a:spcPct val="0"/>
                </a:spcAft>
              </a:pPr>
              <a:r>
                <a:rPr lang="en-US" altLang="zh-CN" sz="1050" b="1" dirty="0">
                  <a:solidFill>
                    <a:srgbClr val="3864B2"/>
                  </a:solidFill>
                  <a:latin typeface="微软雅黑" panose="020B0503020204020204" pitchFamily="34" charset="-122"/>
                  <a:ea typeface="微软雅黑" panose="020B0503020204020204" pitchFamily="34" charset="-122"/>
                </a:rPr>
                <a:t>672</a:t>
              </a:r>
              <a:r>
                <a:rPr lang="zh-CN" altLang="en-US" sz="1050" b="1" dirty="0">
                  <a:solidFill>
                    <a:srgbClr val="3864B2"/>
                  </a:solidFill>
                  <a:latin typeface="微软雅黑" panose="020B0503020204020204" pitchFamily="34" charset="-122"/>
                  <a:ea typeface="微软雅黑" panose="020B0503020204020204" pitchFamily="34" charset="-122"/>
                </a:rPr>
                <a:t>万套</a:t>
              </a:r>
            </a:p>
          </p:txBody>
        </p:sp>
        <p:cxnSp>
          <p:nvCxnSpPr>
            <p:cNvPr id="94" name="直接箭头连接符 93"/>
            <p:cNvCxnSpPr/>
            <p:nvPr/>
          </p:nvCxnSpPr>
          <p:spPr>
            <a:xfrm flipV="1">
              <a:off x="1135770" y="4594198"/>
              <a:ext cx="973488" cy="55028"/>
            </a:xfrm>
            <a:prstGeom prst="straightConnector1">
              <a:avLst/>
            </a:prstGeom>
            <a:noFill/>
            <a:ln w="6350" cap="flat" cmpd="sng" algn="ctr">
              <a:solidFill>
                <a:srgbClr val="FF0000"/>
              </a:solidFill>
              <a:prstDash val="solid"/>
              <a:miter lim="800000"/>
              <a:tailEnd type="none"/>
            </a:ln>
            <a:effectLst/>
          </p:spPr>
        </p:cxnSp>
        <p:cxnSp>
          <p:nvCxnSpPr>
            <p:cNvPr id="95" name="直接箭头连接符 94"/>
            <p:cNvCxnSpPr/>
            <p:nvPr/>
          </p:nvCxnSpPr>
          <p:spPr>
            <a:xfrm flipV="1">
              <a:off x="2105167" y="4314582"/>
              <a:ext cx="1116073" cy="278753"/>
            </a:xfrm>
            <a:prstGeom prst="straightConnector1">
              <a:avLst/>
            </a:prstGeom>
            <a:noFill/>
            <a:ln w="6350" cap="flat" cmpd="sng" algn="ctr">
              <a:solidFill>
                <a:srgbClr val="FF0000"/>
              </a:solidFill>
              <a:prstDash val="solid"/>
              <a:miter lim="800000"/>
              <a:tailEnd type="none"/>
            </a:ln>
            <a:effectLst/>
          </p:spPr>
        </p:cxnSp>
        <p:cxnSp>
          <p:nvCxnSpPr>
            <p:cNvPr id="96" name="直接箭头连接符 95"/>
            <p:cNvCxnSpPr>
              <a:endCxn id="115" idx="6"/>
            </p:cNvCxnSpPr>
            <p:nvPr/>
          </p:nvCxnSpPr>
          <p:spPr>
            <a:xfrm flipV="1">
              <a:off x="3253366" y="4107534"/>
              <a:ext cx="1236349" cy="205657"/>
            </a:xfrm>
            <a:prstGeom prst="straightConnector1">
              <a:avLst/>
            </a:prstGeom>
            <a:noFill/>
            <a:ln w="6350" cap="flat" cmpd="sng" algn="ctr">
              <a:solidFill>
                <a:srgbClr val="FF0000"/>
              </a:solidFill>
              <a:prstDash val="solid"/>
              <a:miter lim="800000"/>
              <a:tailEnd type="none"/>
            </a:ln>
            <a:effectLst/>
          </p:spPr>
        </p:cxnSp>
        <p:cxnSp>
          <p:nvCxnSpPr>
            <p:cNvPr id="97" name="直接箭头连接符 96"/>
            <p:cNvCxnSpPr/>
            <p:nvPr/>
          </p:nvCxnSpPr>
          <p:spPr>
            <a:xfrm flipV="1">
              <a:off x="4464771" y="3803513"/>
              <a:ext cx="1112817" cy="306741"/>
            </a:xfrm>
            <a:prstGeom prst="straightConnector1">
              <a:avLst/>
            </a:prstGeom>
            <a:noFill/>
            <a:ln w="6350" cap="flat" cmpd="sng" algn="ctr">
              <a:solidFill>
                <a:srgbClr val="FF0000"/>
              </a:solidFill>
              <a:prstDash val="solid"/>
              <a:miter lim="800000"/>
              <a:tailEnd type="none"/>
            </a:ln>
            <a:effectLst/>
          </p:spPr>
        </p:cxnSp>
        <p:sp>
          <p:nvSpPr>
            <p:cNvPr id="112" name="椭圆 111"/>
            <p:cNvSpPr/>
            <p:nvPr/>
          </p:nvSpPr>
          <p:spPr>
            <a:xfrm>
              <a:off x="1099698" y="4601394"/>
              <a:ext cx="76353" cy="78193"/>
            </a:xfrm>
            <a:prstGeom prst="ellipse">
              <a:avLst/>
            </a:prstGeom>
            <a:solidFill>
              <a:srgbClr val="FF0000"/>
            </a:solidFill>
            <a:ln w="12700" cap="flat" cmpd="sng" algn="ctr">
              <a:noFill/>
              <a:prstDash val="solid"/>
              <a:miter lim="800000"/>
            </a:ln>
            <a:effectLst/>
          </p:spPr>
          <p:txBody>
            <a:bodyPr rtlCol="0" anchor="ctr"/>
            <a:lstStyle/>
            <a:p>
              <a:pPr algn="ctr" defTabSz="774049">
                <a:defRPr/>
              </a:pPr>
              <a:endParaRPr lang="zh-CN" altLang="en-US" sz="2400" kern="0">
                <a:solidFill>
                  <a:srgbClr val="3864B2"/>
                </a:solidFill>
                <a:latin typeface="Calibri" panose="020F0502020204030204"/>
                <a:ea typeface="等线" panose="02010600030101010101" pitchFamily="2" charset="-122"/>
              </a:endParaRPr>
            </a:p>
          </p:txBody>
        </p:sp>
        <p:sp>
          <p:nvSpPr>
            <p:cNvPr id="113" name="椭圆 112"/>
            <p:cNvSpPr/>
            <p:nvPr/>
          </p:nvSpPr>
          <p:spPr>
            <a:xfrm>
              <a:off x="2070162" y="4544598"/>
              <a:ext cx="76353" cy="78193"/>
            </a:xfrm>
            <a:prstGeom prst="ellipse">
              <a:avLst/>
            </a:prstGeom>
            <a:solidFill>
              <a:srgbClr val="FF0000"/>
            </a:solidFill>
            <a:ln w="12700" cap="flat" cmpd="sng" algn="ctr">
              <a:noFill/>
              <a:prstDash val="solid"/>
              <a:miter lim="800000"/>
            </a:ln>
            <a:effectLst/>
          </p:spPr>
          <p:txBody>
            <a:bodyPr rtlCol="0" anchor="ctr"/>
            <a:lstStyle/>
            <a:p>
              <a:pPr algn="ctr" defTabSz="774049">
                <a:defRPr/>
              </a:pPr>
              <a:endParaRPr lang="zh-CN" altLang="en-US" sz="2400" kern="0">
                <a:solidFill>
                  <a:srgbClr val="3864B2"/>
                </a:solidFill>
                <a:latin typeface="Calibri" panose="020F0502020204030204"/>
                <a:ea typeface="等线" panose="02010600030101010101" pitchFamily="2" charset="-122"/>
              </a:endParaRPr>
            </a:p>
          </p:txBody>
        </p:sp>
        <p:sp>
          <p:nvSpPr>
            <p:cNvPr id="114" name="椭圆 113"/>
            <p:cNvSpPr/>
            <p:nvPr/>
          </p:nvSpPr>
          <p:spPr>
            <a:xfrm>
              <a:off x="3177011" y="4287204"/>
              <a:ext cx="76353" cy="78193"/>
            </a:xfrm>
            <a:prstGeom prst="ellipse">
              <a:avLst/>
            </a:prstGeom>
            <a:solidFill>
              <a:srgbClr val="FF0000"/>
            </a:solidFill>
            <a:ln w="12700" cap="flat" cmpd="sng" algn="ctr">
              <a:noFill/>
              <a:prstDash val="solid"/>
              <a:miter lim="800000"/>
            </a:ln>
            <a:effectLst/>
          </p:spPr>
          <p:txBody>
            <a:bodyPr rtlCol="0" anchor="ctr"/>
            <a:lstStyle/>
            <a:p>
              <a:pPr algn="ctr" defTabSz="774049">
                <a:defRPr/>
              </a:pPr>
              <a:endParaRPr lang="zh-CN" altLang="en-US" sz="2400" kern="0">
                <a:solidFill>
                  <a:srgbClr val="3864B2"/>
                </a:solidFill>
                <a:latin typeface="Calibri" panose="020F0502020204030204"/>
                <a:ea typeface="等线" panose="02010600030101010101" pitchFamily="2" charset="-122"/>
              </a:endParaRPr>
            </a:p>
          </p:txBody>
        </p:sp>
        <p:sp>
          <p:nvSpPr>
            <p:cNvPr id="115" name="椭圆 114"/>
            <p:cNvSpPr/>
            <p:nvPr/>
          </p:nvSpPr>
          <p:spPr>
            <a:xfrm>
              <a:off x="4413359" y="4068440"/>
              <a:ext cx="76353" cy="78193"/>
            </a:xfrm>
            <a:prstGeom prst="ellipse">
              <a:avLst/>
            </a:prstGeom>
            <a:solidFill>
              <a:srgbClr val="FF0000"/>
            </a:solidFill>
            <a:ln w="12700" cap="flat" cmpd="sng" algn="ctr">
              <a:noFill/>
              <a:prstDash val="solid"/>
              <a:miter lim="800000"/>
            </a:ln>
            <a:effectLst/>
          </p:spPr>
          <p:txBody>
            <a:bodyPr rtlCol="0" anchor="ctr"/>
            <a:lstStyle/>
            <a:p>
              <a:pPr algn="ctr" defTabSz="774049">
                <a:defRPr/>
              </a:pPr>
              <a:endParaRPr lang="zh-CN" altLang="en-US" sz="2400" kern="0">
                <a:solidFill>
                  <a:srgbClr val="3864B2"/>
                </a:solidFill>
                <a:latin typeface="Calibri" panose="020F0502020204030204"/>
                <a:ea typeface="等线" panose="02010600030101010101" pitchFamily="2" charset="-122"/>
              </a:endParaRPr>
            </a:p>
          </p:txBody>
        </p:sp>
        <p:sp>
          <p:nvSpPr>
            <p:cNvPr id="116" name="椭圆 115"/>
            <p:cNvSpPr/>
            <p:nvPr/>
          </p:nvSpPr>
          <p:spPr>
            <a:xfrm>
              <a:off x="5524528" y="3767056"/>
              <a:ext cx="76353" cy="78193"/>
            </a:xfrm>
            <a:prstGeom prst="ellipse">
              <a:avLst/>
            </a:prstGeom>
            <a:solidFill>
              <a:srgbClr val="FF0000"/>
            </a:solidFill>
            <a:ln w="12700" cap="flat" cmpd="sng" algn="ctr">
              <a:noFill/>
              <a:prstDash val="solid"/>
              <a:miter lim="800000"/>
            </a:ln>
            <a:effectLst/>
          </p:spPr>
          <p:txBody>
            <a:bodyPr rtlCol="0" anchor="ctr"/>
            <a:lstStyle/>
            <a:p>
              <a:pPr algn="ctr" defTabSz="774049">
                <a:defRPr/>
              </a:pPr>
              <a:endParaRPr lang="zh-CN" altLang="en-US" sz="2400" kern="0">
                <a:solidFill>
                  <a:srgbClr val="3864B2"/>
                </a:solidFill>
                <a:latin typeface="Calibri" panose="020F0502020204030204"/>
                <a:ea typeface="等线" panose="02010600030101010101" pitchFamily="2" charset="-122"/>
              </a:endParaRPr>
            </a:p>
          </p:txBody>
        </p:sp>
      </p:grpSp>
    </p:spTree>
    <p:extLst>
      <p:ext uri="{BB962C8B-B14F-4D97-AF65-F5344CB8AC3E}">
        <p14:creationId xmlns:p14="http://schemas.microsoft.com/office/powerpoint/2010/main" val="15874572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1" y="363037"/>
            <a:ext cx="5916700" cy="599491"/>
          </a:xfrm>
        </p:spPr>
        <p:txBody>
          <a:bodyPr>
            <a:normAutofit/>
          </a:bodyPr>
          <a:lstStyle/>
          <a:p>
            <a:r>
              <a:rPr kumimoji="1" lang="zh-CN" altLang="en-US" dirty="0" smtClean="0">
                <a:solidFill>
                  <a:srgbClr val="0078FF"/>
                </a:solidFill>
              </a:rPr>
              <a:t>四季豆产品形态、应用领域及商业模式</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3" name="图片 2"/>
          <p:cNvPicPr>
            <a:picLocks noChangeAspect="1"/>
          </p:cNvPicPr>
          <p:nvPr/>
        </p:nvPicPr>
        <p:blipFill>
          <a:blip r:embed="rId3"/>
          <a:stretch>
            <a:fillRect/>
          </a:stretch>
        </p:blipFill>
        <p:spPr>
          <a:xfrm>
            <a:off x="778874" y="1165851"/>
            <a:ext cx="3083007" cy="5233752"/>
          </a:xfrm>
          <a:prstGeom prst="rect">
            <a:avLst/>
          </a:prstGeom>
        </p:spPr>
      </p:pic>
      <p:grpSp>
        <p:nvGrpSpPr>
          <p:cNvPr id="102" name="组合 101"/>
          <p:cNvGrpSpPr/>
          <p:nvPr/>
        </p:nvGrpSpPr>
        <p:grpSpPr>
          <a:xfrm>
            <a:off x="4067067" y="1449750"/>
            <a:ext cx="5670501" cy="3862816"/>
            <a:chOff x="4002497" y="1790466"/>
            <a:chExt cx="5670501" cy="3862816"/>
          </a:xfrm>
        </p:grpSpPr>
        <p:grpSp>
          <p:nvGrpSpPr>
            <p:cNvPr id="9" name="组合 8"/>
            <p:cNvGrpSpPr/>
            <p:nvPr/>
          </p:nvGrpSpPr>
          <p:grpSpPr>
            <a:xfrm>
              <a:off x="5507455" y="2140085"/>
              <a:ext cx="3214250" cy="3067700"/>
              <a:chOff x="2254250" y="3759200"/>
              <a:chExt cx="3733800" cy="3556464"/>
            </a:xfrm>
          </p:grpSpPr>
          <p:sp>
            <p:nvSpPr>
              <p:cNvPr id="10" name="Freeform 91"/>
              <p:cNvSpPr/>
              <p:nvPr/>
            </p:nvSpPr>
            <p:spPr bwMode="auto">
              <a:xfrm>
                <a:off x="3372157" y="3759200"/>
                <a:ext cx="868349" cy="890239"/>
              </a:xfrm>
              <a:custGeom>
                <a:avLst/>
                <a:gdLst>
                  <a:gd name="T0" fmla="*/ 3012 w 3572"/>
                  <a:gd name="T1" fmla="*/ 1 h 3571"/>
                  <a:gd name="T2" fmla="*/ 3100 w 3572"/>
                  <a:gd name="T3" fmla="*/ 13 h 3571"/>
                  <a:gd name="T4" fmla="*/ 3184 w 3572"/>
                  <a:gd name="T5" fmla="*/ 36 h 3571"/>
                  <a:gd name="T6" fmla="*/ 3263 w 3572"/>
                  <a:gd name="T7" fmla="*/ 72 h 3571"/>
                  <a:gd name="T8" fmla="*/ 3334 w 3572"/>
                  <a:gd name="T9" fmla="*/ 117 h 3571"/>
                  <a:gd name="T10" fmla="*/ 3399 w 3572"/>
                  <a:gd name="T11" fmla="*/ 173 h 3571"/>
                  <a:gd name="T12" fmla="*/ 3455 w 3572"/>
                  <a:gd name="T13" fmla="*/ 237 h 3571"/>
                  <a:gd name="T14" fmla="*/ 3500 w 3572"/>
                  <a:gd name="T15" fmla="*/ 309 h 3571"/>
                  <a:gd name="T16" fmla="*/ 3536 w 3572"/>
                  <a:gd name="T17" fmla="*/ 388 h 3571"/>
                  <a:gd name="T18" fmla="*/ 3559 w 3572"/>
                  <a:gd name="T19" fmla="*/ 472 h 3571"/>
                  <a:gd name="T20" fmla="*/ 3571 w 3572"/>
                  <a:gd name="T21" fmla="*/ 560 h 3571"/>
                  <a:gd name="T22" fmla="*/ 3571 w 3572"/>
                  <a:gd name="T23" fmla="*/ 3012 h 3571"/>
                  <a:gd name="T24" fmla="*/ 3559 w 3572"/>
                  <a:gd name="T25" fmla="*/ 3099 h 3571"/>
                  <a:gd name="T26" fmla="*/ 3536 w 3572"/>
                  <a:gd name="T27" fmla="*/ 3183 h 3571"/>
                  <a:gd name="T28" fmla="*/ 3500 w 3572"/>
                  <a:gd name="T29" fmla="*/ 3262 h 3571"/>
                  <a:gd name="T30" fmla="*/ 3455 w 3572"/>
                  <a:gd name="T31" fmla="*/ 3334 h 3571"/>
                  <a:gd name="T32" fmla="*/ 3399 w 3572"/>
                  <a:gd name="T33" fmla="*/ 3398 h 3571"/>
                  <a:gd name="T34" fmla="*/ 3334 w 3572"/>
                  <a:gd name="T35" fmla="*/ 3454 h 3571"/>
                  <a:gd name="T36" fmla="*/ 3263 w 3572"/>
                  <a:gd name="T37" fmla="*/ 3499 h 3571"/>
                  <a:gd name="T38" fmla="*/ 3184 w 3572"/>
                  <a:gd name="T39" fmla="*/ 3535 h 3571"/>
                  <a:gd name="T40" fmla="*/ 3100 w 3572"/>
                  <a:gd name="T41" fmla="*/ 3559 h 3571"/>
                  <a:gd name="T42" fmla="*/ 3012 w 3572"/>
                  <a:gd name="T43" fmla="*/ 3570 h 3571"/>
                  <a:gd name="T44" fmla="*/ 558 w 3572"/>
                  <a:gd name="T45" fmla="*/ 3570 h 3571"/>
                  <a:gd name="T46" fmla="*/ 471 w 3572"/>
                  <a:gd name="T47" fmla="*/ 3559 h 3571"/>
                  <a:gd name="T48" fmla="*/ 386 w 3572"/>
                  <a:gd name="T49" fmla="*/ 3535 h 3571"/>
                  <a:gd name="T50" fmla="*/ 309 w 3572"/>
                  <a:gd name="T51" fmla="*/ 3499 h 3571"/>
                  <a:gd name="T52" fmla="*/ 237 w 3572"/>
                  <a:gd name="T53" fmla="*/ 3454 h 3571"/>
                  <a:gd name="T54" fmla="*/ 173 w 3572"/>
                  <a:gd name="T55" fmla="*/ 3398 h 3571"/>
                  <a:gd name="T56" fmla="*/ 117 w 3572"/>
                  <a:gd name="T57" fmla="*/ 3334 h 3571"/>
                  <a:gd name="T58" fmla="*/ 72 w 3572"/>
                  <a:gd name="T59" fmla="*/ 3262 h 3571"/>
                  <a:gd name="T60" fmla="*/ 36 w 3572"/>
                  <a:gd name="T61" fmla="*/ 3183 h 3571"/>
                  <a:gd name="T62" fmla="*/ 11 w 3572"/>
                  <a:gd name="T63" fmla="*/ 3099 h 3571"/>
                  <a:gd name="T64" fmla="*/ 1 w 3572"/>
                  <a:gd name="T65" fmla="*/ 3012 h 3571"/>
                  <a:gd name="T66" fmla="*/ 1 w 3572"/>
                  <a:gd name="T67" fmla="*/ 560 h 3571"/>
                  <a:gd name="T68" fmla="*/ 11 w 3572"/>
                  <a:gd name="T69" fmla="*/ 472 h 3571"/>
                  <a:gd name="T70" fmla="*/ 36 w 3572"/>
                  <a:gd name="T71" fmla="*/ 388 h 3571"/>
                  <a:gd name="T72" fmla="*/ 72 w 3572"/>
                  <a:gd name="T73" fmla="*/ 309 h 3571"/>
                  <a:gd name="T74" fmla="*/ 117 w 3572"/>
                  <a:gd name="T75" fmla="*/ 237 h 3571"/>
                  <a:gd name="T76" fmla="*/ 173 w 3572"/>
                  <a:gd name="T77" fmla="*/ 173 h 3571"/>
                  <a:gd name="T78" fmla="*/ 237 w 3572"/>
                  <a:gd name="T79" fmla="*/ 117 h 3571"/>
                  <a:gd name="T80" fmla="*/ 309 w 3572"/>
                  <a:gd name="T81" fmla="*/ 72 h 3571"/>
                  <a:gd name="T82" fmla="*/ 386 w 3572"/>
                  <a:gd name="T83" fmla="*/ 36 h 3571"/>
                  <a:gd name="T84" fmla="*/ 471 w 3572"/>
                  <a:gd name="T85" fmla="*/ 13 h 3571"/>
                  <a:gd name="T86" fmla="*/ 558 w 3572"/>
                  <a:gd name="T87" fmla="*/ 1 h 3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2" h="3571">
                    <a:moveTo>
                      <a:pt x="589" y="0"/>
                    </a:moveTo>
                    <a:lnTo>
                      <a:pt x="2982" y="0"/>
                    </a:lnTo>
                    <a:lnTo>
                      <a:pt x="3012" y="1"/>
                    </a:lnTo>
                    <a:lnTo>
                      <a:pt x="3042" y="4"/>
                    </a:lnTo>
                    <a:lnTo>
                      <a:pt x="3071" y="7"/>
                    </a:lnTo>
                    <a:lnTo>
                      <a:pt x="3100" y="13"/>
                    </a:lnTo>
                    <a:lnTo>
                      <a:pt x="3129" y="19"/>
                    </a:lnTo>
                    <a:lnTo>
                      <a:pt x="3157" y="27"/>
                    </a:lnTo>
                    <a:lnTo>
                      <a:pt x="3184" y="36"/>
                    </a:lnTo>
                    <a:lnTo>
                      <a:pt x="3211" y="47"/>
                    </a:lnTo>
                    <a:lnTo>
                      <a:pt x="3237" y="58"/>
                    </a:lnTo>
                    <a:lnTo>
                      <a:pt x="3263" y="72"/>
                    </a:lnTo>
                    <a:lnTo>
                      <a:pt x="3287" y="86"/>
                    </a:lnTo>
                    <a:lnTo>
                      <a:pt x="3312" y="101"/>
                    </a:lnTo>
                    <a:lnTo>
                      <a:pt x="3334" y="117"/>
                    </a:lnTo>
                    <a:lnTo>
                      <a:pt x="3357" y="135"/>
                    </a:lnTo>
                    <a:lnTo>
                      <a:pt x="3378" y="153"/>
                    </a:lnTo>
                    <a:lnTo>
                      <a:pt x="3399" y="173"/>
                    </a:lnTo>
                    <a:lnTo>
                      <a:pt x="3419" y="194"/>
                    </a:lnTo>
                    <a:lnTo>
                      <a:pt x="3437" y="215"/>
                    </a:lnTo>
                    <a:lnTo>
                      <a:pt x="3455" y="237"/>
                    </a:lnTo>
                    <a:lnTo>
                      <a:pt x="3471" y="260"/>
                    </a:lnTo>
                    <a:lnTo>
                      <a:pt x="3486" y="285"/>
                    </a:lnTo>
                    <a:lnTo>
                      <a:pt x="3500" y="309"/>
                    </a:lnTo>
                    <a:lnTo>
                      <a:pt x="3514" y="334"/>
                    </a:lnTo>
                    <a:lnTo>
                      <a:pt x="3525" y="361"/>
                    </a:lnTo>
                    <a:lnTo>
                      <a:pt x="3536" y="388"/>
                    </a:lnTo>
                    <a:lnTo>
                      <a:pt x="3545" y="415"/>
                    </a:lnTo>
                    <a:lnTo>
                      <a:pt x="3553" y="442"/>
                    </a:lnTo>
                    <a:lnTo>
                      <a:pt x="3559" y="472"/>
                    </a:lnTo>
                    <a:lnTo>
                      <a:pt x="3565" y="501"/>
                    </a:lnTo>
                    <a:lnTo>
                      <a:pt x="3568" y="530"/>
                    </a:lnTo>
                    <a:lnTo>
                      <a:pt x="3571" y="560"/>
                    </a:lnTo>
                    <a:lnTo>
                      <a:pt x="3572" y="590"/>
                    </a:lnTo>
                    <a:lnTo>
                      <a:pt x="3572" y="2982"/>
                    </a:lnTo>
                    <a:lnTo>
                      <a:pt x="3571" y="3012"/>
                    </a:lnTo>
                    <a:lnTo>
                      <a:pt x="3568" y="3041"/>
                    </a:lnTo>
                    <a:lnTo>
                      <a:pt x="3565" y="3072"/>
                    </a:lnTo>
                    <a:lnTo>
                      <a:pt x="3559" y="3099"/>
                    </a:lnTo>
                    <a:lnTo>
                      <a:pt x="3553" y="3128"/>
                    </a:lnTo>
                    <a:lnTo>
                      <a:pt x="3545" y="3156"/>
                    </a:lnTo>
                    <a:lnTo>
                      <a:pt x="3536" y="3183"/>
                    </a:lnTo>
                    <a:lnTo>
                      <a:pt x="3525" y="3211"/>
                    </a:lnTo>
                    <a:lnTo>
                      <a:pt x="3514" y="3236"/>
                    </a:lnTo>
                    <a:lnTo>
                      <a:pt x="3500" y="3262"/>
                    </a:lnTo>
                    <a:lnTo>
                      <a:pt x="3486" y="3286"/>
                    </a:lnTo>
                    <a:lnTo>
                      <a:pt x="3471" y="3311"/>
                    </a:lnTo>
                    <a:lnTo>
                      <a:pt x="3455" y="3334"/>
                    </a:lnTo>
                    <a:lnTo>
                      <a:pt x="3437" y="3356"/>
                    </a:lnTo>
                    <a:lnTo>
                      <a:pt x="3419" y="3377"/>
                    </a:lnTo>
                    <a:lnTo>
                      <a:pt x="3399" y="3398"/>
                    </a:lnTo>
                    <a:lnTo>
                      <a:pt x="3378" y="3418"/>
                    </a:lnTo>
                    <a:lnTo>
                      <a:pt x="3357" y="3436"/>
                    </a:lnTo>
                    <a:lnTo>
                      <a:pt x="3334" y="3454"/>
                    </a:lnTo>
                    <a:lnTo>
                      <a:pt x="3312" y="3470"/>
                    </a:lnTo>
                    <a:lnTo>
                      <a:pt x="3287" y="3485"/>
                    </a:lnTo>
                    <a:lnTo>
                      <a:pt x="3263" y="3499"/>
                    </a:lnTo>
                    <a:lnTo>
                      <a:pt x="3237" y="3513"/>
                    </a:lnTo>
                    <a:lnTo>
                      <a:pt x="3211" y="3524"/>
                    </a:lnTo>
                    <a:lnTo>
                      <a:pt x="3184" y="3535"/>
                    </a:lnTo>
                    <a:lnTo>
                      <a:pt x="3157" y="3544"/>
                    </a:lnTo>
                    <a:lnTo>
                      <a:pt x="3129" y="3552"/>
                    </a:lnTo>
                    <a:lnTo>
                      <a:pt x="3100" y="3559"/>
                    </a:lnTo>
                    <a:lnTo>
                      <a:pt x="3071" y="3564"/>
                    </a:lnTo>
                    <a:lnTo>
                      <a:pt x="3042" y="3567"/>
                    </a:lnTo>
                    <a:lnTo>
                      <a:pt x="3012" y="3570"/>
                    </a:lnTo>
                    <a:lnTo>
                      <a:pt x="2982" y="3571"/>
                    </a:lnTo>
                    <a:lnTo>
                      <a:pt x="589" y="3571"/>
                    </a:lnTo>
                    <a:lnTo>
                      <a:pt x="558" y="3570"/>
                    </a:lnTo>
                    <a:lnTo>
                      <a:pt x="529" y="3567"/>
                    </a:lnTo>
                    <a:lnTo>
                      <a:pt x="499" y="3564"/>
                    </a:lnTo>
                    <a:lnTo>
                      <a:pt x="471" y="3559"/>
                    </a:lnTo>
                    <a:lnTo>
                      <a:pt x="442" y="3552"/>
                    </a:lnTo>
                    <a:lnTo>
                      <a:pt x="414" y="3544"/>
                    </a:lnTo>
                    <a:lnTo>
                      <a:pt x="386" y="3535"/>
                    </a:lnTo>
                    <a:lnTo>
                      <a:pt x="360" y="3524"/>
                    </a:lnTo>
                    <a:lnTo>
                      <a:pt x="334" y="3513"/>
                    </a:lnTo>
                    <a:lnTo>
                      <a:pt x="309" y="3499"/>
                    </a:lnTo>
                    <a:lnTo>
                      <a:pt x="284" y="3485"/>
                    </a:lnTo>
                    <a:lnTo>
                      <a:pt x="260" y="3470"/>
                    </a:lnTo>
                    <a:lnTo>
                      <a:pt x="237" y="3454"/>
                    </a:lnTo>
                    <a:lnTo>
                      <a:pt x="214" y="3436"/>
                    </a:lnTo>
                    <a:lnTo>
                      <a:pt x="194" y="3418"/>
                    </a:lnTo>
                    <a:lnTo>
                      <a:pt x="173" y="3398"/>
                    </a:lnTo>
                    <a:lnTo>
                      <a:pt x="153" y="3377"/>
                    </a:lnTo>
                    <a:lnTo>
                      <a:pt x="134" y="3356"/>
                    </a:lnTo>
                    <a:lnTo>
                      <a:pt x="117" y="3334"/>
                    </a:lnTo>
                    <a:lnTo>
                      <a:pt x="101" y="3311"/>
                    </a:lnTo>
                    <a:lnTo>
                      <a:pt x="85" y="3286"/>
                    </a:lnTo>
                    <a:lnTo>
                      <a:pt x="72" y="3262"/>
                    </a:lnTo>
                    <a:lnTo>
                      <a:pt x="58" y="3236"/>
                    </a:lnTo>
                    <a:lnTo>
                      <a:pt x="46" y="3211"/>
                    </a:lnTo>
                    <a:lnTo>
                      <a:pt x="36" y="3183"/>
                    </a:lnTo>
                    <a:lnTo>
                      <a:pt x="26" y="3156"/>
                    </a:lnTo>
                    <a:lnTo>
                      <a:pt x="18" y="3128"/>
                    </a:lnTo>
                    <a:lnTo>
                      <a:pt x="11" y="3099"/>
                    </a:lnTo>
                    <a:lnTo>
                      <a:pt x="6" y="3072"/>
                    </a:lnTo>
                    <a:lnTo>
                      <a:pt x="3" y="3041"/>
                    </a:lnTo>
                    <a:lnTo>
                      <a:pt x="1" y="3012"/>
                    </a:lnTo>
                    <a:lnTo>
                      <a:pt x="0" y="2982"/>
                    </a:lnTo>
                    <a:lnTo>
                      <a:pt x="0" y="590"/>
                    </a:lnTo>
                    <a:lnTo>
                      <a:pt x="1" y="560"/>
                    </a:lnTo>
                    <a:lnTo>
                      <a:pt x="3" y="530"/>
                    </a:lnTo>
                    <a:lnTo>
                      <a:pt x="6" y="501"/>
                    </a:lnTo>
                    <a:lnTo>
                      <a:pt x="11" y="472"/>
                    </a:lnTo>
                    <a:lnTo>
                      <a:pt x="18" y="442"/>
                    </a:lnTo>
                    <a:lnTo>
                      <a:pt x="26" y="415"/>
                    </a:lnTo>
                    <a:lnTo>
                      <a:pt x="36" y="388"/>
                    </a:lnTo>
                    <a:lnTo>
                      <a:pt x="46" y="361"/>
                    </a:lnTo>
                    <a:lnTo>
                      <a:pt x="58" y="334"/>
                    </a:lnTo>
                    <a:lnTo>
                      <a:pt x="72" y="309"/>
                    </a:lnTo>
                    <a:lnTo>
                      <a:pt x="85" y="285"/>
                    </a:lnTo>
                    <a:lnTo>
                      <a:pt x="101" y="260"/>
                    </a:lnTo>
                    <a:lnTo>
                      <a:pt x="117" y="237"/>
                    </a:lnTo>
                    <a:lnTo>
                      <a:pt x="134" y="215"/>
                    </a:lnTo>
                    <a:lnTo>
                      <a:pt x="153" y="194"/>
                    </a:lnTo>
                    <a:lnTo>
                      <a:pt x="173" y="173"/>
                    </a:lnTo>
                    <a:lnTo>
                      <a:pt x="194" y="153"/>
                    </a:lnTo>
                    <a:lnTo>
                      <a:pt x="214" y="135"/>
                    </a:lnTo>
                    <a:lnTo>
                      <a:pt x="237" y="117"/>
                    </a:lnTo>
                    <a:lnTo>
                      <a:pt x="260" y="101"/>
                    </a:lnTo>
                    <a:lnTo>
                      <a:pt x="284" y="86"/>
                    </a:lnTo>
                    <a:lnTo>
                      <a:pt x="309" y="72"/>
                    </a:lnTo>
                    <a:lnTo>
                      <a:pt x="334" y="58"/>
                    </a:lnTo>
                    <a:lnTo>
                      <a:pt x="360" y="47"/>
                    </a:lnTo>
                    <a:lnTo>
                      <a:pt x="386" y="36"/>
                    </a:lnTo>
                    <a:lnTo>
                      <a:pt x="414" y="27"/>
                    </a:lnTo>
                    <a:lnTo>
                      <a:pt x="442" y="19"/>
                    </a:lnTo>
                    <a:lnTo>
                      <a:pt x="471" y="13"/>
                    </a:lnTo>
                    <a:lnTo>
                      <a:pt x="499" y="7"/>
                    </a:lnTo>
                    <a:lnTo>
                      <a:pt x="529" y="4"/>
                    </a:lnTo>
                    <a:lnTo>
                      <a:pt x="558" y="1"/>
                    </a:lnTo>
                    <a:lnTo>
                      <a:pt x="589"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11" name="Freeform 92"/>
              <p:cNvSpPr/>
              <p:nvPr/>
            </p:nvSpPr>
            <p:spPr bwMode="auto">
              <a:xfrm>
                <a:off x="2254250" y="4451939"/>
                <a:ext cx="869808" cy="888742"/>
              </a:xfrm>
              <a:custGeom>
                <a:avLst/>
                <a:gdLst>
                  <a:gd name="T0" fmla="*/ 3013 w 3572"/>
                  <a:gd name="T1" fmla="*/ 0 h 3570"/>
                  <a:gd name="T2" fmla="*/ 3100 w 3572"/>
                  <a:gd name="T3" fmla="*/ 12 h 3570"/>
                  <a:gd name="T4" fmla="*/ 3185 w 3572"/>
                  <a:gd name="T5" fmla="*/ 36 h 3570"/>
                  <a:gd name="T6" fmla="*/ 3263 w 3572"/>
                  <a:gd name="T7" fmla="*/ 71 h 3570"/>
                  <a:gd name="T8" fmla="*/ 3335 w 3572"/>
                  <a:gd name="T9" fmla="*/ 117 h 3570"/>
                  <a:gd name="T10" fmla="*/ 3399 w 3572"/>
                  <a:gd name="T11" fmla="*/ 173 h 3570"/>
                  <a:gd name="T12" fmla="*/ 3455 w 3572"/>
                  <a:gd name="T13" fmla="*/ 237 h 3570"/>
                  <a:gd name="T14" fmla="*/ 3500 w 3572"/>
                  <a:gd name="T15" fmla="*/ 309 h 3570"/>
                  <a:gd name="T16" fmla="*/ 3536 w 3572"/>
                  <a:gd name="T17" fmla="*/ 387 h 3570"/>
                  <a:gd name="T18" fmla="*/ 3560 w 3572"/>
                  <a:gd name="T19" fmla="*/ 470 h 3570"/>
                  <a:gd name="T20" fmla="*/ 3571 w 3572"/>
                  <a:gd name="T21" fmla="*/ 559 h 3570"/>
                  <a:gd name="T22" fmla="*/ 3571 w 3572"/>
                  <a:gd name="T23" fmla="*/ 3011 h 3570"/>
                  <a:gd name="T24" fmla="*/ 3560 w 3572"/>
                  <a:gd name="T25" fmla="*/ 3099 h 3570"/>
                  <a:gd name="T26" fmla="*/ 3536 w 3572"/>
                  <a:gd name="T27" fmla="*/ 3183 h 3570"/>
                  <a:gd name="T28" fmla="*/ 3500 w 3572"/>
                  <a:gd name="T29" fmla="*/ 3261 h 3570"/>
                  <a:gd name="T30" fmla="*/ 3455 w 3572"/>
                  <a:gd name="T31" fmla="*/ 3333 h 3570"/>
                  <a:gd name="T32" fmla="*/ 3399 w 3572"/>
                  <a:gd name="T33" fmla="*/ 3397 h 3570"/>
                  <a:gd name="T34" fmla="*/ 3335 w 3572"/>
                  <a:gd name="T35" fmla="*/ 3452 h 3570"/>
                  <a:gd name="T36" fmla="*/ 3263 w 3572"/>
                  <a:gd name="T37" fmla="*/ 3499 h 3570"/>
                  <a:gd name="T38" fmla="*/ 3185 w 3572"/>
                  <a:gd name="T39" fmla="*/ 3534 h 3570"/>
                  <a:gd name="T40" fmla="*/ 3100 w 3572"/>
                  <a:gd name="T41" fmla="*/ 3558 h 3570"/>
                  <a:gd name="T42" fmla="*/ 3013 w 3572"/>
                  <a:gd name="T43" fmla="*/ 3570 h 3570"/>
                  <a:gd name="T44" fmla="*/ 560 w 3572"/>
                  <a:gd name="T45" fmla="*/ 3570 h 3570"/>
                  <a:gd name="T46" fmla="*/ 471 w 3572"/>
                  <a:gd name="T47" fmla="*/ 3558 h 3570"/>
                  <a:gd name="T48" fmla="*/ 388 w 3572"/>
                  <a:gd name="T49" fmla="*/ 3534 h 3570"/>
                  <a:gd name="T50" fmla="*/ 309 w 3572"/>
                  <a:gd name="T51" fmla="*/ 3499 h 3570"/>
                  <a:gd name="T52" fmla="*/ 238 w 3572"/>
                  <a:gd name="T53" fmla="*/ 3452 h 3570"/>
                  <a:gd name="T54" fmla="*/ 173 w 3572"/>
                  <a:gd name="T55" fmla="*/ 3397 h 3570"/>
                  <a:gd name="T56" fmla="*/ 117 w 3572"/>
                  <a:gd name="T57" fmla="*/ 3333 h 3570"/>
                  <a:gd name="T58" fmla="*/ 72 w 3572"/>
                  <a:gd name="T59" fmla="*/ 3261 h 3570"/>
                  <a:gd name="T60" fmla="*/ 36 w 3572"/>
                  <a:gd name="T61" fmla="*/ 3183 h 3570"/>
                  <a:gd name="T62" fmla="*/ 12 w 3572"/>
                  <a:gd name="T63" fmla="*/ 3099 h 3570"/>
                  <a:gd name="T64" fmla="*/ 1 w 3572"/>
                  <a:gd name="T65" fmla="*/ 3011 h 3570"/>
                  <a:gd name="T66" fmla="*/ 1 w 3572"/>
                  <a:gd name="T67" fmla="*/ 559 h 3570"/>
                  <a:gd name="T68" fmla="*/ 12 w 3572"/>
                  <a:gd name="T69" fmla="*/ 470 h 3570"/>
                  <a:gd name="T70" fmla="*/ 36 w 3572"/>
                  <a:gd name="T71" fmla="*/ 387 h 3570"/>
                  <a:gd name="T72" fmla="*/ 72 w 3572"/>
                  <a:gd name="T73" fmla="*/ 309 h 3570"/>
                  <a:gd name="T74" fmla="*/ 117 w 3572"/>
                  <a:gd name="T75" fmla="*/ 237 h 3570"/>
                  <a:gd name="T76" fmla="*/ 173 w 3572"/>
                  <a:gd name="T77" fmla="*/ 173 h 3570"/>
                  <a:gd name="T78" fmla="*/ 238 w 3572"/>
                  <a:gd name="T79" fmla="*/ 117 h 3570"/>
                  <a:gd name="T80" fmla="*/ 309 w 3572"/>
                  <a:gd name="T81" fmla="*/ 71 h 3570"/>
                  <a:gd name="T82" fmla="*/ 388 w 3572"/>
                  <a:gd name="T83" fmla="*/ 36 h 3570"/>
                  <a:gd name="T84" fmla="*/ 471 w 3572"/>
                  <a:gd name="T85" fmla="*/ 12 h 3570"/>
                  <a:gd name="T86" fmla="*/ 560 w 3572"/>
                  <a:gd name="T87" fmla="*/ 0 h 3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2" h="3570">
                    <a:moveTo>
                      <a:pt x="590" y="0"/>
                    </a:moveTo>
                    <a:lnTo>
                      <a:pt x="2983" y="0"/>
                    </a:lnTo>
                    <a:lnTo>
                      <a:pt x="3013" y="0"/>
                    </a:lnTo>
                    <a:lnTo>
                      <a:pt x="3042" y="2"/>
                    </a:lnTo>
                    <a:lnTo>
                      <a:pt x="3072" y="7"/>
                    </a:lnTo>
                    <a:lnTo>
                      <a:pt x="3100" y="12"/>
                    </a:lnTo>
                    <a:lnTo>
                      <a:pt x="3129" y="19"/>
                    </a:lnTo>
                    <a:lnTo>
                      <a:pt x="3157" y="27"/>
                    </a:lnTo>
                    <a:lnTo>
                      <a:pt x="3185" y="36"/>
                    </a:lnTo>
                    <a:lnTo>
                      <a:pt x="3212" y="47"/>
                    </a:lnTo>
                    <a:lnTo>
                      <a:pt x="3237" y="58"/>
                    </a:lnTo>
                    <a:lnTo>
                      <a:pt x="3263" y="71"/>
                    </a:lnTo>
                    <a:lnTo>
                      <a:pt x="3287" y="85"/>
                    </a:lnTo>
                    <a:lnTo>
                      <a:pt x="3312" y="101"/>
                    </a:lnTo>
                    <a:lnTo>
                      <a:pt x="3335" y="117"/>
                    </a:lnTo>
                    <a:lnTo>
                      <a:pt x="3357" y="135"/>
                    </a:lnTo>
                    <a:lnTo>
                      <a:pt x="3378" y="153"/>
                    </a:lnTo>
                    <a:lnTo>
                      <a:pt x="3399" y="173"/>
                    </a:lnTo>
                    <a:lnTo>
                      <a:pt x="3419" y="193"/>
                    </a:lnTo>
                    <a:lnTo>
                      <a:pt x="3437" y="215"/>
                    </a:lnTo>
                    <a:lnTo>
                      <a:pt x="3455" y="237"/>
                    </a:lnTo>
                    <a:lnTo>
                      <a:pt x="3471" y="260"/>
                    </a:lnTo>
                    <a:lnTo>
                      <a:pt x="3486" y="283"/>
                    </a:lnTo>
                    <a:lnTo>
                      <a:pt x="3500" y="309"/>
                    </a:lnTo>
                    <a:lnTo>
                      <a:pt x="3514" y="335"/>
                    </a:lnTo>
                    <a:lnTo>
                      <a:pt x="3526" y="360"/>
                    </a:lnTo>
                    <a:lnTo>
                      <a:pt x="3536" y="387"/>
                    </a:lnTo>
                    <a:lnTo>
                      <a:pt x="3545" y="415"/>
                    </a:lnTo>
                    <a:lnTo>
                      <a:pt x="3553" y="443"/>
                    </a:lnTo>
                    <a:lnTo>
                      <a:pt x="3560" y="470"/>
                    </a:lnTo>
                    <a:lnTo>
                      <a:pt x="3565" y="499"/>
                    </a:lnTo>
                    <a:lnTo>
                      <a:pt x="3569" y="528"/>
                    </a:lnTo>
                    <a:lnTo>
                      <a:pt x="3571" y="559"/>
                    </a:lnTo>
                    <a:lnTo>
                      <a:pt x="3572" y="589"/>
                    </a:lnTo>
                    <a:lnTo>
                      <a:pt x="3572" y="2981"/>
                    </a:lnTo>
                    <a:lnTo>
                      <a:pt x="3571" y="3011"/>
                    </a:lnTo>
                    <a:lnTo>
                      <a:pt x="3569" y="3041"/>
                    </a:lnTo>
                    <a:lnTo>
                      <a:pt x="3565" y="3070"/>
                    </a:lnTo>
                    <a:lnTo>
                      <a:pt x="3560" y="3099"/>
                    </a:lnTo>
                    <a:lnTo>
                      <a:pt x="3553" y="3127"/>
                    </a:lnTo>
                    <a:lnTo>
                      <a:pt x="3545" y="3155"/>
                    </a:lnTo>
                    <a:lnTo>
                      <a:pt x="3536" y="3183"/>
                    </a:lnTo>
                    <a:lnTo>
                      <a:pt x="3526" y="3210"/>
                    </a:lnTo>
                    <a:lnTo>
                      <a:pt x="3514" y="3235"/>
                    </a:lnTo>
                    <a:lnTo>
                      <a:pt x="3500" y="3261"/>
                    </a:lnTo>
                    <a:lnTo>
                      <a:pt x="3486" y="3286"/>
                    </a:lnTo>
                    <a:lnTo>
                      <a:pt x="3471" y="3310"/>
                    </a:lnTo>
                    <a:lnTo>
                      <a:pt x="3455" y="3333"/>
                    </a:lnTo>
                    <a:lnTo>
                      <a:pt x="3437" y="3355"/>
                    </a:lnTo>
                    <a:lnTo>
                      <a:pt x="3419" y="3377"/>
                    </a:lnTo>
                    <a:lnTo>
                      <a:pt x="3399" y="3397"/>
                    </a:lnTo>
                    <a:lnTo>
                      <a:pt x="3378" y="3416"/>
                    </a:lnTo>
                    <a:lnTo>
                      <a:pt x="3357" y="3435"/>
                    </a:lnTo>
                    <a:lnTo>
                      <a:pt x="3335" y="3452"/>
                    </a:lnTo>
                    <a:lnTo>
                      <a:pt x="3312" y="3469"/>
                    </a:lnTo>
                    <a:lnTo>
                      <a:pt x="3287" y="3485"/>
                    </a:lnTo>
                    <a:lnTo>
                      <a:pt x="3263" y="3499"/>
                    </a:lnTo>
                    <a:lnTo>
                      <a:pt x="3237" y="3512"/>
                    </a:lnTo>
                    <a:lnTo>
                      <a:pt x="3212" y="3523"/>
                    </a:lnTo>
                    <a:lnTo>
                      <a:pt x="3185" y="3534"/>
                    </a:lnTo>
                    <a:lnTo>
                      <a:pt x="3157" y="3543"/>
                    </a:lnTo>
                    <a:lnTo>
                      <a:pt x="3129" y="3551"/>
                    </a:lnTo>
                    <a:lnTo>
                      <a:pt x="3100" y="3558"/>
                    </a:lnTo>
                    <a:lnTo>
                      <a:pt x="3072" y="3564"/>
                    </a:lnTo>
                    <a:lnTo>
                      <a:pt x="3042" y="3567"/>
                    </a:lnTo>
                    <a:lnTo>
                      <a:pt x="3013" y="3570"/>
                    </a:lnTo>
                    <a:lnTo>
                      <a:pt x="2983" y="3570"/>
                    </a:lnTo>
                    <a:lnTo>
                      <a:pt x="590" y="3570"/>
                    </a:lnTo>
                    <a:lnTo>
                      <a:pt x="560" y="3570"/>
                    </a:lnTo>
                    <a:lnTo>
                      <a:pt x="529" y="3567"/>
                    </a:lnTo>
                    <a:lnTo>
                      <a:pt x="500" y="3564"/>
                    </a:lnTo>
                    <a:lnTo>
                      <a:pt x="471" y="3558"/>
                    </a:lnTo>
                    <a:lnTo>
                      <a:pt x="442" y="3551"/>
                    </a:lnTo>
                    <a:lnTo>
                      <a:pt x="414" y="3543"/>
                    </a:lnTo>
                    <a:lnTo>
                      <a:pt x="388" y="3534"/>
                    </a:lnTo>
                    <a:lnTo>
                      <a:pt x="361" y="3523"/>
                    </a:lnTo>
                    <a:lnTo>
                      <a:pt x="334" y="3512"/>
                    </a:lnTo>
                    <a:lnTo>
                      <a:pt x="309" y="3499"/>
                    </a:lnTo>
                    <a:lnTo>
                      <a:pt x="284" y="3485"/>
                    </a:lnTo>
                    <a:lnTo>
                      <a:pt x="260" y="3469"/>
                    </a:lnTo>
                    <a:lnTo>
                      <a:pt x="238" y="3452"/>
                    </a:lnTo>
                    <a:lnTo>
                      <a:pt x="215" y="3435"/>
                    </a:lnTo>
                    <a:lnTo>
                      <a:pt x="194" y="3416"/>
                    </a:lnTo>
                    <a:lnTo>
                      <a:pt x="173" y="3397"/>
                    </a:lnTo>
                    <a:lnTo>
                      <a:pt x="153" y="3377"/>
                    </a:lnTo>
                    <a:lnTo>
                      <a:pt x="136" y="3355"/>
                    </a:lnTo>
                    <a:lnTo>
                      <a:pt x="117" y="3333"/>
                    </a:lnTo>
                    <a:lnTo>
                      <a:pt x="101" y="3310"/>
                    </a:lnTo>
                    <a:lnTo>
                      <a:pt x="86" y="3286"/>
                    </a:lnTo>
                    <a:lnTo>
                      <a:pt x="72" y="3261"/>
                    </a:lnTo>
                    <a:lnTo>
                      <a:pt x="59" y="3235"/>
                    </a:lnTo>
                    <a:lnTo>
                      <a:pt x="46" y="3210"/>
                    </a:lnTo>
                    <a:lnTo>
                      <a:pt x="36" y="3183"/>
                    </a:lnTo>
                    <a:lnTo>
                      <a:pt x="26" y="3155"/>
                    </a:lnTo>
                    <a:lnTo>
                      <a:pt x="18" y="3127"/>
                    </a:lnTo>
                    <a:lnTo>
                      <a:pt x="12" y="3099"/>
                    </a:lnTo>
                    <a:lnTo>
                      <a:pt x="7" y="3070"/>
                    </a:lnTo>
                    <a:lnTo>
                      <a:pt x="3" y="3041"/>
                    </a:lnTo>
                    <a:lnTo>
                      <a:pt x="1" y="3011"/>
                    </a:lnTo>
                    <a:lnTo>
                      <a:pt x="0" y="2981"/>
                    </a:lnTo>
                    <a:lnTo>
                      <a:pt x="0" y="589"/>
                    </a:lnTo>
                    <a:lnTo>
                      <a:pt x="1" y="559"/>
                    </a:lnTo>
                    <a:lnTo>
                      <a:pt x="3" y="528"/>
                    </a:lnTo>
                    <a:lnTo>
                      <a:pt x="7" y="499"/>
                    </a:lnTo>
                    <a:lnTo>
                      <a:pt x="12" y="470"/>
                    </a:lnTo>
                    <a:lnTo>
                      <a:pt x="18" y="443"/>
                    </a:lnTo>
                    <a:lnTo>
                      <a:pt x="26" y="415"/>
                    </a:lnTo>
                    <a:lnTo>
                      <a:pt x="36" y="387"/>
                    </a:lnTo>
                    <a:lnTo>
                      <a:pt x="46" y="360"/>
                    </a:lnTo>
                    <a:lnTo>
                      <a:pt x="59" y="335"/>
                    </a:lnTo>
                    <a:lnTo>
                      <a:pt x="72" y="309"/>
                    </a:lnTo>
                    <a:lnTo>
                      <a:pt x="86" y="283"/>
                    </a:lnTo>
                    <a:lnTo>
                      <a:pt x="101" y="260"/>
                    </a:lnTo>
                    <a:lnTo>
                      <a:pt x="117" y="237"/>
                    </a:lnTo>
                    <a:lnTo>
                      <a:pt x="136" y="215"/>
                    </a:lnTo>
                    <a:lnTo>
                      <a:pt x="153" y="193"/>
                    </a:lnTo>
                    <a:lnTo>
                      <a:pt x="173" y="173"/>
                    </a:lnTo>
                    <a:lnTo>
                      <a:pt x="194" y="153"/>
                    </a:lnTo>
                    <a:lnTo>
                      <a:pt x="215" y="135"/>
                    </a:lnTo>
                    <a:lnTo>
                      <a:pt x="238" y="117"/>
                    </a:lnTo>
                    <a:lnTo>
                      <a:pt x="260" y="101"/>
                    </a:lnTo>
                    <a:lnTo>
                      <a:pt x="284" y="85"/>
                    </a:lnTo>
                    <a:lnTo>
                      <a:pt x="309" y="71"/>
                    </a:lnTo>
                    <a:lnTo>
                      <a:pt x="334" y="58"/>
                    </a:lnTo>
                    <a:lnTo>
                      <a:pt x="361" y="47"/>
                    </a:lnTo>
                    <a:lnTo>
                      <a:pt x="388" y="36"/>
                    </a:lnTo>
                    <a:lnTo>
                      <a:pt x="414" y="27"/>
                    </a:lnTo>
                    <a:lnTo>
                      <a:pt x="442" y="19"/>
                    </a:lnTo>
                    <a:lnTo>
                      <a:pt x="471" y="12"/>
                    </a:lnTo>
                    <a:lnTo>
                      <a:pt x="500" y="7"/>
                    </a:lnTo>
                    <a:lnTo>
                      <a:pt x="529" y="2"/>
                    </a:lnTo>
                    <a:lnTo>
                      <a:pt x="560" y="0"/>
                    </a:lnTo>
                    <a:lnTo>
                      <a:pt x="590"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12" name="Freeform 93"/>
              <p:cNvSpPr/>
              <p:nvPr/>
            </p:nvSpPr>
            <p:spPr bwMode="auto">
              <a:xfrm>
                <a:off x="2254250" y="5768594"/>
                <a:ext cx="869808" cy="890239"/>
              </a:xfrm>
              <a:custGeom>
                <a:avLst/>
                <a:gdLst>
                  <a:gd name="T0" fmla="*/ 3013 w 3572"/>
                  <a:gd name="T1" fmla="*/ 2 h 3571"/>
                  <a:gd name="T2" fmla="*/ 3100 w 3572"/>
                  <a:gd name="T3" fmla="*/ 13 h 3571"/>
                  <a:gd name="T4" fmla="*/ 3185 w 3572"/>
                  <a:gd name="T5" fmla="*/ 36 h 3571"/>
                  <a:gd name="T6" fmla="*/ 3263 w 3572"/>
                  <a:gd name="T7" fmla="*/ 72 h 3571"/>
                  <a:gd name="T8" fmla="*/ 3335 w 3572"/>
                  <a:gd name="T9" fmla="*/ 119 h 3571"/>
                  <a:gd name="T10" fmla="*/ 3399 w 3572"/>
                  <a:gd name="T11" fmla="*/ 173 h 3571"/>
                  <a:gd name="T12" fmla="*/ 3455 w 3572"/>
                  <a:gd name="T13" fmla="*/ 238 h 3571"/>
                  <a:gd name="T14" fmla="*/ 3500 w 3572"/>
                  <a:gd name="T15" fmla="*/ 309 h 3571"/>
                  <a:gd name="T16" fmla="*/ 3536 w 3572"/>
                  <a:gd name="T17" fmla="*/ 388 h 3571"/>
                  <a:gd name="T18" fmla="*/ 3560 w 3572"/>
                  <a:gd name="T19" fmla="*/ 472 h 3571"/>
                  <a:gd name="T20" fmla="*/ 3571 w 3572"/>
                  <a:gd name="T21" fmla="*/ 560 h 3571"/>
                  <a:gd name="T22" fmla="*/ 3571 w 3572"/>
                  <a:gd name="T23" fmla="*/ 3013 h 3571"/>
                  <a:gd name="T24" fmla="*/ 3560 w 3572"/>
                  <a:gd name="T25" fmla="*/ 3101 h 3571"/>
                  <a:gd name="T26" fmla="*/ 3536 w 3572"/>
                  <a:gd name="T27" fmla="*/ 3185 h 3571"/>
                  <a:gd name="T28" fmla="*/ 3500 w 3572"/>
                  <a:gd name="T29" fmla="*/ 3262 h 3571"/>
                  <a:gd name="T30" fmla="*/ 3455 w 3572"/>
                  <a:gd name="T31" fmla="*/ 3334 h 3571"/>
                  <a:gd name="T32" fmla="*/ 3399 w 3572"/>
                  <a:gd name="T33" fmla="*/ 3398 h 3571"/>
                  <a:gd name="T34" fmla="*/ 3335 w 3572"/>
                  <a:gd name="T35" fmla="*/ 3454 h 3571"/>
                  <a:gd name="T36" fmla="*/ 3263 w 3572"/>
                  <a:gd name="T37" fmla="*/ 3500 h 3571"/>
                  <a:gd name="T38" fmla="*/ 3185 w 3572"/>
                  <a:gd name="T39" fmla="*/ 3535 h 3571"/>
                  <a:gd name="T40" fmla="*/ 3100 w 3572"/>
                  <a:gd name="T41" fmla="*/ 3560 h 3571"/>
                  <a:gd name="T42" fmla="*/ 3013 w 3572"/>
                  <a:gd name="T43" fmla="*/ 3570 h 3571"/>
                  <a:gd name="T44" fmla="*/ 560 w 3572"/>
                  <a:gd name="T45" fmla="*/ 3570 h 3571"/>
                  <a:gd name="T46" fmla="*/ 471 w 3572"/>
                  <a:gd name="T47" fmla="*/ 3560 h 3571"/>
                  <a:gd name="T48" fmla="*/ 388 w 3572"/>
                  <a:gd name="T49" fmla="*/ 3535 h 3571"/>
                  <a:gd name="T50" fmla="*/ 309 w 3572"/>
                  <a:gd name="T51" fmla="*/ 3500 h 3571"/>
                  <a:gd name="T52" fmla="*/ 238 w 3572"/>
                  <a:gd name="T53" fmla="*/ 3454 h 3571"/>
                  <a:gd name="T54" fmla="*/ 173 w 3572"/>
                  <a:gd name="T55" fmla="*/ 3398 h 3571"/>
                  <a:gd name="T56" fmla="*/ 117 w 3572"/>
                  <a:gd name="T57" fmla="*/ 3334 h 3571"/>
                  <a:gd name="T58" fmla="*/ 72 w 3572"/>
                  <a:gd name="T59" fmla="*/ 3262 h 3571"/>
                  <a:gd name="T60" fmla="*/ 36 w 3572"/>
                  <a:gd name="T61" fmla="*/ 3185 h 3571"/>
                  <a:gd name="T62" fmla="*/ 12 w 3572"/>
                  <a:gd name="T63" fmla="*/ 3101 h 3571"/>
                  <a:gd name="T64" fmla="*/ 1 w 3572"/>
                  <a:gd name="T65" fmla="*/ 3013 h 3571"/>
                  <a:gd name="T66" fmla="*/ 1 w 3572"/>
                  <a:gd name="T67" fmla="*/ 560 h 3571"/>
                  <a:gd name="T68" fmla="*/ 12 w 3572"/>
                  <a:gd name="T69" fmla="*/ 472 h 3571"/>
                  <a:gd name="T70" fmla="*/ 36 w 3572"/>
                  <a:gd name="T71" fmla="*/ 388 h 3571"/>
                  <a:gd name="T72" fmla="*/ 72 w 3572"/>
                  <a:gd name="T73" fmla="*/ 309 h 3571"/>
                  <a:gd name="T74" fmla="*/ 117 w 3572"/>
                  <a:gd name="T75" fmla="*/ 238 h 3571"/>
                  <a:gd name="T76" fmla="*/ 173 w 3572"/>
                  <a:gd name="T77" fmla="*/ 173 h 3571"/>
                  <a:gd name="T78" fmla="*/ 238 w 3572"/>
                  <a:gd name="T79" fmla="*/ 119 h 3571"/>
                  <a:gd name="T80" fmla="*/ 309 w 3572"/>
                  <a:gd name="T81" fmla="*/ 72 h 3571"/>
                  <a:gd name="T82" fmla="*/ 388 w 3572"/>
                  <a:gd name="T83" fmla="*/ 36 h 3571"/>
                  <a:gd name="T84" fmla="*/ 471 w 3572"/>
                  <a:gd name="T85" fmla="*/ 13 h 3571"/>
                  <a:gd name="T86" fmla="*/ 560 w 3572"/>
                  <a:gd name="T87" fmla="*/ 2 h 3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2" h="3571">
                    <a:moveTo>
                      <a:pt x="590" y="0"/>
                    </a:moveTo>
                    <a:lnTo>
                      <a:pt x="2983" y="0"/>
                    </a:lnTo>
                    <a:lnTo>
                      <a:pt x="3013" y="2"/>
                    </a:lnTo>
                    <a:lnTo>
                      <a:pt x="3042" y="4"/>
                    </a:lnTo>
                    <a:lnTo>
                      <a:pt x="3072" y="7"/>
                    </a:lnTo>
                    <a:lnTo>
                      <a:pt x="3100" y="13"/>
                    </a:lnTo>
                    <a:lnTo>
                      <a:pt x="3129" y="19"/>
                    </a:lnTo>
                    <a:lnTo>
                      <a:pt x="3157" y="27"/>
                    </a:lnTo>
                    <a:lnTo>
                      <a:pt x="3185" y="36"/>
                    </a:lnTo>
                    <a:lnTo>
                      <a:pt x="3212" y="47"/>
                    </a:lnTo>
                    <a:lnTo>
                      <a:pt x="3237" y="60"/>
                    </a:lnTo>
                    <a:lnTo>
                      <a:pt x="3263" y="72"/>
                    </a:lnTo>
                    <a:lnTo>
                      <a:pt x="3287" y="86"/>
                    </a:lnTo>
                    <a:lnTo>
                      <a:pt x="3312" y="101"/>
                    </a:lnTo>
                    <a:lnTo>
                      <a:pt x="3335" y="119"/>
                    </a:lnTo>
                    <a:lnTo>
                      <a:pt x="3357" y="136"/>
                    </a:lnTo>
                    <a:lnTo>
                      <a:pt x="3378" y="155"/>
                    </a:lnTo>
                    <a:lnTo>
                      <a:pt x="3399" y="173"/>
                    </a:lnTo>
                    <a:lnTo>
                      <a:pt x="3419" y="194"/>
                    </a:lnTo>
                    <a:lnTo>
                      <a:pt x="3437" y="216"/>
                    </a:lnTo>
                    <a:lnTo>
                      <a:pt x="3455" y="238"/>
                    </a:lnTo>
                    <a:lnTo>
                      <a:pt x="3471" y="262"/>
                    </a:lnTo>
                    <a:lnTo>
                      <a:pt x="3486" y="285"/>
                    </a:lnTo>
                    <a:lnTo>
                      <a:pt x="3500" y="309"/>
                    </a:lnTo>
                    <a:lnTo>
                      <a:pt x="3514" y="335"/>
                    </a:lnTo>
                    <a:lnTo>
                      <a:pt x="3526" y="362"/>
                    </a:lnTo>
                    <a:lnTo>
                      <a:pt x="3536" y="388"/>
                    </a:lnTo>
                    <a:lnTo>
                      <a:pt x="3545" y="415"/>
                    </a:lnTo>
                    <a:lnTo>
                      <a:pt x="3553" y="443"/>
                    </a:lnTo>
                    <a:lnTo>
                      <a:pt x="3560" y="472"/>
                    </a:lnTo>
                    <a:lnTo>
                      <a:pt x="3565" y="501"/>
                    </a:lnTo>
                    <a:lnTo>
                      <a:pt x="3569" y="530"/>
                    </a:lnTo>
                    <a:lnTo>
                      <a:pt x="3571" y="560"/>
                    </a:lnTo>
                    <a:lnTo>
                      <a:pt x="3572" y="590"/>
                    </a:lnTo>
                    <a:lnTo>
                      <a:pt x="3572" y="2982"/>
                    </a:lnTo>
                    <a:lnTo>
                      <a:pt x="3571" y="3013"/>
                    </a:lnTo>
                    <a:lnTo>
                      <a:pt x="3569" y="3042"/>
                    </a:lnTo>
                    <a:lnTo>
                      <a:pt x="3565" y="3072"/>
                    </a:lnTo>
                    <a:lnTo>
                      <a:pt x="3560" y="3101"/>
                    </a:lnTo>
                    <a:lnTo>
                      <a:pt x="3553" y="3129"/>
                    </a:lnTo>
                    <a:lnTo>
                      <a:pt x="3545" y="3157"/>
                    </a:lnTo>
                    <a:lnTo>
                      <a:pt x="3536" y="3185"/>
                    </a:lnTo>
                    <a:lnTo>
                      <a:pt x="3526" y="3211"/>
                    </a:lnTo>
                    <a:lnTo>
                      <a:pt x="3514" y="3237"/>
                    </a:lnTo>
                    <a:lnTo>
                      <a:pt x="3500" y="3262"/>
                    </a:lnTo>
                    <a:lnTo>
                      <a:pt x="3486" y="3287"/>
                    </a:lnTo>
                    <a:lnTo>
                      <a:pt x="3471" y="3311"/>
                    </a:lnTo>
                    <a:lnTo>
                      <a:pt x="3455" y="3334"/>
                    </a:lnTo>
                    <a:lnTo>
                      <a:pt x="3437" y="3356"/>
                    </a:lnTo>
                    <a:lnTo>
                      <a:pt x="3419" y="3377"/>
                    </a:lnTo>
                    <a:lnTo>
                      <a:pt x="3399" y="3398"/>
                    </a:lnTo>
                    <a:lnTo>
                      <a:pt x="3378" y="3418"/>
                    </a:lnTo>
                    <a:lnTo>
                      <a:pt x="3357" y="3437"/>
                    </a:lnTo>
                    <a:lnTo>
                      <a:pt x="3335" y="3454"/>
                    </a:lnTo>
                    <a:lnTo>
                      <a:pt x="3312" y="3470"/>
                    </a:lnTo>
                    <a:lnTo>
                      <a:pt x="3287" y="3485"/>
                    </a:lnTo>
                    <a:lnTo>
                      <a:pt x="3263" y="3500"/>
                    </a:lnTo>
                    <a:lnTo>
                      <a:pt x="3237" y="3513"/>
                    </a:lnTo>
                    <a:lnTo>
                      <a:pt x="3212" y="3525"/>
                    </a:lnTo>
                    <a:lnTo>
                      <a:pt x="3185" y="3535"/>
                    </a:lnTo>
                    <a:lnTo>
                      <a:pt x="3157" y="3545"/>
                    </a:lnTo>
                    <a:lnTo>
                      <a:pt x="3129" y="3553"/>
                    </a:lnTo>
                    <a:lnTo>
                      <a:pt x="3100" y="3560"/>
                    </a:lnTo>
                    <a:lnTo>
                      <a:pt x="3072" y="3564"/>
                    </a:lnTo>
                    <a:lnTo>
                      <a:pt x="3042" y="3568"/>
                    </a:lnTo>
                    <a:lnTo>
                      <a:pt x="3013" y="3570"/>
                    </a:lnTo>
                    <a:lnTo>
                      <a:pt x="2983" y="3571"/>
                    </a:lnTo>
                    <a:lnTo>
                      <a:pt x="590" y="3571"/>
                    </a:lnTo>
                    <a:lnTo>
                      <a:pt x="560" y="3570"/>
                    </a:lnTo>
                    <a:lnTo>
                      <a:pt x="529" y="3568"/>
                    </a:lnTo>
                    <a:lnTo>
                      <a:pt x="500" y="3564"/>
                    </a:lnTo>
                    <a:lnTo>
                      <a:pt x="471" y="3560"/>
                    </a:lnTo>
                    <a:lnTo>
                      <a:pt x="442" y="3553"/>
                    </a:lnTo>
                    <a:lnTo>
                      <a:pt x="414" y="3545"/>
                    </a:lnTo>
                    <a:lnTo>
                      <a:pt x="388" y="3535"/>
                    </a:lnTo>
                    <a:lnTo>
                      <a:pt x="361" y="3525"/>
                    </a:lnTo>
                    <a:lnTo>
                      <a:pt x="334" y="3513"/>
                    </a:lnTo>
                    <a:lnTo>
                      <a:pt x="309" y="3500"/>
                    </a:lnTo>
                    <a:lnTo>
                      <a:pt x="284" y="3485"/>
                    </a:lnTo>
                    <a:lnTo>
                      <a:pt x="260" y="3470"/>
                    </a:lnTo>
                    <a:lnTo>
                      <a:pt x="238" y="3454"/>
                    </a:lnTo>
                    <a:lnTo>
                      <a:pt x="215" y="3437"/>
                    </a:lnTo>
                    <a:lnTo>
                      <a:pt x="194" y="3418"/>
                    </a:lnTo>
                    <a:lnTo>
                      <a:pt x="173" y="3398"/>
                    </a:lnTo>
                    <a:lnTo>
                      <a:pt x="153" y="3377"/>
                    </a:lnTo>
                    <a:lnTo>
                      <a:pt x="136" y="3356"/>
                    </a:lnTo>
                    <a:lnTo>
                      <a:pt x="117" y="3334"/>
                    </a:lnTo>
                    <a:lnTo>
                      <a:pt x="101" y="3311"/>
                    </a:lnTo>
                    <a:lnTo>
                      <a:pt x="86" y="3287"/>
                    </a:lnTo>
                    <a:lnTo>
                      <a:pt x="72" y="3262"/>
                    </a:lnTo>
                    <a:lnTo>
                      <a:pt x="59" y="3237"/>
                    </a:lnTo>
                    <a:lnTo>
                      <a:pt x="46" y="3211"/>
                    </a:lnTo>
                    <a:lnTo>
                      <a:pt x="36" y="3185"/>
                    </a:lnTo>
                    <a:lnTo>
                      <a:pt x="26" y="3157"/>
                    </a:lnTo>
                    <a:lnTo>
                      <a:pt x="18" y="3129"/>
                    </a:lnTo>
                    <a:lnTo>
                      <a:pt x="12" y="3101"/>
                    </a:lnTo>
                    <a:lnTo>
                      <a:pt x="7" y="3072"/>
                    </a:lnTo>
                    <a:lnTo>
                      <a:pt x="3" y="3042"/>
                    </a:lnTo>
                    <a:lnTo>
                      <a:pt x="1" y="3013"/>
                    </a:lnTo>
                    <a:lnTo>
                      <a:pt x="0" y="2982"/>
                    </a:lnTo>
                    <a:lnTo>
                      <a:pt x="0" y="590"/>
                    </a:lnTo>
                    <a:lnTo>
                      <a:pt x="1" y="560"/>
                    </a:lnTo>
                    <a:lnTo>
                      <a:pt x="3" y="530"/>
                    </a:lnTo>
                    <a:lnTo>
                      <a:pt x="7" y="501"/>
                    </a:lnTo>
                    <a:lnTo>
                      <a:pt x="12" y="472"/>
                    </a:lnTo>
                    <a:lnTo>
                      <a:pt x="18" y="443"/>
                    </a:lnTo>
                    <a:lnTo>
                      <a:pt x="26" y="415"/>
                    </a:lnTo>
                    <a:lnTo>
                      <a:pt x="36" y="388"/>
                    </a:lnTo>
                    <a:lnTo>
                      <a:pt x="46" y="362"/>
                    </a:lnTo>
                    <a:lnTo>
                      <a:pt x="59" y="335"/>
                    </a:lnTo>
                    <a:lnTo>
                      <a:pt x="72" y="309"/>
                    </a:lnTo>
                    <a:lnTo>
                      <a:pt x="86" y="285"/>
                    </a:lnTo>
                    <a:lnTo>
                      <a:pt x="101" y="262"/>
                    </a:lnTo>
                    <a:lnTo>
                      <a:pt x="117" y="238"/>
                    </a:lnTo>
                    <a:lnTo>
                      <a:pt x="136" y="216"/>
                    </a:lnTo>
                    <a:lnTo>
                      <a:pt x="153" y="194"/>
                    </a:lnTo>
                    <a:lnTo>
                      <a:pt x="173" y="173"/>
                    </a:lnTo>
                    <a:lnTo>
                      <a:pt x="194" y="155"/>
                    </a:lnTo>
                    <a:lnTo>
                      <a:pt x="215" y="136"/>
                    </a:lnTo>
                    <a:lnTo>
                      <a:pt x="238" y="119"/>
                    </a:lnTo>
                    <a:lnTo>
                      <a:pt x="260" y="101"/>
                    </a:lnTo>
                    <a:lnTo>
                      <a:pt x="284" y="86"/>
                    </a:lnTo>
                    <a:lnTo>
                      <a:pt x="309" y="72"/>
                    </a:lnTo>
                    <a:lnTo>
                      <a:pt x="334" y="60"/>
                    </a:lnTo>
                    <a:lnTo>
                      <a:pt x="361" y="47"/>
                    </a:lnTo>
                    <a:lnTo>
                      <a:pt x="388" y="36"/>
                    </a:lnTo>
                    <a:lnTo>
                      <a:pt x="414" y="27"/>
                    </a:lnTo>
                    <a:lnTo>
                      <a:pt x="442" y="19"/>
                    </a:lnTo>
                    <a:lnTo>
                      <a:pt x="471" y="13"/>
                    </a:lnTo>
                    <a:lnTo>
                      <a:pt x="500" y="7"/>
                    </a:lnTo>
                    <a:lnTo>
                      <a:pt x="529" y="4"/>
                    </a:lnTo>
                    <a:lnTo>
                      <a:pt x="560" y="2"/>
                    </a:lnTo>
                    <a:lnTo>
                      <a:pt x="590"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13" name="Freeform 94"/>
              <p:cNvSpPr/>
              <p:nvPr/>
            </p:nvSpPr>
            <p:spPr bwMode="auto">
              <a:xfrm>
                <a:off x="3364860" y="6425425"/>
                <a:ext cx="869808" cy="890239"/>
              </a:xfrm>
              <a:custGeom>
                <a:avLst/>
                <a:gdLst>
                  <a:gd name="T0" fmla="*/ 3013 w 3573"/>
                  <a:gd name="T1" fmla="*/ 1 h 3571"/>
                  <a:gd name="T2" fmla="*/ 3101 w 3573"/>
                  <a:gd name="T3" fmla="*/ 13 h 3571"/>
                  <a:gd name="T4" fmla="*/ 3185 w 3573"/>
                  <a:gd name="T5" fmla="*/ 36 h 3571"/>
                  <a:gd name="T6" fmla="*/ 3264 w 3573"/>
                  <a:gd name="T7" fmla="*/ 72 h 3571"/>
                  <a:gd name="T8" fmla="*/ 3336 w 3573"/>
                  <a:gd name="T9" fmla="*/ 117 h 3571"/>
                  <a:gd name="T10" fmla="*/ 3400 w 3573"/>
                  <a:gd name="T11" fmla="*/ 173 h 3571"/>
                  <a:gd name="T12" fmla="*/ 3456 w 3573"/>
                  <a:gd name="T13" fmla="*/ 238 h 3571"/>
                  <a:gd name="T14" fmla="*/ 3501 w 3573"/>
                  <a:gd name="T15" fmla="*/ 309 h 3571"/>
                  <a:gd name="T16" fmla="*/ 3537 w 3573"/>
                  <a:gd name="T17" fmla="*/ 388 h 3571"/>
                  <a:gd name="T18" fmla="*/ 3560 w 3573"/>
                  <a:gd name="T19" fmla="*/ 472 h 3571"/>
                  <a:gd name="T20" fmla="*/ 3572 w 3573"/>
                  <a:gd name="T21" fmla="*/ 560 h 3571"/>
                  <a:gd name="T22" fmla="*/ 3572 w 3573"/>
                  <a:gd name="T23" fmla="*/ 3012 h 3571"/>
                  <a:gd name="T24" fmla="*/ 3560 w 3573"/>
                  <a:gd name="T25" fmla="*/ 3101 h 3571"/>
                  <a:gd name="T26" fmla="*/ 3537 w 3573"/>
                  <a:gd name="T27" fmla="*/ 3184 h 3571"/>
                  <a:gd name="T28" fmla="*/ 3501 w 3573"/>
                  <a:gd name="T29" fmla="*/ 3262 h 3571"/>
                  <a:gd name="T30" fmla="*/ 3456 w 3573"/>
                  <a:gd name="T31" fmla="*/ 3334 h 3571"/>
                  <a:gd name="T32" fmla="*/ 3400 w 3573"/>
                  <a:gd name="T33" fmla="*/ 3398 h 3571"/>
                  <a:gd name="T34" fmla="*/ 3336 w 3573"/>
                  <a:gd name="T35" fmla="*/ 3454 h 3571"/>
                  <a:gd name="T36" fmla="*/ 3264 w 3573"/>
                  <a:gd name="T37" fmla="*/ 3500 h 3571"/>
                  <a:gd name="T38" fmla="*/ 3185 w 3573"/>
                  <a:gd name="T39" fmla="*/ 3535 h 3571"/>
                  <a:gd name="T40" fmla="*/ 3101 w 3573"/>
                  <a:gd name="T41" fmla="*/ 3559 h 3571"/>
                  <a:gd name="T42" fmla="*/ 3013 w 3573"/>
                  <a:gd name="T43" fmla="*/ 3570 h 3571"/>
                  <a:gd name="T44" fmla="*/ 560 w 3573"/>
                  <a:gd name="T45" fmla="*/ 3570 h 3571"/>
                  <a:gd name="T46" fmla="*/ 472 w 3573"/>
                  <a:gd name="T47" fmla="*/ 3559 h 3571"/>
                  <a:gd name="T48" fmla="*/ 389 w 3573"/>
                  <a:gd name="T49" fmla="*/ 3535 h 3571"/>
                  <a:gd name="T50" fmla="*/ 310 w 3573"/>
                  <a:gd name="T51" fmla="*/ 3500 h 3571"/>
                  <a:gd name="T52" fmla="*/ 237 w 3573"/>
                  <a:gd name="T53" fmla="*/ 3454 h 3571"/>
                  <a:gd name="T54" fmla="*/ 174 w 3573"/>
                  <a:gd name="T55" fmla="*/ 3398 h 3571"/>
                  <a:gd name="T56" fmla="*/ 118 w 3573"/>
                  <a:gd name="T57" fmla="*/ 3334 h 3571"/>
                  <a:gd name="T58" fmla="*/ 73 w 3573"/>
                  <a:gd name="T59" fmla="*/ 3262 h 3571"/>
                  <a:gd name="T60" fmla="*/ 36 w 3573"/>
                  <a:gd name="T61" fmla="*/ 3184 h 3571"/>
                  <a:gd name="T62" fmla="*/ 13 w 3573"/>
                  <a:gd name="T63" fmla="*/ 3101 h 3571"/>
                  <a:gd name="T64" fmla="*/ 2 w 3573"/>
                  <a:gd name="T65" fmla="*/ 3012 h 3571"/>
                  <a:gd name="T66" fmla="*/ 2 w 3573"/>
                  <a:gd name="T67" fmla="*/ 560 h 3571"/>
                  <a:gd name="T68" fmla="*/ 13 w 3573"/>
                  <a:gd name="T69" fmla="*/ 472 h 3571"/>
                  <a:gd name="T70" fmla="*/ 36 w 3573"/>
                  <a:gd name="T71" fmla="*/ 388 h 3571"/>
                  <a:gd name="T72" fmla="*/ 73 w 3573"/>
                  <a:gd name="T73" fmla="*/ 309 h 3571"/>
                  <a:gd name="T74" fmla="*/ 118 w 3573"/>
                  <a:gd name="T75" fmla="*/ 238 h 3571"/>
                  <a:gd name="T76" fmla="*/ 174 w 3573"/>
                  <a:gd name="T77" fmla="*/ 173 h 3571"/>
                  <a:gd name="T78" fmla="*/ 237 w 3573"/>
                  <a:gd name="T79" fmla="*/ 117 h 3571"/>
                  <a:gd name="T80" fmla="*/ 310 w 3573"/>
                  <a:gd name="T81" fmla="*/ 72 h 3571"/>
                  <a:gd name="T82" fmla="*/ 389 w 3573"/>
                  <a:gd name="T83" fmla="*/ 36 h 3571"/>
                  <a:gd name="T84" fmla="*/ 472 w 3573"/>
                  <a:gd name="T85" fmla="*/ 13 h 3571"/>
                  <a:gd name="T86" fmla="*/ 560 w 3573"/>
                  <a:gd name="T87" fmla="*/ 1 h 3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3" h="3571">
                    <a:moveTo>
                      <a:pt x="591" y="0"/>
                    </a:moveTo>
                    <a:lnTo>
                      <a:pt x="2983" y="0"/>
                    </a:lnTo>
                    <a:lnTo>
                      <a:pt x="3013" y="1"/>
                    </a:lnTo>
                    <a:lnTo>
                      <a:pt x="3043" y="4"/>
                    </a:lnTo>
                    <a:lnTo>
                      <a:pt x="3072" y="7"/>
                    </a:lnTo>
                    <a:lnTo>
                      <a:pt x="3101" y="13"/>
                    </a:lnTo>
                    <a:lnTo>
                      <a:pt x="3130" y="19"/>
                    </a:lnTo>
                    <a:lnTo>
                      <a:pt x="3158" y="27"/>
                    </a:lnTo>
                    <a:lnTo>
                      <a:pt x="3185" y="36"/>
                    </a:lnTo>
                    <a:lnTo>
                      <a:pt x="3212" y="47"/>
                    </a:lnTo>
                    <a:lnTo>
                      <a:pt x="3238" y="59"/>
                    </a:lnTo>
                    <a:lnTo>
                      <a:pt x="3264" y="72"/>
                    </a:lnTo>
                    <a:lnTo>
                      <a:pt x="3288" y="86"/>
                    </a:lnTo>
                    <a:lnTo>
                      <a:pt x="3313" y="101"/>
                    </a:lnTo>
                    <a:lnTo>
                      <a:pt x="3336" y="117"/>
                    </a:lnTo>
                    <a:lnTo>
                      <a:pt x="3358" y="136"/>
                    </a:lnTo>
                    <a:lnTo>
                      <a:pt x="3379" y="155"/>
                    </a:lnTo>
                    <a:lnTo>
                      <a:pt x="3400" y="173"/>
                    </a:lnTo>
                    <a:lnTo>
                      <a:pt x="3420" y="194"/>
                    </a:lnTo>
                    <a:lnTo>
                      <a:pt x="3438" y="215"/>
                    </a:lnTo>
                    <a:lnTo>
                      <a:pt x="3456" y="238"/>
                    </a:lnTo>
                    <a:lnTo>
                      <a:pt x="3472" y="261"/>
                    </a:lnTo>
                    <a:lnTo>
                      <a:pt x="3487" y="285"/>
                    </a:lnTo>
                    <a:lnTo>
                      <a:pt x="3501" y="309"/>
                    </a:lnTo>
                    <a:lnTo>
                      <a:pt x="3515" y="335"/>
                    </a:lnTo>
                    <a:lnTo>
                      <a:pt x="3526" y="361"/>
                    </a:lnTo>
                    <a:lnTo>
                      <a:pt x="3537" y="388"/>
                    </a:lnTo>
                    <a:lnTo>
                      <a:pt x="3546" y="415"/>
                    </a:lnTo>
                    <a:lnTo>
                      <a:pt x="3554" y="443"/>
                    </a:lnTo>
                    <a:lnTo>
                      <a:pt x="3560" y="472"/>
                    </a:lnTo>
                    <a:lnTo>
                      <a:pt x="3566" y="501"/>
                    </a:lnTo>
                    <a:lnTo>
                      <a:pt x="3569" y="530"/>
                    </a:lnTo>
                    <a:lnTo>
                      <a:pt x="3572" y="560"/>
                    </a:lnTo>
                    <a:lnTo>
                      <a:pt x="3573" y="590"/>
                    </a:lnTo>
                    <a:lnTo>
                      <a:pt x="3573" y="2982"/>
                    </a:lnTo>
                    <a:lnTo>
                      <a:pt x="3572" y="3012"/>
                    </a:lnTo>
                    <a:lnTo>
                      <a:pt x="3569" y="3041"/>
                    </a:lnTo>
                    <a:lnTo>
                      <a:pt x="3566" y="3072"/>
                    </a:lnTo>
                    <a:lnTo>
                      <a:pt x="3560" y="3101"/>
                    </a:lnTo>
                    <a:lnTo>
                      <a:pt x="3554" y="3128"/>
                    </a:lnTo>
                    <a:lnTo>
                      <a:pt x="3546" y="3156"/>
                    </a:lnTo>
                    <a:lnTo>
                      <a:pt x="3537" y="3184"/>
                    </a:lnTo>
                    <a:lnTo>
                      <a:pt x="3526" y="3211"/>
                    </a:lnTo>
                    <a:lnTo>
                      <a:pt x="3515" y="3236"/>
                    </a:lnTo>
                    <a:lnTo>
                      <a:pt x="3501" y="3262"/>
                    </a:lnTo>
                    <a:lnTo>
                      <a:pt x="3487" y="3286"/>
                    </a:lnTo>
                    <a:lnTo>
                      <a:pt x="3472" y="3311"/>
                    </a:lnTo>
                    <a:lnTo>
                      <a:pt x="3456" y="3334"/>
                    </a:lnTo>
                    <a:lnTo>
                      <a:pt x="3438" y="3356"/>
                    </a:lnTo>
                    <a:lnTo>
                      <a:pt x="3420" y="3377"/>
                    </a:lnTo>
                    <a:lnTo>
                      <a:pt x="3400" y="3398"/>
                    </a:lnTo>
                    <a:lnTo>
                      <a:pt x="3379" y="3418"/>
                    </a:lnTo>
                    <a:lnTo>
                      <a:pt x="3358" y="3436"/>
                    </a:lnTo>
                    <a:lnTo>
                      <a:pt x="3336" y="3454"/>
                    </a:lnTo>
                    <a:lnTo>
                      <a:pt x="3313" y="3470"/>
                    </a:lnTo>
                    <a:lnTo>
                      <a:pt x="3288" y="3485"/>
                    </a:lnTo>
                    <a:lnTo>
                      <a:pt x="3264" y="3500"/>
                    </a:lnTo>
                    <a:lnTo>
                      <a:pt x="3238" y="3513"/>
                    </a:lnTo>
                    <a:lnTo>
                      <a:pt x="3212" y="3524"/>
                    </a:lnTo>
                    <a:lnTo>
                      <a:pt x="3185" y="3535"/>
                    </a:lnTo>
                    <a:lnTo>
                      <a:pt x="3158" y="3544"/>
                    </a:lnTo>
                    <a:lnTo>
                      <a:pt x="3130" y="3552"/>
                    </a:lnTo>
                    <a:lnTo>
                      <a:pt x="3101" y="3559"/>
                    </a:lnTo>
                    <a:lnTo>
                      <a:pt x="3072" y="3564"/>
                    </a:lnTo>
                    <a:lnTo>
                      <a:pt x="3043" y="3567"/>
                    </a:lnTo>
                    <a:lnTo>
                      <a:pt x="3013" y="3570"/>
                    </a:lnTo>
                    <a:lnTo>
                      <a:pt x="2983" y="3571"/>
                    </a:lnTo>
                    <a:lnTo>
                      <a:pt x="591" y="3571"/>
                    </a:lnTo>
                    <a:lnTo>
                      <a:pt x="560" y="3570"/>
                    </a:lnTo>
                    <a:lnTo>
                      <a:pt x="530" y="3567"/>
                    </a:lnTo>
                    <a:lnTo>
                      <a:pt x="501" y="3564"/>
                    </a:lnTo>
                    <a:lnTo>
                      <a:pt x="472" y="3559"/>
                    </a:lnTo>
                    <a:lnTo>
                      <a:pt x="443" y="3552"/>
                    </a:lnTo>
                    <a:lnTo>
                      <a:pt x="415" y="3544"/>
                    </a:lnTo>
                    <a:lnTo>
                      <a:pt x="389" y="3535"/>
                    </a:lnTo>
                    <a:lnTo>
                      <a:pt x="362" y="3524"/>
                    </a:lnTo>
                    <a:lnTo>
                      <a:pt x="335" y="3513"/>
                    </a:lnTo>
                    <a:lnTo>
                      <a:pt x="310" y="3500"/>
                    </a:lnTo>
                    <a:lnTo>
                      <a:pt x="285" y="3485"/>
                    </a:lnTo>
                    <a:lnTo>
                      <a:pt x="261" y="3470"/>
                    </a:lnTo>
                    <a:lnTo>
                      <a:pt x="237" y="3454"/>
                    </a:lnTo>
                    <a:lnTo>
                      <a:pt x="215" y="3436"/>
                    </a:lnTo>
                    <a:lnTo>
                      <a:pt x="194" y="3418"/>
                    </a:lnTo>
                    <a:lnTo>
                      <a:pt x="174" y="3398"/>
                    </a:lnTo>
                    <a:lnTo>
                      <a:pt x="154" y="3377"/>
                    </a:lnTo>
                    <a:lnTo>
                      <a:pt x="135" y="3356"/>
                    </a:lnTo>
                    <a:lnTo>
                      <a:pt x="118" y="3334"/>
                    </a:lnTo>
                    <a:lnTo>
                      <a:pt x="102" y="3311"/>
                    </a:lnTo>
                    <a:lnTo>
                      <a:pt x="86" y="3286"/>
                    </a:lnTo>
                    <a:lnTo>
                      <a:pt x="73" y="3262"/>
                    </a:lnTo>
                    <a:lnTo>
                      <a:pt x="59" y="3236"/>
                    </a:lnTo>
                    <a:lnTo>
                      <a:pt x="47" y="3211"/>
                    </a:lnTo>
                    <a:lnTo>
                      <a:pt x="36" y="3184"/>
                    </a:lnTo>
                    <a:lnTo>
                      <a:pt x="27" y="3156"/>
                    </a:lnTo>
                    <a:lnTo>
                      <a:pt x="19" y="3128"/>
                    </a:lnTo>
                    <a:lnTo>
                      <a:pt x="13" y="3101"/>
                    </a:lnTo>
                    <a:lnTo>
                      <a:pt x="7" y="3072"/>
                    </a:lnTo>
                    <a:lnTo>
                      <a:pt x="4" y="3041"/>
                    </a:lnTo>
                    <a:lnTo>
                      <a:pt x="2" y="3012"/>
                    </a:lnTo>
                    <a:lnTo>
                      <a:pt x="0" y="2982"/>
                    </a:lnTo>
                    <a:lnTo>
                      <a:pt x="0" y="590"/>
                    </a:lnTo>
                    <a:lnTo>
                      <a:pt x="2" y="560"/>
                    </a:lnTo>
                    <a:lnTo>
                      <a:pt x="4" y="530"/>
                    </a:lnTo>
                    <a:lnTo>
                      <a:pt x="7" y="501"/>
                    </a:lnTo>
                    <a:lnTo>
                      <a:pt x="13" y="472"/>
                    </a:lnTo>
                    <a:lnTo>
                      <a:pt x="19" y="443"/>
                    </a:lnTo>
                    <a:lnTo>
                      <a:pt x="27" y="415"/>
                    </a:lnTo>
                    <a:lnTo>
                      <a:pt x="36" y="388"/>
                    </a:lnTo>
                    <a:lnTo>
                      <a:pt x="47" y="361"/>
                    </a:lnTo>
                    <a:lnTo>
                      <a:pt x="59" y="335"/>
                    </a:lnTo>
                    <a:lnTo>
                      <a:pt x="73" y="309"/>
                    </a:lnTo>
                    <a:lnTo>
                      <a:pt x="86" y="285"/>
                    </a:lnTo>
                    <a:lnTo>
                      <a:pt x="102" y="261"/>
                    </a:lnTo>
                    <a:lnTo>
                      <a:pt x="118" y="238"/>
                    </a:lnTo>
                    <a:lnTo>
                      <a:pt x="135" y="215"/>
                    </a:lnTo>
                    <a:lnTo>
                      <a:pt x="154" y="194"/>
                    </a:lnTo>
                    <a:lnTo>
                      <a:pt x="174" y="173"/>
                    </a:lnTo>
                    <a:lnTo>
                      <a:pt x="194" y="155"/>
                    </a:lnTo>
                    <a:lnTo>
                      <a:pt x="215" y="136"/>
                    </a:lnTo>
                    <a:lnTo>
                      <a:pt x="237" y="117"/>
                    </a:lnTo>
                    <a:lnTo>
                      <a:pt x="261" y="101"/>
                    </a:lnTo>
                    <a:lnTo>
                      <a:pt x="285" y="86"/>
                    </a:lnTo>
                    <a:lnTo>
                      <a:pt x="310" y="72"/>
                    </a:lnTo>
                    <a:lnTo>
                      <a:pt x="335" y="59"/>
                    </a:lnTo>
                    <a:lnTo>
                      <a:pt x="362" y="47"/>
                    </a:lnTo>
                    <a:lnTo>
                      <a:pt x="389" y="36"/>
                    </a:lnTo>
                    <a:lnTo>
                      <a:pt x="415" y="27"/>
                    </a:lnTo>
                    <a:lnTo>
                      <a:pt x="443" y="19"/>
                    </a:lnTo>
                    <a:lnTo>
                      <a:pt x="472" y="13"/>
                    </a:lnTo>
                    <a:lnTo>
                      <a:pt x="501" y="7"/>
                    </a:lnTo>
                    <a:lnTo>
                      <a:pt x="530" y="4"/>
                    </a:lnTo>
                    <a:lnTo>
                      <a:pt x="560" y="1"/>
                    </a:lnTo>
                    <a:lnTo>
                      <a:pt x="591"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14" name="Freeform 95"/>
              <p:cNvSpPr/>
              <p:nvPr/>
            </p:nvSpPr>
            <p:spPr bwMode="auto">
              <a:xfrm>
                <a:off x="4503199" y="5768594"/>
                <a:ext cx="869808" cy="890239"/>
              </a:xfrm>
              <a:custGeom>
                <a:avLst/>
                <a:gdLst>
                  <a:gd name="T0" fmla="*/ 3013 w 3571"/>
                  <a:gd name="T1" fmla="*/ 2 h 3571"/>
                  <a:gd name="T2" fmla="*/ 3101 w 3571"/>
                  <a:gd name="T3" fmla="*/ 13 h 3571"/>
                  <a:gd name="T4" fmla="*/ 3185 w 3571"/>
                  <a:gd name="T5" fmla="*/ 36 h 3571"/>
                  <a:gd name="T6" fmla="*/ 3262 w 3571"/>
                  <a:gd name="T7" fmla="*/ 72 h 3571"/>
                  <a:gd name="T8" fmla="*/ 3334 w 3571"/>
                  <a:gd name="T9" fmla="*/ 119 h 3571"/>
                  <a:gd name="T10" fmla="*/ 3398 w 3571"/>
                  <a:gd name="T11" fmla="*/ 173 h 3571"/>
                  <a:gd name="T12" fmla="*/ 3454 w 3571"/>
                  <a:gd name="T13" fmla="*/ 238 h 3571"/>
                  <a:gd name="T14" fmla="*/ 3501 w 3571"/>
                  <a:gd name="T15" fmla="*/ 309 h 3571"/>
                  <a:gd name="T16" fmla="*/ 3535 w 3571"/>
                  <a:gd name="T17" fmla="*/ 388 h 3571"/>
                  <a:gd name="T18" fmla="*/ 3560 w 3571"/>
                  <a:gd name="T19" fmla="*/ 472 h 3571"/>
                  <a:gd name="T20" fmla="*/ 3571 w 3571"/>
                  <a:gd name="T21" fmla="*/ 560 h 3571"/>
                  <a:gd name="T22" fmla="*/ 3571 w 3571"/>
                  <a:gd name="T23" fmla="*/ 3013 h 3571"/>
                  <a:gd name="T24" fmla="*/ 3560 w 3571"/>
                  <a:gd name="T25" fmla="*/ 3101 h 3571"/>
                  <a:gd name="T26" fmla="*/ 3535 w 3571"/>
                  <a:gd name="T27" fmla="*/ 3185 h 3571"/>
                  <a:gd name="T28" fmla="*/ 3501 w 3571"/>
                  <a:gd name="T29" fmla="*/ 3262 h 3571"/>
                  <a:gd name="T30" fmla="*/ 3454 w 3571"/>
                  <a:gd name="T31" fmla="*/ 3334 h 3571"/>
                  <a:gd name="T32" fmla="*/ 3398 w 3571"/>
                  <a:gd name="T33" fmla="*/ 3398 h 3571"/>
                  <a:gd name="T34" fmla="*/ 3334 w 3571"/>
                  <a:gd name="T35" fmla="*/ 3454 h 3571"/>
                  <a:gd name="T36" fmla="*/ 3262 w 3571"/>
                  <a:gd name="T37" fmla="*/ 3500 h 3571"/>
                  <a:gd name="T38" fmla="*/ 3185 w 3571"/>
                  <a:gd name="T39" fmla="*/ 3535 h 3571"/>
                  <a:gd name="T40" fmla="*/ 3101 w 3571"/>
                  <a:gd name="T41" fmla="*/ 3560 h 3571"/>
                  <a:gd name="T42" fmla="*/ 3013 w 3571"/>
                  <a:gd name="T43" fmla="*/ 3570 h 3571"/>
                  <a:gd name="T44" fmla="*/ 559 w 3571"/>
                  <a:gd name="T45" fmla="*/ 3570 h 3571"/>
                  <a:gd name="T46" fmla="*/ 471 w 3571"/>
                  <a:gd name="T47" fmla="*/ 3560 h 3571"/>
                  <a:gd name="T48" fmla="*/ 387 w 3571"/>
                  <a:gd name="T49" fmla="*/ 3535 h 3571"/>
                  <a:gd name="T50" fmla="*/ 309 w 3571"/>
                  <a:gd name="T51" fmla="*/ 3500 h 3571"/>
                  <a:gd name="T52" fmla="*/ 237 w 3571"/>
                  <a:gd name="T53" fmla="*/ 3454 h 3571"/>
                  <a:gd name="T54" fmla="*/ 173 w 3571"/>
                  <a:gd name="T55" fmla="*/ 3398 h 3571"/>
                  <a:gd name="T56" fmla="*/ 118 w 3571"/>
                  <a:gd name="T57" fmla="*/ 3334 h 3571"/>
                  <a:gd name="T58" fmla="*/ 71 w 3571"/>
                  <a:gd name="T59" fmla="*/ 3262 h 3571"/>
                  <a:gd name="T60" fmla="*/ 36 w 3571"/>
                  <a:gd name="T61" fmla="*/ 3185 h 3571"/>
                  <a:gd name="T62" fmla="*/ 12 w 3571"/>
                  <a:gd name="T63" fmla="*/ 3101 h 3571"/>
                  <a:gd name="T64" fmla="*/ 0 w 3571"/>
                  <a:gd name="T65" fmla="*/ 3013 h 3571"/>
                  <a:gd name="T66" fmla="*/ 0 w 3571"/>
                  <a:gd name="T67" fmla="*/ 560 h 3571"/>
                  <a:gd name="T68" fmla="*/ 12 w 3571"/>
                  <a:gd name="T69" fmla="*/ 472 h 3571"/>
                  <a:gd name="T70" fmla="*/ 36 w 3571"/>
                  <a:gd name="T71" fmla="*/ 388 h 3571"/>
                  <a:gd name="T72" fmla="*/ 71 w 3571"/>
                  <a:gd name="T73" fmla="*/ 309 h 3571"/>
                  <a:gd name="T74" fmla="*/ 118 w 3571"/>
                  <a:gd name="T75" fmla="*/ 238 h 3571"/>
                  <a:gd name="T76" fmla="*/ 173 w 3571"/>
                  <a:gd name="T77" fmla="*/ 173 h 3571"/>
                  <a:gd name="T78" fmla="*/ 237 w 3571"/>
                  <a:gd name="T79" fmla="*/ 119 h 3571"/>
                  <a:gd name="T80" fmla="*/ 309 w 3571"/>
                  <a:gd name="T81" fmla="*/ 72 h 3571"/>
                  <a:gd name="T82" fmla="*/ 387 w 3571"/>
                  <a:gd name="T83" fmla="*/ 36 h 3571"/>
                  <a:gd name="T84" fmla="*/ 471 w 3571"/>
                  <a:gd name="T85" fmla="*/ 13 h 3571"/>
                  <a:gd name="T86" fmla="*/ 559 w 3571"/>
                  <a:gd name="T87" fmla="*/ 2 h 3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1" h="3571">
                    <a:moveTo>
                      <a:pt x="589" y="0"/>
                    </a:moveTo>
                    <a:lnTo>
                      <a:pt x="2982" y="0"/>
                    </a:lnTo>
                    <a:lnTo>
                      <a:pt x="3013" y="2"/>
                    </a:lnTo>
                    <a:lnTo>
                      <a:pt x="3043" y="4"/>
                    </a:lnTo>
                    <a:lnTo>
                      <a:pt x="3072" y="7"/>
                    </a:lnTo>
                    <a:lnTo>
                      <a:pt x="3101" y="13"/>
                    </a:lnTo>
                    <a:lnTo>
                      <a:pt x="3129" y="19"/>
                    </a:lnTo>
                    <a:lnTo>
                      <a:pt x="3157" y="27"/>
                    </a:lnTo>
                    <a:lnTo>
                      <a:pt x="3185" y="36"/>
                    </a:lnTo>
                    <a:lnTo>
                      <a:pt x="3211" y="47"/>
                    </a:lnTo>
                    <a:lnTo>
                      <a:pt x="3237" y="60"/>
                    </a:lnTo>
                    <a:lnTo>
                      <a:pt x="3262" y="72"/>
                    </a:lnTo>
                    <a:lnTo>
                      <a:pt x="3288" y="86"/>
                    </a:lnTo>
                    <a:lnTo>
                      <a:pt x="3311" y="101"/>
                    </a:lnTo>
                    <a:lnTo>
                      <a:pt x="3334" y="119"/>
                    </a:lnTo>
                    <a:lnTo>
                      <a:pt x="3356" y="136"/>
                    </a:lnTo>
                    <a:lnTo>
                      <a:pt x="3379" y="155"/>
                    </a:lnTo>
                    <a:lnTo>
                      <a:pt x="3398" y="173"/>
                    </a:lnTo>
                    <a:lnTo>
                      <a:pt x="3418" y="194"/>
                    </a:lnTo>
                    <a:lnTo>
                      <a:pt x="3437" y="216"/>
                    </a:lnTo>
                    <a:lnTo>
                      <a:pt x="3454" y="238"/>
                    </a:lnTo>
                    <a:lnTo>
                      <a:pt x="3470" y="262"/>
                    </a:lnTo>
                    <a:lnTo>
                      <a:pt x="3487" y="285"/>
                    </a:lnTo>
                    <a:lnTo>
                      <a:pt x="3501" y="309"/>
                    </a:lnTo>
                    <a:lnTo>
                      <a:pt x="3513" y="335"/>
                    </a:lnTo>
                    <a:lnTo>
                      <a:pt x="3525" y="362"/>
                    </a:lnTo>
                    <a:lnTo>
                      <a:pt x="3535" y="388"/>
                    </a:lnTo>
                    <a:lnTo>
                      <a:pt x="3545" y="415"/>
                    </a:lnTo>
                    <a:lnTo>
                      <a:pt x="3553" y="443"/>
                    </a:lnTo>
                    <a:lnTo>
                      <a:pt x="3560" y="472"/>
                    </a:lnTo>
                    <a:lnTo>
                      <a:pt x="3566" y="501"/>
                    </a:lnTo>
                    <a:lnTo>
                      <a:pt x="3569" y="530"/>
                    </a:lnTo>
                    <a:lnTo>
                      <a:pt x="3571" y="560"/>
                    </a:lnTo>
                    <a:lnTo>
                      <a:pt x="3571" y="590"/>
                    </a:lnTo>
                    <a:lnTo>
                      <a:pt x="3571" y="2982"/>
                    </a:lnTo>
                    <a:lnTo>
                      <a:pt x="3571" y="3013"/>
                    </a:lnTo>
                    <a:lnTo>
                      <a:pt x="3569" y="3042"/>
                    </a:lnTo>
                    <a:lnTo>
                      <a:pt x="3566" y="3072"/>
                    </a:lnTo>
                    <a:lnTo>
                      <a:pt x="3560" y="3101"/>
                    </a:lnTo>
                    <a:lnTo>
                      <a:pt x="3553" y="3129"/>
                    </a:lnTo>
                    <a:lnTo>
                      <a:pt x="3545" y="3157"/>
                    </a:lnTo>
                    <a:lnTo>
                      <a:pt x="3535" y="3185"/>
                    </a:lnTo>
                    <a:lnTo>
                      <a:pt x="3525" y="3211"/>
                    </a:lnTo>
                    <a:lnTo>
                      <a:pt x="3513" y="3237"/>
                    </a:lnTo>
                    <a:lnTo>
                      <a:pt x="3501" y="3262"/>
                    </a:lnTo>
                    <a:lnTo>
                      <a:pt x="3487" y="3287"/>
                    </a:lnTo>
                    <a:lnTo>
                      <a:pt x="3470" y="3311"/>
                    </a:lnTo>
                    <a:lnTo>
                      <a:pt x="3454" y="3334"/>
                    </a:lnTo>
                    <a:lnTo>
                      <a:pt x="3437" y="3356"/>
                    </a:lnTo>
                    <a:lnTo>
                      <a:pt x="3418" y="3377"/>
                    </a:lnTo>
                    <a:lnTo>
                      <a:pt x="3398" y="3398"/>
                    </a:lnTo>
                    <a:lnTo>
                      <a:pt x="3379" y="3418"/>
                    </a:lnTo>
                    <a:lnTo>
                      <a:pt x="3356" y="3437"/>
                    </a:lnTo>
                    <a:lnTo>
                      <a:pt x="3334" y="3454"/>
                    </a:lnTo>
                    <a:lnTo>
                      <a:pt x="3311" y="3470"/>
                    </a:lnTo>
                    <a:lnTo>
                      <a:pt x="3288" y="3485"/>
                    </a:lnTo>
                    <a:lnTo>
                      <a:pt x="3262" y="3500"/>
                    </a:lnTo>
                    <a:lnTo>
                      <a:pt x="3237" y="3513"/>
                    </a:lnTo>
                    <a:lnTo>
                      <a:pt x="3211" y="3525"/>
                    </a:lnTo>
                    <a:lnTo>
                      <a:pt x="3185" y="3535"/>
                    </a:lnTo>
                    <a:lnTo>
                      <a:pt x="3157" y="3545"/>
                    </a:lnTo>
                    <a:lnTo>
                      <a:pt x="3129" y="3553"/>
                    </a:lnTo>
                    <a:lnTo>
                      <a:pt x="3101" y="3560"/>
                    </a:lnTo>
                    <a:lnTo>
                      <a:pt x="3072" y="3564"/>
                    </a:lnTo>
                    <a:lnTo>
                      <a:pt x="3043" y="3568"/>
                    </a:lnTo>
                    <a:lnTo>
                      <a:pt x="3013" y="3570"/>
                    </a:lnTo>
                    <a:lnTo>
                      <a:pt x="2982" y="3571"/>
                    </a:lnTo>
                    <a:lnTo>
                      <a:pt x="589" y="3571"/>
                    </a:lnTo>
                    <a:lnTo>
                      <a:pt x="559" y="3570"/>
                    </a:lnTo>
                    <a:lnTo>
                      <a:pt x="529" y="3568"/>
                    </a:lnTo>
                    <a:lnTo>
                      <a:pt x="500" y="3564"/>
                    </a:lnTo>
                    <a:lnTo>
                      <a:pt x="471" y="3560"/>
                    </a:lnTo>
                    <a:lnTo>
                      <a:pt x="443" y="3553"/>
                    </a:lnTo>
                    <a:lnTo>
                      <a:pt x="415" y="3545"/>
                    </a:lnTo>
                    <a:lnTo>
                      <a:pt x="387" y="3535"/>
                    </a:lnTo>
                    <a:lnTo>
                      <a:pt x="360" y="3525"/>
                    </a:lnTo>
                    <a:lnTo>
                      <a:pt x="335" y="3513"/>
                    </a:lnTo>
                    <a:lnTo>
                      <a:pt x="309" y="3500"/>
                    </a:lnTo>
                    <a:lnTo>
                      <a:pt x="285" y="3485"/>
                    </a:lnTo>
                    <a:lnTo>
                      <a:pt x="260" y="3470"/>
                    </a:lnTo>
                    <a:lnTo>
                      <a:pt x="237" y="3454"/>
                    </a:lnTo>
                    <a:lnTo>
                      <a:pt x="215" y="3437"/>
                    </a:lnTo>
                    <a:lnTo>
                      <a:pt x="193" y="3418"/>
                    </a:lnTo>
                    <a:lnTo>
                      <a:pt x="173" y="3398"/>
                    </a:lnTo>
                    <a:lnTo>
                      <a:pt x="154" y="3377"/>
                    </a:lnTo>
                    <a:lnTo>
                      <a:pt x="135" y="3356"/>
                    </a:lnTo>
                    <a:lnTo>
                      <a:pt x="118" y="3334"/>
                    </a:lnTo>
                    <a:lnTo>
                      <a:pt x="101" y="3311"/>
                    </a:lnTo>
                    <a:lnTo>
                      <a:pt x="85" y="3287"/>
                    </a:lnTo>
                    <a:lnTo>
                      <a:pt x="71" y="3262"/>
                    </a:lnTo>
                    <a:lnTo>
                      <a:pt x="58" y="3237"/>
                    </a:lnTo>
                    <a:lnTo>
                      <a:pt x="47" y="3211"/>
                    </a:lnTo>
                    <a:lnTo>
                      <a:pt x="36" y="3185"/>
                    </a:lnTo>
                    <a:lnTo>
                      <a:pt x="27" y="3157"/>
                    </a:lnTo>
                    <a:lnTo>
                      <a:pt x="19" y="3129"/>
                    </a:lnTo>
                    <a:lnTo>
                      <a:pt x="12" y="3101"/>
                    </a:lnTo>
                    <a:lnTo>
                      <a:pt x="7" y="3072"/>
                    </a:lnTo>
                    <a:lnTo>
                      <a:pt x="2" y="3042"/>
                    </a:lnTo>
                    <a:lnTo>
                      <a:pt x="0" y="3013"/>
                    </a:lnTo>
                    <a:lnTo>
                      <a:pt x="0" y="2982"/>
                    </a:lnTo>
                    <a:lnTo>
                      <a:pt x="0" y="590"/>
                    </a:lnTo>
                    <a:lnTo>
                      <a:pt x="0" y="560"/>
                    </a:lnTo>
                    <a:lnTo>
                      <a:pt x="2" y="530"/>
                    </a:lnTo>
                    <a:lnTo>
                      <a:pt x="7" y="501"/>
                    </a:lnTo>
                    <a:lnTo>
                      <a:pt x="12" y="472"/>
                    </a:lnTo>
                    <a:lnTo>
                      <a:pt x="19" y="443"/>
                    </a:lnTo>
                    <a:lnTo>
                      <a:pt x="27" y="415"/>
                    </a:lnTo>
                    <a:lnTo>
                      <a:pt x="36" y="388"/>
                    </a:lnTo>
                    <a:lnTo>
                      <a:pt x="47" y="362"/>
                    </a:lnTo>
                    <a:lnTo>
                      <a:pt x="58" y="335"/>
                    </a:lnTo>
                    <a:lnTo>
                      <a:pt x="71" y="309"/>
                    </a:lnTo>
                    <a:lnTo>
                      <a:pt x="85" y="285"/>
                    </a:lnTo>
                    <a:lnTo>
                      <a:pt x="101" y="262"/>
                    </a:lnTo>
                    <a:lnTo>
                      <a:pt x="118" y="238"/>
                    </a:lnTo>
                    <a:lnTo>
                      <a:pt x="135" y="216"/>
                    </a:lnTo>
                    <a:lnTo>
                      <a:pt x="154" y="194"/>
                    </a:lnTo>
                    <a:lnTo>
                      <a:pt x="173" y="173"/>
                    </a:lnTo>
                    <a:lnTo>
                      <a:pt x="193" y="155"/>
                    </a:lnTo>
                    <a:lnTo>
                      <a:pt x="215" y="136"/>
                    </a:lnTo>
                    <a:lnTo>
                      <a:pt x="237" y="119"/>
                    </a:lnTo>
                    <a:lnTo>
                      <a:pt x="260" y="101"/>
                    </a:lnTo>
                    <a:lnTo>
                      <a:pt x="285" y="86"/>
                    </a:lnTo>
                    <a:lnTo>
                      <a:pt x="309" y="72"/>
                    </a:lnTo>
                    <a:lnTo>
                      <a:pt x="335" y="60"/>
                    </a:lnTo>
                    <a:lnTo>
                      <a:pt x="360" y="47"/>
                    </a:lnTo>
                    <a:lnTo>
                      <a:pt x="387" y="36"/>
                    </a:lnTo>
                    <a:lnTo>
                      <a:pt x="415" y="27"/>
                    </a:lnTo>
                    <a:lnTo>
                      <a:pt x="443" y="19"/>
                    </a:lnTo>
                    <a:lnTo>
                      <a:pt x="471" y="13"/>
                    </a:lnTo>
                    <a:lnTo>
                      <a:pt x="500" y="7"/>
                    </a:lnTo>
                    <a:lnTo>
                      <a:pt x="529" y="4"/>
                    </a:lnTo>
                    <a:lnTo>
                      <a:pt x="559" y="2"/>
                    </a:lnTo>
                    <a:lnTo>
                      <a:pt x="589"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15" name="Freeform 96"/>
              <p:cNvSpPr/>
              <p:nvPr/>
            </p:nvSpPr>
            <p:spPr bwMode="auto">
              <a:xfrm>
                <a:off x="4503199" y="4451939"/>
                <a:ext cx="869808" cy="888742"/>
              </a:xfrm>
              <a:custGeom>
                <a:avLst/>
                <a:gdLst>
                  <a:gd name="T0" fmla="*/ 3013 w 3571"/>
                  <a:gd name="T1" fmla="*/ 0 h 3570"/>
                  <a:gd name="T2" fmla="*/ 3101 w 3571"/>
                  <a:gd name="T3" fmla="*/ 12 h 3570"/>
                  <a:gd name="T4" fmla="*/ 3185 w 3571"/>
                  <a:gd name="T5" fmla="*/ 36 h 3570"/>
                  <a:gd name="T6" fmla="*/ 3262 w 3571"/>
                  <a:gd name="T7" fmla="*/ 71 h 3570"/>
                  <a:gd name="T8" fmla="*/ 3334 w 3571"/>
                  <a:gd name="T9" fmla="*/ 117 h 3570"/>
                  <a:gd name="T10" fmla="*/ 3398 w 3571"/>
                  <a:gd name="T11" fmla="*/ 173 h 3570"/>
                  <a:gd name="T12" fmla="*/ 3454 w 3571"/>
                  <a:gd name="T13" fmla="*/ 237 h 3570"/>
                  <a:gd name="T14" fmla="*/ 3501 w 3571"/>
                  <a:gd name="T15" fmla="*/ 309 h 3570"/>
                  <a:gd name="T16" fmla="*/ 3535 w 3571"/>
                  <a:gd name="T17" fmla="*/ 387 h 3570"/>
                  <a:gd name="T18" fmla="*/ 3560 w 3571"/>
                  <a:gd name="T19" fmla="*/ 470 h 3570"/>
                  <a:gd name="T20" fmla="*/ 3571 w 3571"/>
                  <a:gd name="T21" fmla="*/ 559 h 3570"/>
                  <a:gd name="T22" fmla="*/ 3571 w 3571"/>
                  <a:gd name="T23" fmla="*/ 3011 h 3570"/>
                  <a:gd name="T24" fmla="*/ 3560 w 3571"/>
                  <a:gd name="T25" fmla="*/ 3099 h 3570"/>
                  <a:gd name="T26" fmla="*/ 3535 w 3571"/>
                  <a:gd name="T27" fmla="*/ 3183 h 3570"/>
                  <a:gd name="T28" fmla="*/ 3501 w 3571"/>
                  <a:gd name="T29" fmla="*/ 3261 h 3570"/>
                  <a:gd name="T30" fmla="*/ 3454 w 3571"/>
                  <a:gd name="T31" fmla="*/ 3333 h 3570"/>
                  <a:gd name="T32" fmla="*/ 3398 w 3571"/>
                  <a:gd name="T33" fmla="*/ 3397 h 3570"/>
                  <a:gd name="T34" fmla="*/ 3334 w 3571"/>
                  <a:gd name="T35" fmla="*/ 3452 h 3570"/>
                  <a:gd name="T36" fmla="*/ 3262 w 3571"/>
                  <a:gd name="T37" fmla="*/ 3499 h 3570"/>
                  <a:gd name="T38" fmla="*/ 3185 w 3571"/>
                  <a:gd name="T39" fmla="*/ 3534 h 3570"/>
                  <a:gd name="T40" fmla="*/ 3101 w 3571"/>
                  <a:gd name="T41" fmla="*/ 3558 h 3570"/>
                  <a:gd name="T42" fmla="*/ 3013 w 3571"/>
                  <a:gd name="T43" fmla="*/ 3570 h 3570"/>
                  <a:gd name="T44" fmla="*/ 559 w 3571"/>
                  <a:gd name="T45" fmla="*/ 3570 h 3570"/>
                  <a:gd name="T46" fmla="*/ 471 w 3571"/>
                  <a:gd name="T47" fmla="*/ 3558 h 3570"/>
                  <a:gd name="T48" fmla="*/ 387 w 3571"/>
                  <a:gd name="T49" fmla="*/ 3534 h 3570"/>
                  <a:gd name="T50" fmla="*/ 309 w 3571"/>
                  <a:gd name="T51" fmla="*/ 3499 h 3570"/>
                  <a:gd name="T52" fmla="*/ 237 w 3571"/>
                  <a:gd name="T53" fmla="*/ 3452 h 3570"/>
                  <a:gd name="T54" fmla="*/ 173 w 3571"/>
                  <a:gd name="T55" fmla="*/ 3397 h 3570"/>
                  <a:gd name="T56" fmla="*/ 118 w 3571"/>
                  <a:gd name="T57" fmla="*/ 3333 h 3570"/>
                  <a:gd name="T58" fmla="*/ 71 w 3571"/>
                  <a:gd name="T59" fmla="*/ 3261 h 3570"/>
                  <a:gd name="T60" fmla="*/ 36 w 3571"/>
                  <a:gd name="T61" fmla="*/ 3183 h 3570"/>
                  <a:gd name="T62" fmla="*/ 12 w 3571"/>
                  <a:gd name="T63" fmla="*/ 3099 h 3570"/>
                  <a:gd name="T64" fmla="*/ 0 w 3571"/>
                  <a:gd name="T65" fmla="*/ 3011 h 3570"/>
                  <a:gd name="T66" fmla="*/ 0 w 3571"/>
                  <a:gd name="T67" fmla="*/ 559 h 3570"/>
                  <a:gd name="T68" fmla="*/ 12 w 3571"/>
                  <a:gd name="T69" fmla="*/ 470 h 3570"/>
                  <a:gd name="T70" fmla="*/ 36 w 3571"/>
                  <a:gd name="T71" fmla="*/ 387 h 3570"/>
                  <a:gd name="T72" fmla="*/ 71 w 3571"/>
                  <a:gd name="T73" fmla="*/ 309 h 3570"/>
                  <a:gd name="T74" fmla="*/ 118 w 3571"/>
                  <a:gd name="T75" fmla="*/ 237 h 3570"/>
                  <a:gd name="T76" fmla="*/ 173 w 3571"/>
                  <a:gd name="T77" fmla="*/ 173 h 3570"/>
                  <a:gd name="T78" fmla="*/ 237 w 3571"/>
                  <a:gd name="T79" fmla="*/ 117 h 3570"/>
                  <a:gd name="T80" fmla="*/ 309 w 3571"/>
                  <a:gd name="T81" fmla="*/ 71 h 3570"/>
                  <a:gd name="T82" fmla="*/ 387 w 3571"/>
                  <a:gd name="T83" fmla="*/ 36 h 3570"/>
                  <a:gd name="T84" fmla="*/ 471 w 3571"/>
                  <a:gd name="T85" fmla="*/ 12 h 3570"/>
                  <a:gd name="T86" fmla="*/ 559 w 3571"/>
                  <a:gd name="T87" fmla="*/ 0 h 3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71" h="3570">
                    <a:moveTo>
                      <a:pt x="589" y="0"/>
                    </a:moveTo>
                    <a:lnTo>
                      <a:pt x="2982" y="0"/>
                    </a:lnTo>
                    <a:lnTo>
                      <a:pt x="3013" y="0"/>
                    </a:lnTo>
                    <a:lnTo>
                      <a:pt x="3043" y="2"/>
                    </a:lnTo>
                    <a:lnTo>
                      <a:pt x="3072" y="7"/>
                    </a:lnTo>
                    <a:lnTo>
                      <a:pt x="3101" y="12"/>
                    </a:lnTo>
                    <a:lnTo>
                      <a:pt x="3129" y="19"/>
                    </a:lnTo>
                    <a:lnTo>
                      <a:pt x="3157" y="27"/>
                    </a:lnTo>
                    <a:lnTo>
                      <a:pt x="3185" y="36"/>
                    </a:lnTo>
                    <a:lnTo>
                      <a:pt x="3211" y="47"/>
                    </a:lnTo>
                    <a:lnTo>
                      <a:pt x="3237" y="58"/>
                    </a:lnTo>
                    <a:lnTo>
                      <a:pt x="3262" y="71"/>
                    </a:lnTo>
                    <a:lnTo>
                      <a:pt x="3288" y="85"/>
                    </a:lnTo>
                    <a:lnTo>
                      <a:pt x="3311" y="101"/>
                    </a:lnTo>
                    <a:lnTo>
                      <a:pt x="3334" y="117"/>
                    </a:lnTo>
                    <a:lnTo>
                      <a:pt x="3356" y="135"/>
                    </a:lnTo>
                    <a:lnTo>
                      <a:pt x="3379" y="153"/>
                    </a:lnTo>
                    <a:lnTo>
                      <a:pt x="3398" y="173"/>
                    </a:lnTo>
                    <a:lnTo>
                      <a:pt x="3418" y="193"/>
                    </a:lnTo>
                    <a:lnTo>
                      <a:pt x="3437" y="215"/>
                    </a:lnTo>
                    <a:lnTo>
                      <a:pt x="3454" y="237"/>
                    </a:lnTo>
                    <a:lnTo>
                      <a:pt x="3470" y="260"/>
                    </a:lnTo>
                    <a:lnTo>
                      <a:pt x="3487" y="283"/>
                    </a:lnTo>
                    <a:lnTo>
                      <a:pt x="3501" y="309"/>
                    </a:lnTo>
                    <a:lnTo>
                      <a:pt x="3513" y="335"/>
                    </a:lnTo>
                    <a:lnTo>
                      <a:pt x="3525" y="360"/>
                    </a:lnTo>
                    <a:lnTo>
                      <a:pt x="3535" y="387"/>
                    </a:lnTo>
                    <a:lnTo>
                      <a:pt x="3545" y="415"/>
                    </a:lnTo>
                    <a:lnTo>
                      <a:pt x="3553" y="443"/>
                    </a:lnTo>
                    <a:lnTo>
                      <a:pt x="3560" y="470"/>
                    </a:lnTo>
                    <a:lnTo>
                      <a:pt x="3566" y="499"/>
                    </a:lnTo>
                    <a:lnTo>
                      <a:pt x="3569" y="528"/>
                    </a:lnTo>
                    <a:lnTo>
                      <a:pt x="3571" y="559"/>
                    </a:lnTo>
                    <a:lnTo>
                      <a:pt x="3571" y="589"/>
                    </a:lnTo>
                    <a:lnTo>
                      <a:pt x="3571" y="2981"/>
                    </a:lnTo>
                    <a:lnTo>
                      <a:pt x="3571" y="3011"/>
                    </a:lnTo>
                    <a:lnTo>
                      <a:pt x="3569" y="3041"/>
                    </a:lnTo>
                    <a:lnTo>
                      <a:pt x="3566" y="3070"/>
                    </a:lnTo>
                    <a:lnTo>
                      <a:pt x="3560" y="3099"/>
                    </a:lnTo>
                    <a:lnTo>
                      <a:pt x="3553" y="3127"/>
                    </a:lnTo>
                    <a:lnTo>
                      <a:pt x="3545" y="3155"/>
                    </a:lnTo>
                    <a:lnTo>
                      <a:pt x="3535" y="3183"/>
                    </a:lnTo>
                    <a:lnTo>
                      <a:pt x="3525" y="3210"/>
                    </a:lnTo>
                    <a:lnTo>
                      <a:pt x="3513" y="3235"/>
                    </a:lnTo>
                    <a:lnTo>
                      <a:pt x="3501" y="3261"/>
                    </a:lnTo>
                    <a:lnTo>
                      <a:pt x="3487" y="3286"/>
                    </a:lnTo>
                    <a:lnTo>
                      <a:pt x="3470" y="3310"/>
                    </a:lnTo>
                    <a:lnTo>
                      <a:pt x="3454" y="3333"/>
                    </a:lnTo>
                    <a:lnTo>
                      <a:pt x="3437" y="3355"/>
                    </a:lnTo>
                    <a:lnTo>
                      <a:pt x="3418" y="3377"/>
                    </a:lnTo>
                    <a:lnTo>
                      <a:pt x="3398" y="3397"/>
                    </a:lnTo>
                    <a:lnTo>
                      <a:pt x="3379" y="3416"/>
                    </a:lnTo>
                    <a:lnTo>
                      <a:pt x="3356" y="3435"/>
                    </a:lnTo>
                    <a:lnTo>
                      <a:pt x="3334" y="3452"/>
                    </a:lnTo>
                    <a:lnTo>
                      <a:pt x="3311" y="3469"/>
                    </a:lnTo>
                    <a:lnTo>
                      <a:pt x="3288" y="3485"/>
                    </a:lnTo>
                    <a:lnTo>
                      <a:pt x="3262" y="3499"/>
                    </a:lnTo>
                    <a:lnTo>
                      <a:pt x="3237" y="3512"/>
                    </a:lnTo>
                    <a:lnTo>
                      <a:pt x="3211" y="3523"/>
                    </a:lnTo>
                    <a:lnTo>
                      <a:pt x="3185" y="3534"/>
                    </a:lnTo>
                    <a:lnTo>
                      <a:pt x="3157" y="3543"/>
                    </a:lnTo>
                    <a:lnTo>
                      <a:pt x="3129" y="3551"/>
                    </a:lnTo>
                    <a:lnTo>
                      <a:pt x="3101" y="3558"/>
                    </a:lnTo>
                    <a:lnTo>
                      <a:pt x="3072" y="3564"/>
                    </a:lnTo>
                    <a:lnTo>
                      <a:pt x="3043" y="3567"/>
                    </a:lnTo>
                    <a:lnTo>
                      <a:pt x="3013" y="3570"/>
                    </a:lnTo>
                    <a:lnTo>
                      <a:pt x="2982" y="3570"/>
                    </a:lnTo>
                    <a:lnTo>
                      <a:pt x="589" y="3570"/>
                    </a:lnTo>
                    <a:lnTo>
                      <a:pt x="559" y="3570"/>
                    </a:lnTo>
                    <a:lnTo>
                      <a:pt x="529" y="3567"/>
                    </a:lnTo>
                    <a:lnTo>
                      <a:pt x="500" y="3564"/>
                    </a:lnTo>
                    <a:lnTo>
                      <a:pt x="471" y="3558"/>
                    </a:lnTo>
                    <a:lnTo>
                      <a:pt x="443" y="3551"/>
                    </a:lnTo>
                    <a:lnTo>
                      <a:pt x="415" y="3543"/>
                    </a:lnTo>
                    <a:lnTo>
                      <a:pt x="387" y="3534"/>
                    </a:lnTo>
                    <a:lnTo>
                      <a:pt x="360" y="3523"/>
                    </a:lnTo>
                    <a:lnTo>
                      <a:pt x="335" y="3512"/>
                    </a:lnTo>
                    <a:lnTo>
                      <a:pt x="309" y="3499"/>
                    </a:lnTo>
                    <a:lnTo>
                      <a:pt x="285" y="3485"/>
                    </a:lnTo>
                    <a:lnTo>
                      <a:pt x="260" y="3469"/>
                    </a:lnTo>
                    <a:lnTo>
                      <a:pt x="237" y="3452"/>
                    </a:lnTo>
                    <a:lnTo>
                      <a:pt x="215" y="3435"/>
                    </a:lnTo>
                    <a:lnTo>
                      <a:pt x="193" y="3416"/>
                    </a:lnTo>
                    <a:lnTo>
                      <a:pt x="173" y="3397"/>
                    </a:lnTo>
                    <a:lnTo>
                      <a:pt x="154" y="3377"/>
                    </a:lnTo>
                    <a:lnTo>
                      <a:pt x="135" y="3355"/>
                    </a:lnTo>
                    <a:lnTo>
                      <a:pt x="118" y="3333"/>
                    </a:lnTo>
                    <a:lnTo>
                      <a:pt x="101" y="3310"/>
                    </a:lnTo>
                    <a:lnTo>
                      <a:pt x="85" y="3286"/>
                    </a:lnTo>
                    <a:lnTo>
                      <a:pt x="71" y="3261"/>
                    </a:lnTo>
                    <a:lnTo>
                      <a:pt x="58" y="3235"/>
                    </a:lnTo>
                    <a:lnTo>
                      <a:pt x="47" y="3210"/>
                    </a:lnTo>
                    <a:lnTo>
                      <a:pt x="36" y="3183"/>
                    </a:lnTo>
                    <a:lnTo>
                      <a:pt x="27" y="3155"/>
                    </a:lnTo>
                    <a:lnTo>
                      <a:pt x="19" y="3127"/>
                    </a:lnTo>
                    <a:lnTo>
                      <a:pt x="12" y="3099"/>
                    </a:lnTo>
                    <a:lnTo>
                      <a:pt x="7" y="3070"/>
                    </a:lnTo>
                    <a:lnTo>
                      <a:pt x="2" y="3041"/>
                    </a:lnTo>
                    <a:lnTo>
                      <a:pt x="0" y="3011"/>
                    </a:lnTo>
                    <a:lnTo>
                      <a:pt x="0" y="2981"/>
                    </a:lnTo>
                    <a:lnTo>
                      <a:pt x="0" y="589"/>
                    </a:lnTo>
                    <a:lnTo>
                      <a:pt x="0" y="559"/>
                    </a:lnTo>
                    <a:lnTo>
                      <a:pt x="2" y="528"/>
                    </a:lnTo>
                    <a:lnTo>
                      <a:pt x="7" y="499"/>
                    </a:lnTo>
                    <a:lnTo>
                      <a:pt x="12" y="470"/>
                    </a:lnTo>
                    <a:lnTo>
                      <a:pt x="19" y="443"/>
                    </a:lnTo>
                    <a:lnTo>
                      <a:pt x="27" y="415"/>
                    </a:lnTo>
                    <a:lnTo>
                      <a:pt x="36" y="387"/>
                    </a:lnTo>
                    <a:lnTo>
                      <a:pt x="47" y="360"/>
                    </a:lnTo>
                    <a:lnTo>
                      <a:pt x="58" y="335"/>
                    </a:lnTo>
                    <a:lnTo>
                      <a:pt x="71" y="309"/>
                    </a:lnTo>
                    <a:lnTo>
                      <a:pt x="85" y="283"/>
                    </a:lnTo>
                    <a:lnTo>
                      <a:pt x="101" y="260"/>
                    </a:lnTo>
                    <a:lnTo>
                      <a:pt x="118" y="237"/>
                    </a:lnTo>
                    <a:lnTo>
                      <a:pt x="135" y="215"/>
                    </a:lnTo>
                    <a:lnTo>
                      <a:pt x="154" y="193"/>
                    </a:lnTo>
                    <a:lnTo>
                      <a:pt x="173" y="173"/>
                    </a:lnTo>
                    <a:lnTo>
                      <a:pt x="193" y="153"/>
                    </a:lnTo>
                    <a:lnTo>
                      <a:pt x="215" y="135"/>
                    </a:lnTo>
                    <a:lnTo>
                      <a:pt x="237" y="117"/>
                    </a:lnTo>
                    <a:lnTo>
                      <a:pt x="260" y="101"/>
                    </a:lnTo>
                    <a:lnTo>
                      <a:pt x="285" y="85"/>
                    </a:lnTo>
                    <a:lnTo>
                      <a:pt x="309" y="71"/>
                    </a:lnTo>
                    <a:lnTo>
                      <a:pt x="335" y="58"/>
                    </a:lnTo>
                    <a:lnTo>
                      <a:pt x="360" y="47"/>
                    </a:lnTo>
                    <a:lnTo>
                      <a:pt x="387" y="36"/>
                    </a:lnTo>
                    <a:lnTo>
                      <a:pt x="415" y="27"/>
                    </a:lnTo>
                    <a:lnTo>
                      <a:pt x="443" y="19"/>
                    </a:lnTo>
                    <a:lnTo>
                      <a:pt x="471" y="12"/>
                    </a:lnTo>
                    <a:lnTo>
                      <a:pt x="500" y="7"/>
                    </a:lnTo>
                    <a:lnTo>
                      <a:pt x="529" y="2"/>
                    </a:lnTo>
                    <a:lnTo>
                      <a:pt x="559" y="0"/>
                    </a:lnTo>
                    <a:lnTo>
                      <a:pt x="589" y="0"/>
                    </a:lnTo>
                    <a:close/>
                  </a:path>
                </a:pathLst>
              </a:custGeom>
              <a:solidFill>
                <a:srgbClr val="0079C3">
                  <a:alpha val="50000"/>
                </a:srgbClr>
              </a:solidFill>
              <a:ln>
                <a:noFill/>
              </a:ln>
              <a:effectLst>
                <a:reflection blurRad="63500" stA="350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6" name="Freeform 97"/>
              <p:cNvSpPr/>
              <p:nvPr/>
            </p:nvSpPr>
            <p:spPr bwMode="auto">
              <a:xfrm>
                <a:off x="5468500" y="4900397"/>
                <a:ext cx="519550" cy="0"/>
              </a:xfrm>
              <a:custGeom>
                <a:avLst/>
                <a:gdLst>
                  <a:gd name="T0" fmla="*/ 0 w 2137"/>
                  <a:gd name="T1" fmla="*/ 2137 w 2137"/>
                  <a:gd name="T2" fmla="*/ 0 w 2137"/>
                </a:gdLst>
                <a:ahLst/>
                <a:cxnLst>
                  <a:cxn ang="0">
                    <a:pos x="T0" y="0"/>
                  </a:cxn>
                  <a:cxn ang="0">
                    <a:pos x="T1" y="0"/>
                  </a:cxn>
                  <a:cxn ang="0">
                    <a:pos x="T2" y="0"/>
                  </a:cxn>
                </a:cxnLst>
                <a:rect l="0" t="0" r="r" b="b"/>
                <a:pathLst>
                  <a:path w="2137">
                    <a:moveTo>
                      <a:pt x="0" y="0"/>
                    </a:moveTo>
                    <a:lnTo>
                      <a:pt x="2137" y="0"/>
                    </a:lnTo>
                    <a:lnTo>
                      <a:pt x="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nvGrpSpPr>
              <p:cNvPr id="17" name="组合 16"/>
              <p:cNvGrpSpPr>
                <a:grpSpLocks noChangeAspect="1"/>
              </p:cNvGrpSpPr>
              <p:nvPr/>
            </p:nvGrpSpPr>
            <p:grpSpPr>
              <a:xfrm>
                <a:off x="2418687" y="4641838"/>
                <a:ext cx="540936" cy="508943"/>
                <a:chOff x="2236789" y="3223006"/>
                <a:chExt cx="1003300" cy="920750"/>
              </a:xfrm>
            </p:grpSpPr>
            <p:sp>
              <p:nvSpPr>
                <p:cNvPr id="86" name="Freeform 113"/>
                <p:cNvSpPr/>
                <p:nvPr/>
              </p:nvSpPr>
              <p:spPr bwMode="auto">
                <a:xfrm>
                  <a:off x="2730501" y="3669093"/>
                  <a:ext cx="479425" cy="101600"/>
                </a:xfrm>
                <a:custGeom>
                  <a:avLst/>
                  <a:gdLst>
                    <a:gd name="T0" fmla="*/ 558 w 908"/>
                    <a:gd name="T1" fmla="*/ 190 h 190"/>
                    <a:gd name="T2" fmla="*/ 537 w 908"/>
                    <a:gd name="T3" fmla="*/ 189 h 190"/>
                    <a:gd name="T4" fmla="*/ 515 w 908"/>
                    <a:gd name="T5" fmla="*/ 188 h 190"/>
                    <a:gd name="T6" fmla="*/ 495 w 908"/>
                    <a:gd name="T7" fmla="*/ 187 h 190"/>
                    <a:gd name="T8" fmla="*/ 474 w 908"/>
                    <a:gd name="T9" fmla="*/ 183 h 190"/>
                    <a:gd name="T10" fmla="*/ 433 w 908"/>
                    <a:gd name="T11" fmla="*/ 176 h 190"/>
                    <a:gd name="T12" fmla="*/ 393 w 908"/>
                    <a:gd name="T13" fmla="*/ 167 h 190"/>
                    <a:gd name="T14" fmla="*/ 351 w 908"/>
                    <a:gd name="T15" fmla="*/ 155 h 190"/>
                    <a:gd name="T16" fmla="*/ 311 w 908"/>
                    <a:gd name="T17" fmla="*/ 142 h 190"/>
                    <a:gd name="T18" fmla="*/ 270 w 908"/>
                    <a:gd name="T19" fmla="*/ 128 h 190"/>
                    <a:gd name="T20" fmla="*/ 231 w 908"/>
                    <a:gd name="T21" fmla="*/ 113 h 190"/>
                    <a:gd name="T22" fmla="*/ 194 w 908"/>
                    <a:gd name="T23" fmla="*/ 98 h 190"/>
                    <a:gd name="T24" fmla="*/ 159 w 908"/>
                    <a:gd name="T25" fmla="*/ 83 h 190"/>
                    <a:gd name="T26" fmla="*/ 95 w 908"/>
                    <a:gd name="T27" fmla="*/ 54 h 190"/>
                    <a:gd name="T28" fmla="*/ 45 w 908"/>
                    <a:gd name="T29" fmla="*/ 30 h 190"/>
                    <a:gd name="T30" fmla="*/ 11 w 908"/>
                    <a:gd name="T31" fmla="*/ 12 h 190"/>
                    <a:gd name="T32" fmla="*/ 0 w 908"/>
                    <a:gd name="T33" fmla="*/ 6 h 190"/>
                    <a:gd name="T34" fmla="*/ 2 w 908"/>
                    <a:gd name="T35" fmla="*/ 0 h 190"/>
                    <a:gd name="T36" fmla="*/ 15 w 908"/>
                    <a:gd name="T37" fmla="*/ 6 h 190"/>
                    <a:gd name="T38" fmla="*/ 48 w 908"/>
                    <a:gd name="T39" fmla="*/ 24 h 190"/>
                    <a:gd name="T40" fmla="*/ 98 w 908"/>
                    <a:gd name="T41" fmla="*/ 48 h 190"/>
                    <a:gd name="T42" fmla="*/ 161 w 908"/>
                    <a:gd name="T43" fmla="*/ 76 h 190"/>
                    <a:gd name="T44" fmla="*/ 197 w 908"/>
                    <a:gd name="T45" fmla="*/ 92 h 190"/>
                    <a:gd name="T46" fmla="*/ 234 w 908"/>
                    <a:gd name="T47" fmla="*/ 107 h 190"/>
                    <a:gd name="T48" fmla="*/ 273 w 908"/>
                    <a:gd name="T49" fmla="*/ 121 h 190"/>
                    <a:gd name="T50" fmla="*/ 313 w 908"/>
                    <a:gd name="T51" fmla="*/ 136 h 190"/>
                    <a:gd name="T52" fmla="*/ 354 w 908"/>
                    <a:gd name="T53" fmla="*/ 149 h 190"/>
                    <a:gd name="T54" fmla="*/ 394 w 908"/>
                    <a:gd name="T55" fmla="*/ 161 h 190"/>
                    <a:gd name="T56" fmla="*/ 434 w 908"/>
                    <a:gd name="T57" fmla="*/ 170 h 190"/>
                    <a:gd name="T58" fmla="*/ 475 w 908"/>
                    <a:gd name="T59" fmla="*/ 177 h 190"/>
                    <a:gd name="T60" fmla="*/ 495 w 908"/>
                    <a:gd name="T61" fmla="*/ 180 h 190"/>
                    <a:gd name="T62" fmla="*/ 514 w 908"/>
                    <a:gd name="T63" fmla="*/ 182 h 190"/>
                    <a:gd name="T64" fmla="*/ 534 w 908"/>
                    <a:gd name="T65" fmla="*/ 182 h 190"/>
                    <a:gd name="T66" fmla="*/ 554 w 908"/>
                    <a:gd name="T67" fmla="*/ 183 h 190"/>
                    <a:gd name="T68" fmla="*/ 594 w 908"/>
                    <a:gd name="T69" fmla="*/ 182 h 190"/>
                    <a:gd name="T70" fmla="*/ 632 w 908"/>
                    <a:gd name="T71" fmla="*/ 178 h 190"/>
                    <a:gd name="T72" fmla="*/ 668 w 908"/>
                    <a:gd name="T73" fmla="*/ 174 h 190"/>
                    <a:gd name="T74" fmla="*/ 704 w 908"/>
                    <a:gd name="T75" fmla="*/ 168 h 190"/>
                    <a:gd name="T76" fmla="*/ 737 w 908"/>
                    <a:gd name="T77" fmla="*/ 159 h 190"/>
                    <a:gd name="T78" fmla="*/ 769 w 908"/>
                    <a:gd name="T79" fmla="*/ 151 h 190"/>
                    <a:gd name="T80" fmla="*/ 798 w 908"/>
                    <a:gd name="T81" fmla="*/ 142 h 190"/>
                    <a:gd name="T82" fmla="*/ 824 w 908"/>
                    <a:gd name="T83" fmla="*/ 133 h 190"/>
                    <a:gd name="T84" fmla="*/ 848 w 908"/>
                    <a:gd name="T85" fmla="*/ 125 h 190"/>
                    <a:gd name="T86" fmla="*/ 867 w 908"/>
                    <a:gd name="T87" fmla="*/ 117 h 190"/>
                    <a:gd name="T88" fmla="*/ 895 w 908"/>
                    <a:gd name="T89" fmla="*/ 105 h 190"/>
                    <a:gd name="T90" fmla="*/ 906 w 908"/>
                    <a:gd name="T91" fmla="*/ 100 h 190"/>
                    <a:gd name="T92" fmla="*/ 908 w 908"/>
                    <a:gd name="T93" fmla="*/ 106 h 190"/>
                    <a:gd name="T94" fmla="*/ 900 w 908"/>
                    <a:gd name="T95" fmla="*/ 109 h 190"/>
                    <a:gd name="T96" fmla="*/ 879 w 908"/>
                    <a:gd name="T97" fmla="*/ 119 h 190"/>
                    <a:gd name="T98" fmla="*/ 845 w 908"/>
                    <a:gd name="T99" fmla="*/ 133 h 190"/>
                    <a:gd name="T100" fmla="*/ 801 w 908"/>
                    <a:gd name="T101" fmla="*/ 148 h 190"/>
                    <a:gd name="T102" fmla="*/ 777 w 908"/>
                    <a:gd name="T103" fmla="*/ 156 h 190"/>
                    <a:gd name="T104" fmla="*/ 749 w 908"/>
                    <a:gd name="T105" fmla="*/ 163 h 190"/>
                    <a:gd name="T106" fmla="*/ 719 w 908"/>
                    <a:gd name="T107" fmla="*/ 170 h 190"/>
                    <a:gd name="T108" fmla="*/ 690 w 908"/>
                    <a:gd name="T109" fmla="*/ 177 h 190"/>
                    <a:gd name="T110" fmla="*/ 658 w 908"/>
                    <a:gd name="T111" fmla="*/ 182 h 190"/>
                    <a:gd name="T112" fmla="*/ 626 w 908"/>
                    <a:gd name="T113" fmla="*/ 187 h 190"/>
                    <a:gd name="T114" fmla="*/ 591 w 908"/>
                    <a:gd name="T115" fmla="*/ 189 h 190"/>
                    <a:gd name="T116" fmla="*/ 558 w 908"/>
                    <a:gd name="T117"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8" h="190">
                      <a:moveTo>
                        <a:pt x="558" y="190"/>
                      </a:moveTo>
                      <a:lnTo>
                        <a:pt x="537" y="189"/>
                      </a:lnTo>
                      <a:lnTo>
                        <a:pt x="515" y="188"/>
                      </a:lnTo>
                      <a:lnTo>
                        <a:pt x="495" y="187"/>
                      </a:lnTo>
                      <a:lnTo>
                        <a:pt x="474" y="183"/>
                      </a:lnTo>
                      <a:lnTo>
                        <a:pt x="433" y="176"/>
                      </a:lnTo>
                      <a:lnTo>
                        <a:pt x="393" y="167"/>
                      </a:lnTo>
                      <a:lnTo>
                        <a:pt x="351" y="155"/>
                      </a:lnTo>
                      <a:lnTo>
                        <a:pt x="311" y="142"/>
                      </a:lnTo>
                      <a:lnTo>
                        <a:pt x="270" y="128"/>
                      </a:lnTo>
                      <a:lnTo>
                        <a:pt x="231" y="113"/>
                      </a:lnTo>
                      <a:lnTo>
                        <a:pt x="194" y="98"/>
                      </a:lnTo>
                      <a:lnTo>
                        <a:pt x="159" y="83"/>
                      </a:lnTo>
                      <a:lnTo>
                        <a:pt x="95" y="54"/>
                      </a:lnTo>
                      <a:lnTo>
                        <a:pt x="45" y="30"/>
                      </a:lnTo>
                      <a:lnTo>
                        <a:pt x="11" y="12"/>
                      </a:lnTo>
                      <a:lnTo>
                        <a:pt x="0" y="6"/>
                      </a:lnTo>
                      <a:lnTo>
                        <a:pt x="2" y="0"/>
                      </a:lnTo>
                      <a:lnTo>
                        <a:pt x="15" y="6"/>
                      </a:lnTo>
                      <a:lnTo>
                        <a:pt x="48" y="24"/>
                      </a:lnTo>
                      <a:lnTo>
                        <a:pt x="98" y="48"/>
                      </a:lnTo>
                      <a:lnTo>
                        <a:pt x="161" y="76"/>
                      </a:lnTo>
                      <a:lnTo>
                        <a:pt x="197" y="92"/>
                      </a:lnTo>
                      <a:lnTo>
                        <a:pt x="234" y="107"/>
                      </a:lnTo>
                      <a:lnTo>
                        <a:pt x="273" y="121"/>
                      </a:lnTo>
                      <a:lnTo>
                        <a:pt x="313" y="136"/>
                      </a:lnTo>
                      <a:lnTo>
                        <a:pt x="354" y="149"/>
                      </a:lnTo>
                      <a:lnTo>
                        <a:pt x="394" y="161"/>
                      </a:lnTo>
                      <a:lnTo>
                        <a:pt x="434" y="170"/>
                      </a:lnTo>
                      <a:lnTo>
                        <a:pt x="475" y="177"/>
                      </a:lnTo>
                      <a:lnTo>
                        <a:pt x="495" y="180"/>
                      </a:lnTo>
                      <a:lnTo>
                        <a:pt x="514" y="182"/>
                      </a:lnTo>
                      <a:lnTo>
                        <a:pt x="534" y="182"/>
                      </a:lnTo>
                      <a:lnTo>
                        <a:pt x="554" y="183"/>
                      </a:lnTo>
                      <a:lnTo>
                        <a:pt x="594" y="182"/>
                      </a:lnTo>
                      <a:lnTo>
                        <a:pt x="632" y="178"/>
                      </a:lnTo>
                      <a:lnTo>
                        <a:pt x="668" y="174"/>
                      </a:lnTo>
                      <a:lnTo>
                        <a:pt x="704" y="168"/>
                      </a:lnTo>
                      <a:lnTo>
                        <a:pt x="737" y="159"/>
                      </a:lnTo>
                      <a:lnTo>
                        <a:pt x="769" y="151"/>
                      </a:lnTo>
                      <a:lnTo>
                        <a:pt x="798" y="142"/>
                      </a:lnTo>
                      <a:lnTo>
                        <a:pt x="824" y="133"/>
                      </a:lnTo>
                      <a:lnTo>
                        <a:pt x="848" y="125"/>
                      </a:lnTo>
                      <a:lnTo>
                        <a:pt x="867" y="117"/>
                      </a:lnTo>
                      <a:lnTo>
                        <a:pt x="895" y="105"/>
                      </a:lnTo>
                      <a:lnTo>
                        <a:pt x="906" y="100"/>
                      </a:lnTo>
                      <a:lnTo>
                        <a:pt x="908" y="106"/>
                      </a:lnTo>
                      <a:lnTo>
                        <a:pt x="900" y="109"/>
                      </a:lnTo>
                      <a:lnTo>
                        <a:pt x="879" y="119"/>
                      </a:lnTo>
                      <a:lnTo>
                        <a:pt x="845" y="133"/>
                      </a:lnTo>
                      <a:lnTo>
                        <a:pt x="801" y="148"/>
                      </a:lnTo>
                      <a:lnTo>
                        <a:pt x="777" y="156"/>
                      </a:lnTo>
                      <a:lnTo>
                        <a:pt x="749" y="163"/>
                      </a:lnTo>
                      <a:lnTo>
                        <a:pt x="719" y="170"/>
                      </a:lnTo>
                      <a:lnTo>
                        <a:pt x="690" y="177"/>
                      </a:lnTo>
                      <a:lnTo>
                        <a:pt x="658" y="182"/>
                      </a:lnTo>
                      <a:lnTo>
                        <a:pt x="626" y="187"/>
                      </a:lnTo>
                      <a:lnTo>
                        <a:pt x="591" y="189"/>
                      </a:lnTo>
                      <a:lnTo>
                        <a:pt x="558" y="19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7" name="Freeform 114"/>
                <p:cNvSpPr/>
                <p:nvPr/>
              </p:nvSpPr>
              <p:spPr bwMode="auto">
                <a:xfrm>
                  <a:off x="2276476" y="3669093"/>
                  <a:ext cx="590550" cy="101600"/>
                </a:xfrm>
                <a:custGeom>
                  <a:avLst/>
                  <a:gdLst>
                    <a:gd name="T0" fmla="*/ 678 w 1117"/>
                    <a:gd name="T1" fmla="*/ 191 h 191"/>
                    <a:gd name="T2" fmla="*/ 653 w 1117"/>
                    <a:gd name="T3" fmla="*/ 190 h 191"/>
                    <a:gd name="T4" fmla="*/ 627 w 1117"/>
                    <a:gd name="T5" fmla="*/ 189 h 191"/>
                    <a:gd name="T6" fmla="*/ 601 w 1117"/>
                    <a:gd name="T7" fmla="*/ 188 h 191"/>
                    <a:gd name="T8" fmla="*/ 575 w 1117"/>
                    <a:gd name="T9" fmla="*/ 184 h 191"/>
                    <a:gd name="T10" fmla="*/ 526 w 1117"/>
                    <a:gd name="T11" fmla="*/ 177 h 191"/>
                    <a:gd name="T12" fmla="*/ 476 w 1117"/>
                    <a:gd name="T13" fmla="*/ 168 h 191"/>
                    <a:gd name="T14" fmla="*/ 427 w 1117"/>
                    <a:gd name="T15" fmla="*/ 156 h 191"/>
                    <a:gd name="T16" fmla="*/ 378 w 1117"/>
                    <a:gd name="T17" fmla="*/ 143 h 191"/>
                    <a:gd name="T18" fmla="*/ 329 w 1117"/>
                    <a:gd name="T19" fmla="*/ 128 h 191"/>
                    <a:gd name="T20" fmla="*/ 282 w 1117"/>
                    <a:gd name="T21" fmla="*/ 114 h 191"/>
                    <a:gd name="T22" fmla="*/ 236 w 1117"/>
                    <a:gd name="T23" fmla="*/ 99 h 191"/>
                    <a:gd name="T24" fmla="*/ 192 w 1117"/>
                    <a:gd name="T25" fmla="*/ 83 h 191"/>
                    <a:gd name="T26" fmla="*/ 116 w 1117"/>
                    <a:gd name="T27" fmla="*/ 55 h 191"/>
                    <a:gd name="T28" fmla="*/ 56 w 1117"/>
                    <a:gd name="T29" fmla="*/ 30 h 191"/>
                    <a:gd name="T30" fmla="*/ 15 w 1117"/>
                    <a:gd name="T31" fmla="*/ 13 h 191"/>
                    <a:gd name="T32" fmla="*/ 0 w 1117"/>
                    <a:gd name="T33" fmla="*/ 6 h 191"/>
                    <a:gd name="T34" fmla="*/ 4 w 1117"/>
                    <a:gd name="T35" fmla="*/ 0 h 191"/>
                    <a:gd name="T36" fmla="*/ 18 w 1117"/>
                    <a:gd name="T37" fmla="*/ 6 h 191"/>
                    <a:gd name="T38" fmla="*/ 58 w 1117"/>
                    <a:gd name="T39" fmla="*/ 24 h 191"/>
                    <a:gd name="T40" fmla="*/ 119 w 1117"/>
                    <a:gd name="T41" fmla="*/ 47 h 191"/>
                    <a:gd name="T42" fmla="*/ 195 w 1117"/>
                    <a:gd name="T43" fmla="*/ 77 h 191"/>
                    <a:gd name="T44" fmla="*/ 238 w 1117"/>
                    <a:gd name="T45" fmla="*/ 93 h 191"/>
                    <a:gd name="T46" fmla="*/ 283 w 1117"/>
                    <a:gd name="T47" fmla="*/ 108 h 191"/>
                    <a:gd name="T48" fmla="*/ 330 w 1117"/>
                    <a:gd name="T49" fmla="*/ 122 h 191"/>
                    <a:gd name="T50" fmla="*/ 379 w 1117"/>
                    <a:gd name="T51" fmla="*/ 137 h 191"/>
                    <a:gd name="T52" fmla="*/ 429 w 1117"/>
                    <a:gd name="T53" fmla="*/ 150 h 191"/>
                    <a:gd name="T54" fmla="*/ 478 w 1117"/>
                    <a:gd name="T55" fmla="*/ 160 h 191"/>
                    <a:gd name="T56" fmla="*/ 527 w 1117"/>
                    <a:gd name="T57" fmla="*/ 171 h 191"/>
                    <a:gd name="T58" fmla="*/ 575 w 1117"/>
                    <a:gd name="T59" fmla="*/ 178 h 191"/>
                    <a:gd name="T60" fmla="*/ 600 w 1117"/>
                    <a:gd name="T61" fmla="*/ 181 h 191"/>
                    <a:gd name="T62" fmla="*/ 624 w 1117"/>
                    <a:gd name="T63" fmla="*/ 183 h 191"/>
                    <a:gd name="T64" fmla="*/ 649 w 1117"/>
                    <a:gd name="T65" fmla="*/ 184 h 191"/>
                    <a:gd name="T66" fmla="*/ 672 w 1117"/>
                    <a:gd name="T67" fmla="*/ 184 h 191"/>
                    <a:gd name="T68" fmla="*/ 720 w 1117"/>
                    <a:gd name="T69" fmla="*/ 183 h 191"/>
                    <a:gd name="T70" fmla="*/ 767 w 1117"/>
                    <a:gd name="T71" fmla="*/ 181 h 191"/>
                    <a:gd name="T72" fmla="*/ 814 w 1117"/>
                    <a:gd name="T73" fmla="*/ 176 h 191"/>
                    <a:gd name="T74" fmla="*/ 858 w 1117"/>
                    <a:gd name="T75" fmla="*/ 169 h 191"/>
                    <a:gd name="T76" fmla="*/ 901 w 1117"/>
                    <a:gd name="T77" fmla="*/ 162 h 191"/>
                    <a:gd name="T78" fmla="*/ 940 w 1117"/>
                    <a:gd name="T79" fmla="*/ 153 h 191"/>
                    <a:gd name="T80" fmla="*/ 977 w 1117"/>
                    <a:gd name="T81" fmla="*/ 145 h 191"/>
                    <a:gd name="T82" fmla="*/ 1010 w 1117"/>
                    <a:gd name="T83" fmla="*/ 135 h 191"/>
                    <a:gd name="T84" fmla="*/ 1040 w 1117"/>
                    <a:gd name="T85" fmla="*/ 127 h 191"/>
                    <a:gd name="T86" fmla="*/ 1064 w 1117"/>
                    <a:gd name="T87" fmla="*/ 120 h 191"/>
                    <a:gd name="T88" fmla="*/ 1100 w 1117"/>
                    <a:gd name="T89" fmla="*/ 108 h 191"/>
                    <a:gd name="T90" fmla="*/ 1114 w 1117"/>
                    <a:gd name="T91" fmla="*/ 103 h 191"/>
                    <a:gd name="T92" fmla="*/ 1117 w 1117"/>
                    <a:gd name="T93" fmla="*/ 109 h 191"/>
                    <a:gd name="T94" fmla="*/ 1106 w 1117"/>
                    <a:gd name="T95" fmla="*/ 113 h 191"/>
                    <a:gd name="T96" fmla="*/ 1079 w 1117"/>
                    <a:gd name="T97" fmla="*/ 122 h 191"/>
                    <a:gd name="T98" fmla="*/ 1036 w 1117"/>
                    <a:gd name="T99" fmla="*/ 135 h 191"/>
                    <a:gd name="T100" fmla="*/ 981 w 1117"/>
                    <a:gd name="T101" fmla="*/ 151 h 191"/>
                    <a:gd name="T102" fmla="*/ 949 w 1117"/>
                    <a:gd name="T103" fmla="*/ 158 h 191"/>
                    <a:gd name="T104" fmla="*/ 916 w 1117"/>
                    <a:gd name="T105" fmla="*/ 165 h 191"/>
                    <a:gd name="T106" fmla="*/ 879 w 1117"/>
                    <a:gd name="T107" fmla="*/ 172 h 191"/>
                    <a:gd name="T108" fmla="*/ 842 w 1117"/>
                    <a:gd name="T109" fmla="*/ 178 h 191"/>
                    <a:gd name="T110" fmla="*/ 803 w 1117"/>
                    <a:gd name="T111" fmla="*/ 183 h 191"/>
                    <a:gd name="T112" fmla="*/ 763 w 1117"/>
                    <a:gd name="T113" fmla="*/ 188 h 191"/>
                    <a:gd name="T114" fmla="*/ 721 w 1117"/>
                    <a:gd name="T115" fmla="*/ 190 h 191"/>
                    <a:gd name="T116" fmla="*/ 678 w 1117"/>
                    <a:gd name="T117"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17" h="191">
                      <a:moveTo>
                        <a:pt x="678" y="191"/>
                      </a:moveTo>
                      <a:lnTo>
                        <a:pt x="653" y="190"/>
                      </a:lnTo>
                      <a:lnTo>
                        <a:pt x="627" y="189"/>
                      </a:lnTo>
                      <a:lnTo>
                        <a:pt x="601" y="188"/>
                      </a:lnTo>
                      <a:lnTo>
                        <a:pt x="575" y="184"/>
                      </a:lnTo>
                      <a:lnTo>
                        <a:pt x="526" y="177"/>
                      </a:lnTo>
                      <a:lnTo>
                        <a:pt x="476" y="168"/>
                      </a:lnTo>
                      <a:lnTo>
                        <a:pt x="427" y="156"/>
                      </a:lnTo>
                      <a:lnTo>
                        <a:pt x="378" y="143"/>
                      </a:lnTo>
                      <a:lnTo>
                        <a:pt x="329" y="128"/>
                      </a:lnTo>
                      <a:lnTo>
                        <a:pt x="282" y="114"/>
                      </a:lnTo>
                      <a:lnTo>
                        <a:pt x="236" y="99"/>
                      </a:lnTo>
                      <a:lnTo>
                        <a:pt x="192" y="83"/>
                      </a:lnTo>
                      <a:lnTo>
                        <a:pt x="116" y="55"/>
                      </a:lnTo>
                      <a:lnTo>
                        <a:pt x="56" y="30"/>
                      </a:lnTo>
                      <a:lnTo>
                        <a:pt x="15" y="13"/>
                      </a:lnTo>
                      <a:lnTo>
                        <a:pt x="0" y="6"/>
                      </a:lnTo>
                      <a:lnTo>
                        <a:pt x="4" y="0"/>
                      </a:lnTo>
                      <a:lnTo>
                        <a:pt x="18" y="6"/>
                      </a:lnTo>
                      <a:lnTo>
                        <a:pt x="58" y="24"/>
                      </a:lnTo>
                      <a:lnTo>
                        <a:pt x="119" y="47"/>
                      </a:lnTo>
                      <a:lnTo>
                        <a:pt x="195" y="77"/>
                      </a:lnTo>
                      <a:lnTo>
                        <a:pt x="238" y="93"/>
                      </a:lnTo>
                      <a:lnTo>
                        <a:pt x="283" y="108"/>
                      </a:lnTo>
                      <a:lnTo>
                        <a:pt x="330" y="122"/>
                      </a:lnTo>
                      <a:lnTo>
                        <a:pt x="379" y="137"/>
                      </a:lnTo>
                      <a:lnTo>
                        <a:pt x="429" y="150"/>
                      </a:lnTo>
                      <a:lnTo>
                        <a:pt x="478" y="160"/>
                      </a:lnTo>
                      <a:lnTo>
                        <a:pt x="527" y="171"/>
                      </a:lnTo>
                      <a:lnTo>
                        <a:pt x="575" y="178"/>
                      </a:lnTo>
                      <a:lnTo>
                        <a:pt x="600" y="181"/>
                      </a:lnTo>
                      <a:lnTo>
                        <a:pt x="624" y="183"/>
                      </a:lnTo>
                      <a:lnTo>
                        <a:pt x="649" y="184"/>
                      </a:lnTo>
                      <a:lnTo>
                        <a:pt x="672" y="184"/>
                      </a:lnTo>
                      <a:lnTo>
                        <a:pt x="720" y="183"/>
                      </a:lnTo>
                      <a:lnTo>
                        <a:pt x="767" y="181"/>
                      </a:lnTo>
                      <a:lnTo>
                        <a:pt x="814" y="176"/>
                      </a:lnTo>
                      <a:lnTo>
                        <a:pt x="858" y="169"/>
                      </a:lnTo>
                      <a:lnTo>
                        <a:pt x="901" y="162"/>
                      </a:lnTo>
                      <a:lnTo>
                        <a:pt x="940" y="153"/>
                      </a:lnTo>
                      <a:lnTo>
                        <a:pt x="977" y="145"/>
                      </a:lnTo>
                      <a:lnTo>
                        <a:pt x="1010" y="135"/>
                      </a:lnTo>
                      <a:lnTo>
                        <a:pt x="1040" y="127"/>
                      </a:lnTo>
                      <a:lnTo>
                        <a:pt x="1064" y="120"/>
                      </a:lnTo>
                      <a:lnTo>
                        <a:pt x="1100" y="108"/>
                      </a:lnTo>
                      <a:lnTo>
                        <a:pt x="1114" y="103"/>
                      </a:lnTo>
                      <a:lnTo>
                        <a:pt x="1117" y="109"/>
                      </a:lnTo>
                      <a:lnTo>
                        <a:pt x="1106" y="113"/>
                      </a:lnTo>
                      <a:lnTo>
                        <a:pt x="1079" y="122"/>
                      </a:lnTo>
                      <a:lnTo>
                        <a:pt x="1036" y="135"/>
                      </a:lnTo>
                      <a:lnTo>
                        <a:pt x="981" y="151"/>
                      </a:lnTo>
                      <a:lnTo>
                        <a:pt x="949" y="158"/>
                      </a:lnTo>
                      <a:lnTo>
                        <a:pt x="916" y="165"/>
                      </a:lnTo>
                      <a:lnTo>
                        <a:pt x="879" y="172"/>
                      </a:lnTo>
                      <a:lnTo>
                        <a:pt x="842" y="178"/>
                      </a:lnTo>
                      <a:lnTo>
                        <a:pt x="803" y="183"/>
                      </a:lnTo>
                      <a:lnTo>
                        <a:pt x="763" y="188"/>
                      </a:lnTo>
                      <a:lnTo>
                        <a:pt x="721" y="190"/>
                      </a:lnTo>
                      <a:lnTo>
                        <a:pt x="678" y="19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8" name="Freeform 115"/>
                <p:cNvSpPr/>
                <p:nvPr/>
              </p:nvSpPr>
              <p:spPr bwMode="auto">
                <a:xfrm>
                  <a:off x="2762251" y="3503993"/>
                  <a:ext cx="476250" cy="120650"/>
                </a:xfrm>
                <a:custGeom>
                  <a:avLst/>
                  <a:gdLst>
                    <a:gd name="T0" fmla="*/ 522 w 900"/>
                    <a:gd name="T1" fmla="*/ 229 h 229"/>
                    <a:gd name="T2" fmla="*/ 449 w 900"/>
                    <a:gd name="T3" fmla="*/ 223 h 229"/>
                    <a:gd name="T4" fmla="*/ 389 w 900"/>
                    <a:gd name="T5" fmla="*/ 213 h 229"/>
                    <a:gd name="T6" fmla="*/ 345 w 900"/>
                    <a:gd name="T7" fmla="*/ 201 h 229"/>
                    <a:gd name="T8" fmla="*/ 282 w 900"/>
                    <a:gd name="T9" fmla="*/ 181 h 229"/>
                    <a:gd name="T10" fmla="*/ 206 w 900"/>
                    <a:gd name="T11" fmla="*/ 149 h 229"/>
                    <a:gd name="T12" fmla="*/ 142 w 900"/>
                    <a:gd name="T13" fmla="*/ 113 h 229"/>
                    <a:gd name="T14" fmla="*/ 88 w 900"/>
                    <a:gd name="T15" fmla="*/ 78 h 229"/>
                    <a:gd name="T16" fmla="*/ 47 w 900"/>
                    <a:gd name="T17" fmla="*/ 46 h 229"/>
                    <a:gd name="T18" fmla="*/ 9 w 900"/>
                    <a:gd name="T19" fmla="*/ 12 h 229"/>
                    <a:gd name="T20" fmla="*/ 5 w 900"/>
                    <a:gd name="T21" fmla="*/ 0 h 229"/>
                    <a:gd name="T22" fmla="*/ 35 w 900"/>
                    <a:gd name="T23" fmla="*/ 28 h 229"/>
                    <a:gd name="T24" fmla="*/ 69 w 900"/>
                    <a:gd name="T25" fmla="*/ 56 h 229"/>
                    <a:gd name="T26" fmla="*/ 117 w 900"/>
                    <a:gd name="T27" fmla="*/ 90 h 229"/>
                    <a:gd name="T28" fmla="*/ 176 w 900"/>
                    <a:gd name="T29" fmla="*/ 125 h 229"/>
                    <a:gd name="T30" fmla="*/ 245 w 900"/>
                    <a:gd name="T31" fmla="*/ 160 h 229"/>
                    <a:gd name="T32" fmla="*/ 325 w 900"/>
                    <a:gd name="T33" fmla="*/ 189 h 229"/>
                    <a:gd name="T34" fmla="*/ 369 w 900"/>
                    <a:gd name="T35" fmla="*/ 201 h 229"/>
                    <a:gd name="T36" fmla="*/ 414 w 900"/>
                    <a:gd name="T37" fmla="*/ 211 h 229"/>
                    <a:gd name="T38" fmla="*/ 458 w 900"/>
                    <a:gd name="T39" fmla="*/ 217 h 229"/>
                    <a:gd name="T40" fmla="*/ 502 w 900"/>
                    <a:gd name="T41" fmla="*/ 220 h 229"/>
                    <a:gd name="T42" fmla="*/ 588 w 900"/>
                    <a:gd name="T43" fmla="*/ 221 h 229"/>
                    <a:gd name="T44" fmla="*/ 669 w 900"/>
                    <a:gd name="T45" fmla="*/ 217 h 229"/>
                    <a:gd name="T46" fmla="*/ 743 w 900"/>
                    <a:gd name="T47" fmla="*/ 207 h 229"/>
                    <a:gd name="T48" fmla="*/ 806 w 900"/>
                    <a:gd name="T49" fmla="*/ 195 h 229"/>
                    <a:gd name="T50" fmla="*/ 855 w 900"/>
                    <a:gd name="T51" fmla="*/ 185 h 229"/>
                    <a:gd name="T52" fmla="*/ 897 w 900"/>
                    <a:gd name="T53" fmla="*/ 172 h 229"/>
                    <a:gd name="T54" fmla="*/ 891 w 900"/>
                    <a:gd name="T55" fmla="*/ 181 h 229"/>
                    <a:gd name="T56" fmla="*/ 839 w 900"/>
                    <a:gd name="T57" fmla="*/ 194 h 229"/>
                    <a:gd name="T58" fmla="*/ 746 w 900"/>
                    <a:gd name="T59" fmla="*/ 213 h 229"/>
                    <a:gd name="T60" fmla="*/ 657 w 900"/>
                    <a:gd name="T61" fmla="*/ 225 h 229"/>
                    <a:gd name="T62" fmla="*/ 592 w 900"/>
                    <a:gd name="T6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00" h="229">
                      <a:moveTo>
                        <a:pt x="559" y="229"/>
                      </a:moveTo>
                      <a:lnTo>
                        <a:pt x="522" y="229"/>
                      </a:lnTo>
                      <a:lnTo>
                        <a:pt x="486" y="226"/>
                      </a:lnTo>
                      <a:lnTo>
                        <a:pt x="449" y="223"/>
                      </a:lnTo>
                      <a:lnTo>
                        <a:pt x="413" y="217"/>
                      </a:lnTo>
                      <a:lnTo>
                        <a:pt x="389" y="213"/>
                      </a:lnTo>
                      <a:lnTo>
                        <a:pt x="366" y="207"/>
                      </a:lnTo>
                      <a:lnTo>
                        <a:pt x="345" y="201"/>
                      </a:lnTo>
                      <a:lnTo>
                        <a:pt x="323" y="195"/>
                      </a:lnTo>
                      <a:lnTo>
                        <a:pt x="282" y="181"/>
                      </a:lnTo>
                      <a:lnTo>
                        <a:pt x="243" y="166"/>
                      </a:lnTo>
                      <a:lnTo>
                        <a:pt x="206" y="149"/>
                      </a:lnTo>
                      <a:lnTo>
                        <a:pt x="173" y="131"/>
                      </a:lnTo>
                      <a:lnTo>
                        <a:pt x="142" y="113"/>
                      </a:lnTo>
                      <a:lnTo>
                        <a:pt x="113" y="95"/>
                      </a:lnTo>
                      <a:lnTo>
                        <a:pt x="88" y="78"/>
                      </a:lnTo>
                      <a:lnTo>
                        <a:pt x="66" y="61"/>
                      </a:lnTo>
                      <a:lnTo>
                        <a:pt x="47" y="46"/>
                      </a:lnTo>
                      <a:lnTo>
                        <a:pt x="30" y="32"/>
                      </a:lnTo>
                      <a:lnTo>
                        <a:pt x="9" y="12"/>
                      </a:lnTo>
                      <a:lnTo>
                        <a:pt x="0" y="5"/>
                      </a:lnTo>
                      <a:lnTo>
                        <a:pt x="5" y="0"/>
                      </a:lnTo>
                      <a:lnTo>
                        <a:pt x="13" y="8"/>
                      </a:lnTo>
                      <a:lnTo>
                        <a:pt x="35" y="28"/>
                      </a:lnTo>
                      <a:lnTo>
                        <a:pt x="50" y="41"/>
                      </a:lnTo>
                      <a:lnTo>
                        <a:pt x="69" y="56"/>
                      </a:lnTo>
                      <a:lnTo>
                        <a:pt x="92" y="73"/>
                      </a:lnTo>
                      <a:lnTo>
                        <a:pt x="117" y="90"/>
                      </a:lnTo>
                      <a:lnTo>
                        <a:pt x="145" y="107"/>
                      </a:lnTo>
                      <a:lnTo>
                        <a:pt x="176" y="125"/>
                      </a:lnTo>
                      <a:lnTo>
                        <a:pt x="209" y="143"/>
                      </a:lnTo>
                      <a:lnTo>
                        <a:pt x="245" y="160"/>
                      </a:lnTo>
                      <a:lnTo>
                        <a:pt x="284" y="175"/>
                      </a:lnTo>
                      <a:lnTo>
                        <a:pt x="325" y="189"/>
                      </a:lnTo>
                      <a:lnTo>
                        <a:pt x="346" y="195"/>
                      </a:lnTo>
                      <a:lnTo>
                        <a:pt x="369" y="201"/>
                      </a:lnTo>
                      <a:lnTo>
                        <a:pt x="391" y="206"/>
                      </a:lnTo>
                      <a:lnTo>
                        <a:pt x="414" y="211"/>
                      </a:lnTo>
                      <a:lnTo>
                        <a:pt x="436" y="214"/>
                      </a:lnTo>
                      <a:lnTo>
                        <a:pt x="458" y="217"/>
                      </a:lnTo>
                      <a:lnTo>
                        <a:pt x="480" y="219"/>
                      </a:lnTo>
                      <a:lnTo>
                        <a:pt x="502" y="220"/>
                      </a:lnTo>
                      <a:lnTo>
                        <a:pt x="546" y="223"/>
                      </a:lnTo>
                      <a:lnTo>
                        <a:pt x="588" y="221"/>
                      </a:lnTo>
                      <a:lnTo>
                        <a:pt x="630" y="220"/>
                      </a:lnTo>
                      <a:lnTo>
                        <a:pt x="669" y="217"/>
                      </a:lnTo>
                      <a:lnTo>
                        <a:pt x="707" y="212"/>
                      </a:lnTo>
                      <a:lnTo>
                        <a:pt x="743" y="207"/>
                      </a:lnTo>
                      <a:lnTo>
                        <a:pt x="776" y="201"/>
                      </a:lnTo>
                      <a:lnTo>
                        <a:pt x="806" y="195"/>
                      </a:lnTo>
                      <a:lnTo>
                        <a:pt x="832" y="189"/>
                      </a:lnTo>
                      <a:lnTo>
                        <a:pt x="855" y="185"/>
                      </a:lnTo>
                      <a:lnTo>
                        <a:pt x="885" y="175"/>
                      </a:lnTo>
                      <a:lnTo>
                        <a:pt x="897" y="172"/>
                      </a:lnTo>
                      <a:lnTo>
                        <a:pt x="900" y="179"/>
                      </a:lnTo>
                      <a:lnTo>
                        <a:pt x="891" y="181"/>
                      </a:lnTo>
                      <a:lnTo>
                        <a:pt x="871" y="187"/>
                      </a:lnTo>
                      <a:lnTo>
                        <a:pt x="839" y="194"/>
                      </a:lnTo>
                      <a:lnTo>
                        <a:pt x="796" y="204"/>
                      </a:lnTo>
                      <a:lnTo>
                        <a:pt x="746" y="213"/>
                      </a:lnTo>
                      <a:lnTo>
                        <a:pt x="688" y="221"/>
                      </a:lnTo>
                      <a:lnTo>
                        <a:pt x="657" y="225"/>
                      </a:lnTo>
                      <a:lnTo>
                        <a:pt x="625" y="227"/>
                      </a:lnTo>
                      <a:lnTo>
                        <a:pt x="592" y="229"/>
                      </a:lnTo>
                      <a:lnTo>
                        <a:pt x="559" y="22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9" name="Freeform 116"/>
                <p:cNvSpPr/>
                <p:nvPr/>
              </p:nvSpPr>
              <p:spPr bwMode="auto">
                <a:xfrm>
                  <a:off x="2692401" y="3337306"/>
                  <a:ext cx="495300" cy="155575"/>
                </a:xfrm>
                <a:custGeom>
                  <a:avLst/>
                  <a:gdLst>
                    <a:gd name="T0" fmla="*/ 613 w 936"/>
                    <a:gd name="T1" fmla="*/ 294 h 294"/>
                    <a:gd name="T2" fmla="*/ 565 w 936"/>
                    <a:gd name="T3" fmla="*/ 293 h 294"/>
                    <a:gd name="T4" fmla="*/ 516 w 936"/>
                    <a:gd name="T5" fmla="*/ 288 h 294"/>
                    <a:gd name="T6" fmla="*/ 466 w 936"/>
                    <a:gd name="T7" fmla="*/ 281 h 294"/>
                    <a:gd name="T8" fmla="*/ 417 w 936"/>
                    <a:gd name="T9" fmla="*/ 272 h 294"/>
                    <a:gd name="T10" fmla="*/ 371 w 936"/>
                    <a:gd name="T11" fmla="*/ 260 h 294"/>
                    <a:gd name="T12" fmla="*/ 328 w 936"/>
                    <a:gd name="T13" fmla="*/ 243 h 294"/>
                    <a:gd name="T14" fmla="*/ 287 w 936"/>
                    <a:gd name="T15" fmla="*/ 224 h 294"/>
                    <a:gd name="T16" fmla="*/ 227 w 936"/>
                    <a:gd name="T17" fmla="*/ 193 h 294"/>
                    <a:gd name="T18" fmla="*/ 158 w 936"/>
                    <a:gd name="T19" fmla="*/ 147 h 294"/>
                    <a:gd name="T20" fmla="*/ 99 w 936"/>
                    <a:gd name="T21" fmla="*/ 101 h 294"/>
                    <a:gd name="T22" fmla="*/ 53 w 936"/>
                    <a:gd name="T23" fmla="*/ 58 h 294"/>
                    <a:gd name="T24" fmla="*/ 9 w 936"/>
                    <a:gd name="T25" fmla="*/ 14 h 294"/>
                    <a:gd name="T26" fmla="*/ 5 w 936"/>
                    <a:gd name="T27" fmla="*/ 0 h 294"/>
                    <a:gd name="T28" fmla="*/ 39 w 936"/>
                    <a:gd name="T29" fmla="*/ 36 h 294"/>
                    <a:gd name="T30" fmla="*/ 79 w 936"/>
                    <a:gd name="T31" fmla="*/ 73 h 294"/>
                    <a:gd name="T32" fmla="*/ 131 w 936"/>
                    <a:gd name="T33" fmla="*/ 118 h 294"/>
                    <a:gd name="T34" fmla="*/ 195 w 936"/>
                    <a:gd name="T35" fmla="*/ 165 h 294"/>
                    <a:gd name="T36" fmla="*/ 269 w 936"/>
                    <a:gd name="T37" fmla="*/ 209 h 294"/>
                    <a:gd name="T38" fmla="*/ 309 w 936"/>
                    <a:gd name="T39" fmla="*/ 228 h 294"/>
                    <a:gd name="T40" fmla="*/ 352 w 936"/>
                    <a:gd name="T41" fmla="*/ 246 h 294"/>
                    <a:gd name="T42" fmla="*/ 396 w 936"/>
                    <a:gd name="T43" fmla="*/ 260 h 294"/>
                    <a:gd name="T44" fmla="*/ 441 w 936"/>
                    <a:gd name="T45" fmla="*/ 271 h 294"/>
                    <a:gd name="T46" fmla="*/ 535 w 936"/>
                    <a:gd name="T47" fmla="*/ 284 h 294"/>
                    <a:gd name="T48" fmla="*/ 624 w 936"/>
                    <a:gd name="T49" fmla="*/ 288 h 294"/>
                    <a:gd name="T50" fmla="*/ 707 w 936"/>
                    <a:gd name="T51" fmla="*/ 286 h 294"/>
                    <a:gd name="T52" fmla="*/ 782 w 936"/>
                    <a:gd name="T53" fmla="*/ 280 h 294"/>
                    <a:gd name="T54" fmla="*/ 844 w 936"/>
                    <a:gd name="T55" fmla="*/ 271 h 294"/>
                    <a:gd name="T56" fmla="*/ 892 w 936"/>
                    <a:gd name="T57" fmla="*/ 262 h 294"/>
                    <a:gd name="T58" fmla="*/ 934 w 936"/>
                    <a:gd name="T59" fmla="*/ 253 h 294"/>
                    <a:gd name="T60" fmla="*/ 929 w 936"/>
                    <a:gd name="T61" fmla="*/ 260 h 294"/>
                    <a:gd name="T62" fmla="*/ 885 w 936"/>
                    <a:gd name="T63" fmla="*/ 271 h 294"/>
                    <a:gd name="T64" fmla="*/ 805 w 936"/>
                    <a:gd name="T65" fmla="*/ 284 h 294"/>
                    <a:gd name="T66" fmla="*/ 726 w 936"/>
                    <a:gd name="T67" fmla="*/ 292 h 294"/>
                    <a:gd name="T68" fmla="*/ 668 w 936"/>
                    <a:gd name="T69"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36" h="294">
                      <a:moveTo>
                        <a:pt x="637" y="294"/>
                      </a:moveTo>
                      <a:lnTo>
                        <a:pt x="613" y="294"/>
                      </a:lnTo>
                      <a:lnTo>
                        <a:pt x="590" y="294"/>
                      </a:lnTo>
                      <a:lnTo>
                        <a:pt x="565" y="293"/>
                      </a:lnTo>
                      <a:lnTo>
                        <a:pt x="541" y="291"/>
                      </a:lnTo>
                      <a:lnTo>
                        <a:pt x="516" y="288"/>
                      </a:lnTo>
                      <a:lnTo>
                        <a:pt x="491" y="285"/>
                      </a:lnTo>
                      <a:lnTo>
                        <a:pt x="466" y="281"/>
                      </a:lnTo>
                      <a:lnTo>
                        <a:pt x="440" y="278"/>
                      </a:lnTo>
                      <a:lnTo>
                        <a:pt x="417" y="272"/>
                      </a:lnTo>
                      <a:lnTo>
                        <a:pt x="394" y="266"/>
                      </a:lnTo>
                      <a:lnTo>
                        <a:pt x="371" y="260"/>
                      </a:lnTo>
                      <a:lnTo>
                        <a:pt x="350" y="252"/>
                      </a:lnTo>
                      <a:lnTo>
                        <a:pt x="328" y="243"/>
                      </a:lnTo>
                      <a:lnTo>
                        <a:pt x="307" y="235"/>
                      </a:lnTo>
                      <a:lnTo>
                        <a:pt x="287" y="224"/>
                      </a:lnTo>
                      <a:lnTo>
                        <a:pt x="266" y="215"/>
                      </a:lnTo>
                      <a:lnTo>
                        <a:pt x="227" y="193"/>
                      </a:lnTo>
                      <a:lnTo>
                        <a:pt x="192" y="171"/>
                      </a:lnTo>
                      <a:lnTo>
                        <a:pt x="158" y="147"/>
                      </a:lnTo>
                      <a:lnTo>
                        <a:pt x="127" y="123"/>
                      </a:lnTo>
                      <a:lnTo>
                        <a:pt x="99" y="101"/>
                      </a:lnTo>
                      <a:lnTo>
                        <a:pt x="74" y="78"/>
                      </a:lnTo>
                      <a:lnTo>
                        <a:pt x="53" y="58"/>
                      </a:lnTo>
                      <a:lnTo>
                        <a:pt x="35" y="40"/>
                      </a:lnTo>
                      <a:lnTo>
                        <a:pt x="9" y="14"/>
                      </a:lnTo>
                      <a:lnTo>
                        <a:pt x="0" y="3"/>
                      </a:lnTo>
                      <a:lnTo>
                        <a:pt x="5" y="0"/>
                      </a:lnTo>
                      <a:lnTo>
                        <a:pt x="15" y="9"/>
                      </a:lnTo>
                      <a:lnTo>
                        <a:pt x="39" y="36"/>
                      </a:lnTo>
                      <a:lnTo>
                        <a:pt x="57" y="53"/>
                      </a:lnTo>
                      <a:lnTo>
                        <a:pt x="79" y="73"/>
                      </a:lnTo>
                      <a:lnTo>
                        <a:pt x="104" y="95"/>
                      </a:lnTo>
                      <a:lnTo>
                        <a:pt x="131" y="118"/>
                      </a:lnTo>
                      <a:lnTo>
                        <a:pt x="162" y="141"/>
                      </a:lnTo>
                      <a:lnTo>
                        <a:pt x="195" y="165"/>
                      </a:lnTo>
                      <a:lnTo>
                        <a:pt x="231" y="187"/>
                      </a:lnTo>
                      <a:lnTo>
                        <a:pt x="269" y="209"/>
                      </a:lnTo>
                      <a:lnTo>
                        <a:pt x="289" y="218"/>
                      </a:lnTo>
                      <a:lnTo>
                        <a:pt x="309" y="228"/>
                      </a:lnTo>
                      <a:lnTo>
                        <a:pt x="331" y="237"/>
                      </a:lnTo>
                      <a:lnTo>
                        <a:pt x="352" y="246"/>
                      </a:lnTo>
                      <a:lnTo>
                        <a:pt x="373" y="253"/>
                      </a:lnTo>
                      <a:lnTo>
                        <a:pt x="396" y="260"/>
                      </a:lnTo>
                      <a:lnTo>
                        <a:pt x="418" y="266"/>
                      </a:lnTo>
                      <a:lnTo>
                        <a:pt x="441" y="271"/>
                      </a:lnTo>
                      <a:lnTo>
                        <a:pt x="489" y="278"/>
                      </a:lnTo>
                      <a:lnTo>
                        <a:pt x="535" y="284"/>
                      </a:lnTo>
                      <a:lnTo>
                        <a:pt x="580" y="287"/>
                      </a:lnTo>
                      <a:lnTo>
                        <a:pt x="624" y="288"/>
                      </a:lnTo>
                      <a:lnTo>
                        <a:pt x="667" y="287"/>
                      </a:lnTo>
                      <a:lnTo>
                        <a:pt x="707" y="286"/>
                      </a:lnTo>
                      <a:lnTo>
                        <a:pt x="746" y="284"/>
                      </a:lnTo>
                      <a:lnTo>
                        <a:pt x="782" y="280"/>
                      </a:lnTo>
                      <a:lnTo>
                        <a:pt x="814" y="275"/>
                      </a:lnTo>
                      <a:lnTo>
                        <a:pt x="844" y="271"/>
                      </a:lnTo>
                      <a:lnTo>
                        <a:pt x="870" y="267"/>
                      </a:lnTo>
                      <a:lnTo>
                        <a:pt x="892" y="262"/>
                      </a:lnTo>
                      <a:lnTo>
                        <a:pt x="923" y="255"/>
                      </a:lnTo>
                      <a:lnTo>
                        <a:pt x="934" y="253"/>
                      </a:lnTo>
                      <a:lnTo>
                        <a:pt x="936" y="259"/>
                      </a:lnTo>
                      <a:lnTo>
                        <a:pt x="929" y="260"/>
                      </a:lnTo>
                      <a:lnTo>
                        <a:pt x="913" y="265"/>
                      </a:lnTo>
                      <a:lnTo>
                        <a:pt x="885" y="271"/>
                      </a:lnTo>
                      <a:lnTo>
                        <a:pt x="849" y="277"/>
                      </a:lnTo>
                      <a:lnTo>
                        <a:pt x="805" y="284"/>
                      </a:lnTo>
                      <a:lnTo>
                        <a:pt x="755" y="290"/>
                      </a:lnTo>
                      <a:lnTo>
                        <a:pt x="726" y="292"/>
                      </a:lnTo>
                      <a:lnTo>
                        <a:pt x="698" y="293"/>
                      </a:lnTo>
                      <a:lnTo>
                        <a:pt x="668" y="294"/>
                      </a:lnTo>
                      <a:lnTo>
                        <a:pt x="637" y="29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90" name="Freeform 117"/>
                <p:cNvSpPr/>
                <p:nvPr/>
              </p:nvSpPr>
              <p:spPr bwMode="auto">
                <a:xfrm>
                  <a:off x="2238376" y="3502406"/>
                  <a:ext cx="600075" cy="123825"/>
                </a:xfrm>
                <a:custGeom>
                  <a:avLst/>
                  <a:gdLst>
                    <a:gd name="T0" fmla="*/ 749 w 1134"/>
                    <a:gd name="T1" fmla="*/ 233 h 233"/>
                    <a:gd name="T2" fmla="*/ 714 w 1134"/>
                    <a:gd name="T3" fmla="*/ 233 h 233"/>
                    <a:gd name="T4" fmla="*/ 678 w 1134"/>
                    <a:gd name="T5" fmla="*/ 231 h 233"/>
                    <a:gd name="T6" fmla="*/ 642 w 1134"/>
                    <a:gd name="T7" fmla="*/ 228 h 233"/>
                    <a:gd name="T8" fmla="*/ 607 w 1134"/>
                    <a:gd name="T9" fmla="*/ 225 h 233"/>
                    <a:gd name="T10" fmla="*/ 583 w 1134"/>
                    <a:gd name="T11" fmla="*/ 221 h 233"/>
                    <a:gd name="T12" fmla="*/ 558 w 1134"/>
                    <a:gd name="T13" fmla="*/ 216 h 233"/>
                    <a:gd name="T14" fmla="*/ 533 w 1134"/>
                    <a:gd name="T15" fmla="*/ 212 h 233"/>
                    <a:gd name="T16" fmla="*/ 507 w 1134"/>
                    <a:gd name="T17" fmla="*/ 206 h 233"/>
                    <a:gd name="T18" fmla="*/ 456 w 1134"/>
                    <a:gd name="T19" fmla="*/ 193 h 233"/>
                    <a:gd name="T20" fmla="*/ 405 w 1134"/>
                    <a:gd name="T21" fmla="*/ 177 h 233"/>
                    <a:gd name="T22" fmla="*/ 354 w 1134"/>
                    <a:gd name="T23" fmla="*/ 159 h 233"/>
                    <a:gd name="T24" fmla="*/ 304 w 1134"/>
                    <a:gd name="T25" fmla="*/ 142 h 233"/>
                    <a:gd name="T26" fmla="*/ 255 w 1134"/>
                    <a:gd name="T27" fmla="*/ 123 h 233"/>
                    <a:gd name="T28" fmla="*/ 209 w 1134"/>
                    <a:gd name="T29" fmla="*/ 104 h 233"/>
                    <a:gd name="T30" fmla="*/ 126 w 1134"/>
                    <a:gd name="T31" fmla="*/ 68 h 233"/>
                    <a:gd name="T32" fmla="*/ 60 w 1134"/>
                    <a:gd name="T33" fmla="*/ 37 h 233"/>
                    <a:gd name="T34" fmla="*/ 16 w 1134"/>
                    <a:gd name="T35" fmla="*/ 14 h 233"/>
                    <a:gd name="T36" fmla="*/ 0 w 1134"/>
                    <a:gd name="T37" fmla="*/ 6 h 233"/>
                    <a:gd name="T38" fmla="*/ 3 w 1134"/>
                    <a:gd name="T39" fmla="*/ 0 h 233"/>
                    <a:gd name="T40" fmla="*/ 20 w 1134"/>
                    <a:gd name="T41" fmla="*/ 9 h 233"/>
                    <a:gd name="T42" fmla="*/ 63 w 1134"/>
                    <a:gd name="T43" fmla="*/ 31 h 233"/>
                    <a:gd name="T44" fmla="*/ 129 w 1134"/>
                    <a:gd name="T45" fmla="*/ 62 h 233"/>
                    <a:gd name="T46" fmla="*/ 211 w 1134"/>
                    <a:gd name="T47" fmla="*/ 98 h 233"/>
                    <a:gd name="T48" fmla="*/ 258 w 1134"/>
                    <a:gd name="T49" fmla="*/ 117 h 233"/>
                    <a:gd name="T50" fmla="*/ 305 w 1134"/>
                    <a:gd name="T51" fmla="*/ 136 h 233"/>
                    <a:gd name="T52" fmla="*/ 355 w 1134"/>
                    <a:gd name="T53" fmla="*/ 154 h 233"/>
                    <a:gd name="T54" fmla="*/ 406 w 1134"/>
                    <a:gd name="T55" fmla="*/ 170 h 233"/>
                    <a:gd name="T56" fmla="*/ 458 w 1134"/>
                    <a:gd name="T57" fmla="*/ 186 h 233"/>
                    <a:gd name="T58" fmla="*/ 509 w 1134"/>
                    <a:gd name="T59" fmla="*/ 200 h 233"/>
                    <a:gd name="T60" fmla="*/ 534 w 1134"/>
                    <a:gd name="T61" fmla="*/ 205 h 233"/>
                    <a:gd name="T62" fmla="*/ 559 w 1134"/>
                    <a:gd name="T63" fmla="*/ 211 h 233"/>
                    <a:gd name="T64" fmla="*/ 584 w 1134"/>
                    <a:gd name="T65" fmla="*/ 214 h 233"/>
                    <a:gd name="T66" fmla="*/ 608 w 1134"/>
                    <a:gd name="T67" fmla="*/ 218 h 233"/>
                    <a:gd name="T68" fmla="*/ 657 w 1134"/>
                    <a:gd name="T69" fmla="*/ 222 h 233"/>
                    <a:gd name="T70" fmla="*/ 704 w 1134"/>
                    <a:gd name="T71" fmla="*/ 226 h 233"/>
                    <a:gd name="T72" fmla="*/ 752 w 1134"/>
                    <a:gd name="T73" fmla="*/ 226 h 233"/>
                    <a:gd name="T74" fmla="*/ 798 w 1134"/>
                    <a:gd name="T75" fmla="*/ 226 h 233"/>
                    <a:gd name="T76" fmla="*/ 843 w 1134"/>
                    <a:gd name="T77" fmla="*/ 224 h 233"/>
                    <a:gd name="T78" fmla="*/ 886 w 1134"/>
                    <a:gd name="T79" fmla="*/ 220 h 233"/>
                    <a:gd name="T80" fmla="*/ 928 w 1134"/>
                    <a:gd name="T81" fmla="*/ 215 h 233"/>
                    <a:gd name="T82" fmla="*/ 966 w 1134"/>
                    <a:gd name="T83" fmla="*/ 211 h 233"/>
                    <a:gd name="T84" fmla="*/ 1033 w 1134"/>
                    <a:gd name="T85" fmla="*/ 200 h 233"/>
                    <a:gd name="T86" fmla="*/ 1086 w 1134"/>
                    <a:gd name="T87" fmla="*/ 189 h 233"/>
                    <a:gd name="T88" fmla="*/ 1120 w 1134"/>
                    <a:gd name="T89" fmla="*/ 181 h 233"/>
                    <a:gd name="T90" fmla="*/ 1132 w 1134"/>
                    <a:gd name="T91" fmla="*/ 177 h 233"/>
                    <a:gd name="T92" fmla="*/ 1134 w 1134"/>
                    <a:gd name="T93" fmla="*/ 184 h 233"/>
                    <a:gd name="T94" fmla="*/ 1125 w 1134"/>
                    <a:gd name="T95" fmla="*/ 187 h 233"/>
                    <a:gd name="T96" fmla="*/ 1102 w 1134"/>
                    <a:gd name="T97" fmla="*/ 192 h 233"/>
                    <a:gd name="T98" fmla="*/ 1065 w 1134"/>
                    <a:gd name="T99" fmla="*/ 200 h 233"/>
                    <a:gd name="T100" fmla="*/ 1018 w 1134"/>
                    <a:gd name="T101" fmla="*/ 209 h 233"/>
                    <a:gd name="T102" fmla="*/ 961 w 1134"/>
                    <a:gd name="T103" fmla="*/ 218 h 233"/>
                    <a:gd name="T104" fmla="*/ 895 w 1134"/>
                    <a:gd name="T105" fmla="*/ 226 h 233"/>
                    <a:gd name="T106" fmla="*/ 861 w 1134"/>
                    <a:gd name="T107" fmla="*/ 228 h 233"/>
                    <a:gd name="T108" fmla="*/ 825 w 1134"/>
                    <a:gd name="T109" fmla="*/ 231 h 233"/>
                    <a:gd name="T110" fmla="*/ 787 w 1134"/>
                    <a:gd name="T111" fmla="*/ 233 h 233"/>
                    <a:gd name="T112" fmla="*/ 749 w 1134"/>
                    <a:gd name="T113" fmla="*/ 23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34" h="233">
                      <a:moveTo>
                        <a:pt x="749" y="233"/>
                      </a:moveTo>
                      <a:lnTo>
                        <a:pt x="714" y="233"/>
                      </a:lnTo>
                      <a:lnTo>
                        <a:pt x="678" y="231"/>
                      </a:lnTo>
                      <a:lnTo>
                        <a:pt x="642" y="228"/>
                      </a:lnTo>
                      <a:lnTo>
                        <a:pt x="607" y="225"/>
                      </a:lnTo>
                      <a:lnTo>
                        <a:pt x="583" y="221"/>
                      </a:lnTo>
                      <a:lnTo>
                        <a:pt x="558" y="216"/>
                      </a:lnTo>
                      <a:lnTo>
                        <a:pt x="533" y="212"/>
                      </a:lnTo>
                      <a:lnTo>
                        <a:pt x="507" y="206"/>
                      </a:lnTo>
                      <a:lnTo>
                        <a:pt x="456" y="193"/>
                      </a:lnTo>
                      <a:lnTo>
                        <a:pt x="405" y="177"/>
                      </a:lnTo>
                      <a:lnTo>
                        <a:pt x="354" y="159"/>
                      </a:lnTo>
                      <a:lnTo>
                        <a:pt x="304" y="142"/>
                      </a:lnTo>
                      <a:lnTo>
                        <a:pt x="255" y="123"/>
                      </a:lnTo>
                      <a:lnTo>
                        <a:pt x="209" y="104"/>
                      </a:lnTo>
                      <a:lnTo>
                        <a:pt x="126" y="68"/>
                      </a:lnTo>
                      <a:lnTo>
                        <a:pt x="60" y="37"/>
                      </a:lnTo>
                      <a:lnTo>
                        <a:pt x="16" y="14"/>
                      </a:lnTo>
                      <a:lnTo>
                        <a:pt x="0" y="6"/>
                      </a:lnTo>
                      <a:lnTo>
                        <a:pt x="3" y="0"/>
                      </a:lnTo>
                      <a:lnTo>
                        <a:pt x="20" y="9"/>
                      </a:lnTo>
                      <a:lnTo>
                        <a:pt x="63" y="31"/>
                      </a:lnTo>
                      <a:lnTo>
                        <a:pt x="129" y="62"/>
                      </a:lnTo>
                      <a:lnTo>
                        <a:pt x="211" y="98"/>
                      </a:lnTo>
                      <a:lnTo>
                        <a:pt x="258" y="117"/>
                      </a:lnTo>
                      <a:lnTo>
                        <a:pt x="305" y="136"/>
                      </a:lnTo>
                      <a:lnTo>
                        <a:pt x="355" y="154"/>
                      </a:lnTo>
                      <a:lnTo>
                        <a:pt x="406" y="170"/>
                      </a:lnTo>
                      <a:lnTo>
                        <a:pt x="458" y="186"/>
                      </a:lnTo>
                      <a:lnTo>
                        <a:pt x="509" y="200"/>
                      </a:lnTo>
                      <a:lnTo>
                        <a:pt x="534" y="205"/>
                      </a:lnTo>
                      <a:lnTo>
                        <a:pt x="559" y="211"/>
                      </a:lnTo>
                      <a:lnTo>
                        <a:pt x="584" y="214"/>
                      </a:lnTo>
                      <a:lnTo>
                        <a:pt x="608" y="218"/>
                      </a:lnTo>
                      <a:lnTo>
                        <a:pt x="657" y="222"/>
                      </a:lnTo>
                      <a:lnTo>
                        <a:pt x="704" y="226"/>
                      </a:lnTo>
                      <a:lnTo>
                        <a:pt x="752" y="226"/>
                      </a:lnTo>
                      <a:lnTo>
                        <a:pt x="798" y="226"/>
                      </a:lnTo>
                      <a:lnTo>
                        <a:pt x="843" y="224"/>
                      </a:lnTo>
                      <a:lnTo>
                        <a:pt x="886" y="220"/>
                      </a:lnTo>
                      <a:lnTo>
                        <a:pt x="928" y="215"/>
                      </a:lnTo>
                      <a:lnTo>
                        <a:pt x="966" y="211"/>
                      </a:lnTo>
                      <a:lnTo>
                        <a:pt x="1033" y="200"/>
                      </a:lnTo>
                      <a:lnTo>
                        <a:pt x="1086" y="189"/>
                      </a:lnTo>
                      <a:lnTo>
                        <a:pt x="1120" y="181"/>
                      </a:lnTo>
                      <a:lnTo>
                        <a:pt x="1132" y="177"/>
                      </a:lnTo>
                      <a:lnTo>
                        <a:pt x="1134" y="184"/>
                      </a:lnTo>
                      <a:lnTo>
                        <a:pt x="1125" y="187"/>
                      </a:lnTo>
                      <a:lnTo>
                        <a:pt x="1102" y="192"/>
                      </a:lnTo>
                      <a:lnTo>
                        <a:pt x="1065" y="200"/>
                      </a:lnTo>
                      <a:lnTo>
                        <a:pt x="1018" y="209"/>
                      </a:lnTo>
                      <a:lnTo>
                        <a:pt x="961" y="218"/>
                      </a:lnTo>
                      <a:lnTo>
                        <a:pt x="895" y="226"/>
                      </a:lnTo>
                      <a:lnTo>
                        <a:pt x="861" y="228"/>
                      </a:lnTo>
                      <a:lnTo>
                        <a:pt x="825" y="231"/>
                      </a:lnTo>
                      <a:lnTo>
                        <a:pt x="787" y="233"/>
                      </a:lnTo>
                      <a:lnTo>
                        <a:pt x="749" y="2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91" name="Freeform 118"/>
                <p:cNvSpPr/>
                <p:nvPr/>
              </p:nvSpPr>
              <p:spPr bwMode="auto">
                <a:xfrm>
                  <a:off x="2309814" y="3337306"/>
                  <a:ext cx="581025" cy="147638"/>
                </a:xfrm>
                <a:custGeom>
                  <a:avLst/>
                  <a:gdLst>
                    <a:gd name="T0" fmla="*/ 837 w 1097"/>
                    <a:gd name="T1" fmla="*/ 279 h 279"/>
                    <a:gd name="T2" fmla="*/ 791 w 1097"/>
                    <a:gd name="T3" fmla="*/ 277 h 279"/>
                    <a:gd name="T4" fmla="*/ 741 w 1097"/>
                    <a:gd name="T5" fmla="*/ 275 h 279"/>
                    <a:gd name="T6" fmla="*/ 689 w 1097"/>
                    <a:gd name="T7" fmla="*/ 270 h 279"/>
                    <a:gd name="T8" fmla="*/ 633 w 1097"/>
                    <a:gd name="T9" fmla="*/ 263 h 279"/>
                    <a:gd name="T10" fmla="*/ 578 w 1097"/>
                    <a:gd name="T11" fmla="*/ 254 h 279"/>
                    <a:gd name="T12" fmla="*/ 522 w 1097"/>
                    <a:gd name="T13" fmla="*/ 239 h 279"/>
                    <a:gd name="T14" fmla="*/ 465 w 1097"/>
                    <a:gd name="T15" fmla="*/ 223 h 279"/>
                    <a:gd name="T16" fmla="*/ 380 w 1097"/>
                    <a:gd name="T17" fmla="*/ 193 h 279"/>
                    <a:gd name="T18" fmla="*/ 273 w 1097"/>
                    <a:gd name="T19" fmla="*/ 148 h 279"/>
                    <a:gd name="T20" fmla="*/ 177 w 1097"/>
                    <a:gd name="T21" fmla="*/ 103 h 279"/>
                    <a:gd name="T22" fmla="*/ 96 w 1097"/>
                    <a:gd name="T23" fmla="*/ 61 h 279"/>
                    <a:gd name="T24" fmla="*/ 18 w 1097"/>
                    <a:gd name="T25" fmla="*/ 17 h 279"/>
                    <a:gd name="T26" fmla="*/ 4 w 1097"/>
                    <a:gd name="T27" fmla="*/ 0 h 279"/>
                    <a:gd name="T28" fmla="*/ 68 w 1097"/>
                    <a:gd name="T29" fmla="*/ 37 h 279"/>
                    <a:gd name="T30" fmla="*/ 138 w 1097"/>
                    <a:gd name="T31" fmla="*/ 75 h 279"/>
                    <a:gd name="T32" fmla="*/ 226 w 1097"/>
                    <a:gd name="T33" fmla="*/ 119 h 279"/>
                    <a:gd name="T34" fmla="*/ 328 w 1097"/>
                    <a:gd name="T35" fmla="*/ 164 h 279"/>
                    <a:gd name="T36" fmla="*/ 439 w 1097"/>
                    <a:gd name="T37" fmla="*/ 206 h 279"/>
                    <a:gd name="T38" fmla="*/ 494 w 1097"/>
                    <a:gd name="T39" fmla="*/ 225 h 279"/>
                    <a:gd name="T40" fmla="*/ 551 w 1097"/>
                    <a:gd name="T41" fmla="*/ 241 h 279"/>
                    <a:gd name="T42" fmla="*/ 607 w 1097"/>
                    <a:gd name="T43" fmla="*/ 252 h 279"/>
                    <a:gd name="T44" fmla="*/ 662 w 1097"/>
                    <a:gd name="T45" fmla="*/ 261 h 279"/>
                    <a:gd name="T46" fmla="*/ 760 w 1097"/>
                    <a:gd name="T47" fmla="*/ 269 h 279"/>
                    <a:gd name="T48" fmla="*/ 846 w 1097"/>
                    <a:gd name="T49" fmla="*/ 273 h 279"/>
                    <a:gd name="T50" fmla="*/ 921 w 1097"/>
                    <a:gd name="T51" fmla="*/ 271 h 279"/>
                    <a:gd name="T52" fmla="*/ 981 w 1097"/>
                    <a:gd name="T53" fmla="*/ 267 h 279"/>
                    <a:gd name="T54" fmla="*/ 1066 w 1097"/>
                    <a:gd name="T55" fmla="*/ 256 h 279"/>
                    <a:gd name="T56" fmla="*/ 1094 w 1097"/>
                    <a:gd name="T57" fmla="*/ 249 h 279"/>
                    <a:gd name="T58" fmla="*/ 1092 w 1097"/>
                    <a:gd name="T59" fmla="*/ 256 h 279"/>
                    <a:gd name="T60" fmla="*/ 1061 w 1097"/>
                    <a:gd name="T61" fmla="*/ 263 h 279"/>
                    <a:gd name="T62" fmla="*/ 1002 w 1097"/>
                    <a:gd name="T63" fmla="*/ 271 h 279"/>
                    <a:gd name="T64" fmla="*/ 913 w 1097"/>
                    <a:gd name="T6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97" h="279">
                      <a:moveTo>
                        <a:pt x="859" y="279"/>
                      </a:moveTo>
                      <a:lnTo>
                        <a:pt x="837" y="279"/>
                      </a:lnTo>
                      <a:lnTo>
                        <a:pt x="815" y="279"/>
                      </a:lnTo>
                      <a:lnTo>
                        <a:pt x="791" y="277"/>
                      </a:lnTo>
                      <a:lnTo>
                        <a:pt x="766" y="276"/>
                      </a:lnTo>
                      <a:lnTo>
                        <a:pt x="741" y="275"/>
                      </a:lnTo>
                      <a:lnTo>
                        <a:pt x="715" y="273"/>
                      </a:lnTo>
                      <a:lnTo>
                        <a:pt x="689" y="270"/>
                      </a:lnTo>
                      <a:lnTo>
                        <a:pt x="661" y="268"/>
                      </a:lnTo>
                      <a:lnTo>
                        <a:pt x="633" y="263"/>
                      </a:lnTo>
                      <a:lnTo>
                        <a:pt x="606" y="258"/>
                      </a:lnTo>
                      <a:lnTo>
                        <a:pt x="578" y="254"/>
                      </a:lnTo>
                      <a:lnTo>
                        <a:pt x="550" y="246"/>
                      </a:lnTo>
                      <a:lnTo>
                        <a:pt x="522" y="239"/>
                      </a:lnTo>
                      <a:lnTo>
                        <a:pt x="493" y="231"/>
                      </a:lnTo>
                      <a:lnTo>
                        <a:pt x="465" y="223"/>
                      </a:lnTo>
                      <a:lnTo>
                        <a:pt x="436" y="213"/>
                      </a:lnTo>
                      <a:lnTo>
                        <a:pt x="380" y="193"/>
                      </a:lnTo>
                      <a:lnTo>
                        <a:pt x="326" y="170"/>
                      </a:lnTo>
                      <a:lnTo>
                        <a:pt x="273" y="148"/>
                      </a:lnTo>
                      <a:lnTo>
                        <a:pt x="224" y="125"/>
                      </a:lnTo>
                      <a:lnTo>
                        <a:pt x="177" y="103"/>
                      </a:lnTo>
                      <a:lnTo>
                        <a:pt x="134" y="81"/>
                      </a:lnTo>
                      <a:lnTo>
                        <a:pt x="96" y="61"/>
                      </a:lnTo>
                      <a:lnTo>
                        <a:pt x="64" y="43"/>
                      </a:lnTo>
                      <a:lnTo>
                        <a:pt x="18" y="17"/>
                      </a:lnTo>
                      <a:lnTo>
                        <a:pt x="0" y="6"/>
                      </a:lnTo>
                      <a:lnTo>
                        <a:pt x="4" y="0"/>
                      </a:lnTo>
                      <a:lnTo>
                        <a:pt x="22" y="11"/>
                      </a:lnTo>
                      <a:lnTo>
                        <a:pt x="68" y="37"/>
                      </a:lnTo>
                      <a:lnTo>
                        <a:pt x="100" y="55"/>
                      </a:lnTo>
                      <a:lnTo>
                        <a:pt x="138" y="75"/>
                      </a:lnTo>
                      <a:lnTo>
                        <a:pt x="180" y="97"/>
                      </a:lnTo>
                      <a:lnTo>
                        <a:pt x="226" y="119"/>
                      </a:lnTo>
                      <a:lnTo>
                        <a:pt x="276" y="142"/>
                      </a:lnTo>
                      <a:lnTo>
                        <a:pt x="328" y="164"/>
                      </a:lnTo>
                      <a:lnTo>
                        <a:pt x="383" y="186"/>
                      </a:lnTo>
                      <a:lnTo>
                        <a:pt x="439" y="206"/>
                      </a:lnTo>
                      <a:lnTo>
                        <a:pt x="466" y="216"/>
                      </a:lnTo>
                      <a:lnTo>
                        <a:pt x="494" y="225"/>
                      </a:lnTo>
                      <a:lnTo>
                        <a:pt x="523" y="232"/>
                      </a:lnTo>
                      <a:lnTo>
                        <a:pt x="551" y="241"/>
                      </a:lnTo>
                      <a:lnTo>
                        <a:pt x="579" y="246"/>
                      </a:lnTo>
                      <a:lnTo>
                        <a:pt x="607" y="252"/>
                      </a:lnTo>
                      <a:lnTo>
                        <a:pt x="635" y="257"/>
                      </a:lnTo>
                      <a:lnTo>
                        <a:pt x="662" y="261"/>
                      </a:lnTo>
                      <a:lnTo>
                        <a:pt x="712" y="265"/>
                      </a:lnTo>
                      <a:lnTo>
                        <a:pt x="760" y="269"/>
                      </a:lnTo>
                      <a:lnTo>
                        <a:pt x="804" y="271"/>
                      </a:lnTo>
                      <a:lnTo>
                        <a:pt x="846" y="273"/>
                      </a:lnTo>
                      <a:lnTo>
                        <a:pt x="885" y="273"/>
                      </a:lnTo>
                      <a:lnTo>
                        <a:pt x="921" y="271"/>
                      </a:lnTo>
                      <a:lnTo>
                        <a:pt x="953" y="269"/>
                      </a:lnTo>
                      <a:lnTo>
                        <a:pt x="981" y="267"/>
                      </a:lnTo>
                      <a:lnTo>
                        <a:pt x="1030" y="261"/>
                      </a:lnTo>
                      <a:lnTo>
                        <a:pt x="1066" y="256"/>
                      </a:lnTo>
                      <a:lnTo>
                        <a:pt x="1087" y="251"/>
                      </a:lnTo>
                      <a:lnTo>
                        <a:pt x="1094" y="249"/>
                      </a:lnTo>
                      <a:lnTo>
                        <a:pt x="1097" y="255"/>
                      </a:lnTo>
                      <a:lnTo>
                        <a:pt x="1092" y="256"/>
                      </a:lnTo>
                      <a:lnTo>
                        <a:pt x="1080" y="260"/>
                      </a:lnTo>
                      <a:lnTo>
                        <a:pt x="1061" y="263"/>
                      </a:lnTo>
                      <a:lnTo>
                        <a:pt x="1035" y="268"/>
                      </a:lnTo>
                      <a:lnTo>
                        <a:pt x="1002" y="271"/>
                      </a:lnTo>
                      <a:lnTo>
                        <a:pt x="960" y="275"/>
                      </a:lnTo>
                      <a:lnTo>
                        <a:pt x="913" y="279"/>
                      </a:lnTo>
                      <a:lnTo>
                        <a:pt x="859" y="27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92" name="Freeform 119"/>
                <p:cNvSpPr>
                  <a:spLocks noEditPoints="1"/>
                </p:cNvSpPr>
                <p:nvPr/>
              </p:nvSpPr>
              <p:spPr bwMode="auto">
                <a:xfrm>
                  <a:off x="2236789" y="3223006"/>
                  <a:ext cx="531813" cy="920750"/>
                </a:xfrm>
                <a:custGeom>
                  <a:avLst/>
                  <a:gdLst>
                    <a:gd name="T0" fmla="*/ 872 w 1004"/>
                    <a:gd name="T1" fmla="*/ 221 h 1742"/>
                    <a:gd name="T2" fmla="*/ 606 w 1004"/>
                    <a:gd name="T3" fmla="*/ 56 h 1742"/>
                    <a:gd name="T4" fmla="*/ 130 w 1004"/>
                    <a:gd name="T5" fmla="*/ 208 h 1742"/>
                    <a:gd name="T6" fmla="*/ 0 w 1004"/>
                    <a:gd name="T7" fmla="*/ 521 h 1742"/>
                    <a:gd name="T8" fmla="*/ 395 w 1004"/>
                    <a:gd name="T9" fmla="*/ 680 h 1742"/>
                    <a:gd name="T10" fmla="*/ 392 w 1004"/>
                    <a:gd name="T11" fmla="*/ 850 h 1742"/>
                    <a:gd name="T12" fmla="*/ 274 w 1004"/>
                    <a:gd name="T13" fmla="*/ 1468 h 1742"/>
                    <a:gd name="T14" fmla="*/ 856 w 1004"/>
                    <a:gd name="T15" fmla="*/ 1742 h 1742"/>
                    <a:gd name="T16" fmla="*/ 612 w 1004"/>
                    <a:gd name="T17" fmla="*/ 850 h 1742"/>
                    <a:gd name="T18" fmla="*/ 938 w 1004"/>
                    <a:gd name="T19" fmla="*/ 834 h 1742"/>
                    <a:gd name="T20" fmla="*/ 1002 w 1004"/>
                    <a:gd name="T21" fmla="*/ 536 h 1742"/>
                    <a:gd name="T22" fmla="*/ 767 w 1004"/>
                    <a:gd name="T23" fmla="*/ 207 h 1742"/>
                    <a:gd name="T24" fmla="*/ 740 w 1004"/>
                    <a:gd name="T25" fmla="*/ 150 h 1742"/>
                    <a:gd name="T26" fmla="*/ 718 w 1004"/>
                    <a:gd name="T27" fmla="*/ 137 h 1742"/>
                    <a:gd name="T28" fmla="*/ 163 w 1004"/>
                    <a:gd name="T29" fmla="*/ 207 h 1742"/>
                    <a:gd name="T30" fmla="*/ 44 w 1004"/>
                    <a:gd name="T31" fmla="*/ 521 h 1742"/>
                    <a:gd name="T32" fmla="*/ 160 w 1004"/>
                    <a:gd name="T33" fmla="*/ 521 h 1742"/>
                    <a:gd name="T34" fmla="*/ 105 w 1004"/>
                    <a:gd name="T35" fmla="*/ 834 h 1742"/>
                    <a:gd name="T36" fmla="*/ 160 w 1004"/>
                    <a:gd name="T37" fmla="*/ 834 h 1742"/>
                    <a:gd name="T38" fmla="*/ 900 w 1004"/>
                    <a:gd name="T39" fmla="*/ 834 h 1742"/>
                    <a:gd name="T40" fmla="*/ 846 w 1004"/>
                    <a:gd name="T41" fmla="*/ 834 h 1742"/>
                    <a:gd name="T42" fmla="*/ 502 w 1004"/>
                    <a:gd name="T43" fmla="*/ 1393 h 1742"/>
                    <a:gd name="T44" fmla="*/ 675 w 1004"/>
                    <a:gd name="T45" fmla="*/ 1477 h 1742"/>
                    <a:gd name="T46" fmla="*/ 502 w 1004"/>
                    <a:gd name="T47" fmla="*/ 1236 h 1742"/>
                    <a:gd name="T48" fmla="*/ 502 w 1004"/>
                    <a:gd name="T49" fmla="*/ 1218 h 1742"/>
                    <a:gd name="T50" fmla="*/ 601 w 1004"/>
                    <a:gd name="T51" fmla="*/ 1007 h 1742"/>
                    <a:gd name="T52" fmla="*/ 397 w 1004"/>
                    <a:gd name="T53" fmla="*/ 991 h 1742"/>
                    <a:gd name="T54" fmla="*/ 503 w 1004"/>
                    <a:gd name="T55" fmla="*/ 774 h 1742"/>
                    <a:gd name="T56" fmla="*/ 580 w 1004"/>
                    <a:gd name="T57" fmla="*/ 222 h 1742"/>
                    <a:gd name="T58" fmla="*/ 594 w 1004"/>
                    <a:gd name="T59" fmla="*/ 355 h 1742"/>
                    <a:gd name="T60" fmla="*/ 580 w 1004"/>
                    <a:gd name="T61" fmla="*/ 364 h 1742"/>
                    <a:gd name="T62" fmla="*/ 424 w 1004"/>
                    <a:gd name="T63" fmla="*/ 521 h 1742"/>
                    <a:gd name="T64" fmla="*/ 580 w 1004"/>
                    <a:gd name="T65" fmla="*/ 536 h 1742"/>
                    <a:gd name="T66" fmla="*/ 503 w 1004"/>
                    <a:gd name="T67" fmla="*/ 754 h 1742"/>
                    <a:gd name="T68" fmla="*/ 515 w 1004"/>
                    <a:gd name="T69" fmla="*/ 763 h 1742"/>
                    <a:gd name="T70" fmla="*/ 594 w 1004"/>
                    <a:gd name="T71" fmla="*/ 388 h 1742"/>
                    <a:gd name="T72" fmla="*/ 516 w 1004"/>
                    <a:gd name="T73" fmla="*/ 138 h 1742"/>
                    <a:gd name="T74" fmla="*/ 503 w 1004"/>
                    <a:gd name="T75" fmla="*/ 128 h 1742"/>
                    <a:gd name="T76" fmla="*/ 410 w 1004"/>
                    <a:gd name="T77" fmla="*/ 79 h 1742"/>
                    <a:gd name="T78" fmla="*/ 490 w 1004"/>
                    <a:gd name="T79" fmla="*/ 449 h 1742"/>
                    <a:gd name="T80" fmla="*/ 410 w 1004"/>
                    <a:gd name="T81" fmla="*/ 544 h 1742"/>
                    <a:gd name="T82" fmla="*/ 280 w 1004"/>
                    <a:gd name="T83" fmla="*/ 151 h 1742"/>
                    <a:gd name="T84" fmla="*/ 287 w 1004"/>
                    <a:gd name="T85" fmla="*/ 137 h 1742"/>
                    <a:gd name="T86" fmla="*/ 395 w 1004"/>
                    <a:gd name="T87" fmla="*/ 383 h 1742"/>
                    <a:gd name="T88" fmla="*/ 280 w 1004"/>
                    <a:gd name="T89" fmla="*/ 834 h 1742"/>
                    <a:gd name="T90" fmla="*/ 489 w 1004"/>
                    <a:gd name="T91" fmla="*/ 910 h 1742"/>
                    <a:gd name="T92" fmla="*/ 353 w 1004"/>
                    <a:gd name="T93" fmla="*/ 1141 h 1742"/>
                    <a:gd name="T94" fmla="*/ 318 w 1004"/>
                    <a:gd name="T95" fmla="*/ 1323 h 1742"/>
                    <a:gd name="T96" fmla="*/ 262 w 1004"/>
                    <a:gd name="T97" fmla="*/ 1614 h 1742"/>
                    <a:gd name="T98" fmla="*/ 746 w 1004"/>
                    <a:gd name="T99" fmla="*/ 1632 h 1742"/>
                    <a:gd name="T100" fmla="*/ 713 w 1004"/>
                    <a:gd name="T101" fmla="*/ 1457 h 1742"/>
                    <a:gd name="T102" fmla="*/ 522 w 1004"/>
                    <a:gd name="T103" fmla="*/ 1228 h 1742"/>
                    <a:gd name="T104" fmla="*/ 643 w 1004"/>
                    <a:gd name="T105" fmla="*/ 1092 h 1742"/>
                    <a:gd name="T106" fmla="*/ 635 w 1004"/>
                    <a:gd name="T107" fmla="*/ 834 h 1742"/>
                    <a:gd name="T108" fmla="*/ 718 w 1004"/>
                    <a:gd name="T109" fmla="*/ 749 h 1742"/>
                    <a:gd name="T110" fmla="*/ 634 w 1004"/>
                    <a:gd name="T111" fmla="*/ 521 h 1742"/>
                    <a:gd name="T112" fmla="*/ 740 w 1004"/>
                    <a:gd name="T113" fmla="*/ 434 h 1742"/>
                    <a:gd name="T114" fmla="*/ 862 w 1004"/>
                    <a:gd name="T115" fmla="*/ 481 h 1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04" h="1742">
                      <a:moveTo>
                        <a:pt x="610" y="366"/>
                      </a:moveTo>
                      <a:lnTo>
                        <a:pt x="610" y="222"/>
                      </a:lnTo>
                      <a:lnTo>
                        <a:pt x="612" y="222"/>
                      </a:lnTo>
                      <a:lnTo>
                        <a:pt x="733" y="222"/>
                      </a:lnTo>
                      <a:lnTo>
                        <a:pt x="871" y="222"/>
                      </a:lnTo>
                      <a:lnTo>
                        <a:pt x="872" y="221"/>
                      </a:lnTo>
                      <a:lnTo>
                        <a:pt x="872" y="222"/>
                      </a:lnTo>
                      <a:lnTo>
                        <a:pt x="875" y="208"/>
                      </a:lnTo>
                      <a:lnTo>
                        <a:pt x="812" y="171"/>
                      </a:lnTo>
                      <a:lnTo>
                        <a:pt x="606" y="56"/>
                      </a:lnTo>
                      <a:lnTo>
                        <a:pt x="606" y="56"/>
                      </a:lnTo>
                      <a:lnTo>
                        <a:pt x="606" y="56"/>
                      </a:lnTo>
                      <a:lnTo>
                        <a:pt x="506" y="0"/>
                      </a:lnTo>
                      <a:lnTo>
                        <a:pt x="498" y="0"/>
                      </a:lnTo>
                      <a:lnTo>
                        <a:pt x="398" y="56"/>
                      </a:lnTo>
                      <a:lnTo>
                        <a:pt x="398" y="56"/>
                      </a:lnTo>
                      <a:lnTo>
                        <a:pt x="398" y="56"/>
                      </a:lnTo>
                      <a:lnTo>
                        <a:pt x="130" y="208"/>
                      </a:lnTo>
                      <a:lnTo>
                        <a:pt x="133" y="222"/>
                      </a:lnTo>
                      <a:lnTo>
                        <a:pt x="272" y="222"/>
                      </a:lnTo>
                      <a:lnTo>
                        <a:pt x="392" y="222"/>
                      </a:lnTo>
                      <a:lnTo>
                        <a:pt x="395" y="222"/>
                      </a:lnTo>
                      <a:lnTo>
                        <a:pt x="395" y="366"/>
                      </a:lnTo>
                      <a:lnTo>
                        <a:pt x="0" y="521"/>
                      </a:lnTo>
                      <a:lnTo>
                        <a:pt x="3" y="536"/>
                      </a:lnTo>
                      <a:lnTo>
                        <a:pt x="151" y="536"/>
                      </a:lnTo>
                      <a:lnTo>
                        <a:pt x="272" y="536"/>
                      </a:lnTo>
                      <a:lnTo>
                        <a:pt x="392" y="536"/>
                      </a:lnTo>
                      <a:lnTo>
                        <a:pt x="395" y="536"/>
                      </a:lnTo>
                      <a:lnTo>
                        <a:pt x="395" y="680"/>
                      </a:lnTo>
                      <a:lnTo>
                        <a:pt x="67" y="834"/>
                      </a:lnTo>
                      <a:lnTo>
                        <a:pt x="70" y="850"/>
                      </a:lnTo>
                      <a:lnTo>
                        <a:pt x="151" y="850"/>
                      </a:lnTo>
                      <a:lnTo>
                        <a:pt x="272" y="850"/>
                      </a:lnTo>
                      <a:lnTo>
                        <a:pt x="392" y="850"/>
                      </a:lnTo>
                      <a:lnTo>
                        <a:pt x="392" y="850"/>
                      </a:lnTo>
                      <a:lnTo>
                        <a:pt x="364" y="997"/>
                      </a:lnTo>
                      <a:lnTo>
                        <a:pt x="334" y="1154"/>
                      </a:lnTo>
                      <a:lnTo>
                        <a:pt x="303" y="1311"/>
                      </a:lnTo>
                      <a:lnTo>
                        <a:pt x="303" y="1311"/>
                      </a:lnTo>
                      <a:lnTo>
                        <a:pt x="303" y="1311"/>
                      </a:lnTo>
                      <a:lnTo>
                        <a:pt x="274" y="1468"/>
                      </a:lnTo>
                      <a:lnTo>
                        <a:pt x="244" y="1625"/>
                      </a:lnTo>
                      <a:lnTo>
                        <a:pt x="244" y="1625"/>
                      </a:lnTo>
                      <a:lnTo>
                        <a:pt x="236" y="1670"/>
                      </a:lnTo>
                      <a:lnTo>
                        <a:pt x="149" y="1670"/>
                      </a:lnTo>
                      <a:lnTo>
                        <a:pt x="149" y="1742"/>
                      </a:lnTo>
                      <a:lnTo>
                        <a:pt x="856" y="1742"/>
                      </a:lnTo>
                      <a:lnTo>
                        <a:pt x="856" y="1670"/>
                      </a:lnTo>
                      <a:lnTo>
                        <a:pt x="770" y="1670"/>
                      </a:lnTo>
                      <a:lnTo>
                        <a:pt x="653" y="1063"/>
                      </a:lnTo>
                      <a:lnTo>
                        <a:pt x="641" y="997"/>
                      </a:lnTo>
                      <a:lnTo>
                        <a:pt x="612" y="850"/>
                      </a:lnTo>
                      <a:lnTo>
                        <a:pt x="612" y="850"/>
                      </a:lnTo>
                      <a:lnTo>
                        <a:pt x="733" y="850"/>
                      </a:lnTo>
                      <a:lnTo>
                        <a:pt x="853" y="850"/>
                      </a:lnTo>
                      <a:lnTo>
                        <a:pt x="934" y="850"/>
                      </a:lnTo>
                      <a:lnTo>
                        <a:pt x="935" y="848"/>
                      </a:lnTo>
                      <a:lnTo>
                        <a:pt x="935" y="850"/>
                      </a:lnTo>
                      <a:lnTo>
                        <a:pt x="938" y="834"/>
                      </a:lnTo>
                      <a:lnTo>
                        <a:pt x="611" y="680"/>
                      </a:lnTo>
                      <a:lnTo>
                        <a:pt x="611" y="536"/>
                      </a:lnTo>
                      <a:lnTo>
                        <a:pt x="612" y="536"/>
                      </a:lnTo>
                      <a:lnTo>
                        <a:pt x="733" y="536"/>
                      </a:lnTo>
                      <a:lnTo>
                        <a:pt x="853" y="536"/>
                      </a:lnTo>
                      <a:lnTo>
                        <a:pt x="1002" y="536"/>
                      </a:lnTo>
                      <a:lnTo>
                        <a:pt x="1002" y="534"/>
                      </a:lnTo>
                      <a:lnTo>
                        <a:pt x="1002" y="536"/>
                      </a:lnTo>
                      <a:lnTo>
                        <a:pt x="1004" y="521"/>
                      </a:lnTo>
                      <a:lnTo>
                        <a:pt x="610" y="366"/>
                      </a:lnTo>
                      <a:close/>
                      <a:moveTo>
                        <a:pt x="841" y="207"/>
                      </a:moveTo>
                      <a:lnTo>
                        <a:pt x="767" y="207"/>
                      </a:lnTo>
                      <a:lnTo>
                        <a:pt x="807" y="187"/>
                      </a:lnTo>
                      <a:lnTo>
                        <a:pt x="841" y="207"/>
                      </a:lnTo>
                      <a:close/>
                      <a:moveTo>
                        <a:pt x="740" y="150"/>
                      </a:moveTo>
                      <a:lnTo>
                        <a:pt x="790" y="178"/>
                      </a:lnTo>
                      <a:lnTo>
                        <a:pt x="740" y="202"/>
                      </a:lnTo>
                      <a:lnTo>
                        <a:pt x="740" y="150"/>
                      </a:lnTo>
                      <a:close/>
                      <a:moveTo>
                        <a:pt x="725" y="207"/>
                      </a:moveTo>
                      <a:lnTo>
                        <a:pt x="638" y="207"/>
                      </a:lnTo>
                      <a:lnTo>
                        <a:pt x="725" y="151"/>
                      </a:lnTo>
                      <a:lnTo>
                        <a:pt x="725" y="207"/>
                      </a:lnTo>
                      <a:close/>
                      <a:moveTo>
                        <a:pt x="611" y="76"/>
                      </a:moveTo>
                      <a:lnTo>
                        <a:pt x="718" y="137"/>
                      </a:lnTo>
                      <a:lnTo>
                        <a:pt x="611" y="207"/>
                      </a:lnTo>
                      <a:lnTo>
                        <a:pt x="611" y="76"/>
                      </a:lnTo>
                      <a:close/>
                      <a:moveTo>
                        <a:pt x="163" y="207"/>
                      </a:moveTo>
                      <a:lnTo>
                        <a:pt x="198" y="187"/>
                      </a:lnTo>
                      <a:lnTo>
                        <a:pt x="238" y="207"/>
                      </a:lnTo>
                      <a:lnTo>
                        <a:pt x="163" y="207"/>
                      </a:lnTo>
                      <a:close/>
                      <a:moveTo>
                        <a:pt x="264" y="202"/>
                      </a:moveTo>
                      <a:lnTo>
                        <a:pt x="214" y="178"/>
                      </a:lnTo>
                      <a:lnTo>
                        <a:pt x="264" y="150"/>
                      </a:lnTo>
                      <a:lnTo>
                        <a:pt x="264" y="202"/>
                      </a:lnTo>
                      <a:close/>
                      <a:moveTo>
                        <a:pt x="144" y="521"/>
                      </a:moveTo>
                      <a:lnTo>
                        <a:pt x="44" y="521"/>
                      </a:lnTo>
                      <a:lnTo>
                        <a:pt x="144" y="481"/>
                      </a:lnTo>
                      <a:lnTo>
                        <a:pt x="144" y="521"/>
                      </a:lnTo>
                      <a:close/>
                      <a:moveTo>
                        <a:pt x="160" y="521"/>
                      </a:moveTo>
                      <a:lnTo>
                        <a:pt x="160" y="483"/>
                      </a:lnTo>
                      <a:lnTo>
                        <a:pt x="238" y="521"/>
                      </a:lnTo>
                      <a:lnTo>
                        <a:pt x="160" y="521"/>
                      </a:lnTo>
                      <a:close/>
                      <a:moveTo>
                        <a:pt x="264" y="516"/>
                      </a:moveTo>
                      <a:lnTo>
                        <a:pt x="171" y="471"/>
                      </a:lnTo>
                      <a:lnTo>
                        <a:pt x="264" y="434"/>
                      </a:lnTo>
                      <a:lnTo>
                        <a:pt x="264" y="516"/>
                      </a:lnTo>
                      <a:close/>
                      <a:moveTo>
                        <a:pt x="144" y="834"/>
                      </a:moveTo>
                      <a:lnTo>
                        <a:pt x="105" y="834"/>
                      </a:lnTo>
                      <a:lnTo>
                        <a:pt x="144" y="815"/>
                      </a:lnTo>
                      <a:lnTo>
                        <a:pt x="144" y="834"/>
                      </a:lnTo>
                      <a:close/>
                      <a:moveTo>
                        <a:pt x="160" y="834"/>
                      </a:moveTo>
                      <a:lnTo>
                        <a:pt x="160" y="814"/>
                      </a:lnTo>
                      <a:lnTo>
                        <a:pt x="221" y="834"/>
                      </a:lnTo>
                      <a:lnTo>
                        <a:pt x="160" y="834"/>
                      </a:lnTo>
                      <a:close/>
                      <a:moveTo>
                        <a:pt x="264" y="831"/>
                      </a:moveTo>
                      <a:lnTo>
                        <a:pt x="173" y="802"/>
                      </a:lnTo>
                      <a:lnTo>
                        <a:pt x="264" y="760"/>
                      </a:lnTo>
                      <a:lnTo>
                        <a:pt x="264" y="831"/>
                      </a:lnTo>
                      <a:close/>
                      <a:moveTo>
                        <a:pt x="862" y="815"/>
                      </a:moveTo>
                      <a:lnTo>
                        <a:pt x="900" y="834"/>
                      </a:lnTo>
                      <a:lnTo>
                        <a:pt x="862" y="834"/>
                      </a:lnTo>
                      <a:lnTo>
                        <a:pt x="862" y="815"/>
                      </a:lnTo>
                      <a:close/>
                      <a:moveTo>
                        <a:pt x="846" y="834"/>
                      </a:moveTo>
                      <a:lnTo>
                        <a:pt x="783" y="834"/>
                      </a:lnTo>
                      <a:lnTo>
                        <a:pt x="846" y="814"/>
                      </a:lnTo>
                      <a:lnTo>
                        <a:pt x="846" y="834"/>
                      </a:lnTo>
                      <a:close/>
                      <a:moveTo>
                        <a:pt x="740" y="760"/>
                      </a:moveTo>
                      <a:lnTo>
                        <a:pt x="832" y="802"/>
                      </a:lnTo>
                      <a:lnTo>
                        <a:pt x="740" y="831"/>
                      </a:lnTo>
                      <a:lnTo>
                        <a:pt x="740" y="760"/>
                      </a:lnTo>
                      <a:close/>
                      <a:moveTo>
                        <a:pt x="325" y="1461"/>
                      </a:moveTo>
                      <a:lnTo>
                        <a:pt x="502" y="1393"/>
                      </a:lnTo>
                      <a:lnTo>
                        <a:pt x="680" y="1461"/>
                      </a:lnTo>
                      <a:lnTo>
                        <a:pt x="325" y="1461"/>
                      </a:lnTo>
                      <a:close/>
                      <a:moveTo>
                        <a:pt x="675" y="1477"/>
                      </a:moveTo>
                      <a:lnTo>
                        <a:pt x="503" y="1534"/>
                      </a:lnTo>
                      <a:lnTo>
                        <a:pt x="331" y="1477"/>
                      </a:lnTo>
                      <a:lnTo>
                        <a:pt x="675" y="1477"/>
                      </a:lnTo>
                      <a:close/>
                      <a:moveTo>
                        <a:pt x="354" y="1321"/>
                      </a:moveTo>
                      <a:lnTo>
                        <a:pt x="650" y="1321"/>
                      </a:lnTo>
                      <a:lnTo>
                        <a:pt x="502" y="1376"/>
                      </a:lnTo>
                      <a:lnTo>
                        <a:pt x="354" y="1321"/>
                      </a:lnTo>
                      <a:close/>
                      <a:moveTo>
                        <a:pt x="348" y="1305"/>
                      </a:moveTo>
                      <a:lnTo>
                        <a:pt x="502" y="1236"/>
                      </a:lnTo>
                      <a:lnTo>
                        <a:pt x="656" y="1305"/>
                      </a:lnTo>
                      <a:lnTo>
                        <a:pt x="348" y="1305"/>
                      </a:lnTo>
                      <a:close/>
                      <a:moveTo>
                        <a:pt x="502" y="1218"/>
                      </a:moveTo>
                      <a:lnTo>
                        <a:pt x="379" y="1164"/>
                      </a:lnTo>
                      <a:lnTo>
                        <a:pt x="626" y="1164"/>
                      </a:lnTo>
                      <a:lnTo>
                        <a:pt x="502" y="1218"/>
                      </a:lnTo>
                      <a:close/>
                      <a:moveTo>
                        <a:pt x="373" y="1148"/>
                      </a:moveTo>
                      <a:lnTo>
                        <a:pt x="503" y="1078"/>
                      </a:lnTo>
                      <a:lnTo>
                        <a:pt x="632" y="1148"/>
                      </a:lnTo>
                      <a:lnTo>
                        <a:pt x="373" y="1148"/>
                      </a:lnTo>
                      <a:close/>
                      <a:moveTo>
                        <a:pt x="403" y="1007"/>
                      </a:moveTo>
                      <a:lnTo>
                        <a:pt x="601" y="1007"/>
                      </a:lnTo>
                      <a:lnTo>
                        <a:pt x="503" y="1060"/>
                      </a:lnTo>
                      <a:lnTo>
                        <a:pt x="403" y="1007"/>
                      </a:lnTo>
                      <a:close/>
                      <a:moveTo>
                        <a:pt x="397" y="991"/>
                      </a:moveTo>
                      <a:lnTo>
                        <a:pt x="503" y="920"/>
                      </a:lnTo>
                      <a:lnTo>
                        <a:pt x="607" y="991"/>
                      </a:lnTo>
                      <a:lnTo>
                        <a:pt x="397" y="991"/>
                      </a:lnTo>
                      <a:close/>
                      <a:moveTo>
                        <a:pt x="428" y="850"/>
                      </a:moveTo>
                      <a:lnTo>
                        <a:pt x="577" y="850"/>
                      </a:lnTo>
                      <a:lnTo>
                        <a:pt x="503" y="901"/>
                      </a:lnTo>
                      <a:lnTo>
                        <a:pt x="428" y="850"/>
                      </a:lnTo>
                      <a:close/>
                      <a:moveTo>
                        <a:pt x="424" y="834"/>
                      </a:moveTo>
                      <a:lnTo>
                        <a:pt x="503" y="774"/>
                      </a:lnTo>
                      <a:lnTo>
                        <a:pt x="580" y="834"/>
                      </a:lnTo>
                      <a:lnTo>
                        <a:pt x="424" y="834"/>
                      </a:lnTo>
                      <a:close/>
                      <a:moveTo>
                        <a:pt x="580" y="222"/>
                      </a:moveTo>
                      <a:lnTo>
                        <a:pt x="503" y="283"/>
                      </a:lnTo>
                      <a:lnTo>
                        <a:pt x="424" y="222"/>
                      </a:lnTo>
                      <a:lnTo>
                        <a:pt x="580" y="222"/>
                      </a:lnTo>
                      <a:close/>
                      <a:moveTo>
                        <a:pt x="426" y="207"/>
                      </a:moveTo>
                      <a:lnTo>
                        <a:pt x="503" y="149"/>
                      </a:lnTo>
                      <a:lnTo>
                        <a:pt x="579" y="207"/>
                      </a:lnTo>
                      <a:lnTo>
                        <a:pt x="426" y="207"/>
                      </a:lnTo>
                      <a:close/>
                      <a:moveTo>
                        <a:pt x="594" y="231"/>
                      </a:moveTo>
                      <a:lnTo>
                        <a:pt x="594" y="355"/>
                      </a:lnTo>
                      <a:lnTo>
                        <a:pt x="515" y="294"/>
                      </a:lnTo>
                      <a:lnTo>
                        <a:pt x="594" y="231"/>
                      </a:lnTo>
                      <a:close/>
                      <a:moveTo>
                        <a:pt x="580" y="364"/>
                      </a:moveTo>
                      <a:lnTo>
                        <a:pt x="424" y="364"/>
                      </a:lnTo>
                      <a:lnTo>
                        <a:pt x="503" y="303"/>
                      </a:lnTo>
                      <a:lnTo>
                        <a:pt x="580" y="364"/>
                      </a:lnTo>
                      <a:close/>
                      <a:moveTo>
                        <a:pt x="580" y="379"/>
                      </a:moveTo>
                      <a:lnTo>
                        <a:pt x="503" y="440"/>
                      </a:lnTo>
                      <a:lnTo>
                        <a:pt x="424" y="379"/>
                      </a:lnTo>
                      <a:lnTo>
                        <a:pt x="580" y="379"/>
                      </a:lnTo>
                      <a:close/>
                      <a:moveTo>
                        <a:pt x="580" y="521"/>
                      </a:moveTo>
                      <a:lnTo>
                        <a:pt x="424" y="521"/>
                      </a:lnTo>
                      <a:lnTo>
                        <a:pt x="503" y="460"/>
                      </a:lnTo>
                      <a:lnTo>
                        <a:pt x="580" y="521"/>
                      </a:lnTo>
                      <a:close/>
                      <a:moveTo>
                        <a:pt x="580" y="536"/>
                      </a:moveTo>
                      <a:lnTo>
                        <a:pt x="503" y="597"/>
                      </a:lnTo>
                      <a:lnTo>
                        <a:pt x="424" y="536"/>
                      </a:lnTo>
                      <a:lnTo>
                        <a:pt x="580" y="536"/>
                      </a:lnTo>
                      <a:close/>
                      <a:moveTo>
                        <a:pt x="580" y="678"/>
                      </a:moveTo>
                      <a:lnTo>
                        <a:pt x="424" y="678"/>
                      </a:lnTo>
                      <a:lnTo>
                        <a:pt x="503" y="617"/>
                      </a:lnTo>
                      <a:lnTo>
                        <a:pt x="580" y="678"/>
                      </a:lnTo>
                      <a:close/>
                      <a:moveTo>
                        <a:pt x="580" y="693"/>
                      </a:moveTo>
                      <a:lnTo>
                        <a:pt x="503" y="754"/>
                      </a:lnTo>
                      <a:lnTo>
                        <a:pt x="424" y="693"/>
                      </a:lnTo>
                      <a:lnTo>
                        <a:pt x="580" y="693"/>
                      </a:lnTo>
                      <a:close/>
                      <a:moveTo>
                        <a:pt x="515" y="763"/>
                      </a:moveTo>
                      <a:lnTo>
                        <a:pt x="594" y="701"/>
                      </a:lnTo>
                      <a:lnTo>
                        <a:pt x="594" y="826"/>
                      </a:lnTo>
                      <a:lnTo>
                        <a:pt x="515" y="763"/>
                      </a:lnTo>
                      <a:close/>
                      <a:moveTo>
                        <a:pt x="515" y="606"/>
                      </a:moveTo>
                      <a:lnTo>
                        <a:pt x="594" y="544"/>
                      </a:lnTo>
                      <a:lnTo>
                        <a:pt x="594" y="669"/>
                      </a:lnTo>
                      <a:lnTo>
                        <a:pt x="515" y="606"/>
                      </a:lnTo>
                      <a:close/>
                      <a:moveTo>
                        <a:pt x="515" y="449"/>
                      </a:moveTo>
                      <a:lnTo>
                        <a:pt x="594" y="388"/>
                      </a:lnTo>
                      <a:lnTo>
                        <a:pt x="594" y="512"/>
                      </a:lnTo>
                      <a:lnTo>
                        <a:pt x="515" y="449"/>
                      </a:lnTo>
                      <a:close/>
                      <a:moveTo>
                        <a:pt x="516" y="138"/>
                      </a:moveTo>
                      <a:lnTo>
                        <a:pt x="594" y="79"/>
                      </a:lnTo>
                      <a:lnTo>
                        <a:pt x="594" y="199"/>
                      </a:lnTo>
                      <a:lnTo>
                        <a:pt x="516" y="138"/>
                      </a:lnTo>
                      <a:close/>
                      <a:moveTo>
                        <a:pt x="503" y="16"/>
                      </a:moveTo>
                      <a:lnTo>
                        <a:pt x="572" y="55"/>
                      </a:lnTo>
                      <a:lnTo>
                        <a:pt x="433" y="55"/>
                      </a:lnTo>
                      <a:lnTo>
                        <a:pt x="503" y="16"/>
                      </a:lnTo>
                      <a:close/>
                      <a:moveTo>
                        <a:pt x="579" y="70"/>
                      </a:moveTo>
                      <a:lnTo>
                        <a:pt x="503" y="128"/>
                      </a:lnTo>
                      <a:lnTo>
                        <a:pt x="426" y="70"/>
                      </a:lnTo>
                      <a:lnTo>
                        <a:pt x="579" y="70"/>
                      </a:lnTo>
                      <a:close/>
                      <a:moveTo>
                        <a:pt x="410" y="79"/>
                      </a:moveTo>
                      <a:lnTo>
                        <a:pt x="490" y="138"/>
                      </a:lnTo>
                      <a:lnTo>
                        <a:pt x="410" y="199"/>
                      </a:lnTo>
                      <a:lnTo>
                        <a:pt x="410" y="79"/>
                      </a:lnTo>
                      <a:close/>
                      <a:moveTo>
                        <a:pt x="410" y="231"/>
                      </a:moveTo>
                      <a:lnTo>
                        <a:pt x="490" y="293"/>
                      </a:lnTo>
                      <a:lnTo>
                        <a:pt x="410" y="355"/>
                      </a:lnTo>
                      <a:lnTo>
                        <a:pt x="410" y="231"/>
                      </a:lnTo>
                      <a:close/>
                      <a:moveTo>
                        <a:pt x="410" y="388"/>
                      </a:moveTo>
                      <a:lnTo>
                        <a:pt x="490" y="449"/>
                      </a:lnTo>
                      <a:lnTo>
                        <a:pt x="410" y="512"/>
                      </a:lnTo>
                      <a:lnTo>
                        <a:pt x="410" y="388"/>
                      </a:lnTo>
                      <a:close/>
                      <a:moveTo>
                        <a:pt x="410" y="544"/>
                      </a:moveTo>
                      <a:lnTo>
                        <a:pt x="490" y="606"/>
                      </a:lnTo>
                      <a:lnTo>
                        <a:pt x="410" y="669"/>
                      </a:lnTo>
                      <a:lnTo>
                        <a:pt x="410" y="544"/>
                      </a:lnTo>
                      <a:close/>
                      <a:moveTo>
                        <a:pt x="410" y="701"/>
                      </a:moveTo>
                      <a:lnTo>
                        <a:pt x="490" y="763"/>
                      </a:lnTo>
                      <a:lnTo>
                        <a:pt x="410" y="826"/>
                      </a:lnTo>
                      <a:lnTo>
                        <a:pt x="410" y="701"/>
                      </a:lnTo>
                      <a:close/>
                      <a:moveTo>
                        <a:pt x="280" y="207"/>
                      </a:moveTo>
                      <a:lnTo>
                        <a:pt x="280" y="151"/>
                      </a:lnTo>
                      <a:lnTo>
                        <a:pt x="366" y="207"/>
                      </a:lnTo>
                      <a:lnTo>
                        <a:pt x="280" y="207"/>
                      </a:lnTo>
                      <a:close/>
                      <a:moveTo>
                        <a:pt x="287" y="137"/>
                      </a:moveTo>
                      <a:lnTo>
                        <a:pt x="395" y="76"/>
                      </a:lnTo>
                      <a:lnTo>
                        <a:pt x="395" y="207"/>
                      </a:lnTo>
                      <a:lnTo>
                        <a:pt x="287" y="137"/>
                      </a:lnTo>
                      <a:close/>
                      <a:moveTo>
                        <a:pt x="280" y="521"/>
                      </a:moveTo>
                      <a:lnTo>
                        <a:pt x="280" y="440"/>
                      </a:lnTo>
                      <a:lnTo>
                        <a:pt x="372" y="521"/>
                      </a:lnTo>
                      <a:lnTo>
                        <a:pt x="280" y="521"/>
                      </a:lnTo>
                      <a:close/>
                      <a:moveTo>
                        <a:pt x="287" y="426"/>
                      </a:moveTo>
                      <a:lnTo>
                        <a:pt x="395" y="383"/>
                      </a:lnTo>
                      <a:lnTo>
                        <a:pt x="395" y="519"/>
                      </a:lnTo>
                      <a:lnTo>
                        <a:pt x="287" y="426"/>
                      </a:lnTo>
                      <a:close/>
                      <a:moveTo>
                        <a:pt x="280" y="834"/>
                      </a:moveTo>
                      <a:lnTo>
                        <a:pt x="280" y="763"/>
                      </a:lnTo>
                      <a:lnTo>
                        <a:pt x="370" y="834"/>
                      </a:lnTo>
                      <a:lnTo>
                        <a:pt x="280" y="834"/>
                      </a:lnTo>
                      <a:close/>
                      <a:moveTo>
                        <a:pt x="287" y="749"/>
                      </a:moveTo>
                      <a:lnTo>
                        <a:pt x="395" y="698"/>
                      </a:lnTo>
                      <a:lnTo>
                        <a:pt x="395" y="833"/>
                      </a:lnTo>
                      <a:lnTo>
                        <a:pt x="287" y="749"/>
                      </a:lnTo>
                      <a:close/>
                      <a:moveTo>
                        <a:pt x="408" y="855"/>
                      </a:moveTo>
                      <a:lnTo>
                        <a:pt x="489" y="910"/>
                      </a:lnTo>
                      <a:lnTo>
                        <a:pt x="383" y="982"/>
                      </a:lnTo>
                      <a:lnTo>
                        <a:pt x="408" y="855"/>
                      </a:lnTo>
                      <a:close/>
                      <a:moveTo>
                        <a:pt x="360" y="1102"/>
                      </a:moveTo>
                      <a:lnTo>
                        <a:pt x="378" y="1010"/>
                      </a:lnTo>
                      <a:lnTo>
                        <a:pt x="486" y="1069"/>
                      </a:lnTo>
                      <a:lnTo>
                        <a:pt x="353" y="1141"/>
                      </a:lnTo>
                      <a:lnTo>
                        <a:pt x="360" y="1102"/>
                      </a:lnTo>
                      <a:close/>
                      <a:moveTo>
                        <a:pt x="347" y="1167"/>
                      </a:moveTo>
                      <a:lnTo>
                        <a:pt x="483" y="1227"/>
                      </a:lnTo>
                      <a:lnTo>
                        <a:pt x="322" y="1299"/>
                      </a:lnTo>
                      <a:lnTo>
                        <a:pt x="347" y="1167"/>
                      </a:lnTo>
                      <a:close/>
                      <a:moveTo>
                        <a:pt x="318" y="1323"/>
                      </a:moveTo>
                      <a:lnTo>
                        <a:pt x="480" y="1385"/>
                      </a:lnTo>
                      <a:lnTo>
                        <a:pt x="293" y="1457"/>
                      </a:lnTo>
                      <a:lnTo>
                        <a:pt x="318" y="1323"/>
                      </a:lnTo>
                      <a:close/>
                      <a:moveTo>
                        <a:pt x="288" y="1480"/>
                      </a:moveTo>
                      <a:lnTo>
                        <a:pt x="478" y="1543"/>
                      </a:lnTo>
                      <a:lnTo>
                        <a:pt x="262" y="1614"/>
                      </a:lnTo>
                      <a:lnTo>
                        <a:pt x="288" y="1480"/>
                      </a:lnTo>
                      <a:close/>
                      <a:moveTo>
                        <a:pt x="754" y="1670"/>
                      </a:moveTo>
                      <a:lnTo>
                        <a:pt x="251" y="1670"/>
                      </a:lnTo>
                      <a:lnTo>
                        <a:pt x="258" y="1632"/>
                      </a:lnTo>
                      <a:lnTo>
                        <a:pt x="503" y="1551"/>
                      </a:lnTo>
                      <a:lnTo>
                        <a:pt x="746" y="1632"/>
                      </a:lnTo>
                      <a:lnTo>
                        <a:pt x="754" y="1670"/>
                      </a:lnTo>
                      <a:close/>
                      <a:moveTo>
                        <a:pt x="743" y="1614"/>
                      </a:moveTo>
                      <a:lnTo>
                        <a:pt x="528" y="1543"/>
                      </a:lnTo>
                      <a:lnTo>
                        <a:pt x="717" y="1480"/>
                      </a:lnTo>
                      <a:lnTo>
                        <a:pt x="743" y="1614"/>
                      </a:lnTo>
                      <a:close/>
                      <a:moveTo>
                        <a:pt x="713" y="1457"/>
                      </a:moveTo>
                      <a:lnTo>
                        <a:pt x="524" y="1385"/>
                      </a:lnTo>
                      <a:lnTo>
                        <a:pt x="687" y="1323"/>
                      </a:lnTo>
                      <a:lnTo>
                        <a:pt x="713" y="1457"/>
                      </a:lnTo>
                      <a:close/>
                      <a:moveTo>
                        <a:pt x="657" y="1167"/>
                      </a:moveTo>
                      <a:lnTo>
                        <a:pt x="682" y="1299"/>
                      </a:lnTo>
                      <a:lnTo>
                        <a:pt x="522" y="1228"/>
                      </a:lnTo>
                      <a:lnTo>
                        <a:pt x="657" y="1167"/>
                      </a:lnTo>
                      <a:close/>
                      <a:moveTo>
                        <a:pt x="643" y="1092"/>
                      </a:moveTo>
                      <a:lnTo>
                        <a:pt x="653" y="1141"/>
                      </a:lnTo>
                      <a:lnTo>
                        <a:pt x="520" y="1069"/>
                      </a:lnTo>
                      <a:lnTo>
                        <a:pt x="626" y="1010"/>
                      </a:lnTo>
                      <a:lnTo>
                        <a:pt x="643" y="1092"/>
                      </a:lnTo>
                      <a:close/>
                      <a:moveTo>
                        <a:pt x="622" y="982"/>
                      </a:moveTo>
                      <a:lnTo>
                        <a:pt x="516" y="910"/>
                      </a:lnTo>
                      <a:lnTo>
                        <a:pt x="597" y="855"/>
                      </a:lnTo>
                      <a:lnTo>
                        <a:pt x="622" y="982"/>
                      </a:lnTo>
                      <a:close/>
                      <a:moveTo>
                        <a:pt x="725" y="834"/>
                      </a:moveTo>
                      <a:lnTo>
                        <a:pt x="635" y="834"/>
                      </a:lnTo>
                      <a:lnTo>
                        <a:pt x="725" y="763"/>
                      </a:lnTo>
                      <a:lnTo>
                        <a:pt x="725" y="834"/>
                      </a:lnTo>
                      <a:close/>
                      <a:moveTo>
                        <a:pt x="718" y="749"/>
                      </a:moveTo>
                      <a:lnTo>
                        <a:pt x="611" y="833"/>
                      </a:lnTo>
                      <a:lnTo>
                        <a:pt x="611" y="698"/>
                      </a:lnTo>
                      <a:lnTo>
                        <a:pt x="718" y="749"/>
                      </a:lnTo>
                      <a:close/>
                      <a:moveTo>
                        <a:pt x="611" y="519"/>
                      </a:moveTo>
                      <a:lnTo>
                        <a:pt x="611" y="383"/>
                      </a:lnTo>
                      <a:lnTo>
                        <a:pt x="718" y="426"/>
                      </a:lnTo>
                      <a:lnTo>
                        <a:pt x="611" y="519"/>
                      </a:lnTo>
                      <a:close/>
                      <a:moveTo>
                        <a:pt x="725" y="521"/>
                      </a:moveTo>
                      <a:lnTo>
                        <a:pt x="634" y="521"/>
                      </a:lnTo>
                      <a:lnTo>
                        <a:pt x="725" y="440"/>
                      </a:lnTo>
                      <a:lnTo>
                        <a:pt x="725" y="521"/>
                      </a:lnTo>
                      <a:close/>
                      <a:moveTo>
                        <a:pt x="740" y="434"/>
                      </a:moveTo>
                      <a:lnTo>
                        <a:pt x="833" y="471"/>
                      </a:lnTo>
                      <a:lnTo>
                        <a:pt x="740" y="516"/>
                      </a:lnTo>
                      <a:lnTo>
                        <a:pt x="740" y="434"/>
                      </a:lnTo>
                      <a:close/>
                      <a:moveTo>
                        <a:pt x="846" y="521"/>
                      </a:moveTo>
                      <a:lnTo>
                        <a:pt x="767" y="521"/>
                      </a:lnTo>
                      <a:lnTo>
                        <a:pt x="846" y="483"/>
                      </a:lnTo>
                      <a:lnTo>
                        <a:pt x="846" y="521"/>
                      </a:lnTo>
                      <a:close/>
                      <a:moveTo>
                        <a:pt x="862" y="521"/>
                      </a:moveTo>
                      <a:lnTo>
                        <a:pt x="862" y="481"/>
                      </a:lnTo>
                      <a:lnTo>
                        <a:pt x="960" y="521"/>
                      </a:lnTo>
                      <a:lnTo>
                        <a:pt x="862" y="52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93" name="Freeform 120"/>
                <p:cNvSpPr>
                  <a:spLocks noEditPoints="1"/>
                </p:cNvSpPr>
                <p:nvPr/>
              </p:nvSpPr>
              <p:spPr bwMode="auto">
                <a:xfrm>
                  <a:off x="2835276" y="3383343"/>
                  <a:ext cx="404813" cy="703263"/>
                </a:xfrm>
                <a:custGeom>
                  <a:avLst/>
                  <a:gdLst>
                    <a:gd name="T0" fmla="*/ 665 w 766"/>
                    <a:gd name="T1" fmla="*/ 169 h 1331"/>
                    <a:gd name="T2" fmla="*/ 462 w 766"/>
                    <a:gd name="T3" fmla="*/ 43 h 1331"/>
                    <a:gd name="T4" fmla="*/ 99 w 766"/>
                    <a:gd name="T5" fmla="*/ 159 h 1331"/>
                    <a:gd name="T6" fmla="*/ 0 w 766"/>
                    <a:gd name="T7" fmla="*/ 398 h 1331"/>
                    <a:gd name="T8" fmla="*/ 301 w 766"/>
                    <a:gd name="T9" fmla="*/ 521 h 1331"/>
                    <a:gd name="T10" fmla="*/ 299 w 766"/>
                    <a:gd name="T11" fmla="*/ 650 h 1331"/>
                    <a:gd name="T12" fmla="*/ 209 w 766"/>
                    <a:gd name="T13" fmla="*/ 1122 h 1331"/>
                    <a:gd name="T14" fmla="*/ 653 w 766"/>
                    <a:gd name="T15" fmla="*/ 1275 h 1331"/>
                    <a:gd name="T16" fmla="*/ 560 w 766"/>
                    <a:gd name="T17" fmla="*/ 650 h 1331"/>
                    <a:gd name="T18" fmla="*/ 466 w 766"/>
                    <a:gd name="T19" fmla="*/ 521 h 1331"/>
                    <a:gd name="T20" fmla="*/ 765 w 766"/>
                    <a:gd name="T21" fmla="*/ 409 h 1331"/>
                    <a:gd name="T22" fmla="*/ 617 w 766"/>
                    <a:gd name="T23" fmla="*/ 144 h 1331"/>
                    <a:gd name="T24" fmla="*/ 554 w 766"/>
                    <a:gd name="T25" fmla="*/ 158 h 1331"/>
                    <a:gd name="T26" fmla="*/ 466 w 766"/>
                    <a:gd name="T27" fmla="*/ 158 h 1331"/>
                    <a:gd name="T28" fmla="*/ 201 w 766"/>
                    <a:gd name="T29" fmla="*/ 155 h 1331"/>
                    <a:gd name="T30" fmla="*/ 109 w 766"/>
                    <a:gd name="T31" fmla="*/ 369 h 1331"/>
                    <a:gd name="T32" fmla="*/ 201 w 766"/>
                    <a:gd name="T33" fmla="*/ 395 h 1331"/>
                    <a:gd name="T34" fmla="*/ 109 w 766"/>
                    <a:gd name="T35" fmla="*/ 624 h 1331"/>
                    <a:gd name="T36" fmla="*/ 201 w 766"/>
                    <a:gd name="T37" fmla="*/ 636 h 1331"/>
                    <a:gd name="T38" fmla="*/ 657 w 766"/>
                    <a:gd name="T39" fmla="*/ 637 h 1331"/>
                    <a:gd name="T40" fmla="*/ 565 w 766"/>
                    <a:gd name="T41" fmla="*/ 580 h 1331"/>
                    <a:gd name="T42" fmla="*/ 519 w 766"/>
                    <a:gd name="T43" fmla="*/ 1117 h 1331"/>
                    <a:gd name="T44" fmla="*/ 270 w 766"/>
                    <a:gd name="T45" fmla="*/ 1009 h 1331"/>
                    <a:gd name="T46" fmla="*/ 500 w 766"/>
                    <a:gd name="T47" fmla="*/ 997 h 1331"/>
                    <a:gd name="T48" fmla="*/ 284 w 766"/>
                    <a:gd name="T49" fmla="*/ 877 h 1331"/>
                    <a:gd name="T50" fmla="*/ 384 w 766"/>
                    <a:gd name="T51" fmla="*/ 811 h 1331"/>
                    <a:gd name="T52" fmla="*/ 327 w 766"/>
                    <a:gd name="T53" fmla="*/ 650 h 1331"/>
                    <a:gd name="T54" fmla="*/ 442 w 766"/>
                    <a:gd name="T55" fmla="*/ 637 h 1331"/>
                    <a:gd name="T56" fmla="*/ 324 w 766"/>
                    <a:gd name="T57" fmla="*/ 158 h 1331"/>
                    <a:gd name="T58" fmla="*/ 393 w 766"/>
                    <a:gd name="T59" fmla="*/ 225 h 1331"/>
                    <a:gd name="T60" fmla="*/ 442 w 766"/>
                    <a:gd name="T61" fmla="*/ 290 h 1331"/>
                    <a:gd name="T62" fmla="*/ 384 w 766"/>
                    <a:gd name="T63" fmla="*/ 352 h 1331"/>
                    <a:gd name="T64" fmla="*/ 442 w 766"/>
                    <a:gd name="T65" fmla="*/ 518 h 1331"/>
                    <a:gd name="T66" fmla="*/ 324 w 766"/>
                    <a:gd name="T67" fmla="*/ 530 h 1331"/>
                    <a:gd name="T68" fmla="*/ 393 w 766"/>
                    <a:gd name="T69" fmla="*/ 464 h 1331"/>
                    <a:gd name="T70" fmla="*/ 454 w 766"/>
                    <a:gd name="T71" fmla="*/ 392 h 1331"/>
                    <a:gd name="T72" fmla="*/ 384 w 766"/>
                    <a:gd name="T73" fmla="*/ 13 h 1331"/>
                    <a:gd name="T74" fmla="*/ 324 w 766"/>
                    <a:gd name="T75" fmla="*/ 55 h 1331"/>
                    <a:gd name="T76" fmla="*/ 312 w 766"/>
                    <a:gd name="T77" fmla="*/ 177 h 1331"/>
                    <a:gd name="T78" fmla="*/ 312 w 766"/>
                    <a:gd name="T79" fmla="*/ 392 h 1331"/>
                    <a:gd name="T80" fmla="*/ 312 w 766"/>
                    <a:gd name="T81" fmla="*/ 536 h 1331"/>
                    <a:gd name="T82" fmla="*/ 279 w 766"/>
                    <a:gd name="T83" fmla="*/ 158 h 1331"/>
                    <a:gd name="T84" fmla="*/ 213 w 766"/>
                    <a:gd name="T85" fmla="*/ 398 h 1331"/>
                    <a:gd name="T86" fmla="*/ 301 w 766"/>
                    <a:gd name="T87" fmla="*/ 397 h 1331"/>
                    <a:gd name="T88" fmla="*/ 219 w 766"/>
                    <a:gd name="T89" fmla="*/ 572 h 1331"/>
                    <a:gd name="T90" fmla="*/ 292 w 766"/>
                    <a:gd name="T91" fmla="*/ 750 h 1331"/>
                    <a:gd name="T92" fmla="*/ 274 w 766"/>
                    <a:gd name="T93" fmla="*/ 843 h 1331"/>
                    <a:gd name="T94" fmla="*/ 366 w 766"/>
                    <a:gd name="T95" fmla="*/ 1059 h 1331"/>
                    <a:gd name="T96" fmla="*/ 220 w 766"/>
                    <a:gd name="T97" fmla="*/ 1130 h 1331"/>
                    <a:gd name="T98" fmla="*/ 575 w 766"/>
                    <a:gd name="T99" fmla="*/ 1275 h 1331"/>
                    <a:gd name="T100" fmla="*/ 400 w 766"/>
                    <a:gd name="T101" fmla="*/ 1059 h 1331"/>
                    <a:gd name="T102" fmla="*/ 501 w 766"/>
                    <a:gd name="T103" fmla="*/ 892 h 1331"/>
                    <a:gd name="T104" fmla="*/ 474 w 766"/>
                    <a:gd name="T105" fmla="*/ 750 h 1331"/>
                    <a:gd name="T106" fmla="*/ 554 w 766"/>
                    <a:gd name="T107" fmla="*/ 584 h 1331"/>
                    <a:gd name="T108" fmla="*/ 466 w 766"/>
                    <a:gd name="T109" fmla="*/ 397 h 1331"/>
                    <a:gd name="T110" fmla="*/ 554 w 766"/>
                    <a:gd name="T111" fmla="*/ 337 h 1331"/>
                    <a:gd name="T112" fmla="*/ 645 w 766"/>
                    <a:gd name="T113" fmla="*/ 398 h 1331"/>
                    <a:gd name="T114" fmla="*/ 733 w 766"/>
                    <a:gd name="T115" fmla="*/ 398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66" h="1331">
                      <a:moveTo>
                        <a:pt x="466" y="281"/>
                      </a:moveTo>
                      <a:lnTo>
                        <a:pt x="466" y="170"/>
                      </a:lnTo>
                      <a:lnTo>
                        <a:pt x="467" y="170"/>
                      </a:lnTo>
                      <a:lnTo>
                        <a:pt x="560" y="170"/>
                      </a:lnTo>
                      <a:lnTo>
                        <a:pt x="665" y="170"/>
                      </a:lnTo>
                      <a:lnTo>
                        <a:pt x="665" y="169"/>
                      </a:lnTo>
                      <a:lnTo>
                        <a:pt x="665" y="170"/>
                      </a:lnTo>
                      <a:lnTo>
                        <a:pt x="668" y="159"/>
                      </a:lnTo>
                      <a:lnTo>
                        <a:pt x="619" y="132"/>
                      </a:lnTo>
                      <a:lnTo>
                        <a:pt x="462" y="43"/>
                      </a:lnTo>
                      <a:lnTo>
                        <a:pt x="462" y="43"/>
                      </a:lnTo>
                      <a:lnTo>
                        <a:pt x="462" y="43"/>
                      </a:lnTo>
                      <a:lnTo>
                        <a:pt x="386" y="0"/>
                      </a:lnTo>
                      <a:lnTo>
                        <a:pt x="380" y="0"/>
                      </a:lnTo>
                      <a:lnTo>
                        <a:pt x="304" y="43"/>
                      </a:lnTo>
                      <a:lnTo>
                        <a:pt x="304" y="43"/>
                      </a:lnTo>
                      <a:lnTo>
                        <a:pt x="304" y="43"/>
                      </a:lnTo>
                      <a:lnTo>
                        <a:pt x="99" y="159"/>
                      </a:lnTo>
                      <a:lnTo>
                        <a:pt x="101" y="170"/>
                      </a:lnTo>
                      <a:lnTo>
                        <a:pt x="207" y="170"/>
                      </a:lnTo>
                      <a:lnTo>
                        <a:pt x="299" y="170"/>
                      </a:lnTo>
                      <a:lnTo>
                        <a:pt x="301" y="170"/>
                      </a:lnTo>
                      <a:lnTo>
                        <a:pt x="301" y="281"/>
                      </a:lnTo>
                      <a:lnTo>
                        <a:pt x="0" y="398"/>
                      </a:lnTo>
                      <a:lnTo>
                        <a:pt x="2" y="410"/>
                      </a:lnTo>
                      <a:lnTo>
                        <a:pt x="115" y="410"/>
                      </a:lnTo>
                      <a:lnTo>
                        <a:pt x="207" y="410"/>
                      </a:lnTo>
                      <a:lnTo>
                        <a:pt x="299" y="410"/>
                      </a:lnTo>
                      <a:lnTo>
                        <a:pt x="301" y="410"/>
                      </a:lnTo>
                      <a:lnTo>
                        <a:pt x="301" y="521"/>
                      </a:lnTo>
                      <a:lnTo>
                        <a:pt x="51" y="638"/>
                      </a:lnTo>
                      <a:lnTo>
                        <a:pt x="53" y="650"/>
                      </a:lnTo>
                      <a:lnTo>
                        <a:pt x="115" y="650"/>
                      </a:lnTo>
                      <a:lnTo>
                        <a:pt x="207" y="650"/>
                      </a:lnTo>
                      <a:lnTo>
                        <a:pt x="299" y="650"/>
                      </a:lnTo>
                      <a:lnTo>
                        <a:pt x="299" y="650"/>
                      </a:lnTo>
                      <a:lnTo>
                        <a:pt x="278" y="762"/>
                      </a:lnTo>
                      <a:lnTo>
                        <a:pt x="254" y="882"/>
                      </a:lnTo>
                      <a:lnTo>
                        <a:pt x="232" y="1002"/>
                      </a:lnTo>
                      <a:lnTo>
                        <a:pt x="232" y="1002"/>
                      </a:lnTo>
                      <a:lnTo>
                        <a:pt x="232" y="1002"/>
                      </a:lnTo>
                      <a:lnTo>
                        <a:pt x="209" y="1122"/>
                      </a:lnTo>
                      <a:lnTo>
                        <a:pt x="185" y="1242"/>
                      </a:lnTo>
                      <a:lnTo>
                        <a:pt x="179" y="1275"/>
                      </a:lnTo>
                      <a:lnTo>
                        <a:pt x="113" y="1275"/>
                      </a:lnTo>
                      <a:lnTo>
                        <a:pt x="113" y="1331"/>
                      </a:lnTo>
                      <a:lnTo>
                        <a:pt x="653" y="1331"/>
                      </a:lnTo>
                      <a:lnTo>
                        <a:pt x="653" y="1275"/>
                      </a:lnTo>
                      <a:lnTo>
                        <a:pt x="587" y="1275"/>
                      </a:lnTo>
                      <a:lnTo>
                        <a:pt x="498" y="812"/>
                      </a:lnTo>
                      <a:lnTo>
                        <a:pt x="488" y="762"/>
                      </a:lnTo>
                      <a:lnTo>
                        <a:pt x="467" y="650"/>
                      </a:lnTo>
                      <a:lnTo>
                        <a:pt x="467" y="650"/>
                      </a:lnTo>
                      <a:lnTo>
                        <a:pt x="560" y="650"/>
                      </a:lnTo>
                      <a:lnTo>
                        <a:pt x="651" y="650"/>
                      </a:lnTo>
                      <a:lnTo>
                        <a:pt x="714" y="650"/>
                      </a:lnTo>
                      <a:lnTo>
                        <a:pt x="714" y="648"/>
                      </a:lnTo>
                      <a:lnTo>
                        <a:pt x="714" y="650"/>
                      </a:lnTo>
                      <a:lnTo>
                        <a:pt x="716" y="638"/>
                      </a:lnTo>
                      <a:lnTo>
                        <a:pt x="466" y="521"/>
                      </a:lnTo>
                      <a:lnTo>
                        <a:pt x="466" y="410"/>
                      </a:lnTo>
                      <a:lnTo>
                        <a:pt x="467" y="410"/>
                      </a:lnTo>
                      <a:lnTo>
                        <a:pt x="560" y="410"/>
                      </a:lnTo>
                      <a:lnTo>
                        <a:pt x="651" y="410"/>
                      </a:lnTo>
                      <a:lnTo>
                        <a:pt x="765" y="410"/>
                      </a:lnTo>
                      <a:lnTo>
                        <a:pt x="765" y="409"/>
                      </a:lnTo>
                      <a:lnTo>
                        <a:pt x="765" y="410"/>
                      </a:lnTo>
                      <a:lnTo>
                        <a:pt x="766" y="398"/>
                      </a:lnTo>
                      <a:lnTo>
                        <a:pt x="466" y="281"/>
                      </a:lnTo>
                      <a:close/>
                      <a:moveTo>
                        <a:pt x="643" y="158"/>
                      </a:moveTo>
                      <a:lnTo>
                        <a:pt x="586" y="158"/>
                      </a:lnTo>
                      <a:lnTo>
                        <a:pt x="617" y="144"/>
                      </a:lnTo>
                      <a:lnTo>
                        <a:pt x="643" y="158"/>
                      </a:lnTo>
                      <a:close/>
                      <a:moveTo>
                        <a:pt x="565" y="115"/>
                      </a:moveTo>
                      <a:lnTo>
                        <a:pt x="603" y="137"/>
                      </a:lnTo>
                      <a:lnTo>
                        <a:pt x="565" y="155"/>
                      </a:lnTo>
                      <a:lnTo>
                        <a:pt x="565" y="115"/>
                      </a:lnTo>
                      <a:close/>
                      <a:moveTo>
                        <a:pt x="554" y="158"/>
                      </a:moveTo>
                      <a:lnTo>
                        <a:pt x="487" y="158"/>
                      </a:lnTo>
                      <a:lnTo>
                        <a:pt x="554" y="115"/>
                      </a:lnTo>
                      <a:lnTo>
                        <a:pt x="554" y="158"/>
                      </a:lnTo>
                      <a:close/>
                      <a:moveTo>
                        <a:pt x="466" y="58"/>
                      </a:moveTo>
                      <a:lnTo>
                        <a:pt x="548" y="105"/>
                      </a:lnTo>
                      <a:lnTo>
                        <a:pt x="466" y="158"/>
                      </a:lnTo>
                      <a:lnTo>
                        <a:pt x="466" y="58"/>
                      </a:lnTo>
                      <a:close/>
                      <a:moveTo>
                        <a:pt x="124" y="158"/>
                      </a:moveTo>
                      <a:lnTo>
                        <a:pt x="151" y="144"/>
                      </a:lnTo>
                      <a:lnTo>
                        <a:pt x="181" y="158"/>
                      </a:lnTo>
                      <a:lnTo>
                        <a:pt x="124" y="158"/>
                      </a:lnTo>
                      <a:close/>
                      <a:moveTo>
                        <a:pt x="201" y="155"/>
                      </a:moveTo>
                      <a:lnTo>
                        <a:pt x="163" y="137"/>
                      </a:lnTo>
                      <a:lnTo>
                        <a:pt x="201" y="115"/>
                      </a:lnTo>
                      <a:lnTo>
                        <a:pt x="201" y="155"/>
                      </a:lnTo>
                      <a:close/>
                      <a:moveTo>
                        <a:pt x="109" y="398"/>
                      </a:moveTo>
                      <a:lnTo>
                        <a:pt x="33" y="398"/>
                      </a:lnTo>
                      <a:lnTo>
                        <a:pt x="109" y="369"/>
                      </a:lnTo>
                      <a:lnTo>
                        <a:pt x="109" y="398"/>
                      </a:lnTo>
                      <a:close/>
                      <a:moveTo>
                        <a:pt x="121" y="398"/>
                      </a:moveTo>
                      <a:lnTo>
                        <a:pt x="121" y="369"/>
                      </a:lnTo>
                      <a:lnTo>
                        <a:pt x="181" y="398"/>
                      </a:lnTo>
                      <a:lnTo>
                        <a:pt x="121" y="398"/>
                      </a:lnTo>
                      <a:close/>
                      <a:moveTo>
                        <a:pt x="201" y="395"/>
                      </a:moveTo>
                      <a:lnTo>
                        <a:pt x="131" y="360"/>
                      </a:lnTo>
                      <a:lnTo>
                        <a:pt x="201" y="332"/>
                      </a:lnTo>
                      <a:lnTo>
                        <a:pt x="201" y="395"/>
                      </a:lnTo>
                      <a:close/>
                      <a:moveTo>
                        <a:pt x="109" y="637"/>
                      </a:moveTo>
                      <a:lnTo>
                        <a:pt x="80" y="637"/>
                      </a:lnTo>
                      <a:lnTo>
                        <a:pt x="109" y="624"/>
                      </a:lnTo>
                      <a:lnTo>
                        <a:pt x="109" y="637"/>
                      </a:lnTo>
                      <a:close/>
                      <a:moveTo>
                        <a:pt x="121" y="637"/>
                      </a:moveTo>
                      <a:lnTo>
                        <a:pt x="121" y="623"/>
                      </a:lnTo>
                      <a:lnTo>
                        <a:pt x="169" y="637"/>
                      </a:lnTo>
                      <a:lnTo>
                        <a:pt x="121" y="637"/>
                      </a:lnTo>
                      <a:close/>
                      <a:moveTo>
                        <a:pt x="201" y="636"/>
                      </a:moveTo>
                      <a:lnTo>
                        <a:pt x="132" y="613"/>
                      </a:lnTo>
                      <a:lnTo>
                        <a:pt x="201" y="580"/>
                      </a:lnTo>
                      <a:lnTo>
                        <a:pt x="201" y="636"/>
                      </a:lnTo>
                      <a:close/>
                      <a:moveTo>
                        <a:pt x="657" y="624"/>
                      </a:moveTo>
                      <a:lnTo>
                        <a:pt x="687" y="637"/>
                      </a:lnTo>
                      <a:lnTo>
                        <a:pt x="657" y="637"/>
                      </a:lnTo>
                      <a:lnTo>
                        <a:pt x="657" y="624"/>
                      </a:lnTo>
                      <a:close/>
                      <a:moveTo>
                        <a:pt x="645" y="637"/>
                      </a:moveTo>
                      <a:lnTo>
                        <a:pt x="598" y="637"/>
                      </a:lnTo>
                      <a:lnTo>
                        <a:pt x="645" y="623"/>
                      </a:lnTo>
                      <a:lnTo>
                        <a:pt x="645" y="637"/>
                      </a:lnTo>
                      <a:close/>
                      <a:moveTo>
                        <a:pt x="565" y="580"/>
                      </a:moveTo>
                      <a:lnTo>
                        <a:pt x="636" y="613"/>
                      </a:lnTo>
                      <a:lnTo>
                        <a:pt x="565" y="636"/>
                      </a:lnTo>
                      <a:lnTo>
                        <a:pt x="565" y="580"/>
                      </a:lnTo>
                      <a:close/>
                      <a:moveTo>
                        <a:pt x="247" y="1117"/>
                      </a:moveTo>
                      <a:lnTo>
                        <a:pt x="382" y="1065"/>
                      </a:lnTo>
                      <a:lnTo>
                        <a:pt x="519" y="1117"/>
                      </a:lnTo>
                      <a:lnTo>
                        <a:pt x="247" y="1117"/>
                      </a:lnTo>
                      <a:close/>
                      <a:moveTo>
                        <a:pt x="514" y="1129"/>
                      </a:moveTo>
                      <a:lnTo>
                        <a:pt x="384" y="1173"/>
                      </a:lnTo>
                      <a:lnTo>
                        <a:pt x="252" y="1129"/>
                      </a:lnTo>
                      <a:lnTo>
                        <a:pt x="514" y="1129"/>
                      </a:lnTo>
                      <a:close/>
                      <a:moveTo>
                        <a:pt x="270" y="1009"/>
                      </a:moveTo>
                      <a:lnTo>
                        <a:pt x="497" y="1009"/>
                      </a:lnTo>
                      <a:lnTo>
                        <a:pt x="382" y="1052"/>
                      </a:lnTo>
                      <a:lnTo>
                        <a:pt x="270" y="1009"/>
                      </a:lnTo>
                      <a:close/>
                      <a:moveTo>
                        <a:pt x="266" y="997"/>
                      </a:moveTo>
                      <a:lnTo>
                        <a:pt x="384" y="945"/>
                      </a:lnTo>
                      <a:lnTo>
                        <a:pt x="500" y="997"/>
                      </a:lnTo>
                      <a:lnTo>
                        <a:pt x="266" y="997"/>
                      </a:lnTo>
                      <a:close/>
                      <a:moveTo>
                        <a:pt x="382" y="932"/>
                      </a:moveTo>
                      <a:lnTo>
                        <a:pt x="289" y="889"/>
                      </a:lnTo>
                      <a:lnTo>
                        <a:pt x="478" y="889"/>
                      </a:lnTo>
                      <a:lnTo>
                        <a:pt x="382" y="932"/>
                      </a:lnTo>
                      <a:close/>
                      <a:moveTo>
                        <a:pt x="284" y="877"/>
                      </a:moveTo>
                      <a:lnTo>
                        <a:pt x="384" y="824"/>
                      </a:lnTo>
                      <a:lnTo>
                        <a:pt x="482" y="877"/>
                      </a:lnTo>
                      <a:lnTo>
                        <a:pt x="284" y="877"/>
                      </a:lnTo>
                      <a:close/>
                      <a:moveTo>
                        <a:pt x="308" y="769"/>
                      </a:moveTo>
                      <a:lnTo>
                        <a:pt x="459" y="769"/>
                      </a:lnTo>
                      <a:lnTo>
                        <a:pt x="384" y="811"/>
                      </a:lnTo>
                      <a:lnTo>
                        <a:pt x="308" y="769"/>
                      </a:lnTo>
                      <a:close/>
                      <a:moveTo>
                        <a:pt x="303" y="757"/>
                      </a:moveTo>
                      <a:lnTo>
                        <a:pt x="384" y="703"/>
                      </a:lnTo>
                      <a:lnTo>
                        <a:pt x="463" y="757"/>
                      </a:lnTo>
                      <a:lnTo>
                        <a:pt x="303" y="757"/>
                      </a:lnTo>
                      <a:close/>
                      <a:moveTo>
                        <a:pt x="327" y="650"/>
                      </a:moveTo>
                      <a:lnTo>
                        <a:pt x="441" y="650"/>
                      </a:lnTo>
                      <a:lnTo>
                        <a:pt x="384" y="688"/>
                      </a:lnTo>
                      <a:lnTo>
                        <a:pt x="327" y="650"/>
                      </a:lnTo>
                      <a:close/>
                      <a:moveTo>
                        <a:pt x="324" y="637"/>
                      </a:moveTo>
                      <a:lnTo>
                        <a:pt x="384" y="592"/>
                      </a:lnTo>
                      <a:lnTo>
                        <a:pt x="442" y="637"/>
                      </a:lnTo>
                      <a:lnTo>
                        <a:pt x="324" y="637"/>
                      </a:lnTo>
                      <a:close/>
                      <a:moveTo>
                        <a:pt x="442" y="170"/>
                      </a:moveTo>
                      <a:lnTo>
                        <a:pt x="384" y="216"/>
                      </a:lnTo>
                      <a:lnTo>
                        <a:pt x="324" y="170"/>
                      </a:lnTo>
                      <a:lnTo>
                        <a:pt x="442" y="170"/>
                      </a:lnTo>
                      <a:close/>
                      <a:moveTo>
                        <a:pt x="324" y="158"/>
                      </a:moveTo>
                      <a:lnTo>
                        <a:pt x="384" y="114"/>
                      </a:lnTo>
                      <a:lnTo>
                        <a:pt x="442" y="158"/>
                      </a:lnTo>
                      <a:lnTo>
                        <a:pt x="324" y="158"/>
                      </a:lnTo>
                      <a:close/>
                      <a:moveTo>
                        <a:pt x="454" y="177"/>
                      </a:moveTo>
                      <a:lnTo>
                        <a:pt x="454" y="272"/>
                      </a:lnTo>
                      <a:lnTo>
                        <a:pt x="393" y="225"/>
                      </a:lnTo>
                      <a:lnTo>
                        <a:pt x="454" y="177"/>
                      </a:lnTo>
                      <a:close/>
                      <a:moveTo>
                        <a:pt x="442" y="278"/>
                      </a:moveTo>
                      <a:lnTo>
                        <a:pt x="324" y="278"/>
                      </a:lnTo>
                      <a:lnTo>
                        <a:pt x="384" y="232"/>
                      </a:lnTo>
                      <a:lnTo>
                        <a:pt x="442" y="278"/>
                      </a:lnTo>
                      <a:close/>
                      <a:moveTo>
                        <a:pt x="442" y="290"/>
                      </a:moveTo>
                      <a:lnTo>
                        <a:pt x="384" y="337"/>
                      </a:lnTo>
                      <a:lnTo>
                        <a:pt x="324" y="290"/>
                      </a:lnTo>
                      <a:lnTo>
                        <a:pt x="442" y="290"/>
                      </a:lnTo>
                      <a:close/>
                      <a:moveTo>
                        <a:pt x="442" y="398"/>
                      </a:moveTo>
                      <a:lnTo>
                        <a:pt x="324" y="398"/>
                      </a:lnTo>
                      <a:lnTo>
                        <a:pt x="384" y="352"/>
                      </a:lnTo>
                      <a:lnTo>
                        <a:pt x="442" y="398"/>
                      </a:lnTo>
                      <a:close/>
                      <a:moveTo>
                        <a:pt x="442" y="410"/>
                      </a:moveTo>
                      <a:lnTo>
                        <a:pt x="384" y="457"/>
                      </a:lnTo>
                      <a:lnTo>
                        <a:pt x="324" y="410"/>
                      </a:lnTo>
                      <a:lnTo>
                        <a:pt x="442" y="410"/>
                      </a:lnTo>
                      <a:close/>
                      <a:moveTo>
                        <a:pt x="442" y="518"/>
                      </a:moveTo>
                      <a:lnTo>
                        <a:pt x="324" y="518"/>
                      </a:lnTo>
                      <a:lnTo>
                        <a:pt x="384" y="472"/>
                      </a:lnTo>
                      <a:lnTo>
                        <a:pt x="442" y="518"/>
                      </a:lnTo>
                      <a:close/>
                      <a:moveTo>
                        <a:pt x="442" y="530"/>
                      </a:moveTo>
                      <a:lnTo>
                        <a:pt x="384" y="577"/>
                      </a:lnTo>
                      <a:lnTo>
                        <a:pt x="324" y="530"/>
                      </a:lnTo>
                      <a:lnTo>
                        <a:pt x="442" y="530"/>
                      </a:lnTo>
                      <a:close/>
                      <a:moveTo>
                        <a:pt x="393" y="584"/>
                      </a:moveTo>
                      <a:lnTo>
                        <a:pt x="454" y="536"/>
                      </a:lnTo>
                      <a:lnTo>
                        <a:pt x="454" y="631"/>
                      </a:lnTo>
                      <a:lnTo>
                        <a:pt x="393" y="584"/>
                      </a:lnTo>
                      <a:close/>
                      <a:moveTo>
                        <a:pt x="393" y="464"/>
                      </a:moveTo>
                      <a:lnTo>
                        <a:pt x="454" y="416"/>
                      </a:lnTo>
                      <a:lnTo>
                        <a:pt x="454" y="511"/>
                      </a:lnTo>
                      <a:lnTo>
                        <a:pt x="393" y="464"/>
                      </a:lnTo>
                      <a:close/>
                      <a:moveTo>
                        <a:pt x="393" y="345"/>
                      </a:moveTo>
                      <a:lnTo>
                        <a:pt x="454" y="296"/>
                      </a:lnTo>
                      <a:lnTo>
                        <a:pt x="454" y="392"/>
                      </a:lnTo>
                      <a:lnTo>
                        <a:pt x="393" y="345"/>
                      </a:lnTo>
                      <a:close/>
                      <a:moveTo>
                        <a:pt x="393" y="106"/>
                      </a:moveTo>
                      <a:lnTo>
                        <a:pt x="454" y="61"/>
                      </a:lnTo>
                      <a:lnTo>
                        <a:pt x="454" y="152"/>
                      </a:lnTo>
                      <a:lnTo>
                        <a:pt x="393" y="106"/>
                      </a:lnTo>
                      <a:close/>
                      <a:moveTo>
                        <a:pt x="384" y="13"/>
                      </a:moveTo>
                      <a:lnTo>
                        <a:pt x="437" y="42"/>
                      </a:lnTo>
                      <a:lnTo>
                        <a:pt x="330" y="42"/>
                      </a:lnTo>
                      <a:lnTo>
                        <a:pt x="384" y="13"/>
                      </a:lnTo>
                      <a:close/>
                      <a:moveTo>
                        <a:pt x="442" y="55"/>
                      </a:moveTo>
                      <a:lnTo>
                        <a:pt x="384" y="99"/>
                      </a:lnTo>
                      <a:lnTo>
                        <a:pt x="324" y="55"/>
                      </a:lnTo>
                      <a:lnTo>
                        <a:pt x="442" y="55"/>
                      </a:lnTo>
                      <a:close/>
                      <a:moveTo>
                        <a:pt x="312" y="61"/>
                      </a:moveTo>
                      <a:lnTo>
                        <a:pt x="373" y="106"/>
                      </a:lnTo>
                      <a:lnTo>
                        <a:pt x="312" y="152"/>
                      </a:lnTo>
                      <a:lnTo>
                        <a:pt x="312" y="61"/>
                      </a:lnTo>
                      <a:close/>
                      <a:moveTo>
                        <a:pt x="312" y="177"/>
                      </a:moveTo>
                      <a:lnTo>
                        <a:pt x="373" y="225"/>
                      </a:lnTo>
                      <a:lnTo>
                        <a:pt x="312" y="272"/>
                      </a:lnTo>
                      <a:lnTo>
                        <a:pt x="312" y="177"/>
                      </a:lnTo>
                      <a:close/>
                      <a:moveTo>
                        <a:pt x="312" y="296"/>
                      </a:moveTo>
                      <a:lnTo>
                        <a:pt x="373" y="345"/>
                      </a:lnTo>
                      <a:lnTo>
                        <a:pt x="312" y="392"/>
                      </a:lnTo>
                      <a:lnTo>
                        <a:pt x="312" y="296"/>
                      </a:lnTo>
                      <a:close/>
                      <a:moveTo>
                        <a:pt x="312" y="416"/>
                      </a:moveTo>
                      <a:lnTo>
                        <a:pt x="373" y="464"/>
                      </a:lnTo>
                      <a:lnTo>
                        <a:pt x="312" y="511"/>
                      </a:lnTo>
                      <a:lnTo>
                        <a:pt x="312" y="416"/>
                      </a:lnTo>
                      <a:close/>
                      <a:moveTo>
                        <a:pt x="312" y="536"/>
                      </a:moveTo>
                      <a:lnTo>
                        <a:pt x="373" y="584"/>
                      </a:lnTo>
                      <a:lnTo>
                        <a:pt x="312" y="631"/>
                      </a:lnTo>
                      <a:lnTo>
                        <a:pt x="312" y="536"/>
                      </a:lnTo>
                      <a:close/>
                      <a:moveTo>
                        <a:pt x="213" y="158"/>
                      </a:moveTo>
                      <a:lnTo>
                        <a:pt x="213" y="115"/>
                      </a:lnTo>
                      <a:lnTo>
                        <a:pt x="279" y="158"/>
                      </a:lnTo>
                      <a:lnTo>
                        <a:pt x="213" y="158"/>
                      </a:lnTo>
                      <a:close/>
                      <a:moveTo>
                        <a:pt x="219" y="105"/>
                      </a:moveTo>
                      <a:lnTo>
                        <a:pt x="301" y="58"/>
                      </a:lnTo>
                      <a:lnTo>
                        <a:pt x="301" y="158"/>
                      </a:lnTo>
                      <a:lnTo>
                        <a:pt x="219" y="105"/>
                      </a:lnTo>
                      <a:close/>
                      <a:moveTo>
                        <a:pt x="213" y="398"/>
                      </a:moveTo>
                      <a:lnTo>
                        <a:pt x="213" y="337"/>
                      </a:lnTo>
                      <a:lnTo>
                        <a:pt x="284" y="398"/>
                      </a:lnTo>
                      <a:lnTo>
                        <a:pt x="213" y="398"/>
                      </a:lnTo>
                      <a:close/>
                      <a:moveTo>
                        <a:pt x="219" y="326"/>
                      </a:moveTo>
                      <a:lnTo>
                        <a:pt x="301" y="293"/>
                      </a:lnTo>
                      <a:lnTo>
                        <a:pt x="301" y="397"/>
                      </a:lnTo>
                      <a:lnTo>
                        <a:pt x="219" y="326"/>
                      </a:lnTo>
                      <a:close/>
                      <a:moveTo>
                        <a:pt x="213" y="637"/>
                      </a:moveTo>
                      <a:lnTo>
                        <a:pt x="213" y="584"/>
                      </a:lnTo>
                      <a:lnTo>
                        <a:pt x="282" y="637"/>
                      </a:lnTo>
                      <a:lnTo>
                        <a:pt x="213" y="637"/>
                      </a:lnTo>
                      <a:close/>
                      <a:moveTo>
                        <a:pt x="219" y="572"/>
                      </a:moveTo>
                      <a:lnTo>
                        <a:pt x="301" y="534"/>
                      </a:lnTo>
                      <a:lnTo>
                        <a:pt x="301" y="637"/>
                      </a:lnTo>
                      <a:lnTo>
                        <a:pt x="219" y="572"/>
                      </a:lnTo>
                      <a:close/>
                      <a:moveTo>
                        <a:pt x="311" y="654"/>
                      </a:moveTo>
                      <a:lnTo>
                        <a:pt x="373" y="695"/>
                      </a:lnTo>
                      <a:lnTo>
                        <a:pt x="292" y="750"/>
                      </a:lnTo>
                      <a:lnTo>
                        <a:pt x="311" y="654"/>
                      </a:lnTo>
                      <a:close/>
                      <a:moveTo>
                        <a:pt x="274" y="843"/>
                      </a:moveTo>
                      <a:lnTo>
                        <a:pt x="287" y="773"/>
                      </a:lnTo>
                      <a:lnTo>
                        <a:pt x="371" y="818"/>
                      </a:lnTo>
                      <a:lnTo>
                        <a:pt x="268" y="873"/>
                      </a:lnTo>
                      <a:lnTo>
                        <a:pt x="274" y="843"/>
                      </a:lnTo>
                      <a:close/>
                      <a:moveTo>
                        <a:pt x="265" y="892"/>
                      </a:moveTo>
                      <a:lnTo>
                        <a:pt x="368" y="938"/>
                      </a:lnTo>
                      <a:lnTo>
                        <a:pt x="246" y="993"/>
                      </a:lnTo>
                      <a:lnTo>
                        <a:pt x="265" y="892"/>
                      </a:lnTo>
                      <a:close/>
                      <a:moveTo>
                        <a:pt x="242" y="1012"/>
                      </a:moveTo>
                      <a:lnTo>
                        <a:pt x="366" y="1059"/>
                      </a:lnTo>
                      <a:lnTo>
                        <a:pt x="222" y="1114"/>
                      </a:lnTo>
                      <a:lnTo>
                        <a:pt x="242" y="1012"/>
                      </a:lnTo>
                      <a:close/>
                      <a:moveTo>
                        <a:pt x="220" y="1130"/>
                      </a:moveTo>
                      <a:lnTo>
                        <a:pt x="365" y="1179"/>
                      </a:lnTo>
                      <a:lnTo>
                        <a:pt x="200" y="1234"/>
                      </a:lnTo>
                      <a:lnTo>
                        <a:pt x="220" y="1130"/>
                      </a:lnTo>
                      <a:close/>
                      <a:moveTo>
                        <a:pt x="575" y="1275"/>
                      </a:moveTo>
                      <a:lnTo>
                        <a:pt x="191" y="1275"/>
                      </a:lnTo>
                      <a:lnTo>
                        <a:pt x="197" y="1247"/>
                      </a:lnTo>
                      <a:lnTo>
                        <a:pt x="384" y="1185"/>
                      </a:lnTo>
                      <a:lnTo>
                        <a:pt x="570" y="1247"/>
                      </a:lnTo>
                      <a:lnTo>
                        <a:pt x="575" y="1275"/>
                      </a:lnTo>
                      <a:close/>
                      <a:moveTo>
                        <a:pt x="567" y="1234"/>
                      </a:moveTo>
                      <a:lnTo>
                        <a:pt x="403" y="1179"/>
                      </a:lnTo>
                      <a:lnTo>
                        <a:pt x="548" y="1130"/>
                      </a:lnTo>
                      <a:lnTo>
                        <a:pt x="567" y="1234"/>
                      </a:lnTo>
                      <a:close/>
                      <a:moveTo>
                        <a:pt x="544" y="1114"/>
                      </a:moveTo>
                      <a:lnTo>
                        <a:pt x="400" y="1059"/>
                      </a:lnTo>
                      <a:lnTo>
                        <a:pt x="524" y="1012"/>
                      </a:lnTo>
                      <a:lnTo>
                        <a:pt x="544" y="1114"/>
                      </a:lnTo>
                      <a:close/>
                      <a:moveTo>
                        <a:pt x="501" y="892"/>
                      </a:moveTo>
                      <a:lnTo>
                        <a:pt x="520" y="993"/>
                      </a:lnTo>
                      <a:lnTo>
                        <a:pt x="398" y="938"/>
                      </a:lnTo>
                      <a:lnTo>
                        <a:pt x="501" y="892"/>
                      </a:lnTo>
                      <a:close/>
                      <a:moveTo>
                        <a:pt x="491" y="834"/>
                      </a:moveTo>
                      <a:lnTo>
                        <a:pt x="498" y="873"/>
                      </a:lnTo>
                      <a:lnTo>
                        <a:pt x="396" y="818"/>
                      </a:lnTo>
                      <a:lnTo>
                        <a:pt x="479" y="773"/>
                      </a:lnTo>
                      <a:lnTo>
                        <a:pt x="491" y="834"/>
                      </a:lnTo>
                      <a:close/>
                      <a:moveTo>
                        <a:pt x="474" y="750"/>
                      </a:moveTo>
                      <a:lnTo>
                        <a:pt x="394" y="695"/>
                      </a:lnTo>
                      <a:lnTo>
                        <a:pt x="456" y="654"/>
                      </a:lnTo>
                      <a:lnTo>
                        <a:pt x="474" y="750"/>
                      </a:lnTo>
                      <a:close/>
                      <a:moveTo>
                        <a:pt x="554" y="637"/>
                      </a:moveTo>
                      <a:lnTo>
                        <a:pt x="485" y="637"/>
                      </a:lnTo>
                      <a:lnTo>
                        <a:pt x="554" y="584"/>
                      </a:lnTo>
                      <a:lnTo>
                        <a:pt x="554" y="637"/>
                      </a:lnTo>
                      <a:close/>
                      <a:moveTo>
                        <a:pt x="548" y="572"/>
                      </a:moveTo>
                      <a:lnTo>
                        <a:pt x="466" y="637"/>
                      </a:lnTo>
                      <a:lnTo>
                        <a:pt x="466" y="534"/>
                      </a:lnTo>
                      <a:lnTo>
                        <a:pt x="548" y="572"/>
                      </a:lnTo>
                      <a:close/>
                      <a:moveTo>
                        <a:pt x="466" y="397"/>
                      </a:moveTo>
                      <a:lnTo>
                        <a:pt x="466" y="293"/>
                      </a:lnTo>
                      <a:lnTo>
                        <a:pt x="548" y="326"/>
                      </a:lnTo>
                      <a:lnTo>
                        <a:pt x="466" y="397"/>
                      </a:lnTo>
                      <a:close/>
                      <a:moveTo>
                        <a:pt x="554" y="398"/>
                      </a:moveTo>
                      <a:lnTo>
                        <a:pt x="483" y="398"/>
                      </a:lnTo>
                      <a:lnTo>
                        <a:pt x="554" y="337"/>
                      </a:lnTo>
                      <a:lnTo>
                        <a:pt x="554" y="398"/>
                      </a:lnTo>
                      <a:close/>
                      <a:moveTo>
                        <a:pt x="565" y="332"/>
                      </a:moveTo>
                      <a:lnTo>
                        <a:pt x="637" y="360"/>
                      </a:lnTo>
                      <a:lnTo>
                        <a:pt x="565" y="395"/>
                      </a:lnTo>
                      <a:lnTo>
                        <a:pt x="565" y="332"/>
                      </a:lnTo>
                      <a:close/>
                      <a:moveTo>
                        <a:pt x="645" y="398"/>
                      </a:moveTo>
                      <a:lnTo>
                        <a:pt x="586" y="398"/>
                      </a:lnTo>
                      <a:lnTo>
                        <a:pt x="645" y="369"/>
                      </a:lnTo>
                      <a:lnTo>
                        <a:pt x="645" y="398"/>
                      </a:lnTo>
                      <a:close/>
                      <a:moveTo>
                        <a:pt x="657" y="398"/>
                      </a:moveTo>
                      <a:lnTo>
                        <a:pt x="657" y="369"/>
                      </a:lnTo>
                      <a:lnTo>
                        <a:pt x="733" y="398"/>
                      </a:lnTo>
                      <a:lnTo>
                        <a:pt x="657" y="39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grpSp>
            <p:nvGrpSpPr>
              <p:cNvPr id="18" name="组合 17"/>
              <p:cNvGrpSpPr/>
              <p:nvPr/>
            </p:nvGrpSpPr>
            <p:grpSpPr>
              <a:xfrm>
                <a:off x="3465653" y="6679031"/>
                <a:ext cx="668221" cy="383028"/>
                <a:chOff x="7304089" y="3364293"/>
                <a:chExt cx="1141412" cy="638176"/>
              </a:xfrm>
            </p:grpSpPr>
            <p:sp>
              <p:nvSpPr>
                <p:cNvPr id="35" name="Freeform 121"/>
                <p:cNvSpPr/>
                <p:nvPr/>
              </p:nvSpPr>
              <p:spPr bwMode="auto">
                <a:xfrm>
                  <a:off x="7566026" y="3672268"/>
                  <a:ext cx="57150" cy="55563"/>
                </a:xfrm>
                <a:custGeom>
                  <a:avLst/>
                  <a:gdLst>
                    <a:gd name="T0" fmla="*/ 0 w 106"/>
                    <a:gd name="T1" fmla="*/ 12 h 105"/>
                    <a:gd name="T2" fmla="*/ 75 w 106"/>
                    <a:gd name="T3" fmla="*/ 0 h 105"/>
                    <a:gd name="T4" fmla="*/ 106 w 106"/>
                    <a:gd name="T5" fmla="*/ 88 h 105"/>
                    <a:gd name="T6" fmla="*/ 34 w 106"/>
                    <a:gd name="T7" fmla="*/ 105 h 105"/>
                    <a:gd name="T8" fmla="*/ 0 w 106"/>
                    <a:gd name="T9" fmla="*/ 12 h 105"/>
                  </a:gdLst>
                  <a:ahLst/>
                  <a:cxnLst>
                    <a:cxn ang="0">
                      <a:pos x="T0" y="T1"/>
                    </a:cxn>
                    <a:cxn ang="0">
                      <a:pos x="T2" y="T3"/>
                    </a:cxn>
                    <a:cxn ang="0">
                      <a:pos x="T4" y="T5"/>
                    </a:cxn>
                    <a:cxn ang="0">
                      <a:pos x="T6" y="T7"/>
                    </a:cxn>
                    <a:cxn ang="0">
                      <a:pos x="T8" y="T9"/>
                    </a:cxn>
                  </a:cxnLst>
                  <a:rect l="0" t="0" r="r" b="b"/>
                  <a:pathLst>
                    <a:path w="106" h="105">
                      <a:moveTo>
                        <a:pt x="0" y="12"/>
                      </a:moveTo>
                      <a:lnTo>
                        <a:pt x="75" y="0"/>
                      </a:lnTo>
                      <a:lnTo>
                        <a:pt x="106" y="88"/>
                      </a:lnTo>
                      <a:lnTo>
                        <a:pt x="34" y="105"/>
                      </a:lnTo>
                      <a:lnTo>
                        <a:pt x="0" y="12"/>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6" name="Freeform 122"/>
                <p:cNvSpPr/>
                <p:nvPr/>
              </p:nvSpPr>
              <p:spPr bwMode="auto">
                <a:xfrm>
                  <a:off x="7546976" y="3619881"/>
                  <a:ext cx="55563" cy="49213"/>
                </a:xfrm>
                <a:custGeom>
                  <a:avLst/>
                  <a:gdLst>
                    <a:gd name="T0" fmla="*/ 0 w 107"/>
                    <a:gd name="T1" fmla="*/ 4 h 92"/>
                    <a:gd name="T2" fmla="*/ 77 w 107"/>
                    <a:gd name="T3" fmla="*/ 0 h 92"/>
                    <a:gd name="T4" fmla="*/ 107 w 107"/>
                    <a:gd name="T5" fmla="*/ 81 h 92"/>
                    <a:gd name="T6" fmla="*/ 32 w 107"/>
                    <a:gd name="T7" fmla="*/ 92 h 92"/>
                    <a:gd name="T8" fmla="*/ 0 w 107"/>
                    <a:gd name="T9" fmla="*/ 4 h 92"/>
                  </a:gdLst>
                  <a:ahLst/>
                  <a:cxnLst>
                    <a:cxn ang="0">
                      <a:pos x="T0" y="T1"/>
                    </a:cxn>
                    <a:cxn ang="0">
                      <a:pos x="T2" y="T3"/>
                    </a:cxn>
                    <a:cxn ang="0">
                      <a:pos x="T4" y="T5"/>
                    </a:cxn>
                    <a:cxn ang="0">
                      <a:pos x="T6" y="T7"/>
                    </a:cxn>
                    <a:cxn ang="0">
                      <a:pos x="T8" y="T9"/>
                    </a:cxn>
                  </a:cxnLst>
                  <a:rect l="0" t="0" r="r" b="b"/>
                  <a:pathLst>
                    <a:path w="107" h="92">
                      <a:moveTo>
                        <a:pt x="0" y="4"/>
                      </a:moveTo>
                      <a:lnTo>
                        <a:pt x="77" y="0"/>
                      </a:lnTo>
                      <a:lnTo>
                        <a:pt x="107" y="81"/>
                      </a:lnTo>
                      <a:lnTo>
                        <a:pt x="32" y="92"/>
                      </a:lnTo>
                      <a:lnTo>
                        <a:pt x="0" y="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7" name="Freeform 123"/>
                <p:cNvSpPr/>
                <p:nvPr/>
              </p:nvSpPr>
              <p:spPr bwMode="auto">
                <a:xfrm>
                  <a:off x="7526339" y="3565906"/>
                  <a:ext cx="57150" cy="47625"/>
                </a:xfrm>
                <a:custGeom>
                  <a:avLst/>
                  <a:gdLst>
                    <a:gd name="T0" fmla="*/ 0 w 109"/>
                    <a:gd name="T1" fmla="*/ 0 h 89"/>
                    <a:gd name="T2" fmla="*/ 80 w 109"/>
                    <a:gd name="T3" fmla="*/ 6 h 89"/>
                    <a:gd name="T4" fmla="*/ 109 w 109"/>
                    <a:gd name="T5" fmla="*/ 88 h 89"/>
                    <a:gd name="T6" fmla="*/ 32 w 109"/>
                    <a:gd name="T7" fmla="*/ 89 h 89"/>
                    <a:gd name="T8" fmla="*/ 0 w 109"/>
                    <a:gd name="T9" fmla="*/ 0 h 89"/>
                  </a:gdLst>
                  <a:ahLst/>
                  <a:cxnLst>
                    <a:cxn ang="0">
                      <a:pos x="T0" y="T1"/>
                    </a:cxn>
                    <a:cxn ang="0">
                      <a:pos x="T2" y="T3"/>
                    </a:cxn>
                    <a:cxn ang="0">
                      <a:pos x="T4" y="T5"/>
                    </a:cxn>
                    <a:cxn ang="0">
                      <a:pos x="T6" y="T7"/>
                    </a:cxn>
                    <a:cxn ang="0">
                      <a:pos x="T8" y="T9"/>
                    </a:cxn>
                  </a:cxnLst>
                  <a:rect l="0" t="0" r="r" b="b"/>
                  <a:pathLst>
                    <a:path w="109" h="89">
                      <a:moveTo>
                        <a:pt x="0" y="0"/>
                      </a:moveTo>
                      <a:lnTo>
                        <a:pt x="80" y="6"/>
                      </a:lnTo>
                      <a:lnTo>
                        <a:pt x="109" y="88"/>
                      </a:lnTo>
                      <a:lnTo>
                        <a:pt x="32" y="89"/>
                      </a:lnTo>
                      <a:lnTo>
                        <a:pt x="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8" name="Freeform 124"/>
                <p:cNvSpPr/>
                <p:nvPr/>
              </p:nvSpPr>
              <p:spPr bwMode="auto">
                <a:xfrm>
                  <a:off x="7588251" y="3726243"/>
                  <a:ext cx="53975" cy="60325"/>
                </a:xfrm>
                <a:custGeom>
                  <a:avLst/>
                  <a:gdLst>
                    <a:gd name="T0" fmla="*/ 72 w 104"/>
                    <a:gd name="T1" fmla="*/ 0 h 115"/>
                    <a:gd name="T2" fmla="*/ 104 w 104"/>
                    <a:gd name="T3" fmla="*/ 88 h 115"/>
                    <a:gd name="T4" fmla="*/ 35 w 104"/>
                    <a:gd name="T5" fmla="*/ 115 h 115"/>
                    <a:gd name="T6" fmla="*/ 0 w 104"/>
                    <a:gd name="T7" fmla="*/ 20 h 115"/>
                    <a:gd name="T8" fmla="*/ 72 w 104"/>
                    <a:gd name="T9" fmla="*/ 0 h 115"/>
                  </a:gdLst>
                  <a:ahLst/>
                  <a:cxnLst>
                    <a:cxn ang="0">
                      <a:pos x="T0" y="T1"/>
                    </a:cxn>
                    <a:cxn ang="0">
                      <a:pos x="T2" y="T3"/>
                    </a:cxn>
                    <a:cxn ang="0">
                      <a:pos x="T4" y="T5"/>
                    </a:cxn>
                    <a:cxn ang="0">
                      <a:pos x="T6" y="T7"/>
                    </a:cxn>
                    <a:cxn ang="0">
                      <a:pos x="T8" y="T9"/>
                    </a:cxn>
                  </a:cxnLst>
                  <a:rect l="0" t="0" r="r" b="b"/>
                  <a:pathLst>
                    <a:path w="104" h="115">
                      <a:moveTo>
                        <a:pt x="72" y="0"/>
                      </a:moveTo>
                      <a:lnTo>
                        <a:pt x="104" y="88"/>
                      </a:lnTo>
                      <a:lnTo>
                        <a:pt x="35" y="115"/>
                      </a:lnTo>
                      <a:lnTo>
                        <a:pt x="0" y="20"/>
                      </a:lnTo>
                      <a:lnTo>
                        <a:pt x="72"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9" name="Freeform 125"/>
                <p:cNvSpPr/>
                <p:nvPr/>
              </p:nvSpPr>
              <p:spPr bwMode="auto">
                <a:xfrm>
                  <a:off x="7392989" y="3557968"/>
                  <a:ext cx="82550" cy="58738"/>
                </a:xfrm>
                <a:custGeom>
                  <a:avLst/>
                  <a:gdLst>
                    <a:gd name="T0" fmla="*/ 41 w 156"/>
                    <a:gd name="T1" fmla="*/ 110 h 110"/>
                    <a:gd name="T2" fmla="*/ 0 w 156"/>
                    <a:gd name="T3" fmla="*/ 0 h 110"/>
                    <a:gd name="T4" fmla="*/ 119 w 156"/>
                    <a:gd name="T5" fmla="*/ 7 h 110"/>
                    <a:gd name="T6" fmla="*/ 156 w 156"/>
                    <a:gd name="T7" fmla="*/ 107 h 110"/>
                    <a:gd name="T8" fmla="*/ 41 w 156"/>
                    <a:gd name="T9" fmla="*/ 110 h 110"/>
                  </a:gdLst>
                  <a:ahLst/>
                  <a:cxnLst>
                    <a:cxn ang="0">
                      <a:pos x="T0" y="T1"/>
                    </a:cxn>
                    <a:cxn ang="0">
                      <a:pos x="T2" y="T3"/>
                    </a:cxn>
                    <a:cxn ang="0">
                      <a:pos x="T4" y="T5"/>
                    </a:cxn>
                    <a:cxn ang="0">
                      <a:pos x="T6" y="T7"/>
                    </a:cxn>
                    <a:cxn ang="0">
                      <a:pos x="T8" y="T9"/>
                    </a:cxn>
                  </a:cxnLst>
                  <a:rect l="0" t="0" r="r" b="b"/>
                  <a:pathLst>
                    <a:path w="156" h="110">
                      <a:moveTo>
                        <a:pt x="41" y="110"/>
                      </a:moveTo>
                      <a:lnTo>
                        <a:pt x="0" y="0"/>
                      </a:lnTo>
                      <a:lnTo>
                        <a:pt x="119" y="7"/>
                      </a:lnTo>
                      <a:lnTo>
                        <a:pt x="156" y="107"/>
                      </a:lnTo>
                      <a:lnTo>
                        <a:pt x="41" y="11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0" name="Freeform 126"/>
                <p:cNvSpPr/>
                <p:nvPr/>
              </p:nvSpPr>
              <p:spPr bwMode="auto">
                <a:xfrm>
                  <a:off x="7304089" y="3553206"/>
                  <a:ext cx="100013" cy="65088"/>
                </a:xfrm>
                <a:custGeom>
                  <a:avLst/>
                  <a:gdLst>
                    <a:gd name="T0" fmla="*/ 45 w 187"/>
                    <a:gd name="T1" fmla="*/ 125 h 125"/>
                    <a:gd name="T2" fmla="*/ 0 w 187"/>
                    <a:gd name="T3" fmla="*/ 0 h 125"/>
                    <a:gd name="T4" fmla="*/ 147 w 187"/>
                    <a:gd name="T5" fmla="*/ 10 h 125"/>
                    <a:gd name="T6" fmla="*/ 187 w 187"/>
                    <a:gd name="T7" fmla="*/ 121 h 125"/>
                    <a:gd name="T8" fmla="*/ 45 w 187"/>
                    <a:gd name="T9" fmla="*/ 125 h 125"/>
                  </a:gdLst>
                  <a:ahLst/>
                  <a:cxnLst>
                    <a:cxn ang="0">
                      <a:pos x="T0" y="T1"/>
                    </a:cxn>
                    <a:cxn ang="0">
                      <a:pos x="T2" y="T3"/>
                    </a:cxn>
                    <a:cxn ang="0">
                      <a:pos x="T4" y="T5"/>
                    </a:cxn>
                    <a:cxn ang="0">
                      <a:pos x="T6" y="T7"/>
                    </a:cxn>
                    <a:cxn ang="0">
                      <a:pos x="T8" y="T9"/>
                    </a:cxn>
                  </a:cxnLst>
                  <a:rect l="0" t="0" r="r" b="b"/>
                  <a:pathLst>
                    <a:path w="187" h="125">
                      <a:moveTo>
                        <a:pt x="45" y="125"/>
                      </a:moveTo>
                      <a:lnTo>
                        <a:pt x="0" y="0"/>
                      </a:lnTo>
                      <a:lnTo>
                        <a:pt x="147" y="10"/>
                      </a:lnTo>
                      <a:lnTo>
                        <a:pt x="187" y="121"/>
                      </a:lnTo>
                      <a:lnTo>
                        <a:pt x="45" y="12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1" name="Freeform 127"/>
                <p:cNvSpPr/>
                <p:nvPr/>
              </p:nvSpPr>
              <p:spPr bwMode="auto">
                <a:xfrm>
                  <a:off x="7534276" y="3738943"/>
                  <a:ext cx="65088" cy="68263"/>
                </a:xfrm>
                <a:custGeom>
                  <a:avLst/>
                  <a:gdLst>
                    <a:gd name="T0" fmla="*/ 90 w 124"/>
                    <a:gd name="T1" fmla="*/ 0 h 129"/>
                    <a:gd name="T2" fmla="*/ 124 w 124"/>
                    <a:gd name="T3" fmla="*/ 96 h 129"/>
                    <a:gd name="T4" fmla="*/ 38 w 124"/>
                    <a:gd name="T5" fmla="*/ 129 h 129"/>
                    <a:gd name="T6" fmla="*/ 0 w 124"/>
                    <a:gd name="T7" fmla="*/ 24 h 129"/>
                    <a:gd name="T8" fmla="*/ 90 w 124"/>
                    <a:gd name="T9" fmla="*/ 0 h 129"/>
                  </a:gdLst>
                  <a:ahLst/>
                  <a:cxnLst>
                    <a:cxn ang="0">
                      <a:pos x="T0" y="T1"/>
                    </a:cxn>
                    <a:cxn ang="0">
                      <a:pos x="T2" y="T3"/>
                    </a:cxn>
                    <a:cxn ang="0">
                      <a:pos x="T4" y="T5"/>
                    </a:cxn>
                    <a:cxn ang="0">
                      <a:pos x="T6" y="T7"/>
                    </a:cxn>
                    <a:cxn ang="0">
                      <a:pos x="T8" y="T9"/>
                    </a:cxn>
                  </a:cxnLst>
                  <a:rect l="0" t="0" r="r" b="b"/>
                  <a:pathLst>
                    <a:path w="124" h="129">
                      <a:moveTo>
                        <a:pt x="90" y="0"/>
                      </a:moveTo>
                      <a:lnTo>
                        <a:pt x="124" y="96"/>
                      </a:lnTo>
                      <a:lnTo>
                        <a:pt x="38" y="129"/>
                      </a:lnTo>
                      <a:lnTo>
                        <a:pt x="0" y="24"/>
                      </a:lnTo>
                      <a:lnTo>
                        <a:pt x="9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2" name="Freeform 128"/>
                <p:cNvSpPr/>
                <p:nvPr/>
              </p:nvSpPr>
              <p:spPr bwMode="auto">
                <a:xfrm>
                  <a:off x="7466014" y="3562731"/>
                  <a:ext cx="69850" cy="52388"/>
                </a:xfrm>
                <a:custGeom>
                  <a:avLst/>
                  <a:gdLst>
                    <a:gd name="T0" fmla="*/ 36 w 132"/>
                    <a:gd name="T1" fmla="*/ 99 h 99"/>
                    <a:gd name="T2" fmla="*/ 0 w 132"/>
                    <a:gd name="T3" fmla="*/ 0 h 99"/>
                    <a:gd name="T4" fmla="*/ 100 w 132"/>
                    <a:gd name="T5" fmla="*/ 6 h 99"/>
                    <a:gd name="T6" fmla="*/ 132 w 132"/>
                    <a:gd name="T7" fmla="*/ 96 h 99"/>
                    <a:gd name="T8" fmla="*/ 36 w 132"/>
                    <a:gd name="T9" fmla="*/ 99 h 99"/>
                  </a:gdLst>
                  <a:ahLst/>
                  <a:cxnLst>
                    <a:cxn ang="0">
                      <a:pos x="T0" y="T1"/>
                    </a:cxn>
                    <a:cxn ang="0">
                      <a:pos x="T2" y="T3"/>
                    </a:cxn>
                    <a:cxn ang="0">
                      <a:pos x="T4" y="T5"/>
                    </a:cxn>
                    <a:cxn ang="0">
                      <a:pos x="T6" y="T7"/>
                    </a:cxn>
                    <a:cxn ang="0">
                      <a:pos x="T8" y="T9"/>
                    </a:cxn>
                  </a:cxnLst>
                  <a:rect l="0" t="0" r="r" b="b"/>
                  <a:pathLst>
                    <a:path w="132" h="99">
                      <a:moveTo>
                        <a:pt x="36" y="99"/>
                      </a:moveTo>
                      <a:lnTo>
                        <a:pt x="0" y="0"/>
                      </a:lnTo>
                      <a:lnTo>
                        <a:pt x="100" y="6"/>
                      </a:lnTo>
                      <a:lnTo>
                        <a:pt x="132" y="96"/>
                      </a:lnTo>
                      <a:lnTo>
                        <a:pt x="36" y="99"/>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3" name="Freeform 129"/>
                <p:cNvSpPr/>
                <p:nvPr/>
              </p:nvSpPr>
              <p:spPr bwMode="auto">
                <a:xfrm>
                  <a:off x="7418389" y="3624643"/>
                  <a:ext cx="80963" cy="60325"/>
                </a:xfrm>
                <a:custGeom>
                  <a:avLst/>
                  <a:gdLst>
                    <a:gd name="T0" fmla="*/ 151 w 151"/>
                    <a:gd name="T1" fmla="*/ 100 h 114"/>
                    <a:gd name="T2" fmla="*/ 39 w 151"/>
                    <a:gd name="T3" fmla="*/ 114 h 114"/>
                    <a:gd name="T4" fmla="*/ 0 w 151"/>
                    <a:gd name="T5" fmla="*/ 5 h 114"/>
                    <a:gd name="T6" fmla="*/ 115 w 151"/>
                    <a:gd name="T7" fmla="*/ 0 h 114"/>
                    <a:gd name="T8" fmla="*/ 151 w 151"/>
                    <a:gd name="T9" fmla="*/ 100 h 114"/>
                  </a:gdLst>
                  <a:ahLst/>
                  <a:cxnLst>
                    <a:cxn ang="0">
                      <a:pos x="T0" y="T1"/>
                    </a:cxn>
                    <a:cxn ang="0">
                      <a:pos x="T2" y="T3"/>
                    </a:cxn>
                    <a:cxn ang="0">
                      <a:pos x="T4" y="T5"/>
                    </a:cxn>
                    <a:cxn ang="0">
                      <a:pos x="T6" y="T7"/>
                    </a:cxn>
                    <a:cxn ang="0">
                      <a:pos x="T8" y="T9"/>
                    </a:cxn>
                  </a:cxnLst>
                  <a:rect l="0" t="0" r="r" b="b"/>
                  <a:pathLst>
                    <a:path w="151" h="114">
                      <a:moveTo>
                        <a:pt x="151" y="100"/>
                      </a:moveTo>
                      <a:lnTo>
                        <a:pt x="39" y="114"/>
                      </a:lnTo>
                      <a:lnTo>
                        <a:pt x="0" y="5"/>
                      </a:lnTo>
                      <a:lnTo>
                        <a:pt x="115" y="0"/>
                      </a:lnTo>
                      <a:lnTo>
                        <a:pt x="151" y="10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4" name="Freeform 130"/>
                <p:cNvSpPr/>
                <p:nvPr/>
              </p:nvSpPr>
              <p:spPr bwMode="auto">
                <a:xfrm>
                  <a:off x="7488239" y="3623056"/>
                  <a:ext cx="68263" cy="53975"/>
                </a:xfrm>
                <a:custGeom>
                  <a:avLst/>
                  <a:gdLst>
                    <a:gd name="T0" fmla="*/ 128 w 128"/>
                    <a:gd name="T1" fmla="*/ 89 h 102"/>
                    <a:gd name="T2" fmla="*/ 34 w 128"/>
                    <a:gd name="T3" fmla="*/ 102 h 102"/>
                    <a:gd name="T4" fmla="*/ 0 w 128"/>
                    <a:gd name="T5" fmla="*/ 4 h 102"/>
                    <a:gd name="T6" fmla="*/ 96 w 128"/>
                    <a:gd name="T7" fmla="*/ 0 h 102"/>
                    <a:gd name="T8" fmla="*/ 128 w 128"/>
                    <a:gd name="T9" fmla="*/ 89 h 102"/>
                  </a:gdLst>
                  <a:ahLst/>
                  <a:cxnLst>
                    <a:cxn ang="0">
                      <a:pos x="T0" y="T1"/>
                    </a:cxn>
                    <a:cxn ang="0">
                      <a:pos x="T2" y="T3"/>
                    </a:cxn>
                    <a:cxn ang="0">
                      <a:pos x="T4" y="T5"/>
                    </a:cxn>
                    <a:cxn ang="0">
                      <a:pos x="T6" y="T7"/>
                    </a:cxn>
                    <a:cxn ang="0">
                      <a:pos x="T8" y="T9"/>
                    </a:cxn>
                  </a:cxnLst>
                  <a:rect l="0" t="0" r="r" b="b"/>
                  <a:pathLst>
                    <a:path w="128" h="102">
                      <a:moveTo>
                        <a:pt x="128" y="89"/>
                      </a:moveTo>
                      <a:lnTo>
                        <a:pt x="34" y="102"/>
                      </a:lnTo>
                      <a:lnTo>
                        <a:pt x="0" y="4"/>
                      </a:lnTo>
                      <a:lnTo>
                        <a:pt x="96" y="0"/>
                      </a:lnTo>
                      <a:lnTo>
                        <a:pt x="128" y="89"/>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5" name="Freeform 131"/>
                <p:cNvSpPr/>
                <p:nvPr/>
              </p:nvSpPr>
              <p:spPr bwMode="auto">
                <a:xfrm>
                  <a:off x="7443789" y="3688143"/>
                  <a:ext cx="79375" cy="69850"/>
                </a:xfrm>
                <a:custGeom>
                  <a:avLst/>
                  <a:gdLst>
                    <a:gd name="T0" fmla="*/ 149 w 149"/>
                    <a:gd name="T1" fmla="*/ 105 h 133"/>
                    <a:gd name="T2" fmla="*/ 43 w 149"/>
                    <a:gd name="T3" fmla="*/ 133 h 133"/>
                    <a:gd name="T4" fmla="*/ 0 w 149"/>
                    <a:gd name="T5" fmla="*/ 16 h 133"/>
                    <a:gd name="T6" fmla="*/ 111 w 149"/>
                    <a:gd name="T7" fmla="*/ 0 h 133"/>
                    <a:gd name="T8" fmla="*/ 149 w 149"/>
                    <a:gd name="T9" fmla="*/ 105 h 133"/>
                  </a:gdLst>
                  <a:ahLst/>
                  <a:cxnLst>
                    <a:cxn ang="0">
                      <a:pos x="T0" y="T1"/>
                    </a:cxn>
                    <a:cxn ang="0">
                      <a:pos x="T2" y="T3"/>
                    </a:cxn>
                    <a:cxn ang="0">
                      <a:pos x="T4" y="T5"/>
                    </a:cxn>
                    <a:cxn ang="0">
                      <a:pos x="T6" y="T7"/>
                    </a:cxn>
                    <a:cxn ang="0">
                      <a:pos x="T8" y="T9"/>
                    </a:cxn>
                  </a:cxnLst>
                  <a:rect l="0" t="0" r="r" b="b"/>
                  <a:pathLst>
                    <a:path w="149" h="133">
                      <a:moveTo>
                        <a:pt x="149" y="105"/>
                      </a:moveTo>
                      <a:lnTo>
                        <a:pt x="43" y="133"/>
                      </a:lnTo>
                      <a:lnTo>
                        <a:pt x="0" y="16"/>
                      </a:lnTo>
                      <a:lnTo>
                        <a:pt x="111" y="0"/>
                      </a:lnTo>
                      <a:lnTo>
                        <a:pt x="149" y="10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6" name="Freeform 132"/>
                <p:cNvSpPr/>
                <p:nvPr/>
              </p:nvSpPr>
              <p:spPr bwMode="auto">
                <a:xfrm>
                  <a:off x="7332664" y="3627818"/>
                  <a:ext cx="96838" cy="68263"/>
                </a:xfrm>
                <a:custGeom>
                  <a:avLst/>
                  <a:gdLst>
                    <a:gd name="T0" fmla="*/ 143 w 183"/>
                    <a:gd name="T1" fmla="*/ 0 h 129"/>
                    <a:gd name="T2" fmla="*/ 183 w 183"/>
                    <a:gd name="T3" fmla="*/ 110 h 129"/>
                    <a:gd name="T4" fmla="*/ 45 w 183"/>
                    <a:gd name="T5" fmla="*/ 129 h 129"/>
                    <a:gd name="T6" fmla="*/ 0 w 183"/>
                    <a:gd name="T7" fmla="*/ 6 h 129"/>
                    <a:gd name="T8" fmla="*/ 143 w 183"/>
                    <a:gd name="T9" fmla="*/ 0 h 129"/>
                  </a:gdLst>
                  <a:ahLst/>
                  <a:cxnLst>
                    <a:cxn ang="0">
                      <a:pos x="T0" y="T1"/>
                    </a:cxn>
                    <a:cxn ang="0">
                      <a:pos x="T2" y="T3"/>
                    </a:cxn>
                    <a:cxn ang="0">
                      <a:pos x="T4" y="T5"/>
                    </a:cxn>
                    <a:cxn ang="0">
                      <a:pos x="T6" y="T7"/>
                    </a:cxn>
                    <a:cxn ang="0">
                      <a:pos x="T8" y="T9"/>
                    </a:cxn>
                  </a:cxnLst>
                  <a:rect l="0" t="0" r="r" b="b"/>
                  <a:pathLst>
                    <a:path w="183" h="129">
                      <a:moveTo>
                        <a:pt x="143" y="0"/>
                      </a:moveTo>
                      <a:lnTo>
                        <a:pt x="183" y="110"/>
                      </a:lnTo>
                      <a:lnTo>
                        <a:pt x="45" y="129"/>
                      </a:lnTo>
                      <a:lnTo>
                        <a:pt x="0" y="6"/>
                      </a:lnTo>
                      <a:lnTo>
                        <a:pt x="143"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7" name="Freeform 133"/>
                <p:cNvSpPr/>
                <p:nvPr/>
              </p:nvSpPr>
              <p:spPr bwMode="auto">
                <a:xfrm>
                  <a:off x="7391401" y="3772281"/>
                  <a:ext cx="92075" cy="90488"/>
                </a:xfrm>
                <a:custGeom>
                  <a:avLst/>
                  <a:gdLst>
                    <a:gd name="T0" fmla="*/ 174 w 174"/>
                    <a:gd name="T1" fmla="*/ 120 h 170"/>
                    <a:gd name="T2" fmla="*/ 48 w 174"/>
                    <a:gd name="T3" fmla="*/ 170 h 170"/>
                    <a:gd name="T4" fmla="*/ 0 w 174"/>
                    <a:gd name="T5" fmla="*/ 37 h 170"/>
                    <a:gd name="T6" fmla="*/ 130 w 174"/>
                    <a:gd name="T7" fmla="*/ 0 h 170"/>
                    <a:gd name="T8" fmla="*/ 174 w 174"/>
                    <a:gd name="T9" fmla="*/ 120 h 170"/>
                  </a:gdLst>
                  <a:ahLst/>
                  <a:cxnLst>
                    <a:cxn ang="0">
                      <a:pos x="T0" y="T1"/>
                    </a:cxn>
                    <a:cxn ang="0">
                      <a:pos x="T2" y="T3"/>
                    </a:cxn>
                    <a:cxn ang="0">
                      <a:pos x="T4" y="T5"/>
                    </a:cxn>
                    <a:cxn ang="0">
                      <a:pos x="T6" y="T7"/>
                    </a:cxn>
                    <a:cxn ang="0">
                      <a:pos x="T8" y="T9"/>
                    </a:cxn>
                  </a:cxnLst>
                  <a:rect l="0" t="0" r="r" b="b"/>
                  <a:pathLst>
                    <a:path w="174" h="170">
                      <a:moveTo>
                        <a:pt x="174" y="120"/>
                      </a:moveTo>
                      <a:lnTo>
                        <a:pt x="48" y="170"/>
                      </a:lnTo>
                      <a:lnTo>
                        <a:pt x="0" y="37"/>
                      </a:lnTo>
                      <a:lnTo>
                        <a:pt x="130" y="0"/>
                      </a:lnTo>
                      <a:lnTo>
                        <a:pt x="174" y="12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8" name="Freeform 134"/>
                <p:cNvSpPr/>
                <p:nvPr/>
              </p:nvSpPr>
              <p:spPr bwMode="auto">
                <a:xfrm>
                  <a:off x="7510464" y="3678618"/>
                  <a:ext cx="68263" cy="63500"/>
                </a:xfrm>
                <a:custGeom>
                  <a:avLst/>
                  <a:gdLst>
                    <a:gd name="T0" fmla="*/ 129 w 129"/>
                    <a:gd name="T1" fmla="*/ 95 h 119"/>
                    <a:gd name="T2" fmla="*/ 38 w 129"/>
                    <a:gd name="T3" fmla="*/ 119 h 119"/>
                    <a:gd name="T4" fmla="*/ 0 w 129"/>
                    <a:gd name="T5" fmla="*/ 14 h 119"/>
                    <a:gd name="T6" fmla="*/ 93 w 129"/>
                    <a:gd name="T7" fmla="*/ 0 h 119"/>
                    <a:gd name="T8" fmla="*/ 129 w 129"/>
                    <a:gd name="T9" fmla="*/ 95 h 119"/>
                  </a:gdLst>
                  <a:ahLst/>
                  <a:cxnLst>
                    <a:cxn ang="0">
                      <a:pos x="T0" y="T1"/>
                    </a:cxn>
                    <a:cxn ang="0">
                      <a:pos x="T2" y="T3"/>
                    </a:cxn>
                    <a:cxn ang="0">
                      <a:pos x="T4" y="T5"/>
                    </a:cxn>
                    <a:cxn ang="0">
                      <a:pos x="T6" y="T7"/>
                    </a:cxn>
                    <a:cxn ang="0">
                      <a:pos x="T8" y="T9"/>
                    </a:cxn>
                  </a:cxnLst>
                  <a:rect l="0" t="0" r="r" b="b"/>
                  <a:pathLst>
                    <a:path w="129" h="119">
                      <a:moveTo>
                        <a:pt x="129" y="95"/>
                      </a:moveTo>
                      <a:lnTo>
                        <a:pt x="38" y="119"/>
                      </a:lnTo>
                      <a:lnTo>
                        <a:pt x="0" y="14"/>
                      </a:lnTo>
                      <a:lnTo>
                        <a:pt x="93" y="0"/>
                      </a:lnTo>
                      <a:lnTo>
                        <a:pt x="129" y="9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49" name="Freeform 135"/>
                <p:cNvSpPr/>
                <p:nvPr/>
              </p:nvSpPr>
              <p:spPr bwMode="auto">
                <a:xfrm>
                  <a:off x="7470776" y="3753231"/>
                  <a:ext cx="76200" cy="79375"/>
                </a:xfrm>
                <a:custGeom>
                  <a:avLst/>
                  <a:gdLst>
                    <a:gd name="T0" fmla="*/ 106 w 145"/>
                    <a:gd name="T1" fmla="*/ 0 h 148"/>
                    <a:gd name="T2" fmla="*/ 145 w 145"/>
                    <a:gd name="T3" fmla="*/ 107 h 148"/>
                    <a:gd name="T4" fmla="*/ 43 w 145"/>
                    <a:gd name="T5" fmla="*/ 148 h 148"/>
                    <a:gd name="T6" fmla="*/ 0 w 145"/>
                    <a:gd name="T7" fmla="*/ 30 h 148"/>
                    <a:gd name="T8" fmla="*/ 106 w 145"/>
                    <a:gd name="T9" fmla="*/ 0 h 148"/>
                  </a:gdLst>
                  <a:ahLst/>
                  <a:cxnLst>
                    <a:cxn ang="0">
                      <a:pos x="T0" y="T1"/>
                    </a:cxn>
                    <a:cxn ang="0">
                      <a:pos x="T2" y="T3"/>
                    </a:cxn>
                    <a:cxn ang="0">
                      <a:pos x="T4" y="T5"/>
                    </a:cxn>
                    <a:cxn ang="0">
                      <a:pos x="T6" y="T7"/>
                    </a:cxn>
                    <a:cxn ang="0">
                      <a:pos x="T8" y="T9"/>
                    </a:cxn>
                  </a:cxnLst>
                  <a:rect l="0" t="0" r="r" b="b"/>
                  <a:pathLst>
                    <a:path w="145" h="148">
                      <a:moveTo>
                        <a:pt x="106" y="0"/>
                      </a:moveTo>
                      <a:lnTo>
                        <a:pt x="145" y="107"/>
                      </a:lnTo>
                      <a:lnTo>
                        <a:pt x="43" y="148"/>
                      </a:lnTo>
                      <a:lnTo>
                        <a:pt x="0" y="30"/>
                      </a:lnTo>
                      <a:lnTo>
                        <a:pt x="106"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0" name="Freeform 136"/>
                <p:cNvSpPr/>
                <p:nvPr/>
              </p:nvSpPr>
              <p:spPr bwMode="auto">
                <a:xfrm>
                  <a:off x="7361239" y="3697668"/>
                  <a:ext cx="95250" cy="80963"/>
                </a:xfrm>
                <a:custGeom>
                  <a:avLst/>
                  <a:gdLst>
                    <a:gd name="T0" fmla="*/ 180 w 180"/>
                    <a:gd name="T1" fmla="*/ 120 h 153"/>
                    <a:gd name="T2" fmla="*/ 48 w 180"/>
                    <a:gd name="T3" fmla="*/ 153 h 153"/>
                    <a:gd name="T4" fmla="*/ 0 w 180"/>
                    <a:gd name="T5" fmla="*/ 21 h 153"/>
                    <a:gd name="T6" fmla="*/ 136 w 180"/>
                    <a:gd name="T7" fmla="*/ 0 h 153"/>
                    <a:gd name="T8" fmla="*/ 180 w 180"/>
                    <a:gd name="T9" fmla="*/ 120 h 153"/>
                  </a:gdLst>
                  <a:ahLst/>
                  <a:cxnLst>
                    <a:cxn ang="0">
                      <a:pos x="T0" y="T1"/>
                    </a:cxn>
                    <a:cxn ang="0">
                      <a:pos x="T2" y="T3"/>
                    </a:cxn>
                    <a:cxn ang="0">
                      <a:pos x="T4" y="T5"/>
                    </a:cxn>
                    <a:cxn ang="0">
                      <a:pos x="T6" y="T7"/>
                    </a:cxn>
                    <a:cxn ang="0">
                      <a:pos x="T8" y="T9"/>
                    </a:cxn>
                  </a:cxnLst>
                  <a:rect l="0" t="0" r="r" b="b"/>
                  <a:pathLst>
                    <a:path w="180" h="153">
                      <a:moveTo>
                        <a:pt x="180" y="120"/>
                      </a:moveTo>
                      <a:lnTo>
                        <a:pt x="48" y="153"/>
                      </a:lnTo>
                      <a:lnTo>
                        <a:pt x="0" y="21"/>
                      </a:lnTo>
                      <a:lnTo>
                        <a:pt x="136" y="0"/>
                      </a:lnTo>
                      <a:lnTo>
                        <a:pt x="180" y="12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1" name="Freeform 137"/>
                <p:cNvSpPr/>
                <p:nvPr/>
              </p:nvSpPr>
              <p:spPr bwMode="auto">
                <a:xfrm>
                  <a:off x="7526339" y="3823081"/>
                  <a:ext cx="30163" cy="130175"/>
                </a:xfrm>
                <a:custGeom>
                  <a:avLst/>
                  <a:gdLst>
                    <a:gd name="T0" fmla="*/ 7 w 57"/>
                    <a:gd name="T1" fmla="*/ 244 h 244"/>
                    <a:gd name="T2" fmla="*/ 57 w 57"/>
                    <a:gd name="T3" fmla="*/ 242 h 244"/>
                    <a:gd name="T4" fmla="*/ 49 w 57"/>
                    <a:gd name="T5" fmla="*/ 0 h 244"/>
                    <a:gd name="T6" fmla="*/ 0 w 57"/>
                    <a:gd name="T7" fmla="*/ 19 h 244"/>
                    <a:gd name="T8" fmla="*/ 7 w 57"/>
                    <a:gd name="T9" fmla="*/ 244 h 244"/>
                  </a:gdLst>
                  <a:ahLst/>
                  <a:cxnLst>
                    <a:cxn ang="0">
                      <a:pos x="T0" y="T1"/>
                    </a:cxn>
                    <a:cxn ang="0">
                      <a:pos x="T2" y="T3"/>
                    </a:cxn>
                    <a:cxn ang="0">
                      <a:pos x="T4" y="T5"/>
                    </a:cxn>
                    <a:cxn ang="0">
                      <a:pos x="T6" y="T7"/>
                    </a:cxn>
                    <a:cxn ang="0">
                      <a:pos x="T8" y="T9"/>
                    </a:cxn>
                  </a:cxnLst>
                  <a:rect l="0" t="0" r="r" b="b"/>
                  <a:pathLst>
                    <a:path w="57" h="244">
                      <a:moveTo>
                        <a:pt x="7" y="244"/>
                      </a:moveTo>
                      <a:lnTo>
                        <a:pt x="57" y="242"/>
                      </a:lnTo>
                      <a:lnTo>
                        <a:pt x="49" y="0"/>
                      </a:lnTo>
                      <a:lnTo>
                        <a:pt x="0" y="19"/>
                      </a:lnTo>
                      <a:lnTo>
                        <a:pt x="7" y="24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2" name="Freeform 138"/>
                <p:cNvSpPr/>
                <p:nvPr/>
              </p:nvSpPr>
              <p:spPr bwMode="auto">
                <a:xfrm>
                  <a:off x="7910514" y="3613531"/>
                  <a:ext cx="66675" cy="68263"/>
                </a:xfrm>
                <a:custGeom>
                  <a:avLst/>
                  <a:gdLst>
                    <a:gd name="T0" fmla="*/ 0 w 128"/>
                    <a:gd name="T1" fmla="*/ 13 h 129"/>
                    <a:gd name="T2" fmla="*/ 90 w 128"/>
                    <a:gd name="T3" fmla="*/ 0 h 129"/>
                    <a:gd name="T4" fmla="*/ 128 w 128"/>
                    <a:gd name="T5" fmla="*/ 106 h 129"/>
                    <a:gd name="T6" fmla="*/ 41 w 128"/>
                    <a:gd name="T7" fmla="*/ 129 h 129"/>
                    <a:gd name="T8" fmla="*/ 0 w 128"/>
                    <a:gd name="T9" fmla="*/ 13 h 129"/>
                  </a:gdLst>
                  <a:ahLst/>
                  <a:cxnLst>
                    <a:cxn ang="0">
                      <a:pos x="T0" y="T1"/>
                    </a:cxn>
                    <a:cxn ang="0">
                      <a:pos x="T2" y="T3"/>
                    </a:cxn>
                    <a:cxn ang="0">
                      <a:pos x="T4" y="T5"/>
                    </a:cxn>
                    <a:cxn ang="0">
                      <a:pos x="T6" y="T7"/>
                    </a:cxn>
                    <a:cxn ang="0">
                      <a:pos x="T8" y="T9"/>
                    </a:cxn>
                  </a:cxnLst>
                  <a:rect l="0" t="0" r="r" b="b"/>
                  <a:pathLst>
                    <a:path w="128" h="129">
                      <a:moveTo>
                        <a:pt x="0" y="13"/>
                      </a:moveTo>
                      <a:lnTo>
                        <a:pt x="90" y="0"/>
                      </a:lnTo>
                      <a:lnTo>
                        <a:pt x="128" y="106"/>
                      </a:lnTo>
                      <a:lnTo>
                        <a:pt x="41" y="129"/>
                      </a:lnTo>
                      <a:lnTo>
                        <a:pt x="0" y="13"/>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3" name="Freeform 139"/>
                <p:cNvSpPr/>
                <p:nvPr/>
              </p:nvSpPr>
              <p:spPr bwMode="auto">
                <a:xfrm>
                  <a:off x="7885114" y="3551618"/>
                  <a:ext cx="68263" cy="57150"/>
                </a:xfrm>
                <a:custGeom>
                  <a:avLst/>
                  <a:gdLst>
                    <a:gd name="T0" fmla="*/ 0 w 130"/>
                    <a:gd name="T1" fmla="*/ 3 h 110"/>
                    <a:gd name="T2" fmla="*/ 94 w 130"/>
                    <a:gd name="T3" fmla="*/ 0 h 110"/>
                    <a:gd name="T4" fmla="*/ 130 w 130"/>
                    <a:gd name="T5" fmla="*/ 98 h 110"/>
                    <a:gd name="T6" fmla="*/ 40 w 130"/>
                    <a:gd name="T7" fmla="*/ 110 h 110"/>
                    <a:gd name="T8" fmla="*/ 0 w 130"/>
                    <a:gd name="T9" fmla="*/ 3 h 110"/>
                  </a:gdLst>
                  <a:ahLst/>
                  <a:cxnLst>
                    <a:cxn ang="0">
                      <a:pos x="T0" y="T1"/>
                    </a:cxn>
                    <a:cxn ang="0">
                      <a:pos x="T2" y="T3"/>
                    </a:cxn>
                    <a:cxn ang="0">
                      <a:pos x="T4" y="T5"/>
                    </a:cxn>
                    <a:cxn ang="0">
                      <a:pos x="T6" y="T7"/>
                    </a:cxn>
                    <a:cxn ang="0">
                      <a:pos x="T8" y="T9"/>
                    </a:cxn>
                  </a:cxnLst>
                  <a:rect l="0" t="0" r="r" b="b"/>
                  <a:pathLst>
                    <a:path w="130" h="110">
                      <a:moveTo>
                        <a:pt x="0" y="3"/>
                      </a:moveTo>
                      <a:lnTo>
                        <a:pt x="94" y="0"/>
                      </a:lnTo>
                      <a:lnTo>
                        <a:pt x="130" y="98"/>
                      </a:lnTo>
                      <a:lnTo>
                        <a:pt x="40" y="110"/>
                      </a:lnTo>
                      <a:lnTo>
                        <a:pt x="0" y="3"/>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4" name="Freeform 140"/>
                <p:cNvSpPr/>
                <p:nvPr/>
              </p:nvSpPr>
              <p:spPr bwMode="auto">
                <a:xfrm>
                  <a:off x="7861301" y="3484943"/>
                  <a:ext cx="69850" cy="57150"/>
                </a:xfrm>
                <a:custGeom>
                  <a:avLst/>
                  <a:gdLst>
                    <a:gd name="T0" fmla="*/ 0 w 133"/>
                    <a:gd name="T1" fmla="*/ 0 h 107"/>
                    <a:gd name="T2" fmla="*/ 97 w 133"/>
                    <a:gd name="T3" fmla="*/ 5 h 107"/>
                    <a:gd name="T4" fmla="*/ 133 w 133"/>
                    <a:gd name="T5" fmla="*/ 105 h 107"/>
                    <a:gd name="T6" fmla="*/ 39 w 133"/>
                    <a:gd name="T7" fmla="*/ 107 h 107"/>
                    <a:gd name="T8" fmla="*/ 0 w 133"/>
                    <a:gd name="T9" fmla="*/ 0 h 107"/>
                  </a:gdLst>
                  <a:ahLst/>
                  <a:cxnLst>
                    <a:cxn ang="0">
                      <a:pos x="T0" y="T1"/>
                    </a:cxn>
                    <a:cxn ang="0">
                      <a:pos x="T2" y="T3"/>
                    </a:cxn>
                    <a:cxn ang="0">
                      <a:pos x="T4" y="T5"/>
                    </a:cxn>
                    <a:cxn ang="0">
                      <a:pos x="T6" y="T7"/>
                    </a:cxn>
                    <a:cxn ang="0">
                      <a:pos x="T8" y="T9"/>
                    </a:cxn>
                  </a:cxnLst>
                  <a:rect l="0" t="0" r="r" b="b"/>
                  <a:pathLst>
                    <a:path w="133" h="107">
                      <a:moveTo>
                        <a:pt x="0" y="0"/>
                      </a:moveTo>
                      <a:lnTo>
                        <a:pt x="97" y="5"/>
                      </a:lnTo>
                      <a:lnTo>
                        <a:pt x="133" y="105"/>
                      </a:lnTo>
                      <a:lnTo>
                        <a:pt x="39" y="107"/>
                      </a:lnTo>
                      <a:lnTo>
                        <a:pt x="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5" name="Freeform 141"/>
                <p:cNvSpPr/>
                <p:nvPr/>
              </p:nvSpPr>
              <p:spPr bwMode="auto">
                <a:xfrm>
                  <a:off x="7935914" y="3678618"/>
                  <a:ext cx="66675" cy="74613"/>
                </a:xfrm>
                <a:custGeom>
                  <a:avLst/>
                  <a:gdLst>
                    <a:gd name="T0" fmla="*/ 85 w 124"/>
                    <a:gd name="T1" fmla="*/ 0 h 140"/>
                    <a:gd name="T2" fmla="*/ 124 w 124"/>
                    <a:gd name="T3" fmla="*/ 107 h 140"/>
                    <a:gd name="T4" fmla="*/ 41 w 124"/>
                    <a:gd name="T5" fmla="*/ 140 h 140"/>
                    <a:gd name="T6" fmla="*/ 0 w 124"/>
                    <a:gd name="T7" fmla="*/ 25 h 140"/>
                    <a:gd name="T8" fmla="*/ 85 w 124"/>
                    <a:gd name="T9" fmla="*/ 0 h 140"/>
                  </a:gdLst>
                  <a:ahLst/>
                  <a:cxnLst>
                    <a:cxn ang="0">
                      <a:pos x="T0" y="T1"/>
                    </a:cxn>
                    <a:cxn ang="0">
                      <a:pos x="T2" y="T3"/>
                    </a:cxn>
                    <a:cxn ang="0">
                      <a:pos x="T4" y="T5"/>
                    </a:cxn>
                    <a:cxn ang="0">
                      <a:pos x="T6" y="T7"/>
                    </a:cxn>
                    <a:cxn ang="0">
                      <a:pos x="T8" y="T9"/>
                    </a:cxn>
                  </a:cxnLst>
                  <a:rect l="0" t="0" r="r" b="b"/>
                  <a:pathLst>
                    <a:path w="124" h="140">
                      <a:moveTo>
                        <a:pt x="85" y="0"/>
                      </a:moveTo>
                      <a:lnTo>
                        <a:pt x="124" y="107"/>
                      </a:lnTo>
                      <a:lnTo>
                        <a:pt x="41" y="140"/>
                      </a:lnTo>
                      <a:lnTo>
                        <a:pt x="0" y="25"/>
                      </a:lnTo>
                      <a:lnTo>
                        <a:pt x="85"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6" name="Freeform 142"/>
                <p:cNvSpPr/>
                <p:nvPr/>
              </p:nvSpPr>
              <p:spPr bwMode="auto">
                <a:xfrm>
                  <a:off x="7700964" y="3475418"/>
                  <a:ext cx="100013" cy="71438"/>
                </a:xfrm>
                <a:custGeom>
                  <a:avLst/>
                  <a:gdLst>
                    <a:gd name="T0" fmla="*/ 49 w 189"/>
                    <a:gd name="T1" fmla="*/ 134 h 134"/>
                    <a:gd name="T2" fmla="*/ 0 w 189"/>
                    <a:gd name="T3" fmla="*/ 0 h 134"/>
                    <a:gd name="T4" fmla="*/ 145 w 189"/>
                    <a:gd name="T5" fmla="*/ 9 h 134"/>
                    <a:gd name="T6" fmla="*/ 189 w 189"/>
                    <a:gd name="T7" fmla="*/ 131 h 134"/>
                    <a:gd name="T8" fmla="*/ 49 w 189"/>
                    <a:gd name="T9" fmla="*/ 134 h 134"/>
                  </a:gdLst>
                  <a:ahLst/>
                  <a:cxnLst>
                    <a:cxn ang="0">
                      <a:pos x="T0" y="T1"/>
                    </a:cxn>
                    <a:cxn ang="0">
                      <a:pos x="T2" y="T3"/>
                    </a:cxn>
                    <a:cxn ang="0">
                      <a:pos x="T4" y="T5"/>
                    </a:cxn>
                    <a:cxn ang="0">
                      <a:pos x="T6" y="T7"/>
                    </a:cxn>
                    <a:cxn ang="0">
                      <a:pos x="T8" y="T9"/>
                    </a:cxn>
                  </a:cxnLst>
                  <a:rect l="0" t="0" r="r" b="b"/>
                  <a:pathLst>
                    <a:path w="189" h="134">
                      <a:moveTo>
                        <a:pt x="49" y="134"/>
                      </a:moveTo>
                      <a:lnTo>
                        <a:pt x="0" y="0"/>
                      </a:lnTo>
                      <a:lnTo>
                        <a:pt x="145" y="9"/>
                      </a:lnTo>
                      <a:lnTo>
                        <a:pt x="189" y="131"/>
                      </a:lnTo>
                      <a:lnTo>
                        <a:pt x="49" y="13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7" name="Freeform 143"/>
                <p:cNvSpPr/>
                <p:nvPr/>
              </p:nvSpPr>
              <p:spPr bwMode="auto">
                <a:xfrm>
                  <a:off x="7593014" y="3469068"/>
                  <a:ext cx="120650" cy="79375"/>
                </a:xfrm>
                <a:custGeom>
                  <a:avLst/>
                  <a:gdLst>
                    <a:gd name="T0" fmla="*/ 55 w 227"/>
                    <a:gd name="T1" fmla="*/ 151 h 151"/>
                    <a:gd name="T2" fmla="*/ 0 w 227"/>
                    <a:gd name="T3" fmla="*/ 0 h 151"/>
                    <a:gd name="T4" fmla="*/ 177 w 227"/>
                    <a:gd name="T5" fmla="*/ 11 h 151"/>
                    <a:gd name="T6" fmla="*/ 227 w 227"/>
                    <a:gd name="T7" fmla="*/ 146 h 151"/>
                    <a:gd name="T8" fmla="*/ 55 w 227"/>
                    <a:gd name="T9" fmla="*/ 151 h 151"/>
                  </a:gdLst>
                  <a:ahLst/>
                  <a:cxnLst>
                    <a:cxn ang="0">
                      <a:pos x="T0" y="T1"/>
                    </a:cxn>
                    <a:cxn ang="0">
                      <a:pos x="T2" y="T3"/>
                    </a:cxn>
                    <a:cxn ang="0">
                      <a:pos x="T4" y="T5"/>
                    </a:cxn>
                    <a:cxn ang="0">
                      <a:pos x="T6" y="T7"/>
                    </a:cxn>
                    <a:cxn ang="0">
                      <a:pos x="T8" y="T9"/>
                    </a:cxn>
                  </a:cxnLst>
                  <a:rect l="0" t="0" r="r" b="b"/>
                  <a:pathLst>
                    <a:path w="227" h="151">
                      <a:moveTo>
                        <a:pt x="55" y="151"/>
                      </a:moveTo>
                      <a:lnTo>
                        <a:pt x="0" y="0"/>
                      </a:lnTo>
                      <a:lnTo>
                        <a:pt x="177" y="11"/>
                      </a:lnTo>
                      <a:lnTo>
                        <a:pt x="227" y="146"/>
                      </a:lnTo>
                      <a:lnTo>
                        <a:pt x="55" y="151"/>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8" name="Freeform 144"/>
                <p:cNvSpPr/>
                <p:nvPr/>
              </p:nvSpPr>
              <p:spPr bwMode="auto">
                <a:xfrm>
                  <a:off x="7870826" y="3692906"/>
                  <a:ext cx="79375" cy="84138"/>
                </a:xfrm>
                <a:custGeom>
                  <a:avLst/>
                  <a:gdLst>
                    <a:gd name="T0" fmla="*/ 107 w 150"/>
                    <a:gd name="T1" fmla="*/ 0 h 158"/>
                    <a:gd name="T2" fmla="*/ 150 w 150"/>
                    <a:gd name="T3" fmla="*/ 118 h 158"/>
                    <a:gd name="T4" fmla="*/ 47 w 150"/>
                    <a:gd name="T5" fmla="*/ 158 h 158"/>
                    <a:gd name="T6" fmla="*/ 0 w 150"/>
                    <a:gd name="T7" fmla="*/ 30 h 158"/>
                    <a:gd name="T8" fmla="*/ 107 w 150"/>
                    <a:gd name="T9" fmla="*/ 0 h 158"/>
                  </a:gdLst>
                  <a:ahLst/>
                  <a:cxnLst>
                    <a:cxn ang="0">
                      <a:pos x="T0" y="T1"/>
                    </a:cxn>
                    <a:cxn ang="0">
                      <a:pos x="T2" y="T3"/>
                    </a:cxn>
                    <a:cxn ang="0">
                      <a:pos x="T4" y="T5"/>
                    </a:cxn>
                    <a:cxn ang="0">
                      <a:pos x="T6" y="T7"/>
                    </a:cxn>
                    <a:cxn ang="0">
                      <a:pos x="T8" y="T9"/>
                    </a:cxn>
                  </a:cxnLst>
                  <a:rect l="0" t="0" r="r" b="b"/>
                  <a:pathLst>
                    <a:path w="150" h="158">
                      <a:moveTo>
                        <a:pt x="107" y="0"/>
                      </a:moveTo>
                      <a:lnTo>
                        <a:pt x="150" y="118"/>
                      </a:lnTo>
                      <a:lnTo>
                        <a:pt x="47" y="158"/>
                      </a:lnTo>
                      <a:lnTo>
                        <a:pt x="0" y="30"/>
                      </a:lnTo>
                      <a:lnTo>
                        <a:pt x="107"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59" name="Freeform 145"/>
                <p:cNvSpPr/>
                <p:nvPr/>
              </p:nvSpPr>
              <p:spPr bwMode="auto">
                <a:xfrm>
                  <a:off x="7788276" y="3481768"/>
                  <a:ext cx="85725" cy="61913"/>
                </a:xfrm>
                <a:custGeom>
                  <a:avLst/>
                  <a:gdLst>
                    <a:gd name="T0" fmla="*/ 44 w 162"/>
                    <a:gd name="T1" fmla="*/ 118 h 118"/>
                    <a:gd name="T2" fmla="*/ 0 w 162"/>
                    <a:gd name="T3" fmla="*/ 0 h 118"/>
                    <a:gd name="T4" fmla="*/ 121 w 162"/>
                    <a:gd name="T5" fmla="*/ 7 h 118"/>
                    <a:gd name="T6" fmla="*/ 162 w 162"/>
                    <a:gd name="T7" fmla="*/ 116 h 118"/>
                    <a:gd name="T8" fmla="*/ 44 w 162"/>
                    <a:gd name="T9" fmla="*/ 118 h 118"/>
                  </a:gdLst>
                  <a:ahLst/>
                  <a:cxnLst>
                    <a:cxn ang="0">
                      <a:pos x="T0" y="T1"/>
                    </a:cxn>
                    <a:cxn ang="0">
                      <a:pos x="T2" y="T3"/>
                    </a:cxn>
                    <a:cxn ang="0">
                      <a:pos x="T4" y="T5"/>
                    </a:cxn>
                    <a:cxn ang="0">
                      <a:pos x="T6" y="T7"/>
                    </a:cxn>
                    <a:cxn ang="0">
                      <a:pos x="T8" y="T9"/>
                    </a:cxn>
                  </a:cxnLst>
                  <a:rect l="0" t="0" r="r" b="b"/>
                  <a:pathLst>
                    <a:path w="162" h="118">
                      <a:moveTo>
                        <a:pt x="44" y="118"/>
                      </a:moveTo>
                      <a:lnTo>
                        <a:pt x="0" y="0"/>
                      </a:lnTo>
                      <a:lnTo>
                        <a:pt x="121" y="7"/>
                      </a:lnTo>
                      <a:lnTo>
                        <a:pt x="162" y="116"/>
                      </a:lnTo>
                      <a:lnTo>
                        <a:pt x="44" y="118"/>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0" name="Freeform 146"/>
                <p:cNvSpPr/>
                <p:nvPr/>
              </p:nvSpPr>
              <p:spPr bwMode="auto">
                <a:xfrm>
                  <a:off x="7731126" y="3556381"/>
                  <a:ext cx="96838" cy="73025"/>
                </a:xfrm>
                <a:custGeom>
                  <a:avLst/>
                  <a:gdLst>
                    <a:gd name="T0" fmla="*/ 183 w 183"/>
                    <a:gd name="T1" fmla="*/ 120 h 138"/>
                    <a:gd name="T2" fmla="*/ 48 w 183"/>
                    <a:gd name="T3" fmla="*/ 138 h 138"/>
                    <a:gd name="T4" fmla="*/ 0 w 183"/>
                    <a:gd name="T5" fmla="*/ 6 h 138"/>
                    <a:gd name="T6" fmla="*/ 139 w 183"/>
                    <a:gd name="T7" fmla="*/ 0 h 138"/>
                    <a:gd name="T8" fmla="*/ 183 w 183"/>
                    <a:gd name="T9" fmla="*/ 120 h 138"/>
                  </a:gdLst>
                  <a:ahLst/>
                  <a:cxnLst>
                    <a:cxn ang="0">
                      <a:pos x="T0" y="T1"/>
                    </a:cxn>
                    <a:cxn ang="0">
                      <a:pos x="T2" y="T3"/>
                    </a:cxn>
                    <a:cxn ang="0">
                      <a:pos x="T4" y="T5"/>
                    </a:cxn>
                    <a:cxn ang="0">
                      <a:pos x="T6" y="T7"/>
                    </a:cxn>
                    <a:cxn ang="0">
                      <a:pos x="T8" y="T9"/>
                    </a:cxn>
                  </a:cxnLst>
                  <a:rect l="0" t="0" r="r" b="b"/>
                  <a:pathLst>
                    <a:path w="183" h="138">
                      <a:moveTo>
                        <a:pt x="183" y="120"/>
                      </a:moveTo>
                      <a:lnTo>
                        <a:pt x="48" y="138"/>
                      </a:lnTo>
                      <a:lnTo>
                        <a:pt x="0" y="6"/>
                      </a:lnTo>
                      <a:lnTo>
                        <a:pt x="139" y="0"/>
                      </a:lnTo>
                      <a:lnTo>
                        <a:pt x="183" y="12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1" name="Freeform 147"/>
                <p:cNvSpPr/>
                <p:nvPr/>
              </p:nvSpPr>
              <p:spPr bwMode="auto">
                <a:xfrm>
                  <a:off x="7815264" y="3553206"/>
                  <a:ext cx="82550" cy="65088"/>
                </a:xfrm>
                <a:custGeom>
                  <a:avLst/>
                  <a:gdLst>
                    <a:gd name="T0" fmla="*/ 156 w 156"/>
                    <a:gd name="T1" fmla="*/ 108 h 124"/>
                    <a:gd name="T2" fmla="*/ 43 w 156"/>
                    <a:gd name="T3" fmla="*/ 124 h 124"/>
                    <a:gd name="T4" fmla="*/ 0 w 156"/>
                    <a:gd name="T5" fmla="*/ 5 h 124"/>
                    <a:gd name="T6" fmla="*/ 117 w 156"/>
                    <a:gd name="T7" fmla="*/ 0 h 124"/>
                    <a:gd name="T8" fmla="*/ 156 w 156"/>
                    <a:gd name="T9" fmla="*/ 108 h 124"/>
                  </a:gdLst>
                  <a:ahLst/>
                  <a:cxnLst>
                    <a:cxn ang="0">
                      <a:pos x="T0" y="T1"/>
                    </a:cxn>
                    <a:cxn ang="0">
                      <a:pos x="T2" y="T3"/>
                    </a:cxn>
                    <a:cxn ang="0">
                      <a:pos x="T4" y="T5"/>
                    </a:cxn>
                    <a:cxn ang="0">
                      <a:pos x="T6" y="T7"/>
                    </a:cxn>
                    <a:cxn ang="0">
                      <a:pos x="T8" y="T9"/>
                    </a:cxn>
                  </a:cxnLst>
                  <a:rect l="0" t="0" r="r" b="b"/>
                  <a:pathLst>
                    <a:path w="156" h="124">
                      <a:moveTo>
                        <a:pt x="156" y="108"/>
                      </a:moveTo>
                      <a:lnTo>
                        <a:pt x="43" y="124"/>
                      </a:lnTo>
                      <a:lnTo>
                        <a:pt x="0" y="5"/>
                      </a:lnTo>
                      <a:lnTo>
                        <a:pt x="117" y="0"/>
                      </a:lnTo>
                      <a:lnTo>
                        <a:pt x="156" y="108"/>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2" name="Freeform 148"/>
                <p:cNvSpPr/>
                <p:nvPr/>
              </p:nvSpPr>
              <p:spPr bwMode="auto">
                <a:xfrm>
                  <a:off x="7761289" y="3632581"/>
                  <a:ext cx="95250" cy="85725"/>
                </a:xfrm>
                <a:custGeom>
                  <a:avLst/>
                  <a:gdLst>
                    <a:gd name="T0" fmla="*/ 181 w 181"/>
                    <a:gd name="T1" fmla="*/ 128 h 163"/>
                    <a:gd name="T2" fmla="*/ 51 w 181"/>
                    <a:gd name="T3" fmla="*/ 163 h 163"/>
                    <a:gd name="T4" fmla="*/ 0 w 181"/>
                    <a:gd name="T5" fmla="*/ 20 h 163"/>
                    <a:gd name="T6" fmla="*/ 135 w 181"/>
                    <a:gd name="T7" fmla="*/ 0 h 163"/>
                    <a:gd name="T8" fmla="*/ 181 w 181"/>
                    <a:gd name="T9" fmla="*/ 128 h 163"/>
                  </a:gdLst>
                  <a:ahLst/>
                  <a:cxnLst>
                    <a:cxn ang="0">
                      <a:pos x="T0" y="T1"/>
                    </a:cxn>
                    <a:cxn ang="0">
                      <a:pos x="T2" y="T3"/>
                    </a:cxn>
                    <a:cxn ang="0">
                      <a:pos x="T4" y="T5"/>
                    </a:cxn>
                    <a:cxn ang="0">
                      <a:pos x="T6" y="T7"/>
                    </a:cxn>
                    <a:cxn ang="0">
                      <a:pos x="T8" y="T9"/>
                    </a:cxn>
                  </a:cxnLst>
                  <a:rect l="0" t="0" r="r" b="b"/>
                  <a:pathLst>
                    <a:path w="181" h="163">
                      <a:moveTo>
                        <a:pt x="181" y="128"/>
                      </a:moveTo>
                      <a:lnTo>
                        <a:pt x="51" y="163"/>
                      </a:lnTo>
                      <a:lnTo>
                        <a:pt x="0" y="20"/>
                      </a:lnTo>
                      <a:lnTo>
                        <a:pt x="135" y="0"/>
                      </a:lnTo>
                      <a:lnTo>
                        <a:pt x="181" y="128"/>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3" name="Freeform 149"/>
                <p:cNvSpPr/>
                <p:nvPr/>
              </p:nvSpPr>
              <p:spPr bwMode="auto">
                <a:xfrm>
                  <a:off x="7627939" y="3559556"/>
                  <a:ext cx="115888" cy="84138"/>
                </a:xfrm>
                <a:custGeom>
                  <a:avLst/>
                  <a:gdLst>
                    <a:gd name="T0" fmla="*/ 171 w 220"/>
                    <a:gd name="T1" fmla="*/ 0 h 157"/>
                    <a:gd name="T2" fmla="*/ 220 w 220"/>
                    <a:gd name="T3" fmla="*/ 135 h 157"/>
                    <a:gd name="T4" fmla="*/ 55 w 220"/>
                    <a:gd name="T5" fmla="*/ 157 h 157"/>
                    <a:gd name="T6" fmla="*/ 0 w 220"/>
                    <a:gd name="T7" fmla="*/ 7 h 157"/>
                    <a:gd name="T8" fmla="*/ 171 w 220"/>
                    <a:gd name="T9" fmla="*/ 0 h 157"/>
                  </a:gdLst>
                  <a:ahLst/>
                  <a:cxnLst>
                    <a:cxn ang="0">
                      <a:pos x="T0" y="T1"/>
                    </a:cxn>
                    <a:cxn ang="0">
                      <a:pos x="T2" y="T3"/>
                    </a:cxn>
                    <a:cxn ang="0">
                      <a:pos x="T4" y="T5"/>
                    </a:cxn>
                    <a:cxn ang="0">
                      <a:pos x="T6" y="T7"/>
                    </a:cxn>
                    <a:cxn ang="0">
                      <a:pos x="T8" y="T9"/>
                    </a:cxn>
                  </a:cxnLst>
                  <a:rect l="0" t="0" r="r" b="b"/>
                  <a:pathLst>
                    <a:path w="220" h="157">
                      <a:moveTo>
                        <a:pt x="171" y="0"/>
                      </a:moveTo>
                      <a:lnTo>
                        <a:pt x="220" y="135"/>
                      </a:lnTo>
                      <a:lnTo>
                        <a:pt x="55" y="157"/>
                      </a:lnTo>
                      <a:lnTo>
                        <a:pt x="0" y="7"/>
                      </a:lnTo>
                      <a:lnTo>
                        <a:pt x="171"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4" name="Freeform 150"/>
                <p:cNvSpPr/>
                <p:nvPr/>
              </p:nvSpPr>
              <p:spPr bwMode="auto">
                <a:xfrm>
                  <a:off x="7697789" y="3734181"/>
                  <a:ext cx="111125" cy="109538"/>
                </a:xfrm>
                <a:custGeom>
                  <a:avLst/>
                  <a:gdLst>
                    <a:gd name="T0" fmla="*/ 211 w 211"/>
                    <a:gd name="T1" fmla="*/ 145 h 205"/>
                    <a:gd name="T2" fmla="*/ 59 w 211"/>
                    <a:gd name="T3" fmla="*/ 205 h 205"/>
                    <a:gd name="T4" fmla="*/ 0 w 211"/>
                    <a:gd name="T5" fmla="*/ 44 h 205"/>
                    <a:gd name="T6" fmla="*/ 158 w 211"/>
                    <a:gd name="T7" fmla="*/ 0 h 205"/>
                    <a:gd name="T8" fmla="*/ 211 w 211"/>
                    <a:gd name="T9" fmla="*/ 145 h 205"/>
                  </a:gdLst>
                  <a:ahLst/>
                  <a:cxnLst>
                    <a:cxn ang="0">
                      <a:pos x="T0" y="T1"/>
                    </a:cxn>
                    <a:cxn ang="0">
                      <a:pos x="T2" y="T3"/>
                    </a:cxn>
                    <a:cxn ang="0">
                      <a:pos x="T4" y="T5"/>
                    </a:cxn>
                    <a:cxn ang="0">
                      <a:pos x="T6" y="T7"/>
                    </a:cxn>
                    <a:cxn ang="0">
                      <a:pos x="T8" y="T9"/>
                    </a:cxn>
                  </a:cxnLst>
                  <a:rect l="0" t="0" r="r" b="b"/>
                  <a:pathLst>
                    <a:path w="211" h="205">
                      <a:moveTo>
                        <a:pt x="211" y="145"/>
                      </a:moveTo>
                      <a:lnTo>
                        <a:pt x="59" y="205"/>
                      </a:lnTo>
                      <a:lnTo>
                        <a:pt x="0" y="44"/>
                      </a:lnTo>
                      <a:lnTo>
                        <a:pt x="158" y="0"/>
                      </a:lnTo>
                      <a:lnTo>
                        <a:pt x="211" y="14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5" name="Freeform 151"/>
                <p:cNvSpPr/>
                <p:nvPr/>
              </p:nvSpPr>
              <p:spPr bwMode="auto">
                <a:xfrm>
                  <a:off x="7842251" y="3621468"/>
                  <a:ext cx="82550" cy="76200"/>
                </a:xfrm>
                <a:custGeom>
                  <a:avLst/>
                  <a:gdLst>
                    <a:gd name="T0" fmla="*/ 154 w 154"/>
                    <a:gd name="T1" fmla="*/ 116 h 145"/>
                    <a:gd name="T2" fmla="*/ 46 w 154"/>
                    <a:gd name="T3" fmla="*/ 145 h 145"/>
                    <a:gd name="T4" fmla="*/ 0 w 154"/>
                    <a:gd name="T5" fmla="*/ 17 h 145"/>
                    <a:gd name="T6" fmla="*/ 111 w 154"/>
                    <a:gd name="T7" fmla="*/ 0 h 145"/>
                    <a:gd name="T8" fmla="*/ 154 w 154"/>
                    <a:gd name="T9" fmla="*/ 116 h 145"/>
                  </a:gdLst>
                  <a:ahLst/>
                  <a:cxnLst>
                    <a:cxn ang="0">
                      <a:pos x="T0" y="T1"/>
                    </a:cxn>
                    <a:cxn ang="0">
                      <a:pos x="T2" y="T3"/>
                    </a:cxn>
                    <a:cxn ang="0">
                      <a:pos x="T4" y="T5"/>
                    </a:cxn>
                    <a:cxn ang="0">
                      <a:pos x="T6" y="T7"/>
                    </a:cxn>
                    <a:cxn ang="0">
                      <a:pos x="T8" y="T9"/>
                    </a:cxn>
                  </a:cxnLst>
                  <a:rect l="0" t="0" r="r" b="b"/>
                  <a:pathLst>
                    <a:path w="154" h="145">
                      <a:moveTo>
                        <a:pt x="154" y="116"/>
                      </a:moveTo>
                      <a:lnTo>
                        <a:pt x="46" y="145"/>
                      </a:lnTo>
                      <a:lnTo>
                        <a:pt x="0" y="17"/>
                      </a:lnTo>
                      <a:lnTo>
                        <a:pt x="111" y="0"/>
                      </a:lnTo>
                      <a:lnTo>
                        <a:pt x="154" y="11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6" name="Freeform 152"/>
                <p:cNvSpPr/>
                <p:nvPr/>
              </p:nvSpPr>
              <p:spPr bwMode="auto">
                <a:xfrm>
                  <a:off x="7793039" y="3711956"/>
                  <a:ext cx="93663" cy="95250"/>
                </a:xfrm>
                <a:custGeom>
                  <a:avLst/>
                  <a:gdLst>
                    <a:gd name="T0" fmla="*/ 128 w 176"/>
                    <a:gd name="T1" fmla="*/ 0 h 178"/>
                    <a:gd name="T2" fmla="*/ 176 w 176"/>
                    <a:gd name="T3" fmla="*/ 129 h 178"/>
                    <a:gd name="T4" fmla="*/ 52 w 176"/>
                    <a:gd name="T5" fmla="*/ 178 h 178"/>
                    <a:gd name="T6" fmla="*/ 0 w 176"/>
                    <a:gd name="T7" fmla="*/ 36 h 178"/>
                    <a:gd name="T8" fmla="*/ 128 w 176"/>
                    <a:gd name="T9" fmla="*/ 0 h 178"/>
                  </a:gdLst>
                  <a:ahLst/>
                  <a:cxnLst>
                    <a:cxn ang="0">
                      <a:pos x="T0" y="T1"/>
                    </a:cxn>
                    <a:cxn ang="0">
                      <a:pos x="T2" y="T3"/>
                    </a:cxn>
                    <a:cxn ang="0">
                      <a:pos x="T4" y="T5"/>
                    </a:cxn>
                    <a:cxn ang="0">
                      <a:pos x="T6" y="T7"/>
                    </a:cxn>
                    <a:cxn ang="0">
                      <a:pos x="T8" y="T9"/>
                    </a:cxn>
                  </a:cxnLst>
                  <a:rect l="0" t="0" r="r" b="b"/>
                  <a:pathLst>
                    <a:path w="176" h="178">
                      <a:moveTo>
                        <a:pt x="128" y="0"/>
                      </a:moveTo>
                      <a:lnTo>
                        <a:pt x="176" y="129"/>
                      </a:lnTo>
                      <a:lnTo>
                        <a:pt x="52" y="178"/>
                      </a:lnTo>
                      <a:lnTo>
                        <a:pt x="0" y="36"/>
                      </a:lnTo>
                      <a:lnTo>
                        <a:pt x="128"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7" name="Freeform 153"/>
                <p:cNvSpPr/>
                <p:nvPr/>
              </p:nvSpPr>
              <p:spPr bwMode="auto">
                <a:xfrm>
                  <a:off x="7661276" y="3645281"/>
                  <a:ext cx="115888" cy="96838"/>
                </a:xfrm>
                <a:custGeom>
                  <a:avLst/>
                  <a:gdLst>
                    <a:gd name="T0" fmla="*/ 218 w 218"/>
                    <a:gd name="T1" fmla="*/ 145 h 185"/>
                    <a:gd name="T2" fmla="*/ 59 w 218"/>
                    <a:gd name="T3" fmla="*/ 185 h 185"/>
                    <a:gd name="T4" fmla="*/ 0 w 218"/>
                    <a:gd name="T5" fmla="*/ 26 h 185"/>
                    <a:gd name="T6" fmla="*/ 166 w 218"/>
                    <a:gd name="T7" fmla="*/ 0 h 185"/>
                    <a:gd name="T8" fmla="*/ 218 w 218"/>
                    <a:gd name="T9" fmla="*/ 145 h 185"/>
                  </a:gdLst>
                  <a:ahLst/>
                  <a:cxnLst>
                    <a:cxn ang="0">
                      <a:pos x="T0" y="T1"/>
                    </a:cxn>
                    <a:cxn ang="0">
                      <a:pos x="T2" y="T3"/>
                    </a:cxn>
                    <a:cxn ang="0">
                      <a:pos x="T4" y="T5"/>
                    </a:cxn>
                    <a:cxn ang="0">
                      <a:pos x="T6" y="T7"/>
                    </a:cxn>
                    <a:cxn ang="0">
                      <a:pos x="T8" y="T9"/>
                    </a:cxn>
                  </a:cxnLst>
                  <a:rect l="0" t="0" r="r" b="b"/>
                  <a:pathLst>
                    <a:path w="218" h="185">
                      <a:moveTo>
                        <a:pt x="218" y="145"/>
                      </a:moveTo>
                      <a:lnTo>
                        <a:pt x="59" y="185"/>
                      </a:lnTo>
                      <a:lnTo>
                        <a:pt x="0" y="26"/>
                      </a:lnTo>
                      <a:lnTo>
                        <a:pt x="166" y="0"/>
                      </a:lnTo>
                      <a:lnTo>
                        <a:pt x="218" y="14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8" name="Freeform 154"/>
                <p:cNvSpPr/>
                <p:nvPr/>
              </p:nvSpPr>
              <p:spPr bwMode="auto">
                <a:xfrm>
                  <a:off x="7861301" y="3796093"/>
                  <a:ext cx="36513" cy="157163"/>
                </a:xfrm>
                <a:custGeom>
                  <a:avLst/>
                  <a:gdLst>
                    <a:gd name="T0" fmla="*/ 10 w 69"/>
                    <a:gd name="T1" fmla="*/ 296 h 296"/>
                    <a:gd name="T2" fmla="*/ 69 w 69"/>
                    <a:gd name="T3" fmla="*/ 292 h 296"/>
                    <a:gd name="T4" fmla="*/ 60 w 69"/>
                    <a:gd name="T5" fmla="*/ 0 h 296"/>
                    <a:gd name="T6" fmla="*/ 0 w 69"/>
                    <a:gd name="T7" fmla="*/ 25 h 296"/>
                    <a:gd name="T8" fmla="*/ 10 w 69"/>
                    <a:gd name="T9" fmla="*/ 296 h 296"/>
                  </a:gdLst>
                  <a:ahLst/>
                  <a:cxnLst>
                    <a:cxn ang="0">
                      <a:pos x="T0" y="T1"/>
                    </a:cxn>
                    <a:cxn ang="0">
                      <a:pos x="T2" y="T3"/>
                    </a:cxn>
                    <a:cxn ang="0">
                      <a:pos x="T4" y="T5"/>
                    </a:cxn>
                    <a:cxn ang="0">
                      <a:pos x="T6" y="T7"/>
                    </a:cxn>
                    <a:cxn ang="0">
                      <a:pos x="T8" y="T9"/>
                    </a:cxn>
                  </a:cxnLst>
                  <a:rect l="0" t="0" r="r" b="b"/>
                  <a:pathLst>
                    <a:path w="69" h="296">
                      <a:moveTo>
                        <a:pt x="10" y="296"/>
                      </a:moveTo>
                      <a:lnTo>
                        <a:pt x="69" y="292"/>
                      </a:lnTo>
                      <a:lnTo>
                        <a:pt x="60" y="0"/>
                      </a:lnTo>
                      <a:lnTo>
                        <a:pt x="0" y="25"/>
                      </a:lnTo>
                      <a:lnTo>
                        <a:pt x="10" y="29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69" name="Freeform 155"/>
                <p:cNvSpPr/>
                <p:nvPr/>
              </p:nvSpPr>
              <p:spPr bwMode="auto">
                <a:xfrm>
                  <a:off x="8334376" y="3538918"/>
                  <a:ext cx="82550" cy="82550"/>
                </a:xfrm>
                <a:custGeom>
                  <a:avLst/>
                  <a:gdLst>
                    <a:gd name="T0" fmla="*/ 0 w 155"/>
                    <a:gd name="T1" fmla="*/ 17 h 156"/>
                    <a:gd name="T2" fmla="*/ 109 w 155"/>
                    <a:gd name="T3" fmla="*/ 0 h 156"/>
                    <a:gd name="T4" fmla="*/ 155 w 155"/>
                    <a:gd name="T5" fmla="*/ 128 h 156"/>
                    <a:gd name="T6" fmla="*/ 49 w 155"/>
                    <a:gd name="T7" fmla="*/ 156 h 156"/>
                    <a:gd name="T8" fmla="*/ 0 w 155"/>
                    <a:gd name="T9" fmla="*/ 17 h 156"/>
                  </a:gdLst>
                  <a:ahLst/>
                  <a:cxnLst>
                    <a:cxn ang="0">
                      <a:pos x="T0" y="T1"/>
                    </a:cxn>
                    <a:cxn ang="0">
                      <a:pos x="T2" y="T3"/>
                    </a:cxn>
                    <a:cxn ang="0">
                      <a:pos x="T4" y="T5"/>
                    </a:cxn>
                    <a:cxn ang="0">
                      <a:pos x="T6" y="T7"/>
                    </a:cxn>
                    <a:cxn ang="0">
                      <a:pos x="T8" y="T9"/>
                    </a:cxn>
                  </a:cxnLst>
                  <a:rect l="0" t="0" r="r" b="b"/>
                  <a:pathLst>
                    <a:path w="155" h="156">
                      <a:moveTo>
                        <a:pt x="0" y="17"/>
                      </a:moveTo>
                      <a:lnTo>
                        <a:pt x="109" y="0"/>
                      </a:lnTo>
                      <a:lnTo>
                        <a:pt x="155" y="128"/>
                      </a:lnTo>
                      <a:lnTo>
                        <a:pt x="49" y="156"/>
                      </a:lnTo>
                      <a:lnTo>
                        <a:pt x="0" y="17"/>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0" name="Freeform 156"/>
                <p:cNvSpPr/>
                <p:nvPr/>
              </p:nvSpPr>
              <p:spPr bwMode="auto">
                <a:xfrm>
                  <a:off x="8304214" y="3462718"/>
                  <a:ext cx="84138" cy="73025"/>
                </a:xfrm>
                <a:custGeom>
                  <a:avLst/>
                  <a:gdLst>
                    <a:gd name="T0" fmla="*/ 0 w 158"/>
                    <a:gd name="T1" fmla="*/ 6 h 136"/>
                    <a:gd name="T2" fmla="*/ 114 w 158"/>
                    <a:gd name="T3" fmla="*/ 0 h 136"/>
                    <a:gd name="T4" fmla="*/ 158 w 158"/>
                    <a:gd name="T5" fmla="*/ 122 h 136"/>
                    <a:gd name="T6" fmla="*/ 47 w 158"/>
                    <a:gd name="T7" fmla="*/ 136 h 136"/>
                    <a:gd name="T8" fmla="*/ 0 w 158"/>
                    <a:gd name="T9" fmla="*/ 6 h 136"/>
                  </a:gdLst>
                  <a:ahLst/>
                  <a:cxnLst>
                    <a:cxn ang="0">
                      <a:pos x="T0" y="T1"/>
                    </a:cxn>
                    <a:cxn ang="0">
                      <a:pos x="T2" y="T3"/>
                    </a:cxn>
                    <a:cxn ang="0">
                      <a:pos x="T4" y="T5"/>
                    </a:cxn>
                    <a:cxn ang="0">
                      <a:pos x="T6" y="T7"/>
                    </a:cxn>
                    <a:cxn ang="0">
                      <a:pos x="T8" y="T9"/>
                    </a:cxn>
                  </a:cxnLst>
                  <a:rect l="0" t="0" r="r" b="b"/>
                  <a:pathLst>
                    <a:path w="158" h="136">
                      <a:moveTo>
                        <a:pt x="0" y="6"/>
                      </a:moveTo>
                      <a:lnTo>
                        <a:pt x="114" y="0"/>
                      </a:lnTo>
                      <a:lnTo>
                        <a:pt x="158" y="122"/>
                      </a:lnTo>
                      <a:lnTo>
                        <a:pt x="47" y="136"/>
                      </a:lnTo>
                      <a:lnTo>
                        <a:pt x="0" y="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1" name="Freeform 157"/>
                <p:cNvSpPr/>
                <p:nvPr/>
              </p:nvSpPr>
              <p:spPr bwMode="auto">
                <a:xfrm>
                  <a:off x="8274051" y="3383343"/>
                  <a:ext cx="85725" cy="69850"/>
                </a:xfrm>
                <a:custGeom>
                  <a:avLst/>
                  <a:gdLst>
                    <a:gd name="T0" fmla="*/ 0 w 161"/>
                    <a:gd name="T1" fmla="*/ 0 h 132"/>
                    <a:gd name="T2" fmla="*/ 117 w 161"/>
                    <a:gd name="T3" fmla="*/ 8 h 132"/>
                    <a:gd name="T4" fmla="*/ 161 w 161"/>
                    <a:gd name="T5" fmla="*/ 129 h 132"/>
                    <a:gd name="T6" fmla="*/ 47 w 161"/>
                    <a:gd name="T7" fmla="*/ 132 h 132"/>
                    <a:gd name="T8" fmla="*/ 0 w 161"/>
                    <a:gd name="T9" fmla="*/ 0 h 132"/>
                  </a:gdLst>
                  <a:ahLst/>
                  <a:cxnLst>
                    <a:cxn ang="0">
                      <a:pos x="T0" y="T1"/>
                    </a:cxn>
                    <a:cxn ang="0">
                      <a:pos x="T2" y="T3"/>
                    </a:cxn>
                    <a:cxn ang="0">
                      <a:pos x="T4" y="T5"/>
                    </a:cxn>
                    <a:cxn ang="0">
                      <a:pos x="T6" y="T7"/>
                    </a:cxn>
                    <a:cxn ang="0">
                      <a:pos x="T8" y="T9"/>
                    </a:cxn>
                  </a:cxnLst>
                  <a:rect l="0" t="0" r="r" b="b"/>
                  <a:pathLst>
                    <a:path w="161" h="132">
                      <a:moveTo>
                        <a:pt x="0" y="0"/>
                      </a:moveTo>
                      <a:lnTo>
                        <a:pt x="117" y="8"/>
                      </a:lnTo>
                      <a:lnTo>
                        <a:pt x="161" y="129"/>
                      </a:lnTo>
                      <a:lnTo>
                        <a:pt x="47" y="132"/>
                      </a:lnTo>
                      <a:lnTo>
                        <a:pt x="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2" name="Freeform 158"/>
                <p:cNvSpPr/>
                <p:nvPr/>
              </p:nvSpPr>
              <p:spPr bwMode="auto">
                <a:xfrm>
                  <a:off x="8366126" y="3619881"/>
                  <a:ext cx="79375" cy="88900"/>
                </a:xfrm>
                <a:custGeom>
                  <a:avLst/>
                  <a:gdLst>
                    <a:gd name="T0" fmla="*/ 105 w 152"/>
                    <a:gd name="T1" fmla="*/ 0 h 170"/>
                    <a:gd name="T2" fmla="*/ 152 w 152"/>
                    <a:gd name="T3" fmla="*/ 130 h 170"/>
                    <a:gd name="T4" fmla="*/ 51 w 152"/>
                    <a:gd name="T5" fmla="*/ 170 h 170"/>
                    <a:gd name="T6" fmla="*/ 0 w 152"/>
                    <a:gd name="T7" fmla="*/ 30 h 170"/>
                    <a:gd name="T8" fmla="*/ 105 w 152"/>
                    <a:gd name="T9" fmla="*/ 0 h 170"/>
                  </a:gdLst>
                  <a:ahLst/>
                  <a:cxnLst>
                    <a:cxn ang="0">
                      <a:pos x="T0" y="T1"/>
                    </a:cxn>
                    <a:cxn ang="0">
                      <a:pos x="T2" y="T3"/>
                    </a:cxn>
                    <a:cxn ang="0">
                      <a:pos x="T4" y="T5"/>
                    </a:cxn>
                    <a:cxn ang="0">
                      <a:pos x="T6" y="T7"/>
                    </a:cxn>
                    <a:cxn ang="0">
                      <a:pos x="T8" y="T9"/>
                    </a:cxn>
                  </a:cxnLst>
                  <a:rect l="0" t="0" r="r" b="b"/>
                  <a:pathLst>
                    <a:path w="152" h="170">
                      <a:moveTo>
                        <a:pt x="105" y="0"/>
                      </a:moveTo>
                      <a:lnTo>
                        <a:pt x="152" y="130"/>
                      </a:lnTo>
                      <a:lnTo>
                        <a:pt x="51" y="170"/>
                      </a:lnTo>
                      <a:lnTo>
                        <a:pt x="0" y="30"/>
                      </a:lnTo>
                      <a:lnTo>
                        <a:pt x="105"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3" name="Freeform 159"/>
                <p:cNvSpPr/>
                <p:nvPr/>
              </p:nvSpPr>
              <p:spPr bwMode="auto">
                <a:xfrm>
                  <a:off x="8078789" y="3372231"/>
                  <a:ext cx="122238" cy="85725"/>
                </a:xfrm>
                <a:custGeom>
                  <a:avLst/>
                  <a:gdLst>
                    <a:gd name="T0" fmla="*/ 60 w 230"/>
                    <a:gd name="T1" fmla="*/ 162 h 162"/>
                    <a:gd name="T2" fmla="*/ 0 w 230"/>
                    <a:gd name="T3" fmla="*/ 0 h 162"/>
                    <a:gd name="T4" fmla="*/ 176 w 230"/>
                    <a:gd name="T5" fmla="*/ 11 h 162"/>
                    <a:gd name="T6" fmla="*/ 230 w 230"/>
                    <a:gd name="T7" fmla="*/ 158 h 162"/>
                    <a:gd name="T8" fmla="*/ 60 w 230"/>
                    <a:gd name="T9" fmla="*/ 162 h 162"/>
                  </a:gdLst>
                  <a:ahLst/>
                  <a:cxnLst>
                    <a:cxn ang="0">
                      <a:pos x="T0" y="T1"/>
                    </a:cxn>
                    <a:cxn ang="0">
                      <a:pos x="T2" y="T3"/>
                    </a:cxn>
                    <a:cxn ang="0">
                      <a:pos x="T4" y="T5"/>
                    </a:cxn>
                    <a:cxn ang="0">
                      <a:pos x="T6" y="T7"/>
                    </a:cxn>
                    <a:cxn ang="0">
                      <a:pos x="T8" y="T9"/>
                    </a:cxn>
                  </a:cxnLst>
                  <a:rect l="0" t="0" r="r" b="b"/>
                  <a:pathLst>
                    <a:path w="230" h="162">
                      <a:moveTo>
                        <a:pt x="60" y="162"/>
                      </a:moveTo>
                      <a:lnTo>
                        <a:pt x="0" y="0"/>
                      </a:lnTo>
                      <a:lnTo>
                        <a:pt x="176" y="11"/>
                      </a:lnTo>
                      <a:lnTo>
                        <a:pt x="230" y="158"/>
                      </a:lnTo>
                      <a:lnTo>
                        <a:pt x="60" y="162"/>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4" name="Freeform 160"/>
                <p:cNvSpPr/>
                <p:nvPr/>
              </p:nvSpPr>
              <p:spPr bwMode="auto">
                <a:xfrm>
                  <a:off x="7948614" y="3364293"/>
                  <a:ext cx="146050" cy="96838"/>
                </a:xfrm>
                <a:custGeom>
                  <a:avLst/>
                  <a:gdLst>
                    <a:gd name="T0" fmla="*/ 67 w 276"/>
                    <a:gd name="T1" fmla="*/ 184 h 184"/>
                    <a:gd name="T2" fmla="*/ 0 w 276"/>
                    <a:gd name="T3" fmla="*/ 0 h 184"/>
                    <a:gd name="T4" fmla="*/ 216 w 276"/>
                    <a:gd name="T5" fmla="*/ 13 h 184"/>
                    <a:gd name="T6" fmla="*/ 276 w 276"/>
                    <a:gd name="T7" fmla="*/ 178 h 184"/>
                    <a:gd name="T8" fmla="*/ 67 w 276"/>
                    <a:gd name="T9" fmla="*/ 184 h 184"/>
                  </a:gdLst>
                  <a:ahLst/>
                  <a:cxnLst>
                    <a:cxn ang="0">
                      <a:pos x="T0" y="T1"/>
                    </a:cxn>
                    <a:cxn ang="0">
                      <a:pos x="T2" y="T3"/>
                    </a:cxn>
                    <a:cxn ang="0">
                      <a:pos x="T4" y="T5"/>
                    </a:cxn>
                    <a:cxn ang="0">
                      <a:pos x="T6" y="T7"/>
                    </a:cxn>
                    <a:cxn ang="0">
                      <a:pos x="T8" y="T9"/>
                    </a:cxn>
                  </a:cxnLst>
                  <a:rect l="0" t="0" r="r" b="b"/>
                  <a:pathLst>
                    <a:path w="276" h="184">
                      <a:moveTo>
                        <a:pt x="67" y="184"/>
                      </a:moveTo>
                      <a:lnTo>
                        <a:pt x="0" y="0"/>
                      </a:lnTo>
                      <a:lnTo>
                        <a:pt x="216" y="13"/>
                      </a:lnTo>
                      <a:lnTo>
                        <a:pt x="276" y="178"/>
                      </a:lnTo>
                      <a:lnTo>
                        <a:pt x="67" y="18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5" name="Freeform 161"/>
                <p:cNvSpPr/>
                <p:nvPr/>
              </p:nvSpPr>
              <p:spPr bwMode="auto">
                <a:xfrm>
                  <a:off x="8286751" y="3637343"/>
                  <a:ext cx="96838" cy="101600"/>
                </a:xfrm>
                <a:custGeom>
                  <a:avLst/>
                  <a:gdLst>
                    <a:gd name="T0" fmla="*/ 132 w 183"/>
                    <a:gd name="T1" fmla="*/ 0 h 192"/>
                    <a:gd name="T2" fmla="*/ 183 w 183"/>
                    <a:gd name="T3" fmla="*/ 142 h 192"/>
                    <a:gd name="T4" fmla="*/ 57 w 183"/>
                    <a:gd name="T5" fmla="*/ 192 h 192"/>
                    <a:gd name="T6" fmla="*/ 0 w 183"/>
                    <a:gd name="T7" fmla="*/ 36 h 192"/>
                    <a:gd name="T8" fmla="*/ 132 w 183"/>
                    <a:gd name="T9" fmla="*/ 0 h 192"/>
                  </a:gdLst>
                  <a:ahLst/>
                  <a:cxnLst>
                    <a:cxn ang="0">
                      <a:pos x="T0" y="T1"/>
                    </a:cxn>
                    <a:cxn ang="0">
                      <a:pos x="T2" y="T3"/>
                    </a:cxn>
                    <a:cxn ang="0">
                      <a:pos x="T4" y="T5"/>
                    </a:cxn>
                    <a:cxn ang="0">
                      <a:pos x="T6" y="T7"/>
                    </a:cxn>
                    <a:cxn ang="0">
                      <a:pos x="T8" y="T9"/>
                    </a:cxn>
                  </a:cxnLst>
                  <a:rect l="0" t="0" r="r" b="b"/>
                  <a:pathLst>
                    <a:path w="183" h="192">
                      <a:moveTo>
                        <a:pt x="132" y="0"/>
                      </a:moveTo>
                      <a:lnTo>
                        <a:pt x="183" y="142"/>
                      </a:lnTo>
                      <a:lnTo>
                        <a:pt x="57" y="192"/>
                      </a:lnTo>
                      <a:lnTo>
                        <a:pt x="0" y="36"/>
                      </a:lnTo>
                      <a:lnTo>
                        <a:pt x="132"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6" name="Freeform 162"/>
                <p:cNvSpPr/>
                <p:nvPr/>
              </p:nvSpPr>
              <p:spPr bwMode="auto">
                <a:xfrm>
                  <a:off x="8185151" y="3378581"/>
                  <a:ext cx="103188" cy="76200"/>
                </a:xfrm>
                <a:custGeom>
                  <a:avLst/>
                  <a:gdLst>
                    <a:gd name="T0" fmla="*/ 53 w 196"/>
                    <a:gd name="T1" fmla="*/ 145 h 145"/>
                    <a:gd name="T2" fmla="*/ 0 w 196"/>
                    <a:gd name="T3" fmla="*/ 0 h 145"/>
                    <a:gd name="T4" fmla="*/ 147 w 196"/>
                    <a:gd name="T5" fmla="*/ 8 h 145"/>
                    <a:gd name="T6" fmla="*/ 196 w 196"/>
                    <a:gd name="T7" fmla="*/ 141 h 145"/>
                    <a:gd name="T8" fmla="*/ 53 w 196"/>
                    <a:gd name="T9" fmla="*/ 145 h 145"/>
                  </a:gdLst>
                  <a:ahLst/>
                  <a:cxnLst>
                    <a:cxn ang="0">
                      <a:pos x="T0" y="T1"/>
                    </a:cxn>
                    <a:cxn ang="0">
                      <a:pos x="T2" y="T3"/>
                    </a:cxn>
                    <a:cxn ang="0">
                      <a:pos x="T4" y="T5"/>
                    </a:cxn>
                    <a:cxn ang="0">
                      <a:pos x="T6" y="T7"/>
                    </a:cxn>
                    <a:cxn ang="0">
                      <a:pos x="T8" y="T9"/>
                    </a:cxn>
                  </a:cxnLst>
                  <a:rect l="0" t="0" r="r" b="b"/>
                  <a:pathLst>
                    <a:path w="196" h="145">
                      <a:moveTo>
                        <a:pt x="53" y="145"/>
                      </a:moveTo>
                      <a:lnTo>
                        <a:pt x="0" y="0"/>
                      </a:lnTo>
                      <a:lnTo>
                        <a:pt x="147" y="8"/>
                      </a:lnTo>
                      <a:lnTo>
                        <a:pt x="196" y="141"/>
                      </a:lnTo>
                      <a:lnTo>
                        <a:pt x="53" y="14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7" name="Freeform 163"/>
                <p:cNvSpPr/>
                <p:nvPr/>
              </p:nvSpPr>
              <p:spPr bwMode="auto">
                <a:xfrm>
                  <a:off x="8115301" y="3470656"/>
                  <a:ext cx="119063" cy="88900"/>
                </a:xfrm>
                <a:custGeom>
                  <a:avLst/>
                  <a:gdLst>
                    <a:gd name="T0" fmla="*/ 224 w 224"/>
                    <a:gd name="T1" fmla="*/ 147 h 169"/>
                    <a:gd name="T2" fmla="*/ 60 w 224"/>
                    <a:gd name="T3" fmla="*/ 169 h 169"/>
                    <a:gd name="T4" fmla="*/ 0 w 224"/>
                    <a:gd name="T5" fmla="*/ 8 h 169"/>
                    <a:gd name="T6" fmla="*/ 170 w 224"/>
                    <a:gd name="T7" fmla="*/ 0 h 169"/>
                    <a:gd name="T8" fmla="*/ 224 w 224"/>
                    <a:gd name="T9" fmla="*/ 147 h 169"/>
                  </a:gdLst>
                  <a:ahLst/>
                  <a:cxnLst>
                    <a:cxn ang="0">
                      <a:pos x="T0" y="T1"/>
                    </a:cxn>
                    <a:cxn ang="0">
                      <a:pos x="T2" y="T3"/>
                    </a:cxn>
                    <a:cxn ang="0">
                      <a:pos x="T4" y="T5"/>
                    </a:cxn>
                    <a:cxn ang="0">
                      <a:pos x="T6" y="T7"/>
                    </a:cxn>
                    <a:cxn ang="0">
                      <a:pos x="T8" y="T9"/>
                    </a:cxn>
                  </a:cxnLst>
                  <a:rect l="0" t="0" r="r" b="b"/>
                  <a:pathLst>
                    <a:path w="224" h="169">
                      <a:moveTo>
                        <a:pt x="224" y="147"/>
                      </a:moveTo>
                      <a:lnTo>
                        <a:pt x="60" y="169"/>
                      </a:lnTo>
                      <a:lnTo>
                        <a:pt x="0" y="8"/>
                      </a:lnTo>
                      <a:lnTo>
                        <a:pt x="170" y="0"/>
                      </a:lnTo>
                      <a:lnTo>
                        <a:pt x="224" y="147"/>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8" name="Freeform 164"/>
                <p:cNvSpPr/>
                <p:nvPr/>
              </p:nvSpPr>
              <p:spPr bwMode="auto">
                <a:xfrm>
                  <a:off x="8218489" y="3465893"/>
                  <a:ext cx="100013" cy="80963"/>
                </a:xfrm>
                <a:custGeom>
                  <a:avLst/>
                  <a:gdLst>
                    <a:gd name="T0" fmla="*/ 190 w 190"/>
                    <a:gd name="T1" fmla="*/ 132 h 151"/>
                    <a:gd name="T2" fmla="*/ 52 w 190"/>
                    <a:gd name="T3" fmla="*/ 151 h 151"/>
                    <a:gd name="T4" fmla="*/ 0 w 190"/>
                    <a:gd name="T5" fmla="*/ 6 h 151"/>
                    <a:gd name="T6" fmla="*/ 143 w 190"/>
                    <a:gd name="T7" fmla="*/ 0 h 151"/>
                    <a:gd name="T8" fmla="*/ 190 w 190"/>
                    <a:gd name="T9" fmla="*/ 132 h 151"/>
                  </a:gdLst>
                  <a:ahLst/>
                  <a:cxnLst>
                    <a:cxn ang="0">
                      <a:pos x="T0" y="T1"/>
                    </a:cxn>
                    <a:cxn ang="0">
                      <a:pos x="T2" y="T3"/>
                    </a:cxn>
                    <a:cxn ang="0">
                      <a:pos x="T4" y="T5"/>
                    </a:cxn>
                    <a:cxn ang="0">
                      <a:pos x="T6" y="T7"/>
                    </a:cxn>
                    <a:cxn ang="0">
                      <a:pos x="T8" y="T9"/>
                    </a:cxn>
                  </a:cxnLst>
                  <a:rect l="0" t="0" r="r" b="b"/>
                  <a:pathLst>
                    <a:path w="190" h="151">
                      <a:moveTo>
                        <a:pt x="190" y="132"/>
                      </a:moveTo>
                      <a:lnTo>
                        <a:pt x="52" y="151"/>
                      </a:lnTo>
                      <a:lnTo>
                        <a:pt x="0" y="6"/>
                      </a:lnTo>
                      <a:lnTo>
                        <a:pt x="143" y="0"/>
                      </a:lnTo>
                      <a:lnTo>
                        <a:pt x="190" y="132"/>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79" name="Freeform 165"/>
                <p:cNvSpPr/>
                <p:nvPr/>
              </p:nvSpPr>
              <p:spPr bwMode="auto">
                <a:xfrm>
                  <a:off x="8153401" y="3562731"/>
                  <a:ext cx="115888" cy="104775"/>
                </a:xfrm>
                <a:custGeom>
                  <a:avLst/>
                  <a:gdLst>
                    <a:gd name="T0" fmla="*/ 220 w 220"/>
                    <a:gd name="T1" fmla="*/ 156 h 197"/>
                    <a:gd name="T2" fmla="*/ 63 w 220"/>
                    <a:gd name="T3" fmla="*/ 197 h 197"/>
                    <a:gd name="T4" fmla="*/ 0 w 220"/>
                    <a:gd name="T5" fmla="*/ 25 h 197"/>
                    <a:gd name="T6" fmla="*/ 163 w 220"/>
                    <a:gd name="T7" fmla="*/ 0 h 197"/>
                    <a:gd name="T8" fmla="*/ 220 w 220"/>
                    <a:gd name="T9" fmla="*/ 156 h 197"/>
                  </a:gdLst>
                  <a:ahLst/>
                  <a:cxnLst>
                    <a:cxn ang="0">
                      <a:pos x="T0" y="T1"/>
                    </a:cxn>
                    <a:cxn ang="0">
                      <a:pos x="T2" y="T3"/>
                    </a:cxn>
                    <a:cxn ang="0">
                      <a:pos x="T4" y="T5"/>
                    </a:cxn>
                    <a:cxn ang="0">
                      <a:pos x="T6" y="T7"/>
                    </a:cxn>
                    <a:cxn ang="0">
                      <a:pos x="T8" y="T9"/>
                    </a:cxn>
                  </a:cxnLst>
                  <a:rect l="0" t="0" r="r" b="b"/>
                  <a:pathLst>
                    <a:path w="220" h="197">
                      <a:moveTo>
                        <a:pt x="220" y="156"/>
                      </a:moveTo>
                      <a:lnTo>
                        <a:pt x="63" y="197"/>
                      </a:lnTo>
                      <a:lnTo>
                        <a:pt x="0" y="25"/>
                      </a:lnTo>
                      <a:lnTo>
                        <a:pt x="163" y="0"/>
                      </a:lnTo>
                      <a:lnTo>
                        <a:pt x="220" y="15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0" name="Freeform 166"/>
                <p:cNvSpPr/>
                <p:nvPr/>
              </p:nvSpPr>
              <p:spPr bwMode="auto">
                <a:xfrm>
                  <a:off x="7989889" y="3475418"/>
                  <a:ext cx="141288" cy="100013"/>
                </a:xfrm>
                <a:custGeom>
                  <a:avLst/>
                  <a:gdLst>
                    <a:gd name="T0" fmla="*/ 209 w 268"/>
                    <a:gd name="T1" fmla="*/ 0 h 191"/>
                    <a:gd name="T2" fmla="*/ 268 w 268"/>
                    <a:gd name="T3" fmla="*/ 164 h 191"/>
                    <a:gd name="T4" fmla="*/ 66 w 268"/>
                    <a:gd name="T5" fmla="*/ 191 h 191"/>
                    <a:gd name="T6" fmla="*/ 0 w 268"/>
                    <a:gd name="T7" fmla="*/ 9 h 191"/>
                    <a:gd name="T8" fmla="*/ 209 w 268"/>
                    <a:gd name="T9" fmla="*/ 0 h 191"/>
                  </a:gdLst>
                  <a:ahLst/>
                  <a:cxnLst>
                    <a:cxn ang="0">
                      <a:pos x="T0" y="T1"/>
                    </a:cxn>
                    <a:cxn ang="0">
                      <a:pos x="T2" y="T3"/>
                    </a:cxn>
                    <a:cxn ang="0">
                      <a:pos x="T4" y="T5"/>
                    </a:cxn>
                    <a:cxn ang="0">
                      <a:pos x="T6" y="T7"/>
                    </a:cxn>
                    <a:cxn ang="0">
                      <a:pos x="T8" y="T9"/>
                    </a:cxn>
                  </a:cxnLst>
                  <a:rect l="0" t="0" r="r" b="b"/>
                  <a:pathLst>
                    <a:path w="268" h="191">
                      <a:moveTo>
                        <a:pt x="209" y="0"/>
                      </a:moveTo>
                      <a:lnTo>
                        <a:pt x="268" y="164"/>
                      </a:lnTo>
                      <a:lnTo>
                        <a:pt x="66" y="191"/>
                      </a:lnTo>
                      <a:lnTo>
                        <a:pt x="0" y="9"/>
                      </a:lnTo>
                      <a:lnTo>
                        <a:pt x="209"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1" name="Freeform 167"/>
                <p:cNvSpPr/>
                <p:nvPr/>
              </p:nvSpPr>
              <p:spPr bwMode="auto">
                <a:xfrm>
                  <a:off x="8075614" y="3686556"/>
                  <a:ext cx="136525" cy="133350"/>
                </a:xfrm>
                <a:custGeom>
                  <a:avLst/>
                  <a:gdLst>
                    <a:gd name="T0" fmla="*/ 257 w 257"/>
                    <a:gd name="T1" fmla="*/ 177 h 250"/>
                    <a:gd name="T2" fmla="*/ 72 w 257"/>
                    <a:gd name="T3" fmla="*/ 250 h 250"/>
                    <a:gd name="T4" fmla="*/ 0 w 257"/>
                    <a:gd name="T5" fmla="*/ 54 h 250"/>
                    <a:gd name="T6" fmla="*/ 193 w 257"/>
                    <a:gd name="T7" fmla="*/ 0 h 250"/>
                    <a:gd name="T8" fmla="*/ 257 w 257"/>
                    <a:gd name="T9" fmla="*/ 177 h 250"/>
                  </a:gdLst>
                  <a:ahLst/>
                  <a:cxnLst>
                    <a:cxn ang="0">
                      <a:pos x="T0" y="T1"/>
                    </a:cxn>
                    <a:cxn ang="0">
                      <a:pos x="T2" y="T3"/>
                    </a:cxn>
                    <a:cxn ang="0">
                      <a:pos x="T4" y="T5"/>
                    </a:cxn>
                    <a:cxn ang="0">
                      <a:pos x="T6" y="T7"/>
                    </a:cxn>
                    <a:cxn ang="0">
                      <a:pos x="T8" y="T9"/>
                    </a:cxn>
                  </a:cxnLst>
                  <a:rect l="0" t="0" r="r" b="b"/>
                  <a:pathLst>
                    <a:path w="257" h="250">
                      <a:moveTo>
                        <a:pt x="257" y="177"/>
                      </a:moveTo>
                      <a:lnTo>
                        <a:pt x="72" y="250"/>
                      </a:lnTo>
                      <a:lnTo>
                        <a:pt x="0" y="54"/>
                      </a:lnTo>
                      <a:lnTo>
                        <a:pt x="193" y="0"/>
                      </a:lnTo>
                      <a:lnTo>
                        <a:pt x="257" y="177"/>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2" name="Freeform 168"/>
                <p:cNvSpPr/>
                <p:nvPr/>
              </p:nvSpPr>
              <p:spPr bwMode="auto">
                <a:xfrm>
                  <a:off x="8251826" y="3550031"/>
                  <a:ext cx="100013" cy="92075"/>
                </a:xfrm>
                <a:custGeom>
                  <a:avLst/>
                  <a:gdLst>
                    <a:gd name="T0" fmla="*/ 188 w 188"/>
                    <a:gd name="T1" fmla="*/ 142 h 176"/>
                    <a:gd name="T2" fmla="*/ 56 w 188"/>
                    <a:gd name="T3" fmla="*/ 176 h 176"/>
                    <a:gd name="T4" fmla="*/ 0 w 188"/>
                    <a:gd name="T5" fmla="*/ 22 h 176"/>
                    <a:gd name="T6" fmla="*/ 137 w 188"/>
                    <a:gd name="T7" fmla="*/ 0 h 176"/>
                    <a:gd name="T8" fmla="*/ 188 w 188"/>
                    <a:gd name="T9" fmla="*/ 142 h 176"/>
                  </a:gdLst>
                  <a:ahLst/>
                  <a:cxnLst>
                    <a:cxn ang="0">
                      <a:pos x="T0" y="T1"/>
                    </a:cxn>
                    <a:cxn ang="0">
                      <a:pos x="T2" y="T3"/>
                    </a:cxn>
                    <a:cxn ang="0">
                      <a:pos x="T4" y="T5"/>
                    </a:cxn>
                    <a:cxn ang="0">
                      <a:pos x="T6" y="T7"/>
                    </a:cxn>
                    <a:cxn ang="0">
                      <a:pos x="T8" y="T9"/>
                    </a:cxn>
                  </a:cxnLst>
                  <a:rect l="0" t="0" r="r" b="b"/>
                  <a:pathLst>
                    <a:path w="188" h="176">
                      <a:moveTo>
                        <a:pt x="188" y="142"/>
                      </a:moveTo>
                      <a:lnTo>
                        <a:pt x="56" y="176"/>
                      </a:lnTo>
                      <a:lnTo>
                        <a:pt x="0" y="22"/>
                      </a:lnTo>
                      <a:lnTo>
                        <a:pt x="137" y="0"/>
                      </a:lnTo>
                      <a:lnTo>
                        <a:pt x="188" y="142"/>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3" name="Freeform 169"/>
                <p:cNvSpPr/>
                <p:nvPr/>
              </p:nvSpPr>
              <p:spPr bwMode="auto">
                <a:xfrm>
                  <a:off x="8191501" y="3659568"/>
                  <a:ext cx="114300" cy="115888"/>
                </a:xfrm>
                <a:custGeom>
                  <a:avLst/>
                  <a:gdLst>
                    <a:gd name="T0" fmla="*/ 157 w 214"/>
                    <a:gd name="T1" fmla="*/ 0 h 218"/>
                    <a:gd name="T2" fmla="*/ 214 w 214"/>
                    <a:gd name="T3" fmla="*/ 158 h 218"/>
                    <a:gd name="T4" fmla="*/ 63 w 214"/>
                    <a:gd name="T5" fmla="*/ 218 h 218"/>
                    <a:gd name="T6" fmla="*/ 0 w 214"/>
                    <a:gd name="T7" fmla="*/ 44 h 218"/>
                    <a:gd name="T8" fmla="*/ 157 w 214"/>
                    <a:gd name="T9" fmla="*/ 0 h 218"/>
                  </a:gdLst>
                  <a:ahLst/>
                  <a:cxnLst>
                    <a:cxn ang="0">
                      <a:pos x="T0" y="T1"/>
                    </a:cxn>
                    <a:cxn ang="0">
                      <a:pos x="T2" y="T3"/>
                    </a:cxn>
                    <a:cxn ang="0">
                      <a:pos x="T4" y="T5"/>
                    </a:cxn>
                    <a:cxn ang="0">
                      <a:pos x="T6" y="T7"/>
                    </a:cxn>
                    <a:cxn ang="0">
                      <a:pos x="T8" y="T9"/>
                    </a:cxn>
                  </a:cxnLst>
                  <a:rect l="0" t="0" r="r" b="b"/>
                  <a:pathLst>
                    <a:path w="214" h="218">
                      <a:moveTo>
                        <a:pt x="157" y="0"/>
                      </a:moveTo>
                      <a:lnTo>
                        <a:pt x="214" y="158"/>
                      </a:lnTo>
                      <a:lnTo>
                        <a:pt x="63" y="218"/>
                      </a:lnTo>
                      <a:lnTo>
                        <a:pt x="0" y="44"/>
                      </a:lnTo>
                      <a:lnTo>
                        <a:pt x="157"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4" name="Freeform 170"/>
                <p:cNvSpPr/>
                <p:nvPr/>
              </p:nvSpPr>
              <p:spPr bwMode="auto">
                <a:xfrm>
                  <a:off x="8031164" y="3578606"/>
                  <a:ext cx="139700" cy="119063"/>
                </a:xfrm>
                <a:custGeom>
                  <a:avLst/>
                  <a:gdLst>
                    <a:gd name="T0" fmla="*/ 264 w 264"/>
                    <a:gd name="T1" fmla="*/ 176 h 225"/>
                    <a:gd name="T2" fmla="*/ 70 w 264"/>
                    <a:gd name="T3" fmla="*/ 225 h 225"/>
                    <a:gd name="T4" fmla="*/ 0 w 264"/>
                    <a:gd name="T5" fmla="*/ 31 h 225"/>
                    <a:gd name="T6" fmla="*/ 200 w 264"/>
                    <a:gd name="T7" fmla="*/ 0 h 225"/>
                    <a:gd name="T8" fmla="*/ 264 w 264"/>
                    <a:gd name="T9" fmla="*/ 176 h 225"/>
                  </a:gdLst>
                  <a:ahLst/>
                  <a:cxnLst>
                    <a:cxn ang="0">
                      <a:pos x="T0" y="T1"/>
                    </a:cxn>
                    <a:cxn ang="0">
                      <a:pos x="T2" y="T3"/>
                    </a:cxn>
                    <a:cxn ang="0">
                      <a:pos x="T4" y="T5"/>
                    </a:cxn>
                    <a:cxn ang="0">
                      <a:pos x="T6" y="T7"/>
                    </a:cxn>
                    <a:cxn ang="0">
                      <a:pos x="T8" y="T9"/>
                    </a:cxn>
                  </a:cxnLst>
                  <a:rect l="0" t="0" r="r" b="b"/>
                  <a:pathLst>
                    <a:path w="264" h="225">
                      <a:moveTo>
                        <a:pt x="264" y="176"/>
                      </a:moveTo>
                      <a:lnTo>
                        <a:pt x="70" y="225"/>
                      </a:lnTo>
                      <a:lnTo>
                        <a:pt x="0" y="31"/>
                      </a:lnTo>
                      <a:lnTo>
                        <a:pt x="200" y="0"/>
                      </a:lnTo>
                      <a:lnTo>
                        <a:pt x="264" y="17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85" name="Freeform 171"/>
                <p:cNvSpPr/>
                <p:nvPr/>
              </p:nvSpPr>
              <p:spPr bwMode="auto">
                <a:xfrm>
                  <a:off x="8275639" y="3762756"/>
                  <a:ext cx="44450" cy="239713"/>
                </a:xfrm>
                <a:custGeom>
                  <a:avLst/>
                  <a:gdLst>
                    <a:gd name="T0" fmla="*/ 11 w 83"/>
                    <a:gd name="T1" fmla="*/ 453 h 453"/>
                    <a:gd name="T2" fmla="*/ 83 w 83"/>
                    <a:gd name="T3" fmla="*/ 450 h 453"/>
                    <a:gd name="T4" fmla="*/ 71 w 83"/>
                    <a:gd name="T5" fmla="*/ 0 h 453"/>
                    <a:gd name="T6" fmla="*/ 0 w 83"/>
                    <a:gd name="T7" fmla="*/ 30 h 453"/>
                    <a:gd name="T8" fmla="*/ 11 w 83"/>
                    <a:gd name="T9" fmla="*/ 453 h 453"/>
                  </a:gdLst>
                  <a:ahLst/>
                  <a:cxnLst>
                    <a:cxn ang="0">
                      <a:pos x="T0" y="T1"/>
                    </a:cxn>
                    <a:cxn ang="0">
                      <a:pos x="T2" y="T3"/>
                    </a:cxn>
                    <a:cxn ang="0">
                      <a:pos x="T4" y="T5"/>
                    </a:cxn>
                    <a:cxn ang="0">
                      <a:pos x="T6" y="T7"/>
                    </a:cxn>
                    <a:cxn ang="0">
                      <a:pos x="T8" y="T9"/>
                    </a:cxn>
                  </a:cxnLst>
                  <a:rect l="0" t="0" r="r" b="b"/>
                  <a:pathLst>
                    <a:path w="83" h="453">
                      <a:moveTo>
                        <a:pt x="11" y="453"/>
                      </a:moveTo>
                      <a:lnTo>
                        <a:pt x="83" y="450"/>
                      </a:lnTo>
                      <a:lnTo>
                        <a:pt x="71" y="0"/>
                      </a:lnTo>
                      <a:lnTo>
                        <a:pt x="0" y="30"/>
                      </a:lnTo>
                      <a:lnTo>
                        <a:pt x="11" y="453"/>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grpSp>
            <p:nvGrpSpPr>
              <p:cNvPr id="19" name="组合 18"/>
              <p:cNvGrpSpPr>
                <a:grpSpLocks noChangeAspect="1"/>
              </p:cNvGrpSpPr>
              <p:nvPr/>
            </p:nvGrpSpPr>
            <p:grpSpPr>
              <a:xfrm>
                <a:off x="4703419" y="5959241"/>
                <a:ext cx="469368" cy="508943"/>
                <a:chOff x="9188451" y="3261106"/>
                <a:chExt cx="798513" cy="844550"/>
              </a:xfrm>
            </p:grpSpPr>
            <p:sp>
              <p:nvSpPr>
                <p:cNvPr id="32" name="Freeform 172"/>
                <p:cNvSpPr>
                  <a:spLocks noEditPoints="1"/>
                </p:cNvSpPr>
                <p:nvPr/>
              </p:nvSpPr>
              <p:spPr bwMode="auto">
                <a:xfrm>
                  <a:off x="9188451" y="3261106"/>
                  <a:ext cx="295275" cy="844550"/>
                </a:xfrm>
                <a:custGeom>
                  <a:avLst/>
                  <a:gdLst>
                    <a:gd name="T0" fmla="*/ 0 w 558"/>
                    <a:gd name="T1" fmla="*/ 208 h 1594"/>
                    <a:gd name="T2" fmla="*/ 69 w 558"/>
                    <a:gd name="T3" fmla="*/ 241 h 1594"/>
                    <a:gd name="T4" fmla="*/ 69 w 558"/>
                    <a:gd name="T5" fmla="*/ 45 h 1594"/>
                    <a:gd name="T6" fmla="*/ 0 w 558"/>
                    <a:gd name="T7" fmla="*/ 79 h 1594"/>
                    <a:gd name="T8" fmla="*/ 0 w 558"/>
                    <a:gd name="T9" fmla="*/ 208 h 1594"/>
                    <a:gd name="T10" fmla="*/ 489 w 558"/>
                    <a:gd name="T11" fmla="*/ 79 h 1594"/>
                    <a:gd name="T12" fmla="*/ 419 w 558"/>
                    <a:gd name="T13" fmla="*/ 45 h 1594"/>
                    <a:gd name="T14" fmla="*/ 419 w 558"/>
                    <a:gd name="T15" fmla="*/ 0 h 1594"/>
                    <a:gd name="T16" fmla="*/ 349 w 558"/>
                    <a:gd name="T17" fmla="*/ 0 h 1594"/>
                    <a:gd name="T18" fmla="*/ 349 w 558"/>
                    <a:gd name="T19" fmla="*/ 1564 h 1594"/>
                    <a:gd name="T20" fmla="*/ 261 w 558"/>
                    <a:gd name="T21" fmla="*/ 1564 h 1594"/>
                    <a:gd name="T22" fmla="*/ 261 w 558"/>
                    <a:gd name="T23" fmla="*/ 1594 h 1594"/>
                    <a:gd name="T24" fmla="*/ 507 w 558"/>
                    <a:gd name="T25" fmla="*/ 1594 h 1594"/>
                    <a:gd name="T26" fmla="*/ 507 w 558"/>
                    <a:gd name="T27" fmla="*/ 1564 h 1594"/>
                    <a:gd name="T28" fmla="*/ 419 w 558"/>
                    <a:gd name="T29" fmla="*/ 1564 h 1594"/>
                    <a:gd name="T30" fmla="*/ 419 w 558"/>
                    <a:gd name="T31" fmla="*/ 1519 h 1594"/>
                    <a:gd name="T32" fmla="*/ 489 w 558"/>
                    <a:gd name="T33" fmla="*/ 1484 h 1594"/>
                    <a:gd name="T34" fmla="*/ 489 w 558"/>
                    <a:gd name="T35" fmla="*/ 1484 h 1594"/>
                    <a:gd name="T36" fmla="*/ 558 w 558"/>
                    <a:gd name="T37" fmla="*/ 1519 h 1594"/>
                    <a:gd name="T38" fmla="*/ 558 w 558"/>
                    <a:gd name="T39" fmla="*/ 1323 h 1594"/>
                    <a:gd name="T40" fmla="*/ 489 w 558"/>
                    <a:gd name="T41" fmla="*/ 1356 h 1594"/>
                    <a:gd name="T42" fmla="*/ 489 w 558"/>
                    <a:gd name="T43" fmla="*/ 1356 h 1594"/>
                    <a:gd name="T44" fmla="*/ 419 w 558"/>
                    <a:gd name="T45" fmla="*/ 1323 h 1594"/>
                    <a:gd name="T46" fmla="*/ 419 w 558"/>
                    <a:gd name="T47" fmla="*/ 241 h 1594"/>
                    <a:gd name="T48" fmla="*/ 489 w 558"/>
                    <a:gd name="T49" fmla="*/ 208 h 1594"/>
                    <a:gd name="T50" fmla="*/ 558 w 558"/>
                    <a:gd name="T51" fmla="*/ 241 h 1594"/>
                    <a:gd name="T52" fmla="*/ 558 w 558"/>
                    <a:gd name="T53" fmla="*/ 45 h 1594"/>
                    <a:gd name="T54" fmla="*/ 489 w 558"/>
                    <a:gd name="T55" fmla="*/ 79 h 1594"/>
                    <a:gd name="T56" fmla="*/ 489 w 558"/>
                    <a:gd name="T57" fmla="*/ 79 h 1594"/>
                    <a:gd name="T58" fmla="*/ 314 w 558"/>
                    <a:gd name="T59" fmla="*/ 1323 h 1594"/>
                    <a:gd name="T60" fmla="*/ 245 w 558"/>
                    <a:gd name="T61" fmla="*/ 1356 h 1594"/>
                    <a:gd name="T62" fmla="*/ 245 w 558"/>
                    <a:gd name="T63" fmla="*/ 1356 h 1594"/>
                    <a:gd name="T64" fmla="*/ 175 w 558"/>
                    <a:gd name="T65" fmla="*/ 1323 h 1594"/>
                    <a:gd name="T66" fmla="*/ 175 w 558"/>
                    <a:gd name="T67" fmla="*/ 241 h 1594"/>
                    <a:gd name="T68" fmla="*/ 245 w 558"/>
                    <a:gd name="T69" fmla="*/ 208 h 1594"/>
                    <a:gd name="T70" fmla="*/ 314 w 558"/>
                    <a:gd name="T71" fmla="*/ 241 h 1594"/>
                    <a:gd name="T72" fmla="*/ 314 w 558"/>
                    <a:gd name="T73" fmla="*/ 45 h 1594"/>
                    <a:gd name="T74" fmla="*/ 245 w 558"/>
                    <a:gd name="T75" fmla="*/ 79 h 1594"/>
                    <a:gd name="T76" fmla="*/ 245 w 558"/>
                    <a:gd name="T77" fmla="*/ 79 h 1594"/>
                    <a:gd name="T78" fmla="*/ 175 w 558"/>
                    <a:gd name="T79" fmla="*/ 45 h 1594"/>
                    <a:gd name="T80" fmla="*/ 175 w 558"/>
                    <a:gd name="T81" fmla="*/ 0 h 1594"/>
                    <a:gd name="T82" fmla="*/ 104 w 558"/>
                    <a:gd name="T83" fmla="*/ 0 h 1594"/>
                    <a:gd name="T84" fmla="*/ 104 w 558"/>
                    <a:gd name="T85" fmla="*/ 1564 h 1594"/>
                    <a:gd name="T86" fmla="*/ 175 w 558"/>
                    <a:gd name="T87" fmla="*/ 1564 h 1594"/>
                    <a:gd name="T88" fmla="*/ 175 w 558"/>
                    <a:gd name="T89" fmla="*/ 1519 h 1594"/>
                    <a:gd name="T90" fmla="*/ 245 w 558"/>
                    <a:gd name="T91" fmla="*/ 1484 h 1594"/>
                    <a:gd name="T92" fmla="*/ 245 w 558"/>
                    <a:gd name="T93" fmla="*/ 1484 h 1594"/>
                    <a:gd name="T94" fmla="*/ 314 w 558"/>
                    <a:gd name="T95" fmla="*/ 1519 h 1594"/>
                    <a:gd name="T96" fmla="*/ 314 w 558"/>
                    <a:gd name="T97" fmla="*/ 1323 h 1594"/>
                    <a:gd name="T98" fmla="*/ 0 w 558"/>
                    <a:gd name="T99" fmla="*/ 1484 h 1594"/>
                    <a:gd name="T100" fmla="*/ 69 w 558"/>
                    <a:gd name="T101" fmla="*/ 1519 h 1594"/>
                    <a:gd name="T102" fmla="*/ 69 w 558"/>
                    <a:gd name="T103" fmla="*/ 1323 h 1594"/>
                    <a:gd name="T104" fmla="*/ 0 w 558"/>
                    <a:gd name="T105" fmla="*/ 1356 h 1594"/>
                    <a:gd name="T106" fmla="*/ 0 w 558"/>
                    <a:gd name="T107" fmla="*/ 1484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58" h="1594">
                      <a:moveTo>
                        <a:pt x="0" y="208"/>
                      </a:moveTo>
                      <a:lnTo>
                        <a:pt x="69" y="241"/>
                      </a:lnTo>
                      <a:lnTo>
                        <a:pt x="69" y="45"/>
                      </a:lnTo>
                      <a:lnTo>
                        <a:pt x="0" y="79"/>
                      </a:lnTo>
                      <a:lnTo>
                        <a:pt x="0" y="208"/>
                      </a:lnTo>
                      <a:close/>
                      <a:moveTo>
                        <a:pt x="489" y="79"/>
                      </a:moveTo>
                      <a:lnTo>
                        <a:pt x="419" y="45"/>
                      </a:lnTo>
                      <a:lnTo>
                        <a:pt x="419" y="0"/>
                      </a:lnTo>
                      <a:lnTo>
                        <a:pt x="349" y="0"/>
                      </a:lnTo>
                      <a:lnTo>
                        <a:pt x="349" y="1564"/>
                      </a:lnTo>
                      <a:lnTo>
                        <a:pt x="261" y="1564"/>
                      </a:lnTo>
                      <a:lnTo>
                        <a:pt x="261" y="1594"/>
                      </a:lnTo>
                      <a:lnTo>
                        <a:pt x="507" y="1594"/>
                      </a:lnTo>
                      <a:lnTo>
                        <a:pt x="507" y="1564"/>
                      </a:lnTo>
                      <a:lnTo>
                        <a:pt x="419" y="1564"/>
                      </a:lnTo>
                      <a:lnTo>
                        <a:pt x="419" y="1519"/>
                      </a:lnTo>
                      <a:lnTo>
                        <a:pt x="489" y="1484"/>
                      </a:lnTo>
                      <a:lnTo>
                        <a:pt x="489" y="1484"/>
                      </a:lnTo>
                      <a:lnTo>
                        <a:pt x="558" y="1519"/>
                      </a:lnTo>
                      <a:lnTo>
                        <a:pt x="558" y="1323"/>
                      </a:lnTo>
                      <a:lnTo>
                        <a:pt x="489" y="1356"/>
                      </a:lnTo>
                      <a:lnTo>
                        <a:pt x="489" y="1356"/>
                      </a:lnTo>
                      <a:lnTo>
                        <a:pt x="419" y="1323"/>
                      </a:lnTo>
                      <a:lnTo>
                        <a:pt x="419" y="241"/>
                      </a:lnTo>
                      <a:lnTo>
                        <a:pt x="489" y="208"/>
                      </a:lnTo>
                      <a:lnTo>
                        <a:pt x="558" y="241"/>
                      </a:lnTo>
                      <a:lnTo>
                        <a:pt x="558" y="45"/>
                      </a:lnTo>
                      <a:lnTo>
                        <a:pt x="489" y="79"/>
                      </a:lnTo>
                      <a:lnTo>
                        <a:pt x="489" y="79"/>
                      </a:lnTo>
                      <a:close/>
                      <a:moveTo>
                        <a:pt x="314" y="1323"/>
                      </a:moveTo>
                      <a:lnTo>
                        <a:pt x="245" y="1356"/>
                      </a:lnTo>
                      <a:lnTo>
                        <a:pt x="245" y="1356"/>
                      </a:lnTo>
                      <a:lnTo>
                        <a:pt x="175" y="1323"/>
                      </a:lnTo>
                      <a:lnTo>
                        <a:pt x="175" y="241"/>
                      </a:lnTo>
                      <a:lnTo>
                        <a:pt x="245" y="208"/>
                      </a:lnTo>
                      <a:lnTo>
                        <a:pt x="314" y="241"/>
                      </a:lnTo>
                      <a:lnTo>
                        <a:pt x="314" y="45"/>
                      </a:lnTo>
                      <a:lnTo>
                        <a:pt x="245" y="79"/>
                      </a:lnTo>
                      <a:lnTo>
                        <a:pt x="245" y="79"/>
                      </a:lnTo>
                      <a:lnTo>
                        <a:pt x="175" y="45"/>
                      </a:lnTo>
                      <a:lnTo>
                        <a:pt x="175" y="0"/>
                      </a:lnTo>
                      <a:lnTo>
                        <a:pt x="104" y="0"/>
                      </a:lnTo>
                      <a:lnTo>
                        <a:pt x="104" y="1564"/>
                      </a:lnTo>
                      <a:lnTo>
                        <a:pt x="175" y="1564"/>
                      </a:lnTo>
                      <a:lnTo>
                        <a:pt x="175" y="1519"/>
                      </a:lnTo>
                      <a:lnTo>
                        <a:pt x="245" y="1484"/>
                      </a:lnTo>
                      <a:lnTo>
                        <a:pt x="245" y="1484"/>
                      </a:lnTo>
                      <a:lnTo>
                        <a:pt x="314" y="1519"/>
                      </a:lnTo>
                      <a:lnTo>
                        <a:pt x="314" y="1323"/>
                      </a:lnTo>
                      <a:close/>
                      <a:moveTo>
                        <a:pt x="0" y="1484"/>
                      </a:moveTo>
                      <a:lnTo>
                        <a:pt x="69" y="1519"/>
                      </a:lnTo>
                      <a:lnTo>
                        <a:pt x="69" y="1323"/>
                      </a:lnTo>
                      <a:lnTo>
                        <a:pt x="0" y="1356"/>
                      </a:lnTo>
                      <a:lnTo>
                        <a:pt x="0" y="148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3" name="Freeform 173"/>
                <p:cNvSpPr>
                  <a:spLocks noEditPoints="1"/>
                </p:cNvSpPr>
                <p:nvPr/>
              </p:nvSpPr>
              <p:spPr bwMode="auto">
                <a:xfrm>
                  <a:off x="9502776" y="3261106"/>
                  <a:ext cx="241300" cy="844550"/>
                </a:xfrm>
                <a:custGeom>
                  <a:avLst/>
                  <a:gdLst>
                    <a:gd name="T0" fmla="*/ 385 w 455"/>
                    <a:gd name="T1" fmla="*/ 79 h 1594"/>
                    <a:gd name="T2" fmla="*/ 316 w 455"/>
                    <a:gd name="T3" fmla="*/ 45 h 1594"/>
                    <a:gd name="T4" fmla="*/ 316 w 455"/>
                    <a:gd name="T5" fmla="*/ 0 h 1594"/>
                    <a:gd name="T6" fmla="*/ 245 w 455"/>
                    <a:gd name="T7" fmla="*/ 0 h 1594"/>
                    <a:gd name="T8" fmla="*/ 245 w 455"/>
                    <a:gd name="T9" fmla="*/ 1564 h 1594"/>
                    <a:gd name="T10" fmla="*/ 157 w 455"/>
                    <a:gd name="T11" fmla="*/ 1564 h 1594"/>
                    <a:gd name="T12" fmla="*/ 157 w 455"/>
                    <a:gd name="T13" fmla="*/ 1594 h 1594"/>
                    <a:gd name="T14" fmla="*/ 403 w 455"/>
                    <a:gd name="T15" fmla="*/ 1594 h 1594"/>
                    <a:gd name="T16" fmla="*/ 403 w 455"/>
                    <a:gd name="T17" fmla="*/ 1564 h 1594"/>
                    <a:gd name="T18" fmla="*/ 316 w 455"/>
                    <a:gd name="T19" fmla="*/ 1564 h 1594"/>
                    <a:gd name="T20" fmla="*/ 316 w 455"/>
                    <a:gd name="T21" fmla="*/ 1519 h 1594"/>
                    <a:gd name="T22" fmla="*/ 385 w 455"/>
                    <a:gd name="T23" fmla="*/ 1484 h 1594"/>
                    <a:gd name="T24" fmla="*/ 385 w 455"/>
                    <a:gd name="T25" fmla="*/ 1484 h 1594"/>
                    <a:gd name="T26" fmla="*/ 455 w 455"/>
                    <a:gd name="T27" fmla="*/ 1519 h 1594"/>
                    <a:gd name="T28" fmla="*/ 455 w 455"/>
                    <a:gd name="T29" fmla="*/ 1323 h 1594"/>
                    <a:gd name="T30" fmla="*/ 385 w 455"/>
                    <a:gd name="T31" fmla="*/ 1356 h 1594"/>
                    <a:gd name="T32" fmla="*/ 385 w 455"/>
                    <a:gd name="T33" fmla="*/ 1356 h 1594"/>
                    <a:gd name="T34" fmla="*/ 316 w 455"/>
                    <a:gd name="T35" fmla="*/ 1323 h 1594"/>
                    <a:gd name="T36" fmla="*/ 316 w 455"/>
                    <a:gd name="T37" fmla="*/ 241 h 1594"/>
                    <a:gd name="T38" fmla="*/ 385 w 455"/>
                    <a:gd name="T39" fmla="*/ 208 h 1594"/>
                    <a:gd name="T40" fmla="*/ 455 w 455"/>
                    <a:gd name="T41" fmla="*/ 241 h 1594"/>
                    <a:gd name="T42" fmla="*/ 455 w 455"/>
                    <a:gd name="T43" fmla="*/ 45 h 1594"/>
                    <a:gd name="T44" fmla="*/ 385 w 455"/>
                    <a:gd name="T45" fmla="*/ 79 h 1594"/>
                    <a:gd name="T46" fmla="*/ 385 w 455"/>
                    <a:gd name="T47" fmla="*/ 79 h 1594"/>
                    <a:gd name="T48" fmla="*/ 211 w 455"/>
                    <a:gd name="T49" fmla="*/ 1323 h 1594"/>
                    <a:gd name="T50" fmla="*/ 140 w 455"/>
                    <a:gd name="T51" fmla="*/ 1356 h 1594"/>
                    <a:gd name="T52" fmla="*/ 140 w 455"/>
                    <a:gd name="T53" fmla="*/ 1356 h 1594"/>
                    <a:gd name="T54" fmla="*/ 70 w 455"/>
                    <a:gd name="T55" fmla="*/ 1323 h 1594"/>
                    <a:gd name="T56" fmla="*/ 70 w 455"/>
                    <a:gd name="T57" fmla="*/ 241 h 1594"/>
                    <a:gd name="T58" fmla="*/ 140 w 455"/>
                    <a:gd name="T59" fmla="*/ 208 h 1594"/>
                    <a:gd name="T60" fmla="*/ 211 w 455"/>
                    <a:gd name="T61" fmla="*/ 241 h 1594"/>
                    <a:gd name="T62" fmla="*/ 211 w 455"/>
                    <a:gd name="T63" fmla="*/ 45 h 1594"/>
                    <a:gd name="T64" fmla="*/ 140 w 455"/>
                    <a:gd name="T65" fmla="*/ 79 h 1594"/>
                    <a:gd name="T66" fmla="*/ 140 w 455"/>
                    <a:gd name="T67" fmla="*/ 79 h 1594"/>
                    <a:gd name="T68" fmla="*/ 70 w 455"/>
                    <a:gd name="T69" fmla="*/ 45 h 1594"/>
                    <a:gd name="T70" fmla="*/ 70 w 455"/>
                    <a:gd name="T71" fmla="*/ 0 h 1594"/>
                    <a:gd name="T72" fmla="*/ 0 w 455"/>
                    <a:gd name="T73" fmla="*/ 0 h 1594"/>
                    <a:gd name="T74" fmla="*/ 0 w 455"/>
                    <a:gd name="T75" fmla="*/ 1564 h 1594"/>
                    <a:gd name="T76" fmla="*/ 70 w 455"/>
                    <a:gd name="T77" fmla="*/ 1564 h 1594"/>
                    <a:gd name="T78" fmla="*/ 70 w 455"/>
                    <a:gd name="T79" fmla="*/ 1519 h 1594"/>
                    <a:gd name="T80" fmla="*/ 140 w 455"/>
                    <a:gd name="T81" fmla="*/ 1484 h 1594"/>
                    <a:gd name="T82" fmla="*/ 140 w 455"/>
                    <a:gd name="T83" fmla="*/ 1484 h 1594"/>
                    <a:gd name="T84" fmla="*/ 211 w 455"/>
                    <a:gd name="T85" fmla="*/ 1519 h 1594"/>
                    <a:gd name="T86" fmla="*/ 211 w 455"/>
                    <a:gd name="T87" fmla="*/ 1323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5" h="1594">
                      <a:moveTo>
                        <a:pt x="385" y="79"/>
                      </a:moveTo>
                      <a:lnTo>
                        <a:pt x="316" y="45"/>
                      </a:lnTo>
                      <a:lnTo>
                        <a:pt x="316" y="0"/>
                      </a:lnTo>
                      <a:lnTo>
                        <a:pt x="245" y="0"/>
                      </a:lnTo>
                      <a:lnTo>
                        <a:pt x="245" y="1564"/>
                      </a:lnTo>
                      <a:lnTo>
                        <a:pt x="157" y="1564"/>
                      </a:lnTo>
                      <a:lnTo>
                        <a:pt x="157" y="1594"/>
                      </a:lnTo>
                      <a:lnTo>
                        <a:pt x="403" y="1594"/>
                      </a:lnTo>
                      <a:lnTo>
                        <a:pt x="403" y="1564"/>
                      </a:lnTo>
                      <a:lnTo>
                        <a:pt x="316" y="1564"/>
                      </a:lnTo>
                      <a:lnTo>
                        <a:pt x="316" y="1519"/>
                      </a:lnTo>
                      <a:lnTo>
                        <a:pt x="385" y="1484"/>
                      </a:lnTo>
                      <a:lnTo>
                        <a:pt x="385" y="1484"/>
                      </a:lnTo>
                      <a:lnTo>
                        <a:pt x="455" y="1519"/>
                      </a:lnTo>
                      <a:lnTo>
                        <a:pt x="455" y="1323"/>
                      </a:lnTo>
                      <a:lnTo>
                        <a:pt x="385" y="1356"/>
                      </a:lnTo>
                      <a:lnTo>
                        <a:pt x="385" y="1356"/>
                      </a:lnTo>
                      <a:lnTo>
                        <a:pt x="316" y="1323"/>
                      </a:lnTo>
                      <a:lnTo>
                        <a:pt x="316" y="241"/>
                      </a:lnTo>
                      <a:lnTo>
                        <a:pt x="385" y="208"/>
                      </a:lnTo>
                      <a:lnTo>
                        <a:pt x="455" y="241"/>
                      </a:lnTo>
                      <a:lnTo>
                        <a:pt x="455" y="45"/>
                      </a:lnTo>
                      <a:lnTo>
                        <a:pt x="385" y="79"/>
                      </a:lnTo>
                      <a:lnTo>
                        <a:pt x="385" y="79"/>
                      </a:lnTo>
                      <a:close/>
                      <a:moveTo>
                        <a:pt x="211" y="1323"/>
                      </a:moveTo>
                      <a:lnTo>
                        <a:pt x="140" y="1356"/>
                      </a:lnTo>
                      <a:lnTo>
                        <a:pt x="140" y="1356"/>
                      </a:lnTo>
                      <a:lnTo>
                        <a:pt x="70" y="1323"/>
                      </a:lnTo>
                      <a:lnTo>
                        <a:pt x="70" y="241"/>
                      </a:lnTo>
                      <a:lnTo>
                        <a:pt x="140" y="208"/>
                      </a:lnTo>
                      <a:lnTo>
                        <a:pt x="211" y="241"/>
                      </a:lnTo>
                      <a:lnTo>
                        <a:pt x="211" y="45"/>
                      </a:lnTo>
                      <a:lnTo>
                        <a:pt x="140" y="79"/>
                      </a:lnTo>
                      <a:lnTo>
                        <a:pt x="140" y="79"/>
                      </a:lnTo>
                      <a:lnTo>
                        <a:pt x="70" y="45"/>
                      </a:lnTo>
                      <a:lnTo>
                        <a:pt x="70" y="0"/>
                      </a:lnTo>
                      <a:lnTo>
                        <a:pt x="0" y="0"/>
                      </a:lnTo>
                      <a:lnTo>
                        <a:pt x="0" y="1564"/>
                      </a:lnTo>
                      <a:lnTo>
                        <a:pt x="70" y="1564"/>
                      </a:lnTo>
                      <a:lnTo>
                        <a:pt x="70" y="1519"/>
                      </a:lnTo>
                      <a:lnTo>
                        <a:pt x="140" y="1484"/>
                      </a:lnTo>
                      <a:lnTo>
                        <a:pt x="140" y="1484"/>
                      </a:lnTo>
                      <a:lnTo>
                        <a:pt x="211" y="1519"/>
                      </a:lnTo>
                      <a:lnTo>
                        <a:pt x="211" y="1323"/>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4" name="Freeform 174"/>
                <p:cNvSpPr/>
                <p:nvPr/>
              </p:nvSpPr>
              <p:spPr bwMode="auto">
                <a:xfrm>
                  <a:off x="9763126" y="3269043"/>
                  <a:ext cx="223838" cy="828675"/>
                </a:xfrm>
                <a:custGeom>
                  <a:avLst/>
                  <a:gdLst>
                    <a:gd name="T0" fmla="*/ 0 w 422"/>
                    <a:gd name="T1" fmla="*/ 0 h 1564"/>
                    <a:gd name="T2" fmla="*/ 351 w 422"/>
                    <a:gd name="T3" fmla="*/ 877 h 1564"/>
                    <a:gd name="T4" fmla="*/ 364 w 422"/>
                    <a:gd name="T5" fmla="*/ 879 h 1564"/>
                    <a:gd name="T6" fmla="*/ 368 w 422"/>
                    <a:gd name="T7" fmla="*/ 884 h 1564"/>
                    <a:gd name="T8" fmla="*/ 364 w 422"/>
                    <a:gd name="T9" fmla="*/ 890 h 1564"/>
                    <a:gd name="T10" fmla="*/ 351 w 422"/>
                    <a:gd name="T11" fmla="*/ 892 h 1564"/>
                    <a:gd name="T12" fmla="*/ 0 w 422"/>
                    <a:gd name="T13" fmla="*/ 909 h 1564"/>
                    <a:gd name="T14" fmla="*/ 0 w 422"/>
                    <a:gd name="T15" fmla="*/ 920 h 1564"/>
                    <a:gd name="T16" fmla="*/ 351 w 422"/>
                    <a:gd name="T17" fmla="*/ 938 h 1564"/>
                    <a:gd name="T18" fmla="*/ 364 w 422"/>
                    <a:gd name="T19" fmla="*/ 939 h 1564"/>
                    <a:gd name="T20" fmla="*/ 368 w 422"/>
                    <a:gd name="T21" fmla="*/ 945 h 1564"/>
                    <a:gd name="T22" fmla="*/ 364 w 422"/>
                    <a:gd name="T23" fmla="*/ 951 h 1564"/>
                    <a:gd name="T24" fmla="*/ 351 w 422"/>
                    <a:gd name="T25" fmla="*/ 952 h 1564"/>
                    <a:gd name="T26" fmla="*/ 0 w 422"/>
                    <a:gd name="T27" fmla="*/ 970 h 1564"/>
                    <a:gd name="T28" fmla="*/ 0 w 422"/>
                    <a:gd name="T29" fmla="*/ 981 h 1564"/>
                    <a:gd name="T30" fmla="*/ 351 w 422"/>
                    <a:gd name="T31" fmla="*/ 999 h 1564"/>
                    <a:gd name="T32" fmla="*/ 364 w 422"/>
                    <a:gd name="T33" fmla="*/ 1000 h 1564"/>
                    <a:gd name="T34" fmla="*/ 368 w 422"/>
                    <a:gd name="T35" fmla="*/ 1006 h 1564"/>
                    <a:gd name="T36" fmla="*/ 364 w 422"/>
                    <a:gd name="T37" fmla="*/ 1010 h 1564"/>
                    <a:gd name="T38" fmla="*/ 351 w 422"/>
                    <a:gd name="T39" fmla="*/ 1013 h 1564"/>
                    <a:gd name="T40" fmla="*/ 0 w 422"/>
                    <a:gd name="T41" fmla="*/ 1031 h 1564"/>
                    <a:gd name="T42" fmla="*/ 0 w 422"/>
                    <a:gd name="T43" fmla="*/ 1041 h 1564"/>
                    <a:gd name="T44" fmla="*/ 351 w 422"/>
                    <a:gd name="T45" fmla="*/ 1059 h 1564"/>
                    <a:gd name="T46" fmla="*/ 364 w 422"/>
                    <a:gd name="T47" fmla="*/ 1060 h 1564"/>
                    <a:gd name="T48" fmla="*/ 368 w 422"/>
                    <a:gd name="T49" fmla="*/ 1066 h 1564"/>
                    <a:gd name="T50" fmla="*/ 364 w 422"/>
                    <a:gd name="T51" fmla="*/ 1071 h 1564"/>
                    <a:gd name="T52" fmla="*/ 351 w 422"/>
                    <a:gd name="T53" fmla="*/ 1073 h 1564"/>
                    <a:gd name="T54" fmla="*/ 0 w 422"/>
                    <a:gd name="T55" fmla="*/ 1091 h 1564"/>
                    <a:gd name="T56" fmla="*/ 0 w 422"/>
                    <a:gd name="T57" fmla="*/ 1102 h 1564"/>
                    <a:gd name="T58" fmla="*/ 351 w 422"/>
                    <a:gd name="T59" fmla="*/ 1120 h 1564"/>
                    <a:gd name="T60" fmla="*/ 364 w 422"/>
                    <a:gd name="T61" fmla="*/ 1121 h 1564"/>
                    <a:gd name="T62" fmla="*/ 368 w 422"/>
                    <a:gd name="T63" fmla="*/ 1127 h 1564"/>
                    <a:gd name="T64" fmla="*/ 364 w 422"/>
                    <a:gd name="T65" fmla="*/ 1132 h 1564"/>
                    <a:gd name="T66" fmla="*/ 351 w 422"/>
                    <a:gd name="T67" fmla="*/ 1134 h 1564"/>
                    <a:gd name="T68" fmla="*/ 0 w 422"/>
                    <a:gd name="T69" fmla="*/ 1141 h 1564"/>
                    <a:gd name="T70" fmla="*/ 0 w 422"/>
                    <a:gd name="T71" fmla="*/ 1188 h 1564"/>
                    <a:gd name="T72" fmla="*/ 0 w 422"/>
                    <a:gd name="T73" fmla="*/ 1287 h 1564"/>
                    <a:gd name="T74" fmla="*/ 0 w 422"/>
                    <a:gd name="T75" fmla="*/ 1453 h 1564"/>
                    <a:gd name="T76" fmla="*/ 113 w 422"/>
                    <a:gd name="T77" fmla="*/ 1563 h 1564"/>
                    <a:gd name="T78" fmla="*/ 140 w 422"/>
                    <a:gd name="T79" fmla="*/ 1564 h 1564"/>
                    <a:gd name="T80" fmla="*/ 295 w 422"/>
                    <a:gd name="T81" fmla="*/ 1563 h 1564"/>
                    <a:gd name="T82" fmla="*/ 322 w 422"/>
                    <a:gd name="T83" fmla="*/ 1561 h 1564"/>
                    <a:gd name="T84" fmla="*/ 348 w 422"/>
                    <a:gd name="T85" fmla="*/ 1557 h 1564"/>
                    <a:gd name="T86" fmla="*/ 370 w 422"/>
                    <a:gd name="T87" fmla="*/ 1550 h 1564"/>
                    <a:gd name="T88" fmla="*/ 390 w 422"/>
                    <a:gd name="T89" fmla="*/ 1542 h 1564"/>
                    <a:gd name="T90" fmla="*/ 404 w 422"/>
                    <a:gd name="T91" fmla="*/ 1532 h 1564"/>
                    <a:gd name="T92" fmla="*/ 415 w 422"/>
                    <a:gd name="T93" fmla="*/ 1521 h 1564"/>
                    <a:gd name="T94" fmla="*/ 421 w 422"/>
                    <a:gd name="T95" fmla="*/ 1510 h 1564"/>
                    <a:gd name="T96" fmla="*/ 422 w 422"/>
                    <a:gd name="T97" fmla="*/ 61 h 1564"/>
                    <a:gd name="T98" fmla="*/ 418 w 422"/>
                    <a:gd name="T99" fmla="*/ 49 h 1564"/>
                    <a:gd name="T100" fmla="*/ 410 w 422"/>
                    <a:gd name="T101" fmla="*/ 37 h 1564"/>
                    <a:gd name="T102" fmla="*/ 397 w 422"/>
                    <a:gd name="T103" fmla="*/ 26 h 1564"/>
                    <a:gd name="T104" fmla="*/ 380 w 422"/>
                    <a:gd name="T105" fmla="*/ 18 h 1564"/>
                    <a:gd name="T106" fmla="*/ 359 w 422"/>
                    <a:gd name="T107" fmla="*/ 11 h 1564"/>
                    <a:gd name="T108" fmla="*/ 335 w 422"/>
                    <a:gd name="T109" fmla="*/ 5 h 1564"/>
                    <a:gd name="T110" fmla="*/ 309 w 422"/>
                    <a:gd name="T111" fmla="*/ 1 h 1564"/>
                    <a:gd name="T112" fmla="*/ 280 w 422"/>
                    <a:gd name="T113" fmla="*/ 0 h 1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2" h="1564">
                      <a:moveTo>
                        <a:pt x="280" y="0"/>
                      </a:moveTo>
                      <a:lnTo>
                        <a:pt x="0" y="0"/>
                      </a:lnTo>
                      <a:lnTo>
                        <a:pt x="0" y="877"/>
                      </a:lnTo>
                      <a:lnTo>
                        <a:pt x="351" y="877"/>
                      </a:lnTo>
                      <a:lnTo>
                        <a:pt x="358" y="877"/>
                      </a:lnTo>
                      <a:lnTo>
                        <a:pt x="364" y="879"/>
                      </a:lnTo>
                      <a:lnTo>
                        <a:pt x="367" y="882"/>
                      </a:lnTo>
                      <a:lnTo>
                        <a:pt x="368" y="884"/>
                      </a:lnTo>
                      <a:lnTo>
                        <a:pt x="367" y="887"/>
                      </a:lnTo>
                      <a:lnTo>
                        <a:pt x="364" y="890"/>
                      </a:lnTo>
                      <a:lnTo>
                        <a:pt x="358" y="892"/>
                      </a:lnTo>
                      <a:lnTo>
                        <a:pt x="351" y="892"/>
                      </a:lnTo>
                      <a:lnTo>
                        <a:pt x="0" y="892"/>
                      </a:lnTo>
                      <a:lnTo>
                        <a:pt x="0" y="909"/>
                      </a:lnTo>
                      <a:lnTo>
                        <a:pt x="0" y="915"/>
                      </a:lnTo>
                      <a:lnTo>
                        <a:pt x="0" y="920"/>
                      </a:lnTo>
                      <a:lnTo>
                        <a:pt x="0" y="938"/>
                      </a:lnTo>
                      <a:lnTo>
                        <a:pt x="351" y="938"/>
                      </a:lnTo>
                      <a:lnTo>
                        <a:pt x="358" y="938"/>
                      </a:lnTo>
                      <a:lnTo>
                        <a:pt x="364" y="939"/>
                      </a:lnTo>
                      <a:lnTo>
                        <a:pt x="367" y="943"/>
                      </a:lnTo>
                      <a:lnTo>
                        <a:pt x="368" y="945"/>
                      </a:lnTo>
                      <a:lnTo>
                        <a:pt x="367" y="947"/>
                      </a:lnTo>
                      <a:lnTo>
                        <a:pt x="364" y="951"/>
                      </a:lnTo>
                      <a:lnTo>
                        <a:pt x="358" y="952"/>
                      </a:lnTo>
                      <a:lnTo>
                        <a:pt x="351" y="952"/>
                      </a:lnTo>
                      <a:lnTo>
                        <a:pt x="0" y="952"/>
                      </a:lnTo>
                      <a:lnTo>
                        <a:pt x="0" y="970"/>
                      </a:lnTo>
                      <a:lnTo>
                        <a:pt x="0" y="975"/>
                      </a:lnTo>
                      <a:lnTo>
                        <a:pt x="0" y="981"/>
                      </a:lnTo>
                      <a:lnTo>
                        <a:pt x="0" y="999"/>
                      </a:lnTo>
                      <a:lnTo>
                        <a:pt x="351" y="999"/>
                      </a:lnTo>
                      <a:lnTo>
                        <a:pt x="358" y="999"/>
                      </a:lnTo>
                      <a:lnTo>
                        <a:pt x="364" y="1000"/>
                      </a:lnTo>
                      <a:lnTo>
                        <a:pt x="367" y="1003"/>
                      </a:lnTo>
                      <a:lnTo>
                        <a:pt x="368" y="1006"/>
                      </a:lnTo>
                      <a:lnTo>
                        <a:pt x="367" y="1008"/>
                      </a:lnTo>
                      <a:lnTo>
                        <a:pt x="364" y="1010"/>
                      </a:lnTo>
                      <a:lnTo>
                        <a:pt x="358" y="1013"/>
                      </a:lnTo>
                      <a:lnTo>
                        <a:pt x="351" y="1013"/>
                      </a:lnTo>
                      <a:lnTo>
                        <a:pt x="0" y="1013"/>
                      </a:lnTo>
                      <a:lnTo>
                        <a:pt x="0" y="1031"/>
                      </a:lnTo>
                      <a:lnTo>
                        <a:pt x="0" y="1035"/>
                      </a:lnTo>
                      <a:lnTo>
                        <a:pt x="0" y="1041"/>
                      </a:lnTo>
                      <a:lnTo>
                        <a:pt x="0" y="1059"/>
                      </a:lnTo>
                      <a:lnTo>
                        <a:pt x="351" y="1059"/>
                      </a:lnTo>
                      <a:lnTo>
                        <a:pt x="358" y="1059"/>
                      </a:lnTo>
                      <a:lnTo>
                        <a:pt x="364" y="1060"/>
                      </a:lnTo>
                      <a:lnTo>
                        <a:pt x="367" y="1064"/>
                      </a:lnTo>
                      <a:lnTo>
                        <a:pt x="368" y="1066"/>
                      </a:lnTo>
                      <a:lnTo>
                        <a:pt x="367" y="1069"/>
                      </a:lnTo>
                      <a:lnTo>
                        <a:pt x="364" y="1071"/>
                      </a:lnTo>
                      <a:lnTo>
                        <a:pt x="358" y="1073"/>
                      </a:lnTo>
                      <a:lnTo>
                        <a:pt x="351" y="1073"/>
                      </a:lnTo>
                      <a:lnTo>
                        <a:pt x="0" y="1073"/>
                      </a:lnTo>
                      <a:lnTo>
                        <a:pt x="0" y="1091"/>
                      </a:lnTo>
                      <a:lnTo>
                        <a:pt x="0" y="1096"/>
                      </a:lnTo>
                      <a:lnTo>
                        <a:pt x="0" y="1102"/>
                      </a:lnTo>
                      <a:lnTo>
                        <a:pt x="0" y="1120"/>
                      </a:lnTo>
                      <a:lnTo>
                        <a:pt x="351" y="1120"/>
                      </a:lnTo>
                      <a:lnTo>
                        <a:pt x="358" y="1120"/>
                      </a:lnTo>
                      <a:lnTo>
                        <a:pt x="364" y="1121"/>
                      </a:lnTo>
                      <a:lnTo>
                        <a:pt x="367" y="1123"/>
                      </a:lnTo>
                      <a:lnTo>
                        <a:pt x="368" y="1127"/>
                      </a:lnTo>
                      <a:lnTo>
                        <a:pt x="367" y="1129"/>
                      </a:lnTo>
                      <a:lnTo>
                        <a:pt x="364" y="1132"/>
                      </a:lnTo>
                      <a:lnTo>
                        <a:pt x="358" y="1134"/>
                      </a:lnTo>
                      <a:lnTo>
                        <a:pt x="351" y="1134"/>
                      </a:lnTo>
                      <a:lnTo>
                        <a:pt x="0" y="1134"/>
                      </a:lnTo>
                      <a:lnTo>
                        <a:pt x="0" y="1141"/>
                      </a:lnTo>
                      <a:lnTo>
                        <a:pt x="0" y="1158"/>
                      </a:lnTo>
                      <a:lnTo>
                        <a:pt x="0" y="1188"/>
                      </a:lnTo>
                      <a:lnTo>
                        <a:pt x="0" y="1229"/>
                      </a:lnTo>
                      <a:lnTo>
                        <a:pt x="0" y="1287"/>
                      </a:lnTo>
                      <a:lnTo>
                        <a:pt x="0" y="1361"/>
                      </a:lnTo>
                      <a:lnTo>
                        <a:pt x="0" y="1453"/>
                      </a:lnTo>
                      <a:lnTo>
                        <a:pt x="0" y="1563"/>
                      </a:lnTo>
                      <a:lnTo>
                        <a:pt x="113" y="1563"/>
                      </a:lnTo>
                      <a:lnTo>
                        <a:pt x="127" y="1563"/>
                      </a:lnTo>
                      <a:lnTo>
                        <a:pt x="140" y="1564"/>
                      </a:lnTo>
                      <a:lnTo>
                        <a:pt x="280" y="1564"/>
                      </a:lnTo>
                      <a:lnTo>
                        <a:pt x="295" y="1563"/>
                      </a:lnTo>
                      <a:lnTo>
                        <a:pt x="309" y="1563"/>
                      </a:lnTo>
                      <a:lnTo>
                        <a:pt x="322" y="1561"/>
                      </a:lnTo>
                      <a:lnTo>
                        <a:pt x="335" y="1560"/>
                      </a:lnTo>
                      <a:lnTo>
                        <a:pt x="348" y="1557"/>
                      </a:lnTo>
                      <a:lnTo>
                        <a:pt x="359" y="1554"/>
                      </a:lnTo>
                      <a:lnTo>
                        <a:pt x="370" y="1550"/>
                      </a:lnTo>
                      <a:lnTo>
                        <a:pt x="380" y="1546"/>
                      </a:lnTo>
                      <a:lnTo>
                        <a:pt x="390" y="1542"/>
                      </a:lnTo>
                      <a:lnTo>
                        <a:pt x="397" y="1537"/>
                      </a:lnTo>
                      <a:lnTo>
                        <a:pt x="404" y="1532"/>
                      </a:lnTo>
                      <a:lnTo>
                        <a:pt x="410" y="1526"/>
                      </a:lnTo>
                      <a:lnTo>
                        <a:pt x="415" y="1521"/>
                      </a:lnTo>
                      <a:lnTo>
                        <a:pt x="418" y="1516"/>
                      </a:lnTo>
                      <a:lnTo>
                        <a:pt x="421" y="1510"/>
                      </a:lnTo>
                      <a:lnTo>
                        <a:pt x="422" y="1504"/>
                      </a:lnTo>
                      <a:lnTo>
                        <a:pt x="422" y="61"/>
                      </a:lnTo>
                      <a:lnTo>
                        <a:pt x="421" y="55"/>
                      </a:lnTo>
                      <a:lnTo>
                        <a:pt x="418" y="49"/>
                      </a:lnTo>
                      <a:lnTo>
                        <a:pt x="415" y="43"/>
                      </a:lnTo>
                      <a:lnTo>
                        <a:pt x="410" y="37"/>
                      </a:lnTo>
                      <a:lnTo>
                        <a:pt x="404" y="32"/>
                      </a:lnTo>
                      <a:lnTo>
                        <a:pt x="397" y="26"/>
                      </a:lnTo>
                      <a:lnTo>
                        <a:pt x="390" y="22"/>
                      </a:lnTo>
                      <a:lnTo>
                        <a:pt x="380" y="18"/>
                      </a:lnTo>
                      <a:lnTo>
                        <a:pt x="370" y="13"/>
                      </a:lnTo>
                      <a:lnTo>
                        <a:pt x="359" y="11"/>
                      </a:lnTo>
                      <a:lnTo>
                        <a:pt x="348" y="7"/>
                      </a:lnTo>
                      <a:lnTo>
                        <a:pt x="335" y="5"/>
                      </a:lnTo>
                      <a:lnTo>
                        <a:pt x="322" y="3"/>
                      </a:lnTo>
                      <a:lnTo>
                        <a:pt x="309" y="1"/>
                      </a:lnTo>
                      <a:lnTo>
                        <a:pt x="295" y="0"/>
                      </a:lnTo>
                      <a:lnTo>
                        <a:pt x="280" y="0"/>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grpSp>
            <p:nvGrpSpPr>
              <p:cNvPr id="20" name="组合 19"/>
              <p:cNvGrpSpPr>
                <a:grpSpLocks noChangeAspect="1"/>
              </p:cNvGrpSpPr>
              <p:nvPr/>
            </p:nvGrpSpPr>
            <p:grpSpPr>
              <a:xfrm>
                <a:off x="2513163" y="5959241"/>
                <a:ext cx="351984" cy="508943"/>
                <a:chOff x="10963276" y="3208718"/>
                <a:chExt cx="673101" cy="949325"/>
              </a:xfrm>
            </p:grpSpPr>
            <p:sp>
              <p:nvSpPr>
                <p:cNvPr id="30" name="Freeform 175"/>
                <p:cNvSpPr>
                  <a:spLocks noEditPoints="1"/>
                </p:cNvSpPr>
                <p:nvPr/>
              </p:nvSpPr>
              <p:spPr bwMode="auto">
                <a:xfrm>
                  <a:off x="11383964" y="3208718"/>
                  <a:ext cx="252413" cy="949325"/>
                </a:xfrm>
                <a:custGeom>
                  <a:avLst/>
                  <a:gdLst>
                    <a:gd name="T0" fmla="*/ 180 w 475"/>
                    <a:gd name="T1" fmla="*/ 298 h 1793"/>
                    <a:gd name="T2" fmla="*/ 78 w 475"/>
                    <a:gd name="T3" fmla="*/ 414 h 1793"/>
                    <a:gd name="T4" fmla="*/ 104 w 475"/>
                    <a:gd name="T5" fmla="*/ 379 h 1793"/>
                    <a:gd name="T6" fmla="*/ 363 w 475"/>
                    <a:gd name="T7" fmla="*/ 414 h 1793"/>
                    <a:gd name="T8" fmla="*/ 336 w 475"/>
                    <a:gd name="T9" fmla="*/ 379 h 1793"/>
                    <a:gd name="T10" fmla="*/ 234 w 475"/>
                    <a:gd name="T11" fmla="*/ 414 h 1793"/>
                    <a:gd name="T12" fmla="*/ 206 w 475"/>
                    <a:gd name="T13" fmla="*/ 379 h 1793"/>
                    <a:gd name="T14" fmla="*/ 132 w 475"/>
                    <a:gd name="T15" fmla="*/ 528 h 1793"/>
                    <a:gd name="T16" fmla="*/ 51 w 475"/>
                    <a:gd name="T17" fmla="*/ 494 h 1793"/>
                    <a:gd name="T18" fmla="*/ 416 w 475"/>
                    <a:gd name="T19" fmla="*/ 528 h 1793"/>
                    <a:gd name="T20" fmla="*/ 310 w 475"/>
                    <a:gd name="T21" fmla="*/ 494 h 1793"/>
                    <a:gd name="T22" fmla="*/ 158 w 475"/>
                    <a:gd name="T23" fmla="*/ 642 h 1793"/>
                    <a:gd name="T24" fmla="*/ 310 w 475"/>
                    <a:gd name="T25" fmla="*/ 608 h 1793"/>
                    <a:gd name="T26" fmla="*/ 416 w 475"/>
                    <a:gd name="T27" fmla="*/ 625 h 1793"/>
                    <a:gd name="T28" fmla="*/ 180 w 475"/>
                    <a:gd name="T29" fmla="*/ 608 h 1793"/>
                    <a:gd name="T30" fmla="*/ 286 w 475"/>
                    <a:gd name="T31" fmla="*/ 625 h 1793"/>
                    <a:gd name="T32" fmla="*/ 51 w 475"/>
                    <a:gd name="T33" fmla="*/ 739 h 1793"/>
                    <a:gd name="T34" fmla="*/ 158 w 475"/>
                    <a:gd name="T35" fmla="*/ 723 h 1793"/>
                    <a:gd name="T36" fmla="*/ 180 w 475"/>
                    <a:gd name="T37" fmla="*/ 739 h 1793"/>
                    <a:gd name="T38" fmla="*/ 286 w 475"/>
                    <a:gd name="T39" fmla="*/ 723 h 1793"/>
                    <a:gd name="T40" fmla="*/ 51 w 475"/>
                    <a:gd name="T41" fmla="*/ 854 h 1793"/>
                    <a:gd name="T42" fmla="*/ 158 w 475"/>
                    <a:gd name="T43" fmla="*/ 838 h 1793"/>
                    <a:gd name="T44" fmla="*/ 310 w 475"/>
                    <a:gd name="T45" fmla="*/ 871 h 1793"/>
                    <a:gd name="T46" fmla="*/ 389 w 475"/>
                    <a:gd name="T47" fmla="*/ 838 h 1793"/>
                    <a:gd name="T48" fmla="*/ 180 w 475"/>
                    <a:gd name="T49" fmla="*/ 871 h 1793"/>
                    <a:gd name="T50" fmla="*/ 260 w 475"/>
                    <a:gd name="T51" fmla="*/ 838 h 1793"/>
                    <a:gd name="T52" fmla="*/ 78 w 475"/>
                    <a:gd name="T53" fmla="*/ 985 h 1793"/>
                    <a:gd name="T54" fmla="*/ 104 w 475"/>
                    <a:gd name="T55" fmla="*/ 952 h 1793"/>
                    <a:gd name="T56" fmla="*/ 206 w 475"/>
                    <a:gd name="T57" fmla="*/ 985 h 1793"/>
                    <a:gd name="T58" fmla="*/ 234 w 475"/>
                    <a:gd name="T59" fmla="*/ 952 h 1793"/>
                    <a:gd name="T60" fmla="*/ 78 w 475"/>
                    <a:gd name="T61" fmla="*/ 1099 h 1793"/>
                    <a:gd name="T62" fmla="*/ 104 w 475"/>
                    <a:gd name="T63" fmla="*/ 1066 h 1793"/>
                    <a:gd name="T64" fmla="*/ 363 w 475"/>
                    <a:gd name="T65" fmla="*/ 1099 h 1793"/>
                    <a:gd name="T66" fmla="*/ 336 w 475"/>
                    <a:gd name="T67" fmla="*/ 1066 h 1793"/>
                    <a:gd name="T68" fmla="*/ 234 w 475"/>
                    <a:gd name="T69" fmla="*/ 1099 h 1793"/>
                    <a:gd name="T70" fmla="*/ 206 w 475"/>
                    <a:gd name="T71" fmla="*/ 1066 h 1793"/>
                    <a:gd name="T72" fmla="*/ 132 w 475"/>
                    <a:gd name="T73" fmla="*/ 1215 h 1793"/>
                    <a:gd name="T74" fmla="*/ 51 w 475"/>
                    <a:gd name="T75" fmla="*/ 1180 h 1793"/>
                    <a:gd name="T76" fmla="*/ 389 w 475"/>
                    <a:gd name="T77" fmla="*/ 1215 h 1793"/>
                    <a:gd name="T78" fmla="*/ 310 w 475"/>
                    <a:gd name="T79" fmla="*/ 1180 h 1793"/>
                    <a:gd name="T80" fmla="*/ 132 w 475"/>
                    <a:gd name="T81" fmla="*/ 1329 h 1793"/>
                    <a:gd name="T82" fmla="*/ 51 w 475"/>
                    <a:gd name="T83" fmla="*/ 1295 h 1793"/>
                    <a:gd name="T84" fmla="*/ 416 w 475"/>
                    <a:gd name="T85" fmla="*/ 1329 h 1793"/>
                    <a:gd name="T86" fmla="*/ 310 w 475"/>
                    <a:gd name="T87" fmla="*/ 1295 h 1793"/>
                    <a:gd name="T88" fmla="*/ 286 w 475"/>
                    <a:gd name="T89" fmla="*/ 1329 h 1793"/>
                    <a:gd name="T90" fmla="*/ 310 w 475"/>
                    <a:gd name="T91" fmla="*/ 1410 h 1793"/>
                    <a:gd name="T92" fmla="*/ 416 w 475"/>
                    <a:gd name="T93" fmla="*/ 1426 h 1793"/>
                    <a:gd name="T94" fmla="*/ 180 w 475"/>
                    <a:gd name="T95" fmla="*/ 1410 h 1793"/>
                    <a:gd name="T96" fmla="*/ 286 w 475"/>
                    <a:gd name="T97" fmla="*/ 1426 h 1793"/>
                    <a:gd name="T98" fmla="*/ 310 w 475"/>
                    <a:gd name="T99" fmla="*/ 1540 h 1793"/>
                    <a:gd name="T100" fmla="*/ 416 w 475"/>
                    <a:gd name="T101" fmla="*/ 1524 h 1793"/>
                    <a:gd name="T102" fmla="*/ 180 w 475"/>
                    <a:gd name="T103" fmla="*/ 1540 h 1793"/>
                    <a:gd name="T104" fmla="*/ 286 w 475"/>
                    <a:gd name="T105" fmla="*/ 1524 h 1793"/>
                    <a:gd name="T106" fmla="*/ 51 w 475"/>
                    <a:gd name="T107" fmla="*/ 1672 h 1793"/>
                    <a:gd name="T108" fmla="*/ 416 w 475"/>
                    <a:gd name="T109" fmla="*/ 1639 h 1793"/>
                    <a:gd name="T110" fmla="*/ 0 w 475"/>
                    <a:gd name="T111" fmla="*/ 5 h 1793"/>
                    <a:gd name="T112" fmla="*/ 0 w 475"/>
                    <a:gd name="T113" fmla="*/ 1793 h 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5" h="1793">
                      <a:moveTo>
                        <a:pt x="310" y="265"/>
                      </a:moveTo>
                      <a:lnTo>
                        <a:pt x="310" y="298"/>
                      </a:lnTo>
                      <a:lnTo>
                        <a:pt x="416" y="298"/>
                      </a:lnTo>
                      <a:lnTo>
                        <a:pt x="416" y="265"/>
                      </a:lnTo>
                      <a:lnTo>
                        <a:pt x="310" y="265"/>
                      </a:lnTo>
                      <a:close/>
                      <a:moveTo>
                        <a:pt x="180" y="265"/>
                      </a:moveTo>
                      <a:lnTo>
                        <a:pt x="180" y="298"/>
                      </a:lnTo>
                      <a:lnTo>
                        <a:pt x="286" y="298"/>
                      </a:lnTo>
                      <a:lnTo>
                        <a:pt x="286" y="265"/>
                      </a:lnTo>
                      <a:lnTo>
                        <a:pt x="180" y="265"/>
                      </a:lnTo>
                      <a:close/>
                      <a:moveTo>
                        <a:pt x="51" y="379"/>
                      </a:moveTo>
                      <a:lnTo>
                        <a:pt x="51" y="397"/>
                      </a:lnTo>
                      <a:lnTo>
                        <a:pt x="51" y="414"/>
                      </a:lnTo>
                      <a:lnTo>
                        <a:pt x="78" y="414"/>
                      </a:lnTo>
                      <a:lnTo>
                        <a:pt x="104" y="414"/>
                      </a:lnTo>
                      <a:lnTo>
                        <a:pt x="132" y="414"/>
                      </a:lnTo>
                      <a:lnTo>
                        <a:pt x="158" y="414"/>
                      </a:lnTo>
                      <a:lnTo>
                        <a:pt x="158" y="397"/>
                      </a:lnTo>
                      <a:lnTo>
                        <a:pt x="158" y="379"/>
                      </a:lnTo>
                      <a:lnTo>
                        <a:pt x="132" y="379"/>
                      </a:lnTo>
                      <a:lnTo>
                        <a:pt x="104" y="379"/>
                      </a:lnTo>
                      <a:lnTo>
                        <a:pt x="78" y="379"/>
                      </a:lnTo>
                      <a:lnTo>
                        <a:pt x="51" y="379"/>
                      </a:lnTo>
                      <a:close/>
                      <a:moveTo>
                        <a:pt x="310" y="379"/>
                      </a:moveTo>
                      <a:lnTo>
                        <a:pt x="310" y="397"/>
                      </a:lnTo>
                      <a:lnTo>
                        <a:pt x="310" y="414"/>
                      </a:lnTo>
                      <a:lnTo>
                        <a:pt x="336" y="414"/>
                      </a:lnTo>
                      <a:lnTo>
                        <a:pt x="363" y="414"/>
                      </a:lnTo>
                      <a:lnTo>
                        <a:pt x="389" y="414"/>
                      </a:lnTo>
                      <a:lnTo>
                        <a:pt x="416" y="414"/>
                      </a:lnTo>
                      <a:lnTo>
                        <a:pt x="416" y="397"/>
                      </a:lnTo>
                      <a:lnTo>
                        <a:pt x="416" y="379"/>
                      </a:lnTo>
                      <a:lnTo>
                        <a:pt x="389" y="379"/>
                      </a:lnTo>
                      <a:lnTo>
                        <a:pt x="363" y="379"/>
                      </a:lnTo>
                      <a:lnTo>
                        <a:pt x="336" y="379"/>
                      </a:lnTo>
                      <a:lnTo>
                        <a:pt x="310" y="379"/>
                      </a:lnTo>
                      <a:lnTo>
                        <a:pt x="310" y="379"/>
                      </a:lnTo>
                      <a:close/>
                      <a:moveTo>
                        <a:pt x="180" y="379"/>
                      </a:moveTo>
                      <a:lnTo>
                        <a:pt x="180" y="397"/>
                      </a:lnTo>
                      <a:lnTo>
                        <a:pt x="180" y="414"/>
                      </a:lnTo>
                      <a:lnTo>
                        <a:pt x="206" y="414"/>
                      </a:lnTo>
                      <a:lnTo>
                        <a:pt x="234" y="414"/>
                      </a:lnTo>
                      <a:lnTo>
                        <a:pt x="260" y="414"/>
                      </a:lnTo>
                      <a:lnTo>
                        <a:pt x="286" y="414"/>
                      </a:lnTo>
                      <a:lnTo>
                        <a:pt x="286" y="397"/>
                      </a:lnTo>
                      <a:lnTo>
                        <a:pt x="286" y="379"/>
                      </a:lnTo>
                      <a:lnTo>
                        <a:pt x="260" y="379"/>
                      </a:lnTo>
                      <a:lnTo>
                        <a:pt x="234" y="379"/>
                      </a:lnTo>
                      <a:lnTo>
                        <a:pt x="206" y="379"/>
                      </a:lnTo>
                      <a:lnTo>
                        <a:pt x="180" y="379"/>
                      </a:lnTo>
                      <a:close/>
                      <a:moveTo>
                        <a:pt x="51" y="494"/>
                      </a:moveTo>
                      <a:lnTo>
                        <a:pt x="51" y="511"/>
                      </a:lnTo>
                      <a:lnTo>
                        <a:pt x="51" y="528"/>
                      </a:lnTo>
                      <a:lnTo>
                        <a:pt x="78" y="528"/>
                      </a:lnTo>
                      <a:lnTo>
                        <a:pt x="104" y="528"/>
                      </a:lnTo>
                      <a:lnTo>
                        <a:pt x="132" y="528"/>
                      </a:lnTo>
                      <a:lnTo>
                        <a:pt x="158" y="528"/>
                      </a:lnTo>
                      <a:lnTo>
                        <a:pt x="158" y="511"/>
                      </a:lnTo>
                      <a:lnTo>
                        <a:pt x="158" y="494"/>
                      </a:lnTo>
                      <a:lnTo>
                        <a:pt x="132" y="494"/>
                      </a:lnTo>
                      <a:lnTo>
                        <a:pt x="104" y="494"/>
                      </a:lnTo>
                      <a:lnTo>
                        <a:pt x="78" y="494"/>
                      </a:lnTo>
                      <a:lnTo>
                        <a:pt x="51" y="494"/>
                      </a:lnTo>
                      <a:close/>
                      <a:moveTo>
                        <a:pt x="310" y="494"/>
                      </a:moveTo>
                      <a:lnTo>
                        <a:pt x="310" y="511"/>
                      </a:lnTo>
                      <a:lnTo>
                        <a:pt x="310" y="528"/>
                      </a:lnTo>
                      <a:lnTo>
                        <a:pt x="336" y="528"/>
                      </a:lnTo>
                      <a:lnTo>
                        <a:pt x="363" y="528"/>
                      </a:lnTo>
                      <a:lnTo>
                        <a:pt x="389" y="528"/>
                      </a:lnTo>
                      <a:lnTo>
                        <a:pt x="416" y="528"/>
                      </a:lnTo>
                      <a:lnTo>
                        <a:pt x="416" y="511"/>
                      </a:lnTo>
                      <a:lnTo>
                        <a:pt x="416" y="494"/>
                      </a:lnTo>
                      <a:lnTo>
                        <a:pt x="389" y="494"/>
                      </a:lnTo>
                      <a:lnTo>
                        <a:pt x="363" y="494"/>
                      </a:lnTo>
                      <a:lnTo>
                        <a:pt x="336" y="494"/>
                      </a:lnTo>
                      <a:lnTo>
                        <a:pt x="310" y="494"/>
                      </a:lnTo>
                      <a:lnTo>
                        <a:pt x="310" y="494"/>
                      </a:lnTo>
                      <a:close/>
                      <a:moveTo>
                        <a:pt x="51" y="608"/>
                      </a:moveTo>
                      <a:lnTo>
                        <a:pt x="51" y="625"/>
                      </a:lnTo>
                      <a:lnTo>
                        <a:pt x="51" y="642"/>
                      </a:lnTo>
                      <a:lnTo>
                        <a:pt x="78" y="642"/>
                      </a:lnTo>
                      <a:lnTo>
                        <a:pt x="104" y="642"/>
                      </a:lnTo>
                      <a:lnTo>
                        <a:pt x="132" y="642"/>
                      </a:lnTo>
                      <a:lnTo>
                        <a:pt x="158" y="642"/>
                      </a:lnTo>
                      <a:lnTo>
                        <a:pt x="158" y="625"/>
                      </a:lnTo>
                      <a:lnTo>
                        <a:pt x="158" y="608"/>
                      </a:lnTo>
                      <a:lnTo>
                        <a:pt x="132" y="608"/>
                      </a:lnTo>
                      <a:lnTo>
                        <a:pt x="104" y="608"/>
                      </a:lnTo>
                      <a:lnTo>
                        <a:pt x="78" y="608"/>
                      </a:lnTo>
                      <a:lnTo>
                        <a:pt x="51" y="608"/>
                      </a:lnTo>
                      <a:close/>
                      <a:moveTo>
                        <a:pt x="310" y="608"/>
                      </a:moveTo>
                      <a:lnTo>
                        <a:pt x="310" y="625"/>
                      </a:lnTo>
                      <a:lnTo>
                        <a:pt x="310" y="642"/>
                      </a:lnTo>
                      <a:lnTo>
                        <a:pt x="336" y="642"/>
                      </a:lnTo>
                      <a:lnTo>
                        <a:pt x="363" y="642"/>
                      </a:lnTo>
                      <a:lnTo>
                        <a:pt x="389" y="642"/>
                      </a:lnTo>
                      <a:lnTo>
                        <a:pt x="416" y="642"/>
                      </a:lnTo>
                      <a:lnTo>
                        <a:pt x="416" y="625"/>
                      </a:lnTo>
                      <a:lnTo>
                        <a:pt x="416" y="608"/>
                      </a:lnTo>
                      <a:lnTo>
                        <a:pt x="389" y="608"/>
                      </a:lnTo>
                      <a:lnTo>
                        <a:pt x="363" y="608"/>
                      </a:lnTo>
                      <a:lnTo>
                        <a:pt x="336" y="608"/>
                      </a:lnTo>
                      <a:lnTo>
                        <a:pt x="310" y="608"/>
                      </a:lnTo>
                      <a:lnTo>
                        <a:pt x="310" y="608"/>
                      </a:lnTo>
                      <a:close/>
                      <a:moveTo>
                        <a:pt x="180" y="608"/>
                      </a:moveTo>
                      <a:lnTo>
                        <a:pt x="180" y="625"/>
                      </a:lnTo>
                      <a:lnTo>
                        <a:pt x="180" y="642"/>
                      </a:lnTo>
                      <a:lnTo>
                        <a:pt x="206" y="642"/>
                      </a:lnTo>
                      <a:lnTo>
                        <a:pt x="234" y="642"/>
                      </a:lnTo>
                      <a:lnTo>
                        <a:pt x="260" y="642"/>
                      </a:lnTo>
                      <a:lnTo>
                        <a:pt x="286" y="642"/>
                      </a:lnTo>
                      <a:lnTo>
                        <a:pt x="286" y="625"/>
                      </a:lnTo>
                      <a:lnTo>
                        <a:pt x="286" y="608"/>
                      </a:lnTo>
                      <a:lnTo>
                        <a:pt x="260" y="608"/>
                      </a:lnTo>
                      <a:lnTo>
                        <a:pt x="234" y="608"/>
                      </a:lnTo>
                      <a:lnTo>
                        <a:pt x="206" y="608"/>
                      </a:lnTo>
                      <a:lnTo>
                        <a:pt x="180" y="608"/>
                      </a:lnTo>
                      <a:close/>
                      <a:moveTo>
                        <a:pt x="51" y="723"/>
                      </a:moveTo>
                      <a:lnTo>
                        <a:pt x="51" y="739"/>
                      </a:lnTo>
                      <a:lnTo>
                        <a:pt x="51" y="757"/>
                      </a:lnTo>
                      <a:lnTo>
                        <a:pt x="78" y="756"/>
                      </a:lnTo>
                      <a:lnTo>
                        <a:pt x="104" y="757"/>
                      </a:lnTo>
                      <a:lnTo>
                        <a:pt x="132" y="757"/>
                      </a:lnTo>
                      <a:lnTo>
                        <a:pt x="158" y="757"/>
                      </a:lnTo>
                      <a:lnTo>
                        <a:pt x="158" y="739"/>
                      </a:lnTo>
                      <a:lnTo>
                        <a:pt x="158" y="723"/>
                      </a:lnTo>
                      <a:lnTo>
                        <a:pt x="132" y="723"/>
                      </a:lnTo>
                      <a:lnTo>
                        <a:pt x="104" y="723"/>
                      </a:lnTo>
                      <a:lnTo>
                        <a:pt x="78" y="723"/>
                      </a:lnTo>
                      <a:lnTo>
                        <a:pt x="51" y="723"/>
                      </a:lnTo>
                      <a:lnTo>
                        <a:pt x="51" y="723"/>
                      </a:lnTo>
                      <a:close/>
                      <a:moveTo>
                        <a:pt x="180" y="723"/>
                      </a:moveTo>
                      <a:lnTo>
                        <a:pt x="180" y="739"/>
                      </a:lnTo>
                      <a:lnTo>
                        <a:pt x="180" y="757"/>
                      </a:lnTo>
                      <a:lnTo>
                        <a:pt x="206" y="756"/>
                      </a:lnTo>
                      <a:lnTo>
                        <a:pt x="234" y="757"/>
                      </a:lnTo>
                      <a:lnTo>
                        <a:pt x="260" y="757"/>
                      </a:lnTo>
                      <a:lnTo>
                        <a:pt x="286" y="757"/>
                      </a:lnTo>
                      <a:lnTo>
                        <a:pt x="286" y="739"/>
                      </a:lnTo>
                      <a:lnTo>
                        <a:pt x="286" y="723"/>
                      </a:lnTo>
                      <a:lnTo>
                        <a:pt x="260" y="723"/>
                      </a:lnTo>
                      <a:lnTo>
                        <a:pt x="234" y="723"/>
                      </a:lnTo>
                      <a:lnTo>
                        <a:pt x="206" y="723"/>
                      </a:lnTo>
                      <a:lnTo>
                        <a:pt x="180" y="723"/>
                      </a:lnTo>
                      <a:lnTo>
                        <a:pt x="180" y="723"/>
                      </a:lnTo>
                      <a:close/>
                      <a:moveTo>
                        <a:pt x="51" y="838"/>
                      </a:moveTo>
                      <a:lnTo>
                        <a:pt x="51" y="854"/>
                      </a:lnTo>
                      <a:lnTo>
                        <a:pt x="51" y="871"/>
                      </a:lnTo>
                      <a:lnTo>
                        <a:pt x="78" y="871"/>
                      </a:lnTo>
                      <a:lnTo>
                        <a:pt x="104" y="871"/>
                      </a:lnTo>
                      <a:lnTo>
                        <a:pt x="132" y="871"/>
                      </a:lnTo>
                      <a:lnTo>
                        <a:pt x="158" y="871"/>
                      </a:lnTo>
                      <a:lnTo>
                        <a:pt x="158" y="854"/>
                      </a:lnTo>
                      <a:lnTo>
                        <a:pt x="158" y="838"/>
                      </a:lnTo>
                      <a:lnTo>
                        <a:pt x="132" y="838"/>
                      </a:lnTo>
                      <a:lnTo>
                        <a:pt x="104" y="838"/>
                      </a:lnTo>
                      <a:lnTo>
                        <a:pt x="78" y="838"/>
                      </a:lnTo>
                      <a:lnTo>
                        <a:pt x="51" y="838"/>
                      </a:lnTo>
                      <a:close/>
                      <a:moveTo>
                        <a:pt x="310" y="838"/>
                      </a:moveTo>
                      <a:lnTo>
                        <a:pt x="310" y="854"/>
                      </a:lnTo>
                      <a:lnTo>
                        <a:pt x="310" y="871"/>
                      </a:lnTo>
                      <a:lnTo>
                        <a:pt x="336" y="871"/>
                      </a:lnTo>
                      <a:lnTo>
                        <a:pt x="363" y="871"/>
                      </a:lnTo>
                      <a:lnTo>
                        <a:pt x="389" y="871"/>
                      </a:lnTo>
                      <a:lnTo>
                        <a:pt x="416" y="871"/>
                      </a:lnTo>
                      <a:lnTo>
                        <a:pt x="416" y="854"/>
                      </a:lnTo>
                      <a:lnTo>
                        <a:pt x="416" y="838"/>
                      </a:lnTo>
                      <a:lnTo>
                        <a:pt x="389" y="838"/>
                      </a:lnTo>
                      <a:lnTo>
                        <a:pt x="363" y="838"/>
                      </a:lnTo>
                      <a:lnTo>
                        <a:pt x="336" y="838"/>
                      </a:lnTo>
                      <a:lnTo>
                        <a:pt x="310" y="838"/>
                      </a:lnTo>
                      <a:lnTo>
                        <a:pt x="310" y="838"/>
                      </a:lnTo>
                      <a:close/>
                      <a:moveTo>
                        <a:pt x="180" y="838"/>
                      </a:moveTo>
                      <a:lnTo>
                        <a:pt x="180" y="854"/>
                      </a:lnTo>
                      <a:lnTo>
                        <a:pt x="180" y="871"/>
                      </a:lnTo>
                      <a:lnTo>
                        <a:pt x="206" y="871"/>
                      </a:lnTo>
                      <a:lnTo>
                        <a:pt x="234" y="871"/>
                      </a:lnTo>
                      <a:lnTo>
                        <a:pt x="260" y="871"/>
                      </a:lnTo>
                      <a:lnTo>
                        <a:pt x="286" y="871"/>
                      </a:lnTo>
                      <a:lnTo>
                        <a:pt x="286" y="854"/>
                      </a:lnTo>
                      <a:lnTo>
                        <a:pt x="286" y="838"/>
                      </a:lnTo>
                      <a:lnTo>
                        <a:pt x="260" y="838"/>
                      </a:lnTo>
                      <a:lnTo>
                        <a:pt x="234" y="838"/>
                      </a:lnTo>
                      <a:lnTo>
                        <a:pt x="206" y="838"/>
                      </a:lnTo>
                      <a:lnTo>
                        <a:pt x="180" y="838"/>
                      </a:lnTo>
                      <a:close/>
                      <a:moveTo>
                        <a:pt x="51" y="952"/>
                      </a:moveTo>
                      <a:lnTo>
                        <a:pt x="51" y="969"/>
                      </a:lnTo>
                      <a:lnTo>
                        <a:pt x="51" y="985"/>
                      </a:lnTo>
                      <a:lnTo>
                        <a:pt x="78" y="985"/>
                      </a:lnTo>
                      <a:lnTo>
                        <a:pt x="104" y="985"/>
                      </a:lnTo>
                      <a:lnTo>
                        <a:pt x="132" y="985"/>
                      </a:lnTo>
                      <a:lnTo>
                        <a:pt x="158" y="985"/>
                      </a:lnTo>
                      <a:lnTo>
                        <a:pt x="158" y="969"/>
                      </a:lnTo>
                      <a:lnTo>
                        <a:pt x="158" y="952"/>
                      </a:lnTo>
                      <a:lnTo>
                        <a:pt x="132" y="952"/>
                      </a:lnTo>
                      <a:lnTo>
                        <a:pt x="104" y="952"/>
                      </a:lnTo>
                      <a:lnTo>
                        <a:pt x="78" y="952"/>
                      </a:lnTo>
                      <a:lnTo>
                        <a:pt x="51" y="952"/>
                      </a:lnTo>
                      <a:lnTo>
                        <a:pt x="51" y="952"/>
                      </a:lnTo>
                      <a:close/>
                      <a:moveTo>
                        <a:pt x="180" y="952"/>
                      </a:moveTo>
                      <a:lnTo>
                        <a:pt x="180" y="969"/>
                      </a:lnTo>
                      <a:lnTo>
                        <a:pt x="180" y="985"/>
                      </a:lnTo>
                      <a:lnTo>
                        <a:pt x="206" y="985"/>
                      </a:lnTo>
                      <a:lnTo>
                        <a:pt x="234" y="985"/>
                      </a:lnTo>
                      <a:lnTo>
                        <a:pt x="260" y="985"/>
                      </a:lnTo>
                      <a:lnTo>
                        <a:pt x="286" y="985"/>
                      </a:lnTo>
                      <a:lnTo>
                        <a:pt x="286" y="969"/>
                      </a:lnTo>
                      <a:lnTo>
                        <a:pt x="286" y="952"/>
                      </a:lnTo>
                      <a:lnTo>
                        <a:pt x="260" y="952"/>
                      </a:lnTo>
                      <a:lnTo>
                        <a:pt x="234" y="952"/>
                      </a:lnTo>
                      <a:lnTo>
                        <a:pt x="206" y="952"/>
                      </a:lnTo>
                      <a:lnTo>
                        <a:pt x="180" y="952"/>
                      </a:lnTo>
                      <a:lnTo>
                        <a:pt x="180" y="952"/>
                      </a:lnTo>
                      <a:close/>
                      <a:moveTo>
                        <a:pt x="51" y="1066"/>
                      </a:moveTo>
                      <a:lnTo>
                        <a:pt x="51" y="1083"/>
                      </a:lnTo>
                      <a:lnTo>
                        <a:pt x="51" y="1099"/>
                      </a:lnTo>
                      <a:lnTo>
                        <a:pt x="78" y="1099"/>
                      </a:lnTo>
                      <a:lnTo>
                        <a:pt x="104" y="1099"/>
                      </a:lnTo>
                      <a:lnTo>
                        <a:pt x="132" y="1099"/>
                      </a:lnTo>
                      <a:lnTo>
                        <a:pt x="158" y="1099"/>
                      </a:lnTo>
                      <a:lnTo>
                        <a:pt x="158" y="1083"/>
                      </a:lnTo>
                      <a:lnTo>
                        <a:pt x="158" y="1066"/>
                      </a:lnTo>
                      <a:lnTo>
                        <a:pt x="132" y="1066"/>
                      </a:lnTo>
                      <a:lnTo>
                        <a:pt x="104" y="1066"/>
                      </a:lnTo>
                      <a:lnTo>
                        <a:pt x="78" y="1066"/>
                      </a:lnTo>
                      <a:lnTo>
                        <a:pt x="51" y="1066"/>
                      </a:lnTo>
                      <a:close/>
                      <a:moveTo>
                        <a:pt x="310" y="1066"/>
                      </a:moveTo>
                      <a:lnTo>
                        <a:pt x="310" y="1083"/>
                      </a:lnTo>
                      <a:lnTo>
                        <a:pt x="310" y="1099"/>
                      </a:lnTo>
                      <a:lnTo>
                        <a:pt x="336" y="1099"/>
                      </a:lnTo>
                      <a:lnTo>
                        <a:pt x="363" y="1099"/>
                      </a:lnTo>
                      <a:lnTo>
                        <a:pt x="389" y="1099"/>
                      </a:lnTo>
                      <a:lnTo>
                        <a:pt x="416" y="1099"/>
                      </a:lnTo>
                      <a:lnTo>
                        <a:pt x="416" y="1083"/>
                      </a:lnTo>
                      <a:lnTo>
                        <a:pt x="416" y="1066"/>
                      </a:lnTo>
                      <a:lnTo>
                        <a:pt x="389" y="1066"/>
                      </a:lnTo>
                      <a:lnTo>
                        <a:pt x="363" y="1066"/>
                      </a:lnTo>
                      <a:lnTo>
                        <a:pt x="336" y="1066"/>
                      </a:lnTo>
                      <a:lnTo>
                        <a:pt x="310" y="1066"/>
                      </a:lnTo>
                      <a:lnTo>
                        <a:pt x="310" y="1066"/>
                      </a:lnTo>
                      <a:close/>
                      <a:moveTo>
                        <a:pt x="180" y="1066"/>
                      </a:moveTo>
                      <a:lnTo>
                        <a:pt x="180" y="1083"/>
                      </a:lnTo>
                      <a:lnTo>
                        <a:pt x="180" y="1099"/>
                      </a:lnTo>
                      <a:lnTo>
                        <a:pt x="206" y="1099"/>
                      </a:lnTo>
                      <a:lnTo>
                        <a:pt x="234" y="1099"/>
                      </a:lnTo>
                      <a:lnTo>
                        <a:pt x="260" y="1099"/>
                      </a:lnTo>
                      <a:lnTo>
                        <a:pt x="286" y="1099"/>
                      </a:lnTo>
                      <a:lnTo>
                        <a:pt x="286" y="1083"/>
                      </a:lnTo>
                      <a:lnTo>
                        <a:pt x="286" y="1066"/>
                      </a:lnTo>
                      <a:lnTo>
                        <a:pt x="260" y="1066"/>
                      </a:lnTo>
                      <a:lnTo>
                        <a:pt x="234" y="1066"/>
                      </a:lnTo>
                      <a:lnTo>
                        <a:pt x="206" y="1066"/>
                      </a:lnTo>
                      <a:lnTo>
                        <a:pt x="180" y="1066"/>
                      </a:lnTo>
                      <a:close/>
                      <a:moveTo>
                        <a:pt x="51" y="1180"/>
                      </a:moveTo>
                      <a:lnTo>
                        <a:pt x="51" y="1198"/>
                      </a:lnTo>
                      <a:lnTo>
                        <a:pt x="51" y="1215"/>
                      </a:lnTo>
                      <a:lnTo>
                        <a:pt x="78" y="1215"/>
                      </a:lnTo>
                      <a:lnTo>
                        <a:pt x="104" y="1215"/>
                      </a:lnTo>
                      <a:lnTo>
                        <a:pt x="132" y="1215"/>
                      </a:lnTo>
                      <a:lnTo>
                        <a:pt x="158" y="1215"/>
                      </a:lnTo>
                      <a:lnTo>
                        <a:pt x="158" y="1198"/>
                      </a:lnTo>
                      <a:lnTo>
                        <a:pt x="158" y="1180"/>
                      </a:lnTo>
                      <a:lnTo>
                        <a:pt x="132" y="1180"/>
                      </a:lnTo>
                      <a:lnTo>
                        <a:pt x="104" y="1180"/>
                      </a:lnTo>
                      <a:lnTo>
                        <a:pt x="78" y="1180"/>
                      </a:lnTo>
                      <a:lnTo>
                        <a:pt x="51" y="1180"/>
                      </a:lnTo>
                      <a:lnTo>
                        <a:pt x="51" y="1180"/>
                      </a:lnTo>
                      <a:close/>
                      <a:moveTo>
                        <a:pt x="310" y="1180"/>
                      </a:moveTo>
                      <a:lnTo>
                        <a:pt x="310" y="1198"/>
                      </a:lnTo>
                      <a:lnTo>
                        <a:pt x="310" y="1215"/>
                      </a:lnTo>
                      <a:lnTo>
                        <a:pt x="336" y="1215"/>
                      </a:lnTo>
                      <a:lnTo>
                        <a:pt x="363" y="1215"/>
                      </a:lnTo>
                      <a:lnTo>
                        <a:pt x="389" y="1215"/>
                      </a:lnTo>
                      <a:lnTo>
                        <a:pt x="416" y="1215"/>
                      </a:lnTo>
                      <a:lnTo>
                        <a:pt x="416" y="1198"/>
                      </a:lnTo>
                      <a:lnTo>
                        <a:pt x="416" y="1180"/>
                      </a:lnTo>
                      <a:lnTo>
                        <a:pt x="389" y="1180"/>
                      </a:lnTo>
                      <a:lnTo>
                        <a:pt x="363" y="1180"/>
                      </a:lnTo>
                      <a:lnTo>
                        <a:pt x="336" y="1180"/>
                      </a:lnTo>
                      <a:lnTo>
                        <a:pt x="310" y="1180"/>
                      </a:lnTo>
                      <a:lnTo>
                        <a:pt x="310" y="1180"/>
                      </a:lnTo>
                      <a:close/>
                      <a:moveTo>
                        <a:pt x="51" y="1295"/>
                      </a:moveTo>
                      <a:lnTo>
                        <a:pt x="51" y="1312"/>
                      </a:lnTo>
                      <a:lnTo>
                        <a:pt x="51" y="1329"/>
                      </a:lnTo>
                      <a:lnTo>
                        <a:pt x="78" y="1329"/>
                      </a:lnTo>
                      <a:lnTo>
                        <a:pt x="104" y="1329"/>
                      </a:lnTo>
                      <a:lnTo>
                        <a:pt x="132" y="1329"/>
                      </a:lnTo>
                      <a:lnTo>
                        <a:pt x="158" y="1329"/>
                      </a:lnTo>
                      <a:lnTo>
                        <a:pt x="158" y="1312"/>
                      </a:lnTo>
                      <a:lnTo>
                        <a:pt x="158" y="1295"/>
                      </a:lnTo>
                      <a:lnTo>
                        <a:pt x="132" y="1295"/>
                      </a:lnTo>
                      <a:lnTo>
                        <a:pt x="104" y="1295"/>
                      </a:lnTo>
                      <a:lnTo>
                        <a:pt x="78" y="1295"/>
                      </a:lnTo>
                      <a:lnTo>
                        <a:pt x="51" y="1295"/>
                      </a:lnTo>
                      <a:close/>
                      <a:moveTo>
                        <a:pt x="310" y="1295"/>
                      </a:moveTo>
                      <a:lnTo>
                        <a:pt x="310" y="1312"/>
                      </a:lnTo>
                      <a:lnTo>
                        <a:pt x="310" y="1329"/>
                      </a:lnTo>
                      <a:lnTo>
                        <a:pt x="336" y="1329"/>
                      </a:lnTo>
                      <a:lnTo>
                        <a:pt x="363" y="1329"/>
                      </a:lnTo>
                      <a:lnTo>
                        <a:pt x="389" y="1329"/>
                      </a:lnTo>
                      <a:lnTo>
                        <a:pt x="416" y="1329"/>
                      </a:lnTo>
                      <a:lnTo>
                        <a:pt x="416" y="1312"/>
                      </a:lnTo>
                      <a:lnTo>
                        <a:pt x="416" y="1295"/>
                      </a:lnTo>
                      <a:lnTo>
                        <a:pt x="389" y="1295"/>
                      </a:lnTo>
                      <a:lnTo>
                        <a:pt x="363" y="1295"/>
                      </a:lnTo>
                      <a:lnTo>
                        <a:pt x="336" y="1295"/>
                      </a:lnTo>
                      <a:lnTo>
                        <a:pt x="310" y="1295"/>
                      </a:lnTo>
                      <a:lnTo>
                        <a:pt x="310" y="1295"/>
                      </a:lnTo>
                      <a:close/>
                      <a:moveTo>
                        <a:pt x="180" y="1295"/>
                      </a:moveTo>
                      <a:lnTo>
                        <a:pt x="180" y="1312"/>
                      </a:lnTo>
                      <a:lnTo>
                        <a:pt x="180" y="1329"/>
                      </a:lnTo>
                      <a:lnTo>
                        <a:pt x="206" y="1329"/>
                      </a:lnTo>
                      <a:lnTo>
                        <a:pt x="234" y="1329"/>
                      </a:lnTo>
                      <a:lnTo>
                        <a:pt x="260" y="1329"/>
                      </a:lnTo>
                      <a:lnTo>
                        <a:pt x="286" y="1329"/>
                      </a:lnTo>
                      <a:lnTo>
                        <a:pt x="286" y="1312"/>
                      </a:lnTo>
                      <a:lnTo>
                        <a:pt x="286" y="1295"/>
                      </a:lnTo>
                      <a:lnTo>
                        <a:pt x="260" y="1295"/>
                      </a:lnTo>
                      <a:lnTo>
                        <a:pt x="234" y="1295"/>
                      </a:lnTo>
                      <a:lnTo>
                        <a:pt x="206" y="1295"/>
                      </a:lnTo>
                      <a:lnTo>
                        <a:pt x="180" y="1295"/>
                      </a:lnTo>
                      <a:close/>
                      <a:moveTo>
                        <a:pt x="310" y="1410"/>
                      </a:moveTo>
                      <a:lnTo>
                        <a:pt x="310" y="1426"/>
                      </a:lnTo>
                      <a:lnTo>
                        <a:pt x="310" y="1443"/>
                      </a:lnTo>
                      <a:lnTo>
                        <a:pt x="336" y="1443"/>
                      </a:lnTo>
                      <a:lnTo>
                        <a:pt x="363" y="1443"/>
                      </a:lnTo>
                      <a:lnTo>
                        <a:pt x="389" y="1443"/>
                      </a:lnTo>
                      <a:lnTo>
                        <a:pt x="416" y="1443"/>
                      </a:lnTo>
                      <a:lnTo>
                        <a:pt x="416" y="1426"/>
                      </a:lnTo>
                      <a:lnTo>
                        <a:pt x="416" y="1410"/>
                      </a:lnTo>
                      <a:lnTo>
                        <a:pt x="389" y="1410"/>
                      </a:lnTo>
                      <a:lnTo>
                        <a:pt x="363" y="1410"/>
                      </a:lnTo>
                      <a:lnTo>
                        <a:pt x="336" y="1410"/>
                      </a:lnTo>
                      <a:lnTo>
                        <a:pt x="310" y="1410"/>
                      </a:lnTo>
                      <a:lnTo>
                        <a:pt x="310" y="1410"/>
                      </a:lnTo>
                      <a:close/>
                      <a:moveTo>
                        <a:pt x="180" y="1410"/>
                      </a:moveTo>
                      <a:lnTo>
                        <a:pt x="180" y="1426"/>
                      </a:lnTo>
                      <a:lnTo>
                        <a:pt x="180" y="1443"/>
                      </a:lnTo>
                      <a:lnTo>
                        <a:pt x="206" y="1443"/>
                      </a:lnTo>
                      <a:lnTo>
                        <a:pt x="234" y="1443"/>
                      </a:lnTo>
                      <a:lnTo>
                        <a:pt x="260" y="1443"/>
                      </a:lnTo>
                      <a:lnTo>
                        <a:pt x="286" y="1443"/>
                      </a:lnTo>
                      <a:lnTo>
                        <a:pt x="286" y="1426"/>
                      </a:lnTo>
                      <a:lnTo>
                        <a:pt x="286" y="1410"/>
                      </a:lnTo>
                      <a:lnTo>
                        <a:pt x="260" y="1410"/>
                      </a:lnTo>
                      <a:lnTo>
                        <a:pt x="234" y="1410"/>
                      </a:lnTo>
                      <a:lnTo>
                        <a:pt x="206" y="1410"/>
                      </a:lnTo>
                      <a:lnTo>
                        <a:pt x="180" y="1410"/>
                      </a:lnTo>
                      <a:close/>
                      <a:moveTo>
                        <a:pt x="310" y="1524"/>
                      </a:moveTo>
                      <a:lnTo>
                        <a:pt x="310" y="1540"/>
                      </a:lnTo>
                      <a:lnTo>
                        <a:pt x="310" y="1558"/>
                      </a:lnTo>
                      <a:lnTo>
                        <a:pt x="336" y="1558"/>
                      </a:lnTo>
                      <a:lnTo>
                        <a:pt x="363" y="1558"/>
                      </a:lnTo>
                      <a:lnTo>
                        <a:pt x="389" y="1558"/>
                      </a:lnTo>
                      <a:lnTo>
                        <a:pt x="416" y="1558"/>
                      </a:lnTo>
                      <a:lnTo>
                        <a:pt x="416" y="1540"/>
                      </a:lnTo>
                      <a:lnTo>
                        <a:pt x="416" y="1524"/>
                      </a:lnTo>
                      <a:lnTo>
                        <a:pt x="389" y="1524"/>
                      </a:lnTo>
                      <a:lnTo>
                        <a:pt x="363" y="1524"/>
                      </a:lnTo>
                      <a:lnTo>
                        <a:pt x="336" y="1524"/>
                      </a:lnTo>
                      <a:lnTo>
                        <a:pt x="310" y="1524"/>
                      </a:lnTo>
                      <a:lnTo>
                        <a:pt x="310" y="1524"/>
                      </a:lnTo>
                      <a:close/>
                      <a:moveTo>
                        <a:pt x="180" y="1524"/>
                      </a:moveTo>
                      <a:lnTo>
                        <a:pt x="180" y="1540"/>
                      </a:lnTo>
                      <a:lnTo>
                        <a:pt x="180" y="1558"/>
                      </a:lnTo>
                      <a:lnTo>
                        <a:pt x="206" y="1558"/>
                      </a:lnTo>
                      <a:lnTo>
                        <a:pt x="234" y="1558"/>
                      </a:lnTo>
                      <a:lnTo>
                        <a:pt x="260" y="1558"/>
                      </a:lnTo>
                      <a:lnTo>
                        <a:pt x="286" y="1558"/>
                      </a:lnTo>
                      <a:lnTo>
                        <a:pt x="286" y="1540"/>
                      </a:lnTo>
                      <a:lnTo>
                        <a:pt x="286" y="1524"/>
                      </a:lnTo>
                      <a:lnTo>
                        <a:pt x="260" y="1524"/>
                      </a:lnTo>
                      <a:lnTo>
                        <a:pt x="234" y="1524"/>
                      </a:lnTo>
                      <a:lnTo>
                        <a:pt x="206" y="1524"/>
                      </a:lnTo>
                      <a:lnTo>
                        <a:pt x="180" y="1524"/>
                      </a:lnTo>
                      <a:lnTo>
                        <a:pt x="180" y="1524"/>
                      </a:lnTo>
                      <a:close/>
                      <a:moveTo>
                        <a:pt x="51" y="1639"/>
                      </a:moveTo>
                      <a:lnTo>
                        <a:pt x="51" y="1672"/>
                      </a:lnTo>
                      <a:lnTo>
                        <a:pt x="158" y="1672"/>
                      </a:lnTo>
                      <a:lnTo>
                        <a:pt x="158" y="1639"/>
                      </a:lnTo>
                      <a:lnTo>
                        <a:pt x="51" y="1639"/>
                      </a:lnTo>
                      <a:close/>
                      <a:moveTo>
                        <a:pt x="310" y="1639"/>
                      </a:moveTo>
                      <a:lnTo>
                        <a:pt x="310" y="1672"/>
                      </a:lnTo>
                      <a:lnTo>
                        <a:pt x="416" y="1672"/>
                      </a:lnTo>
                      <a:lnTo>
                        <a:pt x="416" y="1639"/>
                      </a:lnTo>
                      <a:lnTo>
                        <a:pt x="310" y="1639"/>
                      </a:lnTo>
                      <a:close/>
                      <a:moveTo>
                        <a:pt x="180" y="1639"/>
                      </a:moveTo>
                      <a:lnTo>
                        <a:pt x="180" y="1672"/>
                      </a:lnTo>
                      <a:lnTo>
                        <a:pt x="286" y="1672"/>
                      </a:lnTo>
                      <a:lnTo>
                        <a:pt x="286" y="1639"/>
                      </a:lnTo>
                      <a:lnTo>
                        <a:pt x="180" y="1639"/>
                      </a:lnTo>
                      <a:close/>
                      <a:moveTo>
                        <a:pt x="0" y="5"/>
                      </a:moveTo>
                      <a:lnTo>
                        <a:pt x="121" y="49"/>
                      </a:lnTo>
                      <a:lnTo>
                        <a:pt x="121" y="0"/>
                      </a:lnTo>
                      <a:lnTo>
                        <a:pt x="368" y="0"/>
                      </a:lnTo>
                      <a:lnTo>
                        <a:pt x="368" y="137"/>
                      </a:lnTo>
                      <a:lnTo>
                        <a:pt x="475" y="175"/>
                      </a:lnTo>
                      <a:lnTo>
                        <a:pt x="475" y="1793"/>
                      </a:lnTo>
                      <a:lnTo>
                        <a:pt x="0" y="1793"/>
                      </a:lnTo>
                      <a:lnTo>
                        <a:pt x="0" y="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31" name="Freeform 176"/>
                <p:cNvSpPr>
                  <a:spLocks noEditPoints="1"/>
                </p:cNvSpPr>
                <p:nvPr/>
              </p:nvSpPr>
              <p:spPr bwMode="auto">
                <a:xfrm>
                  <a:off x="10963276" y="3361118"/>
                  <a:ext cx="393700" cy="796925"/>
                </a:xfrm>
                <a:custGeom>
                  <a:avLst/>
                  <a:gdLst>
                    <a:gd name="T0" fmla="*/ 557 w 746"/>
                    <a:gd name="T1" fmla="*/ 1280 h 1505"/>
                    <a:gd name="T2" fmla="*/ 457 w 746"/>
                    <a:gd name="T3" fmla="*/ 1309 h 1505"/>
                    <a:gd name="T4" fmla="*/ 322 w 746"/>
                    <a:gd name="T5" fmla="*/ 1309 h 1505"/>
                    <a:gd name="T6" fmla="*/ 85 w 746"/>
                    <a:gd name="T7" fmla="*/ 1251 h 1505"/>
                    <a:gd name="T8" fmla="*/ 603 w 746"/>
                    <a:gd name="T9" fmla="*/ 1150 h 1505"/>
                    <a:gd name="T10" fmla="*/ 539 w 746"/>
                    <a:gd name="T11" fmla="*/ 1150 h 1505"/>
                    <a:gd name="T12" fmla="*/ 457 w 746"/>
                    <a:gd name="T13" fmla="*/ 1164 h 1505"/>
                    <a:gd name="T14" fmla="*/ 357 w 746"/>
                    <a:gd name="T15" fmla="*/ 1193 h 1505"/>
                    <a:gd name="T16" fmla="*/ 139 w 746"/>
                    <a:gd name="T17" fmla="*/ 1208 h 1505"/>
                    <a:gd name="T18" fmla="*/ 203 w 746"/>
                    <a:gd name="T19" fmla="*/ 1208 h 1505"/>
                    <a:gd name="T20" fmla="*/ 585 w 746"/>
                    <a:gd name="T21" fmla="*/ 1093 h 1505"/>
                    <a:gd name="T22" fmla="*/ 486 w 746"/>
                    <a:gd name="T23" fmla="*/ 1063 h 1505"/>
                    <a:gd name="T24" fmla="*/ 486 w 746"/>
                    <a:gd name="T25" fmla="*/ 1049 h 1505"/>
                    <a:gd name="T26" fmla="*/ 404 w 746"/>
                    <a:gd name="T27" fmla="*/ 1049 h 1505"/>
                    <a:gd name="T28" fmla="*/ 339 w 746"/>
                    <a:gd name="T29" fmla="*/ 1049 h 1505"/>
                    <a:gd name="T30" fmla="*/ 156 w 746"/>
                    <a:gd name="T31" fmla="*/ 1063 h 1505"/>
                    <a:gd name="T32" fmla="*/ 256 w 746"/>
                    <a:gd name="T33" fmla="*/ 1093 h 1505"/>
                    <a:gd name="T34" fmla="*/ 639 w 746"/>
                    <a:gd name="T35" fmla="*/ 1006 h 1505"/>
                    <a:gd name="T36" fmla="*/ 503 w 746"/>
                    <a:gd name="T37" fmla="*/ 1006 h 1505"/>
                    <a:gd name="T38" fmla="*/ 386 w 746"/>
                    <a:gd name="T39" fmla="*/ 992 h 1505"/>
                    <a:gd name="T40" fmla="*/ 286 w 746"/>
                    <a:gd name="T41" fmla="*/ 962 h 1505"/>
                    <a:gd name="T42" fmla="*/ 286 w 746"/>
                    <a:gd name="T43" fmla="*/ 948 h 1505"/>
                    <a:gd name="T44" fmla="*/ 103 w 746"/>
                    <a:gd name="T45" fmla="*/ 948 h 1505"/>
                    <a:gd name="T46" fmla="*/ 238 w 746"/>
                    <a:gd name="T47" fmla="*/ 948 h 1505"/>
                    <a:gd name="T48" fmla="*/ 657 w 746"/>
                    <a:gd name="T49" fmla="*/ 861 h 1505"/>
                    <a:gd name="T50" fmla="*/ 557 w 746"/>
                    <a:gd name="T51" fmla="*/ 875 h 1505"/>
                    <a:gd name="T52" fmla="*/ 457 w 746"/>
                    <a:gd name="T53" fmla="*/ 891 h 1505"/>
                    <a:gd name="T54" fmla="*/ 357 w 746"/>
                    <a:gd name="T55" fmla="*/ 905 h 1505"/>
                    <a:gd name="T56" fmla="*/ 139 w 746"/>
                    <a:gd name="T57" fmla="*/ 905 h 1505"/>
                    <a:gd name="T58" fmla="*/ 221 w 746"/>
                    <a:gd name="T59" fmla="*/ 905 h 1505"/>
                    <a:gd name="T60" fmla="*/ 603 w 746"/>
                    <a:gd name="T61" fmla="*/ 804 h 1505"/>
                    <a:gd name="T62" fmla="*/ 486 w 746"/>
                    <a:gd name="T63" fmla="*/ 804 h 1505"/>
                    <a:gd name="T64" fmla="*/ 386 w 746"/>
                    <a:gd name="T65" fmla="*/ 790 h 1505"/>
                    <a:gd name="T66" fmla="*/ 286 w 746"/>
                    <a:gd name="T67" fmla="*/ 774 h 1505"/>
                    <a:gd name="T68" fmla="*/ 85 w 746"/>
                    <a:gd name="T69" fmla="*/ 760 h 1505"/>
                    <a:gd name="T70" fmla="*/ 185 w 746"/>
                    <a:gd name="T71" fmla="*/ 746 h 1505"/>
                    <a:gd name="T72" fmla="*/ 185 w 746"/>
                    <a:gd name="T73" fmla="*/ 746 h 1505"/>
                    <a:gd name="T74" fmla="*/ 603 w 746"/>
                    <a:gd name="T75" fmla="*/ 645 h 1505"/>
                    <a:gd name="T76" fmla="*/ 521 w 746"/>
                    <a:gd name="T77" fmla="*/ 645 h 1505"/>
                    <a:gd name="T78" fmla="*/ 439 w 746"/>
                    <a:gd name="T79" fmla="*/ 645 h 1505"/>
                    <a:gd name="T80" fmla="*/ 357 w 746"/>
                    <a:gd name="T81" fmla="*/ 645 h 1505"/>
                    <a:gd name="T82" fmla="*/ 156 w 746"/>
                    <a:gd name="T83" fmla="*/ 659 h 1505"/>
                    <a:gd name="T84" fmla="*/ 256 w 746"/>
                    <a:gd name="T85" fmla="*/ 675 h 1505"/>
                    <a:gd name="T86" fmla="*/ 657 w 746"/>
                    <a:gd name="T87" fmla="*/ 588 h 1505"/>
                    <a:gd name="T88" fmla="*/ 557 w 746"/>
                    <a:gd name="T89" fmla="*/ 602 h 1505"/>
                    <a:gd name="T90" fmla="*/ 439 w 746"/>
                    <a:gd name="T91" fmla="*/ 602 h 1505"/>
                    <a:gd name="T92" fmla="*/ 322 w 746"/>
                    <a:gd name="T93" fmla="*/ 602 h 1505"/>
                    <a:gd name="T94" fmla="*/ 103 w 746"/>
                    <a:gd name="T95" fmla="*/ 602 h 1505"/>
                    <a:gd name="T96" fmla="*/ 185 w 746"/>
                    <a:gd name="T97" fmla="*/ 602 h 1505"/>
                    <a:gd name="T98" fmla="*/ 585 w 746"/>
                    <a:gd name="T99" fmla="*/ 487 h 1505"/>
                    <a:gd name="T100" fmla="*/ 486 w 746"/>
                    <a:gd name="T101" fmla="*/ 473 h 1505"/>
                    <a:gd name="T102" fmla="*/ 386 w 746"/>
                    <a:gd name="T103" fmla="*/ 457 h 1505"/>
                    <a:gd name="T104" fmla="*/ 286 w 746"/>
                    <a:gd name="T105" fmla="*/ 443 h 1505"/>
                    <a:gd name="T106" fmla="*/ 286 w 746"/>
                    <a:gd name="T107" fmla="*/ 443 h 1505"/>
                    <a:gd name="T108" fmla="*/ 103 w 746"/>
                    <a:gd name="T109" fmla="*/ 443 h 1505"/>
                    <a:gd name="T110" fmla="*/ 221 w 746"/>
                    <a:gd name="T111" fmla="*/ 443 h 1505"/>
                    <a:gd name="T112" fmla="*/ 557 w 746"/>
                    <a:gd name="T113" fmla="*/ 400 h 1505"/>
                    <a:gd name="T114" fmla="*/ 421 w 746"/>
                    <a:gd name="T115" fmla="*/ 400 h 1505"/>
                    <a:gd name="T116" fmla="*/ 286 w 746"/>
                    <a:gd name="T117" fmla="*/ 400 h 1505"/>
                    <a:gd name="T118" fmla="*/ 156 w 746"/>
                    <a:gd name="T119" fmla="*/ 400 h 1505"/>
                    <a:gd name="T120" fmla="*/ 238 w 746"/>
                    <a:gd name="T121" fmla="*/ 342 h 1505"/>
                    <a:gd name="T122" fmla="*/ 256 w 746"/>
                    <a:gd name="T123" fmla="*/ 1265 h 1505"/>
                    <a:gd name="T124" fmla="*/ 431 w 746"/>
                    <a:gd name="T125" fmla="*/ 67 h 1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46" h="1505">
                      <a:moveTo>
                        <a:pt x="585" y="1251"/>
                      </a:moveTo>
                      <a:lnTo>
                        <a:pt x="585" y="1309"/>
                      </a:lnTo>
                      <a:lnTo>
                        <a:pt x="657" y="1309"/>
                      </a:lnTo>
                      <a:lnTo>
                        <a:pt x="657" y="1251"/>
                      </a:lnTo>
                      <a:lnTo>
                        <a:pt x="585" y="1251"/>
                      </a:lnTo>
                      <a:close/>
                      <a:moveTo>
                        <a:pt x="486" y="1251"/>
                      </a:moveTo>
                      <a:lnTo>
                        <a:pt x="486" y="1265"/>
                      </a:lnTo>
                      <a:lnTo>
                        <a:pt x="486" y="1280"/>
                      </a:lnTo>
                      <a:lnTo>
                        <a:pt x="486" y="1294"/>
                      </a:lnTo>
                      <a:lnTo>
                        <a:pt x="486" y="1309"/>
                      </a:lnTo>
                      <a:lnTo>
                        <a:pt x="503" y="1309"/>
                      </a:lnTo>
                      <a:lnTo>
                        <a:pt x="521" y="1309"/>
                      </a:lnTo>
                      <a:lnTo>
                        <a:pt x="539" y="1309"/>
                      </a:lnTo>
                      <a:lnTo>
                        <a:pt x="557" y="1309"/>
                      </a:lnTo>
                      <a:lnTo>
                        <a:pt x="557" y="1294"/>
                      </a:lnTo>
                      <a:lnTo>
                        <a:pt x="557" y="1280"/>
                      </a:lnTo>
                      <a:lnTo>
                        <a:pt x="557" y="1265"/>
                      </a:lnTo>
                      <a:lnTo>
                        <a:pt x="557" y="1251"/>
                      </a:lnTo>
                      <a:lnTo>
                        <a:pt x="539" y="1251"/>
                      </a:lnTo>
                      <a:lnTo>
                        <a:pt x="521" y="1251"/>
                      </a:lnTo>
                      <a:lnTo>
                        <a:pt x="503" y="1251"/>
                      </a:lnTo>
                      <a:lnTo>
                        <a:pt x="486" y="1251"/>
                      </a:lnTo>
                      <a:lnTo>
                        <a:pt x="486" y="1251"/>
                      </a:lnTo>
                      <a:close/>
                      <a:moveTo>
                        <a:pt x="386" y="1251"/>
                      </a:moveTo>
                      <a:lnTo>
                        <a:pt x="386" y="1265"/>
                      </a:lnTo>
                      <a:lnTo>
                        <a:pt x="386" y="1280"/>
                      </a:lnTo>
                      <a:lnTo>
                        <a:pt x="386" y="1294"/>
                      </a:lnTo>
                      <a:lnTo>
                        <a:pt x="386" y="1309"/>
                      </a:lnTo>
                      <a:lnTo>
                        <a:pt x="404" y="1309"/>
                      </a:lnTo>
                      <a:lnTo>
                        <a:pt x="421" y="1309"/>
                      </a:lnTo>
                      <a:lnTo>
                        <a:pt x="439" y="1309"/>
                      </a:lnTo>
                      <a:lnTo>
                        <a:pt x="457" y="1309"/>
                      </a:lnTo>
                      <a:lnTo>
                        <a:pt x="457" y="1294"/>
                      </a:lnTo>
                      <a:lnTo>
                        <a:pt x="457" y="1280"/>
                      </a:lnTo>
                      <a:lnTo>
                        <a:pt x="457" y="1265"/>
                      </a:lnTo>
                      <a:lnTo>
                        <a:pt x="457" y="1251"/>
                      </a:lnTo>
                      <a:lnTo>
                        <a:pt x="439" y="1251"/>
                      </a:lnTo>
                      <a:lnTo>
                        <a:pt x="421" y="1251"/>
                      </a:lnTo>
                      <a:lnTo>
                        <a:pt x="404" y="1251"/>
                      </a:lnTo>
                      <a:lnTo>
                        <a:pt x="386" y="1251"/>
                      </a:lnTo>
                      <a:lnTo>
                        <a:pt x="386" y="1251"/>
                      </a:lnTo>
                      <a:close/>
                      <a:moveTo>
                        <a:pt x="286" y="1251"/>
                      </a:moveTo>
                      <a:lnTo>
                        <a:pt x="286" y="1265"/>
                      </a:lnTo>
                      <a:lnTo>
                        <a:pt x="286" y="1280"/>
                      </a:lnTo>
                      <a:lnTo>
                        <a:pt x="286" y="1294"/>
                      </a:lnTo>
                      <a:lnTo>
                        <a:pt x="286" y="1309"/>
                      </a:lnTo>
                      <a:lnTo>
                        <a:pt x="304" y="1309"/>
                      </a:lnTo>
                      <a:lnTo>
                        <a:pt x="322" y="1309"/>
                      </a:lnTo>
                      <a:lnTo>
                        <a:pt x="339" y="1309"/>
                      </a:lnTo>
                      <a:lnTo>
                        <a:pt x="357" y="1309"/>
                      </a:lnTo>
                      <a:lnTo>
                        <a:pt x="357" y="1294"/>
                      </a:lnTo>
                      <a:lnTo>
                        <a:pt x="357" y="1280"/>
                      </a:lnTo>
                      <a:lnTo>
                        <a:pt x="357" y="1265"/>
                      </a:lnTo>
                      <a:lnTo>
                        <a:pt x="357" y="1251"/>
                      </a:lnTo>
                      <a:lnTo>
                        <a:pt x="339" y="1251"/>
                      </a:lnTo>
                      <a:lnTo>
                        <a:pt x="322" y="1251"/>
                      </a:lnTo>
                      <a:lnTo>
                        <a:pt x="304" y="1251"/>
                      </a:lnTo>
                      <a:lnTo>
                        <a:pt x="286" y="1251"/>
                      </a:lnTo>
                      <a:lnTo>
                        <a:pt x="286" y="1251"/>
                      </a:lnTo>
                      <a:close/>
                      <a:moveTo>
                        <a:pt x="85" y="1251"/>
                      </a:moveTo>
                      <a:lnTo>
                        <a:pt x="85" y="1309"/>
                      </a:lnTo>
                      <a:lnTo>
                        <a:pt x="156" y="1309"/>
                      </a:lnTo>
                      <a:lnTo>
                        <a:pt x="156" y="1251"/>
                      </a:lnTo>
                      <a:lnTo>
                        <a:pt x="85" y="1251"/>
                      </a:lnTo>
                      <a:close/>
                      <a:moveTo>
                        <a:pt x="585" y="1150"/>
                      </a:moveTo>
                      <a:lnTo>
                        <a:pt x="585" y="1164"/>
                      </a:lnTo>
                      <a:lnTo>
                        <a:pt x="585" y="1179"/>
                      </a:lnTo>
                      <a:lnTo>
                        <a:pt x="585" y="1193"/>
                      </a:lnTo>
                      <a:lnTo>
                        <a:pt x="585" y="1208"/>
                      </a:lnTo>
                      <a:lnTo>
                        <a:pt x="603" y="1208"/>
                      </a:lnTo>
                      <a:lnTo>
                        <a:pt x="621" y="1208"/>
                      </a:lnTo>
                      <a:lnTo>
                        <a:pt x="639" y="1208"/>
                      </a:lnTo>
                      <a:lnTo>
                        <a:pt x="657" y="1208"/>
                      </a:lnTo>
                      <a:lnTo>
                        <a:pt x="657" y="1193"/>
                      </a:lnTo>
                      <a:lnTo>
                        <a:pt x="657" y="1179"/>
                      </a:lnTo>
                      <a:lnTo>
                        <a:pt x="657" y="1164"/>
                      </a:lnTo>
                      <a:lnTo>
                        <a:pt x="657" y="1150"/>
                      </a:lnTo>
                      <a:lnTo>
                        <a:pt x="639" y="1150"/>
                      </a:lnTo>
                      <a:lnTo>
                        <a:pt x="621" y="1150"/>
                      </a:lnTo>
                      <a:lnTo>
                        <a:pt x="603" y="1150"/>
                      </a:lnTo>
                      <a:lnTo>
                        <a:pt x="585" y="1150"/>
                      </a:lnTo>
                      <a:lnTo>
                        <a:pt x="585" y="1150"/>
                      </a:lnTo>
                      <a:close/>
                      <a:moveTo>
                        <a:pt x="486" y="1150"/>
                      </a:moveTo>
                      <a:lnTo>
                        <a:pt x="486" y="1164"/>
                      </a:lnTo>
                      <a:lnTo>
                        <a:pt x="486" y="1179"/>
                      </a:lnTo>
                      <a:lnTo>
                        <a:pt x="486" y="1193"/>
                      </a:lnTo>
                      <a:lnTo>
                        <a:pt x="486" y="1208"/>
                      </a:lnTo>
                      <a:lnTo>
                        <a:pt x="503" y="1208"/>
                      </a:lnTo>
                      <a:lnTo>
                        <a:pt x="521" y="1208"/>
                      </a:lnTo>
                      <a:lnTo>
                        <a:pt x="539" y="1208"/>
                      </a:lnTo>
                      <a:lnTo>
                        <a:pt x="557" y="1208"/>
                      </a:lnTo>
                      <a:lnTo>
                        <a:pt x="557" y="1193"/>
                      </a:lnTo>
                      <a:lnTo>
                        <a:pt x="557" y="1179"/>
                      </a:lnTo>
                      <a:lnTo>
                        <a:pt x="557" y="1164"/>
                      </a:lnTo>
                      <a:lnTo>
                        <a:pt x="557" y="1150"/>
                      </a:lnTo>
                      <a:lnTo>
                        <a:pt x="539" y="1150"/>
                      </a:lnTo>
                      <a:lnTo>
                        <a:pt x="521" y="1150"/>
                      </a:lnTo>
                      <a:lnTo>
                        <a:pt x="503" y="1150"/>
                      </a:lnTo>
                      <a:lnTo>
                        <a:pt x="486" y="1150"/>
                      </a:lnTo>
                      <a:lnTo>
                        <a:pt x="486" y="1150"/>
                      </a:lnTo>
                      <a:close/>
                      <a:moveTo>
                        <a:pt x="386" y="1150"/>
                      </a:moveTo>
                      <a:lnTo>
                        <a:pt x="386" y="1164"/>
                      </a:lnTo>
                      <a:lnTo>
                        <a:pt x="386" y="1179"/>
                      </a:lnTo>
                      <a:lnTo>
                        <a:pt x="386" y="1193"/>
                      </a:lnTo>
                      <a:lnTo>
                        <a:pt x="386" y="1208"/>
                      </a:lnTo>
                      <a:lnTo>
                        <a:pt x="404" y="1208"/>
                      </a:lnTo>
                      <a:lnTo>
                        <a:pt x="421" y="1208"/>
                      </a:lnTo>
                      <a:lnTo>
                        <a:pt x="439" y="1208"/>
                      </a:lnTo>
                      <a:lnTo>
                        <a:pt x="457" y="1208"/>
                      </a:lnTo>
                      <a:lnTo>
                        <a:pt x="457" y="1193"/>
                      </a:lnTo>
                      <a:lnTo>
                        <a:pt x="457" y="1179"/>
                      </a:lnTo>
                      <a:lnTo>
                        <a:pt x="457" y="1164"/>
                      </a:lnTo>
                      <a:lnTo>
                        <a:pt x="457" y="1150"/>
                      </a:lnTo>
                      <a:lnTo>
                        <a:pt x="439" y="1150"/>
                      </a:lnTo>
                      <a:lnTo>
                        <a:pt x="421" y="1150"/>
                      </a:lnTo>
                      <a:lnTo>
                        <a:pt x="404" y="1150"/>
                      </a:lnTo>
                      <a:lnTo>
                        <a:pt x="386" y="1150"/>
                      </a:lnTo>
                      <a:lnTo>
                        <a:pt x="386" y="1150"/>
                      </a:lnTo>
                      <a:close/>
                      <a:moveTo>
                        <a:pt x="286" y="1150"/>
                      </a:moveTo>
                      <a:lnTo>
                        <a:pt x="286" y="1164"/>
                      </a:lnTo>
                      <a:lnTo>
                        <a:pt x="286" y="1179"/>
                      </a:lnTo>
                      <a:lnTo>
                        <a:pt x="286" y="1193"/>
                      </a:lnTo>
                      <a:lnTo>
                        <a:pt x="286" y="1208"/>
                      </a:lnTo>
                      <a:lnTo>
                        <a:pt x="304" y="1208"/>
                      </a:lnTo>
                      <a:lnTo>
                        <a:pt x="322" y="1208"/>
                      </a:lnTo>
                      <a:lnTo>
                        <a:pt x="339" y="1208"/>
                      </a:lnTo>
                      <a:lnTo>
                        <a:pt x="357" y="1208"/>
                      </a:lnTo>
                      <a:lnTo>
                        <a:pt x="357" y="1193"/>
                      </a:lnTo>
                      <a:lnTo>
                        <a:pt x="357" y="1179"/>
                      </a:lnTo>
                      <a:lnTo>
                        <a:pt x="357" y="1164"/>
                      </a:lnTo>
                      <a:lnTo>
                        <a:pt x="357" y="1150"/>
                      </a:lnTo>
                      <a:lnTo>
                        <a:pt x="339" y="1150"/>
                      </a:lnTo>
                      <a:lnTo>
                        <a:pt x="322" y="1150"/>
                      </a:lnTo>
                      <a:lnTo>
                        <a:pt x="304" y="1150"/>
                      </a:lnTo>
                      <a:lnTo>
                        <a:pt x="286" y="1150"/>
                      </a:lnTo>
                      <a:lnTo>
                        <a:pt x="286" y="1150"/>
                      </a:lnTo>
                      <a:close/>
                      <a:moveTo>
                        <a:pt x="85" y="1150"/>
                      </a:moveTo>
                      <a:lnTo>
                        <a:pt x="85" y="1164"/>
                      </a:lnTo>
                      <a:lnTo>
                        <a:pt x="85" y="1179"/>
                      </a:lnTo>
                      <a:lnTo>
                        <a:pt x="85" y="1193"/>
                      </a:lnTo>
                      <a:lnTo>
                        <a:pt x="85" y="1208"/>
                      </a:lnTo>
                      <a:lnTo>
                        <a:pt x="103" y="1208"/>
                      </a:lnTo>
                      <a:lnTo>
                        <a:pt x="121" y="1208"/>
                      </a:lnTo>
                      <a:lnTo>
                        <a:pt x="139" y="1208"/>
                      </a:lnTo>
                      <a:lnTo>
                        <a:pt x="156" y="1208"/>
                      </a:lnTo>
                      <a:lnTo>
                        <a:pt x="156" y="1193"/>
                      </a:lnTo>
                      <a:lnTo>
                        <a:pt x="156" y="1179"/>
                      </a:lnTo>
                      <a:lnTo>
                        <a:pt x="156" y="1164"/>
                      </a:lnTo>
                      <a:lnTo>
                        <a:pt x="156" y="1150"/>
                      </a:lnTo>
                      <a:lnTo>
                        <a:pt x="139" y="1150"/>
                      </a:lnTo>
                      <a:lnTo>
                        <a:pt x="121" y="1150"/>
                      </a:lnTo>
                      <a:lnTo>
                        <a:pt x="103" y="1150"/>
                      </a:lnTo>
                      <a:lnTo>
                        <a:pt x="85" y="1150"/>
                      </a:lnTo>
                      <a:lnTo>
                        <a:pt x="85" y="1150"/>
                      </a:lnTo>
                      <a:close/>
                      <a:moveTo>
                        <a:pt x="185" y="1150"/>
                      </a:moveTo>
                      <a:lnTo>
                        <a:pt x="185" y="1164"/>
                      </a:lnTo>
                      <a:lnTo>
                        <a:pt x="185" y="1179"/>
                      </a:lnTo>
                      <a:lnTo>
                        <a:pt x="185" y="1193"/>
                      </a:lnTo>
                      <a:lnTo>
                        <a:pt x="185" y="1208"/>
                      </a:lnTo>
                      <a:lnTo>
                        <a:pt x="203" y="1208"/>
                      </a:lnTo>
                      <a:lnTo>
                        <a:pt x="221" y="1208"/>
                      </a:lnTo>
                      <a:lnTo>
                        <a:pt x="238" y="1208"/>
                      </a:lnTo>
                      <a:lnTo>
                        <a:pt x="256" y="1208"/>
                      </a:lnTo>
                      <a:lnTo>
                        <a:pt x="256" y="1193"/>
                      </a:lnTo>
                      <a:lnTo>
                        <a:pt x="256" y="1179"/>
                      </a:lnTo>
                      <a:lnTo>
                        <a:pt x="256" y="1164"/>
                      </a:lnTo>
                      <a:lnTo>
                        <a:pt x="256" y="1150"/>
                      </a:lnTo>
                      <a:lnTo>
                        <a:pt x="238" y="1150"/>
                      </a:lnTo>
                      <a:lnTo>
                        <a:pt x="221" y="1150"/>
                      </a:lnTo>
                      <a:lnTo>
                        <a:pt x="203" y="1150"/>
                      </a:lnTo>
                      <a:lnTo>
                        <a:pt x="185" y="1150"/>
                      </a:lnTo>
                      <a:lnTo>
                        <a:pt x="185" y="1150"/>
                      </a:lnTo>
                      <a:close/>
                      <a:moveTo>
                        <a:pt x="585" y="1049"/>
                      </a:moveTo>
                      <a:lnTo>
                        <a:pt x="585" y="1063"/>
                      </a:lnTo>
                      <a:lnTo>
                        <a:pt x="585" y="1078"/>
                      </a:lnTo>
                      <a:lnTo>
                        <a:pt x="585" y="1093"/>
                      </a:lnTo>
                      <a:lnTo>
                        <a:pt x="585" y="1107"/>
                      </a:lnTo>
                      <a:lnTo>
                        <a:pt x="603" y="1107"/>
                      </a:lnTo>
                      <a:lnTo>
                        <a:pt x="621" y="1107"/>
                      </a:lnTo>
                      <a:lnTo>
                        <a:pt x="639" y="1107"/>
                      </a:lnTo>
                      <a:lnTo>
                        <a:pt x="657" y="1107"/>
                      </a:lnTo>
                      <a:lnTo>
                        <a:pt x="657" y="1093"/>
                      </a:lnTo>
                      <a:lnTo>
                        <a:pt x="657" y="1078"/>
                      </a:lnTo>
                      <a:lnTo>
                        <a:pt x="657" y="1063"/>
                      </a:lnTo>
                      <a:lnTo>
                        <a:pt x="657" y="1049"/>
                      </a:lnTo>
                      <a:lnTo>
                        <a:pt x="639" y="1049"/>
                      </a:lnTo>
                      <a:lnTo>
                        <a:pt x="621" y="1049"/>
                      </a:lnTo>
                      <a:lnTo>
                        <a:pt x="603" y="1049"/>
                      </a:lnTo>
                      <a:lnTo>
                        <a:pt x="585" y="1049"/>
                      </a:lnTo>
                      <a:lnTo>
                        <a:pt x="585" y="1049"/>
                      </a:lnTo>
                      <a:close/>
                      <a:moveTo>
                        <a:pt x="486" y="1049"/>
                      </a:moveTo>
                      <a:lnTo>
                        <a:pt x="486" y="1063"/>
                      </a:lnTo>
                      <a:lnTo>
                        <a:pt x="486" y="1078"/>
                      </a:lnTo>
                      <a:lnTo>
                        <a:pt x="486" y="1093"/>
                      </a:lnTo>
                      <a:lnTo>
                        <a:pt x="486" y="1107"/>
                      </a:lnTo>
                      <a:lnTo>
                        <a:pt x="503" y="1107"/>
                      </a:lnTo>
                      <a:lnTo>
                        <a:pt x="521" y="1107"/>
                      </a:lnTo>
                      <a:lnTo>
                        <a:pt x="539" y="1107"/>
                      </a:lnTo>
                      <a:lnTo>
                        <a:pt x="557" y="1107"/>
                      </a:lnTo>
                      <a:lnTo>
                        <a:pt x="557" y="1093"/>
                      </a:lnTo>
                      <a:lnTo>
                        <a:pt x="557" y="1078"/>
                      </a:lnTo>
                      <a:lnTo>
                        <a:pt x="557" y="1063"/>
                      </a:lnTo>
                      <a:lnTo>
                        <a:pt x="557" y="1049"/>
                      </a:lnTo>
                      <a:lnTo>
                        <a:pt x="539" y="1049"/>
                      </a:lnTo>
                      <a:lnTo>
                        <a:pt x="521" y="1049"/>
                      </a:lnTo>
                      <a:lnTo>
                        <a:pt x="503" y="1049"/>
                      </a:lnTo>
                      <a:lnTo>
                        <a:pt x="486" y="1049"/>
                      </a:lnTo>
                      <a:lnTo>
                        <a:pt x="486" y="1049"/>
                      </a:lnTo>
                      <a:close/>
                      <a:moveTo>
                        <a:pt x="386" y="1049"/>
                      </a:moveTo>
                      <a:lnTo>
                        <a:pt x="386" y="1063"/>
                      </a:lnTo>
                      <a:lnTo>
                        <a:pt x="386" y="1078"/>
                      </a:lnTo>
                      <a:lnTo>
                        <a:pt x="386" y="1093"/>
                      </a:lnTo>
                      <a:lnTo>
                        <a:pt x="386" y="1107"/>
                      </a:lnTo>
                      <a:lnTo>
                        <a:pt x="404" y="1107"/>
                      </a:lnTo>
                      <a:lnTo>
                        <a:pt x="421" y="1107"/>
                      </a:lnTo>
                      <a:lnTo>
                        <a:pt x="439" y="1107"/>
                      </a:lnTo>
                      <a:lnTo>
                        <a:pt x="457" y="1107"/>
                      </a:lnTo>
                      <a:lnTo>
                        <a:pt x="457" y="1093"/>
                      </a:lnTo>
                      <a:lnTo>
                        <a:pt x="457" y="1078"/>
                      </a:lnTo>
                      <a:lnTo>
                        <a:pt x="457" y="1063"/>
                      </a:lnTo>
                      <a:lnTo>
                        <a:pt x="457" y="1049"/>
                      </a:lnTo>
                      <a:lnTo>
                        <a:pt x="439" y="1049"/>
                      </a:lnTo>
                      <a:lnTo>
                        <a:pt x="421" y="1049"/>
                      </a:lnTo>
                      <a:lnTo>
                        <a:pt x="404" y="1049"/>
                      </a:lnTo>
                      <a:lnTo>
                        <a:pt x="386" y="1049"/>
                      </a:lnTo>
                      <a:lnTo>
                        <a:pt x="386" y="1049"/>
                      </a:lnTo>
                      <a:close/>
                      <a:moveTo>
                        <a:pt x="286" y="1049"/>
                      </a:moveTo>
                      <a:lnTo>
                        <a:pt x="286" y="1063"/>
                      </a:lnTo>
                      <a:lnTo>
                        <a:pt x="286" y="1078"/>
                      </a:lnTo>
                      <a:lnTo>
                        <a:pt x="286" y="1093"/>
                      </a:lnTo>
                      <a:lnTo>
                        <a:pt x="286" y="1107"/>
                      </a:lnTo>
                      <a:lnTo>
                        <a:pt x="304" y="1107"/>
                      </a:lnTo>
                      <a:lnTo>
                        <a:pt x="322" y="1107"/>
                      </a:lnTo>
                      <a:lnTo>
                        <a:pt x="339" y="1107"/>
                      </a:lnTo>
                      <a:lnTo>
                        <a:pt x="357" y="1107"/>
                      </a:lnTo>
                      <a:lnTo>
                        <a:pt x="357" y="1093"/>
                      </a:lnTo>
                      <a:lnTo>
                        <a:pt x="357" y="1078"/>
                      </a:lnTo>
                      <a:lnTo>
                        <a:pt x="357" y="1063"/>
                      </a:lnTo>
                      <a:lnTo>
                        <a:pt x="357" y="1049"/>
                      </a:lnTo>
                      <a:lnTo>
                        <a:pt x="339" y="1049"/>
                      </a:lnTo>
                      <a:lnTo>
                        <a:pt x="322" y="1049"/>
                      </a:lnTo>
                      <a:lnTo>
                        <a:pt x="304" y="1049"/>
                      </a:lnTo>
                      <a:lnTo>
                        <a:pt x="286" y="1049"/>
                      </a:lnTo>
                      <a:lnTo>
                        <a:pt x="286" y="1049"/>
                      </a:lnTo>
                      <a:close/>
                      <a:moveTo>
                        <a:pt x="85" y="1049"/>
                      </a:moveTo>
                      <a:lnTo>
                        <a:pt x="85" y="1063"/>
                      </a:lnTo>
                      <a:lnTo>
                        <a:pt x="85" y="1078"/>
                      </a:lnTo>
                      <a:lnTo>
                        <a:pt x="85" y="1093"/>
                      </a:lnTo>
                      <a:lnTo>
                        <a:pt x="85" y="1107"/>
                      </a:lnTo>
                      <a:lnTo>
                        <a:pt x="103" y="1107"/>
                      </a:lnTo>
                      <a:lnTo>
                        <a:pt x="121" y="1107"/>
                      </a:lnTo>
                      <a:lnTo>
                        <a:pt x="139" y="1107"/>
                      </a:lnTo>
                      <a:lnTo>
                        <a:pt x="156" y="1107"/>
                      </a:lnTo>
                      <a:lnTo>
                        <a:pt x="156" y="1093"/>
                      </a:lnTo>
                      <a:lnTo>
                        <a:pt x="156" y="1078"/>
                      </a:lnTo>
                      <a:lnTo>
                        <a:pt x="156" y="1063"/>
                      </a:lnTo>
                      <a:lnTo>
                        <a:pt x="156" y="1049"/>
                      </a:lnTo>
                      <a:lnTo>
                        <a:pt x="139" y="1049"/>
                      </a:lnTo>
                      <a:lnTo>
                        <a:pt x="121" y="1049"/>
                      </a:lnTo>
                      <a:lnTo>
                        <a:pt x="103" y="1049"/>
                      </a:lnTo>
                      <a:lnTo>
                        <a:pt x="85" y="1049"/>
                      </a:lnTo>
                      <a:lnTo>
                        <a:pt x="85" y="1049"/>
                      </a:lnTo>
                      <a:close/>
                      <a:moveTo>
                        <a:pt x="185" y="1049"/>
                      </a:moveTo>
                      <a:lnTo>
                        <a:pt x="185" y="1063"/>
                      </a:lnTo>
                      <a:lnTo>
                        <a:pt x="185" y="1078"/>
                      </a:lnTo>
                      <a:lnTo>
                        <a:pt x="185" y="1093"/>
                      </a:lnTo>
                      <a:lnTo>
                        <a:pt x="185" y="1107"/>
                      </a:lnTo>
                      <a:lnTo>
                        <a:pt x="203" y="1107"/>
                      </a:lnTo>
                      <a:lnTo>
                        <a:pt x="221" y="1107"/>
                      </a:lnTo>
                      <a:lnTo>
                        <a:pt x="238" y="1107"/>
                      </a:lnTo>
                      <a:lnTo>
                        <a:pt x="256" y="1107"/>
                      </a:lnTo>
                      <a:lnTo>
                        <a:pt x="256" y="1093"/>
                      </a:lnTo>
                      <a:lnTo>
                        <a:pt x="256" y="1078"/>
                      </a:lnTo>
                      <a:lnTo>
                        <a:pt x="256" y="1063"/>
                      </a:lnTo>
                      <a:lnTo>
                        <a:pt x="256" y="1049"/>
                      </a:lnTo>
                      <a:lnTo>
                        <a:pt x="238" y="1049"/>
                      </a:lnTo>
                      <a:lnTo>
                        <a:pt x="221" y="1049"/>
                      </a:lnTo>
                      <a:lnTo>
                        <a:pt x="203" y="1049"/>
                      </a:lnTo>
                      <a:lnTo>
                        <a:pt x="185" y="1049"/>
                      </a:lnTo>
                      <a:lnTo>
                        <a:pt x="185" y="1049"/>
                      </a:lnTo>
                      <a:close/>
                      <a:moveTo>
                        <a:pt x="585" y="948"/>
                      </a:moveTo>
                      <a:lnTo>
                        <a:pt x="585" y="962"/>
                      </a:lnTo>
                      <a:lnTo>
                        <a:pt x="585" y="977"/>
                      </a:lnTo>
                      <a:lnTo>
                        <a:pt x="585" y="992"/>
                      </a:lnTo>
                      <a:lnTo>
                        <a:pt x="585" y="1006"/>
                      </a:lnTo>
                      <a:lnTo>
                        <a:pt x="603" y="1006"/>
                      </a:lnTo>
                      <a:lnTo>
                        <a:pt x="621" y="1006"/>
                      </a:lnTo>
                      <a:lnTo>
                        <a:pt x="639" y="1006"/>
                      </a:lnTo>
                      <a:lnTo>
                        <a:pt x="657" y="1006"/>
                      </a:lnTo>
                      <a:lnTo>
                        <a:pt x="657" y="992"/>
                      </a:lnTo>
                      <a:lnTo>
                        <a:pt x="657" y="977"/>
                      </a:lnTo>
                      <a:lnTo>
                        <a:pt x="657" y="962"/>
                      </a:lnTo>
                      <a:lnTo>
                        <a:pt x="657" y="948"/>
                      </a:lnTo>
                      <a:lnTo>
                        <a:pt x="639" y="948"/>
                      </a:lnTo>
                      <a:lnTo>
                        <a:pt x="621" y="948"/>
                      </a:lnTo>
                      <a:lnTo>
                        <a:pt x="603" y="948"/>
                      </a:lnTo>
                      <a:lnTo>
                        <a:pt x="585" y="948"/>
                      </a:lnTo>
                      <a:lnTo>
                        <a:pt x="585" y="948"/>
                      </a:lnTo>
                      <a:close/>
                      <a:moveTo>
                        <a:pt x="486" y="948"/>
                      </a:moveTo>
                      <a:lnTo>
                        <a:pt x="486" y="962"/>
                      </a:lnTo>
                      <a:lnTo>
                        <a:pt x="486" y="977"/>
                      </a:lnTo>
                      <a:lnTo>
                        <a:pt x="486" y="992"/>
                      </a:lnTo>
                      <a:lnTo>
                        <a:pt x="486" y="1006"/>
                      </a:lnTo>
                      <a:lnTo>
                        <a:pt x="503" y="1006"/>
                      </a:lnTo>
                      <a:lnTo>
                        <a:pt x="521" y="1006"/>
                      </a:lnTo>
                      <a:lnTo>
                        <a:pt x="539" y="1006"/>
                      </a:lnTo>
                      <a:lnTo>
                        <a:pt x="557" y="1006"/>
                      </a:lnTo>
                      <a:lnTo>
                        <a:pt x="557" y="992"/>
                      </a:lnTo>
                      <a:lnTo>
                        <a:pt x="557" y="977"/>
                      </a:lnTo>
                      <a:lnTo>
                        <a:pt x="557" y="962"/>
                      </a:lnTo>
                      <a:lnTo>
                        <a:pt x="557" y="948"/>
                      </a:lnTo>
                      <a:lnTo>
                        <a:pt x="539" y="948"/>
                      </a:lnTo>
                      <a:lnTo>
                        <a:pt x="521" y="948"/>
                      </a:lnTo>
                      <a:lnTo>
                        <a:pt x="503" y="948"/>
                      </a:lnTo>
                      <a:lnTo>
                        <a:pt x="486" y="948"/>
                      </a:lnTo>
                      <a:lnTo>
                        <a:pt x="486" y="948"/>
                      </a:lnTo>
                      <a:close/>
                      <a:moveTo>
                        <a:pt x="386" y="948"/>
                      </a:moveTo>
                      <a:lnTo>
                        <a:pt x="386" y="962"/>
                      </a:lnTo>
                      <a:lnTo>
                        <a:pt x="386" y="977"/>
                      </a:lnTo>
                      <a:lnTo>
                        <a:pt x="386" y="992"/>
                      </a:lnTo>
                      <a:lnTo>
                        <a:pt x="386" y="1006"/>
                      </a:lnTo>
                      <a:lnTo>
                        <a:pt x="404" y="1006"/>
                      </a:lnTo>
                      <a:lnTo>
                        <a:pt x="421" y="1006"/>
                      </a:lnTo>
                      <a:lnTo>
                        <a:pt x="439" y="1006"/>
                      </a:lnTo>
                      <a:lnTo>
                        <a:pt x="457" y="1006"/>
                      </a:lnTo>
                      <a:lnTo>
                        <a:pt x="457" y="992"/>
                      </a:lnTo>
                      <a:lnTo>
                        <a:pt x="457" y="977"/>
                      </a:lnTo>
                      <a:lnTo>
                        <a:pt x="457" y="962"/>
                      </a:lnTo>
                      <a:lnTo>
                        <a:pt x="457" y="948"/>
                      </a:lnTo>
                      <a:lnTo>
                        <a:pt x="439" y="948"/>
                      </a:lnTo>
                      <a:lnTo>
                        <a:pt x="421" y="948"/>
                      </a:lnTo>
                      <a:lnTo>
                        <a:pt x="404" y="948"/>
                      </a:lnTo>
                      <a:lnTo>
                        <a:pt x="386" y="948"/>
                      </a:lnTo>
                      <a:lnTo>
                        <a:pt x="386" y="948"/>
                      </a:lnTo>
                      <a:close/>
                      <a:moveTo>
                        <a:pt x="286" y="948"/>
                      </a:moveTo>
                      <a:lnTo>
                        <a:pt x="286" y="962"/>
                      </a:lnTo>
                      <a:lnTo>
                        <a:pt x="286" y="977"/>
                      </a:lnTo>
                      <a:lnTo>
                        <a:pt x="286" y="992"/>
                      </a:lnTo>
                      <a:lnTo>
                        <a:pt x="286" y="1006"/>
                      </a:lnTo>
                      <a:lnTo>
                        <a:pt x="304" y="1006"/>
                      </a:lnTo>
                      <a:lnTo>
                        <a:pt x="322" y="1006"/>
                      </a:lnTo>
                      <a:lnTo>
                        <a:pt x="339" y="1006"/>
                      </a:lnTo>
                      <a:lnTo>
                        <a:pt x="357" y="1006"/>
                      </a:lnTo>
                      <a:lnTo>
                        <a:pt x="357" y="992"/>
                      </a:lnTo>
                      <a:lnTo>
                        <a:pt x="357" y="977"/>
                      </a:lnTo>
                      <a:lnTo>
                        <a:pt x="357" y="962"/>
                      </a:lnTo>
                      <a:lnTo>
                        <a:pt x="357" y="948"/>
                      </a:lnTo>
                      <a:lnTo>
                        <a:pt x="339" y="948"/>
                      </a:lnTo>
                      <a:lnTo>
                        <a:pt x="322" y="948"/>
                      </a:lnTo>
                      <a:lnTo>
                        <a:pt x="304" y="948"/>
                      </a:lnTo>
                      <a:lnTo>
                        <a:pt x="286" y="948"/>
                      </a:lnTo>
                      <a:lnTo>
                        <a:pt x="286" y="948"/>
                      </a:lnTo>
                      <a:close/>
                      <a:moveTo>
                        <a:pt x="85" y="948"/>
                      </a:moveTo>
                      <a:lnTo>
                        <a:pt x="85" y="962"/>
                      </a:lnTo>
                      <a:lnTo>
                        <a:pt x="85" y="977"/>
                      </a:lnTo>
                      <a:lnTo>
                        <a:pt x="85" y="992"/>
                      </a:lnTo>
                      <a:lnTo>
                        <a:pt x="85" y="1006"/>
                      </a:lnTo>
                      <a:lnTo>
                        <a:pt x="103" y="1006"/>
                      </a:lnTo>
                      <a:lnTo>
                        <a:pt x="121" y="1006"/>
                      </a:lnTo>
                      <a:lnTo>
                        <a:pt x="139" y="1006"/>
                      </a:lnTo>
                      <a:lnTo>
                        <a:pt x="156" y="1006"/>
                      </a:lnTo>
                      <a:lnTo>
                        <a:pt x="156" y="992"/>
                      </a:lnTo>
                      <a:lnTo>
                        <a:pt x="156" y="977"/>
                      </a:lnTo>
                      <a:lnTo>
                        <a:pt x="156" y="962"/>
                      </a:lnTo>
                      <a:lnTo>
                        <a:pt x="156" y="948"/>
                      </a:lnTo>
                      <a:lnTo>
                        <a:pt x="139" y="948"/>
                      </a:lnTo>
                      <a:lnTo>
                        <a:pt x="121" y="948"/>
                      </a:lnTo>
                      <a:lnTo>
                        <a:pt x="103" y="948"/>
                      </a:lnTo>
                      <a:lnTo>
                        <a:pt x="85" y="948"/>
                      </a:lnTo>
                      <a:lnTo>
                        <a:pt x="85" y="948"/>
                      </a:lnTo>
                      <a:close/>
                      <a:moveTo>
                        <a:pt x="185" y="948"/>
                      </a:moveTo>
                      <a:lnTo>
                        <a:pt x="185" y="962"/>
                      </a:lnTo>
                      <a:lnTo>
                        <a:pt x="185" y="977"/>
                      </a:lnTo>
                      <a:lnTo>
                        <a:pt x="185" y="992"/>
                      </a:lnTo>
                      <a:lnTo>
                        <a:pt x="185" y="1006"/>
                      </a:lnTo>
                      <a:lnTo>
                        <a:pt x="203" y="1006"/>
                      </a:lnTo>
                      <a:lnTo>
                        <a:pt x="221" y="1006"/>
                      </a:lnTo>
                      <a:lnTo>
                        <a:pt x="238" y="1006"/>
                      </a:lnTo>
                      <a:lnTo>
                        <a:pt x="256" y="1006"/>
                      </a:lnTo>
                      <a:lnTo>
                        <a:pt x="256" y="992"/>
                      </a:lnTo>
                      <a:lnTo>
                        <a:pt x="256" y="977"/>
                      </a:lnTo>
                      <a:lnTo>
                        <a:pt x="256" y="962"/>
                      </a:lnTo>
                      <a:lnTo>
                        <a:pt x="256" y="948"/>
                      </a:lnTo>
                      <a:lnTo>
                        <a:pt x="238" y="948"/>
                      </a:lnTo>
                      <a:lnTo>
                        <a:pt x="221" y="948"/>
                      </a:lnTo>
                      <a:lnTo>
                        <a:pt x="203" y="948"/>
                      </a:lnTo>
                      <a:lnTo>
                        <a:pt x="185" y="948"/>
                      </a:lnTo>
                      <a:lnTo>
                        <a:pt x="185" y="948"/>
                      </a:lnTo>
                      <a:close/>
                      <a:moveTo>
                        <a:pt x="585" y="847"/>
                      </a:moveTo>
                      <a:lnTo>
                        <a:pt x="585" y="861"/>
                      </a:lnTo>
                      <a:lnTo>
                        <a:pt x="585" y="875"/>
                      </a:lnTo>
                      <a:lnTo>
                        <a:pt x="585" y="891"/>
                      </a:lnTo>
                      <a:lnTo>
                        <a:pt x="585" y="905"/>
                      </a:lnTo>
                      <a:lnTo>
                        <a:pt x="603" y="905"/>
                      </a:lnTo>
                      <a:lnTo>
                        <a:pt x="621" y="905"/>
                      </a:lnTo>
                      <a:lnTo>
                        <a:pt x="639" y="905"/>
                      </a:lnTo>
                      <a:lnTo>
                        <a:pt x="657" y="905"/>
                      </a:lnTo>
                      <a:lnTo>
                        <a:pt x="657" y="891"/>
                      </a:lnTo>
                      <a:lnTo>
                        <a:pt x="657" y="875"/>
                      </a:lnTo>
                      <a:lnTo>
                        <a:pt x="657" y="861"/>
                      </a:lnTo>
                      <a:lnTo>
                        <a:pt x="657" y="847"/>
                      </a:lnTo>
                      <a:lnTo>
                        <a:pt x="639" y="847"/>
                      </a:lnTo>
                      <a:lnTo>
                        <a:pt x="621" y="847"/>
                      </a:lnTo>
                      <a:lnTo>
                        <a:pt x="603" y="847"/>
                      </a:lnTo>
                      <a:lnTo>
                        <a:pt x="585" y="847"/>
                      </a:lnTo>
                      <a:close/>
                      <a:moveTo>
                        <a:pt x="486" y="847"/>
                      </a:moveTo>
                      <a:lnTo>
                        <a:pt x="486" y="861"/>
                      </a:lnTo>
                      <a:lnTo>
                        <a:pt x="486" y="875"/>
                      </a:lnTo>
                      <a:lnTo>
                        <a:pt x="486" y="891"/>
                      </a:lnTo>
                      <a:lnTo>
                        <a:pt x="486" y="905"/>
                      </a:lnTo>
                      <a:lnTo>
                        <a:pt x="503" y="905"/>
                      </a:lnTo>
                      <a:lnTo>
                        <a:pt x="521" y="905"/>
                      </a:lnTo>
                      <a:lnTo>
                        <a:pt x="539" y="905"/>
                      </a:lnTo>
                      <a:lnTo>
                        <a:pt x="557" y="905"/>
                      </a:lnTo>
                      <a:lnTo>
                        <a:pt x="557" y="891"/>
                      </a:lnTo>
                      <a:lnTo>
                        <a:pt x="557" y="875"/>
                      </a:lnTo>
                      <a:lnTo>
                        <a:pt x="557" y="861"/>
                      </a:lnTo>
                      <a:lnTo>
                        <a:pt x="557" y="847"/>
                      </a:lnTo>
                      <a:lnTo>
                        <a:pt x="539" y="847"/>
                      </a:lnTo>
                      <a:lnTo>
                        <a:pt x="521" y="847"/>
                      </a:lnTo>
                      <a:lnTo>
                        <a:pt x="503" y="847"/>
                      </a:lnTo>
                      <a:lnTo>
                        <a:pt x="486" y="847"/>
                      </a:lnTo>
                      <a:close/>
                      <a:moveTo>
                        <a:pt x="386" y="847"/>
                      </a:moveTo>
                      <a:lnTo>
                        <a:pt x="386" y="861"/>
                      </a:lnTo>
                      <a:lnTo>
                        <a:pt x="386" y="875"/>
                      </a:lnTo>
                      <a:lnTo>
                        <a:pt x="386" y="891"/>
                      </a:lnTo>
                      <a:lnTo>
                        <a:pt x="386" y="905"/>
                      </a:lnTo>
                      <a:lnTo>
                        <a:pt x="404" y="905"/>
                      </a:lnTo>
                      <a:lnTo>
                        <a:pt x="421" y="905"/>
                      </a:lnTo>
                      <a:lnTo>
                        <a:pt x="439" y="905"/>
                      </a:lnTo>
                      <a:lnTo>
                        <a:pt x="457" y="905"/>
                      </a:lnTo>
                      <a:lnTo>
                        <a:pt x="457" y="891"/>
                      </a:lnTo>
                      <a:lnTo>
                        <a:pt x="457" y="875"/>
                      </a:lnTo>
                      <a:lnTo>
                        <a:pt x="457" y="861"/>
                      </a:lnTo>
                      <a:lnTo>
                        <a:pt x="457" y="847"/>
                      </a:lnTo>
                      <a:lnTo>
                        <a:pt x="439" y="847"/>
                      </a:lnTo>
                      <a:lnTo>
                        <a:pt x="421" y="847"/>
                      </a:lnTo>
                      <a:lnTo>
                        <a:pt x="404" y="847"/>
                      </a:lnTo>
                      <a:lnTo>
                        <a:pt x="386" y="847"/>
                      </a:lnTo>
                      <a:close/>
                      <a:moveTo>
                        <a:pt x="286" y="847"/>
                      </a:moveTo>
                      <a:lnTo>
                        <a:pt x="286" y="861"/>
                      </a:lnTo>
                      <a:lnTo>
                        <a:pt x="286" y="875"/>
                      </a:lnTo>
                      <a:lnTo>
                        <a:pt x="286" y="891"/>
                      </a:lnTo>
                      <a:lnTo>
                        <a:pt x="286" y="905"/>
                      </a:lnTo>
                      <a:lnTo>
                        <a:pt x="304" y="905"/>
                      </a:lnTo>
                      <a:lnTo>
                        <a:pt x="322" y="905"/>
                      </a:lnTo>
                      <a:lnTo>
                        <a:pt x="339" y="905"/>
                      </a:lnTo>
                      <a:lnTo>
                        <a:pt x="357" y="905"/>
                      </a:lnTo>
                      <a:lnTo>
                        <a:pt x="357" y="891"/>
                      </a:lnTo>
                      <a:lnTo>
                        <a:pt x="357" y="875"/>
                      </a:lnTo>
                      <a:lnTo>
                        <a:pt x="357" y="861"/>
                      </a:lnTo>
                      <a:lnTo>
                        <a:pt x="357" y="847"/>
                      </a:lnTo>
                      <a:lnTo>
                        <a:pt x="339" y="847"/>
                      </a:lnTo>
                      <a:lnTo>
                        <a:pt x="322" y="847"/>
                      </a:lnTo>
                      <a:lnTo>
                        <a:pt x="304" y="847"/>
                      </a:lnTo>
                      <a:lnTo>
                        <a:pt x="286" y="847"/>
                      </a:lnTo>
                      <a:close/>
                      <a:moveTo>
                        <a:pt x="85" y="847"/>
                      </a:moveTo>
                      <a:lnTo>
                        <a:pt x="85" y="861"/>
                      </a:lnTo>
                      <a:lnTo>
                        <a:pt x="85" y="875"/>
                      </a:lnTo>
                      <a:lnTo>
                        <a:pt x="85" y="891"/>
                      </a:lnTo>
                      <a:lnTo>
                        <a:pt x="85" y="905"/>
                      </a:lnTo>
                      <a:lnTo>
                        <a:pt x="103" y="905"/>
                      </a:lnTo>
                      <a:lnTo>
                        <a:pt x="121" y="905"/>
                      </a:lnTo>
                      <a:lnTo>
                        <a:pt x="139" y="905"/>
                      </a:lnTo>
                      <a:lnTo>
                        <a:pt x="156" y="905"/>
                      </a:lnTo>
                      <a:lnTo>
                        <a:pt x="156" y="891"/>
                      </a:lnTo>
                      <a:lnTo>
                        <a:pt x="156" y="875"/>
                      </a:lnTo>
                      <a:lnTo>
                        <a:pt x="156" y="861"/>
                      </a:lnTo>
                      <a:lnTo>
                        <a:pt x="156" y="847"/>
                      </a:lnTo>
                      <a:lnTo>
                        <a:pt x="139" y="847"/>
                      </a:lnTo>
                      <a:lnTo>
                        <a:pt x="121" y="847"/>
                      </a:lnTo>
                      <a:lnTo>
                        <a:pt x="103" y="847"/>
                      </a:lnTo>
                      <a:lnTo>
                        <a:pt x="85" y="847"/>
                      </a:lnTo>
                      <a:close/>
                      <a:moveTo>
                        <a:pt x="185" y="847"/>
                      </a:moveTo>
                      <a:lnTo>
                        <a:pt x="185" y="861"/>
                      </a:lnTo>
                      <a:lnTo>
                        <a:pt x="185" y="875"/>
                      </a:lnTo>
                      <a:lnTo>
                        <a:pt x="185" y="891"/>
                      </a:lnTo>
                      <a:lnTo>
                        <a:pt x="185" y="905"/>
                      </a:lnTo>
                      <a:lnTo>
                        <a:pt x="203" y="905"/>
                      </a:lnTo>
                      <a:lnTo>
                        <a:pt x="221" y="905"/>
                      </a:lnTo>
                      <a:lnTo>
                        <a:pt x="238" y="905"/>
                      </a:lnTo>
                      <a:lnTo>
                        <a:pt x="256" y="905"/>
                      </a:lnTo>
                      <a:lnTo>
                        <a:pt x="256" y="891"/>
                      </a:lnTo>
                      <a:lnTo>
                        <a:pt x="256" y="875"/>
                      </a:lnTo>
                      <a:lnTo>
                        <a:pt x="256" y="861"/>
                      </a:lnTo>
                      <a:lnTo>
                        <a:pt x="256" y="847"/>
                      </a:lnTo>
                      <a:lnTo>
                        <a:pt x="238" y="847"/>
                      </a:lnTo>
                      <a:lnTo>
                        <a:pt x="221" y="847"/>
                      </a:lnTo>
                      <a:lnTo>
                        <a:pt x="203" y="847"/>
                      </a:lnTo>
                      <a:lnTo>
                        <a:pt x="185" y="847"/>
                      </a:lnTo>
                      <a:close/>
                      <a:moveTo>
                        <a:pt x="585" y="746"/>
                      </a:moveTo>
                      <a:lnTo>
                        <a:pt x="585" y="760"/>
                      </a:lnTo>
                      <a:lnTo>
                        <a:pt x="585" y="774"/>
                      </a:lnTo>
                      <a:lnTo>
                        <a:pt x="585" y="790"/>
                      </a:lnTo>
                      <a:lnTo>
                        <a:pt x="585" y="804"/>
                      </a:lnTo>
                      <a:lnTo>
                        <a:pt x="603" y="804"/>
                      </a:lnTo>
                      <a:lnTo>
                        <a:pt x="621" y="804"/>
                      </a:lnTo>
                      <a:lnTo>
                        <a:pt x="639" y="804"/>
                      </a:lnTo>
                      <a:lnTo>
                        <a:pt x="657" y="804"/>
                      </a:lnTo>
                      <a:lnTo>
                        <a:pt x="657" y="790"/>
                      </a:lnTo>
                      <a:lnTo>
                        <a:pt x="657" y="774"/>
                      </a:lnTo>
                      <a:lnTo>
                        <a:pt x="657" y="760"/>
                      </a:lnTo>
                      <a:lnTo>
                        <a:pt x="657" y="746"/>
                      </a:lnTo>
                      <a:lnTo>
                        <a:pt x="639" y="746"/>
                      </a:lnTo>
                      <a:lnTo>
                        <a:pt x="621" y="746"/>
                      </a:lnTo>
                      <a:lnTo>
                        <a:pt x="603" y="746"/>
                      </a:lnTo>
                      <a:lnTo>
                        <a:pt x="585" y="746"/>
                      </a:lnTo>
                      <a:close/>
                      <a:moveTo>
                        <a:pt x="486" y="746"/>
                      </a:moveTo>
                      <a:lnTo>
                        <a:pt x="486" y="760"/>
                      </a:lnTo>
                      <a:lnTo>
                        <a:pt x="486" y="774"/>
                      </a:lnTo>
                      <a:lnTo>
                        <a:pt x="486" y="790"/>
                      </a:lnTo>
                      <a:lnTo>
                        <a:pt x="486" y="804"/>
                      </a:lnTo>
                      <a:lnTo>
                        <a:pt x="503" y="804"/>
                      </a:lnTo>
                      <a:lnTo>
                        <a:pt x="521" y="804"/>
                      </a:lnTo>
                      <a:lnTo>
                        <a:pt x="539" y="804"/>
                      </a:lnTo>
                      <a:lnTo>
                        <a:pt x="557" y="804"/>
                      </a:lnTo>
                      <a:lnTo>
                        <a:pt x="557" y="790"/>
                      </a:lnTo>
                      <a:lnTo>
                        <a:pt x="557" y="774"/>
                      </a:lnTo>
                      <a:lnTo>
                        <a:pt x="557" y="760"/>
                      </a:lnTo>
                      <a:lnTo>
                        <a:pt x="557" y="746"/>
                      </a:lnTo>
                      <a:lnTo>
                        <a:pt x="539" y="746"/>
                      </a:lnTo>
                      <a:lnTo>
                        <a:pt x="521" y="746"/>
                      </a:lnTo>
                      <a:lnTo>
                        <a:pt x="503" y="746"/>
                      </a:lnTo>
                      <a:lnTo>
                        <a:pt x="486" y="746"/>
                      </a:lnTo>
                      <a:close/>
                      <a:moveTo>
                        <a:pt x="386" y="746"/>
                      </a:moveTo>
                      <a:lnTo>
                        <a:pt x="386" y="760"/>
                      </a:lnTo>
                      <a:lnTo>
                        <a:pt x="386" y="774"/>
                      </a:lnTo>
                      <a:lnTo>
                        <a:pt x="386" y="790"/>
                      </a:lnTo>
                      <a:lnTo>
                        <a:pt x="386" y="804"/>
                      </a:lnTo>
                      <a:lnTo>
                        <a:pt x="404" y="804"/>
                      </a:lnTo>
                      <a:lnTo>
                        <a:pt x="421" y="804"/>
                      </a:lnTo>
                      <a:lnTo>
                        <a:pt x="439" y="804"/>
                      </a:lnTo>
                      <a:lnTo>
                        <a:pt x="457" y="804"/>
                      </a:lnTo>
                      <a:lnTo>
                        <a:pt x="457" y="790"/>
                      </a:lnTo>
                      <a:lnTo>
                        <a:pt x="457" y="774"/>
                      </a:lnTo>
                      <a:lnTo>
                        <a:pt x="457" y="760"/>
                      </a:lnTo>
                      <a:lnTo>
                        <a:pt x="457" y="746"/>
                      </a:lnTo>
                      <a:lnTo>
                        <a:pt x="439" y="746"/>
                      </a:lnTo>
                      <a:lnTo>
                        <a:pt x="421" y="746"/>
                      </a:lnTo>
                      <a:lnTo>
                        <a:pt x="404" y="746"/>
                      </a:lnTo>
                      <a:lnTo>
                        <a:pt x="386" y="746"/>
                      </a:lnTo>
                      <a:close/>
                      <a:moveTo>
                        <a:pt x="286" y="746"/>
                      </a:moveTo>
                      <a:lnTo>
                        <a:pt x="286" y="760"/>
                      </a:lnTo>
                      <a:lnTo>
                        <a:pt x="286" y="774"/>
                      </a:lnTo>
                      <a:lnTo>
                        <a:pt x="286" y="790"/>
                      </a:lnTo>
                      <a:lnTo>
                        <a:pt x="286" y="804"/>
                      </a:lnTo>
                      <a:lnTo>
                        <a:pt x="304" y="804"/>
                      </a:lnTo>
                      <a:lnTo>
                        <a:pt x="322" y="804"/>
                      </a:lnTo>
                      <a:lnTo>
                        <a:pt x="339" y="804"/>
                      </a:lnTo>
                      <a:lnTo>
                        <a:pt x="357" y="804"/>
                      </a:lnTo>
                      <a:lnTo>
                        <a:pt x="357" y="790"/>
                      </a:lnTo>
                      <a:lnTo>
                        <a:pt x="357" y="774"/>
                      </a:lnTo>
                      <a:lnTo>
                        <a:pt x="357" y="760"/>
                      </a:lnTo>
                      <a:lnTo>
                        <a:pt x="357" y="746"/>
                      </a:lnTo>
                      <a:lnTo>
                        <a:pt x="339" y="746"/>
                      </a:lnTo>
                      <a:lnTo>
                        <a:pt x="322" y="746"/>
                      </a:lnTo>
                      <a:lnTo>
                        <a:pt x="304" y="746"/>
                      </a:lnTo>
                      <a:lnTo>
                        <a:pt x="286" y="746"/>
                      </a:lnTo>
                      <a:close/>
                      <a:moveTo>
                        <a:pt x="85" y="746"/>
                      </a:moveTo>
                      <a:lnTo>
                        <a:pt x="85" y="760"/>
                      </a:lnTo>
                      <a:lnTo>
                        <a:pt x="85" y="774"/>
                      </a:lnTo>
                      <a:lnTo>
                        <a:pt x="85" y="790"/>
                      </a:lnTo>
                      <a:lnTo>
                        <a:pt x="85" y="804"/>
                      </a:lnTo>
                      <a:lnTo>
                        <a:pt x="103" y="804"/>
                      </a:lnTo>
                      <a:lnTo>
                        <a:pt x="121" y="804"/>
                      </a:lnTo>
                      <a:lnTo>
                        <a:pt x="139" y="804"/>
                      </a:lnTo>
                      <a:lnTo>
                        <a:pt x="156" y="804"/>
                      </a:lnTo>
                      <a:lnTo>
                        <a:pt x="156" y="790"/>
                      </a:lnTo>
                      <a:lnTo>
                        <a:pt x="156" y="774"/>
                      </a:lnTo>
                      <a:lnTo>
                        <a:pt x="156" y="760"/>
                      </a:lnTo>
                      <a:lnTo>
                        <a:pt x="156" y="746"/>
                      </a:lnTo>
                      <a:lnTo>
                        <a:pt x="139" y="746"/>
                      </a:lnTo>
                      <a:lnTo>
                        <a:pt x="121" y="746"/>
                      </a:lnTo>
                      <a:lnTo>
                        <a:pt x="103" y="746"/>
                      </a:lnTo>
                      <a:lnTo>
                        <a:pt x="85" y="746"/>
                      </a:lnTo>
                      <a:close/>
                      <a:moveTo>
                        <a:pt x="185" y="746"/>
                      </a:moveTo>
                      <a:lnTo>
                        <a:pt x="185" y="760"/>
                      </a:lnTo>
                      <a:lnTo>
                        <a:pt x="185" y="774"/>
                      </a:lnTo>
                      <a:lnTo>
                        <a:pt x="185" y="790"/>
                      </a:lnTo>
                      <a:lnTo>
                        <a:pt x="185" y="804"/>
                      </a:lnTo>
                      <a:lnTo>
                        <a:pt x="203" y="804"/>
                      </a:lnTo>
                      <a:lnTo>
                        <a:pt x="221" y="804"/>
                      </a:lnTo>
                      <a:lnTo>
                        <a:pt x="238" y="804"/>
                      </a:lnTo>
                      <a:lnTo>
                        <a:pt x="256" y="804"/>
                      </a:lnTo>
                      <a:lnTo>
                        <a:pt x="256" y="790"/>
                      </a:lnTo>
                      <a:lnTo>
                        <a:pt x="256" y="774"/>
                      </a:lnTo>
                      <a:lnTo>
                        <a:pt x="256" y="760"/>
                      </a:lnTo>
                      <a:lnTo>
                        <a:pt x="256" y="746"/>
                      </a:lnTo>
                      <a:lnTo>
                        <a:pt x="238" y="746"/>
                      </a:lnTo>
                      <a:lnTo>
                        <a:pt x="221" y="746"/>
                      </a:lnTo>
                      <a:lnTo>
                        <a:pt x="203" y="746"/>
                      </a:lnTo>
                      <a:lnTo>
                        <a:pt x="185" y="746"/>
                      </a:lnTo>
                      <a:close/>
                      <a:moveTo>
                        <a:pt x="585" y="645"/>
                      </a:moveTo>
                      <a:lnTo>
                        <a:pt x="585" y="659"/>
                      </a:lnTo>
                      <a:lnTo>
                        <a:pt x="585" y="675"/>
                      </a:lnTo>
                      <a:lnTo>
                        <a:pt x="585" y="689"/>
                      </a:lnTo>
                      <a:lnTo>
                        <a:pt x="585" y="703"/>
                      </a:lnTo>
                      <a:lnTo>
                        <a:pt x="603" y="703"/>
                      </a:lnTo>
                      <a:lnTo>
                        <a:pt x="621" y="703"/>
                      </a:lnTo>
                      <a:lnTo>
                        <a:pt x="639" y="703"/>
                      </a:lnTo>
                      <a:lnTo>
                        <a:pt x="657" y="703"/>
                      </a:lnTo>
                      <a:lnTo>
                        <a:pt x="657" y="689"/>
                      </a:lnTo>
                      <a:lnTo>
                        <a:pt x="657" y="675"/>
                      </a:lnTo>
                      <a:lnTo>
                        <a:pt x="657" y="659"/>
                      </a:lnTo>
                      <a:lnTo>
                        <a:pt x="657" y="645"/>
                      </a:lnTo>
                      <a:lnTo>
                        <a:pt x="639" y="645"/>
                      </a:lnTo>
                      <a:lnTo>
                        <a:pt x="621" y="645"/>
                      </a:lnTo>
                      <a:lnTo>
                        <a:pt x="603" y="645"/>
                      </a:lnTo>
                      <a:lnTo>
                        <a:pt x="585" y="645"/>
                      </a:lnTo>
                      <a:close/>
                      <a:moveTo>
                        <a:pt x="486" y="645"/>
                      </a:moveTo>
                      <a:lnTo>
                        <a:pt x="486" y="659"/>
                      </a:lnTo>
                      <a:lnTo>
                        <a:pt x="486" y="675"/>
                      </a:lnTo>
                      <a:lnTo>
                        <a:pt x="486" y="689"/>
                      </a:lnTo>
                      <a:lnTo>
                        <a:pt x="486" y="703"/>
                      </a:lnTo>
                      <a:lnTo>
                        <a:pt x="503" y="703"/>
                      </a:lnTo>
                      <a:lnTo>
                        <a:pt x="521" y="703"/>
                      </a:lnTo>
                      <a:lnTo>
                        <a:pt x="539" y="703"/>
                      </a:lnTo>
                      <a:lnTo>
                        <a:pt x="557" y="703"/>
                      </a:lnTo>
                      <a:lnTo>
                        <a:pt x="557" y="689"/>
                      </a:lnTo>
                      <a:lnTo>
                        <a:pt x="557" y="675"/>
                      </a:lnTo>
                      <a:lnTo>
                        <a:pt x="557" y="659"/>
                      </a:lnTo>
                      <a:lnTo>
                        <a:pt x="557" y="645"/>
                      </a:lnTo>
                      <a:lnTo>
                        <a:pt x="539" y="645"/>
                      </a:lnTo>
                      <a:lnTo>
                        <a:pt x="521" y="645"/>
                      </a:lnTo>
                      <a:lnTo>
                        <a:pt x="503" y="645"/>
                      </a:lnTo>
                      <a:lnTo>
                        <a:pt x="486" y="645"/>
                      </a:lnTo>
                      <a:close/>
                      <a:moveTo>
                        <a:pt x="386" y="645"/>
                      </a:moveTo>
                      <a:lnTo>
                        <a:pt x="386" y="659"/>
                      </a:lnTo>
                      <a:lnTo>
                        <a:pt x="386" y="675"/>
                      </a:lnTo>
                      <a:lnTo>
                        <a:pt x="386" y="689"/>
                      </a:lnTo>
                      <a:lnTo>
                        <a:pt x="386" y="703"/>
                      </a:lnTo>
                      <a:lnTo>
                        <a:pt x="404" y="703"/>
                      </a:lnTo>
                      <a:lnTo>
                        <a:pt x="421" y="703"/>
                      </a:lnTo>
                      <a:lnTo>
                        <a:pt x="439" y="703"/>
                      </a:lnTo>
                      <a:lnTo>
                        <a:pt x="457" y="703"/>
                      </a:lnTo>
                      <a:lnTo>
                        <a:pt x="457" y="689"/>
                      </a:lnTo>
                      <a:lnTo>
                        <a:pt x="457" y="675"/>
                      </a:lnTo>
                      <a:lnTo>
                        <a:pt x="457" y="659"/>
                      </a:lnTo>
                      <a:lnTo>
                        <a:pt x="457" y="645"/>
                      </a:lnTo>
                      <a:lnTo>
                        <a:pt x="439" y="645"/>
                      </a:lnTo>
                      <a:lnTo>
                        <a:pt x="421" y="645"/>
                      </a:lnTo>
                      <a:lnTo>
                        <a:pt x="404" y="645"/>
                      </a:lnTo>
                      <a:lnTo>
                        <a:pt x="386" y="645"/>
                      </a:lnTo>
                      <a:close/>
                      <a:moveTo>
                        <a:pt x="286" y="645"/>
                      </a:moveTo>
                      <a:lnTo>
                        <a:pt x="286" y="659"/>
                      </a:lnTo>
                      <a:lnTo>
                        <a:pt x="286" y="675"/>
                      </a:lnTo>
                      <a:lnTo>
                        <a:pt x="286" y="689"/>
                      </a:lnTo>
                      <a:lnTo>
                        <a:pt x="286" y="703"/>
                      </a:lnTo>
                      <a:lnTo>
                        <a:pt x="304" y="703"/>
                      </a:lnTo>
                      <a:lnTo>
                        <a:pt x="322" y="703"/>
                      </a:lnTo>
                      <a:lnTo>
                        <a:pt x="339" y="703"/>
                      </a:lnTo>
                      <a:lnTo>
                        <a:pt x="357" y="703"/>
                      </a:lnTo>
                      <a:lnTo>
                        <a:pt x="357" y="689"/>
                      </a:lnTo>
                      <a:lnTo>
                        <a:pt x="357" y="675"/>
                      </a:lnTo>
                      <a:lnTo>
                        <a:pt x="357" y="659"/>
                      </a:lnTo>
                      <a:lnTo>
                        <a:pt x="357" y="645"/>
                      </a:lnTo>
                      <a:lnTo>
                        <a:pt x="339" y="645"/>
                      </a:lnTo>
                      <a:lnTo>
                        <a:pt x="322" y="645"/>
                      </a:lnTo>
                      <a:lnTo>
                        <a:pt x="304" y="645"/>
                      </a:lnTo>
                      <a:lnTo>
                        <a:pt x="286" y="645"/>
                      </a:lnTo>
                      <a:close/>
                      <a:moveTo>
                        <a:pt x="85" y="645"/>
                      </a:moveTo>
                      <a:lnTo>
                        <a:pt x="85" y="659"/>
                      </a:lnTo>
                      <a:lnTo>
                        <a:pt x="85" y="675"/>
                      </a:lnTo>
                      <a:lnTo>
                        <a:pt x="85" y="689"/>
                      </a:lnTo>
                      <a:lnTo>
                        <a:pt x="85" y="703"/>
                      </a:lnTo>
                      <a:lnTo>
                        <a:pt x="103" y="703"/>
                      </a:lnTo>
                      <a:lnTo>
                        <a:pt x="121" y="703"/>
                      </a:lnTo>
                      <a:lnTo>
                        <a:pt x="139" y="703"/>
                      </a:lnTo>
                      <a:lnTo>
                        <a:pt x="156" y="703"/>
                      </a:lnTo>
                      <a:lnTo>
                        <a:pt x="156" y="689"/>
                      </a:lnTo>
                      <a:lnTo>
                        <a:pt x="156" y="675"/>
                      </a:lnTo>
                      <a:lnTo>
                        <a:pt x="156" y="659"/>
                      </a:lnTo>
                      <a:lnTo>
                        <a:pt x="156" y="645"/>
                      </a:lnTo>
                      <a:lnTo>
                        <a:pt x="139" y="645"/>
                      </a:lnTo>
                      <a:lnTo>
                        <a:pt x="121" y="645"/>
                      </a:lnTo>
                      <a:lnTo>
                        <a:pt x="103" y="645"/>
                      </a:lnTo>
                      <a:lnTo>
                        <a:pt x="85" y="645"/>
                      </a:lnTo>
                      <a:close/>
                      <a:moveTo>
                        <a:pt x="185" y="645"/>
                      </a:moveTo>
                      <a:lnTo>
                        <a:pt x="185" y="659"/>
                      </a:lnTo>
                      <a:lnTo>
                        <a:pt x="185" y="675"/>
                      </a:lnTo>
                      <a:lnTo>
                        <a:pt x="185" y="689"/>
                      </a:lnTo>
                      <a:lnTo>
                        <a:pt x="185" y="703"/>
                      </a:lnTo>
                      <a:lnTo>
                        <a:pt x="203" y="703"/>
                      </a:lnTo>
                      <a:lnTo>
                        <a:pt x="221" y="703"/>
                      </a:lnTo>
                      <a:lnTo>
                        <a:pt x="238" y="703"/>
                      </a:lnTo>
                      <a:lnTo>
                        <a:pt x="256" y="703"/>
                      </a:lnTo>
                      <a:lnTo>
                        <a:pt x="256" y="689"/>
                      </a:lnTo>
                      <a:lnTo>
                        <a:pt x="256" y="675"/>
                      </a:lnTo>
                      <a:lnTo>
                        <a:pt x="256" y="659"/>
                      </a:lnTo>
                      <a:lnTo>
                        <a:pt x="256" y="645"/>
                      </a:lnTo>
                      <a:lnTo>
                        <a:pt x="238" y="645"/>
                      </a:lnTo>
                      <a:lnTo>
                        <a:pt x="221" y="645"/>
                      </a:lnTo>
                      <a:lnTo>
                        <a:pt x="203" y="645"/>
                      </a:lnTo>
                      <a:lnTo>
                        <a:pt x="185" y="645"/>
                      </a:lnTo>
                      <a:close/>
                      <a:moveTo>
                        <a:pt x="585" y="544"/>
                      </a:moveTo>
                      <a:lnTo>
                        <a:pt x="585" y="558"/>
                      </a:lnTo>
                      <a:lnTo>
                        <a:pt x="585" y="574"/>
                      </a:lnTo>
                      <a:lnTo>
                        <a:pt x="585" y="588"/>
                      </a:lnTo>
                      <a:lnTo>
                        <a:pt x="585" y="602"/>
                      </a:lnTo>
                      <a:lnTo>
                        <a:pt x="603" y="602"/>
                      </a:lnTo>
                      <a:lnTo>
                        <a:pt x="621" y="602"/>
                      </a:lnTo>
                      <a:lnTo>
                        <a:pt x="639" y="602"/>
                      </a:lnTo>
                      <a:lnTo>
                        <a:pt x="657" y="602"/>
                      </a:lnTo>
                      <a:lnTo>
                        <a:pt x="657" y="588"/>
                      </a:lnTo>
                      <a:lnTo>
                        <a:pt x="657" y="574"/>
                      </a:lnTo>
                      <a:lnTo>
                        <a:pt x="657" y="558"/>
                      </a:lnTo>
                      <a:lnTo>
                        <a:pt x="657" y="544"/>
                      </a:lnTo>
                      <a:lnTo>
                        <a:pt x="639" y="544"/>
                      </a:lnTo>
                      <a:lnTo>
                        <a:pt x="621" y="544"/>
                      </a:lnTo>
                      <a:lnTo>
                        <a:pt x="603" y="544"/>
                      </a:lnTo>
                      <a:lnTo>
                        <a:pt x="585" y="544"/>
                      </a:lnTo>
                      <a:close/>
                      <a:moveTo>
                        <a:pt x="486" y="544"/>
                      </a:moveTo>
                      <a:lnTo>
                        <a:pt x="486" y="558"/>
                      </a:lnTo>
                      <a:lnTo>
                        <a:pt x="486" y="574"/>
                      </a:lnTo>
                      <a:lnTo>
                        <a:pt x="486" y="588"/>
                      </a:lnTo>
                      <a:lnTo>
                        <a:pt x="486" y="602"/>
                      </a:lnTo>
                      <a:lnTo>
                        <a:pt x="503" y="602"/>
                      </a:lnTo>
                      <a:lnTo>
                        <a:pt x="521" y="602"/>
                      </a:lnTo>
                      <a:lnTo>
                        <a:pt x="539" y="602"/>
                      </a:lnTo>
                      <a:lnTo>
                        <a:pt x="557" y="602"/>
                      </a:lnTo>
                      <a:lnTo>
                        <a:pt x="557" y="588"/>
                      </a:lnTo>
                      <a:lnTo>
                        <a:pt x="557" y="574"/>
                      </a:lnTo>
                      <a:lnTo>
                        <a:pt x="557" y="558"/>
                      </a:lnTo>
                      <a:lnTo>
                        <a:pt x="557" y="544"/>
                      </a:lnTo>
                      <a:lnTo>
                        <a:pt x="539" y="544"/>
                      </a:lnTo>
                      <a:lnTo>
                        <a:pt x="521" y="544"/>
                      </a:lnTo>
                      <a:lnTo>
                        <a:pt x="503" y="544"/>
                      </a:lnTo>
                      <a:lnTo>
                        <a:pt x="486" y="544"/>
                      </a:lnTo>
                      <a:close/>
                      <a:moveTo>
                        <a:pt x="386" y="544"/>
                      </a:moveTo>
                      <a:lnTo>
                        <a:pt x="386" y="558"/>
                      </a:lnTo>
                      <a:lnTo>
                        <a:pt x="386" y="574"/>
                      </a:lnTo>
                      <a:lnTo>
                        <a:pt x="386" y="588"/>
                      </a:lnTo>
                      <a:lnTo>
                        <a:pt x="386" y="602"/>
                      </a:lnTo>
                      <a:lnTo>
                        <a:pt x="404" y="602"/>
                      </a:lnTo>
                      <a:lnTo>
                        <a:pt x="421" y="602"/>
                      </a:lnTo>
                      <a:lnTo>
                        <a:pt x="439" y="602"/>
                      </a:lnTo>
                      <a:lnTo>
                        <a:pt x="457" y="602"/>
                      </a:lnTo>
                      <a:lnTo>
                        <a:pt x="457" y="588"/>
                      </a:lnTo>
                      <a:lnTo>
                        <a:pt x="457" y="574"/>
                      </a:lnTo>
                      <a:lnTo>
                        <a:pt x="457" y="558"/>
                      </a:lnTo>
                      <a:lnTo>
                        <a:pt x="457" y="544"/>
                      </a:lnTo>
                      <a:lnTo>
                        <a:pt x="439" y="544"/>
                      </a:lnTo>
                      <a:lnTo>
                        <a:pt x="421" y="544"/>
                      </a:lnTo>
                      <a:lnTo>
                        <a:pt x="404" y="544"/>
                      </a:lnTo>
                      <a:lnTo>
                        <a:pt x="386" y="544"/>
                      </a:lnTo>
                      <a:close/>
                      <a:moveTo>
                        <a:pt x="286" y="544"/>
                      </a:moveTo>
                      <a:lnTo>
                        <a:pt x="286" y="558"/>
                      </a:lnTo>
                      <a:lnTo>
                        <a:pt x="286" y="574"/>
                      </a:lnTo>
                      <a:lnTo>
                        <a:pt x="286" y="588"/>
                      </a:lnTo>
                      <a:lnTo>
                        <a:pt x="286" y="602"/>
                      </a:lnTo>
                      <a:lnTo>
                        <a:pt x="304" y="602"/>
                      </a:lnTo>
                      <a:lnTo>
                        <a:pt x="322" y="602"/>
                      </a:lnTo>
                      <a:lnTo>
                        <a:pt x="339" y="602"/>
                      </a:lnTo>
                      <a:lnTo>
                        <a:pt x="357" y="602"/>
                      </a:lnTo>
                      <a:lnTo>
                        <a:pt x="357" y="588"/>
                      </a:lnTo>
                      <a:lnTo>
                        <a:pt x="357" y="574"/>
                      </a:lnTo>
                      <a:lnTo>
                        <a:pt x="357" y="558"/>
                      </a:lnTo>
                      <a:lnTo>
                        <a:pt x="357" y="544"/>
                      </a:lnTo>
                      <a:lnTo>
                        <a:pt x="339" y="544"/>
                      </a:lnTo>
                      <a:lnTo>
                        <a:pt x="322" y="544"/>
                      </a:lnTo>
                      <a:lnTo>
                        <a:pt x="304" y="544"/>
                      </a:lnTo>
                      <a:lnTo>
                        <a:pt x="286" y="544"/>
                      </a:lnTo>
                      <a:close/>
                      <a:moveTo>
                        <a:pt x="85" y="544"/>
                      </a:moveTo>
                      <a:lnTo>
                        <a:pt x="85" y="558"/>
                      </a:lnTo>
                      <a:lnTo>
                        <a:pt x="85" y="574"/>
                      </a:lnTo>
                      <a:lnTo>
                        <a:pt x="85" y="588"/>
                      </a:lnTo>
                      <a:lnTo>
                        <a:pt x="85" y="602"/>
                      </a:lnTo>
                      <a:lnTo>
                        <a:pt x="103" y="602"/>
                      </a:lnTo>
                      <a:lnTo>
                        <a:pt x="121" y="602"/>
                      </a:lnTo>
                      <a:lnTo>
                        <a:pt x="139" y="602"/>
                      </a:lnTo>
                      <a:lnTo>
                        <a:pt x="156" y="602"/>
                      </a:lnTo>
                      <a:lnTo>
                        <a:pt x="156" y="588"/>
                      </a:lnTo>
                      <a:lnTo>
                        <a:pt x="156" y="574"/>
                      </a:lnTo>
                      <a:lnTo>
                        <a:pt x="156" y="558"/>
                      </a:lnTo>
                      <a:lnTo>
                        <a:pt x="156" y="544"/>
                      </a:lnTo>
                      <a:lnTo>
                        <a:pt x="139" y="544"/>
                      </a:lnTo>
                      <a:lnTo>
                        <a:pt x="121" y="544"/>
                      </a:lnTo>
                      <a:lnTo>
                        <a:pt x="103" y="544"/>
                      </a:lnTo>
                      <a:lnTo>
                        <a:pt x="85" y="544"/>
                      </a:lnTo>
                      <a:close/>
                      <a:moveTo>
                        <a:pt x="185" y="544"/>
                      </a:moveTo>
                      <a:lnTo>
                        <a:pt x="185" y="558"/>
                      </a:lnTo>
                      <a:lnTo>
                        <a:pt x="185" y="574"/>
                      </a:lnTo>
                      <a:lnTo>
                        <a:pt x="185" y="588"/>
                      </a:lnTo>
                      <a:lnTo>
                        <a:pt x="185" y="602"/>
                      </a:lnTo>
                      <a:lnTo>
                        <a:pt x="203" y="602"/>
                      </a:lnTo>
                      <a:lnTo>
                        <a:pt x="221" y="602"/>
                      </a:lnTo>
                      <a:lnTo>
                        <a:pt x="238" y="602"/>
                      </a:lnTo>
                      <a:lnTo>
                        <a:pt x="256" y="602"/>
                      </a:lnTo>
                      <a:lnTo>
                        <a:pt x="256" y="588"/>
                      </a:lnTo>
                      <a:lnTo>
                        <a:pt x="256" y="574"/>
                      </a:lnTo>
                      <a:lnTo>
                        <a:pt x="256" y="558"/>
                      </a:lnTo>
                      <a:lnTo>
                        <a:pt x="256" y="544"/>
                      </a:lnTo>
                      <a:lnTo>
                        <a:pt x="238" y="544"/>
                      </a:lnTo>
                      <a:lnTo>
                        <a:pt x="221" y="544"/>
                      </a:lnTo>
                      <a:lnTo>
                        <a:pt x="203" y="544"/>
                      </a:lnTo>
                      <a:lnTo>
                        <a:pt x="185" y="544"/>
                      </a:lnTo>
                      <a:close/>
                      <a:moveTo>
                        <a:pt x="585" y="443"/>
                      </a:moveTo>
                      <a:lnTo>
                        <a:pt x="585" y="457"/>
                      </a:lnTo>
                      <a:lnTo>
                        <a:pt x="585" y="473"/>
                      </a:lnTo>
                      <a:lnTo>
                        <a:pt x="585" y="487"/>
                      </a:lnTo>
                      <a:lnTo>
                        <a:pt x="585" y="501"/>
                      </a:lnTo>
                      <a:lnTo>
                        <a:pt x="603" y="501"/>
                      </a:lnTo>
                      <a:lnTo>
                        <a:pt x="621" y="501"/>
                      </a:lnTo>
                      <a:lnTo>
                        <a:pt x="639" y="501"/>
                      </a:lnTo>
                      <a:lnTo>
                        <a:pt x="657" y="501"/>
                      </a:lnTo>
                      <a:lnTo>
                        <a:pt x="657" y="487"/>
                      </a:lnTo>
                      <a:lnTo>
                        <a:pt x="657" y="473"/>
                      </a:lnTo>
                      <a:lnTo>
                        <a:pt x="657" y="457"/>
                      </a:lnTo>
                      <a:lnTo>
                        <a:pt x="657" y="443"/>
                      </a:lnTo>
                      <a:lnTo>
                        <a:pt x="639" y="443"/>
                      </a:lnTo>
                      <a:lnTo>
                        <a:pt x="621" y="443"/>
                      </a:lnTo>
                      <a:lnTo>
                        <a:pt x="603" y="443"/>
                      </a:lnTo>
                      <a:lnTo>
                        <a:pt x="585" y="443"/>
                      </a:lnTo>
                      <a:close/>
                      <a:moveTo>
                        <a:pt x="486" y="443"/>
                      </a:moveTo>
                      <a:lnTo>
                        <a:pt x="486" y="457"/>
                      </a:lnTo>
                      <a:lnTo>
                        <a:pt x="486" y="473"/>
                      </a:lnTo>
                      <a:lnTo>
                        <a:pt x="486" y="487"/>
                      </a:lnTo>
                      <a:lnTo>
                        <a:pt x="486" y="501"/>
                      </a:lnTo>
                      <a:lnTo>
                        <a:pt x="503" y="501"/>
                      </a:lnTo>
                      <a:lnTo>
                        <a:pt x="521" y="501"/>
                      </a:lnTo>
                      <a:lnTo>
                        <a:pt x="539" y="501"/>
                      </a:lnTo>
                      <a:lnTo>
                        <a:pt x="557" y="501"/>
                      </a:lnTo>
                      <a:lnTo>
                        <a:pt x="557" y="487"/>
                      </a:lnTo>
                      <a:lnTo>
                        <a:pt x="557" y="473"/>
                      </a:lnTo>
                      <a:lnTo>
                        <a:pt x="557" y="457"/>
                      </a:lnTo>
                      <a:lnTo>
                        <a:pt x="557" y="443"/>
                      </a:lnTo>
                      <a:lnTo>
                        <a:pt x="539" y="443"/>
                      </a:lnTo>
                      <a:lnTo>
                        <a:pt x="521" y="443"/>
                      </a:lnTo>
                      <a:lnTo>
                        <a:pt x="503" y="443"/>
                      </a:lnTo>
                      <a:lnTo>
                        <a:pt x="486" y="443"/>
                      </a:lnTo>
                      <a:close/>
                      <a:moveTo>
                        <a:pt x="386" y="443"/>
                      </a:moveTo>
                      <a:lnTo>
                        <a:pt x="386" y="457"/>
                      </a:lnTo>
                      <a:lnTo>
                        <a:pt x="386" y="473"/>
                      </a:lnTo>
                      <a:lnTo>
                        <a:pt x="386" y="487"/>
                      </a:lnTo>
                      <a:lnTo>
                        <a:pt x="386" y="501"/>
                      </a:lnTo>
                      <a:lnTo>
                        <a:pt x="404" y="501"/>
                      </a:lnTo>
                      <a:lnTo>
                        <a:pt x="421" y="501"/>
                      </a:lnTo>
                      <a:lnTo>
                        <a:pt x="439" y="501"/>
                      </a:lnTo>
                      <a:lnTo>
                        <a:pt x="457" y="501"/>
                      </a:lnTo>
                      <a:lnTo>
                        <a:pt x="457" y="487"/>
                      </a:lnTo>
                      <a:lnTo>
                        <a:pt x="457" y="473"/>
                      </a:lnTo>
                      <a:lnTo>
                        <a:pt x="457" y="457"/>
                      </a:lnTo>
                      <a:lnTo>
                        <a:pt x="457" y="443"/>
                      </a:lnTo>
                      <a:lnTo>
                        <a:pt x="439" y="443"/>
                      </a:lnTo>
                      <a:lnTo>
                        <a:pt x="421" y="443"/>
                      </a:lnTo>
                      <a:lnTo>
                        <a:pt x="404" y="443"/>
                      </a:lnTo>
                      <a:lnTo>
                        <a:pt x="386" y="443"/>
                      </a:lnTo>
                      <a:close/>
                      <a:moveTo>
                        <a:pt x="286" y="443"/>
                      </a:moveTo>
                      <a:lnTo>
                        <a:pt x="286" y="457"/>
                      </a:lnTo>
                      <a:lnTo>
                        <a:pt x="286" y="473"/>
                      </a:lnTo>
                      <a:lnTo>
                        <a:pt x="286" y="487"/>
                      </a:lnTo>
                      <a:lnTo>
                        <a:pt x="286" y="501"/>
                      </a:lnTo>
                      <a:lnTo>
                        <a:pt x="304" y="501"/>
                      </a:lnTo>
                      <a:lnTo>
                        <a:pt x="322" y="501"/>
                      </a:lnTo>
                      <a:lnTo>
                        <a:pt x="339" y="501"/>
                      </a:lnTo>
                      <a:lnTo>
                        <a:pt x="357" y="501"/>
                      </a:lnTo>
                      <a:lnTo>
                        <a:pt x="357" y="487"/>
                      </a:lnTo>
                      <a:lnTo>
                        <a:pt x="357" y="473"/>
                      </a:lnTo>
                      <a:lnTo>
                        <a:pt x="357" y="457"/>
                      </a:lnTo>
                      <a:lnTo>
                        <a:pt x="357" y="443"/>
                      </a:lnTo>
                      <a:lnTo>
                        <a:pt x="339" y="443"/>
                      </a:lnTo>
                      <a:lnTo>
                        <a:pt x="322" y="443"/>
                      </a:lnTo>
                      <a:lnTo>
                        <a:pt x="304" y="443"/>
                      </a:lnTo>
                      <a:lnTo>
                        <a:pt x="286" y="443"/>
                      </a:lnTo>
                      <a:close/>
                      <a:moveTo>
                        <a:pt x="85" y="443"/>
                      </a:moveTo>
                      <a:lnTo>
                        <a:pt x="85" y="457"/>
                      </a:lnTo>
                      <a:lnTo>
                        <a:pt x="85" y="473"/>
                      </a:lnTo>
                      <a:lnTo>
                        <a:pt x="85" y="487"/>
                      </a:lnTo>
                      <a:lnTo>
                        <a:pt x="85" y="501"/>
                      </a:lnTo>
                      <a:lnTo>
                        <a:pt x="103" y="501"/>
                      </a:lnTo>
                      <a:lnTo>
                        <a:pt x="121" y="501"/>
                      </a:lnTo>
                      <a:lnTo>
                        <a:pt x="139" y="501"/>
                      </a:lnTo>
                      <a:lnTo>
                        <a:pt x="156" y="501"/>
                      </a:lnTo>
                      <a:lnTo>
                        <a:pt x="156" y="487"/>
                      </a:lnTo>
                      <a:lnTo>
                        <a:pt x="156" y="473"/>
                      </a:lnTo>
                      <a:lnTo>
                        <a:pt x="156" y="457"/>
                      </a:lnTo>
                      <a:lnTo>
                        <a:pt x="156" y="443"/>
                      </a:lnTo>
                      <a:lnTo>
                        <a:pt x="139" y="443"/>
                      </a:lnTo>
                      <a:lnTo>
                        <a:pt x="121" y="443"/>
                      </a:lnTo>
                      <a:lnTo>
                        <a:pt x="103" y="443"/>
                      </a:lnTo>
                      <a:lnTo>
                        <a:pt x="85" y="443"/>
                      </a:lnTo>
                      <a:close/>
                      <a:moveTo>
                        <a:pt x="185" y="443"/>
                      </a:moveTo>
                      <a:lnTo>
                        <a:pt x="185" y="457"/>
                      </a:lnTo>
                      <a:lnTo>
                        <a:pt x="185" y="473"/>
                      </a:lnTo>
                      <a:lnTo>
                        <a:pt x="185" y="487"/>
                      </a:lnTo>
                      <a:lnTo>
                        <a:pt x="185" y="501"/>
                      </a:lnTo>
                      <a:lnTo>
                        <a:pt x="203" y="501"/>
                      </a:lnTo>
                      <a:lnTo>
                        <a:pt x="221" y="501"/>
                      </a:lnTo>
                      <a:lnTo>
                        <a:pt x="238" y="501"/>
                      </a:lnTo>
                      <a:lnTo>
                        <a:pt x="256" y="501"/>
                      </a:lnTo>
                      <a:lnTo>
                        <a:pt x="256" y="487"/>
                      </a:lnTo>
                      <a:lnTo>
                        <a:pt x="256" y="473"/>
                      </a:lnTo>
                      <a:lnTo>
                        <a:pt x="256" y="457"/>
                      </a:lnTo>
                      <a:lnTo>
                        <a:pt x="256" y="443"/>
                      </a:lnTo>
                      <a:lnTo>
                        <a:pt x="238" y="443"/>
                      </a:lnTo>
                      <a:lnTo>
                        <a:pt x="221" y="443"/>
                      </a:lnTo>
                      <a:lnTo>
                        <a:pt x="203" y="443"/>
                      </a:lnTo>
                      <a:lnTo>
                        <a:pt x="185" y="443"/>
                      </a:lnTo>
                      <a:close/>
                      <a:moveTo>
                        <a:pt x="585" y="342"/>
                      </a:moveTo>
                      <a:lnTo>
                        <a:pt x="585" y="400"/>
                      </a:lnTo>
                      <a:lnTo>
                        <a:pt x="657" y="400"/>
                      </a:lnTo>
                      <a:lnTo>
                        <a:pt x="657" y="342"/>
                      </a:lnTo>
                      <a:lnTo>
                        <a:pt x="585" y="342"/>
                      </a:lnTo>
                      <a:close/>
                      <a:moveTo>
                        <a:pt x="486" y="342"/>
                      </a:moveTo>
                      <a:lnTo>
                        <a:pt x="486" y="356"/>
                      </a:lnTo>
                      <a:lnTo>
                        <a:pt x="486" y="372"/>
                      </a:lnTo>
                      <a:lnTo>
                        <a:pt x="486" y="386"/>
                      </a:lnTo>
                      <a:lnTo>
                        <a:pt x="486" y="400"/>
                      </a:lnTo>
                      <a:lnTo>
                        <a:pt x="503" y="400"/>
                      </a:lnTo>
                      <a:lnTo>
                        <a:pt x="521" y="400"/>
                      </a:lnTo>
                      <a:lnTo>
                        <a:pt x="539" y="400"/>
                      </a:lnTo>
                      <a:lnTo>
                        <a:pt x="557" y="400"/>
                      </a:lnTo>
                      <a:lnTo>
                        <a:pt x="557" y="386"/>
                      </a:lnTo>
                      <a:lnTo>
                        <a:pt x="557" y="372"/>
                      </a:lnTo>
                      <a:lnTo>
                        <a:pt x="557" y="356"/>
                      </a:lnTo>
                      <a:lnTo>
                        <a:pt x="557" y="342"/>
                      </a:lnTo>
                      <a:lnTo>
                        <a:pt x="539" y="342"/>
                      </a:lnTo>
                      <a:lnTo>
                        <a:pt x="521" y="342"/>
                      </a:lnTo>
                      <a:lnTo>
                        <a:pt x="503" y="342"/>
                      </a:lnTo>
                      <a:lnTo>
                        <a:pt x="486" y="342"/>
                      </a:lnTo>
                      <a:lnTo>
                        <a:pt x="486" y="342"/>
                      </a:lnTo>
                      <a:close/>
                      <a:moveTo>
                        <a:pt x="386" y="342"/>
                      </a:moveTo>
                      <a:lnTo>
                        <a:pt x="386" y="356"/>
                      </a:lnTo>
                      <a:lnTo>
                        <a:pt x="386" y="372"/>
                      </a:lnTo>
                      <a:lnTo>
                        <a:pt x="386" y="386"/>
                      </a:lnTo>
                      <a:lnTo>
                        <a:pt x="386" y="400"/>
                      </a:lnTo>
                      <a:lnTo>
                        <a:pt x="404" y="400"/>
                      </a:lnTo>
                      <a:lnTo>
                        <a:pt x="421" y="400"/>
                      </a:lnTo>
                      <a:lnTo>
                        <a:pt x="439" y="400"/>
                      </a:lnTo>
                      <a:lnTo>
                        <a:pt x="457" y="400"/>
                      </a:lnTo>
                      <a:lnTo>
                        <a:pt x="457" y="386"/>
                      </a:lnTo>
                      <a:lnTo>
                        <a:pt x="457" y="372"/>
                      </a:lnTo>
                      <a:lnTo>
                        <a:pt x="457" y="356"/>
                      </a:lnTo>
                      <a:lnTo>
                        <a:pt x="457" y="342"/>
                      </a:lnTo>
                      <a:lnTo>
                        <a:pt x="439" y="342"/>
                      </a:lnTo>
                      <a:lnTo>
                        <a:pt x="421" y="342"/>
                      </a:lnTo>
                      <a:lnTo>
                        <a:pt x="404" y="342"/>
                      </a:lnTo>
                      <a:lnTo>
                        <a:pt x="386" y="342"/>
                      </a:lnTo>
                      <a:lnTo>
                        <a:pt x="386" y="342"/>
                      </a:lnTo>
                      <a:close/>
                      <a:moveTo>
                        <a:pt x="286" y="342"/>
                      </a:moveTo>
                      <a:lnTo>
                        <a:pt x="286" y="356"/>
                      </a:lnTo>
                      <a:lnTo>
                        <a:pt x="286" y="372"/>
                      </a:lnTo>
                      <a:lnTo>
                        <a:pt x="286" y="386"/>
                      </a:lnTo>
                      <a:lnTo>
                        <a:pt x="286" y="400"/>
                      </a:lnTo>
                      <a:lnTo>
                        <a:pt x="304" y="400"/>
                      </a:lnTo>
                      <a:lnTo>
                        <a:pt x="322" y="400"/>
                      </a:lnTo>
                      <a:lnTo>
                        <a:pt x="339" y="400"/>
                      </a:lnTo>
                      <a:lnTo>
                        <a:pt x="357" y="400"/>
                      </a:lnTo>
                      <a:lnTo>
                        <a:pt x="357" y="386"/>
                      </a:lnTo>
                      <a:lnTo>
                        <a:pt x="357" y="372"/>
                      </a:lnTo>
                      <a:lnTo>
                        <a:pt x="357" y="356"/>
                      </a:lnTo>
                      <a:lnTo>
                        <a:pt x="357" y="342"/>
                      </a:lnTo>
                      <a:lnTo>
                        <a:pt x="339" y="342"/>
                      </a:lnTo>
                      <a:lnTo>
                        <a:pt x="322" y="342"/>
                      </a:lnTo>
                      <a:lnTo>
                        <a:pt x="304" y="342"/>
                      </a:lnTo>
                      <a:lnTo>
                        <a:pt x="286" y="342"/>
                      </a:lnTo>
                      <a:lnTo>
                        <a:pt x="286" y="342"/>
                      </a:lnTo>
                      <a:close/>
                      <a:moveTo>
                        <a:pt x="85" y="342"/>
                      </a:moveTo>
                      <a:lnTo>
                        <a:pt x="85" y="400"/>
                      </a:lnTo>
                      <a:lnTo>
                        <a:pt x="156" y="400"/>
                      </a:lnTo>
                      <a:lnTo>
                        <a:pt x="156" y="342"/>
                      </a:lnTo>
                      <a:lnTo>
                        <a:pt x="85" y="342"/>
                      </a:lnTo>
                      <a:close/>
                      <a:moveTo>
                        <a:pt x="185" y="342"/>
                      </a:moveTo>
                      <a:lnTo>
                        <a:pt x="185" y="356"/>
                      </a:lnTo>
                      <a:lnTo>
                        <a:pt x="185" y="372"/>
                      </a:lnTo>
                      <a:lnTo>
                        <a:pt x="185" y="386"/>
                      </a:lnTo>
                      <a:lnTo>
                        <a:pt x="185" y="400"/>
                      </a:lnTo>
                      <a:lnTo>
                        <a:pt x="203" y="400"/>
                      </a:lnTo>
                      <a:lnTo>
                        <a:pt x="221" y="400"/>
                      </a:lnTo>
                      <a:lnTo>
                        <a:pt x="238" y="400"/>
                      </a:lnTo>
                      <a:lnTo>
                        <a:pt x="256" y="400"/>
                      </a:lnTo>
                      <a:lnTo>
                        <a:pt x="256" y="386"/>
                      </a:lnTo>
                      <a:lnTo>
                        <a:pt x="256" y="372"/>
                      </a:lnTo>
                      <a:lnTo>
                        <a:pt x="256" y="356"/>
                      </a:lnTo>
                      <a:lnTo>
                        <a:pt x="256" y="342"/>
                      </a:lnTo>
                      <a:lnTo>
                        <a:pt x="238" y="342"/>
                      </a:lnTo>
                      <a:lnTo>
                        <a:pt x="221" y="342"/>
                      </a:lnTo>
                      <a:lnTo>
                        <a:pt x="203" y="342"/>
                      </a:lnTo>
                      <a:lnTo>
                        <a:pt x="185" y="342"/>
                      </a:lnTo>
                      <a:lnTo>
                        <a:pt x="185" y="342"/>
                      </a:lnTo>
                      <a:close/>
                      <a:moveTo>
                        <a:pt x="185" y="1251"/>
                      </a:moveTo>
                      <a:lnTo>
                        <a:pt x="185" y="1265"/>
                      </a:lnTo>
                      <a:lnTo>
                        <a:pt x="185" y="1280"/>
                      </a:lnTo>
                      <a:lnTo>
                        <a:pt x="185" y="1294"/>
                      </a:lnTo>
                      <a:lnTo>
                        <a:pt x="185" y="1309"/>
                      </a:lnTo>
                      <a:lnTo>
                        <a:pt x="203" y="1309"/>
                      </a:lnTo>
                      <a:lnTo>
                        <a:pt x="221" y="1309"/>
                      </a:lnTo>
                      <a:lnTo>
                        <a:pt x="238" y="1309"/>
                      </a:lnTo>
                      <a:lnTo>
                        <a:pt x="256" y="1309"/>
                      </a:lnTo>
                      <a:lnTo>
                        <a:pt x="256" y="1294"/>
                      </a:lnTo>
                      <a:lnTo>
                        <a:pt x="256" y="1280"/>
                      </a:lnTo>
                      <a:lnTo>
                        <a:pt x="256" y="1265"/>
                      </a:lnTo>
                      <a:lnTo>
                        <a:pt x="256" y="1251"/>
                      </a:lnTo>
                      <a:lnTo>
                        <a:pt x="238" y="1251"/>
                      </a:lnTo>
                      <a:lnTo>
                        <a:pt x="221" y="1251"/>
                      </a:lnTo>
                      <a:lnTo>
                        <a:pt x="203" y="1251"/>
                      </a:lnTo>
                      <a:lnTo>
                        <a:pt x="185" y="1251"/>
                      </a:lnTo>
                      <a:lnTo>
                        <a:pt x="185" y="1251"/>
                      </a:lnTo>
                      <a:close/>
                      <a:moveTo>
                        <a:pt x="735" y="1505"/>
                      </a:moveTo>
                      <a:lnTo>
                        <a:pt x="11" y="1505"/>
                      </a:lnTo>
                      <a:lnTo>
                        <a:pt x="11" y="263"/>
                      </a:lnTo>
                      <a:lnTo>
                        <a:pt x="0" y="263"/>
                      </a:lnTo>
                      <a:lnTo>
                        <a:pt x="0" y="219"/>
                      </a:lnTo>
                      <a:lnTo>
                        <a:pt x="95" y="219"/>
                      </a:lnTo>
                      <a:lnTo>
                        <a:pt x="95" y="133"/>
                      </a:lnTo>
                      <a:lnTo>
                        <a:pt x="339" y="133"/>
                      </a:lnTo>
                      <a:lnTo>
                        <a:pt x="339" y="67"/>
                      </a:lnTo>
                      <a:lnTo>
                        <a:pt x="431" y="67"/>
                      </a:lnTo>
                      <a:lnTo>
                        <a:pt x="431" y="0"/>
                      </a:lnTo>
                      <a:lnTo>
                        <a:pt x="464" y="0"/>
                      </a:lnTo>
                      <a:lnTo>
                        <a:pt x="464" y="219"/>
                      </a:lnTo>
                      <a:lnTo>
                        <a:pt x="746" y="219"/>
                      </a:lnTo>
                      <a:lnTo>
                        <a:pt x="746" y="263"/>
                      </a:lnTo>
                      <a:lnTo>
                        <a:pt x="735" y="263"/>
                      </a:lnTo>
                      <a:lnTo>
                        <a:pt x="735" y="1505"/>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grpSp>
            <p:nvGrpSpPr>
              <p:cNvPr id="21" name="组合 20"/>
              <p:cNvGrpSpPr/>
              <p:nvPr/>
            </p:nvGrpSpPr>
            <p:grpSpPr>
              <a:xfrm>
                <a:off x="3462641" y="3949847"/>
                <a:ext cx="687382" cy="508943"/>
                <a:chOff x="3810001" y="3372231"/>
                <a:chExt cx="1282701" cy="1025525"/>
              </a:xfrm>
            </p:grpSpPr>
            <p:sp>
              <p:nvSpPr>
                <p:cNvPr id="27" name="Freeform 177"/>
                <p:cNvSpPr>
                  <a:spLocks noEditPoints="1"/>
                </p:cNvSpPr>
                <p:nvPr/>
              </p:nvSpPr>
              <p:spPr bwMode="auto">
                <a:xfrm>
                  <a:off x="4437064" y="3372231"/>
                  <a:ext cx="655638" cy="1025525"/>
                </a:xfrm>
                <a:custGeom>
                  <a:avLst/>
                  <a:gdLst>
                    <a:gd name="T0" fmla="*/ 605 w 1239"/>
                    <a:gd name="T1" fmla="*/ 330 h 1937"/>
                    <a:gd name="T2" fmla="*/ 658 w 1239"/>
                    <a:gd name="T3" fmla="*/ 329 h 1937"/>
                    <a:gd name="T4" fmla="*/ 646 w 1239"/>
                    <a:gd name="T5" fmla="*/ 358 h 1937"/>
                    <a:gd name="T6" fmla="*/ 658 w 1239"/>
                    <a:gd name="T7" fmla="*/ 329 h 1937"/>
                    <a:gd name="T8" fmla="*/ 669 w 1239"/>
                    <a:gd name="T9" fmla="*/ 310 h 1937"/>
                    <a:gd name="T10" fmla="*/ 1119 w 1239"/>
                    <a:gd name="T11" fmla="*/ 38 h 1937"/>
                    <a:gd name="T12" fmla="*/ 1114 w 1239"/>
                    <a:gd name="T13" fmla="*/ 36 h 1937"/>
                    <a:gd name="T14" fmla="*/ 125 w 1239"/>
                    <a:gd name="T15" fmla="*/ 45 h 1937"/>
                    <a:gd name="T16" fmla="*/ 126 w 1239"/>
                    <a:gd name="T17" fmla="*/ 34 h 1937"/>
                    <a:gd name="T18" fmla="*/ 108 w 1239"/>
                    <a:gd name="T19" fmla="*/ 38 h 1937"/>
                    <a:gd name="T20" fmla="*/ 1162 w 1239"/>
                    <a:gd name="T21" fmla="*/ 12 h 1937"/>
                    <a:gd name="T22" fmla="*/ 1136 w 1239"/>
                    <a:gd name="T23" fmla="*/ 23 h 1937"/>
                    <a:gd name="T24" fmla="*/ 1192 w 1239"/>
                    <a:gd name="T25" fmla="*/ 18 h 1937"/>
                    <a:gd name="T26" fmla="*/ 1190 w 1239"/>
                    <a:gd name="T27" fmla="*/ 8 h 1937"/>
                    <a:gd name="T28" fmla="*/ 582 w 1239"/>
                    <a:gd name="T29" fmla="*/ 1937 h 1937"/>
                    <a:gd name="T30" fmla="*/ 587 w 1239"/>
                    <a:gd name="T31" fmla="*/ 1448 h 1937"/>
                    <a:gd name="T32" fmla="*/ 594 w 1239"/>
                    <a:gd name="T33" fmla="*/ 961 h 1937"/>
                    <a:gd name="T34" fmla="*/ 602 w 1239"/>
                    <a:gd name="T35" fmla="*/ 473 h 1937"/>
                    <a:gd name="T36" fmla="*/ 587 w 1239"/>
                    <a:gd name="T37" fmla="*/ 372 h 1937"/>
                    <a:gd name="T38" fmla="*/ 568 w 1239"/>
                    <a:gd name="T39" fmla="*/ 342 h 1937"/>
                    <a:gd name="T40" fmla="*/ 549 w 1239"/>
                    <a:gd name="T41" fmla="*/ 269 h 1937"/>
                    <a:gd name="T42" fmla="*/ 486 w 1239"/>
                    <a:gd name="T43" fmla="*/ 178 h 1937"/>
                    <a:gd name="T44" fmla="*/ 404 w 1239"/>
                    <a:gd name="T45" fmla="*/ 122 h 1937"/>
                    <a:gd name="T46" fmla="*/ 317 w 1239"/>
                    <a:gd name="T47" fmla="*/ 93 h 1937"/>
                    <a:gd name="T48" fmla="*/ 145 w 1239"/>
                    <a:gd name="T49" fmla="*/ 76 h 1937"/>
                    <a:gd name="T50" fmla="*/ 8 w 1239"/>
                    <a:gd name="T51" fmla="*/ 52 h 1937"/>
                    <a:gd name="T52" fmla="*/ 0 w 1239"/>
                    <a:gd name="T53" fmla="*/ 24 h 1937"/>
                    <a:gd name="T54" fmla="*/ 40 w 1239"/>
                    <a:gd name="T55" fmla="*/ 14 h 1937"/>
                    <a:gd name="T56" fmla="*/ 133 w 1239"/>
                    <a:gd name="T57" fmla="*/ 30 h 1937"/>
                    <a:gd name="T58" fmla="*/ 247 w 1239"/>
                    <a:gd name="T59" fmla="*/ 69 h 1937"/>
                    <a:gd name="T60" fmla="*/ 347 w 1239"/>
                    <a:gd name="T61" fmla="*/ 86 h 1937"/>
                    <a:gd name="T62" fmla="*/ 419 w 1239"/>
                    <a:gd name="T63" fmla="*/ 114 h 1937"/>
                    <a:gd name="T64" fmla="*/ 480 w 1239"/>
                    <a:gd name="T65" fmla="*/ 153 h 1937"/>
                    <a:gd name="T66" fmla="*/ 529 w 1239"/>
                    <a:gd name="T67" fmla="*/ 204 h 1937"/>
                    <a:gd name="T68" fmla="*/ 564 w 1239"/>
                    <a:gd name="T69" fmla="*/ 267 h 1937"/>
                    <a:gd name="T70" fmla="*/ 603 w 1239"/>
                    <a:gd name="T71" fmla="*/ 314 h 1937"/>
                    <a:gd name="T72" fmla="*/ 631 w 1239"/>
                    <a:gd name="T73" fmla="*/ 304 h 1937"/>
                    <a:gd name="T74" fmla="*/ 659 w 1239"/>
                    <a:gd name="T75" fmla="*/ 313 h 1937"/>
                    <a:gd name="T76" fmla="*/ 708 w 1239"/>
                    <a:gd name="T77" fmla="*/ 206 h 1937"/>
                    <a:gd name="T78" fmla="*/ 786 w 1239"/>
                    <a:gd name="T79" fmla="*/ 128 h 1937"/>
                    <a:gd name="T80" fmla="*/ 891 w 1239"/>
                    <a:gd name="T81" fmla="*/ 76 h 1937"/>
                    <a:gd name="T82" fmla="*/ 1080 w 1239"/>
                    <a:gd name="T83" fmla="*/ 44 h 1937"/>
                    <a:gd name="T84" fmla="*/ 1129 w 1239"/>
                    <a:gd name="T85" fmla="*/ 12 h 1937"/>
                    <a:gd name="T86" fmla="*/ 1215 w 1239"/>
                    <a:gd name="T87" fmla="*/ 1 h 1937"/>
                    <a:gd name="T88" fmla="*/ 1234 w 1239"/>
                    <a:gd name="T89" fmla="*/ 27 h 1937"/>
                    <a:gd name="T90" fmla="*/ 1189 w 1239"/>
                    <a:gd name="T91" fmla="*/ 42 h 1937"/>
                    <a:gd name="T92" fmla="*/ 1123 w 1239"/>
                    <a:gd name="T93" fmla="*/ 58 h 1937"/>
                    <a:gd name="T94" fmla="*/ 1094 w 1239"/>
                    <a:gd name="T95" fmla="*/ 63 h 1937"/>
                    <a:gd name="T96" fmla="*/ 969 w 1239"/>
                    <a:gd name="T97" fmla="*/ 74 h 1937"/>
                    <a:gd name="T98" fmla="*/ 849 w 1239"/>
                    <a:gd name="T99" fmla="*/ 107 h 1937"/>
                    <a:gd name="T100" fmla="*/ 763 w 1239"/>
                    <a:gd name="T101" fmla="*/ 164 h 1937"/>
                    <a:gd name="T102" fmla="*/ 702 w 1239"/>
                    <a:gd name="T103" fmla="*/ 244 h 1937"/>
                    <a:gd name="T104" fmla="*/ 671 w 1239"/>
                    <a:gd name="T105" fmla="*/ 323 h 1937"/>
                    <a:gd name="T106" fmla="*/ 666 w 1239"/>
                    <a:gd name="T107" fmla="*/ 357 h 1937"/>
                    <a:gd name="T108" fmla="*/ 669 w 1239"/>
                    <a:gd name="T109" fmla="*/ 364 h 1937"/>
                    <a:gd name="T110" fmla="*/ 657 w 1239"/>
                    <a:gd name="T111" fmla="*/ 378 h 1937"/>
                    <a:gd name="T112" fmla="*/ 634 w 1239"/>
                    <a:gd name="T113" fmla="*/ 367 h 1937"/>
                    <a:gd name="T114" fmla="*/ 633 w 1239"/>
                    <a:gd name="T115" fmla="*/ 794 h 1937"/>
                    <a:gd name="T116" fmla="*/ 634 w 1239"/>
                    <a:gd name="T117" fmla="*/ 1268 h 1937"/>
                    <a:gd name="T118" fmla="*/ 636 w 1239"/>
                    <a:gd name="T119" fmla="*/ 1741 h 1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39" h="1937">
                      <a:moveTo>
                        <a:pt x="576" y="355"/>
                      </a:moveTo>
                      <a:lnTo>
                        <a:pt x="590" y="355"/>
                      </a:lnTo>
                      <a:lnTo>
                        <a:pt x="606" y="354"/>
                      </a:lnTo>
                      <a:lnTo>
                        <a:pt x="606" y="342"/>
                      </a:lnTo>
                      <a:lnTo>
                        <a:pt x="605" y="330"/>
                      </a:lnTo>
                      <a:lnTo>
                        <a:pt x="592" y="329"/>
                      </a:lnTo>
                      <a:lnTo>
                        <a:pt x="577" y="329"/>
                      </a:lnTo>
                      <a:lnTo>
                        <a:pt x="577" y="343"/>
                      </a:lnTo>
                      <a:lnTo>
                        <a:pt x="576" y="355"/>
                      </a:lnTo>
                      <a:close/>
                      <a:moveTo>
                        <a:pt x="658" y="329"/>
                      </a:moveTo>
                      <a:lnTo>
                        <a:pt x="644" y="328"/>
                      </a:lnTo>
                      <a:lnTo>
                        <a:pt x="630" y="329"/>
                      </a:lnTo>
                      <a:lnTo>
                        <a:pt x="632" y="342"/>
                      </a:lnTo>
                      <a:lnTo>
                        <a:pt x="632" y="355"/>
                      </a:lnTo>
                      <a:lnTo>
                        <a:pt x="646" y="358"/>
                      </a:lnTo>
                      <a:lnTo>
                        <a:pt x="661" y="358"/>
                      </a:lnTo>
                      <a:lnTo>
                        <a:pt x="657" y="355"/>
                      </a:lnTo>
                      <a:lnTo>
                        <a:pt x="655" y="352"/>
                      </a:lnTo>
                      <a:lnTo>
                        <a:pt x="657" y="340"/>
                      </a:lnTo>
                      <a:lnTo>
                        <a:pt x="658" y="329"/>
                      </a:lnTo>
                      <a:close/>
                      <a:moveTo>
                        <a:pt x="668" y="315"/>
                      </a:moveTo>
                      <a:lnTo>
                        <a:pt x="669" y="315"/>
                      </a:lnTo>
                      <a:lnTo>
                        <a:pt x="671" y="315"/>
                      </a:lnTo>
                      <a:lnTo>
                        <a:pt x="671" y="311"/>
                      </a:lnTo>
                      <a:lnTo>
                        <a:pt x="669" y="310"/>
                      </a:lnTo>
                      <a:lnTo>
                        <a:pt x="668" y="313"/>
                      </a:lnTo>
                      <a:lnTo>
                        <a:pt x="668" y="315"/>
                      </a:lnTo>
                      <a:close/>
                      <a:moveTo>
                        <a:pt x="1113" y="39"/>
                      </a:moveTo>
                      <a:lnTo>
                        <a:pt x="1117" y="39"/>
                      </a:lnTo>
                      <a:lnTo>
                        <a:pt x="1119" y="38"/>
                      </a:lnTo>
                      <a:lnTo>
                        <a:pt x="1121" y="37"/>
                      </a:lnTo>
                      <a:lnTo>
                        <a:pt x="1121" y="34"/>
                      </a:lnTo>
                      <a:lnTo>
                        <a:pt x="1119" y="34"/>
                      </a:lnTo>
                      <a:lnTo>
                        <a:pt x="1116" y="34"/>
                      </a:lnTo>
                      <a:lnTo>
                        <a:pt x="1114" y="36"/>
                      </a:lnTo>
                      <a:lnTo>
                        <a:pt x="1113" y="39"/>
                      </a:lnTo>
                      <a:close/>
                      <a:moveTo>
                        <a:pt x="106" y="39"/>
                      </a:moveTo>
                      <a:lnTo>
                        <a:pt x="112" y="43"/>
                      </a:lnTo>
                      <a:lnTo>
                        <a:pt x="118" y="44"/>
                      </a:lnTo>
                      <a:lnTo>
                        <a:pt x="125" y="45"/>
                      </a:lnTo>
                      <a:lnTo>
                        <a:pt x="132" y="44"/>
                      </a:lnTo>
                      <a:lnTo>
                        <a:pt x="131" y="40"/>
                      </a:lnTo>
                      <a:lnTo>
                        <a:pt x="132" y="37"/>
                      </a:lnTo>
                      <a:lnTo>
                        <a:pt x="129" y="36"/>
                      </a:lnTo>
                      <a:lnTo>
                        <a:pt x="126" y="34"/>
                      </a:lnTo>
                      <a:lnTo>
                        <a:pt x="124" y="34"/>
                      </a:lnTo>
                      <a:lnTo>
                        <a:pt x="120" y="34"/>
                      </a:lnTo>
                      <a:lnTo>
                        <a:pt x="113" y="36"/>
                      </a:lnTo>
                      <a:lnTo>
                        <a:pt x="106" y="36"/>
                      </a:lnTo>
                      <a:lnTo>
                        <a:pt x="108" y="38"/>
                      </a:lnTo>
                      <a:lnTo>
                        <a:pt x="109" y="38"/>
                      </a:lnTo>
                      <a:lnTo>
                        <a:pt x="108" y="38"/>
                      </a:lnTo>
                      <a:lnTo>
                        <a:pt x="106" y="39"/>
                      </a:lnTo>
                      <a:close/>
                      <a:moveTo>
                        <a:pt x="1174" y="11"/>
                      </a:moveTo>
                      <a:lnTo>
                        <a:pt x="1162" y="12"/>
                      </a:lnTo>
                      <a:lnTo>
                        <a:pt x="1151" y="14"/>
                      </a:lnTo>
                      <a:lnTo>
                        <a:pt x="1146" y="15"/>
                      </a:lnTo>
                      <a:lnTo>
                        <a:pt x="1143" y="17"/>
                      </a:lnTo>
                      <a:lnTo>
                        <a:pt x="1139" y="19"/>
                      </a:lnTo>
                      <a:lnTo>
                        <a:pt x="1136" y="23"/>
                      </a:lnTo>
                      <a:lnTo>
                        <a:pt x="1142" y="25"/>
                      </a:lnTo>
                      <a:lnTo>
                        <a:pt x="1148" y="27"/>
                      </a:lnTo>
                      <a:lnTo>
                        <a:pt x="1164" y="24"/>
                      </a:lnTo>
                      <a:lnTo>
                        <a:pt x="1183" y="19"/>
                      </a:lnTo>
                      <a:lnTo>
                        <a:pt x="1192" y="18"/>
                      </a:lnTo>
                      <a:lnTo>
                        <a:pt x="1197" y="15"/>
                      </a:lnTo>
                      <a:lnTo>
                        <a:pt x="1202" y="12"/>
                      </a:lnTo>
                      <a:lnTo>
                        <a:pt x="1207" y="8"/>
                      </a:lnTo>
                      <a:lnTo>
                        <a:pt x="1199" y="7"/>
                      </a:lnTo>
                      <a:lnTo>
                        <a:pt x="1190" y="8"/>
                      </a:lnTo>
                      <a:lnTo>
                        <a:pt x="1182" y="10"/>
                      </a:lnTo>
                      <a:lnTo>
                        <a:pt x="1174" y="11"/>
                      </a:lnTo>
                      <a:lnTo>
                        <a:pt x="1174" y="11"/>
                      </a:lnTo>
                      <a:close/>
                      <a:moveTo>
                        <a:pt x="636" y="1937"/>
                      </a:moveTo>
                      <a:lnTo>
                        <a:pt x="582" y="1937"/>
                      </a:lnTo>
                      <a:lnTo>
                        <a:pt x="583" y="1839"/>
                      </a:lnTo>
                      <a:lnTo>
                        <a:pt x="583" y="1740"/>
                      </a:lnTo>
                      <a:lnTo>
                        <a:pt x="584" y="1642"/>
                      </a:lnTo>
                      <a:lnTo>
                        <a:pt x="586" y="1545"/>
                      </a:lnTo>
                      <a:lnTo>
                        <a:pt x="587" y="1448"/>
                      </a:lnTo>
                      <a:lnTo>
                        <a:pt x="588" y="1350"/>
                      </a:lnTo>
                      <a:lnTo>
                        <a:pt x="589" y="1253"/>
                      </a:lnTo>
                      <a:lnTo>
                        <a:pt x="590" y="1155"/>
                      </a:lnTo>
                      <a:lnTo>
                        <a:pt x="592" y="1059"/>
                      </a:lnTo>
                      <a:lnTo>
                        <a:pt x="594" y="961"/>
                      </a:lnTo>
                      <a:lnTo>
                        <a:pt x="595" y="864"/>
                      </a:lnTo>
                      <a:lnTo>
                        <a:pt x="596" y="767"/>
                      </a:lnTo>
                      <a:lnTo>
                        <a:pt x="599" y="669"/>
                      </a:lnTo>
                      <a:lnTo>
                        <a:pt x="600" y="572"/>
                      </a:lnTo>
                      <a:lnTo>
                        <a:pt x="602" y="473"/>
                      </a:lnTo>
                      <a:lnTo>
                        <a:pt x="603" y="376"/>
                      </a:lnTo>
                      <a:lnTo>
                        <a:pt x="606" y="371"/>
                      </a:lnTo>
                      <a:lnTo>
                        <a:pt x="596" y="368"/>
                      </a:lnTo>
                      <a:lnTo>
                        <a:pt x="588" y="368"/>
                      </a:lnTo>
                      <a:lnTo>
                        <a:pt x="587" y="372"/>
                      </a:lnTo>
                      <a:lnTo>
                        <a:pt x="586" y="376"/>
                      </a:lnTo>
                      <a:lnTo>
                        <a:pt x="583" y="377"/>
                      </a:lnTo>
                      <a:lnTo>
                        <a:pt x="579" y="378"/>
                      </a:lnTo>
                      <a:lnTo>
                        <a:pt x="573" y="360"/>
                      </a:lnTo>
                      <a:lnTo>
                        <a:pt x="568" y="342"/>
                      </a:lnTo>
                      <a:lnTo>
                        <a:pt x="565" y="324"/>
                      </a:lnTo>
                      <a:lnTo>
                        <a:pt x="561" y="305"/>
                      </a:lnTo>
                      <a:lnTo>
                        <a:pt x="557" y="294"/>
                      </a:lnTo>
                      <a:lnTo>
                        <a:pt x="554" y="280"/>
                      </a:lnTo>
                      <a:lnTo>
                        <a:pt x="549" y="269"/>
                      </a:lnTo>
                      <a:lnTo>
                        <a:pt x="544" y="258"/>
                      </a:lnTo>
                      <a:lnTo>
                        <a:pt x="532" y="235"/>
                      </a:lnTo>
                      <a:lnTo>
                        <a:pt x="518" y="215"/>
                      </a:lnTo>
                      <a:lnTo>
                        <a:pt x="503" y="196"/>
                      </a:lnTo>
                      <a:lnTo>
                        <a:pt x="486" y="178"/>
                      </a:lnTo>
                      <a:lnTo>
                        <a:pt x="468" y="162"/>
                      </a:lnTo>
                      <a:lnTo>
                        <a:pt x="448" y="147"/>
                      </a:lnTo>
                      <a:lnTo>
                        <a:pt x="434" y="138"/>
                      </a:lnTo>
                      <a:lnTo>
                        <a:pt x="419" y="130"/>
                      </a:lnTo>
                      <a:lnTo>
                        <a:pt x="404" y="122"/>
                      </a:lnTo>
                      <a:lnTo>
                        <a:pt x="388" y="115"/>
                      </a:lnTo>
                      <a:lnTo>
                        <a:pt x="372" y="108"/>
                      </a:lnTo>
                      <a:lnTo>
                        <a:pt x="354" y="102"/>
                      </a:lnTo>
                      <a:lnTo>
                        <a:pt x="336" y="97"/>
                      </a:lnTo>
                      <a:lnTo>
                        <a:pt x="317" y="93"/>
                      </a:lnTo>
                      <a:lnTo>
                        <a:pt x="278" y="87"/>
                      </a:lnTo>
                      <a:lnTo>
                        <a:pt x="236" y="82"/>
                      </a:lnTo>
                      <a:lnTo>
                        <a:pt x="194" y="77"/>
                      </a:lnTo>
                      <a:lnTo>
                        <a:pt x="151" y="71"/>
                      </a:lnTo>
                      <a:lnTo>
                        <a:pt x="145" y="76"/>
                      </a:lnTo>
                      <a:lnTo>
                        <a:pt x="138" y="80"/>
                      </a:lnTo>
                      <a:lnTo>
                        <a:pt x="105" y="74"/>
                      </a:lnTo>
                      <a:lnTo>
                        <a:pt x="74" y="65"/>
                      </a:lnTo>
                      <a:lnTo>
                        <a:pt x="42" y="58"/>
                      </a:lnTo>
                      <a:lnTo>
                        <a:pt x="8" y="52"/>
                      </a:lnTo>
                      <a:lnTo>
                        <a:pt x="5" y="45"/>
                      </a:lnTo>
                      <a:lnTo>
                        <a:pt x="1" y="37"/>
                      </a:lnTo>
                      <a:lnTo>
                        <a:pt x="0" y="33"/>
                      </a:lnTo>
                      <a:lnTo>
                        <a:pt x="0" y="29"/>
                      </a:lnTo>
                      <a:lnTo>
                        <a:pt x="0" y="24"/>
                      </a:lnTo>
                      <a:lnTo>
                        <a:pt x="2" y="20"/>
                      </a:lnTo>
                      <a:lnTo>
                        <a:pt x="12" y="17"/>
                      </a:lnTo>
                      <a:lnTo>
                        <a:pt x="21" y="15"/>
                      </a:lnTo>
                      <a:lnTo>
                        <a:pt x="31" y="14"/>
                      </a:lnTo>
                      <a:lnTo>
                        <a:pt x="40" y="14"/>
                      </a:lnTo>
                      <a:lnTo>
                        <a:pt x="61" y="15"/>
                      </a:lnTo>
                      <a:lnTo>
                        <a:pt x="81" y="18"/>
                      </a:lnTo>
                      <a:lnTo>
                        <a:pt x="99" y="21"/>
                      </a:lnTo>
                      <a:lnTo>
                        <a:pt x="116" y="25"/>
                      </a:lnTo>
                      <a:lnTo>
                        <a:pt x="133" y="30"/>
                      </a:lnTo>
                      <a:lnTo>
                        <a:pt x="148" y="34"/>
                      </a:lnTo>
                      <a:lnTo>
                        <a:pt x="152" y="46"/>
                      </a:lnTo>
                      <a:lnTo>
                        <a:pt x="156" y="58"/>
                      </a:lnTo>
                      <a:lnTo>
                        <a:pt x="202" y="64"/>
                      </a:lnTo>
                      <a:lnTo>
                        <a:pt x="247" y="69"/>
                      </a:lnTo>
                      <a:lnTo>
                        <a:pt x="268" y="71"/>
                      </a:lnTo>
                      <a:lnTo>
                        <a:pt x="290" y="74"/>
                      </a:lnTo>
                      <a:lnTo>
                        <a:pt x="311" y="77"/>
                      </a:lnTo>
                      <a:lnTo>
                        <a:pt x="330" y="81"/>
                      </a:lnTo>
                      <a:lnTo>
                        <a:pt x="347" y="86"/>
                      </a:lnTo>
                      <a:lnTo>
                        <a:pt x="362" y="89"/>
                      </a:lnTo>
                      <a:lnTo>
                        <a:pt x="377" y="95"/>
                      </a:lnTo>
                      <a:lnTo>
                        <a:pt x="392" y="101"/>
                      </a:lnTo>
                      <a:lnTo>
                        <a:pt x="406" y="107"/>
                      </a:lnTo>
                      <a:lnTo>
                        <a:pt x="419" y="114"/>
                      </a:lnTo>
                      <a:lnTo>
                        <a:pt x="432" y="121"/>
                      </a:lnTo>
                      <a:lnTo>
                        <a:pt x="445" y="128"/>
                      </a:lnTo>
                      <a:lnTo>
                        <a:pt x="457" y="137"/>
                      </a:lnTo>
                      <a:lnTo>
                        <a:pt x="469" y="145"/>
                      </a:lnTo>
                      <a:lnTo>
                        <a:pt x="480" y="153"/>
                      </a:lnTo>
                      <a:lnTo>
                        <a:pt x="491" y="163"/>
                      </a:lnTo>
                      <a:lnTo>
                        <a:pt x="501" y="172"/>
                      </a:lnTo>
                      <a:lnTo>
                        <a:pt x="511" y="183"/>
                      </a:lnTo>
                      <a:lnTo>
                        <a:pt x="519" y="194"/>
                      </a:lnTo>
                      <a:lnTo>
                        <a:pt x="529" y="204"/>
                      </a:lnTo>
                      <a:lnTo>
                        <a:pt x="537" y="216"/>
                      </a:lnTo>
                      <a:lnTo>
                        <a:pt x="544" y="228"/>
                      </a:lnTo>
                      <a:lnTo>
                        <a:pt x="551" y="241"/>
                      </a:lnTo>
                      <a:lnTo>
                        <a:pt x="558" y="254"/>
                      </a:lnTo>
                      <a:lnTo>
                        <a:pt x="564" y="267"/>
                      </a:lnTo>
                      <a:lnTo>
                        <a:pt x="569" y="282"/>
                      </a:lnTo>
                      <a:lnTo>
                        <a:pt x="575" y="297"/>
                      </a:lnTo>
                      <a:lnTo>
                        <a:pt x="579" y="313"/>
                      </a:lnTo>
                      <a:lnTo>
                        <a:pt x="590" y="314"/>
                      </a:lnTo>
                      <a:lnTo>
                        <a:pt x="603" y="314"/>
                      </a:lnTo>
                      <a:lnTo>
                        <a:pt x="606" y="309"/>
                      </a:lnTo>
                      <a:lnTo>
                        <a:pt x="608" y="304"/>
                      </a:lnTo>
                      <a:lnTo>
                        <a:pt x="618" y="303"/>
                      </a:lnTo>
                      <a:lnTo>
                        <a:pt x="626" y="303"/>
                      </a:lnTo>
                      <a:lnTo>
                        <a:pt x="631" y="304"/>
                      </a:lnTo>
                      <a:lnTo>
                        <a:pt x="633" y="307"/>
                      </a:lnTo>
                      <a:lnTo>
                        <a:pt x="636" y="309"/>
                      </a:lnTo>
                      <a:lnTo>
                        <a:pt x="636" y="314"/>
                      </a:lnTo>
                      <a:lnTo>
                        <a:pt x="647" y="313"/>
                      </a:lnTo>
                      <a:lnTo>
                        <a:pt x="659" y="313"/>
                      </a:lnTo>
                      <a:lnTo>
                        <a:pt x="668" y="289"/>
                      </a:lnTo>
                      <a:lnTo>
                        <a:pt x="676" y="266"/>
                      </a:lnTo>
                      <a:lnTo>
                        <a:pt x="685" y="245"/>
                      </a:lnTo>
                      <a:lnTo>
                        <a:pt x="696" y="225"/>
                      </a:lnTo>
                      <a:lnTo>
                        <a:pt x="708" y="206"/>
                      </a:lnTo>
                      <a:lnTo>
                        <a:pt x="721" y="188"/>
                      </a:lnTo>
                      <a:lnTo>
                        <a:pt x="737" y="171"/>
                      </a:lnTo>
                      <a:lnTo>
                        <a:pt x="752" y="156"/>
                      </a:lnTo>
                      <a:lnTo>
                        <a:pt x="769" y="141"/>
                      </a:lnTo>
                      <a:lnTo>
                        <a:pt x="786" y="128"/>
                      </a:lnTo>
                      <a:lnTo>
                        <a:pt x="805" y="115"/>
                      </a:lnTo>
                      <a:lnTo>
                        <a:pt x="826" y="105"/>
                      </a:lnTo>
                      <a:lnTo>
                        <a:pt x="846" y="94"/>
                      </a:lnTo>
                      <a:lnTo>
                        <a:pt x="868" y="84"/>
                      </a:lnTo>
                      <a:lnTo>
                        <a:pt x="891" y="76"/>
                      </a:lnTo>
                      <a:lnTo>
                        <a:pt x="915" y="69"/>
                      </a:lnTo>
                      <a:lnTo>
                        <a:pt x="956" y="62"/>
                      </a:lnTo>
                      <a:lnTo>
                        <a:pt x="998" y="57"/>
                      </a:lnTo>
                      <a:lnTo>
                        <a:pt x="1039" y="51"/>
                      </a:lnTo>
                      <a:lnTo>
                        <a:pt x="1080" y="44"/>
                      </a:lnTo>
                      <a:lnTo>
                        <a:pt x="1087" y="32"/>
                      </a:lnTo>
                      <a:lnTo>
                        <a:pt x="1094" y="20"/>
                      </a:lnTo>
                      <a:lnTo>
                        <a:pt x="1102" y="17"/>
                      </a:lnTo>
                      <a:lnTo>
                        <a:pt x="1116" y="14"/>
                      </a:lnTo>
                      <a:lnTo>
                        <a:pt x="1129" y="12"/>
                      </a:lnTo>
                      <a:lnTo>
                        <a:pt x="1140" y="10"/>
                      </a:lnTo>
                      <a:lnTo>
                        <a:pt x="1164" y="5"/>
                      </a:lnTo>
                      <a:lnTo>
                        <a:pt x="1190" y="1"/>
                      </a:lnTo>
                      <a:lnTo>
                        <a:pt x="1202" y="0"/>
                      </a:lnTo>
                      <a:lnTo>
                        <a:pt x="1215" y="1"/>
                      </a:lnTo>
                      <a:lnTo>
                        <a:pt x="1227" y="2"/>
                      </a:lnTo>
                      <a:lnTo>
                        <a:pt x="1239" y="6"/>
                      </a:lnTo>
                      <a:lnTo>
                        <a:pt x="1238" y="13"/>
                      </a:lnTo>
                      <a:lnTo>
                        <a:pt x="1237" y="20"/>
                      </a:lnTo>
                      <a:lnTo>
                        <a:pt x="1234" y="27"/>
                      </a:lnTo>
                      <a:lnTo>
                        <a:pt x="1230" y="33"/>
                      </a:lnTo>
                      <a:lnTo>
                        <a:pt x="1224" y="36"/>
                      </a:lnTo>
                      <a:lnTo>
                        <a:pt x="1213" y="37"/>
                      </a:lnTo>
                      <a:lnTo>
                        <a:pt x="1202" y="39"/>
                      </a:lnTo>
                      <a:lnTo>
                        <a:pt x="1189" y="42"/>
                      </a:lnTo>
                      <a:lnTo>
                        <a:pt x="1176" y="45"/>
                      </a:lnTo>
                      <a:lnTo>
                        <a:pt x="1162" y="49"/>
                      </a:lnTo>
                      <a:lnTo>
                        <a:pt x="1149" y="52"/>
                      </a:lnTo>
                      <a:lnTo>
                        <a:pt x="1136" y="56"/>
                      </a:lnTo>
                      <a:lnTo>
                        <a:pt x="1123" y="58"/>
                      </a:lnTo>
                      <a:lnTo>
                        <a:pt x="1113" y="62"/>
                      </a:lnTo>
                      <a:lnTo>
                        <a:pt x="1106" y="63"/>
                      </a:lnTo>
                      <a:lnTo>
                        <a:pt x="1100" y="64"/>
                      </a:lnTo>
                      <a:lnTo>
                        <a:pt x="1098" y="64"/>
                      </a:lnTo>
                      <a:lnTo>
                        <a:pt x="1094" y="63"/>
                      </a:lnTo>
                      <a:lnTo>
                        <a:pt x="1092" y="62"/>
                      </a:lnTo>
                      <a:lnTo>
                        <a:pt x="1089" y="58"/>
                      </a:lnTo>
                      <a:lnTo>
                        <a:pt x="1048" y="64"/>
                      </a:lnTo>
                      <a:lnTo>
                        <a:pt x="1009" y="69"/>
                      </a:lnTo>
                      <a:lnTo>
                        <a:pt x="969" y="74"/>
                      </a:lnTo>
                      <a:lnTo>
                        <a:pt x="931" y="80"/>
                      </a:lnTo>
                      <a:lnTo>
                        <a:pt x="910" y="86"/>
                      </a:lnTo>
                      <a:lnTo>
                        <a:pt x="889" y="92"/>
                      </a:lnTo>
                      <a:lnTo>
                        <a:pt x="868" y="99"/>
                      </a:lnTo>
                      <a:lnTo>
                        <a:pt x="849" y="107"/>
                      </a:lnTo>
                      <a:lnTo>
                        <a:pt x="830" y="116"/>
                      </a:lnTo>
                      <a:lnTo>
                        <a:pt x="813" y="127"/>
                      </a:lnTo>
                      <a:lnTo>
                        <a:pt x="795" y="138"/>
                      </a:lnTo>
                      <a:lnTo>
                        <a:pt x="778" y="151"/>
                      </a:lnTo>
                      <a:lnTo>
                        <a:pt x="763" y="164"/>
                      </a:lnTo>
                      <a:lnTo>
                        <a:pt x="748" y="178"/>
                      </a:lnTo>
                      <a:lnTo>
                        <a:pt x="735" y="194"/>
                      </a:lnTo>
                      <a:lnTo>
                        <a:pt x="723" y="209"/>
                      </a:lnTo>
                      <a:lnTo>
                        <a:pt x="712" y="226"/>
                      </a:lnTo>
                      <a:lnTo>
                        <a:pt x="702" y="244"/>
                      </a:lnTo>
                      <a:lnTo>
                        <a:pt x="693" y="261"/>
                      </a:lnTo>
                      <a:lnTo>
                        <a:pt x="685" y="280"/>
                      </a:lnTo>
                      <a:lnTo>
                        <a:pt x="678" y="297"/>
                      </a:lnTo>
                      <a:lnTo>
                        <a:pt x="674" y="314"/>
                      </a:lnTo>
                      <a:lnTo>
                        <a:pt x="671" y="323"/>
                      </a:lnTo>
                      <a:lnTo>
                        <a:pt x="670" y="333"/>
                      </a:lnTo>
                      <a:lnTo>
                        <a:pt x="668" y="342"/>
                      </a:lnTo>
                      <a:lnTo>
                        <a:pt x="668" y="352"/>
                      </a:lnTo>
                      <a:lnTo>
                        <a:pt x="666" y="354"/>
                      </a:lnTo>
                      <a:lnTo>
                        <a:pt x="666" y="357"/>
                      </a:lnTo>
                      <a:lnTo>
                        <a:pt x="666" y="358"/>
                      </a:lnTo>
                      <a:lnTo>
                        <a:pt x="668" y="359"/>
                      </a:lnTo>
                      <a:lnTo>
                        <a:pt x="669" y="360"/>
                      </a:lnTo>
                      <a:lnTo>
                        <a:pt x="670" y="360"/>
                      </a:lnTo>
                      <a:lnTo>
                        <a:pt x="669" y="364"/>
                      </a:lnTo>
                      <a:lnTo>
                        <a:pt x="665" y="371"/>
                      </a:lnTo>
                      <a:lnTo>
                        <a:pt x="663" y="374"/>
                      </a:lnTo>
                      <a:lnTo>
                        <a:pt x="661" y="377"/>
                      </a:lnTo>
                      <a:lnTo>
                        <a:pt x="659" y="378"/>
                      </a:lnTo>
                      <a:lnTo>
                        <a:pt x="657" y="378"/>
                      </a:lnTo>
                      <a:lnTo>
                        <a:pt x="653" y="377"/>
                      </a:lnTo>
                      <a:lnTo>
                        <a:pt x="651" y="374"/>
                      </a:lnTo>
                      <a:lnTo>
                        <a:pt x="650" y="372"/>
                      </a:lnTo>
                      <a:lnTo>
                        <a:pt x="651" y="368"/>
                      </a:lnTo>
                      <a:lnTo>
                        <a:pt x="634" y="367"/>
                      </a:lnTo>
                      <a:lnTo>
                        <a:pt x="638" y="392"/>
                      </a:lnTo>
                      <a:lnTo>
                        <a:pt x="636" y="496"/>
                      </a:lnTo>
                      <a:lnTo>
                        <a:pt x="634" y="597"/>
                      </a:lnTo>
                      <a:lnTo>
                        <a:pt x="634" y="696"/>
                      </a:lnTo>
                      <a:lnTo>
                        <a:pt x="633" y="794"/>
                      </a:lnTo>
                      <a:lnTo>
                        <a:pt x="633" y="890"/>
                      </a:lnTo>
                      <a:lnTo>
                        <a:pt x="633" y="985"/>
                      </a:lnTo>
                      <a:lnTo>
                        <a:pt x="633" y="1080"/>
                      </a:lnTo>
                      <a:lnTo>
                        <a:pt x="633" y="1174"/>
                      </a:lnTo>
                      <a:lnTo>
                        <a:pt x="634" y="1268"/>
                      </a:lnTo>
                      <a:lnTo>
                        <a:pt x="634" y="1361"/>
                      </a:lnTo>
                      <a:lnTo>
                        <a:pt x="634" y="1456"/>
                      </a:lnTo>
                      <a:lnTo>
                        <a:pt x="636" y="1550"/>
                      </a:lnTo>
                      <a:lnTo>
                        <a:pt x="636" y="1645"/>
                      </a:lnTo>
                      <a:lnTo>
                        <a:pt x="636" y="1741"/>
                      </a:lnTo>
                      <a:lnTo>
                        <a:pt x="636" y="1839"/>
                      </a:lnTo>
                      <a:lnTo>
                        <a:pt x="636" y="1937"/>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28" name="Freeform 178"/>
                <p:cNvSpPr>
                  <a:spLocks noEditPoints="1"/>
                </p:cNvSpPr>
                <p:nvPr/>
              </p:nvSpPr>
              <p:spPr bwMode="auto">
                <a:xfrm>
                  <a:off x="4059239" y="3519868"/>
                  <a:ext cx="571500" cy="877888"/>
                </a:xfrm>
                <a:custGeom>
                  <a:avLst/>
                  <a:gdLst>
                    <a:gd name="T0" fmla="*/ 528 w 1080"/>
                    <a:gd name="T1" fmla="*/ 288 h 1658"/>
                    <a:gd name="T2" fmla="*/ 574 w 1080"/>
                    <a:gd name="T3" fmla="*/ 287 h 1658"/>
                    <a:gd name="T4" fmla="*/ 563 w 1080"/>
                    <a:gd name="T5" fmla="*/ 312 h 1658"/>
                    <a:gd name="T6" fmla="*/ 574 w 1080"/>
                    <a:gd name="T7" fmla="*/ 287 h 1658"/>
                    <a:gd name="T8" fmla="*/ 584 w 1080"/>
                    <a:gd name="T9" fmla="*/ 270 h 1658"/>
                    <a:gd name="T10" fmla="*/ 976 w 1080"/>
                    <a:gd name="T11" fmla="*/ 34 h 1658"/>
                    <a:gd name="T12" fmla="*/ 971 w 1080"/>
                    <a:gd name="T13" fmla="*/ 31 h 1658"/>
                    <a:gd name="T14" fmla="*/ 108 w 1080"/>
                    <a:gd name="T15" fmla="*/ 40 h 1658"/>
                    <a:gd name="T16" fmla="*/ 105 w 1080"/>
                    <a:gd name="T17" fmla="*/ 30 h 1658"/>
                    <a:gd name="T18" fmla="*/ 94 w 1080"/>
                    <a:gd name="T19" fmla="*/ 34 h 1658"/>
                    <a:gd name="T20" fmla="*/ 1001 w 1080"/>
                    <a:gd name="T21" fmla="*/ 13 h 1658"/>
                    <a:gd name="T22" fmla="*/ 1001 w 1080"/>
                    <a:gd name="T23" fmla="*/ 24 h 1658"/>
                    <a:gd name="T24" fmla="*/ 1049 w 1080"/>
                    <a:gd name="T25" fmla="*/ 11 h 1658"/>
                    <a:gd name="T26" fmla="*/ 1023 w 1080"/>
                    <a:gd name="T27" fmla="*/ 10 h 1658"/>
                    <a:gd name="T28" fmla="*/ 509 w 1080"/>
                    <a:gd name="T29" fmla="*/ 1488 h 1658"/>
                    <a:gd name="T30" fmla="*/ 514 w 1080"/>
                    <a:gd name="T31" fmla="*/ 1075 h 1658"/>
                    <a:gd name="T32" fmla="*/ 521 w 1080"/>
                    <a:gd name="T33" fmla="*/ 663 h 1658"/>
                    <a:gd name="T34" fmla="*/ 528 w 1080"/>
                    <a:gd name="T35" fmla="*/ 322 h 1658"/>
                    <a:gd name="T36" fmla="*/ 509 w 1080"/>
                    <a:gd name="T37" fmla="*/ 328 h 1658"/>
                    <a:gd name="T38" fmla="*/ 490 w 1080"/>
                    <a:gd name="T39" fmla="*/ 266 h 1658"/>
                    <a:gd name="T40" fmla="*/ 439 w 1080"/>
                    <a:gd name="T41" fmla="*/ 170 h 1658"/>
                    <a:gd name="T42" fmla="*/ 366 w 1080"/>
                    <a:gd name="T43" fmla="*/ 113 h 1658"/>
                    <a:gd name="T44" fmla="*/ 294 w 1080"/>
                    <a:gd name="T45" fmla="*/ 85 h 1658"/>
                    <a:gd name="T46" fmla="*/ 132 w 1080"/>
                    <a:gd name="T47" fmla="*/ 62 h 1658"/>
                    <a:gd name="T48" fmla="*/ 37 w 1080"/>
                    <a:gd name="T49" fmla="*/ 50 h 1658"/>
                    <a:gd name="T50" fmla="*/ 0 w 1080"/>
                    <a:gd name="T51" fmla="*/ 25 h 1658"/>
                    <a:gd name="T52" fmla="*/ 28 w 1080"/>
                    <a:gd name="T53" fmla="*/ 12 h 1658"/>
                    <a:gd name="T54" fmla="*/ 101 w 1080"/>
                    <a:gd name="T55" fmla="*/ 22 h 1658"/>
                    <a:gd name="T56" fmla="*/ 176 w 1080"/>
                    <a:gd name="T57" fmla="*/ 56 h 1658"/>
                    <a:gd name="T58" fmla="*/ 316 w 1080"/>
                    <a:gd name="T59" fmla="*/ 79 h 1658"/>
                    <a:gd name="T60" fmla="*/ 409 w 1080"/>
                    <a:gd name="T61" fmla="*/ 126 h 1658"/>
                    <a:gd name="T62" fmla="*/ 474 w 1080"/>
                    <a:gd name="T63" fmla="*/ 199 h 1658"/>
                    <a:gd name="T64" fmla="*/ 502 w 1080"/>
                    <a:gd name="T65" fmla="*/ 259 h 1658"/>
                    <a:gd name="T66" fmla="*/ 530 w 1080"/>
                    <a:gd name="T67" fmla="*/ 265 h 1658"/>
                    <a:gd name="T68" fmla="*/ 554 w 1080"/>
                    <a:gd name="T69" fmla="*/ 270 h 1658"/>
                    <a:gd name="T70" fmla="*/ 590 w 1080"/>
                    <a:gd name="T71" fmla="*/ 232 h 1658"/>
                    <a:gd name="T72" fmla="*/ 642 w 1080"/>
                    <a:gd name="T73" fmla="*/ 149 h 1658"/>
                    <a:gd name="T74" fmla="*/ 719 w 1080"/>
                    <a:gd name="T75" fmla="*/ 91 h 1658"/>
                    <a:gd name="T76" fmla="*/ 833 w 1080"/>
                    <a:gd name="T77" fmla="*/ 54 h 1658"/>
                    <a:gd name="T78" fmla="*/ 954 w 1080"/>
                    <a:gd name="T79" fmla="*/ 18 h 1658"/>
                    <a:gd name="T80" fmla="*/ 1016 w 1080"/>
                    <a:gd name="T81" fmla="*/ 5 h 1658"/>
                    <a:gd name="T82" fmla="*/ 1080 w 1080"/>
                    <a:gd name="T83" fmla="*/ 5 h 1658"/>
                    <a:gd name="T84" fmla="*/ 1067 w 1080"/>
                    <a:gd name="T85" fmla="*/ 31 h 1658"/>
                    <a:gd name="T86" fmla="*/ 1014 w 1080"/>
                    <a:gd name="T87" fmla="*/ 43 h 1658"/>
                    <a:gd name="T88" fmla="*/ 965 w 1080"/>
                    <a:gd name="T89" fmla="*/ 55 h 1658"/>
                    <a:gd name="T90" fmla="*/ 950 w 1080"/>
                    <a:gd name="T91" fmla="*/ 51 h 1658"/>
                    <a:gd name="T92" fmla="*/ 794 w 1080"/>
                    <a:gd name="T93" fmla="*/ 74 h 1658"/>
                    <a:gd name="T94" fmla="*/ 708 w 1080"/>
                    <a:gd name="T95" fmla="*/ 111 h 1658"/>
                    <a:gd name="T96" fmla="*/ 642 w 1080"/>
                    <a:gd name="T97" fmla="*/ 169 h 1658"/>
                    <a:gd name="T98" fmla="*/ 598 w 1080"/>
                    <a:gd name="T99" fmla="*/ 244 h 1658"/>
                    <a:gd name="T100" fmla="*/ 581 w 1080"/>
                    <a:gd name="T101" fmla="*/ 308 h 1658"/>
                    <a:gd name="T102" fmla="*/ 580 w 1080"/>
                    <a:gd name="T103" fmla="*/ 322 h 1658"/>
                    <a:gd name="T104" fmla="*/ 569 w 1080"/>
                    <a:gd name="T105" fmla="*/ 328 h 1658"/>
                    <a:gd name="T106" fmla="*/ 556 w 1080"/>
                    <a:gd name="T107" fmla="*/ 343 h 1658"/>
                    <a:gd name="T108" fmla="*/ 553 w 1080"/>
                    <a:gd name="T109" fmla="*/ 769 h 1658"/>
                    <a:gd name="T110" fmla="*/ 554 w 1080"/>
                    <a:gd name="T111" fmla="*/ 1166 h 1658"/>
                    <a:gd name="T112" fmla="*/ 555 w 1080"/>
                    <a:gd name="T113" fmla="*/ 1573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80" h="1658">
                      <a:moveTo>
                        <a:pt x="503" y="309"/>
                      </a:moveTo>
                      <a:lnTo>
                        <a:pt x="515" y="309"/>
                      </a:lnTo>
                      <a:lnTo>
                        <a:pt x="529" y="309"/>
                      </a:lnTo>
                      <a:lnTo>
                        <a:pt x="529" y="299"/>
                      </a:lnTo>
                      <a:lnTo>
                        <a:pt x="528" y="288"/>
                      </a:lnTo>
                      <a:lnTo>
                        <a:pt x="516" y="287"/>
                      </a:lnTo>
                      <a:lnTo>
                        <a:pt x="504" y="287"/>
                      </a:lnTo>
                      <a:lnTo>
                        <a:pt x="503" y="299"/>
                      </a:lnTo>
                      <a:lnTo>
                        <a:pt x="503" y="309"/>
                      </a:lnTo>
                      <a:close/>
                      <a:moveTo>
                        <a:pt x="574" y="287"/>
                      </a:moveTo>
                      <a:lnTo>
                        <a:pt x="562" y="286"/>
                      </a:lnTo>
                      <a:lnTo>
                        <a:pt x="549" y="287"/>
                      </a:lnTo>
                      <a:lnTo>
                        <a:pt x="552" y="299"/>
                      </a:lnTo>
                      <a:lnTo>
                        <a:pt x="552" y="309"/>
                      </a:lnTo>
                      <a:lnTo>
                        <a:pt x="563" y="312"/>
                      </a:lnTo>
                      <a:lnTo>
                        <a:pt x="575" y="312"/>
                      </a:lnTo>
                      <a:lnTo>
                        <a:pt x="573" y="309"/>
                      </a:lnTo>
                      <a:lnTo>
                        <a:pt x="571" y="307"/>
                      </a:lnTo>
                      <a:lnTo>
                        <a:pt x="573" y="297"/>
                      </a:lnTo>
                      <a:lnTo>
                        <a:pt x="574" y="287"/>
                      </a:lnTo>
                      <a:close/>
                      <a:moveTo>
                        <a:pt x="582" y="275"/>
                      </a:moveTo>
                      <a:lnTo>
                        <a:pt x="584" y="275"/>
                      </a:lnTo>
                      <a:lnTo>
                        <a:pt x="585" y="275"/>
                      </a:lnTo>
                      <a:lnTo>
                        <a:pt x="585" y="272"/>
                      </a:lnTo>
                      <a:lnTo>
                        <a:pt x="584" y="270"/>
                      </a:lnTo>
                      <a:lnTo>
                        <a:pt x="582" y="272"/>
                      </a:lnTo>
                      <a:lnTo>
                        <a:pt x="582" y="275"/>
                      </a:lnTo>
                      <a:close/>
                      <a:moveTo>
                        <a:pt x="971" y="34"/>
                      </a:moveTo>
                      <a:lnTo>
                        <a:pt x="973" y="34"/>
                      </a:lnTo>
                      <a:lnTo>
                        <a:pt x="976" y="34"/>
                      </a:lnTo>
                      <a:lnTo>
                        <a:pt x="978" y="32"/>
                      </a:lnTo>
                      <a:lnTo>
                        <a:pt x="978" y="30"/>
                      </a:lnTo>
                      <a:lnTo>
                        <a:pt x="976" y="30"/>
                      </a:lnTo>
                      <a:lnTo>
                        <a:pt x="973" y="30"/>
                      </a:lnTo>
                      <a:lnTo>
                        <a:pt x="971" y="31"/>
                      </a:lnTo>
                      <a:lnTo>
                        <a:pt x="971" y="34"/>
                      </a:lnTo>
                      <a:close/>
                      <a:moveTo>
                        <a:pt x="93" y="35"/>
                      </a:moveTo>
                      <a:lnTo>
                        <a:pt x="98" y="37"/>
                      </a:lnTo>
                      <a:lnTo>
                        <a:pt x="104" y="38"/>
                      </a:lnTo>
                      <a:lnTo>
                        <a:pt x="108" y="40"/>
                      </a:lnTo>
                      <a:lnTo>
                        <a:pt x="116" y="38"/>
                      </a:lnTo>
                      <a:lnTo>
                        <a:pt x="114" y="36"/>
                      </a:lnTo>
                      <a:lnTo>
                        <a:pt x="116" y="32"/>
                      </a:lnTo>
                      <a:lnTo>
                        <a:pt x="111" y="30"/>
                      </a:lnTo>
                      <a:lnTo>
                        <a:pt x="105" y="30"/>
                      </a:lnTo>
                      <a:lnTo>
                        <a:pt x="99" y="31"/>
                      </a:lnTo>
                      <a:lnTo>
                        <a:pt x="93" y="31"/>
                      </a:lnTo>
                      <a:lnTo>
                        <a:pt x="95" y="32"/>
                      </a:lnTo>
                      <a:lnTo>
                        <a:pt x="95" y="34"/>
                      </a:lnTo>
                      <a:lnTo>
                        <a:pt x="94" y="34"/>
                      </a:lnTo>
                      <a:lnTo>
                        <a:pt x="93" y="35"/>
                      </a:lnTo>
                      <a:close/>
                      <a:moveTo>
                        <a:pt x="1023" y="10"/>
                      </a:moveTo>
                      <a:lnTo>
                        <a:pt x="1014" y="11"/>
                      </a:lnTo>
                      <a:lnTo>
                        <a:pt x="1004" y="12"/>
                      </a:lnTo>
                      <a:lnTo>
                        <a:pt x="1001" y="13"/>
                      </a:lnTo>
                      <a:lnTo>
                        <a:pt x="996" y="15"/>
                      </a:lnTo>
                      <a:lnTo>
                        <a:pt x="994" y="17"/>
                      </a:lnTo>
                      <a:lnTo>
                        <a:pt x="991" y="19"/>
                      </a:lnTo>
                      <a:lnTo>
                        <a:pt x="996" y="22"/>
                      </a:lnTo>
                      <a:lnTo>
                        <a:pt x="1001" y="24"/>
                      </a:lnTo>
                      <a:lnTo>
                        <a:pt x="1015" y="22"/>
                      </a:lnTo>
                      <a:lnTo>
                        <a:pt x="1032" y="17"/>
                      </a:lnTo>
                      <a:lnTo>
                        <a:pt x="1039" y="16"/>
                      </a:lnTo>
                      <a:lnTo>
                        <a:pt x="1045" y="13"/>
                      </a:lnTo>
                      <a:lnTo>
                        <a:pt x="1049" y="11"/>
                      </a:lnTo>
                      <a:lnTo>
                        <a:pt x="1052" y="7"/>
                      </a:lnTo>
                      <a:lnTo>
                        <a:pt x="1045" y="6"/>
                      </a:lnTo>
                      <a:lnTo>
                        <a:pt x="1037" y="6"/>
                      </a:lnTo>
                      <a:lnTo>
                        <a:pt x="1030" y="9"/>
                      </a:lnTo>
                      <a:lnTo>
                        <a:pt x="1023" y="10"/>
                      </a:lnTo>
                      <a:lnTo>
                        <a:pt x="1023" y="10"/>
                      </a:lnTo>
                      <a:close/>
                      <a:moveTo>
                        <a:pt x="555" y="1658"/>
                      </a:moveTo>
                      <a:lnTo>
                        <a:pt x="509" y="1658"/>
                      </a:lnTo>
                      <a:lnTo>
                        <a:pt x="509" y="1573"/>
                      </a:lnTo>
                      <a:lnTo>
                        <a:pt x="509" y="1488"/>
                      </a:lnTo>
                      <a:lnTo>
                        <a:pt x="510" y="1404"/>
                      </a:lnTo>
                      <a:lnTo>
                        <a:pt x="511" y="1321"/>
                      </a:lnTo>
                      <a:lnTo>
                        <a:pt x="511" y="1239"/>
                      </a:lnTo>
                      <a:lnTo>
                        <a:pt x="512" y="1155"/>
                      </a:lnTo>
                      <a:lnTo>
                        <a:pt x="514" y="1075"/>
                      </a:lnTo>
                      <a:lnTo>
                        <a:pt x="515" y="993"/>
                      </a:lnTo>
                      <a:lnTo>
                        <a:pt x="516" y="911"/>
                      </a:lnTo>
                      <a:lnTo>
                        <a:pt x="518" y="829"/>
                      </a:lnTo>
                      <a:lnTo>
                        <a:pt x="520" y="747"/>
                      </a:lnTo>
                      <a:lnTo>
                        <a:pt x="521" y="663"/>
                      </a:lnTo>
                      <a:lnTo>
                        <a:pt x="522" y="580"/>
                      </a:lnTo>
                      <a:lnTo>
                        <a:pt x="523" y="497"/>
                      </a:lnTo>
                      <a:lnTo>
                        <a:pt x="525" y="413"/>
                      </a:lnTo>
                      <a:lnTo>
                        <a:pt x="527" y="327"/>
                      </a:lnTo>
                      <a:lnTo>
                        <a:pt x="528" y="322"/>
                      </a:lnTo>
                      <a:lnTo>
                        <a:pt x="521" y="321"/>
                      </a:lnTo>
                      <a:lnTo>
                        <a:pt x="512" y="321"/>
                      </a:lnTo>
                      <a:lnTo>
                        <a:pt x="512" y="325"/>
                      </a:lnTo>
                      <a:lnTo>
                        <a:pt x="511" y="327"/>
                      </a:lnTo>
                      <a:lnTo>
                        <a:pt x="509" y="328"/>
                      </a:lnTo>
                      <a:lnTo>
                        <a:pt x="504" y="329"/>
                      </a:lnTo>
                      <a:lnTo>
                        <a:pt x="499" y="314"/>
                      </a:lnTo>
                      <a:lnTo>
                        <a:pt x="496" y="299"/>
                      </a:lnTo>
                      <a:lnTo>
                        <a:pt x="493" y="283"/>
                      </a:lnTo>
                      <a:lnTo>
                        <a:pt x="490" y="266"/>
                      </a:lnTo>
                      <a:lnTo>
                        <a:pt x="483" y="245"/>
                      </a:lnTo>
                      <a:lnTo>
                        <a:pt x="474" y="225"/>
                      </a:lnTo>
                      <a:lnTo>
                        <a:pt x="464" y="205"/>
                      </a:lnTo>
                      <a:lnTo>
                        <a:pt x="452" y="187"/>
                      </a:lnTo>
                      <a:lnTo>
                        <a:pt x="439" y="170"/>
                      </a:lnTo>
                      <a:lnTo>
                        <a:pt x="424" y="156"/>
                      </a:lnTo>
                      <a:lnTo>
                        <a:pt x="408" y="142"/>
                      </a:lnTo>
                      <a:lnTo>
                        <a:pt x="391" y="129"/>
                      </a:lnTo>
                      <a:lnTo>
                        <a:pt x="378" y="120"/>
                      </a:lnTo>
                      <a:lnTo>
                        <a:pt x="366" y="113"/>
                      </a:lnTo>
                      <a:lnTo>
                        <a:pt x="353" y="106"/>
                      </a:lnTo>
                      <a:lnTo>
                        <a:pt x="339" y="100"/>
                      </a:lnTo>
                      <a:lnTo>
                        <a:pt x="325" y="94"/>
                      </a:lnTo>
                      <a:lnTo>
                        <a:pt x="309" y="89"/>
                      </a:lnTo>
                      <a:lnTo>
                        <a:pt x="294" y="85"/>
                      </a:lnTo>
                      <a:lnTo>
                        <a:pt x="277" y="81"/>
                      </a:lnTo>
                      <a:lnTo>
                        <a:pt x="243" y="75"/>
                      </a:lnTo>
                      <a:lnTo>
                        <a:pt x="206" y="72"/>
                      </a:lnTo>
                      <a:lnTo>
                        <a:pt x="169" y="67"/>
                      </a:lnTo>
                      <a:lnTo>
                        <a:pt x="132" y="62"/>
                      </a:lnTo>
                      <a:lnTo>
                        <a:pt x="126" y="66"/>
                      </a:lnTo>
                      <a:lnTo>
                        <a:pt x="122" y="70"/>
                      </a:lnTo>
                      <a:lnTo>
                        <a:pt x="92" y="64"/>
                      </a:lnTo>
                      <a:lnTo>
                        <a:pt x="65" y="57"/>
                      </a:lnTo>
                      <a:lnTo>
                        <a:pt x="37" y="50"/>
                      </a:lnTo>
                      <a:lnTo>
                        <a:pt x="7" y="45"/>
                      </a:lnTo>
                      <a:lnTo>
                        <a:pt x="4" y="40"/>
                      </a:lnTo>
                      <a:lnTo>
                        <a:pt x="2" y="32"/>
                      </a:lnTo>
                      <a:lnTo>
                        <a:pt x="0" y="29"/>
                      </a:lnTo>
                      <a:lnTo>
                        <a:pt x="0" y="25"/>
                      </a:lnTo>
                      <a:lnTo>
                        <a:pt x="0" y="22"/>
                      </a:lnTo>
                      <a:lnTo>
                        <a:pt x="3" y="18"/>
                      </a:lnTo>
                      <a:lnTo>
                        <a:pt x="11" y="15"/>
                      </a:lnTo>
                      <a:lnTo>
                        <a:pt x="18" y="13"/>
                      </a:lnTo>
                      <a:lnTo>
                        <a:pt x="28" y="12"/>
                      </a:lnTo>
                      <a:lnTo>
                        <a:pt x="36" y="12"/>
                      </a:lnTo>
                      <a:lnTo>
                        <a:pt x="54" y="13"/>
                      </a:lnTo>
                      <a:lnTo>
                        <a:pt x="70" y="16"/>
                      </a:lnTo>
                      <a:lnTo>
                        <a:pt x="86" y="19"/>
                      </a:lnTo>
                      <a:lnTo>
                        <a:pt x="101" y="22"/>
                      </a:lnTo>
                      <a:lnTo>
                        <a:pt x="116" y="25"/>
                      </a:lnTo>
                      <a:lnTo>
                        <a:pt x="130" y="30"/>
                      </a:lnTo>
                      <a:lnTo>
                        <a:pt x="133" y="40"/>
                      </a:lnTo>
                      <a:lnTo>
                        <a:pt x="137" y="51"/>
                      </a:lnTo>
                      <a:lnTo>
                        <a:pt x="176" y="56"/>
                      </a:lnTo>
                      <a:lnTo>
                        <a:pt x="215" y="60"/>
                      </a:lnTo>
                      <a:lnTo>
                        <a:pt x="253" y="64"/>
                      </a:lnTo>
                      <a:lnTo>
                        <a:pt x="289" y="70"/>
                      </a:lnTo>
                      <a:lnTo>
                        <a:pt x="302" y="74"/>
                      </a:lnTo>
                      <a:lnTo>
                        <a:pt x="316" y="79"/>
                      </a:lnTo>
                      <a:lnTo>
                        <a:pt x="329" y="82"/>
                      </a:lnTo>
                      <a:lnTo>
                        <a:pt x="341" y="88"/>
                      </a:lnTo>
                      <a:lnTo>
                        <a:pt x="366" y="99"/>
                      </a:lnTo>
                      <a:lnTo>
                        <a:pt x="389" y="112"/>
                      </a:lnTo>
                      <a:lnTo>
                        <a:pt x="409" y="126"/>
                      </a:lnTo>
                      <a:lnTo>
                        <a:pt x="428" y="142"/>
                      </a:lnTo>
                      <a:lnTo>
                        <a:pt x="446" y="160"/>
                      </a:lnTo>
                      <a:lnTo>
                        <a:pt x="461" y="179"/>
                      </a:lnTo>
                      <a:lnTo>
                        <a:pt x="468" y="188"/>
                      </a:lnTo>
                      <a:lnTo>
                        <a:pt x="474" y="199"/>
                      </a:lnTo>
                      <a:lnTo>
                        <a:pt x="482" y="211"/>
                      </a:lnTo>
                      <a:lnTo>
                        <a:pt x="486" y="221"/>
                      </a:lnTo>
                      <a:lnTo>
                        <a:pt x="492" y="233"/>
                      </a:lnTo>
                      <a:lnTo>
                        <a:pt x="497" y="246"/>
                      </a:lnTo>
                      <a:lnTo>
                        <a:pt x="502" y="259"/>
                      </a:lnTo>
                      <a:lnTo>
                        <a:pt x="505" y="272"/>
                      </a:lnTo>
                      <a:lnTo>
                        <a:pt x="516" y="274"/>
                      </a:lnTo>
                      <a:lnTo>
                        <a:pt x="527" y="274"/>
                      </a:lnTo>
                      <a:lnTo>
                        <a:pt x="529" y="270"/>
                      </a:lnTo>
                      <a:lnTo>
                        <a:pt x="530" y="265"/>
                      </a:lnTo>
                      <a:lnTo>
                        <a:pt x="539" y="264"/>
                      </a:lnTo>
                      <a:lnTo>
                        <a:pt x="547" y="264"/>
                      </a:lnTo>
                      <a:lnTo>
                        <a:pt x="550" y="265"/>
                      </a:lnTo>
                      <a:lnTo>
                        <a:pt x="553" y="266"/>
                      </a:lnTo>
                      <a:lnTo>
                        <a:pt x="554" y="270"/>
                      </a:lnTo>
                      <a:lnTo>
                        <a:pt x="555" y="274"/>
                      </a:lnTo>
                      <a:lnTo>
                        <a:pt x="565" y="272"/>
                      </a:lnTo>
                      <a:lnTo>
                        <a:pt x="575" y="272"/>
                      </a:lnTo>
                      <a:lnTo>
                        <a:pt x="582" y="251"/>
                      </a:lnTo>
                      <a:lnTo>
                        <a:pt x="590" y="232"/>
                      </a:lnTo>
                      <a:lnTo>
                        <a:pt x="598" y="213"/>
                      </a:lnTo>
                      <a:lnTo>
                        <a:pt x="607" y="196"/>
                      </a:lnTo>
                      <a:lnTo>
                        <a:pt x="618" y="180"/>
                      </a:lnTo>
                      <a:lnTo>
                        <a:pt x="630" y="164"/>
                      </a:lnTo>
                      <a:lnTo>
                        <a:pt x="642" y="149"/>
                      </a:lnTo>
                      <a:lnTo>
                        <a:pt x="656" y="136"/>
                      </a:lnTo>
                      <a:lnTo>
                        <a:pt x="670" y="123"/>
                      </a:lnTo>
                      <a:lnTo>
                        <a:pt x="686" y="112"/>
                      </a:lnTo>
                      <a:lnTo>
                        <a:pt x="702" y="100"/>
                      </a:lnTo>
                      <a:lnTo>
                        <a:pt x="719" y="91"/>
                      </a:lnTo>
                      <a:lnTo>
                        <a:pt x="738" y="82"/>
                      </a:lnTo>
                      <a:lnTo>
                        <a:pt x="757" y="74"/>
                      </a:lnTo>
                      <a:lnTo>
                        <a:pt x="777" y="67"/>
                      </a:lnTo>
                      <a:lnTo>
                        <a:pt x="799" y="60"/>
                      </a:lnTo>
                      <a:lnTo>
                        <a:pt x="833" y="54"/>
                      </a:lnTo>
                      <a:lnTo>
                        <a:pt x="870" y="49"/>
                      </a:lnTo>
                      <a:lnTo>
                        <a:pt x="907" y="44"/>
                      </a:lnTo>
                      <a:lnTo>
                        <a:pt x="942" y="38"/>
                      </a:lnTo>
                      <a:lnTo>
                        <a:pt x="948" y="29"/>
                      </a:lnTo>
                      <a:lnTo>
                        <a:pt x="954" y="18"/>
                      </a:lnTo>
                      <a:lnTo>
                        <a:pt x="961" y="15"/>
                      </a:lnTo>
                      <a:lnTo>
                        <a:pt x="972" y="12"/>
                      </a:lnTo>
                      <a:lnTo>
                        <a:pt x="985" y="10"/>
                      </a:lnTo>
                      <a:lnTo>
                        <a:pt x="995" y="9"/>
                      </a:lnTo>
                      <a:lnTo>
                        <a:pt x="1016" y="5"/>
                      </a:lnTo>
                      <a:lnTo>
                        <a:pt x="1037" y="1"/>
                      </a:lnTo>
                      <a:lnTo>
                        <a:pt x="1048" y="0"/>
                      </a:lnTo>
                      <a:lnTo>
                        <a:pt x="1060" y="0"/>
                      </a:lnTo>
                      <a:lnTo>
                        <a:pt x="1071" y="3"/>
                      </a:lnTo>
                      <a:lnTo>
                        <a:pt x="1080" y="5"/>
                      </a:lnTo>
                      <a:lnTo>
                        <a:pt x="1080" y="11"/>
                      </a:lnTo>
                      <a:lnTo>
                        <a:pt x="1079" y="18"/>
                      </a:lnTo>
                      <a:lnTo>
                        <a:pt x="1076" y="24"/>
                      </a:lnTo>
                      <a:lnTo>
                        <a:pt x="1072" y="29"/>
                      </a:lnTo>
                      <a:lnTo>
                        <a:pt x="1067" y="31"/>
                      </a:lnTo>
                      <a:lnTo>
                        <a:pt x="1058" y="32"/>
                      </a:lnTo>
                      <a:lnTo>
                        <a:pt x="1048" y="35"/>
                      </a:lnTo>
                      <a:lnTo>
                        <a:pt x="1037" y="37"/>
                      </a:lnTo>
                      <a:lnTo>
                        <a:pt x="1026" y="40"/>
                      </a:lnTo>
                      <a:lnTo>
                        <a:pt x="1014" y="43"/>
                      </a:lnTo>
                      <a:lnTo>
                        <a:pt x="1002" y="45"/>
                      </a:lnTo>
                      <a:lnTo>
                        <a:pt x="990" y="49"/>
                      </a:lnTo>
                      <a:lnTo>
                        <a:pt x="979" y="51"/>
                      </a:lnTo>
                      <a:lnTo>
                        <a:pt x="970" y="54"/>
                      </a:lnTo>
                      <a:lnTo>
                        <a:pt x="965" y="55"/>
                      </a:lnTo>
                      <a:lnTo>
                        <a:pt x="959" y="56"/>
                      </a:lnTo>
                      <a:lnTo>
                        <a:pt x="957" y="56"/>
                      </a:lnTo>
                      <a:lnTo>
                        <a:pt x="954" y="55"/>
                      </a:lnTo>
                      <a:lnTo>
                        <a:pt x="952" y="54"/>
                      </a:lnTo>
                      <a:lnTo>
                        <a:pt x="950" y="51"/>
                      </a:lnTo>
                      <a:lnTo>
                        <a:pt x="914" y="56"/>
                      </a:lnTo>
                      <a:lnTo>
                        <a:pt x="879" y="60"/>
                      </a:lnTo>
                      <a:lnTo>
                        <a:pt x="845" y="64"/>
                      </a:lnTo>
                      <a:lnTo>
                        <a:pt x="813" y="70"/>
                      </a:lnTo>
                      <a:lnTo>
                        <a:pt x="794" y="74"/>
                      </a:lnTo>
                      <a:lnTo>
                        <a:pt x="775" y="80"/>
                      </a:lnTo>
                      <a:lnTo>
                        <a:pt x="757" y="86"/>
                      </a:lnTo>
                      <a:lnTo>
                        <a:pt x="740" y="93"/>
                      </a:lnTo>
                      <a:lnTo>
                        <a:pt x="724" y="101"/>
                      </a:lnTo>
                      <a:lnTo>
                        <a:pt x="708" y="111"/>
                      </a:lnTo>
                      <a:lnTo>
                        <a:pt x="693" y="120"/>
                      </a:lnTo>
                      <a:lnTo>
                        <a:pt x="679" y="131"/>
                      </a:lnTo>
                      <a:lnTo>
                        <a:pt x="666" y="143"/>
                      </a:lnTo>
                      <a:lnTo>
                        <a:pt x="653" y="156"/>
                      </a:lnTo>
                      <a:lnTo>
                        <a:pt x="642" y="169"/>
                      </a:lnTo>
                      <a:lnTo>
                        <a:pt x="631" y="182"/>
                      </a:lnTo>
                      <a:lnTo>
                        <a:pt x="621" y="198"/>
                      </a:lnTo>
                      <a:lnTo>
                        <a:pt x="612" y="212"/>
                      </a:lnTo>
                      <a:lnTo>
                        <a:pt x="604" y="228"/>
                      </a:lnTo>
                      <a:lnTo>
                        <a:pt x="598" y="244"/>
                      </a:lnTo>
                      <a:lnTo>
                        <a:pt x="592" y="258"/>
                      </a:lnTo>
                      <a:lnTo>
                        <a:pt x="587" y="274"/>
                      </a:lnTo>
                      <a:lnTo>
                        <a:pt x="585" y="290"/>
                      </a:lnTo>
                      <a:lnTo>
                        <a:pt x="582" y="307"/>
                      </a:lnTo>
                      <a:lnTo>
                        <a:pt x="581" y="308"/>
                      </a:lnTo>
                      <a:lnTo>
                        <a:pt x="581" y="312"/>
                      </a:lnTo>
                      <a:lnTo>
                        <a:pt x="582" y="313"/>
                      </a:lnTo>
                      <a:lnTo>
                        <a:pt x="585" y="314"/>
                      </a:lnTo>
                      <a:lnTo>
                        <a:pt x="584" y="316"/>
                      </a:lnTo>
                      <a:lnTo>
                        <a:pt x="580" y="322"/>
                      </a:lnTo>
                      <a:lnTo>
                        <a:pt x="579" y="326"/>
                      </a:lnTo>
                      <a:lnTo>
                        <a:pt x="577" y="328"/>
                      </a:lnTo>
                      <a:lnTo>
                        <a:pt x="574" y="329"/>
                      </a:lnTo>
                      <a:lnTo>
                        <a:pt x="573" y="329"/>
                      </a:lnTo>
                      <a:lnTo>
                        <a:pt x="569" y="328"/>
                      </a:lnTo>
                      <a:lnTo>
                        <a:pt x="568" y="327"/>
                      </a:lnTo>
                      <a:lnTo>
                        <a:pt x="567" y="325"/>
                      </a:lnTo>
                      <a:lnTo>
                        <a:pt x="568" y="321"/>
                      </a:lnTo>
                      <a:lnTo>
                        <a:pt x="554" y="320"/>
                      </a:lnTo>
                      <a:lnTo>
                        <a:pt x="556" y="343"/>
                      </a:lnTo>
                      <a:lnTo>
                        <a:pt x="555" y="432"/>
                      </a:lnTo>
                      <a:lnTo>
                        <a:pt x="554" y="518"/>
                      </a:lnTo>
                      <a:lnTo>
                        <a:pt x="553" y="604"/>
                      </a:lnTo>
                      <a:lnTo>
                        <a:pt x="553" y="687"/>
                      </a:lnTo>
                      <a:lnTo>
                        <a:pt x="553" y="769"/>
                      </a:lnTo>
                      <a:lnTo>
                        <a:pt x="553" y="849"/>
                      </a:lnTo>
                      <a:lnTo>
                        <a:pt x="553" y="928"/>
                      </a:lnTo>
                      <a:lnTo>
                        <a:pt x="553" y="1008"/>
                      </a:lnTo>
                      <a:lnTo>
                        <a:pt x="553" y="1087"/>
                      </a:lnTo>
                      <a:lnTo>
                        <a:pt x="554" y="1166"/>
                      </a:lnTo>
                      <a:lnTo>
                        <a:pt x="554" y="1245"/>
                      </a:lnTo>
                      <a:lnTo>
                        <a:pt x="554" y="1325"/>
                      </a:lnTo>
                      <a:lnTo>
                        <a:pt x="555" y="1406"/>
                      </a:lnTo>
                      <a:lnTo>
                        <a:pt x="555" y="1488"/>
                      </a:lnTo>
                      <a:lnTo>
                        <a:pt x="555" y="1573"/>
                      </a:lnTo>
                      <a:lnTo>
                        <a:pt x="555" y="1658"/>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29" name="Freeform 179"/>
                <p:cNvSpPr>
                  <a:spLocks noEditPoints="1"/>
                </p:cNvSpPr>
                <p:nvPr/>
              </p:nvSpPr>
              <p:spPr bwMode="auto">
                <a:xfrm>
                  <a:off x="3810001" y="3705606"/>
                  <a:ext cx="469900" cy="692150"/>
                </a:xfrm>
                <a:custGeom>
                  <a:avLst/>
                  <a:gdLst>
                    <a:gd name="T0" fmla="*/ 434 w 889"/>
                    <a:gd name="T1" fmla="*/ 236 h 1307"/>
                    <a:gd name="T2" fmla="*/ 472 w 889"/>
                    <a:gd name="T3" fmla="*/ 235 h 1307"/>
                    <a:gd name="T4" fmla="*/ 464 w 889"/>
                    <a:gd name="T5" fmla="*/ 257 h 1307"/>
                    <a:gd name="T6" fmla="*/ 472 w 889"/>
                    <a:gd name="T7" fmla="*/ 235 h 1307"/>
                    <a:gd name="T8" fmla="*/ 481 w 889"/>
                    <a:gd name="T9" fmla="*/ 222 h 1307"/>
                    <a:gd name="T10" fmla="*/ 804 w 889"/>
                    <a:gd name="T11" fmla="*/ 27 h 1307"/>
                    <a:gd name="T12" fmla="*/ 799 w 889"/>
                    <a:gd name="T13" fmla="*/ 25 h 1307"/>
                    <a:gd name="T14" fmla="*/ 90 w 889"/>
                    <a:gd name="T15" fmla="*/ 32 h 1307"/>
                    <a:gd name="T16" fmla="*/ 86 w 889"/>
                    <a:gd name="T17" fmla="*/ 25 h 1307"/>
                    <a:gd name="T18" fmla="*/ 78 w 889"/>
                    <a:gd name="T19" fmla="*/ 27 h 1307"/>
                    <a:gd name="T20" fmla="*/ 820 w 889"/>
                    <a:gd name="T21" fmla="*/ 12 h 1307"/>
                    <a:gd name="T22" fmla="*/ 849 w 889"/>
                    <a:gd name="T23" fmla="*/ 13 h 1307"/>
                    <a:gd name="T24" fmla="*/ 860 w 889"/>
                    <a:gd name="T25" fmla="*/ 5 h 1307"/>
                    <a:gd name="T26" fmla="*/ 457 w 889"/>
                    <a:gd name="T27" fmla="*/ 1307 h 1307"/>
                    <a:gd name="T28" fmla="*/ 420 w 889"/>
                    <a:gd name="T29" fmla="*/ 1039 h 1307"/>
                    <a:gd name="T30" fmla="*/ 425 w 889"/>
                    <a:gd name="T31" fmla="*/ 726 h 1307"/>
                    <a:gd name="T32" fmla="*/ 431 w 889"/>
                    <a:gd name="T33" fmla="*/ 406 h 1307"/>
                    <a:gd name="T34" fmla="*/ 421 w 889"/>
                    <a:gd name="T35" fmla="*/ 264 h 1307"/>
                    <a:gd name="T36" fmla="*/ 411 w 889"/>
                    <a:gd name="T37" fmla="*/ 258 h 1307"/>
                    <a:gd name="T38" fmla="*/ 390 w 889"/>
                    <a:gd name="T39" fmla="*/ 184 h 1307"/>
                    <a:gd name="T40" fmla="*/ 336 w 889"/>
                    <a:gd name="T41" fmla="*/ 115 h 1307"/>
                    <a:gd name="T42" fmla="*/ 279 w 889"/>
                    <a:gd name="T43" fmla="*/ 82 h 1307"/>
                    <a:gd name="T44" fmla="*/ 199 w 889"/>
                    <a:gd name="T45" fmla="*/ 62 h 1307"/>
                    <a:gd name="T46" fmla="*/ 99 w 889"/>
                    <a:gd name="T47" fmla="*/ 57 h 1307"/>
                    <a:gd name="T48" fmla="*/ 3 w 889"/>
                    <a:gd name="T49" fmla="*/ 32 h 1307"/>
                    <a:gd name="T50" fmla="*/ 2 w 889"/>
                    <a:gd name="T51" fmla="*/ 14 h 1307"/>
                    <a:gd name="T52" fmla="*/ 44 w 889"/>
                    <a:gd name="T53" fmla="*/ 11 h 1307"/>
                    <a:gd name="T54" fmla="*/ 106 w 889"/>
                    <a:gd name="T55" fmla="*/ 24 h 1307"/>
                    <a:gd name="T56" fmla="*/ 209 w 889"/>
                    <a:gd name="T57" fmla="*/ 52 h 1307"/>
                    <a:gd name="T58" fmla="*/ 320 w 889"/>
                    <a:gd name="T59" fmla="*/ 91 h 1307"/>
                    <a:gd name="T60" fmla="*/ 390 w 889"/>
                    <a:gd name="T61" fmla="*/ 163 h 1307"/>
                    <a:gd name="T62" fmla="*/ 433 w 889"/>
                    <a:gd name="T63" fmla="*/ 224 h 1307"/>
                    <a:gd name="T64" fmla="*/ 452 w 889"/>
                    <a:gd name="T65" fmla="*/ 217 h 1307"/>
                    <a:gd name="T66" fmla="*/ 474 w 889"/>
                    <a:gd name="T67" fmla="*/ 223 h 1307"/>
                    <a:gd name="T68" fmla="*/ 508 w 889"/>
                    <a:gd name="T69" fmla="*/ 147 h 1307"/>
                    <a:gd name="T70" fmla="*/ 564 w 889"/>
                    <a:gd name="T71" fmla="*/ 91 h 1307"/>
                    <a:gd name="T72" fmla="*/ 640 w 889"/>
                    <a:gd name="T73" fmla="*/ 55 h 1307"/>
                    <a:gd name="T74" fmla="*/ 775 w 889"/>
                    <a:gd name="T75" fmla="*/ 31 h 1307"/>
                    <a:gd name="T76" fmla="*/ 836 w 889"/>
                    <a:gd name="T77" fmla="*/ 3 h 1307"/>
                    <a:gd name="T78" fmla="*/ 889 w 889"/>
                    <a:gd name="T79" fmla="*/ 3 h 1307"/>
                    <a:gd name="T80" fmla="*/ 877 w 889"/>
                    <a:gd name="T81" fmla="*/ 25 h 1307"/>
                    <a:gd name="T82" fmla="*/ 835 w 889"/>
                    <a:gd name="T83" fmla="*/ 34 h 1307"/>
                    <a:gd name="T84" fmla="*/ 785 w 889"/>
                    <a:gd name="T85" fmla="*/ 45 h 1307"/>
                    <a:gd name="T86" fmla="*/ 668 w 889"/>
                    <a:gd name="T87" fmla="*/ 57 h 1307"/>
                    <a:gd name="T88" fmla="*/ 596 w 889"/>
                    <a:gd name="T89" fmla="*/ 83 h 1307"/>
                    <a:gd name="T90" fmla="*/ 538 w 889"/>
                    <a:gd name="T91" fmla="*/ 127 h 1307"/>
                    <a:gd name="T92" fmla="*/ 497 w 889"/>
                    <a:gd name="T93" fmla="*/ 188 h 1307"/>
                    <a:gd name="T94" fmla="*/ 479 w 889"/>
                    <a:gd name="T95" fmla="*/ 252 h 1307"/>
                    <a:gd name="T96" fmla="*/ 479 w 889"/>
                    <a:gd name="T97" fmla="*/ 260 h 1307"/>
                    <a:gd name="T98" fmla="*/ 471 w 889"/>
                    <a:gd name="T99" fmla="*/ 271 h 1307"/>
                    <a:gd name="T100" fmla="*/ 456 w 889"/>
                    <a:gd name="T101" fmla="*/ 264 h 1307"/>
                    <a:gd name="T102" fmla="*/ 455 w 889"/>
                    <a:gd name="T103" fmla="*/ 556 h 1307"/>
                    <a:gd name="T104" fmla="*/ 455 w 889"/>
                    <a:gd name="T105" fmla="*/ 860 h 1307"/>
                    <a:gd name="T106" fmla="*/ 457 w 889"/>
                    <a:gd name="T107" fmla="*/ 1169 h 1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89" h="1307">
                      <a:moveTo>
                        <a:pt x="414" y="254"/>
                      </a:moveTo>
                      <a:lnTo>
                        <a:pt x="424" y="254"/>
                      </a:lnTo>
                      <a:lnTo>
                        <a:pt x="436" y="253"/>
                      </a:lnTo>
                      <a:lnTo>
                        <a:pt x="434" y="245"/>
                      </a:lnTo>
                      <a:lnTo>
                        <a:pt x="434" y="236"/>
                      </a:lnTo>
                      <a:lnTo>
                        <a:pt x="425" y="235"/>
                      </a:lnTo>
                      <a:lnTo>
                        <a:pt x="414" y="235"/>
                      </a:lnTo>
                      <a:lnTo>
                        <a:pt x="414" y="246"/>
                      </a:lnTo>
                      <a:lnTo>
                        <a:pt x="414" y="254"/>
                      </a:lnTo>
                      <a:close/>
                      <a:moveTo>
                        <a:pt x="472" y="235"/>
                      </a:moveTo>
                      <a:lnTo>
                        <a:pt x="463" y="235"/>
                      </a:lnTo>
                      <a:lnTo>
                        <a:pt x="452" y="235"/>
                      </a:lnTo>
                      <a:lnTo>
                        <a:pt x="453" y="245"/>
                      </a:lnTo>
                      <a:lnTo>
                        <a:pt x="453" y="254"/>
                      </a:lnTo>
                      <a:lnTo>
                        <a:pt x="464" y="257"/>
                      </a:lnTo>
                      <a:lnTo>
                        <a:pt x="474" y="257"/>
                      </a:lnTo>
                      <a:lnTo>
                        <a:pt x="471" y="254"/>
                      </a:lnTo>
                      <a:lnTo>
                        <a:pt x="470" y="252"/>
                      </a:lnTo>
                      <a:lnTo>
                        <a:pt x="471" y="244"/>
                      </a:lnTo>
                      <a:lnTo>
                        <a:pt x="472" y="235"/>
                      </a:lnTo>
                      <a:close/>
                      <a:moveTo>
                        <a:pt x="479" y="226"/>
                      </a:moveTo>
                      <a:lnTo>
                        <a:pt x="481" y="226"/>
                      </a:lnTo>
                      <a:lnTo>
                        <a:pt x="482" y="226"/>
                      </a:lnTo>
                      <a:lnTo>
                        <a:pt x="482" y="223"/>
                      </a:lnTo>
                      <a:lnTo>
                        <a:pt x="481" y="222"/>
                      </a:lnTo>
                      <a:lnTo>
                        <a:pt x="479" y="223"/>
                      </a:lnTo>
                      <a:lnTo>
                        <a:pt x="479" y="226"/>
                      </a:lnTo>
                      <a:close/>
                      <a:moveTo>
                        <a:pt x="799" y="27"/>
                      </a:moveTo>
                      <a:lnTo>
                        <a:pt x="801" y="27"/>
                      </a:lnTo>
                      <a:lnTo>
                        <a:pt x="804" y="27"/>
                      </a:lnTo>
                      <a:lnTo>
                        <a:pt x="805" y="26"/>
                      </a:lnTo>
                      <a:lnTo>
                        <a:pt x="805" y="24"/>
                      </a:lnTo>
                      <a:lnTo>
                        <a:pt x="803" y="24"/>
                      </a:lnTo>
                      <a:lnTo>
                        <a:pt x="801" y="25"/>
                      </a:lnTo>
                      <a:lnTo>
                        <a:pt x="799" y="25"/>
                      </a:lnTo>
                      <a:lnTo>
                        <a:pt x="799" y="27"/>
                      </a:lnTo>
                      <a:close/>
                      <a:moveTo>
                        <a:pt x="76" y="28"/>
                      </a:moveTo>
                      <a:lnTo>
                        <a:pt x="80" y="30"/>
                      </a:lnTo>
                      <a:lnTo>
                        <a:pt x="85" y="31"/>
                      </a:lnTo>
                      <a:lnTo>
                        <a:pt x="90" y="32"/>
                      </a:lnTo>
                      <a:lnTo>
                        <a:pt x="95" y="31"/>
                      </a:lnTo>
                      <a:lnTo>
                        <a:pt x="95" y="28"/>
                      </a:lnTo>
                      <a:lnTo>
                        <a:pt x="95" y="26"/>
                      </a:lnTo>
                      <a:lnTo>
                        <a:pt x="91" y="24"/>
                      </a:lnTo>
                      <a:lnTo>
                        <a:pt x="86" y="25"/>
                      </a:lnTo>
                      <a:lnTo>
                        <a:pt x="82" y="25"/>
                      </a:lnTo>
                      <a:lnTo>
                        <a:pt x="76" y="25"/>
                      </a:lnTo>
                      <a:lnTo>
                        <a:pt x="78" y="26"/>
                      </a:lnTo>
                      <a:lnTo>
                        <a:pt x="78" y="26"/>
                      </a:lnTo>
                      <a:lnTo>
                        <a:pt x="78" y="27"/>
                      </a:lnTo>
                      <a:lnTo>
                        <a:pt x="76" y="28"/>
                      </a:lnTo>
                      <a:close/>
                      <a:moveTo>
                        <a:pt x="842" y="7"/>
                      </a:moveTo>
                      <a:lnTo>
                        <a:pt x="834" y="8"/>
                      </a:lnTo>
                      <a:lnTo>
                        <a:pt x="826" y="9"/>
                      </a:lnTo>
                      <a:lnTo>
                        <a:pt x="820" y="12"/>
                      </a:lnTo>
                      <a:lnTo>
                        <a:pt x="816" y="15"/>
                      </a:lnTo>
                      <a:lnTo>
                        <a:pt x="819" y="17"/>
                      </a:lnTo>
                      <a:lnTo>
                        <a:pt x="824" y="19"/>
                      </a:lnTo>
                      <a:lnTo>
                        <a:pt x="835" y="17"/>
                      </a:lnTo>
                      <a:lnTo>
                        <a:pt x="849" y="13"/>
                      </a:lnTo>
                      <a:lnTo>
                        <a:pt x="855" y="12"/>
                      </a:lnTo>
                      <a:lnTo>
                        <a:pt x="860" y="11"/>
                      </a:lnTo>
                      <a:lnTo>
                        <a:pt x="863" y="8"/>
                      </a:lnTo>
                      <a:lnTo>
                        <a:pt x="866" y="6"/>
                      </a:lnTo>
                      <a:lnTo>
                        <a:pt x="860" y="5"/>
                      </a:lnTo>
                      <a:lnTo>
                        <a:pt x="854" y="5"/>
                      </a:lnTo>
                      <a:lnTo>
                        <a:pt x="849" y="6"/>
                      </a:lnTo>
                      <a:lnTo>
                        <a:pt x="842" y="7"/>
                      </a:lnTo>
                      <a:lnTo>
                        <a:pt x="842" y="7"/>
                      </a:lnTo>
                      <a:close/>
                      <a:moveTo>
                        <a:pt x="457" y="1307"/>
                      </a:moveTo>
                      <a:lnTo>
                        <a:pt x="418" y="1307"/>
                      </a:lnTo>
                      <a:lnTo>
                        <a:pt x="419" y="1237"/>
                      </a:lnTo>
                      <a:lnTo>
                        <a:pt x="419" y="1169"/>
                      </a:lnTo>
                      <a:lnTo>
                        <a:pt x="419" y="1103"/>
                      </a:lnTo>
                      <a:lnTo>
                        <a:pt x="420" y="1039"/>
                      </a:lnTo>
                      <a:lnTo>
                        <a:pt x="421" y="974"/>
                      </a:lnTo>
                      <a:lnTo>
                        <a:pt x="421" y="911"/>
                      </a:lnTo>
                      <a:lnTo>
                        <a:pt x="422" y="850"/>
                      </a:lnTo>
                      <a:lnTo>
                        <a:pt x="424" y="788"/>
                      </a:lnTo>
                      <a:lnTo>
                        <a:pt x="425" y="726"/>
                      </a:lnTo>
                      <a:lnTo>
                        <a:pt x="426" y="663"/>
                      </a:lnTo>
                      <a:lnTo>
                        <a:pt x="427" y="600"/>
                      </a:lnTo>
                      <a:lnTo>
                        <a:pt x="428" y="537"/>
                      </a:lnTo>
                      <a:lnTo>
                        <a:pt x="430" y="472"/>
                      </a:lnTo>
                      <a:lnTo>
                        <a:pt x="431" y="406"/>
                      </a:lnTo>
                      <a:lnTo>
                        <a:pt x="432" y="339"/>
                      </a:lnTo>
                      <a:lnTo>
                        <a:pt x="433" y="268"/>
                      </a:lnTo>
                      <a:lnTo>
                        <a:pt x="434" y="265"/>
                      </a:lnTo>
                      <a:lnTo>
                        <a:pt x="428" y="264"/>
                      </a:lnTo>
                      <a:lnTo>
                        <a:pt x="421" y="264"/>
                      </a:lnTo>
                      <a:lnTo>
                        <a:pt x="421" y="266"/>
                      </a:lnTo>
                      <a:lnTo>
                        <a:pt x="420" y="268"/>
                      </a:lnTo>
                      <a:lnTo>
                        <a:pt x="419" y="270"/>
                      </a:lnTo>
                      <a:lnTo>
                        <a:pt x="415" y="271"/>
                      </a:lnTo>
                      <a:lnTo>
                        <a:pt x="411" y="258"/>
                      </a:lnTo>
                      <a:lnTo>
                        <a:pt x="408" y="245"/>
                      </a:lnTo>
                      <a:lnTo>
                        <a:pt x="406" y="232"/>
                      </a:lnTo>
                      <a:lnTo>
                        <a:pt x="402" y="219"/>
                      </a:lnTo>
                      <a:lnTo>
                        <a:pt x="398" y="201"/>
                      </a:lnTo>
                      <a:lnTo>
                        <a:pt x="390" y="184"/>
                      </a:lnTo>
                      <a:lnTo>
                        <a:pt x="382" y="169"/>
                      </a:lnTo>
                      <a:lnTo>
                        <a:pt x="373" y="153"/>
                      </a:lnTo>
                      <a:lnTo>
                        <a:pt x="361" y="140"/>
                      </a:lnTo>
                      <a:lnTo>
                        <a:pt x="349" y="127"/>
                      </a:lnTo>
                      <a:lnTo>
                        <a:pt x="336" y="115"/>
                      </a:lnTo>
                      <a:lnTo>
                        <a:pt x="321" y="106"/>
                      </a:lnTo>
                      <a:lnTo>
                        <a:pt x="312" y="99"/>
                      </a:lnTo>
                      <a:lnTo>
                        <a:pt x="301" y="93"/>
                      </a:lnTo>
                      <a:lnTo>
                        <a:pt x="291" y="87"/>
                      </a:lnTo>
                      <a:lnTo>
                        <a:pt x="279" y="82"/>
                      </a:lnTo>
                      <a:lnTo>
                        <a:pt x="267" y="77"/>
                      </a:lnTo>
                      <a:lnTo>
                        <a:pt x="255" y="72"/>
                      </a:lnTo>
                      <a:lnTo>
                        <a:pt x="242" y="69"/>
                      </a:lnTo>
                      <a:lnTo>
                        <a:pt x="228" y="66"/>
                      </a:lnTo>
                      <a:lnTo>
                        <a:pt x="199" y="62"/>
                      </a:lnTo>
                      <a:lnTo>
                        <a:pt x="169" y="58"/>
                      </a:lnTo>
                      <a:lnTo>
                        <a:pt x="139" y="55"/>
                      </a:lnTo>
                      <a:lnTo>
                        <a:pt x="108" y="51"/>
                      </a:lnTo>
                      <a:lnTo>
                        <a:pt x="104" y="53"/>
                      </a:lnTo>
                      <a:lnTo>
                        <a:pt x="99" y="57"/>
                      </a:lnTo>
                      <a:lnTo>
                        <a:pt x="76" y="52"/>
                      </a:lnTo>
                      <a:lnTo>
                        <a:pt x="53" y="46"/>
                      </a:lnTo>
                      <a:lnTo>
                        <a:pt x="30" y="41"/>
                      </a:lnTo>
                      <a:lnTo>
                        <a:pt x="5" y="37"/>
                      </a:lnTo>
                      <a:lnTo>
                        <a:pt x="3" y="32"/>
                      </a:lnTo>
                      <a:lnTo>
                        <a:pt x="1" y="26"/>
                      </a:lnTo>
                      <a:lnTo>
                        <a:pt x="0" y="22"/>
                      </a:lnTo>
                      <a:lnTo>
                        <a:pt x="0" y="20"/>
                      </a:lnTo>
                      <a:lnTo>
                        <a:pt x="1" y="17"/>
                      </a:lnTo>
                      <a:lnTo>
                        <a:pt x="2" y="14"/>
                      </a:lnTo>
                      <a:lnTo>
                        <a:pt x="8" y="12"/>
                      </a:lnTo>
                      <a:lnTo>
                        <a:pt x="15" y="11"/>
                      </a:lnTo>
                      <a:lnTo>
                        <a:pt x="22" y="9"/>
                      </a:lnTo>
                      <a:lnTo>
                        <a:pt x="29" y="9"/>
                      </a:lnTo>
                      <a:lnTo>
                        <a:pt x="44" y="11"/>
                      </a:lnTo>
                      <a:lnTo>
                        <a:pt x="58" y="13"/>
                      </a:lnTo>
                      <a:lnTo>
                        <a:pt x="71" y="15"/>
                      </a:lnTo>
                      <a:lnTo>
                        <a:pt x="84" y="18"/>
                      </a:lnTo>
                      <a:lnTo>
                        <a:pt x="96" y="20"/>
                      </a:lnTo>
                      <a:lnTo>
                        <a:pt x="106" y="24"/>
                      </a:lnTo>
                      <a:lnTo>
                        <a:pt x="110" y="32"/>
                      </a:lnTo>
                      <a:lnTo>
                        <a:pt x="112" y="41"/>
                      </a:lnTo>
                      <a:lnTo>
                        <a:pt x="144" y="45"/>
                      </a:lnTo>
                      <a:lnTo>
                        <a:pt x="177" y="49"/>
                      </a:lnTo>
                      <a:lnTo>
                        <a:pt x="209" y="52"/>
                      </a:lnTo>
                      <a:lnTo>
                        <a:pt x="237" y="57"/>
                      </a:lnTo>
                      <a:lnTo>
                        <a:pt x="260" y="64"/>
                      </a:lnTo>
                      <a:lnTo>
                        <a:pt x="281" y="71"/>
                      </a:lnTo>
                      <a:lnTo>
                        <a:pt x="301" y="81"/>
                      </a:lnTo>
                      <a:lnTo>
                        <a:pt x="320" y="91"/>
                      </a:lnTo>
                      <a:lnTo>
                        <a:pt x="337" y="103"/>
                      </a:lnTo>
                      <a:lnTo>
                        <a:pt x="352" y="116"/>
                      </a:lnTo>
                      <a:lnTo>
                        <a:pt x="367" y="131"/>
                      </a:lnTo>
                      <a:lnTo>
                        <a:pt x="380" y="146"/>
                      </a:lnTo>
                      <a:lnTo>
                        <a:pt x="390" y="163"/>
                      </a:lnTo>
                      <a:lnTo>
                        <a:pt x="400" y="182"/>
                      </a:lnTo>
                      <a:lnTo>
                        <a:pt x="408" y="202"/>
                      </a:lnTo>
                      <a:lnTo>
                        <a:pt x="415" y="223"/>
                      </a:lnTo>
                      <a:lnTo>
                        <a:pt x="424" y="224"/>
                      </a:lnTo>
                      <a:lnTo>
                        <a:pt x="433" y="224"/>
                      </a:lnTo>
                      <a:lnTo>
                        <a:pt x="434" y="221"/>
                      </a:lnTo>
                      <a:lnTo>
                        <a:pt x="437" y="219"/>
                      </a:lnTo>
                      <a:lnTo>
                        <a:pt x="443" y="216"/>
                      </a:lnTo>
                      <a:lnTo>
                        <a:pt x="450" y="216"/>
                      </a:lnTo>
                      <a:lnTo>
                        <a:pt x="452" y="217"/>
                      </a:lnTo>
                      <a:lnTo>
                        <a:pt x="455" y="219"/>
                      </a:lnTo>
                      <a:lnTo>
                        <a:pt x="456" y="221"/>
                      </a:lnTo>
                      <a:lnTo>
                        <a:pt x="457" y="224"/>
                      </a:lnTo>
                      <a:lnTo>
                        <a:pt x="465" y="223"/>
                      </a:lnTo>
                      <a:lnTo>
                        <a:pt x="474" y="223"/>
                      </a:lnTo>
                      <a:lnTo>
                        <a:pt x="478" y="207"/>
                      </a:lnTo>
                      <a:lnTo>
                        <a:pt x="485" y="190"/>
                      </a:lnTo>
                      <a:lnTo>
                        <a:pt x="491" y="175"/>
                      </a:lnTo>
                      <a:lnTo>
                        <a:pt x="500" y="160"/>
                      </a:lnTo>
                      <a:lnTo>
                        <a:pt x="508" y="147"/>
                      </a:lnTo>
                      <a:lnTo>
                        <a:pt x="518" y="134"/>
                      </a:lnTo>
                      <a:lnTo>
                        <a:pt x="528" y="122"/>
                      </a:lnTo>
                      <a:lnTo>
                        <a:pt x="540" y="112"/>
                      </a:lnTo>
                      <a:lnTo>
                        <a:pt x="552" y="101"/>
                      </a:lnTo>
                      <a:lnTo>
                        <a:pt x="564" y="91"/>
                      </a:lnTo>
                      <a:lnTo>
                        <a:pt x="578" y="82"/>
                      </a:lnTo>
                      <a:lnTo>
                        <a:pt x="592" y="74"/>
                      </a:lnTo>
                      <a:lnTo>
                        <a:pt x="608" y="66"/>
                      </a:lnTo>
                      <a:lnTo>
                        <a:pt x="623" y="60"/>
                      </a:lnTo>
                      <a:lnTo>
                        <a:pt x="640" y="55"/>
                      </a:lnTo>
                      <a:lnTo>
                        <a:pt x="657" y="49"/>
                      </a:lnTo>
                      <a:lnTo>
                        <a:pt x="686" y="44"/>
                      </a:lnTo>
                      <a:lnTo>
                        <a:pt x="716" y="40"/>
                      </a:lnTo>
                      <a:lnTo>
                        <a:pt x="746" y="36"/>
                      </a:lnTo>
                      <a:lnTo>
                        <a:pt x="775" y="31"/>
                      </a:lnTo>
                      <a:lnTo>
                        <a:pt x="780" y="22"/>
                      </a:lnTo>
                      <a:lnTo>
                        <a:pt x="785" y="14"/>
                      </a:lnTo>
                      <a:lnTo>
                        <a:pt x="800" y="9"/>
                      </a:lnTo>
                      <a:lnTo>
                        <a:pt x="819" y="6"/>
                      </a:lnTo>
                      <a:lnTo>
                        <a:pt x="836" y="3"/>
                      </a:lnTo>
                      <a:lnTo>
                        <a:pt x="854" y="0"/>
                      </a:lnTo>
                      <a:lnTo>
                        <a:pt x="863" y="0"/>
                      </a:lnTo>
                      <a:lnTo>
                        <a:pt x="872" y="0"/>
                      </a:lnTo>
                      <a:lnTo>
                        <a:pt x="881" y="1"/>
                      </a:lnTo>
                      <a:lnTo>
                        <a:pt x="889" y="3"/>
                      </a:lnTo>
                      <a:lnTo>
                        <a:pt x="888" y="8"/>
                      </a:lnTo>
                      <a:lnTo>
                        <a:pt x="888" y="14"/>
                      </a:lnTo>
                      <a:lnTo>
                        <a:pt x="886" y="19"/>
                      </a:lnTo>
                      <a:lnTo>
                        <a:pt x="882" y="24"/>
                      </a:lnTo>
                      <a:lnTo>
                        <a:pt x="877" y="25"/>
                      </a:lnTo>
                      <a:lnTo>
                        <a:pt x="870" y="26"/>
                      </a:lnTo>
                      <a:lnTo>
                        <a:pt x="862" y="27"/>
                      </a:lnTo>
                      <a:lnTo>
                        <a:pt x="854" y="30"/>
                      </a:lnTo>
                      <a:lnTo>
                        <a:pt x="844" y="32"/>
                      </a:lnTo>
                      <a:lnTo>
                        <a:pt x="835" y="34"/>
                      </a:lnTo>
                      <a:lnTo>
                        <a:pt x="815" y="39"/>
                      </a:lnTo>
                      <a:lnTo>
                        <a:pt x="799" y="44"/>
                      </a:lnTo>
                      <a:lnTo>
                        <a:pt x="794" y="45"/>
                      </a:lnTo>
                      <a:lnTo>
                        <a:pt x="790" y="45"/>
                      </a:lnTo>
                      <a:lnTo>
                        <a:pt x="785" y="45"/>
                      </a:lnTo>
                      <a:lnTo>
                        <a:pt x="781" y="41"/>
                      </a:lnTo>
                      <a:lnTo>
                        <a:pt x="753" y="45"/>
                      </a:lnTo>
                      <a:lnTo>
                        <a:pt x="723" y="49"/>
                      </a:lnTo>
                      <a:lnTo>
                        <a:pt x="696" y="52"/>
                      </a:lnTo>
                      <a:lnTo>
                        <a:pt x="668" y="57"/>
                      </a:lnTo>
                      <a:lnTo>
                        <a:pt x="653" y="60"/>
                      </a:lnTo>
                      <a:lnTo>
                        <a:pt x="638" y="65"/>
                      </a:lnTo>
                      <a:lnTo>
                        <a:pt x="623" y="70"/>
                      </a:lnTo>
                      <a:lnTo>
                        <a:pt x="609" y="76"/>
                      </a:lnTo>
                      <a:lnTo>
                        <a:pt x="596" y="83"/>
                      </a:lnTo>
                      <a:lnTo>
                        <a:pt x="583" y="90"/>
                      </a:lnTo>
                      <a:lnTo>
                        <a:pt x="571" y="99"/>
                      </a:lnTo>
                      <a:lnTo>
                        <a:pt x="559" y="108"/>
                      </a:lnTo>
                      <a:lnTo>
                        <a:pt x="547" y="118"/>
                      </a:lnTo>
                      <a:lnTo>
                        <a:pt x="538" y="127"/>
                      </a:lnTo>
                      <a:lnTo>
                        <a:pt x="528" y="138"/>
                      </a:lnTo>
                      <a:lnTo>
                        <a:pt x="519" y="150"/>
                      </a:lnTo>
                      <a:lnTo>
                        <a:pt x="510" y="162"/>
                      </a:lnTo>
                      <a:lnTo>
                        <a:pt x="503" y="175"/>
                      </a:lnTo>
                      <a:lnTo>
                        <a:pt x="497" y="188"/>
                      </a:lnTo>
                      <a:lnTo>
                        <a:pt x="491" y="201"/>
                      </a:lnTo>
                      <a:lnTo>
                        <a:pt x="488" y="213"/>
                      </a:lnTo>
                      <a:lnTo>
                        <a:pt x="483" y="224"/>
                      </a:lnTo>
                      <a:lnTo>
                        <a:pt x="481" y="239"/>
                      </a:lnTo>
                      <a:lnTo>
                        <a:pt x="479" y="252"/>
                      </a:lnTo>
                      <a:lnTo>
                        <a:pt x="478" y="253"/>
                      </a:lnTo>
                      <a:lnTo>
                        <a:pt x="478" y="255"/>
                      </a:lnTo>
                      <a:lnTo>
                        <a:pt x="479" y="257"/>
                      </a:lnTo>
                      <a:lnTo>
                        <a:pt x="481" y="258"/>
                      </a:lnTo>
                      <a:lnTo>
                        <a:pt x="479" y="260"/>
                      </a:lnTo>
                      <a:lnTo>
                        <a:pt x="477" y="265"/>
                      </a:lnTo>
                      <a:lnTo>
                        <a:pt x="476" y="267"/>
                      </a:lnTo>
                      <a:lnTo>
                        <a:pt x="475" y="270"/>
                      </a:lnTo>
                      <a:lnTo>
                        <a:pt x="472" y="271"/>
                      </a:lnTo>
                      <a:lnTo>
                        <a:pt x="471" y="271"/>
                      </a:lnTo>
                      <a:lnTo>
                        <a:pt x="469" y="270"/>
                      </a:lnTo>
                      <a:lnTo>
                        <a:pt x="468" y="268"/>
                      </a:lnTo>
                      <a:lnTo>
                        <a:pt x="466" y="266"/>
                      </a:lnTo>
                      <a:lnTo>
                        <a:pt x="468" y="264"/>
                      </a:lnTo>
                      <a:lnTo>
                        <a:pt x="456" y="264"/>
                      </a:lnTo>
                      <a:lnTo>
                        <a:pt x="458" y="282"/>
                      </a:lnTo>
                      <a:lnTo>
                        <a:pt x="457" y="354"/>
                      </a:lnTo>
                      <a:lnTo>
                        <a:pt x="456" y="424"/>
                      </a:lnTo>
                      <a:lnTo>
                        <a:pt x="455" y="491"/>
                      </a:lnTo>
                      <a:lnTo>
                        <a:pt x="455" y="556"/>
                      </a:lnTo>
                      <a:lnTo>
                        <a:pt x="455" y="619"/>
                      </a:lnTo>
                      <a:lnTo>
                        <a:pt x="455" y="680"/>
                      </a:lnTo>
                      <a:lnTo>
                        <a:pt x="455" y="740"/>
                      </a:lnTo>
                      <a:lnTo>
                        <a:pt x="455" y="801"/>
                      </a:lnTo>
                      <a:lnTo>
                        <a:pt x="455" y="860"/>
                      </a:lnTo>
                      <a:lnTo>
                        <a:pt x="456" y="920"/>
                      </a:lnTo>
                      <a:lnTo>
                        <a:pt x="456" y="980"/>
                      </a:lnTo>
                      <a:lnTo>
                        <a:pt x="456" y="1042"/>
                      </a:lnTo>
                      <a:lnTo>
                        <a:pt x="457" y="1105"/>
                      </a:lnTo>
                      <a:lnTo>
                        <a:pt x="457" y="1169"/>
                      </a:lnTo>
                      <a:lnTo>
                        <a:pt x="457" y="1237"/>
                      </a:lnTo>
                      <a:lnTo>
                        <a:pt x="457" y="1307"/>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grpSp>
            <p:nvGrpSpPr>
              <p:cNvPr id="22" name="组合 21"/>
              <p:cNvGrpSpPr>
                <a:grpSpLocks noChangeAspect="1"/>
              </p:cNvGrpSpPr>
              <p:nvPr/>
            </p:nvGrpSpPr>
            <p:grpSpPr>
              <a:xfrm>
                <a:off x="4673116" y="4700113"/>
                <a:ext cx="529973" cy="497894"/>
                <a:chOff x="5661026" y="3338658"/>
                <a:chExt cx="1003300" cy="919398"/>
              </a:xfrm>
            </p:grpSpPr>
            <p:sp>
              <p:nvSpPr>
                <p:cNvPr id="24" name="Freeform 180"/>
                <p:cNvSpPr>
                  <a:spLocks noEditPoints="1"/>
                </p:cNvSpPr>
                <p:nvPr/>
              </p:nvSpPr>
              <p:spPr bwMode="auto">
                <a:xfrm>
                  <a:off x="5661026" y="3615118"/>
                  <a:ext cx="1003300" cy="133350"/>
                </a:xfrm>
                <a:custGeom>
                  <a:avLst/>
                  <a:gdLst>
                    <a:gd name="T0" fmla="*/ 1765 w 1895"/>
                    <a:gd name="T1" fmla="*/ 0 h 251"/>
                    <a:gd name="T2" fmla="*/ 1734 w 1895"/>
                    <a:gd name="T3" fmla="*/ 151 h 251"/>
                    <a:gd name="T4" fmla="*/ 1729 w 1895"/>
                    <a:gd name="T5" fmla="*/ 169 h 251"/>
                    <a:gd name="T6" fmla="*/ 1722 w 1895"/>
                    <a:gd name="T7" fmla="*/ 178 h 251"/>
                    <a:gd name="T8" fmla="*/ 1715 w 1895"/>
                    <a:gd name="T9" fmla="*/ 184 h 251"/>
                    <a:gd name="T10" fmla="*/ 1709 w 1895"/>
                    <a:gd name="T11" fmla="*/ 185 h 251"/>
                    <a:gd name="T12" fmla="*/ 158 w 1895"/>
                    <a:gd name="T13" fmla="*/ 185 h 251"/>
                    <a:gd name="T14" fmla="*/ 151 w 1895"/>
                    <a:gd name="T15" fmla="*/ 182 h 251"/>
                    <a:gd name="T16" fmla="*/ 145 w 1895"/>
                    <a:gd name="T17" fmla="*/ 173 h 251"/>
                    <a:gd name="T18" fmla="*/ 138 w 1895"/>
                    <a:gd name="T19" fmla="*/ 160 h 251"/>
                    <a:gd name="T20" fmla="*/ 111 w 1895"/>
                    <a:gd name="T21" fmla="*/ 0 h 251"/>
                    <a:gd name="T22" fmla="*/ 5 w 1895"/>
                    <a:gd name="T23" fmla="*/ 0 h 251"/>
                    <a:gd name="T24" fmla="*/ 28 w 1895"/>
                    <a:gd name="T25" fmla="*/ 197 h 251"/>
                    <a:gd name="T26" fmla="*/ 34 w 1895"/>
                    <a:gd name="T27" fmla="*/ 217 h 251"/>
                    <a:gd name="T28" fmla="*/ 44 w 1895"/>
                    <a:gd name="T29" fmla="*/ 235 h 251"/>
                    <a:gd name="T30" fmla="*/ 61 w 1895"/>
                    <a:gd name="T31" fmla="*/ 247 h 251"/>
                    <a:gd name="T32" fmla="*/ 81 w 1895"/>
                    <a:gd name="T33" fmla="*/ 251 h 251"/>
                    <a:gd name="T34" fmla="*/ 1825 w 1895"/>
                    <a:gd name="T35" fmla="*/ 250 h 251"/>
                    <a:gd name="T36" fmla="*/ 1843 w 1895"/>
                    <a:gd name="T37" fmla="*/ 241 h 251"/>
                    <a:gd name="T38" fmla="*/ 1857 w 1895"/>
                    <a:gd name="T39" fmla="*/ 227 h 251"/>
                    <a:gd name="T40" fmla="*/ 1866 w 1895"/>
                    <a:gd name="T41" fmla="*/ 208 h 251"/>
                    <a:gd name="T42" fmla="*/ 1895 w 1895"/>
                    <a:gd name="T43" fmla="*/ 0 h 251"/>
                    <a:gd name="T44" fmla="*/ 1740 w 1895"/>
                    <a:gd name="T45" fmla="*/ 0 h 251"/>
                    <a:gd name="T46" fmla="*/ 133 w 1895"/>
                    <a:gd name="T47" fmla="*/ 18 h 251"/>
                    <a:gd name="T48" fmla="*/ 139 w 1895"/>
                    <a:gd name="T49" fmla="*/ 55 h 251"/>
                    <a:gd name="T50" fmla="*/ 1728 w 1895"/>
                    <a:gd name="T51" fmla="*/ 72 h 251"/>
                    <a:gd name="T52" fmla="*/ 1734 w 1895"/>
                    <a:gd name="T53" fmla="*/ 36 h 251"/>
                    <a:gd name="T54" fmla="*/ 1740 w 1895"/>
                    <a:gd name="T55" fmla="*/ 0 h 251"/>
                    <a:gd name="T56" fmla="*/ 1709 w 1895"/>
                    <a:gd name="T57" fmla="*/ 159 h 251"/>
                    <a:gd name="T58" fmla="*/ 1711 w 1895"/>
                    <a:gd name="T59" fmla="*/ 157 h 251"/>
                    <a:gd name="T60" fmla="*/ 1716 w 1895"/>
                    <a:gd name="T61" fmla="*/ 145 h 251"/>
                    <a:gd name="T62" fmla="*/ 1719 w 1895"/>
                    <a:gd name="T63" fmla="*/ 127 h 251"/>
                    <a:gd name="T64" fmla="*/ 1725 w 1895"/>
                    <a:gd name="T65" fmla="*/ 85 h 251"/>
                    <a:gd name="T66" fmla="*/ 149 w 1895"/>
                    <a:gd name="T67" fmla="*/ 109 h 251"/>
                    <a:gd name="T68" fmla="*/ 154 w 1895"/>
                    <a:gd name="T69" fmla="*/ 139 h 251"/>
                    <a:gd name="T70" fmla="*/ 156 w 1895"/>
                    <a:gd name="T71" fmla="*/ 152 h 251"/>
                    <a:gd name="T72" fmla="*/ 161 w 1895"/>
                    <a:gd name="T73" fmla="*/ 15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95" h="251">
                      <a:moveTo>
                        <a:pt x="1885" y="0"/>
                      </a:moveTo>
                      <a:lnTo>
                        <a:pt x="1765" y="0"/>
                      </a:lnTo>
                      <a:lnTo>
                        <a:pt x="1760" y="0"/>
                      </a:lnTo>
                      <a:lnTo>
                        <a:pt x="1734" y="151"/>
                      </a:lnTo>
                      <a:lnTo>
                        <a:pt x="1731" y="160"/>
                      </a:lnTo>
                      <a:lnTo>
                        <a:pt x="1729" y="169"/>
                      </a:lnTo>
                      <a:lnTo>
                        <a:pt x="1725" y="175"/>
                      </a:lnTo>
                      <a:lnTo>
                        <a:pt x="1722" y="178"/>
                      </a:lnTo>
                      <a:lnTo>
                        <a:pt x="1718" y="182"/>
                      </a:lnTo>
                      <a:lnTo>
                        <a:pt x="1715" y="184"/>
                      </a:lnTo>
                      <a:lnTo>
                        <a:pt x="1712" y="185"/>
                      </a:lnTo>
                      <a:lnTo>
                        <a:pt x="1709" y="185"/>
                      </a:lnTo>
                      <a:lnTo>
                        <a:pt x="162" y="185"/>
                      </a:lnTo>
                      <a:lnTo>
                        <a:pt x="158" y="185"/>
                      </a:lnTo>
                      <a:lnTo>
                        <a:pt x="155" y="184"/>
                      </a:lnTo>
                      <a:lnTo>
                        <a:pt x="151" y="182"/>
                      </a:lnTo>
                      <a:lnTo>
                        <a:pt x="148" y="178"/>
                      </a:lnTo>
                      <a:lnTo>
                        <a:pt x="145" y="173"/>
                      </a:lnTo>
                      <a:lnTo>
                        <a:pt x="142" y="167"/>
                      </a:lnTo>
                      <a:lnTo>
                        <a:pt x="138" y="160"/>
                      </a:lnTo>
                      <a:lnTo>
                        <a:pt x="136" y="151"/>
                      </a:lnTo>
                      <a:lnTo>
                        <a:pt x="111" y="0"/>
                      </a:lnTo>
                      <a:lnTo>
                        <a:pt x="80" y="0"/>
                      </a:lnTo>
                      <a:lnTo>
                        <a:pt x="5" y="0"/>
                      </a:lnTo>
                      <a:lnTo>
                        <a:pt x="0" y="0"/>
                      </a:lnTo>
                      <a:lnTo>
                        <a:pt x="28" y="197"/>
                      </a:lnTo>
                      <a:lnTo>
                        <a:pt x="29" y="208"/>
                      </a:lnTo>
                      <a:lnTo>
                        <a:pt x="34" y="217"/>
                      </a:lnTo>
                      <a:lnTo>
                        <a:pt x="38" y="227"/>
                      </a:lnTo>
                      <a:lnTo>
                        <a:pt x="44" y="235"/>
                      </a:lnTo>
                      <a:lnTo>
                        <a:pt x="53" y="241"/>
                      </a:lnTo>
                      <a:lnTo>
                        <a:pt x="61" y="247"/>
                      </a:lnTo>
                      <a:lnTo>
                        <a:pt x="70" y="250"/>
                      </a:lnTo>
                      <a:lnTo>
                        <a:pt x="81" y="251"/>
                      </a:lnTo>
                      <a:lnTo>
                        <a:pt x="1814" y="251"/>
                      </a:lnTo>
                      <a:lnTo>
                        <a:pt x="1825" y="250"/>
                      </a:lnTo>
                      <a:lnTo>
                        <a:pt x="1835" y="247"/>
                      </a:lnTo>
                      <a:lnTo>
                        <a:pt x="1843" y="241"/>
                      </a:lnTo>
                      <a:lnTo>
                        <a:pt x="1851" y="235"/>
                      </a:lnTo>
                      <a:lnTo>
                        <a:pt x="1857" y="227"/>
                      </a:lnTo>
                      <a:lnTo>
                        <a:pt x="1862" y="217"/>
                      </a:lnTo>
                      <a:lnTo>
                        <a:pt x="1866" y="208"/>
                      </a:lnTo>
                      <a:lnTo>
                        <a:pt x="1868" y="197"/>
                      </a:lnTo>
                      <a:lnTo>
                        <a:pt x="1895" y="0"/>
                      </a:lnTo>
                      <a:lnTo>
                        <a:pt x="1885" y="0"/>
                      </a:lnTo>
                      <a:close/>
                      <a:moveTo>
                        <a:pt x="1740" y="0"/>
                      </a:moveTo>
                      <a:lnTo>
                        <a:pt x="130" y="0"/>
                      </a:lnTo>
                      <a:lnTo>
                        <a:pt x="133" y="18"/>
                      </a:lnTo>
                      <a:lnTo>
                        <a:pt x="136" y="36"/>
                      </a:lnTo>
                      <a:lnTo>
                        <a:pt x="139" y="55"/>
                      </a:lnTo>
                      <a:lnTo>
                        <a:pt x="143" y="72"/>
                      </a:lnTo>
                      <a:lnTo>
                        <a:pt x="1728" y="72"/>
                      </a:lnTo>
                      <a:lnTo>
                        <a:pt x="1731" y="55"/>
                      </a:lnTo>
                      <a:lnTo>
                        <a:pt x="1734" y="36"/>
                      </a:lnTo>
                      <a:lnTo>
                        <a:pt x="1737" y="18"/>
                      </a:lnTo>
                      <a:lnTo>
                        <a:pt x="1740" y="0"/>
                      </a:lnTo>
                      <a:close/>
                      <a:moveTo>
                        <a:pt x="162" y="159"/>
                      </a:moveTo>
                      <a:lnTo>
                        <a:pt x="1709" y="159"/>
                      </a:lnTo>
                      <a:lnTo>
                        <a:pt x="1710" y="159"/>
                      </a:lnTo>
                      <a:lnTo>
                        <a:pt x="1711" y="157"/>
                      </a:lnTo>
                      <a:lnTo>
                        <a:pt x="1713" y="153"/>
                      </a:lnTo>
                      <a:lnTo>
                        <a:pt x="1716" y="145"/>
                      </a:lnTo>
                      <a:lnTo>
                        <a:pt x="1717" y="140"/>
                      </a:lnTo>
                      <a:lnTo>
                        <a:pt x="1719" y="127"/>
                      </a:lnTo>
                      <a:lnTo>
                        <a:pt x="1722" y="109"/>
                      </a:lnTo>
                      <a:lnTo>
                        <a:pt x="1725" y="85"/>
                      </a:lnTo>
                      <a:lnTo>
                        <a:pt x="144" y="85"/>
                      </a:lnTo>
                      <a:lnTo>
                        <a:pt x="149" y="109"/>
                      </a:lnTo>
                      <a:lnTo>
                        <a:pt x="151" y="127"/>
                      </a:lnTo>
                      <a:lnTo>
                        <a:pt x="154" y="139"/>
                      </a:lnTo>
                      <a:lnTo>
                        <a:pt x="154" y="144"/>
                      </a:lnTo>
                      <a:lnTo>
                        <a:pt x="156" y="152"/>
                      </a:lnTo>
                      <a:lnTo>
                        <a:pt x="158" y="157"/>
                      </a:lnTo>
                      <a:lnTo>
                        <a:pt x="161" y="159"/>
                      </a:lnTo>
                      <a:lnTo>
                        <a:pt x="162" y="159"/>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25" name="Freeform 181"/>
                <p:cNvSpPr/>
                <p:nvPr/>
              </p:nvSpPr>
              <p:spPr bwMode="auto">
                <a:xfrm>
                  <a:off x="5661026" y="3338658"/>
                  <a:ext cx="1003300" cy="271463"/>
                </a:xfrm>
                <a:custGeom>
                  <a:avLst/>
                  <a:gdLst>
                    <a:gd name="T0" fmla="*/ 0 w 1895"/>
                    <a:gd name="T1" fmla="*/ 514 h 514"/>
                    <a:gd name="T2" fmla="*/ 1895 w 1895"/>
                    <a:gd name="T3" fmla="*/ 514 h 514"/>
                    <a:gd name="T4" fmla="*/ 1895 w 1895"/>
                    <a:gd name="T5" fmla="*/ 138 h 514"/>
                    <a:gd name="T6" fmla="*/ 1895 w 1895"/>
                    <a:gd name="T7" fmla="*/ 123 h 514"/>
                    <a:gd name="T8" fmla="*/ 1893 w 1895"/>
                    <a:gd name="T9" fmla="*/ 110 h 514"/>
                    <a:gd name="T10" fmla="*/ 1889 w 1895"/>
                    <a:gd name="T11" fmla="*/ 96 h 514"/>
                    <a:gd name="T12" fmla="*/ 1885 w 1895"/>
                    <a:gd name="T13" fmla="*/ 84 h 514"/>
                    <a:gd name="T14" fmla="*/ 1879 w 1895"/>
                    <a:gd name="T15" fmla="*/ 72 h 514"/>
                    <a:gd name="T16" fmla="*/ 1873 w 1895"/>
                    <a:gd name="T17" fmla="*/ 60 h 514"/>
                    <a:gd name="T18" fmla="*/ 1864 w 1895"/>
                    <a:gd name="T19" fmla="*/ 50 h 514"/>
                    <a:gd name="T20" fmla="*/ 1856 w 1895"/>
                    <a:gd name="T21" fmla="*/ 40 h 514"/>
                    <a:gd name="T22" fmla="*/ 1847 w 1895"/>
                    <a:gd name="T23" fmla="*/ 32 h 514"/>
                    <a:gd name="T24" fmla="*/ 1836 w 1895"/>
                    <a:gd name="T25" fmla="*/ 24 h 514"/>
                    <a:gd name="T26" fmla="*/ 1824 w 1895"/>
                    <a:gd name="T27" fmla="*/ 16 h 514"/>
                    <a:gd name="T28" fmla="*/ 1812 w 1895"/>
                    <a:gd name="T29" fmla="*/ 12 h 514"/>
                    <a:gd name="T30" fmla="*/ 1800 w 1895"/>
                    <a:gd name="T31" fmla="*/ 7 h 514"/>
                    <a:gd name="T32" fmla="*/ 1787 w 1895"/>
                    <a:gd name="T33" fmla="*/ 3 h 514"/>
                    <a:gd name="T34" fmla="*/ 1774 w 1895"/>
                    <a:gd name="T35" fmla="*/ 1 h 514"/>
                    <a:gd name="T36" fmla="*/ 1760 w 1895"/>
                    <a:gd name="T37" fmla="*/ 0 h 514"/>
                    <a:gd name="T38" fmla="*/ 136 w 1895"/>
                    <a:gd name="T39" fmla="*/ 0 h 514"/>
                    <a:gd name="T40" fmla="*/ 122 w 1895"/>
                    <a:gd name="T41" fmla="*/ 1 h 514"/>
                    <a:gd name="T42" fmla="*/ 109 w 1895"/>
                    <a:gd name="T43" fmla="*/ 3 h 514"/>
                    <a:gd name="T44" fmla="*/ 95 w 1895"/>
                    <a:gd name="T45" fmla="*/ 7 h 514"/>
                    <a:gd name="T46" fmla="*/ 82 w 1895"/>
                    <a:gd name="T47" fmla="*/ 12 h 514"/>
                    <a:gd name="T48" fmla="*/ 72 w 1895"/>
                    <a:gd name="T49" fmla="*/ 16 h 514"/>
                    <a:gd name="T50" fmla="*/ 60 w 1895"/>
                    <a:gd name="T51" fmla="*/ 24 h 514"/>
                    <a:gd name="T52" fmla="*/ 49 w 1895"/>
                    <a:gd name="T53" fmla="*/ 32 h 514"/>
                    <a:gd name="T54" fmla="*/ 40 w 1895"/>
                    <a:gd name="T55" fmla="*/ 40 h 514"/>
                    <a:gd name="T56" fmla="*/ 31 w 1895"/>
                    <a:gd name="T57" fmla="*/ 50 h 514"/>
                    <a:gd name="T58" fmla="*/ 23 w 1895"/>
                    <a:gd name="T59" fmla="*/ 60 h 514"/>
                    <a:gd name="T60" fmla="*/ 17 w 1895"/>
                    <a:gd name="T61" fmla="*/ 72 h 514"/>
                    <a:gd name="T62" fmla="*/ 11 w 1895"/>
                    <a:gd name="T63" fmla="*/ 84 h 514"/>
                    <a:gd name="T64" fmla="*/ 6 w 1895"/>
                    <a:gd name="T65" fmla="*/ 96 h 514"/>
                    <a:gd name="T66" fmla="*/ 3 w 1895"/>
                    <a:gd name="T67" fmla="*/ 110 h 514"/>
                    <a:gd name="T68" fmla="*/ 0 w 1895"/>
                    <a:gd name="T69" fmla="*/ 123 h 514"/>
                    <a:gd name="T70" fmla="*/ 0 w 1895"/>
                    <a:gd name="T71" fmla="*/ 138 h 514"/>
                    <a:gd name="T72" fmla="*/ 0 w 1895"/>
                    <a:gd name="T73"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95" h="514">
                      <a:moveTo>
                        <a:pt x="0" y="514"/>
                      </a:moveTo>
                      <a:lnTo>
                        <a:pt x="1895" y="514"/>
                      </a:lnTo>
                      <a:lnTo>
                        <a:pt x="1895" y="138"/>
                      </a:lnTo>
                      <a:lnTo>
                        <a:pt x="1895" y="123"/>
                      </a:lnTo>
                      <a:lnTo>
                        <a:pt x="1893" y="110"/>
                      </a:lnTo>
                      <a:lnTo>
                        <a:pt x="1889" y="96"/>
                      </a:lnTo>
                      <a:lnTo>
                        <a:pt x="1885" y="84"/>
                      </a:lnTo>
                      <a:lnTo>
                        <a:pt x="1879" y="72"/>
                      </a:lnTo>
                      <a:lnTo>
                        <a:pt x="1873" y="60"/>
                      </a:lnTo>
                      <a:lnTo>
                        <a:pt x="1864" y="50"/>
                      </a:lnTo>
                      <a:lnTo>
                        <a:pt x="1856" y="40"/>
                      </a:lnTo>
                      <a:lnTo>
                        <a:pt x="1847" y="32"/>
                      </a:lnTo>
                      <a:lnTo>
                        <a:pt x="1836" y="24"/>
                      </a:lnTo>
                      <a:lnTo>
                        <a:pt x="1824" y="16"/>
                      </a:lnTo>
                      <a:lnTo>
                        <a:pt x="1812" y="12"/>
                      </a:lnTo>
                      <a:lnTo>
                        <a:pt x="1800" y="7"/>
                      </a:lnTo>
                      <a:lnTo>
                        <a:pt x="1787" y="3"/>
                      </a:lnTo>
                      <a:lnTo>
                        <a:pt x="1774" y="1"/>
                      </a:lnTo>
                      <a:lnTo>
                        <a:pt x="1760" y="0"/>
                      </a:lnTo>
                      <a:lnTo>
                        <a:pt x="136" y="0"/>
                      </a:lnTo>
                      <a:lnTo>
                        <a:pt x="122" y="1"/>
                      </a:lnTo>
                      <a:lnTo>
                        <a:pt x="109" y="3"/>
                      </a:lnTo>
                      <a:lnTo>
                        <a:pt x="95" y="7"/>
                      </a:lnTo>
                      <a:lnTo>
                        <a:pt x="82" y="12"/>
                      </a:lnTo>
                      <a:lnTo>
                        <a:pt x="72" y="16"/>
                      </a:lnTo>
                      <a:lnTo>
                        <a:pt x="60" y="24"/>
                      </a:lnTo>
                      <a:lnTo>
                        <a:pt x="49" y="32"/>
                      </a:lnTo>
                      <a:lnTo>
                        <a:pt x="40" y="40"/>
                      </a:lnTo>
                      <a:lnTo>
                        <a:pt x="31" y="50"/>
                      </a:lnTo>
                      <a:lnTo>
                        <a:pt x="23" y="60"/>
                      </a:lnTo>
                      <a:lnTo>
                        <a:pt x="17" y="72"/>
                      </a:lnTo>
                      <a:lnTo>
                        <a:pt x="11" y="84"/>
                      </a:lnTo>
                      <a:lnTo>
                        <a:pt x="6" y="96"/>
                      </a:lnTo>
                      <a:lnTo>
                        <a:pt x="3" y="110"/>
                      </a:lnTo>
                      <a:lnTo>
                        <a:pt x="0" y="123"/>
                      </a:lnTo>
                      <a:lnTo>
                        <a:pt x="0" y="138"/>
                      </a:lnTo>
                      <a:lnTo>
                        <a:pt x="0" y="514"/>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sp>
              <p:nvSpPr>
                <p:cNvPr id="26" name="Freeform 182"/>
                <p:cNvSpPr>
                  <a:spLocks noEditPoints="1"/>
                </p:cNvSpPr>
                <p:nvPr/>
              </p:nvSpPr>
              <p:spPr bwMode="auto">
                <a:xfrm>
                  <a:off x="5851526" y="3786568"/>
                  <a:ext cx="622300" cy="471488"/>
                </a:xfrm>
                <a:custGeom>
                  <a:avLst/>
                  <a:gdLst>
                    <a:gd name="T0" fmla="*/ 186 w 1175"/>
                    <a:gd name="T1" fmla="*/ 678 h 889"/>
                    <a:gd name="T2" fmla="*/ 124 w 1175"/>
                    <a:gd name="T3" fmla="*/ 681 h 889"/>
                    <a:gd name="T4" fmla="*/ 378 w 1175"/>
                    <a:gd name="T5" fmla="*/ 616 h 889"/>
                    <a:gd name="T6" fmla="*/ 270 w 1175"/>
                    <a:gd name="T7" fmla="*/ 552 h 889"/>
                    <a:gd name="T8" fmla="*/ 106 w 1175"/>
                    <a:gd name="T9" fmla="*/ 606 h 889"/>
                    <a:gd name="T10" fmla="*/ 5 w 1175"/>
                    <a:gd name="T11" fmla="*/ 769 h 889"/>
                    <a:gd name="T12" fmla="*/ 199 w 1175"/>
                    <a:gd name="T13" fmla="*/ 795 h 889"/>
                    <a:gd name="T14" fmla="*/ 521 w 1175"/>
                    <a:gd name="T15" fmla="*/ 255 h 889"/>
                    <a:gd name="T16" fmla="*/ 489 w 1175"/>
                    <a:gd name="T17" fmla="*/ 274 h 889"/>
                    <a:gd name="T18" fmla="*/ 457 w 1175"/>
                    <a:gd name="T19" fmla="*/ 294 h 889"/>
                    <a:gd name="T20" fmla="*/ 407 w 1175"/>
                    <a:gd name="T21" fmla="*/ 232 h 889"/>
                    <a:gd name="T22" fmla="*/ 521 w 1175"/>
                    <a:gd name="T23" fmla="*/ 255 h 889"/>
                    <a:gd name="T24" fmla="*/ 574 w 1175"/>
                    <a:gd name="T25" fmla="*/ 313 h 889"/>
                    <a:gd name="T26" fmla="*/ 572 w 1175"/>
                    <a:gd name="T27" fmla="*/ 290 h 889"/>
                    <a:gd name="T28" fmla="*/ 664 w 1175"/>
                    <a:gd name="T29" fmla="*/ 299 h 889"/>
                    <a:gd name="T30" fmla="*/ 566 w 1175"/>
                    <a:gd name="T31" fmla="*/ 353 h 889"/>
                    <a:gd name="T32" fmla="*/ 774 w 1175"/>
                    <a:gd name="T33" fmla="*/ 264 h 889"/>
                    <a:gd name="T34" fmla="*/ 838 w 1175"/>
                    <a:gd name="T35" fmla="*/ 242 h 889"/>
                    <a:gd name="T36" fmla="*/ 754 w 1175"/>
                    <a:gd name="T37" fmla="*/ 269 h 889"/>
                    <a:gd name="T38" fmla="*/ 870 w 1175"/>
                    <a:gd name="T39" fmla="*/ 281 h 889"/>
                    <a:gd name="T40" fmla="*/ 852 w 1175"/>
                    <a:gd name="T41" fmla="*/ 202 h 889"/>
                    <a:gd name="T42" fmla="*/ 864 w 1175"/>
                    <a:gd name="T43" fmla="*/ 225 h 889"/>
                    <a:gd name="T44" fmla="*/ 882 w 1175"/>
                    <a:gd name="T45" fmla="*/ 189 h 889"/>
                    <a:gd name="T46" fmla="*/ 893 w 1175"/>
                    <a:gd name="T47" fmla="*/ 141 h 889"/>
                    <a:gd name="T48" fmla="*/ 843 w 1175"/>
                    <a:gd name="T49" fmla="*/ 138 h 889"/>
                    <a:gd name="T50" fmla="*/ 908 w 1175"/>
                    <a:gd name="T51" fmla="*/ 141 h 889"/>
                    <a:gd name="T52" fmla="*/ 992 w 1175"/>
                    <a:gd name="T53" fmla="*/ 123 h 889"/>
                    <a:gd name="T54" fmla="*/ 983 w 1175"/>
                    <a:gd name="T55" fmla="*/ 124 h 889"/>
                    <a:gd name="T56" fmla="*/ 960 w 1175"/>
                    <a:gd name="T57" fmla="*/ 155 h 889"/>
                    <a:gd name="T58" fmla="*/ 1016 w 1175"/>
                    <a:gd name="T59" fmla="*/ 175 h 889"/>
                    <a:gd name="T60" fmla="*/ 1115 w 1175"/>
                    <a:gd name="T61" fmla="*/ 69 h 889"/>
                    <a:gd name="T62" fmla="*/ 1096 w 1175"/>
                    <a:gd name="T63" fmla="*/ 84 h 889"/>
                    <a:gd name="T64" fmla="*/ 1148 w 1175"/>
                    <a:gd name="T65" fmla="*/ 85 h 889"/>
                    <a:gd name="T66" fmla="*/ 1124 w 1175"/>
                    <a:gd name="T67" fmla="*/ 34 h 889"/>
                    <a:gd name="T68" fmla="*/ 904 w 1175"/>
                    <a:gd name="T69" fmla="*/ 84 h 889"/>
                    <a:gd name="T70" fmla="*/ 879 w 1175"/>
                    <a:gd name="T71" fmla="*/ 32 h 889"/>
                    <a:gd name="T72" fmla="*/ 913 w 1175"/>
                    <a:gd name="T73" fmla="*/ 99 h 889"/>
                    <a:gd name="T74" fmla="*/ 717 w 1175"/>
                    <a:gd name="T75" fmla="*/ 195 h 889"/>
                    <a:gd name="T76" fmla="*/ 724 w 1175"/>
                    <a:gd name="T77" fmla="*/ 189 h 889"/>
                    <a:gd name="T78" fmla="*/ 729 w 1175"/>
                    <a:gd name="T79" fmla="*/ 151 h 889"/>
                    <a:gd name="T80" fmla="*/ 668 w 1175"/>
                    <a:gd name="T81" fmla="*/ 162 h 889"/>
                    <a:gd name="T82" fmla="*/ 1003 w 1175"/>
                    <a:gd name="T83" fmla="*/ 297 h 889"/>
                    <a:gd name="T84" fmla="*/ 1014 w 1175"/>
                    <a:gd name="T85" fmla="*/ 317 h 889"/>
                    <a:gd name="T86" fmla="*/ 1043 w 1175"/>
                    <a:gd name="T87" fmla="*/ 286 h 889"/>
                    <a:gd name="T88" fmla="*/ 984 w 1175"/>
                    <a:gd name="T89" fmla="*/ 402 h 889"/>
                    <a:gd name="T90" fmla="*/ 979 w 1175"/>
                    <a:gd name="T91" fmla="*/ 242 h 889"/>
                    <a:gd name="T92" fmla="*/ 822 w 1175"/>
                    <a:gd name="T93" fmla="*/ 363 h 889"/>
                    <a:gd name="T94" fmla="*/ 819 w 1175"/>
                    <a:gd name="T95" fmla="*/ 509 h 889"/>
                    <a:gd name="T96" fmla="*/ 855 w 1175"/>
                    <a:gd name="T97" fmla="*/ 382 h 889"/>
                    <a:gd name="T98" fmla="*/ 778 w 1175"/>
                    <a:gd name="T99" fmla="*/ 426 h 889"/>
                    <a:gd name="T100" fmla="*/ 596 w 1175"/>
                    <a:gd name="T101" fmla="*/ 504 h 889"/>
                    <a:gd name="T102" fmla="*/ 498 w 1175"/>
                    <a:gd name="T103" fmla="*/ 437 h 889"/>
                    <a:gd name="T104" fmla="*/ 651 w 1175"/>
                    <a:gd name="T105" fmla="*/ 509 h 889"/>
                    <a:gd name="T106" fmla="*/ 592 w 1175"/>
                    <a:gd name="T107" fmla="*/ 422 h 889"/>
                    <a:gd name="T108" fmla="*/ 419 w 1175"/>
                    <a:gd name="T109" fmla="*/ 432 h 889"/>
                    <a:gd name="T110" fmla="*/ 575 w 1175"/>
                    <a:gd name="T111" fmla="*/ 547 h 889"/>
                    <a:gd name="T112" fmla="*/ 737 w 1175"/>
                    <a:gd name="T113" fmla="*/ 704 h 889"/>
                    <a:gd name="T114" fmla="*/ 710 w 1175"/>
                    <a:gd name="T115" fmla="*/ 751 h 889"/>
                    <a:gd name="T116" fmla="*/ 737 w 1175"/>
                    <a:gd name="T117" fmla="*/ 573 h 889"/>
                    <a:gd name="T118" fmla="*/ 656 w 1175"/>
                    <a:gd name="T119" fmla="*/ 683 h 889"/>
                    <a:gd name="T120" fmla="*/ 674 w 1175"/>
                    <a:gd name="T121" fmla="*/ 813 h 889"/>
                    <a:gd name="T122" fmla="*/ 777 w 1175"/>
                    <a:gd name="T123" fmla="*/ 830 h 889"/>
                    <a:gd name="T124" fmla="*/ 817 w 1175"/>
                    <a:gd name="T125" fmla="*/ 585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75" h="889">
                      <a:moveTo>
                        <a:pt x="447" y="656"/>
                      </a:moveTo>
                      <a:lnTo>
                        <a:pt x="436" y="656"/>
                      </a:lnTo>
                      <a:lnTo>
                        <a:pt x="408" y="654"/>
                      </a:lnTo>
                      <a:lnTo>
                        <a:pt x="389" y="654"/>
                      </a:lnTo>
                      <a:lnTo>
                        <a:pt x="366" y="654"/>
                      </a:lnTo>
                      <a:lnTo>
                        <a:pt x="340" y="655"/>
                      </a:lnTo>
                      <a:lnTo>
                        <a:pt x="313" y="656"/>
                      </a:lnTo>
                      <a:lnTo>
                        <a:pt x="282" y="660"/>
                      </a:lnTo>
                      <a:lnTo>
                        <a:pt x="251" y="664"/>
                      </a:lnTo>
                      <a:lnTo>
                        <a:pt x="219" y="669"/>
                      </a:lnTo>
                      <a:lnTo>
                        <a:pt x="186" y="678"/>
                      </a:lnTo>
                      <a:lnTo>
                        <a:pt x="152" y="687"/>
                      </a:lnTo>
                      <a:lnTo>
                        <a:pt x="120" y="699"/>
                      </a:lnTo>
                      <a:lnTo>
                        <a:pt x="104" y="706"/>
                      </a:lnTo>
                      <a:lnTo>
                        <a:pt x="88" y="713"/>
                      </a:lnTo>
                      <a:lnTo>
                        <a:pt x="73" y="722"/>
                      </a:lnTo>
                      <a:lnTo>
                        <a:pt x="57" y="730"/>
                      </a:lnTo>
                      <a:lnTo>
                        <a:pt x="62" y="725"/>
                      </a:lnTo>
                      <a:lnTo>
                        <a:pt x="79" y="711"/>
                      </a:lnTo>
                      <a:lnTo>
                        <a:pt x="91" y="702"/>
                      </a:lnTo>
                      <a:lnTo>
                        <a:pt x="106" y="692"/>
                      </a:lnTo>
                      <a:lnTo>
                        <a:pt x="124" y="681"/>
                      </a:lnTo>
                      <a:lnTo>
                        <a:pt x="145" y="669"/>
                      </a:lnTo>
                      <a:lnTo>
                        <a:pt x="169" y="659"/>
                      </a:lnTo>
                      <a:lnTo>
                        <a:pt x="196" y="648"/>
                      </a:lnTo>
                      <a:lnTo>
                        <a:pt x="226" y="639"/>
                      </a:lnTo>
                      <a:lnTo>
                        <a:pt x="259" y="630"/>
                      </a:lnTo>
                      <a:lnTo>
                        <a:pt x="277" y="627"/>
                      </a:lnTo>
                      <a:lnTo>
                        <a:pt x="295" y="623"/>
                      </a:lnTo>
                      <a:lnTo>
                        <a:pt x="315" y="621"/>
                      </a:lnTo>
                      <a:lnTo>
                        <a:pt x="335" y="618"/>
                      </a:lnTo>
                      <a:lnTo>
                        <a:pt x="356" y="617"/>
                      </a:lnTo>
                      <a:lnTo>
                        <a:pt x="378" y="616"/>
                      </a:lnTo>
                      <a:lnTo>
                        <a:pt x="401" y="616"/>
                      </a:lnTo>
                      <a:lnTo>
                        <a:pt x="423" y="616"/>
                      </a:lnTo>
                      <a:lnTo>
                        <a:pt x="407" y="604"/>
                      </a:lnTo>
                      <a:lnTo>
                        <a:pt x="389" y="592"/>
                      </a:lnTo>
                      <a:lnTo>
                        <a:pt x="372" y="583"/>
                      </a:lnTo>
                      <a:lnTo>
                        <a:pt x="354" y="574"/>
                      </a:lnTo>
                      <a:lnTo>
                        <a:pt x="338" y="567"/>
                      </a:lnTo>
                      <a:lnTo>
                        <a:pt x="320" y="561"/>
                      </a:lnTo>
                      <a:lnTo>
                        <a:pt x="303" y="557"/>
                      </a:lnTo>
                      <a:lnTo>
                        <a:pt x="287" y="554"/>
                      </a:lnTo>
                      <a:lnTo>
                        <a:pt x="270" y="552"/>
                      </a:lnTo>
                      <a:lnTo>
                        <a:pt x="253" y="552"/>
                      </a:lnTo>
                      <a:lnTo>
                        <a:pt x="237" y="552"/>
                      </a:lnTo>
                      <a:lnTo>
                        <a:pt x="221" y="554"/>
                      </a:lnTo>
                      <a:lnTo>
                        <a:pt x="206" y="557"/>
                      </a:lnTo>
                      <a:lnTo>
                        <a:pt x="190" y="561"/>
                      </a:lnTo>
                      <a:lnTo>
                        <a:pt x="175" y="566"/>
                      </a:lnTo>
                      <a:lnTo>
                        <a:pt x="161" y="572"/>
                      </a:lnTo>
                      <a:lnTo>
                        <a:pt x="146" y="579"/>
                      </a:lnTo>
                      <a:lnTo>
                        <a:pt x="132" y="587"/>
                      </a:lnTo>
                      <a:lnTo>
                        <a:pt x="119" y="597"/>
                      </a:lnTo>
                      <a:lnTo>
                        <a:pt x="106" y="606"/>
                      </a:lnTo>
                      <a:lnTo>
                        <a:pt x="94" y="617"/>
                      </a:lnTo>
                      <a:lnTo>
                        <a:pt x="82" y="629"/>
                      </a:lnTo>
                      <a:lnTo>
                        <a:pt x="70" y="642"/>
                      </a:lnTo>
                      <a:lnTo>
                        <a:pt x="60" y="655"/>
                      </a:lnTo>
                      <a:lnTo>
                        <a:pt x="50" y="669"/>
                      </a:lnTo>
                      <a:lnTo>
                        <a:pt x="41" y="685"/>
                      </a:lnTo>
                      <a:lnTo>
                        <a:pt x="32" y="700"/>
                      </a:lnTo>
                      <a:lnTo>
                        <a:pt x="24" y="717"/>
                      </a:lnTo>
                      <a:lnTo>
                        <a:pt x="17" y="734"/>
                      </a:lnTo>
                      <a:lnTo>
                        <a:pt x="11" y="750"/>
                      </a:lnTo>
                      <a:lnTo>
                        <a:pt x="5" y="769"/>
                      </a:lnTo>
                      <a:lnTo>
                        <a:pt x="0" y="787"/>
                      </a:lnTo>
                      <a:lnTo>
                        <a:pt x="7" y="790"/>
                      </a:lnTo>
                      <a:lnTo>
                        <a:pt x="28" y="793"/>
                      </a:lnTo>
                      <a:lnTo>
                        <a:pt x="42" y="795"/>
                      </a:lnTo>
                      <a:lnTo>
                        <a:pt x="60" y="798"/>
                      </a:lnTo>
                      <a:lnTo>
                        <a:pt x="79" y="800"/>
                      </a:lnTo>
                      <a:lnTo>
                        <a:pt x="100" y="801"/>
                      </a:lnTo>
                      <a:lnTo>
                        <a:pt x="123" y="801"/>
                      </a:lnTo>
                      <a:lnTo>
                        <a:pt x="146" y="801"/>
                      </a:lnTo>
                      <a:lnTo>
                        <a:pt x="173" y="799"/>
                      </a:lnTo>
                      <a:lnTo>
                        <a:pt x="199" y="795"/>
                      </a:lnTo>
                      <a:lnTo>
                        <a:pt x="226" y="790"/>
                      </a:lnTo>
                      <a:lnTo>
                        <a:pt x="253" y="782"/>
                      </a:lnTo>
                      <a:lnTo>
                        <a:pt x="266" y="779"/>
                      </a:lnTo>
                      <a:lnTo>
                        <a:pt x="281" y="773"/>
                      </a:lnTo>
                      <a:lnTo>
                        <a:pt x="294" y="768"/>
                      </a:lnTo>
                      <a:lnTo>
                        <a:pt x="307" y="761"/>
                      </a:lnTo>
                      <a:lnTo>
                        <a:pt x="341" y="735"/>
                      </a:lnTo>
                      <a:lnTo>
                        <a:pt x="377" y="709"/>
                      </a:lnTo>
                      <a:lnTo>
                        <a:pt x="411" y="683"/>
                      </a:lnTo>
                      <a:lnTo>
                        <a:pt x="447" y="656"/>
                      </a:lnTo>
                      <a:close/>
                      <a:moveTo>
                        <a:pt x="521" y="255"/>
                      </a:moveTo>
                      <a:lnTo>
                        <a:pt x="511" y="257"/>
                      </a:lnTo>
                      <a:lnTo>
                        <a:pt x="484" y="262"/>
                      </a:lnTo>
                      <a:lnTo>
                        <a:pt x="466" y="263"/>
                      </a:lnTo>
                      <a:lnTo>
                        <a:pt x="446" y="263"/>
                      </a:lnTo>
                      <a:lnTo>
                        <a:pt x="424" y="262"/>
                      </a:lnTo>
                      <a:lnTo>
                        <a:pt x="402" y="259"/>
                      </a:lnTo>
                      <a:lnTo>
                        <a:pt x="411" y="263"/>
                      </a:lnTo>
                      <a:lnTo>
                        <a:pt x="438" y="270"/>
                      </a:lnTo>
                      <a:lnTo>
                        <a:pt x="455" y="273"/>
                      </a:lnTo>
                      <a:lnTo>
                        <a:pt x="477" y="274"/>
                      </a:lnTo>
                      <a:lnTo>
                        <a:pt x="489" y="274"/>
                      </a:lnTo>
                      <a:lnTo>
                        <a:pt x="501" y="273"/>
                      </a:lnTo>
                      <a:lnTo>
                        <a:pt x="514" y="270"/>
                      </a:lnTo>
                      <a:lnTo>
                        <a:pt x="528" y="268"/>
                      </a:lnTo>
                      <a:lnTo>
                        <a:pt x="523" y="270"/>
                      </a:lnTo>
                      <a:lnTo>
                        <a:pt x="511" y="275"/>
                      </a:lnTo>
                      <a:lnTo>
                        <a:pt x="496" y="281"/>
                      </a:lnTo>
                      <a:lnTo>
                        <a:pt x="484" y="286"/>
                      </a:lnTo>
                      <a:lnTo>
                        <a:pt x="481" y="287"/>
                      </a:lnTo>
                      <a:lnTo>
                        <a:pt x="477" y="290"/>
                      </a:lnTo>
                      <a:lnTo>
                        <a:pt x="468" y="293"/>
                      </a:lnTo>
                      <a:lnTo>
                        <a:pt x="457" y="294"/>
                      </a:lnTo>
                      <a:lnTo>
                        <a:pt x="449" y="294"/>
                      </a:lnTo>
                      <a:lnTo>
                        <a:pt x="441" y="293"/>
                      </a:lnTo>
                      <a:lnTo>
                        <a:pt x="433" y="292"/>
                      </a:lnTo>
                      <a:lnTo>
                        <a:pt x="423" y="288"/>
                      </a:lnTo>
                      <a:lnTo>
                        <a:pt x="413" y="283"/>
                      </a:lnTo>
                      <a:lnTo>
                        <a:pt x="402" y="276"/>
                      </a:lnTo>
                      <a:lnTo>
                        <a:pt x="390" y="269"/>
                      </a:lnTo>
                      <a:lnTo>
                        <a:pt x="377" y="258"/>
                      </a:lnTo>
                      <a:lnTo>
                        <a:pt x="383" y="252"/>
                      </a:lnTo>
                      <a:lnTo>
                        <a:pt x="397" y="239"/>
                      </a:lnTo>
                      <a:lnTo>
                        <a:pt x="407" y="232"/>
                      </a:lnTo>
                      <a:lnTo>
                        <a:pt x="419" y="226"/>
                      </a:lnTo>
                      <a:lnTo>
                        <a:pt x="424" y="224"/>
                      </a:lnTo>
                      <a:lnTo>
                        <a:pt x="432" y="223"/>
                      </a:lnTo>
                      <a:lnTo>
                        <a:pt x="438" y="221"/>
                      </a:lnTo>
                      <a:lnTo>
                        <a:pt x="445" y="223"/>
                      </a:lnTo>
                      <a:lnTo>
                        <a:pt x="454" y="224"/>
                      </a:lnTo>
                      <a:lnTo>
                        <a:pt x="464" y="227"/>
                      </a:lnTo>
                      <a:lnTo>
                        <a:pt x="474" y="231"/>
                      </a:lnTo>
                      <a:lnTo>
                        <a:pt x="484" y="234"/>
                      </a:lnTo>
                      <a:lnTo>
                        <a:pt x="504" y="245"/>
                      </a:lnTo>
                      <a:lnTo>
                        <a:pt x="521" y="255"/>
                      </a:lnTo>
                      <a:close/>
                      <a:moveTo>
                        <a:pt x="544" y="353"/>
                      </a:moveTo>
                      <a:lnTo>
                        <a:pt x="553" y="345"/>
                      </a:lnTo>
                      <a:lnTo>
                        <a:pt x="574" y="327"/>
                      </a:lnTo>
                      <a:lnTo>
                        <a:pt x="588" y="317"/>
                      </a:lnTo>
                      <a:lnTo>
                        <a:pt x="606" y="305"/>
                      </a:lnTo>
                      <a:lnTo>
                        <a:pt x="626" y="294"/>
                      </a:lnTo>
                      <a:lnTo>
                        <a:pt x="649" y="284"/>
                      </a:lnTo>
                      <a:lnTo>
                        <a:pt x="638" y="286"/>
                      </a:lnTo>
                      <a:lnTo>
                        <a:pt x="612" y="294"/>
                      </a:lnTo>
                      <a:lnTo>
                        <a:pt x="594" y="302"/>
                      </a:lnTo>
                      <a:lnTo>
                        <a:pt x="574" y="313"/>
                      </a:lnTo>
                      <a:lnTo>
                        <a:pt x="563" y="319"/>
                      </a:lnTo>
                      <a:lnTo>
                        <a:pt x="553" y="327"/>
                      </a:lnTo>
                      <a:lnTo>
                        <a:pt x="542" y="336"/>
                      </a:lnTo>
                      <a:lnTo>
                        <a:pt x="531" y="345"/>
                      </a:lnTo>
                      <a:lnTo>
                        <a:pt x="535" y="341"/>
                      </a:lnTo>
                      <a:lnTo>
                        <a:pt x="543" y="331"/>
                      </a:lnTo>
                      <a:lnTo>
                        <a:pt x="553" y="318"/>
                      </a:lnTo>
                      <a:lnTo>
                        <a:pt x="561" y="305"/>
                      </a:lnTo>
                      <a:lnTo>
                        <a:pt x="562" y="303"/>
                      </a:lnTo>
                      <a:lnTo>
                        <a:pt x="565" y="297"/>
                      </a:lnTo>
                      <a:lnTo>
                        <a:pt x="572" y="290"/>
                      </a:lnTo>
                      <a:lnTo>
                        <a:pt x="581" y="282"/>
                      </a:lnTo>
                      <a:lnTo>
                        <a:pt x="587" y="278"/>
                      </a:lnTo>
                      <a:lnTo>
                        <a:pt x="596" y="275"/>
                      </a:lnTo>
                      <a:lnTo>
                        <a:pt x="604" y="273"/>
                      </a:lnTo>
                      <a:lnTo>
                        <a:pt x="615" y="270"/>
                      </a:lnTo>
                      <a:lnTo>
                        <a:pt x="626" y="269"/>
                      </a:lnTo>
                      <a:lnTo>
                        <a:pt x="640" y="268"/>
                      </a:lnTo>
                      <a:lnTo>
                        <a:pt x="655" y="269"/>
                      </a:lnTo>
                      <a:lnTo>
                        <a:pt x="672" y="271"/>
                      </a:lnTo>
                      <a:lnTo>
                        <a:pt x="670" y="280"/>
                      </a:lnTo>
                      <a:lnTo>
                        <a:pt x="664" y="299"/>
                      </a:lnTo>
                      <a:lnTo>
                        <a:pt x="660" y="311"/>
                      </a:lnTo>
                      <a:lnTo>
                        <a:pt x="653" y="322"/>
                      </a:lnTo>
                      <a:lnTo>
                        <a:pt x="648" y="327"/>
                      </a:lnTo>
                      <a:lnTo>
                        <a:pt x="643" y="333"/>
                      </a:lnTo>
                      <a:lnTo>
                        <a:pt x="637" y="337"/>
                      </a:lnTo>
                      <a:lnTo>
                        <a:pt x="631" y="341"/>
                      </a:lnTo>
                      <a:lnTo>
                        <a:pt x="622" y="344"/>
                      </a:lnTo>
                      <a:lnTo>
                        <a:pt x="611" y="347"/>
                      </a:lnTo>
                      <a:lnTo>
                        <a:pt x="600" y="350"/>
                      </a:lnTo>
                      <a:lnTo>
                        <a:pt x="588" y="351"/>
                      </a:lnTo>
                      <a:lnTo>
                        <a:pt x="566" y="353"/>
                      </a:lnTo>
                      <a:lnTo>
                        <a:pt x="544" y="353"/>
                      </a:lnTo>
                      <a:close/>
                      <a:moveTo>
                        <a:pt x="870" y="281"/>
                      </a:moveTo>
                      <a:lnTo>
                        <a:pt x="860" y="277"/>
                      </a:lnTo>
                      <a:lnTo>
                        <a:pt x="837" y="270"/>
                      </a:lnTo>
                      <a:lnTo>
                        <a:pt x="820" y="267"/>
                      </a:lnTo>
                      <a:lnTo>
                        <a:pt x="803" y="264"/>
                      </a:lnTo>
                      <a:lnTo>
                        <a:pt x="794" y="264"/>
                      </a:lnTo>
                      <a:lnTo>
                        <a:pt x="784" y="264"/>
                      </a:lnTo>
                      <a:lnTo>
                        <a:pt x="776" y="265"/>
                      </a:lnTo>
                      <a:lnTo>
                        <a:pt x="767" y="268"/>
                      </a:lnTo>
                      <a:lnTo>
                        <a:pt x="774" y="264"/>
                      </a:lnTo>
                      <a:lnTo>
                        <a:pt x="794" y="259"/>
                      </a:lnTo>
                      <a:lnTo>
                        <a:pt x="808" y="258"/>
                      </a:lnTo>
                      <a:lnTo>
                        <a:pt x="825" y="258"/>
                      </a:lnTo>
                      <a:lnTo>
                        <a:pt x="836" y="259"/>
                      </a:lnTo>
                      <a:lnTo>
                        <a:pt x="845" y="262"/>
                      </a:lnTo>
                      <a:lnTo>
                        <a:pt x="856" y="265"/>
                      </a:lnTo>
                      <a:lnTo>
                        <a:pt x="868" y="269"/>
                      </a:lnTo>
                      <a:lnTo>
                        <a:pt x="860" y="259"/>
                      </a:lnTo>
                      <a:lnTo>
                        <a:pt x="853" y="252"/>
                      </a:lnTo>
                      <a:lnTo>
                        <a:pt x="846" y="246"/>
                      </a:lnTo>
                      <a:lnTo>
                        <a:pt x="838" y="242"/>
                      </a:lnTo>
                      <a:lnTo>
                        <a:pt x="831" y="238"/>
                      </a:lnTo>
                      <a:lnTo>
                        <a:pt x="822" y="237"/>
                      </a:lnTo>
                      <a:lnTo>
                        <a:pt x="814" y="236"/>
                      </a:lnTo>
                      <a:lnTo>
                        <a:pt x="806" y="236"/>
                      </a:lnTo>
                      <a:lnTo>
                        <a:pt x="798" y="238"/>
                      </a:lnTo>
                      <a:lnTo>
                        <a:pt x="789" y="240"/>
                      </a:lnTo>
                      <a:lnTo>
                        <a:pt x="781" y="244"/>
                      </a:lnTo>
                      <a:lnTo>
                        <a:pt x="774" y="249"/>
                      </a:lnTo>
                      <a:lnTo>
                        <a:pt x="767" y="255"/>
                      </a:lnTo>
                      <a:lnTo>
                        <a:pt x="759" y="261"/>
                      </a:lnTo>
                      <a:lnTo>
                        <a:pt x="754" y="269"/>
                      </a:lnTo>
                      <a:lnTo>
                        <a:pt x="748" y="276"/>
                      </a:lnTo>
                      <a:lnTo>
                        <a:pt x="754" y="281"/>
                      </a:lnTo>
                      <a:lnTo>
                        <a:pt x="771" y="288"/>
                      </a:lnTo>
                      <a:lnTo>
                        <a:pt x="783" y="293"/>
                      </a:lnTo>
                      <a:lnTo>
                        <a:pt x="796" y="295"/>
                      </a:lnTo>
                      <a:lnTo>
                        <a:pt x="811" y="296"/>
                      </a:lnTo>
                      <a:lnTo>
                        <a:pt x="826" y="295"/>
                      </a:lnTo>
                      <a:lnTo>
                        <a:pt x="838" y="292"/>
                      </a:lnTo>
                      <a:lnTo>
                        <a:pt x="849" y="288"/>
                      </a:lnTo>
                      <a:lnTo>
                        <a:pt x="859" y="284"/>
                      </a:lnTo>
                      <a:lnTo>
                        <a:pt x="870" y="281"/>
                      </a:lnTo>
                      <a:close/>
                      <a:moveTo>
                        <a:pt x="831" y="175"/>
                      </a:moveTo>
                      <a:lnTo>
                        <a:pt x="836" y="180"/>
                      </a:lnTo>
                      <a:lnTo>
                        <a:pt x="849" y="193"/>
                      </a:lnTo>
                      <a:lnTo>
                        <a:pt x="858" y="199"/>
                      </a:lnTo>
                      <a:lnTo>
                        <a:pt x="869" y="206"/>
                      </a:lnTo>
                      <a:lnTo>
                        <a:pt x="879" y="212"/>
                      </a:lnTo>
                      <a:lnTo>
                        <a:pt x="893" y="215"/>
                      </a:lnTo>
                      <a:lnTo>
                        <a:pt x="887" y="215"/>
                      </a:lnTo>
                      <a:lnTo>
                        <a:pt x="872" y="213"/>
                      </a:lnTo>
                      <a:lnTo>
                        <a:pt x="863" y="208"/>
                      </a:lnTo>
                      <a:lnTo>
                        <a:pt x="852" y="202"/>
                      </a:lnTo>
                      <a:lnTo>
                        <a:pt x="841" y="194"/>
                      </a:lnTo>
                      <a:lnTo>
                        <a:pt x="830" y="183"/>
                      </a:lnTo>
                      <a:lnTo>
                        <a:pt x="831" y="191"/>
                      </a:lnTo>
                      <a:lnTo>
                        <a:pt x="833" y="198"/>
                      </a:lnTo>
                      <a:lnTo>
                        <a:pt x="836" y="204"/>
                      </a:lnTo>
                      <a:lnTo>
                        <a:pt x="839" y="210"/>
                      </a:lnTo>
                      <a:lnTo>
                        <a:pt x="843" y="214"/>
                      </a:lnTo>
                      <a:lnTo>
                        <a:pt x="847" y="218"/>
                      </a:lnTo>
                      <a:lnTo>
                        <a:pt x="852" y="221"/>
                      </a:lnTo>
                      <a:lnTo>
                        <a:pt x="858" y="224"/>
                      </a:lnTo>
                      <a:lnTo>
                        <a:pt x="864" y="225"/>
                      </a:lnTo>
                      <a:lnTo>
                        <a:pt x="870" y="226"/>
                      </a:lnTo>
                      <a:lnTo>
                        <a:pt x="876" y="226"/>
                      </a:lnTo>
                      <a:lnTo>
                        <a:pt x="882" y="225"/>
                      </a:lnTo>
                      <a:lnTo>
                        <a:pt x="889" y="224"/>
                      </a:lnTo>
                      <a:lnTo>
                        <a:pt x="895" y="223"/>
                      </a:lnTo>
                      <a:lnTo>
                        <a:pt x="901" y="219"/>
                      </a:lnTo>
                      <a:lnTo>
                        <a:pt x="908" y="217"/>
                      </a:lnTo>
                      <a:lnTo>
                        <a:pt x="904" y="212"/>
                      </a:lnTo>
                      <a:lnTo>
                        <a:pt x="896" y="201"/>
                      </a:lnTo>
                      <a:lnTo>
                        <a:pt x="890" y="195"/>
                      </a:lnTo>
                      <a:lnTo>
                        <a:pt x="882" y="189"/>
                      </a:lnTo>
                      <a:lnTo>
                        <a:pt x="874" y="183"/>
                      </a:lnTo>
                      <a:lnTo>
                        <a:pt x="863" y="179"/>
                      </a:lnTo>
                      <a:lnTo>
                        <a:pt x="847" y="177"/>
                      </a:lnTo>
                      <a:lnTo>
                        <a:pt x="831" y="175"/>
                      </a:lnTo>
                      <a:close/>
                      <a:moveTo>
                        <a:pt x="831" y="99"/>
                      </a:moveTo>
                      <a:lnTo>
                        <a:pt x="836" y="105"/>
                      </a:lnTo>
                      <a:lnTo>
                        <a:pt x="849" y="117"/>
                      </a:lnTo>
                      <a:lnTo>
                        <a:pt x="858" y="124"/>
                      </a:lnTo>
                      <a:lnTo>
                        <a:pt x="869" y="131"/>
                      </a:lnTo>
                      <a:lnTo>
                        <a:pt x="879" y="136"/>
                      </a:lnTo>
                      <a:lnTo>
                        <a:pt x="893" y="141"/>
                      </a:lnTo>
                      <a:lnTo>
                        <a:pt x="887" y="141"/>
                      </a:lnTo>
                      <a:lnTo>
                        <a:pt x="872" y="137"/>
                      </a:lnTo>
                      <a:lnTo>
                        <a:pt x="863" y="133"/>
                      </a:lnTo>
                      <a:lnTo>
                        <a:pt x="852" y="128"/>
                      </a:lnTo>
                      <a:lnTo>
                        <a:pt x="841" y="119"/>
                      </a:lnTo>
                      <a:lnTo>
                        <a:pt x="830" y="107"/>
                      </a:lnTo>
                      <a:lnTo>
                        <a:pt x="831" y="116"/>
                      </a:lnTo>
                      <a:lnTo>
                        <a:pt x="833" y="122"/>
                      </a:lnTo>
                      <a:lnTo>
                        <a:pt x="836" y="129"/>
                      </a:lnTo>
                      <a:lnTo>
                        <a:pt x="839" y="133"/>
                      </a:lnTo>
                      <a:lnTo>
                        <a:pt x="843" y="138"/>
                      </a:lnTo>
                      <a:lnTo>
                        <a:pt x="847" y="142"/>
                      </a:lnTo>
                      <a:lnTo>
                        <a:pt x="852" y="145"/>
                      </a:lnTo>
                      <a:lnTo>
                        <a:pt x="858" y="148"/>
                      </a:lnTo>
                      <a:lnTo>
                        <a:pt x="864" y="149"/>
                      </a:lnTo>
                      <a:lnTo>
                        <a:pt x="870" y="150"/>
                      </a:lnTo>
                      <a:lnTo>
                        <a:pt x="876" y="150"/>
                      </a:lnTo>
                      <a:lnTo>
                        <a:pt x="882" y="150"/>
                      </a:lnTo>
                      <a:lnTo>
                        <a:pt x="889" y="149"/>
                      </a:lnTo>
                      <a:lnTo>
                        <a:pt x="895" y="147"/>
                      </a:lnTo>
                      <a:lnTo>
                        <a:pt x="901" y="144"/>
                      </a:lnTo>
                      <a:lnTo>
                        <a:pt x="908" y="141"/>
                      </a:lnTo>
                      <a:lnTo>
                        <a:pt x="904" y="136"/>
                      </a:lnTo>
                      <a:lnTo>
                        <a:pt x="896" y="125"/>
                      </a:lnTo>
                      <a:lnTo>
                        <a:pt x="890" y="119"/>
                      </a:lnTo>
                      <a:lnTo>
                        <a:pt x="882" y="113"/>
                      </a:lnTo>
                      <a:lnTo>
                        <a:pt x="874" y="107"/>
                      </a:lnTo>
                      <a:lnTo>
                        <a:pt x="863" y="104"/>
                      </a:lnTo>
                      <a:lnTo>
                        <a:pt x="847" y="101"/>
                      </a:lnTo>
                      <a:lnTo>
                        <a:pt x="831" y="99"/>
                      </a:lnTo>
                      <a:close/>
                      <a:moveTo>
                        <a:pt x="1002" y="88"/>
                      </a:moveTo>
                      <a:lnTo>
                        <a:pt x="998" y="98"/>
                      </a:lnTo>
                      <a:lnTo>
                        <a:pt x="992" y="123"/>
                      </a:lnTo>
                      <a:lnTo>
                        <a:pt x="990" y="138"/>
                      </a:lnTo>
                      <a:lnTo>
                        <a:pt x="988" y="156"/>
                      </a:lnTo>
                      <a:lnTo>
                        <a:pt x="988" y="164"/>
                      </a:lnTo>
                      <a:lnTo>
                        <a:pt x="989" y="174"/>
                      </a:lnTo>
                      <a:lnTo>
                        <a:pt x="990" y="183"/>
                      </a:lnTo>
                      <a:lnTo>
                        <a:pt x="992" y="192"/>
                      </a:lnTo>
                      <a:lnTo>
                        <a:pt x="989" y="186"/>
                      </a:lnTo>
                      <a:lnTo>
                        <a:pt x="983" y="166"/>
                      </a:lnTo>
                      <a:lnTo>
                        <a:pt x="982" y="151"/>
                      </a:lnTo>
                      <a:lnTo>
                        <a:pt x="982" y="133"/>
                      </a:lnTo>
                      <a:lnTo>
                        <a:pt x="983" y="124"/>
                      </a:lnTo>
                      <a:lnTo>
                        <a:pt x="984" y="114"/>
                      </a:lnTo>
                      <a:lnTo>
                        <a:pt x="986" y="103"/>
                      </a:lnTo>
                      <a:lnTo>
                        <a:pt x="990" y="92"/>
                      </a:lnTo>
                      <a:lnTo>
                        <a:pt x="982" y="99"/>
                      </a:lnTo>
                      <a:lnTo>
                        <a:pt x="975" y="106"/>
                      </a:lnTo>
                      <a:lnTo>
                        <a:pt x="969" y="113"/>
                      </a:lnTo>
                      <a:lnTo>
                        <a:pt x="965" y="122"/>
                      </a:lnTo>
                      <a:lnTo>
                        <a:pt x="961" y="130"/>
                      </a:lnTo>
                      <a:lnTo>
                        <a:pt x="960" y="138"/>
                      </a:lnTo>
                      <a:lnTo>
                        <a:pt x="959" y="147"/>
                      </a:lnTo>
                      <a:lnTo>
                        <a:pt x="960" y="155"/>
                      </a:lnTo>
                      <a:lnTo>
                        <a:pt x="961" y="162"/>
                      </a:lnTo>
                      <a:lnTo>
                        <a:pt x="965" y="170"/>
                      </a:lnTo>
                      <a:lnTo>
                        <a:pt x="969" y="179"/>
                      </a:lnTo>
                      <a:lnTo>
                        <a:pt x="973" y="186"/>
                      </a:lnTo>
                      <a:lnTo>
                        <a:pt x="979" y="193"/>
                      </a:lnTo>
                      <a:lnTo>
                        <a:pt x="985" y="199"/>
                      </a:lnTo>
                      <a:lnTo>
                        <a:pt x="994" y="205"/>
                      </a:lnTo>
                      <a:lnTo>
                        <a:pt x="1002" y="211"/>
                      </a:lnTo>
                      <a:lnTo>
                        <a:pt x="1005" y="204"/>
                      </a:lnTo>
                      <a:lnTo>
                        <a:pt x="1013" y="187"/>
                      </a:lnTo>
                      <a:lnTo>
                        <a:pt x="1016" y="175"/>
                      </a:lnTo>
                      <a:lnTo>
                        <a:pt x="1018" y="161"/>
                      </a:lnTo>
                      <a:lnTo>
                        <a:pt x="1020" y="147"/>
                      </a:lnTo>
                      <a:lnTo>
                        <a:pt x="1018" y="131"/>
                      </a:lnTo>
                      <a:lnTo>
                        <a:pt x="1014" y="120"/>
                      </a:lnTo>
                      <a:lnTo>
                        <a:pt x="1010" y="111"/>
                      </a:lnTo>
                      <a:lnTo>
                        <a:pt x="1007" y="100"/>
                      </a:lnTo>
                      <a:lnTo>
                        <a:pt x="1002" y="88"/>
                      </a:lnTo>
                      <a:close/>
                      <a:moveTo>
                        <a:pt x="1066" y="76"/>
                      </a:moveTo>
                      <a:lnTo>
                        <a:pt x="1075" y="76"/>
                      </a:lnTo>
                      <a:lnTo>
                        <a:pt x="1099" y="73"/>
                      </a:lnTo>
                      <a:lnTo>
                        <a:pt x="1115" y="69"/>
                      </a:lnTo>
                      <a:lnTo>
                        <a:pt x="1131" y="63"/>
                      </a:lnTo>
                      <a:lnTo>
                        <a:pt x="1140" y="60"/>
                      </a:lnTo>
                      <a:lnTo>
                        <a:pt x="1148" y="56"/>
                      </a:lnTo>
                      <a:lnTo>
                        <a:pt x="1155" y="51"/>
                      </a:lnTo>
                      <a:lnTo>
                        <a:pt x="1162" y="46"/>
                      </a:lnTo>
                      <a:lnTo>
                        <a:pt x="1157" y="51"/>
                      </a:lnTo>
                      <a:lnTo>
                        <a:pt x="1142" y="65"/>
                      </a:lnTo>
                      <a:lnTo>
                        <a:pt x="1130" y="72"/>
                      </a:lnTo>
                      <a:lnTo>
                        <a:pt x="1115" y="78"/>
                      </a:lnTo>
                      <a:lnTo>
                        <a:pt x="1105" y="81"/>
                      </a:lnTo>
                      <a:lnTo>
                        <a:pt x="1096" y="84"/>
                      </a:lnTo>
                      <a:lnTo>
                        <a:pt x="1084" y="85"/>
                      </a:lnTo>
                      <a:lnTo>
                        <a:pt x="1073" y="86"/>
                      </a:lnTo>
                      <a:lnTo>
                        <a:pt x="1083" y="92"/>
                      </a:lnTo>
                      <a:lnTo>
                        <a:pt x="1091" y="95"/>
                      </a:lnTo>
                      <a:lnTo>
                        <a:pt x="1100" y="98"/>
                      </a:lnTo>
                      <a:lnTo>
                        <a:pt x="1110" y="98"/>
                      </a:lnTo>
                      <a:lnTo>
                        <a:pt x="1118" y="98"/>
                      </a:lnTo>
                      <a:lnTo>
                        <a:pt x="1127" y="97"/>
                      </a:lnTo>
                      <a:lnTo>
                        <a:pt x="1134" y="93"/>
                      </a:lnTo>
                      <a:lnTo>
                        <a:pt x="1141" y="90"/>
                      </a:lnTo>
                      <a:lnTo>
                        <a:pt x="1148" y="85"/>
                      </a:lnTo>
                      <a:lnTo>
                        <a:pt x="1154" y="79"/>
                      </a:lnTo>
                      <a:lnTo>
                        <a:pt x="1160" y="73"/>
                      </a:lnTo>
                      <a:lnTo>
                        <a:pt x="1165" y="66"/>
                      </a:lnTo>
                      <a:lnTo>
                        <a:pt x="1168" y="57"/>
                      </a:lnTo>
                      <a:lnTo>
                        <a:pt x="1172" y="49"/>
                      </a:lnTo>
                      <a:lnTo>
                        <a:pt x="1174" y="40"/>
                      </a:lnTo>
                      <a:lnTo>
                        <a:pt x="1175" y="30"/>
                      </a:lnTo>
                      <a:lnTo>
                        <a:pt x="1168" y="29"/>
                      </a:lnTo>
                      <a:lnTo>
                        <a:pt x="1149" y="29"/>
                      </a:lnTo>
                      <a:lnTo>
                        <a:pt x="1137" y="31"/>
                      </a:lnTo>
                      <a:lnTo>
                        <a:pt x="1124" y="34"/>
                      </a:lnTo>
                      <a:lnTo>
                        <a:pt x="1111" y="38"/>
                      </a:lnTo>
                      <a:lnTo>
                        <a:pt x="1098" y="46"/>
                      </a:lnTo>
                      <a:lnTo>
                        <a:pt x="1081" y="61"/>
                      </a:lnTo>
                      <a:lnTo>
                        <a:pt x="1066" y="76"/>
                      </a:lnTo>
                      <a:close/>
                      <a:moveTo>
                        <a:pt x="913" y="0"/>
                      </a:moveTo>
                      <a:lnTo>
                        <a:pt x="910" y="8"/>
                      </a:lnTo>
                      <a:lnTo>
                        <a:pt x="904" y="28"/>
                      </a:lnTo>
                      <a:lnTo>
                        <a:pt x="902" y="41"/>
                      </a:lnTo>
                      <a:lnTo>
                        <a:pt x="901" y="54"/>
                      </a:lnTo>
                      <a:lnTo>
                        <a:pt x="902" y="69"/>
                      </a:lnTo>
                      <a:lnTo>
                        <a:pt x="904" y="84"/>
                      </a:lnTo>
                      <a:lnTo>
                        <a:pt x="902" y="78"/>
                      </a:lnTo>
                      <a:lnTo>
                        <a:pt x="897" y="62"/>
                      </a:lnTo>
                      <a:lnTo>
                        <a:pt x="896" y="50"/>
                      </a:lnTo>
                      <a:lnTo>
                        <a:pt x="896" y="36"/>
                      </a:lnTo>
                      <a:lnTo>
                        <a:pt x="898" y="21"/>
                      </a:lnTo>
                      <a:lnTo>
                        <a:pt x="903" y="3"/>
                      </a:lnTo>
                      <a:lnTo>
                        <a:pt x="896" y="8"/>
                      </a:lnTo>
                      <a:lnTo>
                        <a:pt x="890" y="13"/>
                      </a:lnTo>
                      <a:lnTo>
                        <a:pt x="887" y="21"/>
                      </a:lnTo>
                      <a:lnTo>
                        <a:pt x="883" y="27"/>
                      </a:lnTo>
                      <a:lnTo>
                        <a:pt x="879" y="32"/>
                      </a:lnTo>
                      <a:lnTo>
                        <a:pt x="878" y="40"/>
                      </a:lnTo>
                      <a:lnTo>
                        <a:pt x="878" y="47"/>
                      </a:lnTo>
                      <a:lnTo>
                        <a:pt x="878" y="53"/>
                      </a:lnTo>
                      <a:lnTo>
                        <a:pt x="881" y="60"/>
                      </a:lnTo>
                      <a:lnTo>
                        <a:pt x="882" y="66"/>
                      </a:lnTo>
                      <a:lnTo>
                        <a:pt x="885" y="73"/>
                      </a:lnTo>
                      <a:lnTo>
                        <a:pt x="889" y="79"/>
                      </a:lnTo>
                      <a:lnTo>
                        <a:pt x="894" y="84"/>
                      </a:lnTo>
                      <a:lnTo>
                        <a:pt x="900" y="90"/>
                      </a:lnTo>
                      <a:lnTo>
                        <a:pt x="906" y="94"/>
                      </a:lnTo>
                      <a:lnTo>
                        <a:pt x="913" y="99"/>
                      </a:lnTo>
                      <a:lnTo>
                        <a:pt x="915" y="93"/>
                      </a:lnTo>
                      <a:lnTo>
                        <a:pt x="921" y="79"/>
                      </a:lnTo>
                      <a:lnTo>
                        <a:pt x="923" y="69"/>
                      </a:lnTo>
                      <a:lnTo>
                        <a:pt x="926" y="59"/>
                      </a:lnTo>
                      <a:lnTo>
                        <a:pt x="927" y="47"/>
                      </a:lnTo>
                      <a:lnTo>
                        <a:pt x="926" y="35"/>
                      </a:lnTo>
                      <a:lnTo>
                        <a:pt x="919" y="17"/>
                      </a:lnTo>
                      <a:lnTo>
                        <a:pt x="913" y="0"/>
                      </a:lnTo>
                      <a:close/>
                      <a:moveTo>
                        <a:pt x="725" y="230"/>
                      </a:moveTo>
                      <a:lnTo>
                        <a:pt x="723" y="220"/>
                      </a:lnTo>
                      <a:lnTo>
                        <a:pt x="717" y="195"/>
                      </a:lnTo>
                      <a:lnTo>
                        <a:pt x="711" y="180"/>
                      </a:lnTo>
                      <a:lnTo>
                        <a:pt x="702" y="164"/>
                      </a:lnTo>
                      <a:lnTo>
                        <a:pt x="698" y="156"/>
                      </a:lnTo>
                      <a:lnTo>
                        <a:pt x="693" y="149"/>
                      </a:lnTo>
                      <a:lnTo>
                        <a:pt x="687" y="142"/>
                      </a:lnTo>
                      <a:lnTo>
                        <a:pt x="681" y="135"/>
                      </a:lnTo>
                      <a:lnTo>
                        <a:pt x="687" y="138"/>
                      </a:lnTo>
                      <a:lnTo>
                        <a:pt x="702" y="154"/>
                      </a:lnTo>
                      <a:lnTo>
                        <a:pt x="711" y="166"/>
                      </a:lnTo>
                      <a:lnTo>
                        <a:pt x="719" y="180"/>
                      </a:lnTo>
                      <a:lnTo>
                        <a:pt x="724" y="189"/>
                      </a:lnTo>
                      <a:lnTo>
                        <a:pt x="727" y="199"/>
                      </a:lnTo>
                      <a:lnTo>
                        <a:pt x="731" y="210"/>
                      </a:lnTo>
                      <a:lnTo>
                        <a:pt x="733" y="221"/>
                      </a:lnTo>
                      <a:lnTo>
                        <a:pt x="738" y="211"/>
                      </a:lnTo>
                      <a:lnTo>
                        <a:pt x="740" y="201"/>
                      </a:lnTo>
                      <a:lnTo>
                        <a:pt x="742" y="192"/>
                      </a:lnTo>
                      <a:lnTo>
                        <a:pt x="742" y="182"/>
                      </a:lnTo>
                      <a:lnTo>
                        <a:pt x="739" y="174"/>
                      </a:lnTo>
                      <a:lnTo>
                        <a:pt x="737" y="166"/>
                      </a:lnTo>
                      <a:lnTo>
                        <a:pt x="733" y="157"/>
                      </a:lnTo>
                      <a:lnTo>
                        <a:pt x="729" y="151"/>
                      </a:lnTo>
                      <a:lnTo>
                        <a:pt x="723" y="144"/>
                      </a:lnTo>
                      <a:lnTo>
                        <a:pt x="716" y="139"/>
                      </a:lnTo>
                      <a:lnTo>
                        <a:pt x="708" y="135"/>
                      </a:lnTo>
                      <a:lnTo>
                        <a:pt x="700" y="130"/>
                      </a:lnTo>
                      <a:lnTo>
                        <a:pt x="692" y="128"/>
                      </a:lnTo>
                      <a:lnTo>
                        <a:pt x="682" y="125"/>
                      </a:lnTo>
                      <a:lnTo>
                        <a:pt x="673" y="124"/>
                      </a:lnTo>
                      <a:lnTo>
                        <a:pt x="662" y="123"/>
                      </a:lnTo>
                      <a:lnTo>
                        <a:pt x="662" y="131"/>
                      </a:lnTo>
                      <a:lnTo>
                        <a:pt x="666" y="150"/>
                      </a:lnTo>
                      <a:lnTo>
                        <a:pt x="668" y="162"/>
                      </a:lnTo>
                      <a:lnTo>
                        <a:pt x="673" y="175"/>
                      </a:lnTo>
                      <a:lnTo>
                        <a:pt x="680" y="188"/>
                      </a:lnTo>
                      <a:lnTo>
                        <a:pt x="689" y="201"/>
                      </a:lnTo>
                      <a:lnTo>
                        <a:pt x="698" y="208"/>
                      </a:lnTo>
                      <a:lnTo>
                        <a:pt x="707" y="215"/>
                      </a:lnTo>
                      <a:lnTo>
                        <a:pt x="716" y="223"/>
                      </a:lnTo>
                      <a:lnTo>
                        <a:pt x="725" y="230"/>
                      </a:lnTo>
                      <a:close/>
                      <a:moveTo>
                        <a:pt x="985" y="226"/>
                      </a:moveTo>
                      <a:lnTo>
                        <a:pt x="990" y="239"/>
                      </a:lnTo>
                      <a:lnTo>
                        <a:pt x="999" y="275"/>
                      </a:lnTo>
                      <a:lnTo>
                        <a:pt x="1003" y="297"/>
                      </a:lnTo>
                      <a:lnTo>
                        <a:pt x="1004" y="322"/>
                      </a:lnTo>
                      <a:lnTo>
                        <a:pt x="1004" y="336"/>
                      </a:lnTo>
                      <a:lnTo>
                        <a:pt x="1003" y="349"/>
                      </a:lnTo>
                      <a:lnTo>
                        <a:pt x="1002" y="362"/>
                      </a:lnTo>
                      <a:lnTo>
                        <a:pt x="998" y="375"/>
                      </a:lnTo>
                      <a:lnTo>
                        <a:pt x="999" y="372"/>
                      </a:lnTo>
                      <a:lnTo>
                        <a:pt x="1003" y="365"/>
                      </a:lnTo>
                      <a:lnTo>
                        <a:pt x="1008" y="353"/>
                      </a:lnTo>
                      <a:lnTo>
                        <a:pt x="1011" y="337"/>
                      </a:lnTo>
                      <a:lnTo>
                        <a:pt x="1013" y="327"/>
                      </a:lnTo>
                      <a:lnTo>
                        <a:pt x="1014" y="317"/>
                      </a:lnTo>
                      <a:lnTo>
                        <a:pt x="1015" y="305"/>
                      </a:lnTo>
                      <a:lnTo>
                        <a:pt x="1014" y="292"/>
                      </a:lnTo>
                      <a:lnTo>
                        <a:pt x="1013" y="277"/>
                      </a:lnTo>
                      <a:lnTo>
                        <a:pt x="1010" y="262"/>
                      </a:lnTo>
                      <a:lnTo>
                        <a:pt x="1007" y="246"/>
                      </a:lnTo>
                      <a:lnTo>
                        <a:pt x="1002" y="230"/>
                      </a:lnTo>
                      <a:lnTo>
                        <a:pt x="1015" y="240"/>
                      </a:lnTo>
                      <a:lnTo>
                        <a:pt x="1024" y="251"/>
                      </a:lnTo>
                      <a:lnTo>
                        <a:pt x="1033" y="262"/>
                      </a:lnTo>
                      <a:lnTo>
                        <a:pt x="1039" y="274"/>
                      </a:lnTo>
                      <a:lnTo>
                        <a:pt x="1043" y="286"/>
                      </a:lnTo>
                      <a:lnTo>
                        <a:pt x="1046" y="297"/>
                      </a:lnTo>
                      <a:lnTo>
                        <a:pt x="1046" y="309"/>
                      </a:lnTo>
                      <a:lnTo>
                        <a:pt x="1046" y="321"/>
                      </a:lnTo>
                      <a:lnTo>
                        <a:pt x="1042" y="333"/>
                      </a:lnTo>
                      <a:lnTo>
                        <a:pt x="1039" y="344"/>
                      </a:lnTo>
                      <a:lnTo>
                        <a:pt x="1033" y="356"/>
                      </a:lnTo>
                      <a:lnTo>
                        <a:pt x="1026" y="366"/>
                      </a:lnTo>
                      <a:lnTo>
                        <a:pt x="1016" y="376"/>
                      </a:lnTo>
                      <a:lnTo>
                        <a:pt x="1007" y="385"/>
                      </a:lnTo>
                      <a:lnTo>
                        <a:pt x="996" y="394"/>
                      </a:lnTo>
                      <a:lnTo>
                        <a:pt x="984" y="402"/>
                      </a:lnTo>
                      <a:lnTo>
                        <a:pt x="978" y="393"/>
                      </a:lnTo>
                      <a:lnTo>
                        <a:pt x="969" y="366"/>
                      </a:lnTo>
                      <a:lnTo>
                        <a:pt x="964" y="350"/>
                      </a:lnTo>
                      <a:lnTo>
                        <a:pt x="960" y="330"/>
                      </a:lnTo>
                      <a:lnTo>
                        <a:pt x="959" y="320"/>
                      </a:lnTo>
                      <a:lnTo>
                        <a:pt x="959" y="309"/>
                      </a:lnTo>
                      <a:lnTo>
                        <a:pt x="960" y="299"/>
                      </a:lnTo>
                      <a:lnTo>
                        <a:pt x="961" y="287"/>
                      </a:lnTo>
                      <a:lnTo>
                        <a:pt x="967" y="271"/>
                      </a:lnTo>
                      <a:lnTo>
                        <a:pt x="973" y="257"/>
                      </a:lnTo>
                      <a:lnTo>
                        <a:pt x="979" y="242"/>
                      </a:lnTo>
                      <a:lnTo>
                        <a:pt x="985" y="226"/>
                      </a:lnTo>
                      <a:close/>
                      <a:moveTo>
                        <a:pt x="801" y="513"/>
                      </a:moveTo>
                      <a:lnTo>
                        <a:pt x="807" y="498"/>
                      </a:lnTo>
                      <a:lnTo>
                        <a:pt x="818" y="463"/>
                      </a:lnTo>
                      <a:lnTo>
                        <a:pt x="822" y="439"/>
                      </a:lnTo>
                      <a:lnTo>
                        <a:pt x="825" y="414"/>
                      </a:lnTo>
                      <a:lnTo>
                        <a:pt x="825" y="401"/>
                      </a:lnTo>
                      <a:lnTo>
                        <a:pt x="825" y="387"/>
                      </a:lnTo>
                      <a:lnTo>
                        <a:pt x="824" y="374"/>
                      </a:lnTo>
                      <a:lnTo>
                        <a:pt x="821" y="360"/>
                      </a:lnTo>
                      <a:lnTo>
                        <a:pt x="822" y="363"/>
                      </a:lnTo>
                      <a:lnTo>
                        <a:pt x="825" y="370"/>
                      </a:lnTo>
                      <a:lnTo>
                        <a:pt x="830" y="383"/>
                      </a:lnTo>
                      <a:lnTo>
                        <a:pt x="833" y="400"/>
                      </a:lnTo>
                      <a:lnTo>
                        <a:pt x="834" y="410"/>
                      </a:lnTo>
                      <a:lnTo>
                        <a:pt x="834" y="421"/>
                      </a:lnTo>
                      <a:lnTo>
                        <a:pt x="834" y="433"/>
                      </a:lnTo>
                      <a:lnTo>
                        <a:pt x="833" y="446"/>
                      </a:lnTo>
                      <a:lnTo>
                        <a:pt x="832" y="460"/>
                      </a:lnTo>
                      <a:lnTo>
                        <a:pt x="828" y="476"/>
                      </a:lnTo>
                      <a:lnTo>
                        <a:pt x="825" y="492"/>
                      </a:lnTo>
                      <a:lnTo>
                        <a:pt x="819" y="509"/>
                      </a:lnTo>
                      <a:lnTo>
                        <a:pt x="832" y="498"/>
                      </a:lnTo>
                      <a:lnTo>
                        <a:pt x="843" y="489"/>
                      </a:lnTo>
                      <a:lnTo>
                        <a:pt x="851" y="477"/>
                      </a:lnTo>
                      <a:lnTo>
                        <a:pt x="858" y="466"/>
                      </a:lnTo>
                      <a:lnTo>
                        <a:pt x="863" y="454"/>
                      </a:lnTo>
                      <a:lnTo>
                        <a:pt x="866" y="441"/>
                      </a:lnTo>
                      <a:lnTo>
                        <a:pt x="868" y="429"/>
                      </a:lnTo>
                      <a:lnTo>
                        <a:pt x="866" y="418"/>
                      </a:lnTo>
                      <a:lnTo>
                        <a:pt x="864" y="404"/>
                      </a:lnTo>
                      <a:lnTo>
                        <a:pt x="860" y="393"/>
                      </a:lnTo>
                      <a:lnTo>
                        <a:pt x="855" y="382"/>
                      </a:lnTo>
                      <a:lnTo>
                        <a:pt x="849" y="370"/>
                      </a:lnTo>
                      <a:lnTo>
                        <a:pt x="840" y="359"/>
                      </a:lnTo>
                      <a:lnTo>
                        <a:pt x="830" y="350"/>
                      </a:lnTo>
                      <a:lnTo>
                        <a:pt x="819" y="340"/>
                      </a:lnTo>
                      <a:lnTo>
                        <a:pt x="807" y="332"/>
                      </a:lnTo>
                      <a:lnTo>
                        <a:pt x="801" y="341"/>
                      </a:lnTo>
                      <a:lnTo>
                        <a:pt x="789" y="368"/>
                      </a:lnTo>
                      <a:lnTo>
                        <a:pt x="784" y="384"/>
                      </a:lnTo>
                      <a:lnTo>
                        <a:pt x="780" y="404"/>
                      </a:lnTo>
                      <a:lnTo>
                        <a:pt x="778" y="415"/>
                      </a:lnTo>
                      <a:lnTo>
                        <a:pt x="778" y="426"/>
                      </a:lnTo>
                      <a:lnTo>
                        <a:pt x="778" y="437"/>
                      </a:lnTo>
                      <a:lnTo>
                        <a:pt x="780" y="448"/>
                      </a:lnTo>
                      <a:lnTo>
                        <a:pt x="784" y="464"/>
                      </a:lnTo>
                      <a:lnTo>
                        <a:pt x="790" y="481"/>
                      </a:lnTo>
                      <a:lnTo>
                        <a:pt x="796" y="496"/>
                      </a:lnTo>
                      <a:lnTo>
                        <a:pt x="801" y="513"/>
                      </a:lnTo>
                      <a:close/>
                      <a:moveTo>
                        <a:pt x="649" y="558"/>
                      </a:moveTo>
                      <a:lnTo>
                        <a:pt x="645" y="553"/>
                      </a:lnTo>
                      <a:lnTo>
                        <a:pt x="635" y="541"/>
                      </a:lnTo>
                      <a:lnTo>
                        <a:pt x="617" y="524"/>
                      </a:lnTo>
                      <a:lnTo>
                        <a:pt x="596" y="504"/>
                      </a:lnTo>
                      <a:lnTo>
                        <a:pt x="582" y="494"/>
                      </a:lnTo>
                      <a:lnTo>
                        <a:pt x="568" y="483"/>
                      </a:lnTo>
                      <a:lnTo>
                        <a:pt x="553" y="472"/>
                      </a:lnTo>
                      <a:lnTo>
                        <a:pt x="536" y="461"/>
                      </a:lnTo>
                      <a:lnTo>
                        <a:pt x="520" y="453"/>
                      </a:lnTo>
                      <a:lnTo>
                        <a:pt x="502" y="445"/>
                      </a:lnTo>
                      <a:lnTo>
                        <a:pt x="483" y="438"/>
                      </a:lnTo>
                      <a:lnTo>
                        <a:pt x="464" y="432"/>
                      </a:lnTo>
                      <a:lnTo>
                        <a:pt x="467" y="432"/>
                      </a:lnTo>
                      <a:lnTo>
                        <a:pt x="480" y="433"/>
                      </a:lnTo>
                      <a:lnTo>
                        <a:pt x="498" y="437"/>
                      </a:lnTo>
                      <a:lnTo>
                        <a:pt x="523" y="442"/>
                      </a:lnTo>
                      <a:lnTo>
                        <a:pt x="537" y="448"/>
                      </a:lnTo>
                      <a:lnTo>
                        <a:pt x="552" y="454"/>
                      </a:lnTo>
                      <a:lnTo>
                        <a:pt x="568" y="463"/>
                      </a:lnTo>
                      <a:lnTo>
                        <a:pt x="585" y="472"/>
                      </a:lnTo>
                      <a:lnTo>
                        <a:pt x="601" y="484"/>
                      </a:lnTo>
                      <a:lnTo>
                        <a:pt x="619" y="498"/>
                      </a:lnTo>
                      <a:lnTo>
                        <a:pt x="637" y="514"/>
                      </a:lnTo>
                      <a:lnTo>
                        <a:pt x="655" y="533"/>
                      </a:lnTo>
                      <a:lnTo>
                        <a:pt x="654" y="520"/>
                      </a:lnTo>
                      <a:lnTo>
                        <a:pt x="651" y="509"/>
                      </a:lnTo>
                      <a:lnTo>
                        <a:pt x="648" y="498"/>
                      </a:lnTo>
                      <a:lnTo>
                        <a:pt x="644" y="488"/>
                      </a:lnTo>
                      <a:lnTo>
                        <a:pt x="641" y="478"/>
                      </a:lnTo>
                      <a:lnTo>
                        <a:pt x="636" y="469"/>
                      </a:lnTo>
                      <a:lnTo>
                        <a:pt x="631" y="460"/>
                      </a:lnTo>
                      <a:lnTo>
                        <a:pt x="625" y="453"/>
                      </a:lnTo>
                      <a:lnTo>
                        <a:pt x="619" y="445"/>
                      </a:lnTo>
                      <a:lnTo>
                        <a:pt x="613" y="439"/>
                      </a:lnTo>
                      <a:lnTo>
                        <a:pt x="606" y="433"/>
                      </a:lnTo>
                      <a:lnTo>
                        <a:pt x="599" y="427"/>
                      </a:lnTo>
                      <a:lnTo>
                        <a:pt x="592" y="422"/>
                      </a:lnTo>
                      <a:lnTo>
                        <a:pt x="584" y="418"/>
                      </a:lnTo>
                      <a:lnTo>
                        <a:pt x="577" y="414"/>
                      </a:lnTo>
                      <a:lnTo>
                        <a:pt x="568" y="410"/>
                      </a:lnTo>
                      <a:lnTo>
                        <a:pt x="550" y="406"/>
                      </a:lnTo>
                      <a:lnTo>
                        <a:pt x="533" y="402"/>
                      </a:lnTo>
                      <a:lnTo>
                        <a:pt x="514" y="402"/>
                      </a:lnTo>
                      <a:lnTo>
                        <a:pt x="495" y="403"/>
                      </a:lnTo>
                      <a:lnTo>
                        <a:pt x="476" y="407"/>
                      </a:lnTo>
                      <a:lnTo>
                        <a:pt x="457" y="414"/>
                      </a:lnTo>
                      <a:lnTo>
                        <a:pt x="436" y="422"/>
                      </a:lnTo>
                      <a:lnTo>
                        <a:pt x="419" y="432"/>
                      </a:lnTo>
                      <a:lnTo>
                        <a:pt x="427" y="446"/>
                      </a:lnTo>
                      <a:lnTo>
                        <a:pt x="453" y="477"/>
                      </a:lnTo>
                      <a:lnTo>
                        <a:pt x="461" y="486"/>
                      </a:lnTo>
                      <a:lnTo>
                        <a:pt x="472" y="496"/>
                      </a:lnTo>
                      <a:lnTo>
                        <a:pt x="483" y="505"/>
                      </a:lnTo>
                      <a:lnTo>
                        <a:pt x="495" y="515"/>
                      </a:lnTo>
                      <a:lnTo>
                        <a:pt x="508" y="523"/>
                      </a:lnTo>
                      <a:lnTo>
                        <a:pt x="521" y="530"/>
                      </a:lnTo>
                      <a:lnTo>
                        <a:pt x="536" y="538"/>
                      </a:lnTo>
                      <a:lnTo>
                        <a:pt x="552" y="543"/>
                      </a:lnTo>
                      <a:lnTo>
                        <a:pt x="575" y="547"/>
                      </a:lnTo>
                      <a:lnTo>
                        <a:pt x="600" y="551"/>
                      </a:lnTo>
                      <a:lnTo>
                        <a:pt x="624" y="554"/>
                      </a:lnTo>
                      <a:lnTo>
                        <a:pt x="649" y="558"/>
                      </a:lnTo>
                      <a:close/>
                      <a:moveTo>
                        <a:pt x="813" y="553"/>
                      </a:moveTo>
                      <a:lnTo>
                        <a:pt x="808" y="559"/>
                      </a:lnTo>
                      <a:lnTo>
                        <a:pt x="798" y="577"/>
                      </a:lnTo>
                      <a:lnTo>
                        <a:pt x="781" y="604"/>
                      </a:lnTo>
                      <a:lnTo>
                        <a:pt x="763" y="639"/>
                      </a:lnTo>
                      <a:lnTo>
                        <a:pt x="754" y="660"/>
                      </a:lnTo>
                      <a:lnTo>
                        <a:pt x="745" y="681"/>
                      </a:lnTo>
                      <a:lnTo>
                        <a:pt x="737" y="704"/>
                      </a:lnTo>
                      <a:lnTo>
                        <a:pt x="730" y="728"/>
                      </a:lnTo>
                      <a:lnTo>
                        <a:pt x="724" y="753"/>
                      </a:lnTo>
                      <a:lnTo>
                        <a:pt x="719" y="779"/>
                      </a:lnTo>
                      <a:lnTo>
                        <a:pt x="717" y="805"/>
                      </a:lnTo>
                      <a:lnTo>
                        <a:pt x="716" y="831"/>
                      </a:lnTo>
                      <a:lnTo>
                        <a:pt x="714" y="825"/>
                      </a:lnTo>
                      <a:lnTo>
                        <a:pt x="712" y="810"/>
                      </a:lnTo>
                      <a:lnTo>
                        <a:pt x="711" y="799"/>
                      </a:lnTo>
                      <a:lnTo>
                        <a:pt x="710" y="785"/>
                      </a:lnTo>
                      <a:lnTo>
                        <a:pt x="708" y="769"/>
                      </a:lnTo>
                      <a:lnTo>
                        <a:pt x="710" y="751"/>
                      </a:lnTo>
                      <a:lnTo>
                        <a:pt x="711" y="732"/>
                      </a:lnTo>
                      <a:lnTo>
                        <a:pt x="714" y="711"/>
                      </a:lnTo>
                      <a:lnTo>
                        <a:pt x="719" y="687"/>
                      </a:lnTo>
                      <a:lnTo>
                        <a:pt x="726" y="664"/>
                      </a:lnTo>
                      <a:lnTo>
                        <a:pt x="736" y="637"/>
                      </a:lnTo>
                      <a:lnTo>
                        <a:pt x="746" y="610"/>
                      </a:lnTo>
                      <a:lnTo>
                        <a:pt x="761" y="582"/>
                      </a:lnTo>
                      <a:lnTo>
                        <a:pt x="778" y="553"/>
                      </a:lnTo>
                      <a:lnTo>
                        <a:pt x="763" y="559"/>
                      </a:lnTo>
                      <a:lnTo>
                        <a:pt x="750" y="566"/>
                      </a:lnTo>
                      <a:lnTo>
                        <a:pt x="737" y="573"/>
                      </a:lnTo>
                      <a:lnTo>
                        <a:pt x="725" y="582"/>
                      </a:lnTo>
                      <a:lnTo>
                        <a:pt x="714" y="590"/>
                      </a:lnTo>
                      <a:lnTo>
                        <a:pt x="705" y="598"/>
                      </a:lnTo>
                      <a:lnTo>
                        <a:pt x="695" y="608"/>
                      </a:lnTo>
                      <a:lnTo>
                        <a:pt x="687" y="617"/>
                      </a:lnTo>
                      <a:lnTo>
                        <a:pt x="680" y="628"/>
                      </a:lnTo>
                      <a:lnTo>
                        <a:pt x="674" y="639"/>
                      </a:lnTo>
                      <a:lnTo>
                        <a:pt x="668" y="649"/>
                      </a:lnTo>
                      <a:lnTo>
                        <a:pt x="663" y="660"/>
                      </a:lnTo>
                      <a:lnTo>
                        <a:pt x="660" y="671"/>
                      </a:lnTo>
                      <a:lnTo>
                        <a:pt x="656" y="683"/>
                      </a:lnTo>
                      <a:lnTo>
                        <a:pt x="654" y="694"/>
                      </a:lnTo>
                      <a:lnTo>
                        <a:pt x="653" y="705"/>
                      </a:lnTo>
                      <a:lnTo>
                        <a:pt x="651" y="717"/>
                      </a:lnTo>
                      <a:lnTo>
                        <a:pt x="651" y="729"/>
                      </a:lnTo>
                      <a:lnTo>
                        <a:pt x="653" y="741"/>
                      </a:lnTo>
                      <a:lnTo>
                        <a:pt x="655" y="754"/>
                      </a:lnTo>
                      <a:lnTo>
                        <a:pt x="657" y="766"/>
                      </a:lnTo>
                      <a:lnTo>
                        <a:pt x="660" y="778"/>
                      </a:lnTo>
                      <a:lnTo>
                        <a:pt x="664" y="790"/>
                      </a:lnTo>
                      <a:lnTo>
                        <a:pt x="669" y="801"/>
                      </a:lnTo>
                      <a:lnTo>
                        <a:pt x="674" y="813"/>
                      </a:lnTo>
                      <a:lnTo>
                        <a:pt x="680" y="824"/>
                      </a:lnTo>
                      <a:lnTo>
                        <a:pt x="687" y="836"/>
                      </a:lnTo>
                      <a:lnTo>
                        <a:pt x="694" y="847"/>
                      </a:lnTo>
                      <a:lnTo>
                        <a:pt x="702" y="858"/>
                      </a:lnTo>
                      <a:lnTo>
                        <a:pt x="712" y="869"/>
                      </a:lnTo>
                      <a:lnTo>
                        <a:pt x="721" y="879"/>
                      </a:lnTo>
                      <a:lnTo>
                        <a:pt x="731" y="889"/>
                      </a:lnTo>
                      <a:lnTo>
                        <a:pt x="736" y="885"/>
                      </a:lnTo>
                      <a:lnTo>
                        <a:pt x="745" y="873"/>
                      </a:lnTo>
                      <a:lnTo>
                        <a:pt x="761" y="855"/>
                      </a:lnTo>
                      <a:lnTo>
                        <a:pt x="777" y="830"/>
                      </a:lnTo>
                      <a:lnTo>
                        <a:pt x="786" y="814"/>
                      </a:lnTo>
                      <a:lnTo>
                        <a:pt x="794" y="799"/>
                      </a:lnTo>
                      <a:lnTo>
                        <a:pt x="802" y="782"/>
                      </a:lnTo>
                      <a:lnTo>
                        <a:pt x="811" y="763"/>
                      </a:lnTo>
                      <a:lnTo>
                        <a:pt x="817" y="744"/>
                      </a:lnTo>
                      <a:lnTo>
                        <a:pt x="822" y="724"/>
                      </a:lnTo>
                      <a:lnTo>
                        <a:pt x="826" y="703"/>
                      </a:lnTo>
                      <a:lnTo>
                        <a:pt x="828" y="681"/>
                      </a:lnTo>
                      <a:lnTo>
                        <a:pt x="824" y="649"/>
                      </a:lnTo>
                      <a:lnTo>
                        <a:pt x="820" y="617"/>
                      </a:lnTo>
                      <a:lnTo>
                        <a:pt x="817" y="585"/>
                      </a:lnTo>
                      <a:lnTo>
                        <a:pt x="813" y="553"/>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600"/>
                </a:p>
              </p:txBody>
            </p:sp>
          </p:grpSp>
          <p:pic>
            <p:nvPicPr>
              <p:cNvPr id="23" name="Picture 2"/>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38732" y="5097189"/>
                <a:ext cx="534144" cy="745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文本框 3"/>
            <p:cNvSpPr txBox="1"/>
            <p:nvPr/>
          </p:nvSpPr>
          <p:spPr>
            <a:xfrm>
              <a:off x="4002497" y="2639812"/>
              <a:ext cx="1822680" cy="523220"/>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公用事业</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（智能表计）</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7125534" y="1790466"/>
              <a:ext cx="2013732" cy="523220"/>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智慧城市</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（照明、停车、充电）</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8020863" y="2804865"/>
              <a:ext cx="1652135" cy="523220"/>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智能家居</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（全屋智能）</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8042754" y="3963361"/>
              <a:ext cx="1630244" cy="523220"/>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能耗管理</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（数据采集）</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5085602" y="5130062"/>
              <a:ext cx="1630244" cy="523220"/>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新能源事业</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（监测、预警）</a:t>
              </a:r>
              <a:endParaRPr lang="zh-CN" altLang="en-US" sz="1400" dirty="0">
                <a:solidFill>
                  <a:srgbClr val="3864B2"/>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4087054" y="4239823"/>
              <a:ext cx="1563671" cy="738664"/>
            </a:xfrm>
            <a:prstGeom prst="rect">
              <a:avLst/>
            </a:prstGeom>
            <a:noFill/>
          </p:spPr>
          <p:txBody>
            <a:bodyPr wrap="square" rtlCol="0">
              <a:spAutoFit/>
            </a:bodyPr>
            <a:lstStyle/>
            <a:p>
              <a:pPr algn="ctr"/>
              <a:r>
                <a:rPr lang="zh-CN" altLang="en-US" sz="1400" dirty="0" smtClean="0">
                  <a:solidFill>
                    <a:srgbClr val="3864B2"/>
                  </a:solidFill>
                  <a:latin typeface="微软雅黑" panose="020B0503020204020204" pitchFamily="34" charset="-122"/>
                  <a:ea typeface="微软雅黑" panose="020B0503020204020204" pitchFamily="34" charset="-122"/>
                </a:rPr>
                <a:t>智能楼宇</a:t>
              </a:r>
              <a:endParaRPr lang="en-US" altLang="zh-CN" sz="1400" dirty="0" smtClean="0">
                <a:solidFill>
                  <a:srgbClr val="3864B2"/>
                </a:solidFill>
                <a:latin typeface="微软雅黑" panose="020B0503020204020204" pitchFamily="34" charset="-122"/>
                <a:ea typeface="微软雅黑" panose="020B0503020204020204" pitchFamily="34" charset="-122"/>
              </a:endParaRPr>
            </a:p>
            <a:p>
              <a:pPr algn="ctr"/>
              <a:r>
                <a:rPr lang="zh-CN" altLang="en-US" sz="1400" dirty="0" smtClean="0">
                  <a:solidFill>
                    <a:srgbClr val="3864B2"/>
                  </a:solidFill>
                  <a:latin typeface="微软雅黑" panose="020B0503020204020204" pitchFamily="34" charset="-122"/>
                  <a:ea typeface="微软雅黑" panose="020B0503020204020204" pitchFamily="34" charset="-122"/>
                </a:rPr>
                <a:t>（能耗、安全、智控）</a:t>
              </a:r>
              <a:endParaRPr lang="zh-CN" altLang="en-US" sz="1400" dirty="0">
                <a:solidFill>
                  <a:srgbClr val="3864B2"/>
                </a:solidFill>
                <a:latin typeface="微软雅黑" panose="020B0503020204020204" pitchFamily="34" charset="-122"/>
                <a:ea typeface="微软雅黑" panose="020B0503020204020204" pitchFamily="34" charset="-122"/>
              </a:endParaRPr>
            </a:p>
          </p:txBody>
        </p:sp>
      </p:grpSp>
      <p:pic>
        <p:nvPicPr>
          <p:cNvPr id="100" name="图片 99"/>
          <p:cNvPicPr>
            <a:picLocks noChangeAspect="1"/>
          </p:cNvPicPr>
          <p:nvPr/>
        </p:nvPicPr>
        <p:blipFill rotWithShape="1">
          <a:blip r:embed="rId5" cstate="email">
            <a:extLst>
              <a:ext uri="{28A0092B-C50C-407E-A947-70E740481C1C}">
                <a14:useLocalDpi xmlns:a14="http://schemas.microsoft.com/office/drawing/2010/main"/>
              </a:ext>
            </a:extLst>
          </a:blip>
          <a:srcRect l="2954" t="1201" r="34372" b="-1201"/>
          <a:stretch/>
        </p:blipFill>
        <p:spPr>
          <a:xfrm>
            <a:off x="9943087" y="4536142"/>
            <a:ext cx="1581466" cy="1551448"/>
          </a:xfrm>
          <a:prstGeom prst="rect">
            <a:avLst/>
          </a:prstGeom>
        </p:spPr>
      </p:pic>
      <p:sp>
        <p:nvSpPr>
          <p:cNvPr id="101" name="文本框 16"/>
          <p:cNvSpPr txBox="1">
            <a:spLocks noChangeArrowheads="1"/>
          </p:cNvSpPr>
          <p:nvPr/>
        </p:nvSpPr>
        <p:spPr bwMode="auto">
          <a:xfrm>
            <a:off x="8339019" y="4976802"/>
            <a:ext cx="138300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lvl="0" algn="ctr">
              <a:lnSpc>
                <a:spcPct val="150000"/>
              </a:lnSpc>
              <a:spcBef>
                <a:spcPts val="0"/>
              </a:spcBef>
              <a:buFont typeface="Arial" pitchFamily="34" charset="0"/>
              <a:buNone/>
              <a:defRPr sz="1600">
                <a:solidFill>
                  <a:srgbClr val="181824"/>
                </a:solidFill>
                <a:latin typeface="微软雅黑" pitchFamily="34" charset="-122"/>
                <a:ea typeface="微软雅黑" pitchFamily="34" charset="-122"/>
                <a:cs typeface="Arial" pitchFamily="34" charset="0"/>
              </a:defRPr>
            </a:lvl1pPr>
            <a:lvl2pPr marL="742950" indent="-285750">
              <a:lnSpc>
                <a:spcPct val="90000"/>
              </a:lnSpc>
              <a:spcBef>
                <a:spcPts val="500"/>
              </a:spcBef>
              <a:buFont typeface="Arial" pitchFamily="34" charset="0"/>
              <a:buChar char="•"/>
              <a:defRPr sz="2400">
                <a:latin typeface="微软雅黑 Light" pitchFamily="34" charset="-122"/>
                <a:ea typeface="微软雅黑 Light" pitchFamily="34" charset="-122"/>
              </a:defRPr>
            </a:lvl2pPr>
            <a:lvl3pPr marL="1143000" indent="-228600">
              <a:lnSpc>
                <a:spcPct val="90000"/>
              </a:lnSpc>
              <a:spcBef>
                <a:spcPts val="500"/>
              </a:spcBef>
              <a:buFont typeface="Arial" pitchFamily="34" charset="0"/>
              <a:buChar char="•"/>
              <a:defRPr sz="2000">
                <a:latin typeface="微软雅黑 Light" pitchFamily="34" charset="-122"/>
                <a:ea typeface="微软雅黑 Light" pitchFamily="34" charset="-122"/>
              </a:defRPr>
            </a:lvl3pPr>
            <a:lvl4pPr marL="1600200" indent="-228600">
              <a:lnSpc>
                <a:spcPct val="90000"/>
              </a:lnSpc>
              <a:spcBef>
                <a:spcPts val="500"/>
              </a:spcBef>
              <a:buFont typeface="Arial" pitchFamily="34" charset="0"/>
              <a:buChar char="•"/>
              <a:defRPr>
                <a:latin typeface="微软雅黑 Light" pitchFamily="34" charset="-122"/>
                <a:ea typeface="微软雅黑 Light" pitchFamily="34" charset="-122"/>
              </a:defRPr>
            </a:lvl4pPr>
            <a:lvl5pPr marL="2057400" indent="-228600">
              <a:lnSpc>
                <a:spcPct val="90000"/>
              </a:lnSpc>
              <a:spcBef>
                <a:spcPts val="500"/>
              </a:spcBef>
              <a:buFont typeface="Arial" pitchFamily="34" charset="0"/>
              <a:buChar char="•"/>
              <a:defRPr>
                <a:latin typeface="微软雅黑 Light" pitchFamily="34" charset="-122"/>
                <a:ea typeface="微软雅黑 Light" pitchFamily="34" charset="-122"/>
              </a:defRPr>
            </a:lvl5pPr>
            <a:lvl6pPr marL="25146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6pPr>
            <a:lvl7pPr marL="29718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7pPr>
            <a:lvl8pPr marL="34290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8pPr>
            <a:lvl9pPr marL="38862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9pPr>
          </a:lstStyle>
          <a:p>
            <a:r>
              <a:rPr lang="zh-CN" altLang="en-US" sz="1800" dirty="0">
                <a:solidFill>
                  <a:srgbClr val="3864B2"/>
                </a:solidFill>
              </a:rPr>
              <a:t>技术</a:t>
            </a:r>
            <a:r>
              <a:rPr lang="zh-CN" altLang="en-US" sz="1800" dirty="0" smtClean="0">
                <a:solidFill>
                  <a:srgbClr val="3864B2"/>
                </a:solidFill>
              </a:rPr>
              <a:t>定制</a:t>
            </a:r>
            <a:endParaRPr lang="en-US" altLang="zh-CN" sz="1800" dirty="0" smtClean="0">
              <a:solidFill>
                <a:srgbClr val="3864B2"/>
              </a:solidFill>
            </a:endParaRPr>
          </a:p>
          <a:p>
            <a:r>
              <a:rPr lang="en-US" altLang="zh-CN" sz="1800" dirty="0" smtClean="0">
                <a:solidFill>
                  <a:srgbClr val="3864B2"/>
                </a:solidFill>
              </a:rPr>
              <a:t>IP</a:t>
            </a:r>
            <a:r>
              <a:rPr lang="zh-CN" altLang="en-US" sz="1800" dirty="0">
                <a:solidFill>
                  <a:srgbClr val="3864B2"/>
                </a:solidFill>
              </a:rPr>
              <a:t>授权</a:t>
            </a:r>
            <a:endParaRPr lang="en-US" altLang="zh-CN" sz="1800" dirty="0">
              <a:solidFill>
                <a:srgbClr val="3864B2"/>
              </a:solidFill>
            </a:endParaRPr>
          </a:p>
        </p:txBody>
      </p:sp>
      <p:pic>
        <p:nvPicPr>
          <p:cNvPr id="103" name="图片 102"/>
          <p:cNvPicPr>
            <a:picLocks noChangeAspect="1"/>
          </p:cNvPicPr>
          <p:nvPr/>
        </p:nvPicPr>
        <p:blipFill>
          <a:blip r:embed="rId6"/>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376949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8448430" cy="599491"/>
          </a:xfrm>
        </p:spPr>
        <p:txBody>
          <a:bodyPr>
            <a:normAutofit/>
          </a:bodyPr>
          <a:lstStyle/>
          <a:p>
            <a:r>
              <a:rPr kumimoji="1" lang="zh-CN" altLang="en-US" dirty="0">
                <a:solidFill>
                  <a:srgbClr val="0078FF"/>
                </a:solidFill>
              </a:rPr>
              <a:t>四季豆</a:t>
            </a:r>
            <a:r>
              <a:rPr kumimoji="1" lang="zh-CN" altLang="en-US" dirty="0" smtClean="0">
                <a:solidFill>
                  <a:srgbClr val="0078FF"/>
                </a:solidFill>
              </a:rPr>
              <a:t>产品</a:t>
            </a:r>
            <a:r>
              <a:rPr kumimoji="1" lang="en-US" altLang="zh-CN" dirty="0" smtClean="0">
                <a:solidFill>
                  <a:srgbClr val="0078FF"/>
                </a:solidFill>
              </a:rPr>
              <a:t>1</a:t>
            </a:r>
            <a:r>
              <a:rPr kumimoji="1" lang="zh-CN" altLang="en-US" dirty="0">
                <a:solidFill>
                  <a:srgbClr val="0078FF"/>
                </a:solidFill>
              </a:rPr>
              <a:t>：</a:t>
            </a:r>
            <a:r>
              <a:rPr kumimoji="1" lang="en-US" altLang="zh-CN" dirty="0">
                <a:solidFill>
                  <a:srgbClr val="0078FF"/>
                </a:solidFill>
              </a:rPr>
              <a:t>PLC-</a:t>
            </a:r>
            <a:r>
              <a:rPr kumimoji="1" lang="en-US" altLang="zh-CN" dirty="0" err="1">
                <a:solidFill>
                  <a:srgbClr val="0078FF"/>
                </a:solidFill>
              </a:rPr>
              <a:t>IoT</a:t>
            </a:r>
            <a:r>
              <a:rPr kumimoji="1" lang="zh-CN" altLang="en-US" dirty="0">
                <a:solidFill>
                  <a:srgbClr val="0078FF"/>
                </a:solidFill>
              </a:rPr>
              <a:t>载波通信</a:t>
            </a:r>
            <a:r>
              <a:rPr kumimoji="1" lang="zh-CN" altLang="en-US" dirty="0" smtClean="0">
                <a:solidFill>
                  <a:srgbClr val="0078FF"/>
                </a:solidFill>
              </a:rPr>
              <a:t>芯片 </a:t>
            </a:r>
            <a:r>
              <a:rPr kumimoji="1" lang="en-US" altLang="zh-CN" dirty="0" smtClean="0">
                <a:solidFill>
                  <a:srgbClr val="0078FF"/>
                </a:solidFill>
              </a:rPr>
              <a:t>SIG996</a:t>
            </a:r>
            <a:r>
              <a:rPr kumimoji="1" lang="zh-CN" altLang="en-US" dirty="0">
                <a:solidFill>
                  <a:srgbClr val="0078FF"/>
                </a:solidFill>
              </a:rPr>
              <a:t>（量产）</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103" name="图片 102"/>
          <p:cNvPicPr>
            <a:picLocks noChangeAspect="1"/>
          </p:cNvPicPr>
          <p:nvPr/>
        </p:nvPicPr>
        <p:blipFill>
          <a:blip r:embed="rId3"/>
          <a:stretch>
            <a:fillRect/>
          </a:stretch>
        </p:blipFill>
        <p:spPr>
          <a:xfrm>
            <a:off x="304799" y="1282977"/>
            <a:ext cx="11716624" cy="5093191"/>
          </a:xfrm>
          <a:prstGeom prst="rect">
            <a:avLst/>
          </a:prstGeom>
        </p:spPr>
      </p:pic>
      <p:pic>
        <p:nvPicPr>
          <p:cNvPr id="7" name="图片 6"/>
          <p:cNvPicPr>
            <a:picLocks noChangeAspect="1"/>
          </p:cNvPicPr>
          <p:nvPr/>
        </p:nvPicPr>
        <p:blipFill>
          <a:blip r:embed="rId4"/>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25662535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8546753" cy="599491"/>
          </a:xfrm>
        </p:spPr>
        <p:txBody>
          <a:bodyPr>
            <a:normAutofit/>
          </a:bodyPr>
          <a:lstStyle/>
          <a:p>
            <a:r>
              <a:rPr kumimoji="1" lang="zh-CN" altLang="en-US" dirty="0">
                <a:solidFill>
                  <a:srgbClr val="0078FF"/>
                </a:solidFill>
              </a:rPr>
              <a:t>四季豆</a:t>
            </a:r>
            <a:r>
              <a:rPr kumimoji="1" lang="zh-CN" altLang="en-US" dirty="0" smtClean="0">
                <a:solidFill>
                  <a:srgbClr val="0078FF"/>
                </a:solidFill>
              </a:rPr>
              <a:t>产品</a:t>
            </a:r>
            <a:r>
              <a:rPr kumimoji="1" lang="en-US" altLang="zh-CN" dirty="0" smtClean="0">
                <a:solidFill>
                  <a:srgbClr val="0078FF"/>
                </a:solidFill>
              </a:rPr>
              <a:t>1</a:t>
            </a:r>
            <a:r>
              <a:rPr kumimoji="1" lang="zh-CN" altLang="en-US" dirty="0">
                <a:solidFill>
                  <a:srgbClr val="0078FF"/>
                </a:solidFill>
              </a:rPr>
              <a:t>：</a:t>
            </a:r>
            <a:r>
              <a:rPr kumimoji="1" lang="en-US" altLang="zh-CN" dirty="0">
                <a:solidFill>
                  <a:srgbClr val="0078FF"/>
                </a:solidFill>
              </a:rPr>
              <a:t>PLC-</a:t>
            </a:r>
            <a:r>
              <a:rPr kumimoji="1" lang="en-US" altLang="zh-CN" dirty="0" err="1">
                <a:solidFill>
                  <a:srgbClr val="0078FF"/>
                </a:solidFill>
              </a:rPr>
              <a:t>IoT</a:t>
            </a:r>
            <a:r>
              <a:rPr kumimoji="1" lang="zh-CN" altLang="en-US" dirty="0">
                <a:solidFill>
                  <a:srgbClr val="0078FF"/>
                </a:solidFill>
              </a:rPr>
              <a:t>载波通信</a:t>
            </a:r>
            <a:r>
              <a:rPr kumimoji="1" lang="zh-CN" altLang="en-US" dirty="0" smtClean="0">
                <a:solidFill>
                  <a:srgbClr val="0078FF"/>
                </a:solidFill>
              </a:rPr>
              <a:t>芯片 </a:t>
            </a:r>
            <a:r>
              <a:rPr kumimoji="1" lang="en-US" altLang="zh-CN" dirty="0" smtClean="0">
                <a:solidFill>
                  <a:srgbClr val="0078FF"/>
                </a:solidFill>
              </a:rPr>
              <a:t>SIG996</a:t>
            </a:r>
            <a:r>
              <a:rPr kumimoji="1" lang="zh-CN" altLang="en-US" dirty="0">
                <a:solidFill>
                  <a:srgbClr val="0078FF"/>
                </a:solidFill>
              </a:rPr>
              <a:t>（量产）</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sp>
        <p:nvSpPr>
          <p:cNvPr id="3" name="文本框 2"/>
          <p:cNvSpPr txBox="1"/>
          <p:nvPr/>
        </p:nvSpPr>
        <p:spPr>
          <a:xfrm>
            <a:off x="436751" y="3986734"/>
            <a:ext cx="2811294" cy="1366849"/>
          </a:xfrm>
          <a:prstGeom prst="rect">
            <a:avLst/>
          </a:prstGeom>
          <a:noFill/>
        </p:spPr>
        <p:txBody>
          <a:bodyPr wrap="square" rtlCol="0">
            <a:spAutoFit/>
          </a:bodyPr>
          <a:lstStyle/>
          <a:p>
            <a:pPr algn="ctr">
              <a:lnSpc>
                <a:spcPct val="150000"/>
              </a:lnSpc>
              <a:spcBef>
                <a:spcPts val="600"/>
              </a:spcBef>
            </a:pPr>
            <a:r>
              <a:rPr lang="zh-CN" altLang="en-US" dirty="0" smtClean="0">
                <a:solidFill>
                  <a:srgbClr val="3864B2"/>
                </a:solidFill>
                <a:latin typeface="微软雅黑" panose="020B0503020204020204" pitchFamily="34" charset="-122"/>
                <a:ea typeface="微软雅黑" panose="020B0503020204020204" pitchFamily="34" charset="-122"/>
              </a:rPr>
              <a:t>新一代</a:t>
            </a:r>
            <a:r>
              <a:rPr lang="en-US" altLang="zh-CN" dirty="0" smtClean="0">
                <a:solidFill>
                  <a:srgbClr val="3864B2"/>
                </a:solidFill>
                <a:latin typeface="微软雅黑" panose="020B0503020204020204" pitchFamily="34" charset="-122"/>
                <a:ea typeface="微软雅黑" panose="020B0503020204020204" pitchFamily="34" charset="-122"/>
              </a:rPr>
              <a:t>PLC-</a:t>
            </a:r>
            <a:r>
              <a:rPr lang="en-US" altLang="zh-CN" dirty="0" err="1" smtClean="0">
                <a:solidFill>
                  <a:srgbClr val="3864B2"/>
                </a:solidFill>
                <a:latin typeface="微软雅黑" panose="020B0503020204020204" pitchFamily="34" charset="-122"/>
                <a:ea typeface="微软雅黑" panose="020B0503020204020204" pitchFamily="34" charset="-122"/>
              </a:rPr>
              <a:t>IoT</a:t>
            </a:r>
            <a:r>
              <a:rPr lang="zh-CN" altLang="en-US" dirty="0" smtClean="0">
                <a:solidFill>
                  <a:srgbClr val="3864B2"/>
                </a:solidFill>
                <a:latin typeface="微软雅黑" panose="020B0503020204020204" pitchFamily="34" charset="-122"/>
                <a:ea typeface="微软雅黑" panose="020B0503020204020204" pitchFamily="34" charset="-122"/>
              </a:rPr>
              <a:t>芯片 </a:t>
            </a:r>
            <a:r>
              <a:rPr lang="en-US" altLang="zh-CN" dirty="0" smtClean="0">
                <a:solidFill>
                  <a:srgbClr val="3864B2"/>
                </a:solidFill>
                <a:latin typeface="微软雅黑" panose="020B0503020204020204" pitchFamily="34" charset="-122"/>
                <a:ea typeface="微软雅黑" panose="020B0503020204020204" pitchFamily="34" charset="-122"/>
              </a:rPr>
              <a:t>SIG996</a:t>
            </a:r>
          </a:p>
          <a:p>
            <a:pPr algn="ctr">
              <a:lnSpc>
                <a:spcPct val="150000"/>
              </a:lnSpc>
              <a:spcBef>
                <a:spcPts val="600"/>
              </a:spcBef>
            </a:pPr>
            <a:r>
              <a:rPr lang="zh-CN" altLang="en-US" dirty="0">
                <a:solidFill>
                  <a:srgbClr val="3864B2"/>
                </a:solidFill>
                <a:latin typeface="微软雅黑" panose="020B0503020204020204" pitchFamily="34" charset="-122"/>
                <a:ea typeface="微软雅黑" panose="020B0503020204020204" pitchFamily="34" charset="-122"/>
              </a:rPr>
              <a:t>面向全屋</a:t>
            </a:r>
            <a:r>
              <a:rPr lang="zh-CN" altLang="en-US" dirty="0" smtClean="0">
                <a:solidFill>
                  <a:srgbClr val="3864B2"/>
                </a:solidFill>
                <a:latin typeface="微软雅黑" panose="020B0503020204020204" pitchFamily="34" charset="-122"/>
                <a:ea typeface="微软雅黑" panose="020B0503020204020204" pitchFamily="34" charset="-122"/>
              </a:rPr>
              <a:t>智能</a:t>
            </a:r>
            <a:endParaRPr lang="zh-CN" altLang="en-US" dirty="0">
              <a:solidFill>
                <a:srgbClr val="3864B2"/>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1058737" y="2211881"/>
            <a:ext cx="1563445" cy="1542288"/>
            <a:chOff x="1058737" y="2211881"/>
            <a:chExt cx="1563445" cy="1542288"/>
          </a:xfrm>
        </p:grpSpPr>
        <p:grpSp>
          <p:nvGrpSpPr>
            <p:cNvPr id="7" name="组合 6"/>
            <p:cNvGrpSpPr/>
            <p:nvPr/>
          </p:nvGrpSpPr>
          <p:grpSpPr>
            <a:xfrm>
              <a:off x="1463470" y="2689125"/>
              <a:ext cx="755191" cy="621668"/>
              <a:chOff x="2246631" y="5678575"/>
              <a:chExt cx="1278326" cy="1135378"/>
            </a:xfrm>
          </p:grpSpPr>
          <p:sp>
            <p:nvSpPr>
              <p:cNvPr id="9" name="object 16"/>
              <p:cNvSpPr/>
              <p:nvPr/>
            </p:nvSpPr>
            <p:spPr>
              <a:xfrm>
                <a:off x="2494682" y="5678575"/>
                <a:ext cx="1030275" cy="1135378"/>
              </a:xfrm>
              <a:prstGeom prst="rect">
                <a:avLst/>
              </a:prstGeom>
              <a:blipFill>
                <a:blip r:embed="rId3" cstate="print"/>
                <a:stretch>
                  <a:fillRect/>
                </a:stretch>
              </a:blipFill>
            </p:spPr>
            <p:txBody>
              <a:bodyPr wrap="square" lIns="0" tIns="0" rIns="0" bIns="0" rtlCol="0">
                <a:noAutofit/>
              </a:bodyPr>
              <a:lstStyle/>
              <a:p>
                <a:endParaRPr/>
              </a:p>
            </p:txBody>
          </p:sp>
          <p:grpSp>
            <p:nvGrpSpPr>
              <p:cNvPr id="10" name="组合 9"/>
              <p:cNvGrpSpPr/>
              <p:nvPr/>
            </p:nvGrpSpPr>
            <p:grpSpPr>
              <a:xfrm>
                <a:off x="2246631" y="5777322"/>
                <a:ext cx="868968" cy="937890"/>
                <a:chOff x="2246631" y="5777322"/>
                <a:chExt cx="868968" cy="937890"/>
              </a:xfrm>
            </p:grpSpPr>
            <p:pic>
              <p:nvPicPr>
                <p:cNvPr id="11" name="Picture 2" descr="https://gimg2.baidu.com/image_search/src=http%3A%2F%2Fimg.08087.cc%2Fuploads%2F20190814%2F21%2F1565790172-wWFltUiITy.jpg&amp;refer=http%3A%2F%2Fimg.08087.cc&amp;app=2002&amp;size=f9999,10000&amp;q=a80&amp;n=0&amp;g=0n&amp;fmt=jpeg?sec=1622989235&amp;t=cb7808a2f3a80dcaac5e943f46dd927b"/>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46631" y="5777322"/>
                  <a:ext cx="868968" cy="93789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a:stCxn id="11" idx="0"/>
                </p:cNvCxnSpPr>
                <p:nvPr/>
              </p:nvCxnSpPr>
              <p:spPr>
                <a:xfrm flipH="1">
                  <a:off x="2293714" y="5777322"/>
                  <a:ext cx="387401" cy="436388"/>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flipV="1">
                  <a:off x="2665478" y="5787761"/>
                  <a:ext cx="384029" cy="415509"/>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361111" y="5969000"/>
                  <a:ext cx="304367" cy="319715"/>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flipV="1">
                  <a:off x="2665479" y="5959063"/>
                  <a:ext cx="317158" cy="31894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2303405" y="6198694"/>
                  <a:ext cx="68330" cy="79855"/>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967662" y="6185490"/>
                  <a:ext cx="88015" cy="95282"/>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422327" y="6227784"/>
                  <a:ext cx="5300" cy="286666"/>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928388" y="6227784"/>
                  <a:ext cx="5300" cy="286666"/>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422327" y="6510313"/>
                  <a:ext cx="506061"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2293714" y="6439322"/>
                  <a:ext cx="755793" cy="152400"/>
                </a:xfrm>
                <a:prstGeom prst="ellips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矩形 21"/>
                <p:cNvSpPr/>
                <p:nvPr/>
              </p:nvSpPr>
              <p:spPr>
                <a:xfrm>
                  <a:off x="2445708" y="6266611"/>
                  <a:ext cx="467044"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1058737" y="2211881"/>
              <a:ext cx="1563445" cy="1542288"/>
              <a:chOff x="7748016" y="1719072"/>
              <a:chExt cx="1563445" cy="1615977"/>
            </a:xfrm>
          </p:grpSpPr>
          <p:sp>
            <p:nvSpPr>
              <p:cNvPr id="26" name="圆角矩形 25"/>
              <p:cNvSpPr/>
              <p:nvPr/>
            </p:nvSpPr>
            <p:spPr>
              <a:xfrm>
                <a:off x="7936902" y="1898625"/>
                <a:ext cx="1186958" cy="1256871"/>
              </a:xfrm>
              <a:prstGeom prst="roundRect">
                <a:avLst>
                  <a:gd name="adj" fmla="val 11893"/>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8147950" y="1719072"/>
                <a:ext cx="755543" cy="179553"/>
                <a:chOff x="3384550" y="5511800"/>
                <a:chExt cx="304800" cy="76200"/>
              </a:xfrm>
            </p:grpSpPr>
            <p:cxnSp>
              <p:nvCxnSpPr>
                <p:cNvPr id="46" name="直接连接符 45"/>
                <p:cNvCxnSpPr/>
                <p:nvPr/>
              </p:nvCxnSpPr>
              <p:spPr>
                <a:xfrm flipV="1">
                  <a:off x="33845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34607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35369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V="1">
                  <a:off x="36131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36893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8179431" y="3155496"/>
                <a:ext cx="755543" cy="179553"/>
                <a:chOff x="3397250" y="6121400"/>
                <a:chExt cx="304800" cy="76200"/>
              </a:xfrm>
            </p:grpSpPr>
            <p:cxnSp>
              <p:nvCxnSpPr>
                <p:cNvPr id="41" name="直接连接符 40"/>
                <p:cNvCxnSpPr/>
                <p:nvPr/>
              </p:nvCxnSpPr>
              <p:spPr>
                <a:xfrm flipV="1">
                  <a:off x="3397250" y="61214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3473450" y="61214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3549650" y="61214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3625850" y="61214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3702050" y="61214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rot="5400000">
                <a:off x="8857912" y="2426913"/>
                <a:ext cx="718212" cy="188886"/>
                <a:chOff x="3384550" y="5511800"/>
                <a:chExt cx="304800" cy="76200"/>
              </a:xfrm>
            </p:grpSpPr>
            <p:cxnSp>
              <p:nvCxnSpPr>
                <p:cNvPr id="36" name="直接连接符 35"/>
                <p:cNvCxnSpPr/>
                <p:nvPr/>
              </p:nvCxnSpPr>
              <p:spPr>
                <a:xfrm flipV="1">
                  <a:off x="33845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34607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35369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6131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36893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rot="5400000">
                <a:off x="7483353" y="2432618"/>
                <a:ext cx="718212" cy="188886"/>
                <a:chOff x="3384550" y="5511800"/>
                <a:chExt cx="304800" cy="76200"/>
              </a:xfrm>
            </p:grpSpPr>
            <p:cxnSp>
              <p:nvCxnSpPr>
                <p:cNvPr id="31" name="直接连接符 30"/>
                <p:cNvCxnSpPr/>
                <p:nvPr/>
              </p:nvCxnSpPr>
              <p:spPr>
                <a:xfrm flipV="1">
                  <a:off x="33845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34607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35369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36131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3689350" y="5511800"/>
                  <a:ext cx="0" cy="7620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grpSp>
      </p:grpSp>
      <p:grpSp>
        <p:nvGrpSpPr>
          <p:cNvPr id="8" name="组合 7"/>
          <p:cNvGrpSpPr/>
          <p:nvPr/>
        </p:nvGrpSpPr>
        <p:grpSpPr>
          <a:xfrm>
            <a:off x="4197929" y="1811759"/>
            <a:ext cx="2116580" cy="897920"/>
            <a:chOff x="4197929" y="1811759"/>
            <a:chExt cx="2116580" cy="897920"/>
          </a:xfrm>
        </p:grpSpPr>
        <p:pic>
          <p:nvPicPr>
            <p:cNvPr id="52" name="图片 51">
              <a:extLst>
                <a:ext uri="{FF2B5EF4-FFF2-40B4-BE49-F238E27FC236}">
                  <a16:creationId xmlns:a16="http://schemas.microsoft.com/office/drawing/2014/main" id="{9063E281-3450-4228-BE5C-3C3CF8955248}"/>
                </a:ext>
              </a:extLst>
            </p:cNvPr>
            <p:cNvPicPr>
              <a:picLocks noChangeAspect="1"/>
            </p:cNvPicPr>
            <p:nvPr/>
          </p:nvPicPr>
          <p:blipFill>
            <a:blip r:embed="rId5"/>
            <a:stretch>
              <a:fillRect/>
            </a:stretch>
          </p:blipFill>
          <p:spPr>
            <a:xfrm>
              <a:off x="5303518" y="1811759"/>
              <a:ext cx="1010991" cy="897920"/>
            </a:xfrm>
            <a:prstGeom prst="rect">
              <a:avLst/>
            </a:prstGeom>
          </p:spPr>
        </p:pic>
        <p:sp>
          <p:nvSpPr>
            <p:cNvPr id="51" name="文本框 50"/>
            <p:cNvSpPr txBox="1"/>
            <p:nvPr/>
          </p:nvSpPr>
          <p:spPr>
            <a:xfrm>
              <a:off x="4197929" y="2059481"/>
              <a:ext cx="1105589" cy="369332"/>
            </a:xfrm>
            <a:prstGeom prst="rect">
              <a:avLst/>
            </a:prstGeom>
            <a:noFill/>
          </p:spPr>
          <p:txBody>
            <a:bodyPr wrap="square" rtlCol="0">
              <a:spAutoFit/>
            </a:bodyPr>
            <a:lstStyle/>
            <a:p>
              <a:r>
                <a:rPr lang="zh-CN" altLang="en-US" dirty="0">
                  <a:solidFill>
                    <a:srgbClr val="3864B2"/>
                  </a:solidFill>
                  <a:latin typeface="微软雅黑" panose="020B0503020204020204" pitchFamily="34" charset="-122"/>
                  <a:ea typeface="微软雅黑" panose="020B0503020204020204" pitchFamily="34" charset="-122"/>
                </a:rPr>
                <a:t>技术</a:t>
              </a:r>
              <a:r>
                <a:rPr lang="zh-CN" altLang="en-US" dirty="0" smtClean="0">
                  <a:solidFill>
                    <a:srgbClr val="3864B2"/>
                  </a:solidFill>
                  <a:latin typeface="微软雅黑" panose="020B0503020204020204" pitchFamily="34" charset="-122"/>
                  <a:ea typeface="微软雅黑" panose="020B0503020204020204" pitchFamily="34" charset="-122"/>
                </a:rPr>
                <a:t>优势</a:t>
              </a:r>
              <a:endParaRPr lang="zh-CN" altLang="en-US" dirty="0">
                <a:solidFill>
                  <a:srgbClr val="3864B2"/>
                </a:solidFill>
                <a:latin typeface="微软雅黑" panose="020B0503020204020204" pitchFamily="34" charset="-122"/>
                <a:ea typeface="微软雅黑" panose="020B0503020204020204" pitchFamily="34" charset="-122"/>
              </a:endParaRPr>
            </a:p>
          </p:txBody>
        </p:sp>
      </p:grpSp>
      <p:sp>
        <p:nvSpPr>
          <p:cNvPr id="56" name="文本框 55"/>
          <p:cNvSpPr txBox="1"/>
          <p:nvPr/>
        </p:nvSpPr>
        <p:spPr>
          <a:xfrm>
            <a:off x="6753670" y="1584784"/>
            <a:ext cx="4087050" cy="1169551"/>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400" dirty="0" smtClean="0">
                <a:solidFill>
                  <a:srgbClr val="3864B2"/>
                </a:solidFill>
                <a:latin typeface="幼圆" panose="02010509060101010101" pitchFamily="49" charset="-122"/>
                <a:ea typeface="幼圆" panose="02010509060101010101" pitchFamily="49" charset="-122"/>
              </a:rPr>
              <a:t>超</a:t>
            </a:r>
            <a:r>
              <a:rPr lang="zh-CN" altLang="en-US" sz="1400" dirty="0">
                <a:solidFill>
                  <a:srgbClr val="3864B2"/>
                </a:solidFill>
                <a:latin typeface="幼圆" panose="02010509060101010101" pitchFamily="49" charset="-122"/>
                <a:ea typeface="幼圆" panose="02010509060101010101" pitchFamily="49" charset="-122"/>
              </a:rPr>
              <a:t>强通信</a:t>
            </a:r>
            <a:r>
              <a:rPr lang="zh-CN" altLang="en-US" sz="1400" dirty="0" smtClean="0">
                <a:solidFill>
                  <a:srgbClr val="3864B2"/>
                </a:solidFill>
                <a:latin typeface="幼圆" panose="02010509060101010101" pitchFamily="49" charset="-122"/>
                <a:ea typeface="幼圆" panose="02010509060101010101" pitchFamily="49" charset="-122"/>
              </a:rPr>
              <a:t>性能</a:t>
            </a:r>
            <a:endParaRPr lang="en-US" altLang="zh-CN" sz="1400"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强噪声环境鲁棒</a:t>
            </a:r>
            <a:r>
              <a:rPr lang="zh-CN" altLang="en-US" sz="1400" dirty="0" smtClean="0">
                <a:solidFill>
                  <a:srgbClr val="3864B2"/>
                </a:solidFill>
                <a:latin typeface="幼圆" panose="02010509060101010101" pitchFamily="49" charset="-122"/>
                <a:ea typeface="幼圆" panose="02010509060101010101" pitchFamily="49" charset="-122"/>
              </a:rPr>
              <a:t>通信</a:t>
            </a:r>
            <a:endParaRPr lang="en-US" altLang="zh-CN" sz="1400"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工业物联灵活</a:t>
            </a:r>
            <a:r>
              <a:rPr lang="zh-CN" altLang="en-US" sz="1400" dirty="0" smtClean="0">
                <a:solidFill>
                  <a:srgbClr val="3864B2"/>
                </a:solidFill>
                <a:latin typeface="幼圆" panose="02010509060101010101" pitchFamily="49" charset="-122"/>
                <a:ea typeface="幼圆" panose="02010509060101010101" pitchFamily="49" charset="-122"/>
              </a:rPr>
              <a:t>安全通信</a:t>
            </a:r>
            <a:endParaRPr lang="en-US" altLang="zh-CN" sz="1400"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内置独立开放</a:t>
            </a:r>
            <a:r>
              <a:rPr lang="en-US" altLang="zh-CN" sz="1400" dirty="0" smtClean="0">
                <a:solidFill>
                  <a:srgbClr val="3864B2"/>
                </a:solidFill>
                <a:latin typeface="幼圆" panose="02010509060101010101" pitchFamily="49" charset="-122"/>
                <a:ea typeface="幼圆" panose="02010509060101010101" pitchFamily="49" charset="-122"/>
              </a:rPr>
              <a:t>CPU</a:t>
            </a: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支持华为 </a:t>
            </a:r>
            <a:r>
              <a:rPr lang="en-US" altLang="zh-CN" sz="1400" dirty="0">
                <a:solidFill>
                  <a:srgbClr val="3864B2"/>
                </a:solidFill>
                <a:latin typeface="幼圆" panose="02010509060101010101" pitchFamily="49" charset="-122"/>
                <a:ea typeface="幼圆" panose="02010509060101010101" pitchFamily="49" charset="-122"/>
              </a:rPr>
              <a:t>PLC-</a:t>
            </a:r>
            <a:r>
              <a:rPr lang="en-US" altLang="zh-CN" sz="1400" dirty="0" err="1">
                <a:solidFill>
                  <a:srgbClr val="3864B2"/>
                </a:solidFill>
                <a:latin typeface="幼圆" panose="02010509060101010101" pitchFamily="49" charset="-122"/>
                <a:ea typeface="幼圆" panose="02010509060101010101" pitchFamily="49" charset="-122"/>
              </a:rPr>
              <a:t>IoT</a:t>
            </a:r>
            <a:r>
              <a:rPr lang="en-US" altLang="zh-CN" sz="1400" dirty="0">
                <a:solidFill>
                  <a:srgbClr val="3864B2"/>
                </a:solidFill>
                <a:latin typeface="幼圆" panose="02010509060101010101" pitchFamily="49" charset="-122"/>
                <a:ea typeface="幼圆" panose="02010509060101010101" pitchFamily="49" charset="-122"/>
              </a:rPr>
              <a:t> </a:t>
            </a:r>
            <a:r>
              <a:rPr lang="zh-CN" altLang="en-US" sz="1400" dirty="0">
                <a:solidFill>
                  <a:srgbClr val="3864B2"/>
                </a:solidFill>
                <a:latin typeface="幼圆" panose="02010509060101010101" pitchFamily="49" charset="-122"/>
                <a:ea typeface="幼圆" panose="02010509060101010101" pitchFamily="49" charset="-122"/>
              </a:rPr>
              <a:t>全屋智能总线</a:t>
            </a:r>
            <a:r>
              <a:rPr lang="zh-CN" altLang="en-US" sz="1400" dirty="0" smtClean="0">
                <a:solidFill>
                  <a:srgbClr val="3864B2"/>
                </a:solidFill>
                <a:latin typeface="幼圆" panose="02010509060101010101" pitchFamily="49" charset="-122"/>
                <a:ea typeface="幼圆" panose="02010509060101010101" pitchFamily="49" charset="-122"/>
              </a:rPr>
              <a:t>标准</a:t>
            </a:r>
            <a:endParaRPr lang="zh-CN" altLang="en-US" sz="1400" dirty="0">
              <a:solidFill>
                <a:srgbClr val="3864B2"/>
              </a:solidFill>
              <a:latin typeface="幼圆" panose="02010509060101010101" pitchFamily="49" charset="-122"/>
              <a:ea typeface="幼圆" panose="02010509060101010101" pitchFamily="49" charset="-122"/>
            </a:endParaRPr>
          </a:p>
        </p:txBody>
      </p:sp>
      <p:grpSp>
        <p:nvGrpSpPr>
          <p:cNvPr id="5" name="组合 4"/>
          <p:cNvGrpSpPr/>
          <p:nvPr/>
        </p:nvGrpSpPr>
        <p:grpSpPr>
          <a:xfrm>
            <a:off x="4182734" y="4951574"/>
            <a:ext cx="2042647" cy="824712"/>
            <a:chOff x="4204620" y="3473120"/>
            <a:chExt cx="2042647" cy="824712"/>
          </a:xfrm>
        </p:grpSpPr>
        <p:pic>
          <p:nvPicPr>
            <p:cNvPr id="53" name="图片 52">
              <a:extLst>
                <a:ext uri="{FF2B5EF4-FFF2-40B4-BE49-F238E27FC236}">
                  <a16:creationId xmlns:a16="http://schemas.microsoft.com/office/drawing/2014/main" id="{51809C0A-F44E-4A0A-AE33-D6C4959AA864}"/>
                </a:ext>
              </a:extLst>
            </p:cNvPr>
            <p:cNvPicPr>
              <a:picLocks noChangeAspect="1"/>
            </p:cNvPicPr>
            <p:nvPr/>
          </p:nvPicPr>
          <p:blipFill>
            <a:blip r:embed="rId6"/>
            <a:stretch>
              <a:fillRect/>
            </a:stretch>
          </p:blipFill>
          <p:spPr>
            <a:xfrm>
              <a:off x="5370762" y="3473120"/>
              <a:ext cx="876505" cy="824712"/>
            </a:xfrm>
            <a:prstGeom prst="rect">
              <a:avLst/>
            </a:prstGeom>
          </p:spPr>
        </p:pic>
        <p:sp>
          <p:nvSpPr>
            <p:cNvPr id="57" name="文本框 56"/>
            <p:cNvSpPr txBox="1"/>
            <p:nvPr/>
          </p:nvSpPr>
          <p:spPr>
            <a:xfrm>
              <a:off x="4204620" y="3597082"/>
              <a:ext cx="1105589" cy="369332"/>
            </a:xfrm>
            <a:prstGeom prst="rect">
              <a:avLst/>
            </a:prstGeom>
            <a:noFill/>
          </p:spPr>
          <p:txBody>
            <a:bodyPr wrap="square" rtlCol="0">
              <a:spAutoFit/>
            </a:bodyPr>
            <a:lstStyle/>
            <a:p>
              <a:r>
                <a:rPr lang="zh-CN" altLang="en-US" dirty="0" smtClean="0">
                  <a:solidFill>
                    <a:srgbClr val="3864B2"/>
                  </a:solidFill>
                  <a:latin typeface="微软雅黑" panose="020B0503020204020204" pitchFamily="34" charset="-122"/>
                  <a:ea typeface="微软雅黑" panose="020B0503020204020204" pitchFamily="34" charset="-122"/>
                </a:rPr>
                <a:t>服务优势</a:t>
              </a:r>
              <a:endParaRPr lang="zh-CN" altLang="en-US" dirty="0">
                <a:solidFill>
                  <a:srgbClr val="3864B2"/>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4197079" y="3428222"/>
            <a:ext cx="2050188" cy="792585"/>
            <a:chOff x="4197079" y="5029200"/>
            <a:chExt cx="2050188" cy="792585"/>
          </a:xfrm>
        </p:grpSpPr>
        <p:pic>
          <p:nvPicPr>
            <p:cNvPr id="54" name="图片 53">
              <a:extLst>
                <a:ext uri="{FF2B5EF4-FFF2-40B4-BE49-F238E27FC236}">
                  <a16:creationId xmlns:a16="http://schemas.microsoft.com/office/drawing/2014/main" id="{3148FDE5-9782-4171-9C0C-C9128A673B63}"/>
                </a:ext>
              </a:extLst>
            </p:cNvPr>
            <p:cNvPicPr>
              <a:picLocks noChangeAspect="1"/>
            </p:cNvPicPr>
            <p:nvPr/>
          </p:nvPicPr>
          <p:blipFill>
            <a:blip r:embed="rId7"/>
            <a:stretch>
              <a:fillRect/>
            </a:stretch>
          </p:blipFill>
          <p:spPr>
            <a:xfrm>
              <a:off x="5370762" y="5029200"/>
              <a:ext cx="876505" cy="792585"/>
            </a:xfrm>
            <a:prstGeom prst="rect">
              <a:avLst/>
            </a:prstGeom>
          </p:spPr>
        </p:pic>
        <p:sp>
          <p:nvSpPr>
            <p:cNvPr id="58" name="文本框 57"/>
            <p:cNvSpPr txBox="1"/>
            <p:nvPr/>
          </p:nvSpPr>
          <p:spPr>
            <a:xfrm>
              <a:off x="4197079" y="5217553"/>
              <a:ext cx="1105589" cy="369332"/>
            </a:xfrm>
            <a:prstGeom prst="rect">
              <a:avLst/>
            </a:prstGeom>
            <a:noFill/>
          </p:spPr>
          <p:txBody>
            <a:bodyPr wrap="square" rtlCol="0">
              <a:spAutoFit/>
            </a:bodyPr>
            <a:lstStyle/>
            <a:p>
              <a:r>
                <a:rPr lang="zh-CN" altLang="en-US" dirty="0" smtClean="0">
                  <a:solidFill>
                    <a:srgbClr val="3864B2"/>
                  </a:solidFill>
                  <a:latin typeface="微软雅黑" panose="020B0503020204020204" pitchFamily="34" charset="-122"/>
                  <a:ea typeface="微软雅黑" panose="020B0503020204020204" pitchFamily="34" charset="-122"/>
                </a:rPr>
                <a:t>成本优势</a:t>
              </a:r>
              <a:endParaRPr lang="zh-CN" altLang="en-US" dirty="0">
                <a:solidFill>
                  <a:srgbClr val="3864B2"/>
                </a:solidFill>
                <a:latin typeface="微软雅黑" panose="020B0503020204020204" pitchFamily="34" charset="-122"/>
                <a:ea typeface="微软雅黑" panose="020B0503020204020204" pitchFamily="34" charset="-122"/>
              </a:endParaRPr>
            </a:p>
          </p:txBody>
        </p:sp>
      </p:grpSp>
      <p:sp>
        <p:nvSpPr>
          <p:cNvPr id="55" name="等腰三角形 54"/>
          <p:cNvSpPr/>
          <p:nvPr/>
        </p:nvSpPr>
        <p:spPr>
          <a:xfrm rot="5400000" flipV="1">
            <a:off x="1326070" y="3577562"/>
            <a:ext cx="4108534" cy="437209"/>
          </a:xfrm>
          <a:prstGeom prst="triangle">
            <a:avLst>
              <a:gd name="adj" fmla="val 4982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6753670" y="3103669"/>
            <a:ext cx="4798250" cy="138499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高集成度，降低客户</a:t>
            </a:r>
            <a:r>
              <a:rPr lang="zh-CN" altLang="en-US" sz="1400" b="1" dirty="0">
                <a:solidFill>
                  <a:srgbClr val="3864B2"/>
                </a:solidFill>
                <a:latin typeface="幼圆" panose="02010509060101010101" pitchFamily="49" charset="-122"/>
                <a:ea typeface="幼圆" panose="02010509060101010101" pitchFamily="49" charset="-122"/>
              </a:rPr>
              <a:t>方案</a:t>
            </a:r>
            <a:r>
              <a:rPr lang="en-US" altLang="zh-CN" sz="1400" b="1" dirty="0">
                <a:solidFill>
                  <a:srgbClr val="3864B2"/>
                </a:solidFill>
                <a:latin typeface="幼圆" panose="02010509060101010101" pitchFamily="49" charset="-122"/>
                <a:ea typeface="幼圆" panose="02010509060101010101" pitchFamily="49" charset="-122"/>
              </a:rPr>
              <a:t>BOM</a:t>
            </a:r>
            <a:r>
              <a:rPr lang="zh-CN" altLang="en-US" sz="1400" b="1" dirty="0">
                <a:solidFill>
                  <a:srgbClr val="3864B2"/>
                </a:solidFill>
                <a:latin typeface="幼圆" panose="02010509060101010101" pitchFamily="49" charset="-122"/>
                <a:ea typeface="幼圆" panose="02010509060101010101" pitchFamily="49" charset="-122"/>
              </a:rPr>
              <a:t>成本</a:t>
            </a:r>
            <a:endParaRPr lang="en-US" altLang="zh-CN" sz="1400" b="1"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同一芯片适配不同场景，降低客户</a:t>
            </a:r>
            <a:r>
              <a:rPr lang="zh-CN" altLang="en-US" sz="1400" b="1" dirty="0">
                <a:solidFill>
                  <a:srgbClr val="3864B2"/>
                </a:solidFill>
                <a:latin typeface="幼圆" panose="02010509060101010101" pitchFamily="49" charset="-122"/>
                <a:ea typeface="幼圆" panose="02010509060101010101" pitchFamily="49" charset="-122"/>
              </a:rPr>
              <a:t>开发</a:t>
            </a:r>
            <a:r>
              <a:rPr lang="zh-CN" altLang="en-US" sz="1400" b="1" dirty="0" smtClean="0">
                <a:solidFill>
                  <a:srgbClr val="3864B2"/>
                </a:solidFill>
                <a:latin typeface="幼圆" panose="02010509060101010101" pitchFamily="49" charset="-122"/>
                <a:ea typeface="幼圆" panose="02010509060101010101" pitchFamily="49" charset="-122"/>
              </a:rPr>
              <a:t>成本</a:t>
            </a:r>
            <a:endParaRPr lang="en-US" altLang="zh-CN" sz="1400" b="1"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完备支持，降低方案</a:t>
            </a:r>
            <a:r>
              <a:rPr lang="zh-CN" altLang="en-US" sz="1400" b="1" dirty="0">
                <a:solidFill>
                  <a:srgbClr val="3864B2"/>
                </a:solidFill>
                <a:latin typeface="幼圆" panose="02010509060101010101" pitchFamily="49" charset="-122"/>
                <a:ea typeface="幼圆" panose="02010509060101010101" pitchFamily="49" charset="-122"/>
              </a:rPr>
              <a:t>开发调测</a:t>
            </a:r>
            <a:r>
              <a:rPr lang="zh-CN" altLang="en-US" sz="1400" b="1" dirty="0" smtClean="0">
                <a:solidFill>
                  <a:srgbClr val="3864B2"/>
                </a:solidFill>
                <a:latin typeface="幼圆" panose="02010509060101010101" pitchFamily="49" charset="-122"/>
                <a:ea typeface="幼圆" panose="02010509060101010101" pitchFamily="49" charset="-122"/>
              </a:rPr>
              <a:t>成本</a:t>
            </a:r>
            <a:endParaRPr lang="en-US" altLang="zh-CN" sz="1400" b="1"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支持</a:t>
            </a:r>
            <a:r>
              <a:rPr lang="en-US" altLang="zh-CN" sz="1400" dirty="0">
                <a:solidFill>
                  <a:srgbClr val="3864B2"/>
                </a:solidFill>
                <a:latin typeface="幼圆" panose="02010509060101010101" pitchFamily="49" charset="-122"/>
                <a:ea typeface="幼圆" panose="02010509060101010101" pitchFamily="49" charset="-122"/>
              </a:rPr>
              <a:t>15</a:t>
            </a:r>
            <a:r>
              <a:rPr lang="zh-CN" altLang="en-US" sz="1400" dirty="0">
                <a:solidFill>
                  <a:srgbClr val="3864B2"/>
                </a:solidFill>
                <a:latin typeface="幼圆" panose="02010509060101010101" pitchFamily="49" charset="-122"/>
                <a:ea typeface="幼圆" panose="02010509060101010101" pitchFamily="49" charset="-122"/>
              </a:rPr>
              <a:t>级动态自组网、免配置、热插拔，降低客户</a:t>
            </a:r>
            <a:r>
              <a:rPr lang="zh-CN" altLang="en-US" sz="1400" b="1" dirty="0">
                <a:solidFill>
                  <a:srgbClr val="3864B2"/>
                </a:solidFill>
                <a:latin typeface="幼圆" panose="02010509060101010101" pitchFamily="49" charset="-122"/>
                <a:ea typeface="幼圆" panose="02010509060101010101" pitchFamily="49" charset="-122"/>
              </a:rPr>
              <a:t>工程施工成本</a:t>
            </a: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支持固件远程在线升级，降低客户</a:t>
            </a:r>
            <a:r>
              <a:rPr lang="zh-CN" altLang="en-US" sz="1400" b="1" dirty="0">
                <a:solidFill>
                  <a:srgbClr val="3864B2"/>
                </a:solidFill>
                <a:latin typeface="幼圆" panose="02010509060101010101" pitchFamily="49" charset="-122"/>
                <a:ea typeface="幼圆" panose="02010509060101010101" pitchFamily="49" charset="-122"/>
              </a:rPr>
              <a:t>运维</a:t>
            </a:r>
            <a:r>
              <a:rPr lang="zh-CN" altLang="en-US" sz="1400" b="1" dirty="0" smtClean="0">
                <a:solidFill>
                  <a:srgbClr val="3864B2"/>
                </a:solidFill>
                <a:latin typeface="幼圆" panose="02010509060101010101" pitchFamily="49" charset="-122"/>
                <a:ea typeface="幼圆" panose="02010509060101010101" pitchFamily="49" charset="-122"/>
              </a:rPr>
              <a:t>成本</a:t>
            </a:r>
            <a:endParaRPr lang="zh-CN" altLang="en-US" sz="1400" b="1" dirty="0">
              <a:solidFill>
                <a:srgbClr val="3864B2"/>
              </a:solidFill>
              <a:latin typeface="幼圆" panose="02010509060101010101" pitchFamily="49" charset="-122"/>
              <a:ea typeface="幼圆" panose="02010509060101010101" pitchFamily="49" charset="-122"/>
            </a:endParaRPr>
          </a:p>
        </p:txBody>
      </p:sp>
      <p:sp>
        <p:nvSpPr>
          <p:cNvPr id="61" name="文本框 60"/>
          <p:cNvSpPr txBox="1"/>
          <p:nvPr/>
        </p:nvSpPr>
        <p:spPr>
          <a:xfrm>
            <a:off x="6753670" y="4802055"/>
            <a:ext cx="5176002" cy="1384995"/>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400" dirty="0" smtClean="0">
                <a:solidFill>
                  <a:srgbClr val="3864B2"/>
                </a:solidFill>
                <a:latin typeface="幼圆" panose="02010509060101010101" pitchFamily="49" charset="-122"/>
                <a:ea typeface="幼圆" panose="02010509060101010101" pitchFamily="49" charset="-122"/>
              </a:rPr>
              <a:t>主芯片 </a:t>
            </a:r>
            <a:r>
              <a:rPr lang="en-US" altLang="zh-CN" sz="1400" dirty="0" smtClean="0">
                <a:solidFill>
                  <a:srgbClr val="3864B2"/>
                </a:solidFill>
                <a:latin typeface="幼圆" panose="02010509060101010101" pitchFamily="49" charset="-122"/>
                <a:ea typeface="幼圆" panose="02010509060101010101" pitchFamily="49" charset="-122"/>
              </a:rPr>
              <a:t>+ </a:t>
            </a:r>
            <a:r>
              <a:rPr lang="zh-CN" altLang="en-US" sz="1400" dirty="0" smtClean="0">
                <a:solidFill>
                  <a:srgbClr val="3864B2"/>
                </a:solidFill>
                <a:latin typeface="幼圆" panose="02010509060101010101" pitchFamily="49" charset="-122"/>
                <a:ea typeface="幼圆" panose="02010509060101010101" pitchFamily="49" charset="-122"/>
              </a:rPr>
              <a:t>一站式技术服务</a:t>
            </a:r>
            <a:endParaRPr lang="en-US" altLang="zh-CN" sz="1400" b="1"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全套方案</a:t>
            </a:r>
            <a:r>
              <a:rPr lang="zh-CN" altLang="en-US" sz="1400" dirty="0" smtClean="0">
                <a:solidFill>
                  <a:srgbClr val="3864B2"/>
                </a:solidFill>
                <a:latin typeface="幼圆" panose="02010509060101010101" pitchFamily="49" charset="-122"/>
                <a:ea typeface="幼圆" panose="02010509060101010101" pitchFamily="49" charset="-122"/>
              </a:rPr>
              <a:t>：网关</a:t>
            </a:r>
            <a:r>
              <a:rPr lang="zh-CN" altLang="en-US" sz="1400" dirty="0">
                <a:solidFill>
                  <a:srgbClr val="3864B2"/>
                </a:solidFill>
                <a:latin typeface="幼圆" panose="02010509060101010101" pitchFamily="49" charset="-122"/>
                <a:ea typeface="幼圆" panose="02010509060101010101" pitchFamily="49" charset="-122"/>
              </a:rPr>
              <a:t>模组、中继节点模组、终端节点模</a:t>
            </a:r>
            <a:r>
              <a:rPr lang="zh-CN" altLang="en-US" sz="1400" dirty="0" smtClean="0">
                <a:solidFill>
                  <a:srgbClr val="3864B2"/>
                </a:solidFill>
                <a:latin typeface="幼圆" panose="02010509060101010101" pitchFamily="49" charset="-122"/>
                <a:ea typeface="幼圆" panose="02010509060101010101" pitchFamily="49" charset="-122"/>
              </a:rPr>
              <a:t>组</a:t>
            </a:r>
            <a:endParaRPr lang="en-US" altLang="zh-CN" sz="1400" dirty="0" smtClean="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全套协议栈</a:t>
            </a:r>
          </a:p>
          <a:p>
            <a:pPr marL="285750" indent="-285750">
              <a:buFont typeface="Wingdings" panose="05000000000000000000" pitchFamily="2" charset="2"/>
              <a:buChar char="ü"/>
            </a:pPr>
            <a:r>
              <a:rPr lang="en-US" altLang="zh-CN" sz="1400" dirty="0">
                <a:solidFill>
                  <a:srgbClr val="3864B2"/>
                </a:solidFill>
                <a:latin typeface="幼圆" panose="02010509060101010101" pitchFamily="49" charset="-122"/>
                <a:ea typeface="幼圆" panose="02010509060101010101" pitchFamily="49" charset="-122"/>
              </a:rPr>
              <a:t>HPLC</a:t>
            </a:r>
            <a:r>
              <a:rPr lang="zh-CN" altLang="en-US" sz="1400" dirty="0">
                <a:solidFill>
                  <a:srgbClr val="3864B2"/>
                </a:solidFill>
                <a:latin typeface="幼圆" panose="02010509060101010101" pitchFamily="49" charset="-122"/>
                <a:ea typeface="幼圆" panose="02010509060101010101" pitchFamily="49" charset="-122"/>
              </a:rPr>
              <a:t>开发测试平台</a:t>
            </a: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配套测试</a:t>
            </a:r>
            <a:r>
              <a:rPr lang="zh-CN" altLang="en-US" sz="1400" dirty="0" smtClean="0">
                <a:solidFill>
                  <a:srgbClr val="3864B2"/>
                </a:solidFill>
                <a:latin typeface="幼圆" panose="02010509060101010101" pitchFamily="49" charset="-122"/>
                <a:ea typeface="幼圆" panose="02010509060101010101" pitchFamily="49" charset="-122"/>
              </a:rPr>
              <a:t>设备，调测</a:t>
            </a:r>
            <a:r>
              <a:rPr lang="zh-CN" altLang="en-US" sz="1400" dirty="0">
                <a:solidFill>
                  <a:srgbClr val="3864B2"/>
                </a:solidFill>
                <a:latin typeface="幼圆" panose="02010509060101010101" pitchFamily="49" charset="-122"/>
                <a:ea typeface="幼圆" panose="02010509060101010101" pitchFamily="49" charset="-122"/>
              </a:rPr>
              <a:t>软件工具</a:t>
            </a:r>
            <a:r>
              <a:rPr lang="zh-CN" altLang="en-US" sz="1400" dirty="0" smtClean="0">
                <a:solidFill>
                  <a:srgbClr val="3864B2"/>
                </a:solidFill>
                <a:latin typeface="幼圆" panose="02010509060101010101" pitchFamily="49" charset="-122"/>
                <a:ea typeface="幼圆" panose="02010509060101010101" pitchFamily="49" charset="-122"/>
              </a:rPr>
              <a:t>集</a:t>
            </a:r>
            <a:endParaRPr lang="zh-CN" altLang="en-US" sz="1400" dirty="0">
              <a:solidFill>
                <a:srgbClr val="3864B2"/>
              </a:solidFill>
              <a:latin typeface="幼圆" panose="02010509060101010101" pitchFamily="49" charset="-122"/>
              <a:ea typeface="幼圆" panose="02010509060101010101" pitchFamily="49" charset="-122"/>
            </a:endParaRPr>
          </a:p>
          <a:p>
            <a:pPr marL="285750" indent="-285750">
              <a:buFont typeface="Wingdings" panose="05000000000000000000" pitchFamily="2" charset="2"/>
              <a:buChar char="ü"/>
            </a:pPr>
            <a:r>
              <a:rPr lang="zh-CN" altLang="en-US" sz="1400" dirty="0">
                <a:solidFill>
                  <a:srgbClr val="3864B2"/>
                </a:solidFill>
                <a:latin typeface="幼圆" panose="02010509060101010101" pitchFamily="49" charset="-122"/>
                <a:ea typeface="幼圆" panose="02010509060101010101" pitchFamily="49" charset="-122"/>
              </a:rPr>
              <a:t>各类模拟</a:t>
            </a:r>
            <a:r>
              <a:rPr lang="zh-CN" altLang="en-US" sz="1400" dirty="0" smtClean="0">
                <a:solidFill>
                  <a:srgbClr val="3864B2"/>
                </a:solidFill>
                <a:latin typeface="幼圆" panose="02010509060101010101" pitchFamily="49" charset="-122"/>
                <a:ea typeface="幼圆" panose="02010509060101010101" pitchFamily="49" charset="-122"/>
              </a:rPr>
              <a:t>软件（</a:t>
            </a:r>
            <a:r>
              <a:rPr lang="zh-CN" altLang="en-US" sz="1400" dirty="0">
                <a:solidFill>
                  <a:srgbClr val="3864B2"/>
                </a:solidFill>
                <a:latin typeface="幼圆" panose="02010509060101010101" pitchFamily="49" charset="-122"/>
                <a:ea typeface="幼圆" panose="02010509060101010101" pitchFamily="49" charset="-122"/>
              </a:rPr>
              <a:t>简化调测工作</a:t>
            </a:r>
            <a:r>
              <a:rPr lang="zh-CN" altLang="en-US" sz="1400" dirty="0" smtClean="0">
                <a:solidFill>
                  <a:srgbClr val="3864B2"/>
                </a:solidFill>
                <a:latin typeface="幼圆" panose="02010509060101010101" pitchFamily="49" charset="-122"/>
                <a:ea typeface="幼圆" panose="02010509060101010101" pitchFamily="49" charset="-122"/>
              </a:rPr>
              <a:t>）</a:t>
            </a:r>
            <a:endParaRPr lang="zh-CN" altLang="en-US" sz="1400" dirty="0">
              <a:solidFill>
                <a:srgbClr val="3864B2"/>
              </a:solidFill>
              <a:latin typeface="幼圆" panose="02010509060101010101" pitchFamily="49" charset="-122"/>
              <a:ea typeface="幼圆" panose="02010509060101010101" pitchFamily="49" charset="-122"/>
            </a:endParaRPr>
          </a:p>
        </p:txBody>
      </p:sp>
      <p:pic>
        <p:nvPicPr>
          <p:cNvPr id="62" name="图片 61"/>
          <p:cNvPicPr>
            <a:picLocks noChangeAspect="1"/>
          </p:cNvPicPr>
          <p:nvPr/>
        </p:nvPicPr>
        <p:blipFill>
          <a:blip r:embed="rId8"/>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42194323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570" y="363037"/>
            <a:ext cx="9964102" cy="599491"/>
          </a:xfrm>
        </p:spPr>
        <p:txBody>
          <a:bodyPr>
            <a:normAutofit/>
          </a:bodyPr>
          <a:lstStyle/>
          <a:p>
            <a:r>
              <a:rPr kumimoji="1" lang="zh-CN" altLang="en-US" dirty="0">
                <a:solidFill>
                  <a:srgbClr val="0078FF"/>
                </a:solidFill>
              </a:rPr>
              <a:t>四季豆</a:t>
            </a:r>
            <a:r>
              <a:rPr kumimoji="1" lang="zh-CN" altLang="en-US" dirty="0" smtClean="0">
                <a:solidFill>
                  <a:srgbClr val="0078FF"/>
                </a:solidFill>
              </a:rPr>
              <a:t>产品</a:t>
            </a:r>
            <a:r>
              <a:rPr kumimoji="1" lang="en-US" altLang="zh-CN" dirty="0" smtClean="0">
                <a:solidFill>
                  <a:srgbClr val="0078FF"/>
                </a:solidFill>
              </a:rPr>
              <a:t>2</a:t>
            </a:r>
            <a:r>
              <a:rPr kumimoji="1" lang="zh-CN" altLang="en-US" dirty="0" smtClean="0">
                <a:solidFill>
                  <a:srgbClr val="0078FF"/>
                </a:solidFill>
              </a:rPr>
              <a:t>：</a:t>
            </a:r>
            <a:r>
              <a:rPr kumimoji="1" lang="en-US" altLang="zh-CN" dirty="0" smtClean="0">
                <a:solidFill>
                  <a:srgbClr val="0078FF"/>
                </a:solidFill>
              </a:rPr>
              <a:t>HPLC+HRF </a:t>
            </a:r>
            <a:r>
              <a:rPr kumimoji="1" lang="zh-CN" altLang="en-US" dirty="0">
                <a:solidFill>
                  <a:srgbClr val="0078FF"/>
                </a:solidFill>
              </a:rPr>
              <a:t>双模单芯片 </a:t>
            </a:r>
            <a:r>
              <a:rPr kumimoji="1" lang="en-US" altLang="zh-CN" dirty="0" smtClean="0">
                <a:solidFill>
                  <a:srgbClr val="0078FF"/>
                </a:solidFill>
              </a:rPr>
              <a:t>SIG800</a:t>
            </a:r>
            <a:r>
              <a:rPr kumimoji="1" lang="zh-CN" altLang="en-US" dirty="0" smtClean="0">
                <a:solidFill>
                  <a:srgbClr val="0078FF"/>
                </a:solidFill>
              </a:rPr>
              <a:t>（即将量</a:t>
            </a:r>
            <a:r>
              <a:rPr kumimoji="1" lang="zh-CN" altLang="en-US" dirty="0">
                <a:solidFill>
                  <a:srgbClr val="0078FF"/>
                </a:solidFill>
              </a:rPr>
              <a:t>产）</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3"/>
          <a:stretch>
            <a:fillRect/>
          </a:stretch>
        </p:blipFill>
        <p:spPr>
          <a:xfrm>
            <a:off x="9796072" y="266110"/>
            <a:ext cx="2133600" cy="1028700"/>
          </a:xfrm>
          <a:prstGeom prst="rect">
            <a:avLst/>
          </a:prstGeom>
        </p:spPr>
      </p:pic>
      <p:sp>
        <p:nvSpPr>
          <p:cNvPr id="59" name="矩形 58"/>
          <p:cNvSpPr/>
          <p:nvPr/>
        </p:nvSpPr>
        <p:spPr>
          <a:xfrm>
            <a:off x="533011" y="1576903"/>
            <a:ext cx="6609469" cy="4074962"/>
          </a:xfrm>
          <a:prstGeom prst="rect">
            <a:avLst/>
          </a:prstGeom>
        </p:spPr>
        <p:txBody>
          <a:bodyPr wrap="square">
            <a:spAutoFit/>
          </a:bodyPr>
          <a:lstStyle/>
          <a:p>
            <a:pPr marL="342900" indent="-342900">
              <a:lnSpc>
                <a:spcPct val="130000"/>
              </a:lnSpc>
              <a:spcBef>
                <a:spcPts val="600"/>
              </a:spcBef>
              <a:buFont typeface="Wingdings" panose="05000000000000000000" pitchFamily="2" charset="2"/>
              <a:buChar char="p"/>
            </a:pP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物理层独立双通道，支持</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物理上同时收发，独立控制</a:t>
            </a:r>
            <a:endParaRPr lang="en-US" altLang="zh-CN"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HPLC</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与</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HRF</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单芯片架构</a:t>
            </a:r>
            <a:endParaRPr lang="en-US" altLang="zh-CN"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兼容</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HPLC</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与</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HRF</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单模独立工作</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动态加载</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双模协议栈或者单模协议栈，</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与传统单模</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终端</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灵活组网</a:t>
            </a:r>
            <a:endParaRPr lang="en-US" altLang="zh-CN"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内置可编程</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SDR</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处理器，</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HPLC</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与</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HRF</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可</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独立编程</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和软件</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维护</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，支持</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双模</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PHY</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协议演进与协议增补</a:t>
            </a:r>
            <a:endParaRPr lang="en-US" altLang="zh-CN"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内置强大</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CPU</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，适配未来</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配网自动化</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及更多</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智能数据处理算力</a:t>
            </a:r>
            <a:endParaRPr lang="en-US" altLang="zh-CN"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HPLC</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与</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HRF</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独立时钟域控制，</a:t>
            </a: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PHY</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前端处理与后端处理</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独立时钟域</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控制，支持</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低功耗策略</a:t>
            </a:r>
            <a:endParaRPr lang="en-US" altLang="zh-CN" sz="1600" b="1" dirty="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30000"/>
              </a:lnSpc>
              <a:spcBef>
                <a:spcPts val="600"/>
              </a:spcBef>
              <a:buFont typeface="Wingdings" panose="05000000000000000000" pitchFamily="2" charset="2"/>
              <a:buChar char="p"/>
            </a:pPr>
            <a:r>
              <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HRF/HPLC </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rPr>
              <a:t>具备单频干扰消除，抗脉冲干扰，频偏自动补充，信道状态自动跟踪测量</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62" name="文本框 61"/>
          <p:cNvSpPr txBox="1">
            <a:spLocks noChangeArrowheads="1"/>
          </p:cNvSpPr>
          <p:nvPr/>
        </p:nvSpPr>
        <p:spPr bwMode="auto">
          <a:xfrm>
            <a:off x="444579" y="5914539"/>
            <a:ext cx="10850093"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lvl="0" algn="ctr">
              <a:lnSpc>
                <a:spcPct val="150000"/>
              </a:lnSpc>
              <a:spcBef>
                <a:spcPts val="0"/>
              </a:spcBef>
              <a:buFont typeface="Arial" pitchFamily="34" charset="0"/>
              <a:buNone/>
              <a:defRPr sz="1600">
                <a:solidFill>
                  <a:srgbClr val="181824"/>
                </a:solidFill>
                <a:latin typeface="微软雅黑" pitchFamily="34" charset="-122"/>
                <a:ea typeface="微软雅黑" pitchFamily="34" charset="-122"/>
                <a:cs typeface="Arial" pitchFamily="34" charset="0"/>
              </a:defRPr>
            </a:lvl1pPr>
            <a:lvl2pPr marL="742950" indent="-285750">
              <a:lnSpc>
                <a:spcPct val="90000"/>
              </a:lnSpc>
              <a:spcBef>
                <a:spcPts val="500"/>
              </a:spcBef>
              <a:buFont typeface="Arial" pitchFamily="34" charset="0"/>
              <a:buChar char="•"/>
              <a:defRPr sz="2400">
                <a:latin typeface="微软雅黑 Light" pitchFamily="34" charset="-122"/>
                <a:ea typeface="微软雅黑 Light" pitchFamily="34" charset="-122"/>
              </a:defRPr>
            </a:lvl2pPr>
            <a:lvl3pPr marL="1143000" indent="-228600">
              <a:lnSpc>
                <a:spcPct val="90000"/>
              </a:lnSpc>
              <a:spcBef>
                <a:spcPts val="500"/>
              </a:spcBef>
              <a:buFont typeface="Arial" pitchFamily="34" charset="0"/>
              <a:buChar char="•"/>
              <a:defRPr sz="2000">
                <a:latin typeface="微软雅黑 Light" pitchFamily="34" charset="-122"/>
                <a:ea typeface="微软雅黑 Light" pitchFamily="34" charset="-122"/>
              </a:defRPr>
            </a:lvl3pPr>
            <a:lvl4pPr marL="1600200" indent="-228600">
              <a:lnSpc>
                <a:spcPct val="90000"/>
              </a:lnSpc>
              <a:spcBef>
                <a:spcPts val="500"/>
              </a:spcBef>
              <a:buFont typeface="Arial" pitchFamily="34" charset="0"/>
              <a:buChar char="•"/>
              <a:defRPr>
                <a:latin typeface="微软雅黑 Light" pitchFamily="34" charset="-122"/>
                <a:ea typeface="微软雅黑 Light" pitchFamily="34" charset="-122"/>
              </a:defRPr>
            </a:lvl4pPr>
            <a:lvl5pPr marL="2057400" indent="-228600">
              <a:lnSpc>
                <a:spcPct val="90000"/>
              </a:lnSpc>
              <a:spcBef>
                <a:spcPts val="500"/>
              </a:spcBef>
              <a:buFont typeface="Arial" pitchFamily="34" charset="0"/>
              <a:buChar char="•"/>
              <a:defRPr>
                <a:latin typeface="微软雅黑 Light" pitchFamily="34" charset="-122"/>
                <a:ea typeface="微软雅黑 Light" pitchFamily="34" charset="-122"/>
              </a:defRPr>
            </a:lvl5pPr>
            <a:lvl6pPr marL="25146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6pPr>
            <a:lvl7pPr marL="29718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7pPr>
            <a:lvl8pPr marL="34290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8pPr>
            <a:lvl9pPr marL="3886200" indent="-228600" eaLnBrk="0" fontAlgn="base" hangingPunct="0">
              <a:lnSpc>
                <a:spcPct val="90000"/>
              </a:lnSpc>
              <a:spcBef>
                <a:spcPts val="500"/>
              </a:spcBef>
              <a:spcAft>
                <a:spcPct val="0"/>
              </a:spcAft>
              <a:buFont typeface="Arial" pitchFamily="34" charset="0"/>
              <a:buChar char="•"/>
              <a:defRPr>
                <a:latin typeface="微软雅黑 Light" pitchFamily="34" charset="-122"/>
                <a:ea typeface="微软雅黑 Light" pitchFamily="34" charset="-122"/>
              </a:defRPr>
            </a:lvl9pPr>
          </a:lstStyle>
          <a:p>
            <a:pPr algn="l"/>
            <a:r>
              <a:rPr lang="zh-CN" altLang="en-US" sz="2400" dirty="0">
                <a:solidFill>
                  <a:srgbClr val="3864B2"/>
                </a:solidFill>
              </a:rPr>
              <a:t>高速载波</a:t>
            </a:r>
            <a:r>
              <a:rPr lang="en-US" altLang="zh-CN" sz="2400" dirty="0">
                <a:solidFill>
                  <a:srgbClr val="3864B2"/>
                </a:solidFill>
              </a:rPr>
              <a:t>+</a:t>
            </a:r>
            <a:r>
              <a:rPr lang="zh-CN" altLang="en-US" sz="2400" dirty="0">
                <a:solidFill>
                  <a:srgbClr val="3864B2"/>
                </a:solidFill>
              </a:rPr>
              <a:t>高速无线双模单芯片  </a:t>
            </a:r>
            <a:r>
              <a:rPr lang="en-US" altLang="zh-CN" sz="2400" dirty="0">
                <a:solidFill>
                  <a:srgbClr val="3864B2"/>
                </a:solidFill>
              </a:rPr>
              <a:t>SIG800</a:t>
            </a:r>
            <a:r>
              <a:rPr lang="zh-CN" altLang="en-US" sz="2400" dirty="0">
                <a:solidFill>
                  <a:srgbClr val="3864B2"/>
                </a:solidFill>
              </a:rPr>
              <a:t>：彻底解决工业环境中的信息孤岛问题</a:t>
            </a:r>
            <a:endParaRPr lang="en-US" altLang="zh-CN" sz="1400" dirty="0">
              <a:solidFill>
                <a:srgbClr val="3864B2"/>
              </a:solidFill>
            </a:endParaRPr>
          </a:p>
        </p:txBody>
      </p:sp>
      <p:graphicFrame>
        <p:nvGraphicFramePr>
          <p:cNvPr id="63" name="对象 62"/>
          <p:cNvGraphicFramePr>
            <a:graphicFrameLocks noChangeAspect="1"/>
          </p:cNvGraphicFramePr>
          <p:nvPr>
            <p:extLst>
              <p:ext uri="{D42A27DB-BD31-4B8C-83A1-F6EECF244321}">
                <p14:modId xmlns:p14="http://schemas.microsoft.com/office/powerpoint/2010/main" val="1897740585"/>
              </p:ext>
            </p:extLst>
          </p:nvPr>
        </p:nvGraphicFramePr>
        <p:xfrm>
          <a:off x="7274561" y="2237284"/>
          <a:ext cx="4287240" cy="2754200"/>
        </p:xfrm>
        <a:graphic>
          <a:graphicData uri="http://schemas.openxmlformats.org/presentationml/2006/ole">
            <mc:AlternateContent xmlns:mc="http://schemas.openxmlformats.org/markup-compatibility/2006">
              <mc:Choice xmlns:v="urn:schemas-microsoft-com:vml" Requires="v">
                <p:oleObj spid="_x0000_s1116" name="Visio" r:id="rId4" imgW="8026597" imgH="5143500" progId="Visio.Drawing.15">
                  <p:embed/>
                </p:oleObj>
              </mc:Choice>
              <mc:Fallback>
                <p:oleObj name="Visio" r:id="rId4" imgW="8026597" imgH="5143500" progId="Visio.Drawing.15">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4561" y="2237284"/>
                        <a:ext cx="4287240" cy="2754200"/>
                      </a:xfrm>
                      <a:prstGeom prst="rect">
                        <a:avLst/>
                      </a:prstGeom>
                      <a:noFill/>
                    </p:spPr>
                  </p:pic>
                </p:oleObj>
              </mc:Fallback>
            </mc:AlternateContent>
          </a:graphicData>
        </a:graphic>
      </p:graphicFrame>
      <p:pic>
        <p:nvPicPr>
          <p:cNvPr id="9" name="图片 8"/>
          <p:cNvPicPr>
            <a:picLocks noChangeAspect="1"/>
          </p:cNvPicPr>
          <p:nvPr/>
        </p:nvPicPr>
        <p:blipFill>
          <a:blip r:embed="rId6"/>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34862300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olidFill>
                  <a:srgbClr val="0078FF"/>
                </a:solidFill>
              </a:rPr>
              <a:t>市场</a:t>
            </a:r>
            <a:r>
              <a:rPr kumimoji="1" lang="en-US" altLang="zh-CN" dirty="0">
                <a:solidFill>
                  <a:srgbClr val="0078FF"/>
                </a:solidFill>
              </a:rPr>
              <a:t>/</a:t>
            </a:r>
            <a:r>
              <a:rPr kumimoji="1" lang="zh-CN" altLang="en-US" dirty="0" smtClean="0">
                <a:solidFill>
                  <a:srgbClr val="0078FF"/>
                </a:solidFill>
              </a:rPr>
              <a:t>竞争情况</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cxnSp>
        <p:nvCxnSpPr>
          <p:cNvPr id="7" name="直接连接符 6"/>
          <p:cNvCxnSpPr/>
          <p:nvPr/>
        </p:nvCxnSpPr>
        <p:spPr>
          <a:xfrm>
            <a:off x="6114494" y="1852354"/>
            <a:ext cx="0" cy="4741486"/>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a:off x="1284051" y="1862514"/>
            <a:ext cx="9981973" cy="0"/>
          </a:xfrm>
          <a:prstGeom prst="line">
            <a:avLst/>
          </a:prstGeom>
        </p:spPr>
        <p:style>
          <a:lnRef idx="3">
            <a:schemeClr val="accent1"/>
          </a:lnRef>
          <a:fillRef idx="0">
            <a:schemeClr val="accent1"/>
          </a:fillRef>
          <a:effectRef idx="2">
            <a:schemeClr val="accent1"/>
          </a:effectRef>
          <a:fontRef idx="minor">
            <a:schemeClr val="tx1"/>
          </a:fontRef>
        </p:style>
      </p:cxnSp>
      <p:sp>
        <p:nvSpPr>
          <p:cNvPr id="10" name="文本框 9"/>
          <p:cNvSpPr txBox="1"/>
          <p:nvPr/>
        </p:nvSpPr>
        <p:spPr>
          <a:xfrm>
            <a:off x="2752923" y="1288816"/>
            <a:ext cx="1561946" cy="461665"/>
          </a:xfrm>
          <a:prstGeom prst="rect">
            <a:avLst/>
          </a:prstGeom>
          <a:noFill/>
        </p:spPr>
        <p:txBody>
          <a:bodyPr wrap="square" rtlCol="0">
            <a:spAutoFit/>
          </a:bodyPr>
          <a:lstStyle/>
          <a:p>
            <a:r>
              <a:rPr lang="zh-CN" altLang="en-US" sz="2400" dirty="0" smtClean="0">
                <a:solidFill>
                  <a:srgbClr val="3864B2"/>
                </a:solidFill>
                <a:latin typeface="微软雅黑" panose="020B0503020204020204" pitchFamily="34" charset="-122"/>
                <a:ea typeface="微软雅黑" panose="020B0503020204020204" pitchFamily="34" charset="-122"/>
              </a:rPr>
              <a:t>公用领域</a:t>
            </a:r>
            <a:endParaRPr lang="zh-CN" altLang="en-US" sz="2400" dirty="0">
              <a:solidFill>
                <a:srgbClr val="3864B2"/>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879409" y="1288815"/>
            <a:ext cx="1595335" cy="461665"/>
          </a:xfrm>
          <a:prstGeom prst="rect">
            <a:avLst/>
          </a:prstGeom>
          <a:noFill/>
        </p:spPr>
        <p:txBody>
          <a:bodyPr wrap="square" rtlCol="0">
            <a:spAutoFit/>
          </a:bodyPr>
          <a:lstStyle/>
          <a:p>
            <a:r>
              <a:rPr lang="zh-CN" altLang="en-US" sz="2400" dirty="0" smtClean="0">
                <a:solidFill>
                  <a:srgbClr val="3864B2"/>
                </a:solidFill>
                <a:latin typeface="微软雅黑" panose="020B0503020204020204" pitchFamily="34" charset="-122"/>
                <a:ea typeface="微软雅黑" panose="020B0503020204020204" pitchFamily="34" charset="-122"/>
              </a:rPr>
              <a:t>民用领域</a:t>
            </a:r>
            <a:endParaRPr lang="zh-CN" altLang="en-US" sz="2400" dirty="0">
              <a:solidFill>
                <a:srgbClr val="3864B2"/>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1906614" y="3147528"/>
            <a:ext cx="8879373"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798319" y="2206667"/>
            <a:ext cx="719847" cy="707886"/>
          </a:xfrm>
          <a:prstGeom prst="rect">
            <a:avLst/>
          </a:prstGeom>
          <a:noFill/>
          <a:ln>
            <a:solidFill>
              <a:schemeClr val="accent1"/>
            </a:solidFill>
          </a:ln>
        </p:spPr>
        <p:txBody>
          <a:bodyPr wrap="square" rtlCol="0">
            <a:spAutoFit/>
          </a:bodyPr>
          <a:lstStyle/>
          <a:p>
            <a:r>
              <a:rPr lang="zh-CN" altLang="en-US" sz="2000" dirty="0" smtClean="0">
                <a:solidFill>
                  <a:srgbClr val="3864B2"/>
                </a:solidFill>
                <a:latin typeface="微软雅黑" panose="020B0503020204020204" pitchFamily="34" charset="-122"/>
                <a:ea typeface="微软雅黑" panose="020B0503020204020204" pitchFamily="34" charset="-122"/>
              </a:rPr>
              <a:t>变革在即</a:t>
            </a:r>
            <a:endParaRPr lang="zh-CN" altLang="en-US" sz="2000" dirty="0">
              <a:solidFill>
                <a:srgbClr val="3864B2"/>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906614" y="2137484"/>
            <a:ext cx="3877131" cy="830997"/>
          </a:xfrm>
          <a:prstGeom prst="rect">
            <a:avLst/>
          </a:prstGeom>
          <a:noFill/>
        </p:spPr>
        <p:txBody>
          <a:bodyPr wrap="square" rtlCol="0">
            <a:spAutoFit/>
          </a:bodyPr>
          <a:lstStyle/>
          <a:p>
            <a:pPr>
              <a:spcBef>
                <a:spcPts val="600"/>
              </a:spcBef>
            </a:pPr>
            <a:r>
              <a:rPr lang="zh-CN" altLang="en-US" sz="1600" dirty="0" smtClean="0">
                <a:solidFill>
                  <a:srgbClr val="3864B2"/>
                </a:solidFill>
                <a:latin typeface="微软雅黑" panose="020B0503020204020204" pitchFamily="34" charset="-122"/>
                <a:ea typeface="微软雅黑" panose="020B0503020204020204" pitchFamily="34" charset="-122"/>
              </a:rPr>
              <a:t>新上招标即将采用</a:t>
            </a:r>
            <a:r>
              <a:rPr lang="en-US" altLang="zh-CN" sz="1600" dirty="0" smtClean="0">
                <a:solidFill>
                  <a:srgbClr val="3864B2"/>
                </a:solidFill>
                <a:latin typeface="微软雅黑" panose="020B0503020204020204" pitchFamily="34" charset="-122"/>
                <a:ea typeface="微软雅黑" panose="020B0503020204020204" pitchFamily="34" charset="-122"/>
              </a:rPr>
              <a:t>HPLC+HRF</a:t>
            </a:r>
            <a:r>
              <a:rPr lang="zh-CN" altLang="en-US" sz="1600" dirty="0" smtClean="0">
                <a:solidFill>
                  <a:srgbClr val="3864B2"/>
                </a:solidFill>
                <a:latin typeface="微软雅黑" panose="020B0503020204020204" pitchFamily="34" charset="-122"/>
                <a:ea typeface="微软雅黑" panose="020B0503020204020204" pitchFamily="34" charset="-122"/>
              </a:rPr>
              <a:t>双模标准，芯片与模块绑定送检，物料型号备案，行业洗牌进行中</a:t>
            </a:r>
            <a:endParaRPr lang="zh-CN" altLang="en-US" sz="1600" dirty="0">
              <a:solidFill>
                <a:srgbClr val="3864B2"/>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7388893" y="2232196"/>
            <a:ext cx="3877131" cy="584775"/>
          </a:xfrm>
          <a:prstGeom prst="rect">
            <a:avLst/>
          </a:prstGeom>
          <a:noFill/>
        </p:spPr>
        <p:txBody>
          <a:bodyPr wrap="square" rtlCol="0">
            <a:spAutoFit/>
          </a:bodyPr>
          <a:lstStyle/>
          <a:p>
            <a:pPr>
              <a:spcBef>
                <a:spcPts val="600"/>
              </a:spcBef>
            </a:pPr>
            <a:r>
              <a:rPr lang="en-US" altLang="zh-CN" sz="1600" dirty="0" smtClean="0">
                <a:solidFill>
                  <a:srgbClr val="3864B2"/>
                </a:solidFill>
                <a:latin typeface="微软雅黑" panose="020B0503020204020204" pitchFamily="34" charset="-122"/>
                <a:ea typeface="微软雅黑" panose="020B0503020204020204" pitchFamily="34" charset="-122"/>
              </a:rPr>
              <a:t>PLC-</a:t>
            </a:r>
            <a:r>
              <a:rPr lang="en-US" altLang="zh-CN" sz="1600" dirty="0" err="1" smtClean="0">
                <a:solidFill>
                  <a:srgbClr val="3864B2"/>
                </a:solidFill>
                <a:latin typeface="微软雅黑" panose="020B0503020204020204" pitchFamily="34" charset="-122"/>
                <a:ea typeface="微软雅黑" panose="020B0503020204020204" pitchFamily="34" charset="-122"/>
              </a:rPr>
              <a:t>IoT</a:t>
            </a:r>
            <a:r>
              <a:rPr lang="en-US" altLang="zh-CN" sz="1600" dirty="0" smtClean="0">
                <a:solidFill>
                  <a:srgbClr val="3864B2"/>
                </a:solidFill>
                <a:latin typeface="微软雅黑" panose="020B0503020204020204" pitchFamily="34" charset="-122"/>
                <a:ea typeface="微软雅黑" panose="020B0503020204020204" pitchFamily="34" charset="-122"/>
              </a:rPr>
              <a:t> </a:t>
            </a:r>
            <a:r>
              <a:rPr lang="zh-CN" altLang="en-US" sz="1600" dirty="0" smtClean="0">
                <a:solidFill>
                  <a:srgbClr val="3864B2"/>
                </a:solidFill>
                <a:latin typeface="微软雅黑" panose="020B0503020204020204" pitchFamily="34" charset="-122"/>
                <a:ea typeface="微软雅黑" panose="020B0503020204020204" pitchFamily="34" charset="-122"/>
              </a:rPr>
              <a:t>为</a:t>
            </a:r>
            <a:r>
              <a:rPr lang="zh-CN" altLang="en-US" sz="1600" dirty="0">
                <a:solidFill>
                  <a:srgbClr val="3864B2"/>
                </a:solidFill>
                <a:latin typeface="微软雅黑" panose="020B0503020204020204" pitchFamily="34" charset="-122"/>
                <a:ea typeface="微软雅黑" panose="020B0503020204020204" pitchFamily="34" charset="-122"/>
              </a:rPr>
              <a:t>全屋智能而</a:t>
            </a:r>
            <a:r>
              <a:rPr lang="zh-CN" altLang="en-US" sz="1600" dirty="0" smtClean="0">
                <a:solidFill>
                  <a:srgbClr val="3864B2"/>
                </a:solidFill>
                <a:latin typeface="微软雅黑" panose="020B0503020204020204" pitchFamily="34" charset="-122"/>
                <a:ea typeface="微软雅黑" panose="020B0503020204020204" pitchFamily="34" charset="-122"/>
              </a:rPr>
              <a:t>生，华为竖起大旗，业内智能家居巨头闻风而动</a:t>
            </a:r>
            <a:endParaRPr lang="zh-CN" altLang="en-US" sz="1600" dirty="0">
              <a:solidFill>
                <a:srgbClr val="3864B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802640" y="4554492"/>
            <a:ext cx="1927755" cy="1055777"/>
          </a:xfrm>
          <a:prstGeom prst="rect">
            <a:avLst/>
          </a:prstGeom>
        </p:spPr>
      </p:pic>
      <p:pic>
        <p:nvPicPr>
          <p:cNvPr id="24" name="图片 23"/>
          <p:cNvPicPr>
            <a:picLocks noChangeAspect="1"/>
          </p:cNvPicPr>
          <p:nvPr/>
        </p:nvPicPr>
        <p:blipFill>
          <a:blip r:embed="rId4"/>
          <a:stretch>
            <a:fillRect/>
          </a:stretch>
        </p:blipFill>
        <p:spPr>
          <a:xfrm>
            <a:off x="802640" y="3550249"/>
            <a:ext cx="1985097" cy="649317"/>
          </a:xfrm>
          <a:prstGeom prst="rect">
            <a:avLst/>
          </a:prstGeom>
        </p:spPr>
      </p:pic>
      <p:sp>
        <p:nvSpPr>
          <p:cNvPr id="25" name="文本框 24"/>
          <p:cNvSpPr txBox="1"/>
          <p:nvPr/>
        </p:nvSpPr>
        <p:spPr>
          <a:xfrm>
            <a:off x="3361176" y="4368959"/>
            <a:ext cx="2597117" cy="1354217"/>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zh-CN" altLang="en-US" dirty="0" smtClean="0">
                <a:solidFill>
                  <a:srgbClr val="3864B2"/>
                </a:solidFill>
                <a:latin typeface="微软雅黑" panose="020B0503020204020204" pitchFamily="34" charset="-122"/>
                <a:ea typeface="微软雅黑" panose="020B0503020204020204" pitchFamily="34" charset="-122"/>
              </a:rPr>
              <a:t>四季豆 </a:t>
            </a:r>
            <a:r>
              <a:rPr lang="en-US" altLang="zh-CN" dirty="0" smtClean="0">
                <a:solidFill>
                  <a:srgbClr val="3864B2"/>
                </a:solidFill>
                <a:latin typeface="微软雅黑" panose="020B0503020204020204" pitchFamily="34" charset="-122"/>
                <a:ea typeface="微软雅黑" panose="020B0503020204020204" pitchFamily="34" charset="-122"/>
              </a:rPr>
              <a:t>+ </a:t>
            </a:r>
            <a:r>
              <a:rPr lang="zh-CN" altLang="en-US" dirty="0" smtClean="0">
                <a:solidFill>
                  <a:srgbClr val="3864B2"/>
                </a:solidFill>
                <a:latin typeface="微软雅黑" panose="020B0503020204020204" pitchFamily="34" charset="-122"/>
                <a:ea typeface="微软雅黑" panose="020B0503020204020204" pitchFamily="34" charset="-122"/>
              </a:rPr>
              <a:t>前排民营企业</a:t>
            </a:r>
            <a:endParaRPr lang="en-US" altLang="zh-CN" dirty="0" smtClean="0">
              <a:solidFill>
                <a:srgbClr val="3864B2"/>
              </a:solidFill>
              <a:latin typeface="微软雅黑" panose="020B0503020204020204" pitchFamily="34" charset="-122"/>
              <a:ea typeface="微软雅黑" panose="020B0503020204020204" pitchFamily="34" charset="-122"/>
            </a:endParaRPr>
          </a:p>
          <a:p>
            <a:pPr marL="285750" indent="-285750">
              <a:spcBef>
                <a:spcPts val="600"/>
              </a:spcBef>
              <a:buFont typeface="Wingdings" panose="05000000000000000000" pitchFamily="2" charset="2"/>
              <a:buChar char="Ø"/>
            </a:pPr>
            <a:r>
              <a:rPr lang="zh-CN" altLang="en-US" dirty="0">
                <a:solidFill>
                  <a:srgbClr val="3864B2"/>
                </a:solidFill>
                <a:latin typeface="微软雅黑" panose="020B0503020204020204" pitchFamily="34" charset="-122"/>
                <a:ea typeface="微软雅黑" panose="020B0503020204020204" pitchFamily="34" charset="-122"/>
              </a:rPr>
              <a:t>强强</a:t>
            </a:r>
            <a:r>
              <a:rPr lang="zh-CN" altLang="en-US" dirty="0" smtClean="0">
                <a:solidFill>
                  <a:srgbClr val="3864B2"/>
                </a:solidFill>
                <a:latin typeface="微软雅黑" panose="020B0503020204020204" pitchFamily="34" charset="-122"/>
                <a:ea typeface="微软雅黑" panose="020B0503020204020204" pitchFamily="34" charset="-122"/>
              </a:rPr>
              <a:t>联合</a:t>
            </a:r>
            <a:endParaRPr lang="en-US" altLang="zh-CN" dirty="0" smtClean="0">
              <a:solidFill>
                <a:srgbClr val="3864B2"/>
              </a:solidFill>
              <a:latin typeface="微软雅黑" panose="020B0503020204020204" pitchFamily="34" charset="-122"/>
              <a:ea typeface="微软雅黑" panose="020B0503020204020204" pitchFamily="34" charset="-122"/>
            </a:endParaRPr>
          </a:p>
          <a:p>
            <a:pPr marL="285750" indent="-285750">
              <a:spcBef>
                <a:spcPts val="600"/>
              </a:spcBef>
              <a:buFont typeface="Wingdings" panose="05000000000000000000" pitchFamily="2" charset="2"/>
              <a:buChar char="Ø"/>
            </a:pPr>
            <a:r>
              <a:rPr lang="zh-CN" altLang="en-US" dirty="0" smtClean="0">
                <a:solidFill>
                  <a:srgbClr val="3864B2"/>
                </a:solidFill>
                <a:latin typeface="微软雅黑" panose="020B0503020204020204" pitchFamily="34" charset="-122"/>
                <a:ea typeface="微软雅黑" panose="020B0503020204020204" pitchFamily="34" charset="-122"/>
              </a:rPr>
              <a:t>捕捉行业新机会</a:t>
            </a:r>
            <a:endParaRPr lang="zh-CN" altLang="en-US" dirty="0">
              <a:solidFill>
                <a:srgbClr val="3864B2"/>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338296" y="2206667"/>
            <a:ext cx="719847" cy="707886"/>
          </a:xfrm>
          <a:prstGeom prst="rect">
            <a:avLst/>
          </a:prstGeom>
          <a:noFill/>
          <a:ln>
            <a:solidFill>
              <a:schemeClr val="accent1"/>
            </a:solidFill>
          </a:ln>
        </p:spPr>
        <p:txBody>
          <a:bodyPr wrap="square" rtlCol="0">
            <a:spAutoFit/>
          </a:bodyPr>
          <a:lstStyle/>
          <a:p>
            <a:r>
              <a:rPr lang="zh-CN" altLang="en-US" sz="2000" dirty="0" smtClean="0">
                <a:solidFill>
                  <a:srgbClr val="3864B2"/>
                </a:solidFill>
                <a:latin typeface="微软雅黑" panose="020B0503020204020204" pitchFamily="34" charset="-122"/>
                <a:ea typeface="微软雅黑" panose="020B0503020204020204" pitchFamily="34" charset="-122"/>
              </a:rPr>
              <a:t>新域</a:t>
            </a:r>
            <a:endParaRPr lang="en-US" altLang="zh-CN" sz="2000" dirty="0" smtClean="0">
              <a:solidFill>
                <a:srgbClr val="3864B2"/>
              </a:solidFill>
              <a:latin typeface="微软雅黑" panose="020B0503020204020204" pitchFamily="34" charset="-122"/>
              <a:ea typeface="微软雅黑" panose="020B0503020204020204" pitchFamily="34" charset="-122"/>
            </a:endParaRPr>
          </a:p>
          <a:p>
            <a:r>
              <a:rPr lang="zh-CN" altLang="en-US" sz="2000" dirty="0">
                <a:solidFill>
                  <a:srgbClr val="3864B2"/>
                </a:solidFill>
                <a:latin typeface="微软雅黑" panose="020B0503020204020204" pitchFamily="34" charset="-122"/>
                <a:ea typeface="微软雅黑" panose="020B0503020204020204" pitchFamily="34" charset="-122"/>
              </a:rPr>
              <a:t>启程</a:t>
            </a:r>
          </a:p>
        </p:txBody>
      </p:sp>
      <p:pic>
        <p:nvPicPr>
          <p:cNvPr id="27" name="图片 26"/>
          <p:cNvPicPr>
            <a:picLocks noChangeAspect="1"/>
          </p:cNvPicPr>
          <p:nvPr/>
        </p:nvPicPr>
        <p:blipFill>
          <a:blip r:embed="rId5"/>
          <a:stretch>
            <a:fillRect/>
          </a:stretch>
        </p:blipFill>
        <p:spPr>
          <a:xfrm>
            <a:off x="6452441" y="3183555"/>
            <a:ext cx="2690553" cy="920452"/>
          </a:xfrm>
          <a:prstGeom prst="rect">
            <a:avLst/>
          </a:prstGeom>
        </p:spPr>
      </p:pic>
      <p:pic>
        <p:nvPicPr>
          <p:cNvPr id="28" name="图片 27"/>
          <p:cNvPicPr>
            <a:picLocks noChangeAspect="1"/>
          </p:cNvPicPr>
          <p:nvPr/>
        </p:nvPicPr>
        <p:blipFill>
          <a:blip r:embed="rId6"/>
          <a:stretch>
            <a:fillRect/>
          </a:stretch>
        </p:blipFill>
        <p:spPr>
          <a:xfrm>
            <a:off x="6588639" y="4387041"/>
            <a:ext cx="1549521" cy="765101"/>
          </a:xfrm>
          <a:prstGeom prst="rect">
            <a:avLst/>
          </a:prstGeom>
        </p:spPr>
      </p:pic>
      <p:pic>
        <p:nvPicPr>
          <p:cNvPr id="30" name="图片 29"/>
          <p:cNvPicPr>
            <a:picLocks noChangeAspect="1"/>
          </p:cNvPicPr>
          <p:nvPr/>
        </p:nvPicPr>
        <p:blipFill>
          <a:blip r:embed="rId7"/>
          <a:stretch>
            <a:fillRect/>
          </a:stretch>
        </p:blipFill>
        <p:spPr>
          <a:xfrm>
            <a:off x="6578914" y="5566516"/>
            <a:ext cx="3246241" cy="788182"/>
          </a:xfrm>
          <a:prstGeom prst="rect">
            <a:avLst/>
          </a:prstGeom>
        </p:spPr>
      </p:pic>
      <p:sp>
        <p:nvSpPr>
          <p:cNvPr id="31" name="文本框 30"/>
          <p:cNvSpPr txBox="1"/>
          <p:nvPr/>
        </p:nvSpPr>
        <p:spPr>
          <a:xfrm>
            <a:off x="8970274" y="4136687"/>
            <a:ext cx="2439406" cy="1323439"/>
          </a:xfrm>
          <a:prstGeom prst="rect">
            <a:avLst/>
          </a:prstGeom>
          <a:noFill/>
          <a:ln>
            <a:solidFill>
              <a:schemeClr val="accent1"/>
            </a:solidFill>
          </a:ln>
        </p:spPr>
        <p:txBody>
          <a:bodyPr wrap="square" rtlCol="0">
            <a:spAutoFit/>
          </a:bodyPr>
          <a:lstStyle/>
          <a:p>
            <a:r>
              <a:rPr lang="en-US" altLang="zh-CN" sz="2000" dirty="0" smtClean="0">
                <a:solidFill>
                  <a:srgbClr val="3864B2"/>
                </a:solidFill>
                <a:latin typeface="微软雅黑" panose="020B0503020204020204" pitchFamily="34" charset="-122"/>
                <a:ea typeface="微软雅黑" panose="020B0503020204020204" pitchFamily="34" charset="-122"/>
              </a:rPr>
              <a:t>SIG996</a:t>
            </a:r>
            <a:r>
              <a:rPr lang="zh-CN" altLang="en-US" sz="2000" dirty="0" smtClean="0">
                <a:solidFill>
                  <a:srgbClr val="3864B2"/>
                </a:solidFill>
                <a:latin typeface="微软雅黑" panose="020B0503020204020204" pitchFamily="34" charset="-122"/>
                <a:ea typeface="微软雅黑" panose="020B0503020204020204" pitchFamily="34" charset="-122"/>
              </a:rPr>
              <a:t>：海思之外首款支持</a:t>
            </a:r>
            <a:r>
              <a:rPr lang="en-US" altLang="zh-CN" sz="2000" dirty="0" smtClean="0">
                <a:solidFill>
                  <a:srgbClr val="3864B2"/>
                </a:solidFill>
                <a:latin typeface="微软雅黑" panose="020B0503020204020204" pitchFamily="34" charset="-122"/>
                <a:ea typeface="微软雅黑" panose="020B0503020204020204" pitchFamily="34" charset="-122"/>
              </a:rPr>
              <a:t>PLC-</a:t>
            </a:r>
            <a:r>
              <a:rPr lang="en-US" altLang="zh-CN" sz="2000" dirty="0" err="1" smtClean="0">
                <a:solidFill>
                  <a:srgbClr val="3864B2"/>
                </a:solidFill>
                <a:latin typeface="微软雅黑" panose="020B0503020204020204" pitchFamily="34" charset="-122"/>
                <a:ea typeface="微软雅黑" panose="020B0503020204020204" pitchFamily="34" charset="-122"/>
              </a:rPr>
              <a:t>IoT</a:t>
            </a:r>
            <a:r>
              <a:rPr lang="zh-CN" altLang="en-US" sz="2000" dirty="0" smtClean="0">
                <a:solidFill>
                  <a:srgbClr val="3864B2"/>
                </a:solidFill>
                <a:latin typeface="微软雅黑" panose="020B0503020204020204" pitchFamily="34" charset="-122"/>
                <a:ea typeface="微软雅黑" panose="020B0503020204020204" pitchFamily="34" charset="-122"/>
              </a:rPr>
              <a:t>智能家居总线方案的 </a:t>
            </a:r>
            <a:r>
              <a:rPr lang="en-US" altLang="zh-CN" sz="2000" dirty="0" smtClean="0">
                <a:solidFill>
                  <a:srgbClr val="3864B2"/>
                </a:solidFill>
                <a:latin typeface="微软雅黑" panose="020B0503020204020204" pitchFamily="34" charset="-122"/>
                <a:ea typeface="微软雅黑" panose="020B0503020204020204" pitchFamily="34" charset="-122"/>
              </a:rPr>
              <a:t>HPLC</a:t>
            </a:r>
            <a:r>
              <a:rPr lang="zh-CN" altLang="en-US" sz="2000" dirty="0" smtClean="0">
                <a:solidFill>
                  <a:srgbClr val="3864B2"/>
                </a:solidFill>
                <a:latin typeface="微软雅黑" panose="020B0503020204020204" pitchFamily="34" charset="-122"/>
                <a:ea typeface="微软雅黑" panose="020B0503020204020204" pitchFamily="34" charset="-122"/>
              </a:rPr>
              <a:t>芯片</a:t>
            </a:r>
            <a:endParaRPr lang="zh-CN" altLang="en-US" sz="2000" dirty="0">
              <a:solidFill>
                <a:srgbClr val="3864B2"/>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8"/>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3479334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smtClean="0">
                <a:solidFill>
                  <a:srgbClr val="0078FF"/>
                </a:solidFill>
              </a:rPr>
              <a:t>财务</a:t>
            </a:r>
            <a:r>
              <a:rPr kumimoji="1" lang="zh-CN" altLang="en-US" dirty="0">
                <a:solidFill>
                  <a:srgbClr val="0078FF"/>
                </a:solidFill>
              </a:rPr>
              <a:t>预测</a:t>
            </a: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grpSp>
        <p:nvGrpSpPr>
          <p:cNvPr id="3" name="组合 2"/>
          <p:cNvGrpSpPr/>
          <p:nvPr/>
        </p:nvGrpSpPr>
        <p:grpSpPr>
          <a:xfrm>
            <a:off x="1493520" y="1595120"/>
            <a:ext cx="8879840" cy="4964135"/>
            <a:chOff x="2169928" y="1945100"/>
            <a:chExt cx="7565226" cy="4614155"/>
          </a:xfrm>
        </p:grpSpPr>
        <p:grpSp>
          <p:nvGrpSpPr>
            <p:cNvPr id="7" name="组合 6"/>
            <p:cNvGrpSpPr/>
            <p:nvPr/>
          </p:nvGrpSpPr>
          <p:grpSpPr>
            <a:xfrm>
              <a:off x="2169928" y="3115848"/>
              <a:ext cx="3655256" cy="3443407"/>
              <a:chOff x="4397700" y="2226470"/>
              <a:chExt cx="4855060" cy="3443407"/>
            </a:xfrm>
          </p:grpSpPr>
          <p:sp>
            <p:nvSpPr>
              <p:cNvPr id="9" name="L 形 8"/>
              <p:cNvSpPr/>
              <p:nvPr/>
            </p:nvSpPr>
            <p:spPr>
              <a:xfrm rot="5400000">
                <a:off x="4885038" y="3173960"/>
                <a:ext cx="1375934" cy="2289523"/>
              </a:xfrm>
              <a:prstGeom prst="corner">
                <a:avLst>
                  <a:gd name="adj1" fmla="val 16120"/>
                  <a:gd name="adj2" fmla="val 16110"/>
                </a:avLst>
              </a:prstGeom>
            </p:spPr>
            <p:style>
              <a:lnRef idx="2">
                <a:schemeClr val="accent5">
                  <a:hueOff val="-5675477"/>
                  <a:satOff val="8616"/>
                  <a:lumOff val="-15097"/>
                  <a:alphaOff val="0"/>
                </a:schemeClr>
              </a:lnRef>
              <a:fillRef idx="1">
                <a:schemeClr val="accent5">
                  <a:hueOff val="-5675477"/>
                  <a:satOff val="8616"/>
                  <a:lumOff val="-15097"/>
                  <a:alphaOff val="0"/>
                </a:schemeClr>
              </a:fillRef>
              <a:effectRef idx="0">
                <a:schemeClr val="accent5">
                  <a:hueOff val="-5675477"/>
                  <a:satOff val="8616"/>
                  <a:lumOff val="-15097"/>
                  <a:alphaOff val="0"/>
                </a:schemeClr>
              </a:effectRef>
              <a:fontRef idx="minor">
                <a:schemeClr val="lt1"/>
              </a:fontRef>
            </p:style>
            <p:txBody>
              <a:bodyPr/>
              <a:lstStyle/>
              <a:p>
                <a:endParaRPr lang="zh-CN" altLang="en-US" sz="2000" dirty="0"/>
              </a:p>
            </p:txBody>
          </p:sp>
          <p:sp>
            <p:nvSpPr>
              <p:cNvPr id="10" name="任意多边形 9"/>
              <p:cNvSpPr/>
              <p:nvPr/>
            </p:nvSpPr>
            <p:spPr>
              <a:xfrm>
                <a:off x="4655361" y="3858035"/>
                <a:ext cx="2066994" cy="1811842"/>
              </a:xfrm>
              <a:custGeom>
                <a:avLst/>
                <a:gdLst>
                  <a:gd name="connsiteX0" fmla="*/ 0 w 2066994"/>
                  <a:gd name="connsiteY0" fmla="*/ 0 h 1811842"/>
                  <a:gd name="connsiteX1" fmla="*/ 2066994 w 2066994"/>
                  <a:gd name="connsiteY1" fmla="*/ 0 h 1811842"/>
                  <a:gd name="connsiteX2" fmla="*/ 2066994 w 2066994"/>
                  <a:gd name="connsiteY2" fmla="*/ 1811842 h 1811842"/>
                  <a:gd name="connsiteX3" fmla="*/ 0 w 2066994"/>
                  <a:gd name="connsiteY3" fmla="*/ 1811842 h 1811842"/>
                  <a:gd name="connsiteX4" fmla="*/ 0 w 2066994"/>
                  <a:gd name="connsiteY4" fmla="*/ 0 h 1811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994" h="1811842">
                    <a:moveTo>
                      <a:pt x="0" y="0"/>
                    </a:moveTo>
                    <a:lnTo>
                      <a:pt x="2066994" y="0"/>
                    </a:lnTo>
                    <a:lnTo>
                      <a:pt x="2066994" y="1811842"/>
                    </a:lnTo>
                    <a:lnTo>
                      <a:pt x="0" y="181184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0" tIns="209550" rIns="209550" bIns="209550" numCol="1" spcCol="1270" anchor="t" anchorCtr="0">
                <a:noAutofit/>
              </a:bodyPr>
              <a:lstStyle/>
              <a:p>
                <a:pPr lvl="0" algn="l" defTabSz="2444750">
                  <a:lnSpc>
                    <a:spcPct val="90000"/>
                  </a:lnSpc>
                  <a:spcBef>
                    <a:spcPct val="0"/>
                  </a:spcBef>
                  <a:spcAft>
                    <a:spcPct val="35000"/>
                  </a:spcAft>
                </a:pPr>
                <a:endParaRPr lang="zh-CN" altLang="en-US" sz="6000" kern="1200"/>
              </a:p>
            </p:txBody>
          </p:sp>
          <p:sp>
            <p:nvSpPr>
              <p:cNvPr id="11" name="等腰三角形 10"/>
              <p:cNvSpPr/>
              <p:nvPr/>
            </p:nvSpPr>
            <p:spPr>
              <a:xfrm>
                <a:off x="6332356" y="3005403"/>
                <a:ext cx="389999" cy="389999"/>
              </a:xfrm>
              <a:prstGeom prst="triangle">
                <a:avLst>
                  <a:gd name="adj" fmla="val 100000"/>
                </a:avLst>
              </a:prstGeom>
            </p:spPr>
            <p:style>
              <a:lnRef idx="2">
                <a:schemeClr val="accent5">
                  <a:hueOff val="-5675477"/>
                  <a:satOff val="8616"/>
                  <a:lumOff val="-15097"/>
                  <a:alphaOff val="0"/>
                </a:schemeClr>
              </a:lnRef>
              <a:fillRef idx="1">
                <a:schemeClr val="accent5">
                  <a:hueOff val="-5675477"/>
                  <a:satOff val="8616"/>
                  <a:lumOff val="-15097"/>
                  <a:alphaOff val="0"/>
                </a:schemeClr>
              </a:fillRef>
              <a:effectRef idx="0">
                <a:schemeClr val="accent5">
                  <a:hueOff val="-5675477"/>
                  <a:satOff val="8616"/>
                  <a:lumOff val="-15097"/>
                  <a:alphaOff val="0"/>
                </a:schemeClr>
              </a:effectRef>
              <a:fontRef idx="minor">
                <a:schemeClr val="lt1"/>
              </a:fontRef>
            </p:style>
          </p:sp>
          <p:sp>
            <p:nvSpPr>
              <p:cNvPr id="12" name="L 形 11"/>
              <p:cNvSpPr/>
              <p:nvPr/>
            </p:nvSpPr>
            <p:spPr>
              <a:xfrm rot="5400000">
                <a:off x="7415444" y="2547809"/>
                <a:ext cx="1375934" cy="2289523"/>
              </a:xfrm>
              <a:prstGeom prst="corner">
                <a:avLst>
                  <a:gd name="adj1" fmla="val 16120"/>
                  <a:gd name="adj2" fmla="val 16110"/>
                </a:avLst>
              </a:prstGeom>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sp>
          <p:sp>
            <p:nvSpPr>
              <p:cNvPr id="13" name="任意多边形 12"/>
              <p:cNvSpPr/>
              <p:nvPr/>
            </p:nvSpPr>
            <p:spPr>
              <a:xfrm>
                <a:off x="7185766" y="3231883"/>
                <a:ext cx="2066994" cy="1811842"/>
              </a:xfrm>
              <a:custGeom>
                <a:avLst/>
                <a:gdLst>
                  <a:gd name="connsiteX0" fmla="*/ 0 w 2066994"/>
                  <a:gd name="connsiteY0" fmla="*/ 0 h 1811842"/>
                  <a:gd name="connsiteX1" fmla="*/ 2066994 w 2066994"/>
                  <a:gd name="connsiteY1" fmla="*/ 0 h 1811842"/>
                  <a:gd name="connsiteX2" fmla="*/ 2066994 w 2066994"/>
                  <a:gd name="connsiteY2" fmla="*/ 1811842 h 1811842"/>
                  <a:gd name="connsiteX3" fmla="*/ 0 w 2066994"/>
                  <a:gd name="connsiteY3" fmla="*/ 1811842 h 1811842"/>
                  <a:gd name="connsiteX4" fmla="*/ 0 w 2066994"/>
                  <a:gd name="connsiteY4" fmla="*/ 0 h 1811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994" h="1811842">
                    <a:moveTo>
                      <a:pt x="0" y="0"/>
                    </a:moveTo>
                    <a:lnTo>
                      <a:pt x="2066994" y="0"/>
                    </a:lnTo>
                    <a:lnTo>
                      <a:pt x="2066994" y="1811842"/>
                    </a:lnTo>
                    <a:lnTo>
                      <a:pt x="0" y="181184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9550" tIns="209550" rIns="209550" bIns="209550" numCol="1" spcCol="1270" anchor="t" anchorCtr="0">
                <a:noAutofit/>
              </a:bodyPr>
              <a:lstStyle/>
              <a:p>
                <a:pPr lvl="0" algn="l" defTabSz="2444750">
                  <a:lnSpc>
                    <a:spcPct val="90000"/>
                  </a:lnSpc>
                  <a:spcBef>
                    <a:spcPct val="0"/>
                  </a:spcBef>
                  <a:spcAft>
                    <a:spcPct val="35000"/>
                  </a:spcAft>
                </a:pPr>
                <a:endParaRPr lang="zh-CN" altLang="en-US" sz="6000" kern="1200"/>
              </a:p>
            </p:txBody>
          </p:sp>
          <p:sp>
            <p:nvSpPr>
              <p:cNvPr id="14" name="矩形 13"/>
              <p:cNvSpPr/>
              <p:nvPr/>
            </p:nvSpPr>
            <p:spPr>
              <a:xfrm>
                <a:off x="4397700" y="2965134"/>
                <a:ext cx="1789545" cy="543547"/>
              </a:xfrm>
              <a:prstGeom prst="rect">
                <a:avLst/>
              </a:prstGeom>
            </p:spPr>
            <p:txBody>
              <a:bodyPr wrap="square">
                <a:spAutoFit/>
              </a:bodyPr>
              <a:lstStyle/>
              <a:p>
                <a:r>
                  <a:rPr lang="en-US" altLang="zh-CN" sz="1600" b="1" dirty="0">
                    <a:solidFill>
                      <a:srgbClr val="002060"/>
                    </a:solidFill>
                    <a:latin typeface="微软雅黑" pitchFamily="34" charset="-122"/>
                    <a:ea typeface="微软雅黑" pitchFamily="34" charset="-122"/>
                  </a:rPr>
                  <a:t>2021</a:t>
                </a:r>
                <a:r>
                  <a:rPr lang="zh-CN" altLang="en-US" sz="1600" b="1" dirty="0">
                    <a:solidFill>
                      <a:srgbClr val="002060"/>
                    </a:solidFill>
                    <a:latin typeface="微软雅黑" pitchFamily="34" charset="-122"/>
                    <a:ea typeface="微软雅黑" pitchFamily="34" charset="-122"/>
                  </a:rPr>
                  <a:t>：</a:t>
                </a:r>
                <a:endParaRPr lang="en-US" altLang="zh-CN" sz="1600" b="1" dirty="0">
                  <a:solidFill>
                    <a:srgbClr val="002060"/>
                  </a:solidFill>
                  <a:latin typeface="微软雅黑" pitchFamily="34" charset="-122"/>
                  <a:ea typeface="微软雅黑" pitchFamily="34" charset="-122"/>
                </a:endParaRPr>
              </a:p>
              <a:p>
                <a:r>
                  <a:rPr lang="zh-CN" altLang="en-US" sz="1600" b="1" dirty="0">
                    <a:solidFill>
                      <a:srgbClr val="002060"/>
                    </a:solidFill>
                    <a:latin typeface="微软雅黑" pitchFamily="34" charset="-122"/>
                    <a:ea typeface="微软雅黑" pitchFamily="34" charset="-122"/>
                  </a:rPr>
                  <a:t>规模量</a:t>
                </a:r>
                <a:r>
                  <a:rPr lang="zh-CN" altLang="en-US" sz="1600" b="1" dirty="0" smtClean="0">
                    <a:solidFill>
                      <a:srgbClr val="002060"/>
                    </a:solidFill>
                    <a:latin typeface="微软雅黑" pitchFamily="34" charset="-122"/>
                    <a:ea typeface="微软雅黑" pitchFamily="34" charset="-122"/>
                  </a:rPr>
                  <a:t>产</a:t>
                </a:r>
                <a:r>
                  <a:rPr lang="en-US" altLang="zh-CN" sz="1600" b="1" dirty="0" smtClean="0">
                    <a:solidFill>
                      <a:srgbClr val="002060"/>
                    </a:solidFill>
                    <a:latin typeface="微软雅黑" pitchFamily="34" charset="-122"/>
                    <a:ea typeface="微软雅黑" pitchFamily="34" charset="-122"/>
                  </a:rPr>
                  <a:t>KK</a:t>
                </a:r>
                <a:r>
                  <a:rPr lang="zh-CN" altLang="en-US" sz="1600" b="1" dirty="0" smtClean="0">
                    <a:solidFill>
                      <a:srgbClr val="002060"/>
                    </a:solidFill>
                    <a:latin typeface="微软雅黑" pitchFamily="34" charset="-122"/>
                    <a:ea typeface="微软雅黑" pitchFamily="34" charset="-122"/>
                  </a:rPr>
                  <a:t>级</a:t>
                </a:r>
                <a:endParaRPr lang="en-US" altLang="zh-CN" sz="1600" b="1" dirty="0">
                  <a:solidFill>
                    <a:srgbClr val="002060"/>
                  </a:solidFill>
                  <a:latin typeface="微软雅黑" pitchFamily="34" charset="-122"/>
                  <a:ea typeface="微软雅黑" pitchFamily="34" charset="-122"/>
                </a:endParaRPr>
              </a:p>
            </p:txBody>
          </p:sp>
          <p:sp>
            <p:nvSpPr>
              <p:cNvPr id="15" name="矩形 14"/>
              <p:cNvSpPr/>
              <p:nvPr/>
            </p:nvSpPr>
            <p:spPr>
              <a:xfrm>
                <a:off x="6964598" y="2226470"/>
                <a:ext cx="1595828" cy="772410"/>
              </a:xfrm>
              <a:prstGeom prst="rect">
                <a:avLst/>
              </a:prstGeom>
            </p:spPr>
            <p:txBody>
              <a:bodyPr wrap="square">
                <a:spAutoFit/>
              </a:bodyPr>
              <a:lstStyle/>
              <a:p>
                <a:r>
                  <a:rPr lang="en-US" altLang="zh-CN" sz="1600" b="1" dirty="0">
                    <a:solidFill>
                      <a:srgbClr val="002060"/>
                    </a:solidFill>
                    <a:latin typeface="微软雅黑" pitchFamily="34" charset="-122"/>
                    <a:ea typeface="微软雅黑" pitchFamily="34" charset="-122"/>
                  </a:rPr>
                  <a:t>2022</a:t>
                </a:r>
                <a:r>
                  <a:rPr lang="zh-CN" altLang="en-US" sz="1600" b="1" dirty="0">
                    <a:solidFill>
                      <a:srgbClr val="002060"/>
                    </a:solidFill>
                    <a:latin typeface="微软雅黑" pitchFamily="34" charset="-122"/>
                    <a:ea typeface="微软雅黑" pitchFamily="34" charset="-122"/>
                  </a:rPr>
                  <a:t>：</a:t>
                </a:r>
                <a:endParaRPr lang="en-US" altLang="zh-CN" sz="1600" b="1" dirty="0">
                  <a:solidFill>
                    <a:srgbClr val="002060"/>
                  </a:solidFill>
                  <a:latin typeface="微软雅黑" pitchFamily="34" charset="-122"/>
                  <a:ea typeface="微软雅黑" pitchFamily="34" charset="-122"/>
                </a:endParaRPr>
              </a:p>
              <a:p>
                <a:r>
                  <a:rPr lang="zh-CN" altLang="en-US" sz="1600" b="1" dirty="0" smtClean="0">
                    <a:solidFill>
                      <a:srgbClr val="002060"/>
                    </a:solidFill>
                    <a:latin typeface="微软雅黑" pitchFamily="34" charset="-122"/>
                    <a:ea typeface="微软雅黑" pitchFamily="34" charset="-122"/>
                  </a:rPr>
                  <a:t>综合销量进入行业前列</a:t>
                </a:r>
                <a:endParaRPr lang="zh-CN" altLang="en-US" sz="1600" b="1" dirty="0">
                  <a:solidFill>
                    <a:srgbClr val="002060"/>
                  </a:solidFill>
                  <a:latin typeface="微软雅黑" pitchFamily="34" charset="-122"/>
                  <a:ea typeface="微软雅黑" pitchFamily="34" charset="-122"/>
                </a:endParaRPr>
              </a:p>
            </p:txBody>
          </p:sp>
        </p:grpSp>
        <p:sp>
          <p:nvSpPr>
            <p:cNvPr id="16" name="矩形 15"/>
            <p:cNvSpPr/>
            <p:nvPr/>
          </p:nvSpPr>
          <p:spPr>
            <a:xfrm>
              <a:off x="2440175" y="4777093"/>
              <a:ext cx="1427959" cy="261610"/>
            </a:xfrm>
            <a:prstGeom prst="rect">
              <a:avLst/>
            </a:prstGeom>
          </p:spPr>
          <p:txBody>
            <a:bodyPr wrap="square">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营业收入</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3</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000</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万</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17" name="等腰三角形 16"/>
            <p:cNvSpPr/>
            <p:nvPr/>
          </p:nvSpPr>
          <p:spPr>
            <a:xfrm>
              <a:off x="5516331" y="3268809"/>
              <a:ext cx="293621" cy="389999"/>
            </a:xfrm>
            <a:prstGeom prst="triangle">
              <a:avLst>
                <a:gd name="adj" fmla="val 100000"/>
              </a:avLst>
            </a:prstGeom>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sp>
        <p:sp>
          <p:nvSpPr>
            <p:cNvPr id="18" name="L 形 17"/>
            <p:cNvSpPr/>
            <p:nvPr/>
          </p:nvSpPr>
          <p:spPr>
            <a:xfrm rot="5400000">
              <a:off x="6144031" y="3113106"/>
              <a:ext cx="1375934" cy="1723726"/>
            </a:xfrm>
            <a:prstGeom prst="corner">
              <a:avLst>
                <a:gd name="adj1" fmla="val 16120"/>
                <a:gd name="adj2" fmla="val 16110"/>
              </a:avLst>
            </a:prstGeom>
            <a:solidFill>
              <a:schemeClr val="accent6">
                <a:lumMod val="75000"/>
              </a:schemeClr>
            </a:solidFill>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sp>
        <p:sp>
          <p:nvSpPr>
            <p:cNvPr id="19" name="矩形 18"/>
            <p:cNvSpPr/>
            <p:nvPr/>
          </p:nvSpPr>
          <p:spPr>
            <a:xfrm>
              <a:off x="5981914" y="2444194"/>
              <a:ext cx="1701343" cy="772410"/>
            </a:xfrm>
            <a:prstGeom prst="rect">
              <a:avLst/>
            </a:prstGeom>
          </p:spPr>
          <p:txBody>
            <a:bodyPr wrap="square">
              <a:spAutoFit/>
            </a:bodyPr>
            <a:lstStyle/>
            <a:p>
              <a:r>
                <a:rPr lang="en-US" altLang="zh-CN" sz="1600" b="1" dirty="0">
                  <a:solidFill>
                    <a:srgbClr val="002060"/>
                  </a:solidFill>
                  <a:latin typeface="微软雅黑" pitchFamily="34" charset="-122"/>
                  <a:ea typeface="微软雅黑" pitchFamily="34" charset="-122"/>
                </a:rPr>
                <a:t>2023</a:t>
              </a:r>
              <a:r>
                <a:rPr lang="zh-CN" altLang="en-US" sz="1600" b="1" dirty="0">
                  <a:solidFill>
                    <a:srgbClr val="002060"/>
                  </a:solidFill>
                  <a:latin typeface="微软雅黑" pitchFamily="34" charset="-122"/>
                  <a:ea typeface="微软雅黑" pitchFamily="34" charset="-122"/>
                </a:rPr>
                <a:t>：全场景连接技术供应商</a:t>
              </a:r>
              <a:endParaRPr lang="en-US" altLang="zh-CN" sz="1600" b="1" dirty="0">
                <a:solidFill>
                  <a:srgbClr val="002060"/>
                </a:solidFill>
                <a:latin typeface="微软雅黑" pitchFamily="34" charset="-122"/>
                <a:ea typeface="微软雅黑" pitchFamily="34" charset="-122"/>
              </a:endParaRPr>
            </a:p>
            <a:p>
              <a:r>
                <a:rPr lang="zh-CN" altLang="en-US" sz="1600" b="1" dirty="0">
                  <a:solidFill>
                    <a:srgbClr val="002060"/>
                  </a:solidFill>
                  <a:latin typeface="微软雅黑" pitchFamily="34" charset="-122"/>
                  <a:ea typeface="微软雅黑" pitchFamily="34" charset="-122"/>
                </a:rPr>
                <a:t>芯片</a:t>
              </a:r>
              <a:r>
                <a:rPr lang="en-US" altLang="zh-CN" sz="1600" b="1" dirty="0">
                  <a:solidFill>
                    <a:srgbClr val="002060"/>
                  </a:solidFill>
                  <a:latin typeface="微软雅黑" pitchFamily="34" charset="-122"/>
                  <a:ea typeface="微软雅黑" pitchFamily="34" charset="-122"/>
                </a:rPr>
                <a:t>/</a:t>
              </a:r>
              <a:r>
                <a:rPr lang="zh-CN" altLang="en-US" sz="1600" b="1" dirty="0">
                  <a:solidFill>
                    <a:srgbClr val="002060"/>
                  </a:solidFill>
                  <a:latin typeface="微软雅黑" pitchFamily="34" charset="-122"/>
                  <a:ea typeface="微软雅黑" pitchFamily="34" charset="-122"/>
                </a:rPr>
                <a:t>模组</a:t>
              </a:r>
              <a:r>
                <a:rPr lang="en-US" altLang="zh-CN" sz="1600" b="1" dirty="0">
                  <a:solidFill>
                    <a:srgbClr val="002060"/>
                  </a:solidFill>
                  <a:latin typeface="微软雅黑" pitchFamily="34" charset="-122"/>
                  <a:ea typeface="微软雅黑" pitchFamily="34" charset="-122"/>
                </a:rPr>
                <a:t>/</a:t>
              </a:r>
              <a:r>
                <a:rPr lang="zh-CN" altLang="en-US" sz="1600" b="1" dirty="0">
                  <a:solidFill>
                    <a:srgbClr val="002060"/>
                  </a:solidFill>
                  <a:latin typeface="微软雅黑" pitchFamily="34" charset="-122"/>
                  <a:ea typeface="微软雅黑" pitchFamily="34" charset="-122"/>
                </a:rPr>
                <a:t>方案</a:t>
              </a:r>
            </a:p>
          </p:txBody>
        </p:sp>
        <p:sp>
          <p:nvSpPr>
            <p:cNvPr id="20" name="矩形 19"/>
            <p:cNvSpPr/>
            <p:nvPr/>
          </p:nvSpPr>
          <p:spPr>
            <a:xfrm>
              <a:off x="4366287" y="4161399"/>
              <a:ext cx="1284343" cy="769441"/>
            </a:xfrm>
            <a:prstGeom prst="rect">
              <a:avLst/>
            </a:prstGeom>
          </p:spPr>
          <p:txBody>
            <a:bodyPr wrap="square">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营业收入：</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1 </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1" dirty="0" smtClean="0">
                  <a:solidFill>
                    <a:srgbClr val="FF0000"/>
                  </a:solidFill>
                  <a:latin typeface="微软雅黑" panose="020B0503020204020204" pitchFamily="34" charset="-122"/>
                  <a:ea typeface="微软雅黑" panose="020B0503020204020204" pitchFamily="34" charset="-122"/>
                </a:rPr>
                <a:t>盈利：</a:t>
              </a:r>
              <a:r>
                <a:rPr lang="en-US" altLang="zh-CN" sz="1200" b="1" dirty="0" smtClean="0">
                  <a:solidFill>
                    <a:srgbClr val="FF0000"/>
                  </a:solidFill>
                  <a:latin typeface="微软雅黑" panose="020B0503020204020204" pitchFamily="34" charset="-122"/>
                  <a:ea typeface="微软雅黑" panose="020B0503020204020204" pitchFamily="34" charset="-122"/>
                </a:rPr>
                <a:t>50</a:t>
              </a:r>
              <a:r>
                <a:rPr lang="zh-CN" altLang="en-US" sz="1200" b="1" dirty="0" smtClean="0">
                  <a:solidFill>
                    <a:srgbClr val="FF0000"/>
                  </a:solidFill>
                  <a:latin typeface="微软雅黑" panose="020B0503020204020204" pitchFamily="34" charset="-122"/>
                  <a:ea typeface="微软雅黑" panose="020B0503020204020204" pitchFamily="34" charset="-122"/>
                </a:rPr>
                <a:t>万</a:t>
              </a:r>
              <a:endParaRPr lang="en-US" altLang="zh-CN" sz="1200" b="1" dirty="0">
                <a:solidFill>
                  <a:srgbClr val="FF0000"/>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估值</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10</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PS</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10</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倍</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6197559" y="3593900"/>
              <a:ext cx="1412464" cy="938719"/>
            </a:xfrm>
            <a:prstGeom prst="rect">
              <a:avLst/>
            </a:prstGeom>
          </p:spPr>
          <p:txBody>
            <a:bodyPr wrap="square">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营业收入</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4</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1" dirty="0" smtClean="0">
                  <a:solidFill>
                    <a:srgbClr val="FF0000"/>
                  </a:solidFill>
                  <a:latin typeface="微软雅黑" panose="020B0503020204020204" pitchFamily="34" charset="-122"/>
                  <a:ea typeface="微软雅黑" panose="020B0503020204020204" pitchFamily="34" charset="-122"/>
                </a:rPr>
                <a:t>盈利：</a:t>
              </a:r>
              <a:r>
                <a:rPr lang="en-US" altLang="zh-CN" sz="1200" b="1" dirty="0" smtClean="0">
                  <a:solidFill>
                    <a:srgbClr val="FF0000"/>
                  </a:solidFill>
                  <a:latin typeface="微软雅黑" panose="020B0503020204020204" pitchFamily="34" charset="-122"/>
                  <a:ea typeface="微软雅黑" panose="020B0503020204020204" pitchFamily="34" charset="-122"/>
                </a:rPr>
                <a:t>8000</a:t>
              </a:r>
              <a:r>
                <a:rPr lang="zh-CN" altLang="en-US" sz="1200" b="1" dirty="0" smtClean="0">
                  <a:solidFill>
                    <a:srgbClr val="FF0000"/>
                  </a:solidFill>
                  <a:latin typeface="微软雅黑" panose="020B0503020204020204" pitchFamily="34" charset="-122"/>
                  <a:ea typeface="微软雅黑" panose="020B0503020204020204" pitchFamily="34" charset="-122"/>
                </a:rPr>
                <a:t>万</a:t>
              </a:r>
              <a:endParaRPr lang="en-US" altLang="zh-CN" sz="1200" b="1" dirty="0">
                <a:solidFill>
                  <a:srgbClr val="FF0000"/>
                </a:solidFill>
                <a:latin typeface="微软雅黑" panose="020B0503020204020204" pitchFamily="34" charset="-122"/>
                <a:ea typeface="微软雅黑" panose="020B0503020204020204" pitchFamily="34" charset="-122"/>
              </a:endParaRPr>
            </a:p>
            <a:p>
              <a:r>
                <a:rPr lang="zh-CN" altLang="en-US" sz="1200" dirty="0">
                  <a:solidFill>
                    <a:schemeClr val="bg1">
                      <a:lumMod val="50000"/>
                    </a:schemeClr>
                  </a:solidFill>
                  <a:latin typeface="微软雅黑" panose="020B0503020204020204" pitchFamily="34" charset="-122"/>
                  <a:ea typeface="微软雅黑" panose="020B0503020204020204" pitchFamily="34" charset="-122"/>
                </a:rPr>
                <a:t>估值</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32</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a:p>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PE</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40</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倍</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PS</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8</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倍</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8601645" y="4941700"/>
              <a:ext cx="656756" cy="369332"/>
            </a:xfrm>
            <a:prstGeom prst="rect">
              <a:avLst/>
            </a:prstGeom>
          </p:spPr>
          <p:txBody>
            <a:bodyPr wrap="square">
              <a:spAutoFit/>
            </a:bodyPr>
            <a:lstStyle/>
            <a:p>
              <a:r>
                <a:rPr lang="en-US" altLang="zh-CN" sz="2000" b="1" dirty="0">
                  <a:solidFill>
                    <a:srgbClr val="002060"/>
                  </a:solidFill>
                  <a:latin typeface="微软雅黑" pitchFamily="34" charset="-122"/>
                  <a:ea typeface="微软雅黑" pitchFamily="34" charset="-122"/>
                </a:rPr>
                <a:t>IPO</a:t>
              </a:r>
              <a:endParaRPr lang="zh-CN" altLang="en-US" sz="2000" b="1" dirty="0">
                <a:solidFill>
                  <a:srgbClr val="002060"/>
                </a:solidFill>
                <a:latin typeface="微软雅黑" pitchFamily="34" charset="-122"/>
                <a:ea typeface="微软雅黑" pitchFamily="34" charset="-122"/>
              </a:endParaRPr>
            </a:p>
          </p:txBody>
        </p:sp>
        <p:sp>
          <p:nvSpPr>
            <p:cNvPr id="23" name="L 形 22"/>
            <p:cNvSpPr/>
            <p:nvPr/>
          </p:nvSpPr>
          <p:spPr>
            <a:xfrm rot="5400000">
              <a:off x="8064856" y="2509868"/>
              <a:ext cx="1375934" cy="1723726"/>
            </a:xfrm>
            <a:prstGeom prst="corner">
              <a:avLst>
                <a:gd name="adj1" fmla="val 16120"/>
                <a:gd name="adj2" fmla="val 16110"/>
              </a:avLst>
            </a:prstGeom>
            <a:solidFill>
              <a:schemeClr val="bg2">
                <a:lumMod val="50000"/>
              </a:schemeClr>
            </a:solidFill>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sp>
        <p:sp>
          <p:nvSpPr>
            <p:cNvPr id="24" name="等腰三角形 23"/>
            <p:cNvSpPr/>
            <p:nvPr/>
          </p:nvSpPr>
          <p:spPr>
            <a:xfrm>
              <a:off x="7415129" y="2740429"/>
              <a:ext cx="293621" cy="389999"/>
            </a:xfrm>
            <a:prstGeom prst="triangle">
              <a:avLst>
                <a:gd name="adj" fmla="val 100000"/>
              </a:avLst>
            </a:prstGeom>
            <a:solidFill>
              <a:schemeClr val="accent6">
                <a:lumMod val="75000"/>
              </a:schemeClr>
            </a:solidFill>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sp>
        <p:sp>
          <p:nvSpPr>
            <p:cNvPr id="25" name="矩形 24"/>
            <p:cNvSpPr/>
            <p:nvPr/>
          </p:nvSpPr>
          <p:spPr>
            <a:xfrm>
              <a:off x="8168894" y="2968727"/>
              <a:ext cx="1156415" cy="938719"/>
            </a:xfrm>
            <a:prstGeom prst="rect">
              <a:avLst/>
            </a:prstGeom>
          </p:spPr>
          <p:txBody>
            <a:bodyPr wrap="square">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营业收入</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9</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1" dirty="0" smtClean="0">
                  <a:solidFill>
                    <a:srgbClr val="FF0000"/>
                  </a:solidFill>
                  <a:latin typeface="微软雅黑" panose="020B0503020204020204" pitchFamily="34" charset="-122"/>
                  <a:ea typeface="微软雅黑" panose="020B0503020204020204" pitchFamily="34" charset="-122"/>
                </a:rPr>
                <a:t>盈利：</a:t>
              </a:r>
              <a:r>
                <a:rPr lang="en-US" altLang="zh-CN" sz="1200" b="1" dirty="0" smtClean="0">
                  <a:solidFill>
                    <a:srgbClr val="FF0000"/>
                  </a:solidFill>
                  <a:latin typeface="微软雅黑" panose="020B0503020204020204" pitchFamily="34" charset="-122"/>
                  <a:ea typeface="微软雅黑" panose="020B0503020204020204" pitchFamily="34" charset="-122"/>
                </a:rPr>
                <a:t>1.8</a:t>
              </a:r>
              <a:r>
                <a:rPr lang="zh-CN" altLang="en-US" sz="1200" b="1" dirty="0" smtClean="0">
                  <a:solidFill>
                    <a:srgbClr val="FF0000"/>
                  </a:solidFill>
                  <a:latin typeface="微软雅黑" panose="020B0503020204020204" pitchFamily="34" charset="-122"/>
                  <a:ea typeface="微软雅黑" panose="020B0503020204020204" pitchFamily="34" charset="-122"/>
                </a:rPr>
                <a:t>亿</a:t>
              </a:r>
            </a:p>
            <a:p>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市值：</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72</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亿</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PE</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40</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倍</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PS</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8</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倍</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6" name="矩形 25"/>
            <p:cNvSpPr/>
            <p:nvPr/>
          </p:nvSpPr>
          <p:spPr>
            <a:xfrm>
              <a:off x="7844250" y="1945100"/>
              <a:ext cx="1890904" cy="772410"/>
            </a:xfrm>
            <a:prstGeom prst="rect">
              <a:avLst/>
            </a:prstGeom>
          </p:spPr>
          <p:txBody>
            <a:bodyPr wrap="square">
              <a:spAutoFit/>
            </a:bodyPr>
            <a:lstStyle/>
            <a:p>
              <a:r>
                <a:rPr lang="en-US" altLang="zh-CN" sz="1600" b="1" dirty="0" smtClean="0">
                  <a:solidFill>
                    <a:srgbClr val="002060"/>
                  </a:solidFill>
                  <a:latin typeface="微软雅黑" pitchFamily="34" charset="-122"/>
                  <a:ea typeface="微软雅黑" pitchFamily="34" charset="-122"/>
                </a:rPr>
                <a:t>2024</a:t>
              </a:r>
              <a:r>
                <a:rPr lang="zh-CN" altLang="en-US" sz="1600" b="1" dirty="0" smtClean="0">
                  <a:solidFill>
                    <a:srgbClr val="002060"/>
                  </a:solidFill>
                  <a:latin typeface="微软雅黑" pitchFamily="34" charset="-122"/>
                  <a:ea typeface="微软雅黑" pitchFamily="34" charset="-122"/>
                </a:rPr>
                <a:t>：</a:t>
              </a:r>
              <a:r>
                <a:rPr lang="zh-CN" altLang="en-US" sz="1600" b="1" dirty="0">
                  <a:solidFill>
                    <a:srgbClr val="002060"/>
                  </a:solidFill>
                  <a:latin typeface="微软雅黑" pitchFamily="34" charset="-122"/>
                  <a:ea typeface="微软雅黑" pitchFamily="34" charset="-122"/>
                </a:rPr>
                <a:t>全场景连接</a:t>
              </a:r>
              <a:r>
                <a:rPr lang="zh-CN" altLang="en-US" sz="1600" b="1" dirty="0" smtClean="0">
                  <a:solidFill>
                    <a:srgbClr val="002060"/>
                  </a:solidFill>
                  <a:latin typeface="微软雅黑" pitchFamily="34" charset="-122"/>
                  <a:ea typeface="微软雅黑" pitchFamily="34" charset="-122"/>
                </a:rPr>
                <a:t>技术领导企业</a:t>
              </a:r>
              <a:endParaRPr lang="en-US" altLang="zh-CN" sz="1600" b="1" dirty="0">
                <a:solidFill>
                  <a:srgbClr val="002060"/>
                </a:solidFill>
                <a:latin typeface="微软雅黑" pitchFamily="34" charset="-122"/>
                <a:ea typeface="微软雅黑" pitchFamily="34" charset="-122"/>
              </a:endParaRPr>
            </a:p>
            <a:p>
              <a:r>
                <a:rPr lang="zh-CN" altLang="en-US" sz="1600" b="1" dirty="0">
                  <a:solidFill>
                    <a:srgbClr val="002060"/>
                  </a:solidFill>
                  <a:latin typeface="微软雅黑" pitchFamily="34" charset="-122"/>
                  <a:ea typeface="微软雅黑" pitchFamily="34" charset="-122"/>
                </a:rPr>
                <a:t>芯片</a:t>
              </a:r>
              <a:r>
                <a:rPr lang="en-US" altLang="zh-CN" sz="1600" b="1" dirty="0">
                  <a:solidFill>
                    <a:srgbClr val="002060"/>
                  </a:solidFill>
                  <a:latin typeface="微软雅黑" pitchFamily="34" charset="-122"/>
                  <a:ea typeface="微软雅黑" pitchFamily="34" charset="-122"/>
                </a:rPr>
                <a:t>/</a:t>
              </a:r>
              <a:r>
                <a:rPr lang="zh-CN" altLang="en-US" sz="1600" b="1" dirty="0">
                  <a:solidFill>
                    <a:srgbClr val="002060"/>
                  </a:solidFill>
                  <a:latin typeface="微软雅黑" pitchFamily="34" charset="-122"/>
                  <a:ea typeface="微软雅黑" pitchFamily="34" charset="-122"/>
                </a:rPr>
                <a:t>模组</a:t>
              </a:r>
              <a:r>
                <a:rPr lang="en-US" altLang="zh-CN" sz="1600" b="1" dirty="0">
                  <a:solidFill>
                    <a:srgbClr val="002060"/>
                  </a:solidFill>
                  <a:latin typeface="微软雅黑" pitchFamily="34" charset="-122"/>
                  <a:ea typeface="微软雅黑" pitchFamily="34" charset="-122"/>
                </a:rPr>
                <a:t>/</a:t>
              </a:r>
              <a:r>
                <a:rPr lang="zh-CN" altLang="en-US" sz="1600" b="1" dirty="0" smtClean="0">
                  <a:solidFill>
                    <a:srgbClr val="002060"/>
                  </a:solidFill>
                  <a:latin typeface="微软雅黑" pitchFamily="34" charset="-122"/>
                  <a:ea typeface="微软雅黑" pitchFamily="34" charset="-122"/>
                </a:rPr>
                <a:t>方案</a:t>
              </a:r>
              <a:r>
                <a:rPr lang="en-US" altLang="zh-CN" sz="1600" b="1" dirty="0" smtClean="0">
                  <a:solidFill>
                    <a:srgbClr val="002060"/>
                  </a:solidFill>
                  <a:latin typeface="微软雅黑" pitchFamily="34" charset="-122"/>
                  <a:ea typeface="微软雅黑" pitchFamily="34" charset="-122"/>
                </a:rPr>
                <a:t>/</a:t>
              </a:r>
              <a:r>
                <a:rPr lang="zh-CN" altLang="en-US" sz="1600" b="1" dirty="0">
                  <a:solidFill>
                    <a:srgbClr val="002060"/>
                  </a:solidFill>
                  <a:latin typeface="微软雅黑" pitchFamily="34" charset="-122"/>
                  <a:ea typeface="微软雅黑" pitchFamily="34" charset="-122"/>
                </a:rPr>
                <a:t>生态</a:t>
              </a:r>
            </a:p>
          </p:txBody>
        </p:sp>
        <p:sp>
          <p:nvSpPr>
            <p:cNvPr id="27" name="下箭头 26"/>
            <p:cNvSpPr/>
            <p:nvPr/>
          </p:nvSpPr>
          <p:spPr>
            <a:xfrm flipV="1">
              <a:off x="4728418" y="5178185"/>
              <a:ext cx="304079" cy="771549"/>
            </a:xfrm>
            <a:prstGeom prst="downArrow">
              <a:avLst/>
            </a:prstGeom>
            <a:solidFill>
              <a:srgbClr val="FF0000"/>
            </a:solidFill>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txBody>
            <a:bodyPr rtlCol="0" anchor="ctr"/>
            <a:lstStyle/>
            <a:p>
              <a:pPr algn="ctr"/>
              <a:endParaRPr lang="zh-CN" altLang="en-US" sz="2000"/>
            </a:p>
          </p:txBody>
        </p:sp>
        <p:sp>
          <p:nvSpPr>
            <p:cNvPr id="28" name="矩形 27"/>
            <p:cNvSpPr/>
            <p:nvPr/>
          </p:nvSpPr>
          <p:spPr>
            <a:xfrm>
              <a:off x="4332281" y="5953798"/>
              <a:ext cx="1243681" cy="369332"/>
            </a:xfrm>
            <a:prstGeom prst="rect">
              <a:avLst/>
            </a:prstGeom>
          </p:spPr>
          <p:txBody>
            <a:bodyPr wrap="square">
              <a:spAutoFit/>
            </a:bodyPr>
            <a:lstStyle/>
            <a:p>
              <a:r>
                <a:rPr lang="zh-CN" altLang="en-US" sz="2000" b="1" dirty="0" smtClean="0">
                  <a:solidFill>
                    <a:srgbClr val="002060"/>
                  </a:solidFill>
                  <a:latin typeface="微软雅黑" pitchFamily="34" charset="-122"/>
                  <a:ea typeface="微软雅黑" pitchFamily="34" charset="-122"/>
                </a:rPr>
                <a:t>盈亏平衡</a:t>
              </a:r>
              <a:endParaRPr lang="zh-CN" altLang="en-US" sz="2000" b="1" dirty="0">
                <a:solidFill>
                  <a:srgbClr val="002060"/>
                </a:solidFill>
                <a:latin typeface="微软雅黑" pitchFamily="34" charset="-122"/>
                <a:ea typeface="微软雅黑" pitchFamily="34" charset="-122"/>
              </a:endParaRPr>
            </a:p>
          </p:txBody>
        </p:sp>
        <p:sp>
          <p:nvSpPr>
            <p:cNvPr id="29" name="下箭头 28"/>
            <p:cNvSpPr/>
            <p:nvPr/>
          </p:nvSpPr>
          <p:spPr>
            <a:xfrm flipV="1">
              <a:off x="8692404" y="4121261"/>
              <a:ext cx="304079" cy="771549"/>
            </a:xfrm>
            <a:prstGeom prst="downArrow">
              <a:avLst/>
            </a:prstGeom>
            <a:solidFill>
              <a:srgbClr val="FF0000"/>
            </a:solidFill>
          </p:spPr>
          <p:style>
            <a:lnRef idx="2">
              <a:schemeClr val="accent5">
                <a:hueOff val="-11350954"/>
                <a:satOff val="17233"/>
                <a:lumOff val="-30195"/>
                <a:alphaOff val="0"/>
              </a:schemeClr>
            </a:lnRef>
            <a:fillRef idx="1">
              <a:schemeClr val="accent5">
                <a:hueOff val="-11350954"/>
                <a:satOff val="17233"/>
                <a:lumOff val="-30195"/>
                <a:alphaOff val="0"/>
              </a:schemeClr>
            </a:fillRef>
            <a:effectRef idx="0">
              <a:schemeClr val="accent5">
                <a:hueOff val="-11350954"/>
                <a:satOff val="17233"/>
                <a:lumOff val="-30195"/>
                <a:alphaOff val="0"/>
              </a:schemeClr>
            </a:effectRef>
            <a:fontRef idx="minor">
              <a:schemeClr val="lt1"/>
            </a:fontRef>
          </p:style>
          <p:txBody>
            <a:bodyPr rtlCol="0" anchor="ctr"/>
            <a:lstStyle/>
            <a:p>
              <a:pPr algn="ctr"/>
              <a:endParaRPr lang="zh-CN" altLang="en-US" sz="2000"/>
            </a:p>
          </p:txBody>
        </p:sp>
      </p:grpSp>
      <p:pic>
        <p:nvPicPr>
          <p:cNvPr id="30" name="图片 29"/>
          <p:cNvPicPr>
            <a:picLocks noChangeAspect="1"/>
          </p:cNvPicPr>
          <p:nvPr/>
        </p:nvPicPr>
        <p:blipFill>
          <a:blip r:embed="rId3"/>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10507923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smtClean="0">
                <a:solidFill>
                  <a:srgbClr val="0078FF"/>
                </a:solidFill>
              </a:rPr>
              <a:t>融资需求</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7" name="图片 6"/>
          <p:cNvPicPr>
            <a:picLocks noChangeAspect="1"/>
          </p:cNvPicPr>
          <p:nvPr/>
        </p:nvPicPr>
        <p:blipFill>
          <a:blip r:embed="rId3"/>
          <a:stretch>
            <a:fillRect/>
          </a:stretch>
        </p:blipFill>
        <p:spPr>
          <a:xfrm>
            <a:off x="544946" y="1627359"/>
            <a:ext cx="11134372" cy="3748204"/>
          </a:xfrm>
          <a:prstGeom prst="rect">
            <a:avLst/>
          </a:prstGeom>
        </p:spPr>
      </p:pic>
      <p:pic>
        <p:nvPicPr>
          <p:cNvPr id="9" name="图片 8"/>
          <p:cNvPicPr>
            <a:picLocks noChangeAspect="1"/>
          </p:cNvPicPr>
          <p:nvPr/>
        </p:nvPicPr>
        <p:blipFill>
          <a:blip r:embed="rId4"/>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31475994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solidFill>
                  <a:srgbClr val="0079C3"/>
                </a:solidFill>
                <a:cs typeface="Microsoft YaHei UI"/>
              </a:rPr>
              <a:t>公司组织架构</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pic>
        <p:nvPicPr>
          <p:cNvPr id="10" name="图片 9"/>
          <p:cNvPicPr>
            <a:picLocks noChangeAspect="1"/>
          </p:cNvPicPr>
          <p:nvPr/>
        </p:nvPicPr>
        <p:blipFill>
          <a:blip r:embed="rId3"/>
          <a:stretch>
            <a:fillRect/>
          </a:stretch>
        </p:blipFill>
        <p:spPr>
          <a:xfrm>
            <a:off x="10668000" y="363037"/>
            <a:ext cx="1524000" cy="658561"/>
          </a:xfrm>
          <a:prstGeom prst="rect">
            <a:avLst/>
          </a:prstGeom>
        </p:spPr>
      </p:pic>
      <p:pic>
        <p:nvPicPr>
          <p:cNvPr id="3" name="图片 2"/>
          <p:cNvPicPr>
            <a:picLocks noChangeAspect="1"/>
          </p:cNvPicPr>
          <p:nvPr/>
        </p:nvPicPr>
        <p:blipFill>
          <a:blip r:embed="rId4"/>
          <a:stretch>
            <a:fillRect/>
          </a:stretch>
        </p:blipFill>
        <p:spPr>
          <a:xfrm>
            <a:off x="1073985" y="4420513"/>
            <a:ext cx="10044030" cy="1615580"/>
          </a:xfrm>
          <a:prstGeom prst="rect">
            <a:avLst/>
          </a:prstGeom>
        </p:spPr>
      </p:pic>
      <p:sp>
        <p:nvSpPr>
          <p:cNvPr id="4" name="圆角矩形 3"/>
          <p:cNvSpPr/>
          <p:nvPr/>
        </p:nvSpPr>
        <p:spPr>
          <a:xfrm>
            <a:off x="4825179" y="1786428"/>
            <a:ext cx="2654709" cy="6519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CEO </a:t>
            </a:r>
            <a:endParaRPr lang="zh-CN" altLang="en-US" sz="2400" b="1" dirty="0"/>
          </a:p>
        </p:txBody>
      </p:sp>
      <p:sp>
        <p:nvSpPr>
          <p:cNvPr id="12" name="圆角矩形 11"/>
          <p:cNvSpPr/>
          <p:nvPr/>
        </p:nvSpPr>
        <p:spPr>
          <a:xfrm>
            <a:off x="1641987" y="3097033"/>
            <a:ext cx="1465008" cy="651977"/>
          </a:xfrm>
          <a:prstGeom prst="roundRect">
            <a:avLst/>
          </a:prstGeom>
          <a:solidFill>
            <a:srgbClr val="276EE1"/>
          </a:solidFill>
          <a:ln>
            <a:solidFill>
              <a:srgbClr val="276E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研发</a:t>
            </a:r>
            <a:r>
              <a:rPr lang="en-US" altLang="zh-CN" dirty="0" smtClean="0"/>
              <a:t>  </a:t>
            </a:r>
          </a:p>
        </p:txBody>
      </p:sp>
      <p:sp>
        <p:nvSpPr>
          <p:cNvPr id="13" name="圆角矩形 12"/>
          <p:cNvSpPr/>
          <p:nvPr/>
        </p:nvSpPr>
        <p:spPr>
          <a:xfrm>
            <a:off x="3539613" y="3097033"/>
            <a:ext cx="1455174" cy="651977"/>
          </a:xfrm>
          <a:prstGeom prst="roundRect">
            <a:avLst/>
          </a:prstGeom>
          <a:solidFill>
            <a:srgbClr val="276EE1"/>
          </a:solidFill>
          <a:ln>
            <a:solidFill>
              <a:srgbClr val="276E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方案和应用</a:t>
            </a:r>
            <a:r>
              <a:rPr lang="en-US" altLang="zh-CN" dirty="0" smtClean="0"/>
              <a:t>  </a:t>
            </a:r>
          </a:p>
        </p:txBody>
      </p:sp>
      <p:sp>
        <p:nvSpPr>
          <p:cNvPr id="14" name="圆角矩形 13"/>
          <p:cNvSpPr/>
          <p:nvPr/>
        </p:nvSpPr>
        <p:spPr>
          <a:xfrm>
            <a:off x="7310281" y="3111781"/>
            <a:ext cx="1455174" cy="651977"/>
          </a:xfrm>
          <a:prstGeom prst="roundRect">
            <a:avLst/>
          </a:prstGeom>
          <a:solidFill>
            <a:srgbClr val="276EE1"/>
          </a:solidFill>
          <a:ln>
            <a:solidFill>
              <a:srgbClr val="276E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运营</a:t>
            </a:r>
            <a:endParaRPr lang="en-US" altLang="zh-CN" dirty="0" smtClean="0"/>
          </a:p>
        </p:txBody>
      </p:sp>
      <p:sp>
        <p:nvSpPr>
          <p:cNvPr id="15" name="圆角矩形 14"/>
          <p:cNvSpPr/>
          <p:nvPr/>
        </p:nvSpPr>
        <p:spPr>
          <a:xfrm>
            <a:off x="5424947" y="3096900"/>
            <a:ext cx="1455174" cy="651977"/>
          </a:xfrm>
          <a:prstGeom prst="roundRect">
            <a:avLst/>
          </a:prstGeom>
          <a:solidFill>
            <a:srgbClr val="276EE1"/>
          </a:solidFill>
          <a:ln>
            <a:solidFill>
              <a:srgbClr val="276E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市场</a:t>
            </a:r>
            <a:endParaRPr lang="en-US" altLang="zh-CN" dirty="0" smtClean="0"/>
          </a:p>
        </p:txBody>
      </p:sp>
      <p:sp>
        <p:nvSpPr>
          <p:cNvPr id="16" name="圆角矩形 15"/>
          <p:cNvSpPr/>
          <p:nvPr/>
        </p:nvSpPr>
        <p:spPr>
          <a:xfrm>
            <a:off x="9202990" y="3097031"/>
            <a:ext cx="1455174" cy="651977"/>
          </a:xfrm>
          <a:prstGeom prst="roundRect">
            <a:avLst/>
          </a:prstGeom>
          <a:solidFill>
            <a:srgbClr val="276EE1"/>
          </a:solidFill>
          <a:ln>
            <a:solidFill>
              <a:srgbClr val="276E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供应链</a:t>
            </a:r>
            <a:endParaRPr lang="en-US" altLang="zh-CN" dirty="0" smtClean="0"/>
          </a:p>
        </p:txBody>
      </p:sp>
      <p:cxnSp>
        <p:nvCxnSpPr>
          <p:cNvPr id="17" name="直接连接符 16"/>
          <p:cNvCxnSpPr/>
          <p:nvPr/>
        </p:nvCxnSpPr>
        <p:spPr>
          <a:xfrm>
            <a:off x="2374491" y="2708628"/>
            <a:ext cx="7556086" cy="29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4" idx="2"/>
            <a:endCxn id="15" idx="0"/>
          </p:cNvCxnSpPr>
          <p:nvPr/>
        </p:nvCxnSpPr>
        <p:spPr>
          <a:xfrm>
            <a:off x="6152534" y="2438405"/>
            <a:ext cx="0" cy="658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12" idx="0"/>
          </p:cNvCxnSpPr>
          <p:nvPr/>
        </p:nvCxnSpPr>
        <p:spPr>
          <a:xfrm>
            <a:off x="2374491" y="2713708"/>
            <a:ext cx="0" cy="38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8042785" y="2728456"/>
            <a:ext cx="0" cy="38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9930577" y="2743205"/>
            <a:ext cx="0" cy="38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190113" y="2713706"/>
            <a:ext cx="0" cy="38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4767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solidFill>
                  <a:srgbClr val="0079C3"/>
                </a:solidFill>
                <a:cs typeface="Microsoft YaHei UI"/>
              </a:rPr>
              <a:t>创始人</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sp>
        <p:nvSpPr>
          <p:cNvPr id="7" name="矩形 6"/>
          <p:cNvSpPr/>
          <p:nvPr/>
        </p:nvSpPr>
        <p:spPr>
          <a:xfrm>
            <a:off x="4141184" y="1607557"/>
            <a:ext cx="7380256" cy="3370153"/>
          </a:xfrm>
          <a:prstGeom prst="rect">
            <a:avLst/>
          </a:prstGeom>
        </p:spPr>
        <p:txBody>
          <a:bodyPr wrap="square">
            <a:spAutoFit/>
          </a:bodyPr>
          <a:lstStyle/>
          <a:p>
            <a:pPr marL="285750" indent="-285750" algn="just">
              <a:lnSpc>
                <a:spcPct val="150000"/>
              </a:lnSpc>
              <a:buFont typeface="Wingdings" panose="05000000000000000000" pitchFamily="2" charset="2"/>
              <a:buChar char="p"/>
            </a:pPr>
            <a:r>
              <a:rPr lang="en-US" altLang="zh-CN" dirty="0">
                <a:solidFill>
                  <a:schemeClr val="bg1">
                    <a:lumMod val="50000"/>
                  </a:schemeClr>
                </a:solidFill>
                <a:latin typeface="微软雅黑" panose="020B0503020204020204" pitchFamily="34" charset="-122"/>
                <a:ea typeface="微软雅黑" panose="020B0503020204020204" pitchFamily="34" charset="-122"/>
              </a:rPr>
              <a:t>2006</a:t>
            </a:r>
            <a:r>
              <a:rPr lang="zh-CN" altLang="en-US" dirty="0">
                <a:solidFill>
                  <a:schemeClr val="bg1">
                    <a:lumMod val="50000"/>
                  </a:schemeClr>
                </a:solidFill>
                <a:latin typeface="微软雅黑" panose="020B0503020204020204" pitchFamily="34" charset="-122"/>
                <a:ea typeface="微软雅黑" panose="020B0503020204020204" pitchFamily="34" charset="-122"/>
              </a:rPr>
              <a:t>年：  北京邮电大学  硕士毕业</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p"/>
            </a:pPr>
            <a:r>
              <a:rPr lang="en-US" altLang="zh-CN" dirty="0">
                <a:solidFill>
                  <a:schemeClr val="bg1">
                    <a:lumMod val="50000"/>
                  </a:schemeClr>
                </a:solidFill>
                <a:latin typeface="微软雅黑" panose="020B0503020204020204" pitchFamily="34" charset="-122"/>
                <a:ea typeface="微软雅黑" panose="020B0503020204020204" pitchFamily="34" charset="-122"/>
              </a:rPr>
              <a:t>2006</a:t>
            </a:r>
            <a:r>
              <a:rPr lang="zh-CN" altLang="en-US" dirty="0">
                <a:solidFill>
                  <a:schemeClr val="bg1">
                    <a:lumMod val="50000"/>
                  </a:schemeClr>
                </a:solidFill>
                <a:latin typeface="微软雅黑" panose="020B0503020204020204" pitchFamily="34" charset="-122"/>
                <a:ea typeface="微软雅黑" panose="020B0503020204020204" pitchFamily="34" charset="-122"/>
              </a:rPr>
              <a:t>年：  富士通中国研发中心   负责</a:t>
            </a:r>
            <a:r>
              <a:rPr lang="en-US" altLang="zh-CN" dirty="0" err="1">
                <a:solidFill>
                  <a:schemeClr val="bg1">
                    <a:lumMod val="50000"/>
                  </a:schemeClr>
                </a:solidFill>
                <a:latin typeface="微软雅黑" panose="020B0503020204020204" pitchFamily="34" charset="-122"/>
                <a:ea typeface="微软雅黑" panose="020B0503020204020204" pitchFamily="34" charset="-122"/>
              </a:rPr>
              <a:t>Wimax</a:t>
            </a:r>
            <a:r>
              <a:rPr lang="en-US" altLang="zh-CN" dirty="0">
                <a:solidFill>
                  <a:schemeClr val="bg1">
                    <a:lumMod val="50000"/>
                  </a:schemeClr>
                </a:solidFill>
                <a:latin typeface="微软雅黑" panose="020B0503020204020204" pitchFamily="34" charset="-122"/>
                <a:ea typeface="微软雅黑" panose="020B0503020204020204" pitchFamily="34" charset="-122"/>
              </a:rPr>
              <a:t> </a:t>
            </a:r>
            <a:r>
              <a:rPr lang="zh-CN" altLang="en-US" dirty="0">
                <a:solidFill>
                  <a:schemeClr val="bg1">
                    <a:lumMod val="50000"/>
                  </a:schemeClr>
                </a:solidFill>
                <a:latin typeface="微软雅黑" panose="020B0503020204020204" pitchFamily="34" charset="-122"/>
                <a:ea typeface="微软雅黑" panose="020B0503020204020204" pitchFamily="34" charset="-122"/>
              </a:rPr>
              <a:t>芯片系统设计</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p"/>
            </a:pPr>
            <a:r>
              <a:rPr lang="en-US" altLang="zh-CN" dirty="0">
                <a:solidFill>
                  <a:schemeClr val="bg1">
                    <a:lumMod val="50000"/>
                  </a:schemeClr>
                </a:solidFill>
                <a:latin typeface="微软雅黑" panose="020B0503020204020204" pitchFamily="34" charset="-122"/>
                <a:ea typeface="微软雅黑" panose="020B0503020204020204" pitchFamily="34" charset="-122"/>
              </a:rPr>
              <a:t>2008</a:t>
            </a:r>
            <a:r>
              <a:rPr lang="zh-CN" altLang="en-US" dirty="0">
                <a:solidFill>
                  <a:schemeClr val="bg1">
                    <a:lumMod val="50000"/>
                  </a:schemeClr>
                </a:solidFill>
                <a:latin typeface="微软雅黑" panose="020B0503020204020204" pitchFamily="34" charset="-122"/>
                <a:ea typeface="微软雅黑" panose="020B0503020204020204" pitchFamily="34" charset="-122"/>
              </a:rPr>
              <a:t>年：  美国</a:t>
            </a:r>
            <a:r>
              <a:rPr lang="en-US" altLang="zh-CN" dirty="0" err="1">
                <a:solidFill>
                  <a:schemeClr val="bg1">
                    <a:lumMod val="50000"/>
                  </a:schemeClr>
                </a:solidFill>
                <a:latin typeface="微软雅黑" panose="020B0503020204020204" pitchFamily="34" charset="-122"/>
                <a:ea typeface="微软雅黑" panose="020B0503020204020204" pitchFamily="34" charset="-122"/>
              </a:rPr>
              <a:t>Apacewave</a:t>
            </a:r>
            <a:r>
              <a:rPr lang="en-US" altLang="zh-CN" dirty="0">
                <a:solidFill>
                  <a:schemeClr val="bg1">
                    <a:lumMod val="50000"/>
                  </a:schemeClr>
                </a:solidFill>
                <a:latin typeface="微软雅黑" panose="020B0503020204020204" pitchFamily="34" charset="-122"/>
                <a:ea typeface="微软雅黑" panose="020B0503020204020204" pitchFamily="34" charset="-122"/>
              </a:rPr>
              <a:t> </a:t>
            </a:r>
            <a:r>
              <a:rPr lang="zh-CN" altLang="en-US" dirty="0">
                <a:solidFill>
                  <a:schemeClr val="bg1">
                    <a:lumMod val="50000"/>
                  </a:schemeClr>
                </a:solidFill>
                <a:latin typeface="微软雅黑" panose="020B0503020204020204" pitchFamily="34" charset="-122"/>
                <a:ea typeface="微软雅黑" panose="020B0503020204020204" pitchFamily="34" charset="-122"/>
              </a:rPr>
              <a:t>公司核心团队成员，负责核心算法设计</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p"/>
            </a:pPr>
            <a:r>
              <a:rPr lang="en-US" altLang="zh-CN" dirty="0" smtClean="0">
                <a:solidFill>
                  <a:schemeClr val="bg1">
                    <a:lumMod val="50000"/>
                  </a:schemeClr>
                </a:solidFill>
                <a:latin typeface="微软雅黑" panose="020B0503020204020204" pitchFamily="34" charset="-122"/>
                <a:ea typeface="微软雅黑" panose="020B0503020204020204" pitchFamily="34" charset="-122"/>
              </a:rPr>
              <a:t>2010</a:t>
            </a:r>
            <a:r>
              <a:rPr lang="zh-CN" altLang="en-US" dirty="0">
                <a:solidFill>
                  <a:schemeClr val="bg1">
                    <a:lumMod val="50000"/>
                  </a:schemeClr>
                </a:solidFill>
                <a:latin typeface="微软雅黑" panose="020B0503020204020204" pitchFamily="34" charset="-122"/>
                <a:ea typeface="微软雅黑" panose="020B0503020204020204" pitchFamily="34" charset="-122"/>
              </a:rPr>
              <a:t>年： </a:t>
            </a:r>
            <a:r>
              <a:rPr lang="zh-CN" altLang="en-US" dirty="0" smtClean="0">
                <a:solidFill>
                  <a:schemeClr val="bg1">
                    <a:lumMod val="50000"/>
                  </a:schemeClr>
                </a:solidFill>
                <a:latin typeface="微软雅黑" panose="020B0503020204020204" pitchFamily="34" charset="-122"/>
                <a:ea typeface="微软雅黑" panose="020B0503020204020204" pitchFamily="34" charset="-122"/>
              </a:rPr>
              <a:t>合肥东</a:t>
            </a:r>
            <a:r>
              <a:rPr lang="zh-CN" altLang="en-US" dirty="0">
                <a:solidFill>
                  <a:schemeClr val="bg1">
                    <a:lumMod val="50000"/>
                  </a:schemeClr>
                </a:solidFill>
                <a:latin typeface="微软雅黑" panose="020B0503020204020204" pitchFamily="34" charset="-122"/>
                <a:ea typeface="微软雅黑" panose="020B0503020204020204" pitchFamily="34" charset="-122"/>
              </a:rPr>
              <a:t>芯通信联合创始人，领导了</a:t>
            </a:r>
            <a:r>
              <a:rPr lang="en-US" altLang="zh-CN" dirty="0">
                <a:solidFill>
                  <a:schemeClr val="bg1">
                    <a:lumMod val="50000"/>
                  </a:schemeClr>
                </a:solidFill>
                <a:latin typeface="微软雅黑" panose="020B0503020204020204" pitchFamily="34" charset="-122"/>
                <a:ea typeface="微软雅黑" panose="020B0503020204020204" pitchFamily="34" charset="-122"/>
              </a:rPr>
              <a:t>FDD/TDD</a:t>
            </a:r>
            <a:r>
              <a:rPr lang="zh-CN" altLang="en-US" dirty="0">
                <a:solidFill>
                  <a:schemeClr val="bg1">
                    <a:lumMod val="50000"/>
                  </a:schemeClr>
                </a:solidFill>
                <a:latin typeface="微软雅黑" panose="020B0503020204020204" pitchFamily="34" charset="-122"/>
                <a:ea typeface="微软雅黑" panose="020B0503020204020204" pitchFamily="34" charset="-122"/>
              </a:rPr>
              <a:t>双模</a:t>
            </a:r>
            <a:r>
              <a:rPr lang="en-US" altLang="zh-CN" dirty="0">
                <a:solidFill>
                  <a:schemeClr val="bg1">
                    <a:lumMod val="50000"/>
                  </a:schemeClr>
                </a:solidFill>
                <a:latin typeface="微软雅黑" panose="020B0503020204020204" pitchFamily="34" charset="-122"/>
                <a:ea typeface="微软雅黑" panose="020B0503020204020204" pitchFamily="34" charset="-122"/>
              </a:rPr>
              <a:t>4G LTE</a:t>
            </a:r>
            <a:r>
              <a:rPr lang="zh-CN" altLang="en-US" dirty="0">
                <a:solidFill>
                  <a:schemeClr val="bg1">
                    <a:lumMod val="50000"/>
                  </a:schemeClr>
                </a:solidFill>
                <a:latin typeface="微软雅黑" panose="020B0503020204020204" pitchFamily="34" charset="-122"/>
                <a:ea typeface="微软雅黑" panose="020B0503020204020204" pitchFamily="34" charset="-122"/>
              </a:rPr>
              <a:t>芯片设计</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p"/>
            </a:pPr>
            <a:r>
              <a:rPr lang="en-US" altLang="zh-CN" dirty="0" smtClean="0">
                <a:solidFill>
                  <a:schemeClr val="bg1">
                    <a:lumMod val="50000"/>
                  </a:schemeClr>
                </a:solidFill>
                <a:latin typeface="微软雅黑" panose="020B0503020204020204" pitchFamily="34" charset="-122"/>
                <a:ea typeface="微软雅黑" panose="020B0503020204020204" pitchFamily="34" charset="-122"/>
              </a:rPr>
              <a:t>2017</a:t>
            </a:r>
            <a:r>
              <a:rPr lang="zh-CN" altLang="en-US" dirty="0" smtClean="0">
                <a:solidFill>
                  <a:schemeClr val="bg1">
                    <a:lumMod val="50000"/>
                  </a:schemeClr>
                </a:solidFill>
                <a:latin typeface="微软雅黑" panose="020B0503020204020204" pitchFamily="34" charset="-122"/>
                <a:ea typeface="微软雅黑" panose="020B0503020204020204" pitchFamily="34" charset="-122"/>
              </a:rPr>
              <a:t>年</a:t>
            </a:r>
            <a:r>
              <a:rPr lang="zh-CN" altLang="en-US" dirty="0">
                <a:solidFill>
                  <a:schemeClr val="bg1">
                    <a:lumMod val="50000"/>
                  </a:schemeClr>
                </a:solidFill>
                <a:latin typeface="微软雅黑" panose="020B0503020204020204" pitchFamily="34" charset="-122"/>
                <a:ea typeface="微软雅黑" panose="020B0503020204020204" pitchFamily="34" charset="-122"/>
              </a:rPr>
              <a:t>：  创立北京四季豆</a:t>
            </a:r>
            <a:r>
              <a:rPr lang="en-US" altLang="zh-CN" dirty="0">
                <a:solidFill>
                  <a:schemeClr val="bg1">
                    <a:lumMod val="50000"/>
                  </a:schemeClr>
                </a:solidFill>
                <a:latin typeface="微软雅黑" panose="020B0503020204020204" pitchFamily="34" charset="-122"/>
                <a:ea typeface="微软雅黑" panose="020B0503020204020204" pitchFamily="34" charset="-122"/>
              </a:rPr>
              <a:t>(</a:t>
            </a:r>
            <a:r>
              <a:rPr lang="en-US" altLang="zh-CN" dirty="0" err="1">
                <a:solidFill>
                  <a:schemeClr val="bg1">
                    <a:lumMod val="50000"/>
                  </a:schemeClr>
                </a:solidFill>
                <a:latin typeface="微软雅黑" panose="020B0503020204020204" pitchFamily="34" charset="-122"/>
                <a:ea typeface="微软雅黑" panose="020B0503020204020204" pitchFamily="34" charset="-122"/>
              </a:rPr>
              <a:t>Sigbean</a:t>
            </a:r>
            <a:r>
              <a:rPr lang="en-US" altLang="zh-CN" dirty="0">
                <a:solidFill>
                  <a:schemeClr val="bg1">
                    <a:lumMod val="50000"/>
                  </a:schemeClr>
                </a:solidFill>
                <a:latin typeface="微软雅黑" panose="020B0503020204020204" pitchFamily="34" charset="-122"/>
                <a:ea typeface="微软雅黑" panose="020B0503020204020204" pitchFamily="34" charset="-122"/>
              </a:rPr>
              <a:t>)</a:t>
            </a:r>
            <a:r>
              <a:rPr lang="zh-CN" altLang="en-US" dirty="0">
                <a:solidFill>
                  <a:schemeClr val="bg1">
                    <a:lumMod val="50000"/>
                  </a:schemeClr>
                </a:solidFill>
                <a:latin typeface="微软雅黑" panose="020B0503020204020204" pitchFamily="34" charset="-122"/>
                <a:ea typeface="微软雅黑" panose="020B0503020204020204" pitchFamily="34" charset="-122"/>
              </a:rPr>
              <a:t>信息技术有限公司，</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dirty="0">
                <a:solidFill>
                  <a:schemeClr val="bg1">
                    <a:lumMod val="50000"/>
                  </a:schemeClr>
                </a:solidFill>
                <a:latin typeface="微软雅黑" panose="020B0503020204020204" pitchFamily="34" charset="-122"/>
                <a:ea typeface="微软雅黑" panose="020B0503020204020204" pitchFamily="34" charset="-122"/>
              </a:rPr>
              <a:t>                     </a:t>
            </a:r>
            <a:r>
              <a:rPr lang="zh-CN" altLang="en-US" dirty="0">
                <a:solidFill>
                  <a:schemeClr val="bg1">
                    <a:lumMod val="50000"/>
                  </a:schemeClr>
                </a:solidFill>
                <a:latin typeface="微软雅黑" panose="020B0503020204020204" pitchFamily="34" charset="-122"/>
                <a:ea typeface="微软雅黑" panose="020B0503020204020204" pitchFamily="34" charset="-122"/>
              </a:rPr>
              <a:t>全力进军</a:t>
            </a:r>
            <a:r>
              <a:rPr lang="en-US" altLang="zh-CN" dirty="0">
                <a:solidFill>
                  <a:schemeClr val="bg1">
                    <a:lumMod val="50000"/>
                  </a:schemeClr>
                </a:solidFill>
                <a:latin typeface="微软雅黑" panose="020B0503020204020204" pitchFamily="34" charset="-122"/>
                <a:ea typeface="微软雅黑" panose="020B0503020204020204" pitchFamily="34" charset="-122"/>
              </a:rPr>
              <a:t>5G</a:t>
            </a:r>
            <a:r>
              <a:rPr lang="zh-CN" altLang="en-US" dirty="0">
                <a:solidFill>
                  <a:schemeClr val="bg1">
                    <a:lumMod val="50000"/>
                  </a:schemeClr>
                </a:solidFill>
                <a:latin typeface="微软雅黑" panose="020B0503020204020204" pitchFamily="34" charset="-122"/>
                <a:ea typeface="微软雅黑" panose="020B0503020204020204" pitchFamily="34" charset="-122"/>
              </a:rPr>
              <a:t>物联网通信行业</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algn="just">
              <a:lnSpc>
                <a:spcPct val="150000"/>
              </a:lnSpc>
            </a:pPr>
            <a:endParaRPr lang="en-US" altLang="zh-CN" sz="1600"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1246074" y="4279732"/>
            <a:ext cx="2756965" cy="1754326"/>
          </a:xfrm>
          <a:prstGeom prst="rect">
            <a:avLst/>
          </a:prstGeom>
        </p:spPr>
        <p:txBody>
          <a:bodyPr wrap="square">
            <a:spAutoFit/>
          </a:bodyPr>
          <a:lstStyle/>
          <a:p>
            <a:pPr algn="just">
              <a:lnSpc>
                <a:spcPct val="150000"/>
              </a:lnSpc>
            </a:pPr>
            <a:r>
              <a:rPr lang="zh-CN" altLang="zh-CN" b="1" dirty="0">
                <a:solidFill>
                  <a:srgbClr val="0079C3"/>
                </a:solidFill>
                <a:latin typeface="微软雅黑" panose="020B0503020204020204" pitchFamily="34" charset="-122"/>
                <a:ea typeface="微软雅黑" panose="020B0503020204020204" pitchFamily="34" charset="-122"/>
              </a:rPr>
              <a:t>张国松：</a:t>
            </a:r>
            <a:r>
              <a:rPr lang="en-US" altLang="zh-CN" b="1" dirty="0">
                <a:solidFill>
                  <a:srgbClr val="0079C3"/>
                </a:solidFill>
                <a:latin typeface="微软雅黑" panose="020B0503020204020204" pitchFamily="34" charset="-122"/>
                <a:ea typeface="微软雅黑" panose="020B0503020204020204" pitchFamily="34" charset="-122"/>
              </a:rPr>
              <a:t>CEO/</a:t>
            </a:r>
            <a:r>
              <a:rPr lang="zh-CN" altLang="en-US" b="1" dirty="0">
                <a:solidFill>
                  <a:srgbClr val="0079C3"/>
                </a:solidFill>
                <a:latin typeface="微软雅黑" panose="020B0503020204020204" pitchFamily="34" charset="-122"/>
                <a:ea typeface="微软雅黑" panose="020B0503020204020204" pitchFamily="34" charset="-122"/>
              </a:rPr>
              <a:t>创始人</a:t>
            </a:r>
            <a:endParaRPr lang="en-US" altLang="zh-CN" b="1" dirty="0">
              <a:solidFill>
                <a:srgbClr val="0079C3"/>
              </a:solidFill>
              <a:latin typeface="微软雅黑" panose="020B0503020204020204" pitchFamily="34" charset="-122"/>
              <a:ea typeface="微软雅黑" panose="020B0503020204020204" pitchFamily="34" charset="-122"/>
            </a:endParaRPr>
          </a:p>
          <a:p>
            <a:pPr algn="just">
              <a:lnSpc>
                <a:spcPct val="150000"/>
              </a:lnSpc>
            </a:pPr>
            <a:r>
              <a:rPr lang="zh-CN" altLang="en-US" dirty="0">
                <a:solidFill>
                  <a:schemeClr val="bg1">
                    <a:lumMod val="50000"/>
                  </a:schemeClr>
                </a:solidFill>
                <a:latin typeface="微软雅黑" panose="020B0503020204020204" pitchFamily="34" charset="-122"/>
                <a:ea typeface="微软雅黑" panose="020B0503020204020204" pitchFamily="34" charset="-122"/>
              </a:rPr>
              <a:t>通信系统设计专家</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algn="just">
              <a:lnSpc>
                <a:spcPct val="150000"/>
              </a:lnSpc>
            </a:pPr>
            <a:r>
              <a:rPr lang="zh-CN" altLang="en-US" dirty="0">
                <a:solidFill>
                  <a:schemeClr val="bg1">
                    <a:lumMod val="50000"/>
                  </a:schemeClr>
                </a:solidFill>
                <a:latin typeface="微软雅黑" panose="020B0503020204020204" pitchFamily="34" charset="-122"/>
                <a:ea typeface="微软雅黑" panose="020B0503020204020204" pitchFamily="34" charset="-122"/>
              </a:rPr>
              <a:t>核心</a:t>
            </a:r>
            <a:r>
              <a:rPr lang="zh-CN" altLang="zh-CN" dirty="0">
                <a:solidFill>
                  <a:schemeClr val="bg1">
                    <a:lumMod val="50000"/>
                  </a:schemeClr>
                </a:solidFill>
                <a:latin typeface="微软雅黑" panose="020B0503020204020204" pitchFamily="34" charset="-122"/>
                <a:ea typeface="微软雅黑" panose="020B0503020204020204" pitchFamily="34" charset="-122"/>
              </a:rPr>
              <a:t>发明专利</a:t>
            </a:r>
            <a:r>
              <a:rPr lang="en-US" altLang="zh-CN" dirty="0">
                <a:solidFill>
                  <a:schemeClr val="bg1">
                    <a:lumMod val="50000"/>
                  </a:schemeClr>
                </a:solidFill>
                <a:latin typeface="微软雅黑" panose="020B0503020204020204" pitchFamily="34" charset="-122"/>
                <a:ea typeface="微软雅黑" panose="020B0503020204020204" pitchFamily="34" charset="-122"/>
              </a:rPr>
              <a:t>20</a:t>
            </a:r>
            <a:r>
              <a:rPr lang="zh-CN" altLang="en-US" dirty="0">
                <a:solidFill>
                  <a:schemeClr val="bg1">
                    <a:lumMod val="50000"/>
                  </a:schemeClr>
                </a:solidFill>
                <a:latin typeface="微软雅黑" panose="020B0503020204020204" pitchFamily="34" charset="-122"/>
                <a:ea typeface="微软雅黑" panose="020B0503020204020204" pitchFamily="34" charset="-122"/>
              </a:rPr>
              <a:t>余</a:t>
            </a:r>
            <a:r>
              <a:rPr lang="zh-CN" altLang="zh-CN" dirty="0" smtClean="0">
                <a:solidFill>
                  <a:schemeClr val="bg1">
                    <a:lumMod val="50000"/>
                  </a:schemeClr>
                </a:solidFill>
                <a:latin typeface="微软雅黑" panose="020B0503020204020204" pitchFamily="34" charset="-122"/>
                <a:ea typeface="微软雅黑" panose="020B0503020204020204" pitchFamily="34" charset="-122"/>
              </a:rPr>
              <a:t>项</a:t>
            </a:r>
          </a:p>
          <a:p>
            <a:pPr algn="just">
              <a:lnSpc>
                <a:spcPct val="150000"/>
              </a:lnSpc>
            </a:pPr>
            <a:r>
              <a:rPr lang="zh-CN" altLang="en-US" dirty="0" smtClean="0">
                <a:solidFill>
                  <a:schemeClr val="bg1">
                    <a:lumMod val="50000"/>
                  </a:schemeClr>
                </a:solidFill>
                <a:latin typeface="微软雅黑" panose="020B0503020204020204" pitchFamily="34" charset="-122"/>
                <a:ea typeface="微软雅黑" panose="020B0503020204020204" pitchFamily="34" charset="-122"/>
              </a:rPr>
              <a:t>集成电路行业连续创业者</a:t>
            </a:r>
            <a:endParaRPr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1286256" y="1562349"/>
            <a:ext cx="2127504" cy="2529359"/>
          </a:xfrm>
          <a:prstGeom prst="rect">
            <a:avLst/>
          </a:prstGeom>
        </p:spPr>
      </p:pic>
      <p:pic>
        <p:nvPicPr>
          <p:cNvPr id="10" name="图片 9"/>
          <p:cNvPicPr>
            <a:picLocks noChangeAspect="1"/>
          </p:cNvPicPr>
          <p:nvPr/>
        </p:nvPicPr>
        <p:blipFill>
          <a:blip r:embed="rId4"/>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9389343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0079C3"/>
                </a:solidFill>
                <a:cs typeface="Microsoft YaHei UI"/>
              </a:rPr>
              <a:t>核心团队</a:t>
            </a:r>
            <a:endParaRPr kumimoji="1" lang="zh-CN" altLang="en-US" dirty="0">
              <a:solidFill>
                <a:srgbClr val="0078FF"/>
              </a:solidFill>
            </a:endParaRPr>
          </a:p>
        </p:txBody>
      </p:sp>
      <p:pic>
        <p:nvPicPr>
          <p:cNvPr id="6" name="图片 5">
            <a:extLst>
              <a:ext uri="{FF2B5EF4-FFF2-40B4-BE49-F238E27FC236}">
                <a16:creationId xmlns:a16="http://schemas.microsoft.com/office/drawing/2014/main" id="{D9396D96-048D-1F4F-9D92-3EE4A789334B}"/>
              </a:ext>
            </a:extLst>
          </p:cNvPr>
          <p:cNvPicPr>
            <a:picLocks noChangeAspect="1"/>
          </p:cNvPicPr>
          <p:nvPr/>
        </p:nvPicPr>
        <p:blipFill>
          <a:blip r:embed="rId2"/>
          <a:stretch>
            <a:fillRect/>
          </a:stretch>
        </p:blipFill>
        <p:spPr>
          <a:xfrm>
            <a:off x="9796072" y="266110"/>
            <a:ext cx="2133600" cy="1028700"/>
          </a:xfrm>
          <a:prstGeom prst="rect">
            <a:avLst/>
          </a:prstGeom>
        </p:spPr>
      </p:pic>
      <p:sp>
        <p:nvSpPr>
          <p:cNvPr id="10" name="矩形 9"/>
          <p:cNvSpPr/>
          <p:nvPr/>
        </p:nvSpPr>
        <p:spPr>
          <a:xfrm>
            <a:off x="8801780" y="1532817"/>
            <a:ext cx="2210315" cy="1077218"/>
          </a:xfrm>
          <a:prstGeom prst="rect">
            <a:avLst/>
          </a:prstGeom>
        </p:spPr>
        <p:txBody>
          <a:bodyPr wrap="square">
            <a:spAutoFit/>
          </a:bodyPr>
          <a:lstStyle/>
          <a:p>
            <a:pPr lvl="0"/>
            <a:r>
              <a:rPr lang="zh-CN" altLang="en-US" sz="1400" b="1" dirty="0">
                <a:solidFill>
                  <a:srgbClr val="0079C3"/>
                </a:solidFill>
                <a:latin typeface="微软雅黑" panose="020B0503020204020204" pitchFamily="34" charset="-122"/>
                <a:ea typeface="微软雅黑" panose="020B0503020204020204" pitchFamily="34" charset="-122"/>
              </a:rPr>
              <a:t>张学刚</a:t>
            </a:r>
            <a:r>
              <a:rPr lang="en-US" altLang="zh-CN" sz="1400" b="1" dirty="0">
                <a:solidFill>
                  <a:srgbClr val="0079C3"/>
                </a:solidFill>
                <a:latin typeface="微软雅黑" panose="020B0503020204020204" pitchFamily="34" charset="-122"/>
                <a:ea typeface="微软雅黑" panose="020B0503020204020204" pitchFamily="34" charset="-122"/>
              </a:rPr>
              <a:t>  </a:t>
            </a:r>
            <a:r>
              <a:rPr lang="zh-CN" altLang="en-US" sz="1400" b="1" dirty="0">
                <a:solidFill>
                  <a:srgbClr val="0079C3"/>
                </a:solidFill>
                <a:latin typeface="微软雅黑" panose="020B0503020204020204" pitchFamily="34" charset="-122"/>
                <a:ea typeface="微软雅黑" panose="020B0503020204020204" pitchFamily="34" charset="-122"/>
              </a:rPr>
              <a:t>销售</a:t>
            </a:r>
            <a:endParaRPr lang="en-US" altLang="zh-CN" sz="1400" b="1" dirty="0">
              <a:solidFill>
                <a:srgbClr val="0079C3"/>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成都</a:t>
            </a:r>
            <a:r>
              <a:rPr lang="zh-CN" altLang="zh-CN" sz="1200" dirty="0">
                <a:solidFill>
                  <a:schemeClr val="bg1">
                    <a:lumMod val="50000"/>
                  </a:schemeClr>
                </a:solidFill>
                <a:latin typeface="微软雅黑" panose="020B0503020204020204" pitchFamily="34" charset="-122"/>
                <a:ea typeface="微软雅黑" panose="020B0503020204020204" pitchFamily="34" charset="-122"/>
              </a:rPr>
              <a:t>电子科技大学</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曾任</a:t>
            </a:r>
            <a:r>
              <a:rPr lang="zh-CN" altLang="zh-CN" sz="1200" dirty="0">
                <a:solidFill>
                  <a:schemeClr val="bg1">
                    <a:lumMod val="50000"/>
                  </a:schemeClr>
                </a:solidFill>
                <a:latin typeface="微软雅黑" panose="020B0503020204020204" pitchFamily="34" charset="-122"/>
                <a:ea typeface="微软雅黑" panose="020B0503020204020204" pitchFamily="34" charset="-122"/>
              </a:rPr>
              <a:t>杭州华立科技股份有限公司销售副总裁</a:t>
            </a:r>
          </a:p>
          <a:p>
            <a:pPr lvl="0" algn="just"/>
            <a:endParaRPr lang="zh-CN"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3363719" y="1533799"/>
            <a:ext cx="2063864" cy="861774"/>
          </a:xfrm>
          <a:prstGeom prst="rect">
            <a:avLst/>
          </a:prstGeom>
        </p:spPr>
        <p:txBody>
          <a:bodyPr wrap="square">
            <a:spAutoFit/>
          </a:bodyPr>
          <a:lstStyle/>
          <a:p>
            <a:r>
              <a:rPr lang="zh-CN" altLang="zh-CN" sz="1400" b="1" dirty="0">
                <a:solidFill>
                  <a:srgbClr val="0079C3"/>
                </a:solidFill>
                <a:latin typeface="微软雅黑" panose="020B0503020204020204" pitchFamily="34" charset="-122"/>
                <a:ea typeface="微软雅黑" panose="020B0503020204020204" pitchFamily="34" charset="-122"/>
              </a:rPr>
              <a:t>胡剑锋</a:t>
            </a:r>
            <a:r>
              <a:rPr lang="en-US" altLang="zh-CN" sz="1400" b="1" dirty="0">
                <a:solidFill>
                  <a:srgbClr val="0079C3"/>
                </a:solidFill>
                <a:latin typeface="微软雅黑" panose="020B0503020204020204" pitchFamily="34" charset="-122"/>
                <a:ea typeface="微软雅黑" panose="020B0503020204020204" pitchFamily="34" charset="-122"/>
              </a:rPr>
              <a:t>  </a:t>
            </a:r>
            <a:r>
              <a:rPr lang="zh-CN" altLang="en-US" sz="1400" b="1" dirty="0">
                <a:solidFill>
                  <a:srgbClr val="0079C3"/>
                </a:solidFill>
                <a:latin typeface="微软雅黑" panose="020B0503020204020204" pitchFamily="34" charset="-122"/>
                <a:ea typeface="微软雅黑" panose="020B0503020204020204" pitchFamily="34" charset="-122"/>
              </a:rPr>
              <a:t>研发 </a:t>
            </a:r>
            <a:endParaRPr lang="en-US" altLang="zh-CN" sz="1400" b="1" dirty="0">
              <a:solidFill>
                <a:srgbClr val="0079C3"/>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北京邮电大学</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曾任</a:t>
            </a:r>
            <a:r>
              <a:rPr lang="zh-CN" altLang="zh-CN" sz="1200" dirty="0">
                <a:solidFill>
                  <a:schemeClr val="bg1">
                    <a:lumMod val="50000"/>
                  </a:schemeClr>
                </a:solidFill>
                <a:latin typeface="微软雅黑" panose="020B0503020204020204" pitchFamily="34" charset="-122"/>
                <a:ea typeface="微软雅黑" panose="020B0503020204020204" pitchFamily="34" charset="-122"/>
              </a:rPr>
              <a:t>三星</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 </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阿尔卡特朗讯高级技术经理</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3"/>
          <a:stretch>
            <a:fillRect/>
          </a:stretch>
        </p:blipFill>
        <p:spPr>
          <a:xfrm>
            <a:off x="7038472" y="1532817"/>
            <a:ext cx="1204145" cy="1665276"/>
          </a:xfrm>
          <a:prstGeom prst="rect">
            <a:avLst/>
          </a:prstGeom>
          <a:ln>
            <a:noFill/>
          </a:ln>
          <a:effectLst>
            <a:outerShdw blurRad="292100" dist="139700" dir="2700000" algn="tl" rotWithShape="0">
              <a:srgbClr val="333333">
                <a:alpha val="65000"/>
              </a:srgbClr>
            </a:outerShdw>
          </a:effectLst>
        </p:spPr>
      </p:pic>
      <p:pic>
        <p:nvPicPr>
          <p:cNvPr id="14" name="图片 13"/>
          <p:cNvPicPr>
            <a:picLocks noChangeAspect="1"/>
          </p:cNvPicPr>
          <p:nvPr/>
        </p:nvPicPr>
        <p:blipFill>
          <a:blip r:embed="rId4"/>
          <a:stretch>
            <a:fillRect/>
          </a:stretch>
        </p:blipFill>
        <p:spPr>
          <a:xfrm>
            <a:off x="1912850" y="1533767"/>
            <a:ext cx="1211754" cy="1672893"/>
          </a:xfrm>
          <a:prstGeom prst="rect">
            <a:avLst/>
          </a:prstGeom>
          <a:ln>
            <a:noFill/>
          </a:ln>
          <a:effectLst>
            <a:outerShdw blurRad="292100" dist="139700" dir="2700000" algn="tl" rotWithShape="0">
              <a:srgbClr val="333333">
                <a:alpha val="65000"/>
              </a:srgbClr>
            </a:outerShdw>
          </a:effectLst>
        </p:spPr>
      </p:pic>
      <p:sp>
        <p:nvSpPr>
          <p:cNvPr id="15" name="矩形 14">
            <a:extLst>
              <a:ext uri="{FF2B5EF4-FFF2-40B4-BE49-F238E27FC236}">
                <a16:creationId xmlns:a16="http://schemas.microsoft.com/office/drawing/2014/main" id="{3D5401DF-4D32-4488-89B7-9F0C0B9CB723}"/>
              </a:ext>
            </a:extLst>
          </p:cNvPr>
          <p:cNvSpPr/>
          <p:nvPr/>
        </p:nvSpPr>
        <p:spPr>
          <a:xfrm>
            <a:off x="2045503" y="4042980"/>
            <a:ext cx="2158201" cy="861774"/>
          </a:xfrm>
          <a:prstGeom prst="rect">
            <a:avLst/>
          </a:prstGeom>
        </p:spPr>
        <p:txBody>
          <a:bodyPr wrap="square">
            <a:spAutoFit/>
          </a:bodyPr>
          <a:lstStyle/>
          <a:p>
            <a:r>
              <a:rPr lang="zh-CN" altLang="en-US" sz="1400" b="1" dirty="0">
                <a:solidFill>
                  <a:srgbClr val="0079C3"/>
                </a:solidFill>
                <a:latin typeface="微软雅黑" panose="020B0503020204020204" pitchFamily="34" charset="-122"/>
                <a:ea typeface="微软雅黑" panose="020B0503020204020204" pitchFamily="34" charset="-122"/>
              </a:rPr>
              <a:t>李振华</a:t>
            </a:r>
            <a:r>
              <a:rPr lang="en-US" altLang="zh-CN" sz="1400" b="1" dirty="0">
                <a:solidFill>
                  <a:srgbClr val="0079C3"/>
                </a:solidFill>
                <a:latin typeface="微软雅黑" panose="020B0503020204020204" pitchFamily="34" charset="-122"/>
                <a:ea typeface="微软雅黑" panose="020B0503020204020204" pitchFamily="34" charset="-122"/>
              </a:rPr>
              <a:t> </a:t>
            </a:r>
            <a:r>
              <a:rPr lang="zh-CN" altLang="en-US" sz="1400" b="1" dirty="0">
                <a:solidFill>
                  <a:srgbClr val="0079C3"/>
                </a:solidFill>
                <a:latin typeface="微软雅黑" panose="020B0503020204020204" pitchFamily="34" charset="-122"/>
                <a:ea typeface="微软雅黑" panose="020B0503020204020204" pitchFamily="34" charset="-122"/>
              </a:rPr>
              <a:t>市场</a:t>
            </a:r>
            <a:endParaRPr lang="en-US" altLang="zh-CN" sz="1400" b="1" dirty="0">
              <a:solidFill>
                <a:srgbClr val="0079C3"/>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南京航空航天大学</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曾任华为通信方案管理和市场规划经理</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10086651" y="3971370"/>
            <a:ext cx="2074038" cy="861774"/>
          </a:xfrm>
          <a:prstGeom prst="rect">
            <a:avLst/>
          </a:prstGeom>
        </p:spPr>
        <p:txBody>
          <a:bodyPr wrap="square">
            <a:spAutoFit/>
          </a:bodyPr>
          <a:lstStyle/>
          <a:p>
            <a:pPr lvl="0"/>
            <a:r>
              <a:rPr lang="zh-CN" altLang="zh-CN" sz="1400" b="1" dirty="0">
                <a:solidFill>
                  <a:srgbClr val="0079C3"/>
                </a:solidFill>
                <a:latin typeface="微软雅黑" panose="020B0503020204020204" pitchFamily="34" charset="-122"/>
                <a:ea typeface="微软雅黑" panose="020B0503020204020204" pitchFamily="34" charset="-122"/>
              </a:rPr>
              <a:t>张腾翔</a:t>
            </a:r>
            <a:r>
              <a:rPr lang="en-US" altLang="zh-CN" sz="1400" b="1" dirty="0">
                <a:solidFill>
                  <a:srgbClr val="0079C3"/>
                </a:solidFill>
                <a:latin typeface="微软雅黑" panose="020B0503020204020204" pitchFamily="34" charset="-122"/>
                <a:ea typeface="微软雅黑" panose="020B0503020204020204" pitchFamily="34" charset="-122"/>
              </a:rPr>
              <a:t> </a:t>
            </a:r>
            <a:r>
              <a:rPr lang="zh-CN" altLang="en-US" sz="1400" b="1" dirty="0">
                <a:solidFill>
                  <a:srgbClr val="0079C3"/>
                </a:solidFill>
                <a:latin typeface="微软雅黑" panose="020B0503020204020204" pitchFamily="34" charset="-122"/>
                <a:ea typeface="微软雅黑" panose="020B0503020204020204" pitchFamily="34" charset="-122"/>
              </a:rPr>
              <a:t>产品</a:t>
            </a:r>
            <a:endParaRPr lang="en-US" altLang="zh-CN" sz="1400" b="1" dirty="0">
              <a:solidFill>
                <a:srgbClr val="0079C3"/>
              </a:solidFill>
              <a:latin typeface="微软雅黑" panose="020B0503020204020204" pitchFamily="34" charset="-122"/>
              <a:ea typeface="微软雅黑" panose="020B0503020204020204" pitchFamily="34" charset="-122"/>
            </a:endParaRPr>
          </a:p>
          <a:p>
            <a:pPr marL="285750" lvl="0" indent="-285750">
              <a:buFont typeface="Wingdings" panose="05000000000000000000" pitchFamily="2" charset="2"/>
              <a:buChar char="p"/>
            </a:pPr>
            <a:r>
              <a:rPr lang="zh-CN" altLang="zh-CN" sz="1200" dirty="0">
                <a:solidFill>
                  <a:schemeClr val="bg1">
                    <a:lumMod val="50000"/>
                  </a:schemeClr>
                </a:solidFill>
                <a:latin typeface="微软雅黑" panose="020B0503020204020204" pitchFamily="34" charset="-122"/>
                <a:ea typeface="微软雅黑" panose="020B0503020204020204" pitchFamily="34" charset="-122"/>
              </a:rPr>
              <a:t>美国圣何塞州立大学</a:t>
            </a:r>
            <a:r>
              <a:rPr lang="en-US" altLang="zh-CN" sz="1200" dirty="0">
                <a:solidFill>
                  <a:schemeClr val="bg1">
                    <a:lumMod val="50000"/>
                  </a:schemeClr>
                </a:solidFill>
                <a:latin typeface="微软雅黑" panose="020B0503020204020204" pitchFamily="34" charset="-122"/>
                <a:ea typeface="微软雅黑" panose="020B0503020204020204" pitchFamily="34" charset="-122"/>
              </a:rPr>
              <a:t> </a:t>
            </a:r>
          </a:p>
          <a:p>
            <a:pPr marL="285750" lvl="0" indent="-285750">
              <a:buFont typeface="Wingdings" panose="05000000000000000000" pitchFamily="2" charset="2"/>
              <a:buChar char="p"/>
            </a:pPr>
            <a:r>
              <a:rPr lang="zh-CN" altLang="en-US" sz="1200" dirty="0">
                <a:solidFill>
                  <a:schemeClr val="bg1">
                    <a:lumMod val="50000"/>
                  </a:schemeClr>
                </a:solidFill>
                <a:latin typeface="微软雅黑" panose="020B0503020204020204" pitchFamily="34" charset="-122"/>
                <a:ea typeface="微软雅黑" panose="020B0503020204020204" pitchFamily="34" charset="-122"/>
              </a:rPr>
              <a:t>曾任</a:t>
            </a:r>
            <a:r>
              <a:rPr lang="zh-CN" altLang="zh-CN" sz="1200" dirty="0">
                <a:solidFill>
                  <a:schemeClr val="bg1">
                    <a:lumMod val="50000"/>
                  </a:schemeClr>
                </a:solidFill>
                <a:latin typeface="微软雅黑" panose="020B0503020204020204" pitchFamily="34" charset="-122"/>
                <a:ea typeface="微软雅黑" panose="020B0503020204020204" pitchFamily="34" charset="-122"/>
              </a:rPr>
              <a:t>台湾光宝公司</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资深</a:t>
            </a:r>
            <a:r>
              <a:rPr lang="zh-CN" altLang="zh-CN" sz="1200" dirty="0">
                <a:solidFill>
                  <a:schemeClr val="bg1">
                    <a:lumMod val="50000"/>
                  </a:schemeClr>
                </a:solidFill>
                <a:latin typeface="微软雅黑" panose="020B0503020204020204" pitchFamily="34" charset="-122"/>
                <a:ea typeface="微软雅黑" panose="020B0503020204020204" pitchFamily="34" charset="-122"/>
              </a:rPr>
              <a:t>产品</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经理</a:t>
            </a:r>
            <a:endParaRPr lang="en-US" altLang="zh-CN" sz="12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rotWithShape="1">
          <a:blip r:embed="rId5"/>
          <a:srcRect r="7443"/>
          <a:stretch/>
        </p:blipFill>
        <p:spPr>
          <a:xfrm>
            <a:off x="8610600" y="3985666"/>
            <a:ext cx="1268470" cy="1667111"/>
          </a:xfrm>
          <a:prstGeom prst="rect">
            <a:avLst/>
          </a:prstGeom>
          <a:ln>
            <a:noFill/>
          </a:ln>
          <a:effectLst>
            <a:outerShdw blurRad="292100" dist="139700" dir="2700000" algn="tl" rotWithShape="0">
              <a:srgbClr val="333333">
                <a:alpha val="65000"/>
              </a:srgbClr>
            </a:outerShdw>
          </a:effectLst>
        </p:spPr>
      </p:pic>
      <p:pic>
        <p:nvPicPr>
          <p:cNvPr id="18" name="图片 17"/>
          <p:cNvPicPr>
            <a:picLocks noChangeAspect="1"/>
          </p:cNvPicPr>
          <p:nvPr/>
        </p:nvPicPr>
        <p:blipFill>
          <a:blip r:embed="rId6"/>
          <a:stretch>
            <a:fillRect/>
          </a:stretch>
        </p:blipFill>
        <p:spPr>
          <a:xfrm>
            <a:off x="560196" y="3935608"/>
            <a:ext cx="1280630" cy="1667111"/>
          </a:xfrm>
          <a:prstGeom prst="rect">
            <a:avLst/>
          </a:prstGeom>
          <a:ln>
            <a:noFill/>
          </a:ln>
          <a:effectLst>
            <a:outerShdw blurRad="292100" dist="139700" dir="2700000" algn="tl" rotWithShape="0">
              <a:srgbClr val="333333">
                <a:alpha val="65000"/>
              </a:srgbClr>
            </a:outerShdw>
          </a:effectLst>
        </p:spPr>
      </p:pic>
      <p:pic>
        <p:nvPicPr>
          <p:cNvPr id="19" name="图片 18"/>
          <p:cNvPicPr>
            <a:picLocks noChangeAspect="1"/>
          </p:cNvPicPr>
          <p:nvPr/>
        </p:nvPicPr>
        <p:blipFill>
          <a:blip r:embed="rId7"/>
          <a:stretch>
            <a:fillRect/>
          </a:stretch>
        </p:blipFill>
        <p:spPr>
          <a:xfrm>
            <a:off x="3814351" y="2450004"/>
            <a:ext cx="911101" cy="395466"/>
          </a:xfrm>
          <a:prstGeom prst="rect">
            <a:avLst/>
          </a:prstGeom>
        </p:spPr>
      </p:pic>
      <p:pic>
        <p:nvPicPr>
          <p:cNvPr id="20" name="图片 19"/>
          <p:cNvPicPr>
            <a:picLocks noChangeAspect="1"/>
          </p:cNvPicPr>
          <p:nvPr/>
        </p:nvPicPr>
        <p:blipFill>
          <a:blip r:embed="rId8"/>
          <a:stretch>
            <a:fillRect/>
          </a:stretch>
        </p:blipFill>
        <p:spPr>
          <a:xfrm>
            <a:off x="2626721" y="4959185"/>
            <a:ext cx="649931" cy="540835"/>
          </a:xfrm>
          <a:prstGeom prst="rect">
            <a:avLst/>
          </a:prstGeom>
        </p:spPr>
      </p:pic>
      <p:pic>
        <p:nvPicPr>
          <p:cNvPr id="21" name="图片 20"/>
          <p:cNvPicPr>
            <a:picLocks noChangeAspect="1"/>
          </p:cNvPicPr>
          <p:nvPr/>
        </p:nvPicPr>
        <p:blipFill>
          <a:blip r:embed="rId9"/>
          <a:stretch>
            <a:fillRect/>
          </a:stretch>
        </p:blipFill>
        <p:spPr>
          <a:xfrm>
            <a:off x="9226425" y="2597832"/>
            <a:ext cx="1000539" cy="400969"/>
          </a:xfrm>
          <a:prstGeom prst="rect">
            <a:avLst/>
          </a:prstGeom>
        </p:spPr>
      </p:pic>
      <p:pic>
        <p:nvPicPr>
          <p:cNvPr id="22" name="图片 21"/>
          <p:cNvPicPr>
            <a:picLocks noChangeAspect="1"/>
          </p:cNvPicPr>
          <p:nvPr/>
        </p:nvPicPr>
        <p:blipFill>
          <a:blip r:embed="rId10"/>
          <a:stretch>
            <a:fillRect/>
          </a:stretch>
        </p:blipFill>
        <p:spPr>
          <a:xfrm>
            <a:off x="10318282" y="5183584"/>
            <a:ext cx="1295371" cy="396078"/>
          </a:xfrm>
          <a:prstGeom prst="rect">
            <a:avLst/>
          </a:prstGeom>
        </p:spPr>
      </p:pic>
      <p:pic>
        <p:nvPicPr>
          <p:cNvPr id="23" name="图片 22"/>
          <p:cNvPicPr>
            <a:picLocks noChangeAspect="1"/>
          </p:cNvPicPr>
          <p:nvPr/>
        </p:nvPicPr>
        <p:blipFill>
          <a:blip r:embed="rId11"/>
          <a:stretch>
            <a:fillRect/>
          </a:stretch>
        </p:blipFill>
        <p:spPr>
          <a:xfrm>
            <a:off x="4622544" y="3973148"/>
            <a:ext cx="1332116" cy="1687972"/>
          </a:xfrm>
          <a:prstGeom prst="rect">
            <a:avLst/>
          </a:prstGeom>
          <a:ln>
            <a:noFill/>
          </a:ln>
          <a:effectLst>
            <a:outerShdw blurRad="292100" dist="139700" dir="2700000" algn="tl" rotWithShape="0">
              <a:srgbClr val="333333">
                <a:alpha val="65000"/>
              </a:srgbClr>
            </a:outerShdw>
          </a:effectLst>
        </p:spPr>
      </p:pic>
      <p:sp>
        <p:nvSpPr>
          <p:cNvPr id="24" name="矩形 23">
            <a:extLst>
              <a:ext uri="{FF2B5EF4-FFF2-40B4-BE49-F238E27FC236}">
                <a16:creationId xmlns:a16="http://schemas.microsoft.com/office/drawing/2014/main" id="{3D5401DF-4D32-4488-89B7-9F0C0B9CB723}"/>
              </a:ext>
            </a:extLst>
          </p:cNvPr>
          <p:cNvSpPr/>
          <p:nvPr/>
        </p:nvSpPr>
        <p:spPr>
          <a:xfrm>
            <a:off x="6052482" y="4034412"/>
            <a:ext cx="2158201" cy="1231106"/>
          </a:xfrm>
          <a:prstGeom prst="rect">
            <a:avLst/>
          </a:prstGeom>
        </p:spPr>
        <p:txBody>
          <a:bodyPr wrap="square">
            <a:spAutoFit/>
          </a:bodyPr>
          <a:lstStyle/>
          <a:p>
            <a:r>
              <a:rPr lang="zh-CN" altLang="en-US" sz="1400" b="1" dirty="0" smtClean="0">
                <a:solidFill>
                  <a:srgbClr val="0079C3"/>
                </a:solidFill>
                <a:latin typeface="微软雅黑" panose="020B0503020204020204" pitchFamily="34" charset="-122"/>
                <a:ea typeface="微软雅黑" panose="020B0503020204020204" pitchFamily="34" charset="-122"/>
              </a:rPr>
              <a:t>冯文 方案与测试</a:t>
            </a:r>
          </a:p>
          <a:p>
            <a:pPr marL="285750" indent="-285750">
              <a:buFont typeface="Wingdings" panose="05000000000000000000" pitchFamily="2" charset="2"/>
              <a:buChar char="p"/>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诺基亚</a:t>
            </a:r>
            <a:r>
              <a:rPr lang="en-US" altLang="zh-CN" sz="1200" dirty="0" smtClean="0">
                <a:solidFill>
                  <a:schemeClr val="bg1">
                    <a:lumMod val="50000"/>
                  </a:schemeClr>
                </a:solidFill>
                <a:latin typeface="微软雅黑" panose="020B0503020204020204" pitchFamily="34" charset="-122"/>
                <a:ea typeface="微软雅黑" panose="020B0503020204020204" pitchFamily="34" charset="-122"/>
              </a:rPr>
              <a:t>5G</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基站产品线测试应用总监</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某通信终端测试公司创始人，服务苹果，华为最新旗舰机型测试业务</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p:txBody>
      </p:sp>
      <p:pic>
        <p:nvPicPr>
          <p:cNvPr id="25" name="图片 24"/>
          <p:cNvPicPr>
            <a:picLocks noChangeAspect="1"/>
          </p:cNvPicPr>
          <p:nvPr/>
        </p:nvPicPr>
        <p:blipFill>
          <a:blip r:embed="rId12"/>
          <a:stretch>
            <a:fillRect/>
          </a:stretch>
        </p:blipFill>
        <p:spPr>
          <a:xfrm>
            <a:off x="6465318" y="5273862"/>
            <a:ext cx="1422537" cy="305800"/>
          </a:xfrm>
          <a:prstGeom prst="rect">
            <a:avLst/>
          </a:prstGeom>
        </p:spPr>
      </p:pic>
      <p:pic>
        <p:nvPicPr>
          <p:cNvPr id="26" name="图片 25"/>
          <p:cNvPicPr>
            <a:picLocks noChangeAspect="1"/>
          </p:cNvPicPr>
          <p:nvPr/>
        </p:nvPicPr>
        <p:blipFill>
          <a:blip r:embed="rId13"/>
          <a:stretch>
            <a:fillRect/>
          </a:stretch>
        </p:blipFill>
        <p:spPr>
          <a:xfrm>
            <a:off x="10668000" y="363037"/>
            <a:ext cx="1524000" cy="658561"/>
          </a:xfrm>
          <a:prstGeom prst="rect">
            <a:avLst/>
          </a:prstGeom>
        </p:spPr>
      </p:pic>
    </p:spTree>
    <p:extLst>
      <p:ext uri="{BB962C8B-B14F-4D97-AF65-F5344CB8AC3E}">
        <p14:creationId xmlns:p14="http://schemas.microsoft.com/office/powerpoint/2010/main" val="3618986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bwMode="auto">
      <p:bgPr>
        <a:solidFill>
          <a:srgbClr val="0078FF"/>
        </a:solidFill>
        <a:effectLst/>
      </p:bgPr>
    </p:bg>
    <p:spTree>
      <p:nvGrpSpPr>
        <p:cNvPr id="1" name=""/>
        <p:cNvGrpSpPr/>
        <p:nvPr/>
      </p:nvGrpSpPr>
      <p:grpSpPr>
        <a:xfrm>
          <a:off x="0" y="0"/>
          <a:ext cx="0" cy="0"/>
          <a:chOff x="0" y="0"/>
          <a:chExt cx="0" cy="0"/>
        </a:xfrm>
      </p:grpSpPr>
      <p:sp>
        <p:nvSpPr>
          <p:cNvPr id="5" name="任意形状 4"/>
          <p:cNvSpPr/>
          <p:nvPr/>
        </p:nvSpPr>
        <p:spPr>
          <a:xfrm>
            <a:off x="3599724" y="2208632"/>
            <a:ext cx="4850413" cy="649131"/>
          </a:xfrm>
          <a:custGeom>
            <a:avLst/>
            <a:gdLst/>
            <a:ahLst/>
            <a:cxnLst/>
            <a:rect l="l" t="t" r="r" b="b"/>
            <a:pathLst>
              <a:path w="2688822" h="359845">
                <a:moveTo>
                  <a:pt x="742236" y="101747"/>
                </a:moveTo>
                <a:cubicBezTo>
                  <a:pt x="738035" y="118549"/>
                  <a:pt x="733835" y="130683"/>
                  <a:pt x="730101" y="139551"/>
                </a:cubicBezTo>
                <a:lnTo>
                  <a:pt x="696030" y="215627"/>
                </a:lnTo>
                <a:lnTo>
                  <a:pt x="788908" y="215627"/>
                </a:lnTo>
                <a:lnTo>
                  <a:pt x="754838" y="139551"/>
                </a:lnTo>
                <a:cubicBezTo>
                  <a:pt x="751104" y="130683"/>
                  <a:pt x="746903" y="118549"/>
                  <a:pt x="742236" y="101747"/>
                </a:cubicBezTo>
                <a:close/>
                <a:moveTo>
                  <a:pt x="2180025" y="55541"/>
                </a:moveTo>
                <a:cubicBezTo>
                  <a:pt x="2147821" y="55541"/>
                  <a:pt x="2117017" y="68142"/>
                  <a:pt x="2093681" y="91945"/>
                </a:cubicBezTo>
                <a:cubicBezTo>
                  <a:pt x="2070345" y="115748"/>
                  <a:pt x="2058210" y="147019"/>
                  <a:pt x="2058210" y="180623"/>
                </a:cubicBezTo>
                <a:cubicBezTo>
                  <a:pt x="2058210" y="214227"/>
                  <a:pt x="2070345" y="245031"/>
                  <a:pt x="2093681" y="268834"/>
                </a:cubicBezTo>
                <a:cubicBezTo>
                  <a:pt x="2117017" y="292637"/>
                  <a:pt x="2147354" y="305239"/>
                  <a:pt x="2180025" y="305239"/>
                </a:cubicBezTo>
                <a:cubicBezTo>
                  <a:pt x="2212696" y="305239"/>
                  <a:pt x="2242566" y="292637"/>
                  <a:pt x="2265903" y="268834"/>
                </a:cubicBezTo>
                <a:cubicBezTo>
                  <a:pt x="2289239" y="245031"/>
                  <a:pt x="2301840" y="214227"/>
                  <a:pt x="2301840" y="180623"/>
                </a:cubicBezTo>
                <a:cubicBezTo>
                  <a:pt x="2301840" y="147019"/>
                  <a:pt x="2289239" y="115748"/>
                  <a:pt x="2265903" y="91945"/>
                </a:cubicBezTo>
                <a:cubicBezTo>
                  <a:pt x="2243033" y="68142"/>
                  <a:pt x="2212229" y="55541"/>
                  <a:pt x="2180025" y="55541"/>
                </a:cubicBezTo>
                <a:close/>
                <a:moveTo>
                  <a:pt x="2414854" y="13069"/>
                </a:moveTo>
                <a:lnTo>
                  <a:pt x="2468528" y="13069"/>
                </a:lnTo>
                <a:lnTo>
                  <a:pt x="2468528" y="215627"/>
                </a:lnTo>
                <a:cubicBezTo>
                  <a:pt x="2468528" y="275835"/>
                  <a:pt x="2496531" y="306172"/>
                  <a:pt x="2551605" y="306172"/>
                </a:cubicBezTo>
                <a:cubicBezTo>
                  <a:pt x="2606679" y="306172"/>
                  <a:pt x="2634682" y="275835"/>
                  <a:pt x="2634682" y="215627"/>
                </a:cubicBezTo>
                <a:lnTo>
                  <a:pt x="2634682" y="13069"/>
                </a:lnTo>
                <a:lnTo>
                  <a:pt x="2688822" y="13069"/>
                </a:lnTo>
                <a:lnTo>
                  <a:pt x="2688822" y="220761"/>
                </a:lnTo>
                <a:cubicBezTo>
                  <a:pt x="2688822" y="310839"/>
                  <a:pt x="2643550" y="355645"/>
                  <a:pt x="2551605" y="355645"/>
                </a:cubicBezTo>
                <a:cubicBezTo>
                  <a:pt x="2459660" y="355645"/>
                  <a:pt x="2414854" y="310839"/>
                  <a:pt x="2414854" y="220761"/>
                </a:cubicBezTo>
                <a:close/>
                <a:moveTo>
                  <a:pt x="1699375" y="13069"/>
                </a:moveTo>
                <a:lnTo>
                  <a:pt x="1756315" y="13069"/>
                </a:lnTo>
                <a:lnTo>
                  <a:pt x="1826324" y="126483"/>
                </a:lnTo>
                <a:cubicBezTo>
                  <a:pt x="1827724" y="128817"/>
                  <a:pt x="1832858" y="137684"/>
                  <a:pt x="1840325" y="153086"/>
                </a:cubicBezTo>
                <a:cubicBezTo>
                  <a:pt x="1844526" y="142352"/>
                  <a:pt x="1849193" y="133017"/>
                  <a:pt x="1854327" y="125083"/>
                </a:cubicBezTo>
                <a:lnTo>
                  <a:pt x="1926203" y="13069"/>
                </a:lnTo>
                <a:lnTo>
                  <a:pt x="1980343" y="13069"/>
                </a:lnTo>
                <a:lnTo>
                  <a:pt x="1865529" y="194158"/>
                </a:lnTo>
                <a:lnTo>
                  <a:pt x="1865529" y="346777"/>
                </a:lnTo>
                <a:lnTo>
                  <a:pt x="1811855" y="346777"/>
                </a:lnTo>
                <a:lnTo>
                  <a:pt x="1811855" y="194158"/>
                </a:lnTo>
                <a:close/>
                <a:moveTo>
                  <a:pt x="1301830" y="13069"/>
                </a:moveTo>
                <a:lnTo>
                  <a:pt x="1355970" y="13069"/>
                </a:lnTo>
                <a:lnTo>
                  <a:pt x="1355970" y="151219"/>
                </a:lnTo>
                <a:lnTo>
                  <a:pt x="1475918" y="13069"/>
                </a:lnTo>
                <a:lnTo>
                  <a:pt x="1542193" y="13069"/>
                </a:lnTo>
                <a:lnTo>
                  <a:pt x="1410110" y="161487"/>
                </a:lnTo>
                <a:lnTo>
                  <a:pt x="1558062" y="346777"/>
                </a:lnTo>
                <a:lnTo>
                  <a:pt x="1488053" y="346777"/>
                </a:lnTo>
                <a:lnTo>
                  <a:pt x="1355970" y="176423"/>
                </a:lnTo>
                <a:lnTo>
                  <a:pt x="1355970" y="346777"/>
                </a:lnTo>
                <a:lnTo>
                  <a:pt x="1301830" y="346777"/>
                </a:lnTo>
                <a:close/>
                <a:moveTo>
                  <a:pt x="273130" y="13069"/>
                </a:moveTo>
                <a:lnTo>
                  <a:pt x="327270" y="13069"/>
                </a:lnTo>
                <a:lnTo>
                  <a:pt x="327270" y="136284"/>
                </a:lnTo>
                <a:lnTo>
                  <a:pt x="491557" y="136284"/>
                </a:lnTo>
                <a:lnTo>
                  <a:pt x="491557" y="13069"/>
                </a:lnTo>
                <a:lnTo>
                  <a:pt x="545697" y="13069"/>
                </a:lnTo>
                <a:lnTo>
                  <a:pt x="545697" y="346777"/>
                </a:lnTo>
                <a:lnTo>
                  <a:pt x="491557" y="346777"/>
                </a:lnTo>
                <a:lnTo>
                  <a:pt x="491557" y="184824"/>
                </a:lnTo>
                <a:lnTo>
                  <a:pt x="327270" y="184824"/>
                </a:lnTo>
                <a:lnTo>
                  <a:pt x="327270" y="346777"/>
                </a:lnTo>
                <a:lnTo>
                  <a:pt x="273130" y="346777"/>
                </a:lnTo>
                <a:close/>
                <a:moveTo>
                  <a:pt x="0" y="13069"/>
                </a:moveTo>
                <a:lnTo>
                  <a:pt x="231029" y="13069"/>
                </a:lnTo>
                <a:lnTo>
                  <a:pt x="231029" y="59275"/>
                </a:lnTo>
                <a:lnTo>
                  <a:pt x="142818" y="59275"/>
                </a:lnTo>
                <a:lnTo>
                  <a:pt x="142818" y="346777"/>
                </a:lnTo>
                <a:lnTo>
                  <a:pt x="88678" y="346777"/>
                </a:lnTo>
                <a:lnTo>
                  <a:pt x="88678" y="59275"/>
                </a:lnTo>
                <a:lnTo>
                  <a:pt x="0" y="59275"/>
                </a:lnTo>
                <a:close/>
                <a:moveTo>
                  <a:pt x="2180025" y="5601"/>
                </a:moveTo>
                <a:cubicBezTo>
                  <a:pt x="2228098" y="5601"/>
                  <a:pt x="2271970" y="23337"/>
                  <a:pt x="2306041" y="56474"/>
                </a:cubicBezTo>
                <a:cubicBezTo>
                  <a:pt x="2340112" y="90078"/>
                  <a:pt x="2358314" y="133484"/>
                  <a:pt x="2358314" y="180623"/>
                </a:cubicBezTo>
                <a:cubicBezTo>
                  <a:pt x="2358314" y="228229"/>
                  <a:pt x="2340112" y="271168"/>
                  <a:pt x="2306041" y="304305"/>
                </a:cubicBezTo>
                <a:cubicBezTo>
                  <a:pt x="2271970" y="337443"/>
                  <a:pt x="2227631" y="355645"/>
                  <a:pt x="2180025" y="355645"/>
                </a:cubicBezTo>
                <a:cubicBezTo>
                  <a:pt x="2132419" y="355645"/>
                  <a:pt x="2087147" y="337443"/>
                  <a:pt x="2053543" y="304305"/>
                </a:cubicBezTo>
                <a:cubicBezTo>
                  <a:pt x="2019472" y="271168"/>
                  <a:pt x="2001736" y="228229"/>
                  <a:pt x="2001736" y="180623"/>
                </a:cubicBezTo>
                <a:cubicBezTo>
                  <a:pt x="2001736" y="133017"/>
                  <a:pt x="2019472" y="90078"/>
                  <a:pt x="2053543" y="56474"/>
                </a:cubicBezTo>
                <a:cubicBezTo>
                  <a:pt x="2087613" y="23337"/>
                  <a:pt x="2131952" y="5601"/>
                  <a:pt x="2180025" y="5601"/>
                </a:cubicBezTo>
                <a:close/>
                <a:moveTo>
                  <a:pt x="930355" y="0"/>
                </a:moveTo>
                <a:lnTo>
                  <a:pt x="1142248" y="203959"/>
                </a:lnTo>
                <a:cubicBezTo>
                  <a:pt x="1155783" y="217028"/>
                  <a:pt x="1167451" y="230563"/>
                  <a:pt x="1178652" y="244564"/>
                </a:cubicBezTo>
                <a:lnTo>
                  <a:pt x="1178652" y="13069"/>
                </a:lnTo>
                <a:lnTo>
                  <a:pt x="1228592" y="13069"/>
                </a:lnTo>
                <a:lnTo>
                  <a:pt x="1228592" y="359845"/>
                </a:lnTo>
                <a:lnTo>
                  <a:pt x="1012498" y="152153"/>
                </a:lnTo>
                <a:cubicBezTo>
                  <a:pt x="1000363" y="140485"/>
                  <a:pt x="989629" y="127883"/>
                  <a:pt x="980294" y="114815"/>
                </a:cubicBezTo>
                <a:lnTo>
                  <a:pt x="980294" y="346777"/>
                </a:lnTo>
                <a:lnTo>
                  <a:pt x="930355" y="346777"/>
                </a:lnTo>
                <a:close/>
                <a:moveTo>
                  <a:pt x="741769" y="0"/>
                </a:moveTo>
                <a:lnTo>
                  <a:pt x="903256" y="346777"/>
                </a:lnTo>
                <a:lnTo>
                  <a:pt x="845849" y="346777"/>
                </a:lnTo>
                <a:lnTo>
                  <a:pt x="808044" y="260900"/>
                </a:lnTo>
                <a:lnTo>
                  <a:pt x="675961" y="260900"/>
                </a:lnTo>
                <a:lnTo>
                  <a:pt x="637223" y="346777"/>
                </a:lnTo>
                <a:lnTo>
                  <a:pt x="580282" y="34677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696" y="3636901"/>
            <a:ext cx="6638558" cy="1648971"/>
          </a:xfrm>
          <a:prstGeom prst="rect">
            <a:avLst/>
          </a:prstGeom>
        </p:spPr>
      </p:pic>
    </p:spTree>
    <p:extLst>
      <p:ext uri="{BB962C8B-B14F-4D97-AF65-F5344CB8AC3E}">
        <p14:creationId xmlns:p14="http://schemas.microsoft.com/office/powerpoint/2010/main" val="18987414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p模板" id="{23ADFDD9-9AAA-A845-9EF3-16D7734DF88C}" vid="{6C9F0446-ACF4-5B4E-A77A-B98DF9EE4EAB}"/>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8244</TotalTime>
  <Words>1957</Words>
  <Application>Microsoft Office PowerPoint</Application>
  <PresentationFormat>宽屏</PresentationFormat>
  <Paragraphs>293</Paragraphs>
  <Slides>21</Slides>
  <Notes>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vt:i4>
      </vt:variant>
      <vt:variant>
        <vt:lpstr>幻灯片标题</vt:lpstr>
      </vt:variant>
      <vt:variant>
        <vt:i4>21</vt:i4>
      </vt:variant>
    </vt:vector>
  </HeadingPairs>
  <TitlesOfParts>
    <vt:vector size="41" baseType="lpstr">
      <vt:lpstr>Gill Sans</vt:lpstr>
      <vt:lpstr>Helvetica Neue</vt:lpstr>
      <vt:lpstr>微軟正黑體</vt:lpstr>
      <vt:lpstr>Microsoft YaHei UI</vt:lpstr>
      <vt:lpstr>等线</vt:lpstr>
      <vt:lpstr>等线</vt:lpstr>
      <vt:lpstr>DengXian Light</vt:lpstr>
      <vt:lpstr>DengXian Light</vt:lpstr>
      <vt:lpstr>宋体</vt:lpstr>
      <vt:lpstr>Microsoft YaHei</vt:lpstr>
      <vt:lpstr>Microsoft YaHei</vt:lpstr>
      <vt:lpstr>幼圆</vt:lpstr>
      <vt:lpstr>Arial</vt:lpstr>
      <vt:lpstr>Bauhaus 93</vt:lpstr>
      <vt:lpstr>Calibri</vt:lpstr>
      <vt:lpstr>Times New Roman</vt:lpstr>
      <vt:lpstr>Wingdings</vt:lpstr>
      <vt:lpstr>Office 主题​​</vt:lpstr>
      <vt:lpstr>Office 主题</vt:lpstr>
      <vt:lpstr>Visio</vt:lpstr>
      <vt:lpstr>PowerPoint 演示文稿</vt:lpstr>
      <vt:lpstr>四季豆项目投资亮点</vt:lpstr>
      <vt:lpstr>四季豆公司简介</vt:lpstr>
      <vt:lpstr>PLC-IoT 技术简介</vt:lpstr>
      <vt:lpstr>PLC-IoT 为全屋智能而生</vt:lpstr>
      <vt:lpstr>PLC-IoT技术，极简施工，无需布线，上电即自动完成组网</vt:lpstr>
      <vt:lpstr>PLC-IoT 产业发展</vt:lpstr>
      <vt:lpstr>PLC-IoT 产业发展</vt:lpstr>
      <vt:lpstr>PLC-IoT 市场容量（智能照明领域）</vt:lpstr>
      <vt:lpstr>PLC-IoT 市场容量（全屋智能领域）</vt:lpstr>
      <vt:lpstr>四季豆产品形态、应用领域及商业模式</vt:lpstr>
      <vt:lpstr>四季豆产品1：PLC-IoT载波通信芯片 SIG996（量产）</vt:lpstr>
      <vt:lpstr>四季豆产品1：PLC-IoT载波通信芯片 SIG996（量产）</vt:lpstr>
      <vt:lpstr>四季豆产品2：HPLC+HRF 双模单芯片 SIG800（即将量产）</vt:lpstr>
      <vt:lpstr>市场/竞争情况</vt:lpstr>
      <vt:lpstr>财务预测</vt:lpstr>
      <vt:lpstr>融资需求</vt:lpstr>
      <vt:lpstr>公司组织架构</vt:lpstr>
      <vt:lpstr>创始人</vt:lpstr>
      <vt:lpstr>核心团队</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 越</dc:creator>
  <cp:lastModifiedBy>Trump Kin</cp:lastModifiedBy>
  <cp:revision>123</cp:revision>
  <dcterms:created xsi:type="dcterms:W3CDTF">2021-02-19T02:13:45Z</dcterms:created>
  <dcterms:modified xsi:type="dcterms:W3CDTF">2021-06-01T11:47:09Z</dcterms:modified>
</cp:coreProperties>
</file>