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handoutMasterIdLst>
    <p:handoutMasterId r:id="rId31"/>
  </p:handoutMasterIdLst>
  <p:sldIdLst>
    <p:sldId id="877" r:id="rId2"/>
    <p:sldId id="257" r:id="rId3"/>
    <p:sldId id="879" r:id="rId4"/>
    <p:sldId id="880" r:id="rId5"/>
    <p:sldId id="902" r:id="rId6"/>
    <p:sldId id="932" r:id="rId7"/>
    <p:sldId id="258" r:id="rId8"/>
    <p:sldId id="886" r:id="rId9"/>
    <p:sldId id="892" r:id="rId10"/>
    <p:sldId id="907" r:id="rId11"/>
    <p:sldId id="912" r:id="rId12"/>
    <p:sldId id="891" r:id="rId13"/>
    <p:sldId id="914" r:id="rId14"/>
    <p:sldId id="929" r:id="rId15"/>
    <p:sldId id="915" r:id="rId16"/>
    <p:sldId id="923" r:id="rId17"/>
    <p:sldId id="925" r:id="rId18"/>
    <p:sldId id="926" r:id="rId19"/>
    <p:sldId id="927" r:id="rId20"/>
    <p:sldId id="928" r:id="rId21"/>
    <p:sldId id="898" r:id="rId22"/>
    <p:sldId id="903" r:id="rId23"/>
    <p:sldId id="905" r:id="rId24"/>
    <p:sldId id="940" r:id="rId25"/>
    <p:sldId id="931" r:id="rId26"/>
    <p:sldId id="896" r:id="rId27"/>
    <p:sldId id="904" r:id="rId28"/>
    <p:sldId id="264"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87" d="100"/>
          <a:sy n="87" d="100"/>
        </p:scale>
        <p:origin x="192" y="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C:\Users\Administrator\Documents\WeChat%20Files\wxid_vkblqwcthdmf22\FileStorage\File\2025-07\&#24066;&#22330;&#39044;&#27979;.xlsx" TargetMode="Externa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C:\Users\Administrator\Documents\WeChat%20Files\wxid_vkblqwcthdmf22\FileStorage\File\2025-07\&#24066;&#22330;&#39044;&#27979;.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4998540826683299"/>
          <c:y val="7.2619757390580103E-2"/>
          <c:w val="0.79313401078157297"/>
          <c:h val="0.699336064694277"/>
        </c:manualLayout>
      </c:layout>
      <c:scatterChart>
        <c:scatterStyle val="smoothMarker"/>
        <c:varyColors val="0"/>
        <c:ser>
          <c:idx val="0"/>
          <c:order val="0"/>
          <c:spPr>
            <a:ln w="25400" cap="rnd">
              <a:solidFill>
                <a:srgbClr val="00B0F0"/>
              </a:solidFill>
              <a:round/>
            </a:ln>
            <a:effectLst>
              <a:outerShdw blurRad="57150" dist="19050" dir="5400000" algn="ctr" rotWithShape="0">
                <a:srgbClr val="000000">
                  <a:alpha val="63000"/>
                </a:srgbClr>
              </a:outerShdw>
            </a:effectLst>
          </c:spPr>
          <c:marker>
            <c:symbol val="none"/>
          </c:marker>
          <c:dLbls>
            <c:numFmt formatCode="#,##0_);[Red]\(#,##0\)" sourceLinked="0"/>
            <c:spPr>
              <a:noFill/>
              <a:ln>
                <a:noFill/>
              </a:ln>
              <a:effectLst/>
            </c:spPr>
            <c:txPr>
              <a:bodyPr rot="0" spcFirstLastPara="1" vertOverflow="ellipsis" vert="horz" wrap="square" lIns="38100" tIns="19050" rIns="38100" bIns="19050" anchor="ctr" anchorCtr="1">
                <a:spAutoFit/>
              </a:bodyPr>
              <a:lstStyle/>
              <a:p>
                <a:pPr>
                  <a:defRPr lang="zh-CN" sz="1200" b="1" i="0" u="none" strike="noStrike" kern="1200" baseline="0">
                    <a:solidFill>
                      <a:schemeClr val="tx1"/>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Φύλλο1!$A$2:$A$8</c:f>
              <c:numCache>
                <c:formatCode>General</c:formatCode>
                <c:ptCount val="7"/>
                <c:pt idx="0">
                  <c:v>2024</c:v>
                </c:pt>
                <c:pt idx="1">
                  <c:v>2025</c:v>
                </c:pt>
                <c:pt idx="2">
                  <c:v>2026</c:v>
                </c:pt>
                <c:pt idx="3">
                  <c:v>2027</c:v>
                </c:pt>
                <c:pt idx="4">
                  <c:v>2028</c:v>
                </c:pt>
                <c:pt idx="5">
                  <c:v>2029</c:v>
                </c:pt>
                <c:pt idx="6">
                  <c:v>2030</c:v>
                </c:pt>
              </c:numCache>
            </c:numRef>
          </c:xVal>
          <c:yVal>
            <c:numRef>
              <c:f>Φύλλο1!$C$2:$C$8</c:f>
              <c:numCache>
                <c:formatCode>General</c:formatCode>
                <c:ptCount val="7"/>
                <c:pt idx="0">
                  <c:v>21.58</c:v>
                </c:pt>
                <c:pt idx="1">
                  <c:v>34.81</c:v>
                </c:pt>
                <c:pt idx="2">
                  <c:v>56.14</c:v>
                </c:pt>
                <c:pt idx="3">
                  <c:v>90.56</c:v>
                </c:pt>
                <c:pt idx="4">
                  <c:v>146.06</c:v>
                </c:pt>
                <c:pt idx="5">
                  <c:v>235.59</c:v>
                </c:pt>
                <c:pt idx="6">
                  <c:v>380</c:v>
                </c:pt>
              </c:numCache>
            </c:numRef>
          </c:yVal>
          <c:smooth val="1"/>
          <c:extLst>
            <c:ext xmlns:c16="http://schemas.microsoft.com/office/drawing/2014/chart" uri="{C3380CC4-5D6E-409C-BE32-E72D297353CC}">
              <c16:uniqueId val="{00000000-3DF3-4B38-87C2-B6B46A935272}"/>
            </c:ext>
          </c:extLst>
        </c:ser>
        <c:dLbls>
          <c:showLegendKey val="0"/>
          <c:showVal val="0"/>
          <c:showCatName val="0"/>
          <c:showSerName val="0"/>
          <c:showPercent val="0"/>
          <c:showBubbleSize val="0"/>
        </c:dLbls>
        <c:axId val="2126547311"/>
        <c:axId val="2126548271"/>
      </c:scatterChart>
      <c:valAx>
        <c:axId val="2126547311"/>
        <c:scaling>
          <c:orientation val="minMax"/>
          <c:max val="2030"/>
          <c:min val="2024"/>
        </c:scaling>
        <c:delete val="0"/>
        <c:axPos val="b"/>
        <c:numFmt formatCode="General" sourceLinked="1"/>
        <c:majorTickMark val="out"/>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00" b="1" i="0" u="none" strike="noStrike" kern="1200" baseline="0">
                <a:solidFill>
                  <a:schemeClr val="tx1"/>
                </a:solidFill>
                <a:latin typeface="+mn-lt"/>
                <a:ea typeface="+mj-ea"/>
                <a:cs typeface="Times New Roman" panose="02020603050405020304" pitchFamily="18" charset="0"/>
              </a:defRPr>
            </a:pPr>
            <a:endParaRPr lang="zh-CN"/>
          </a:p>
        </c:txPr>
        <c:crossAx val="2126548271"/>
        <c:crosses val="autoZero"/>
        <c:crossBetween val="midCat"/>
      </c:valAx>
      <c:valAx>
        <c:axId val="212654827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zh-CN" sz="900" b="1" i="0" u="none" strike="noStrike" kern="1200" baseline="0">
                    <a:solidFill>
                      <a:schemeClr val="tx1"/>
                    </a:solidFill>
                    <a:latin typeface="宋体" panose="02010600030101010101" pitchFamily="2" charset="-122"/>
                    <a:ea typeface="宋体" panose="02010600030101010101" pitchFamily="2" charset="-122"/>
                    <a:cs typeface="+mn-cs"/>
                  </a:defRPr>
                </a:pPr>
                <a:r>
                  <a:rPr lang="zh-CN" altLang="en-US" sz="1100" b="1">
                    <a:solidFill>
                      <a:schemeClr val="tx1"/>
                    </a:solidFill>
                    <a:latin typeface="宋体" panose="02010600030101010101" pitchFamily="2" charset="-122"/>
                    <a:ea typeface="宋体" panose="02010600030101010101" pitchFamily="2" charset="-122"/>
                  </a:rPr>
                  <a:t>亿人民币</a:t>
                </a:r>
              </a:p>
            </c:rich>
          </c:tx>
          <c:layout>
            <c:manualLayout>
              <c:xMode val="edge"/>
              <c:yMode val="edge"/>
              <c:x val="2.98173791181146E-3"/>
              <c:y val="0.30594086363324902"/>
            </c:manualLayout>
          </c:layout>
          <c:overlay val="0"/>
          <c:spPr>
            <a:noFill/>
            <a:ln>
              <a:noFill/>
            </a:ln>
            <a:effectLst/>
          </c:spPr>
          <c:txPr>
            <a:bodyPr rot="-5400000" spcFirstLastPara="1" vertOverflow="ellipsis" vert="horz" wrap="square" anchor="ctr" anchorCtr="1"/>
            <a:lstStyle/>
            <a:p>
              <a:pPr>
                <a:defRPr lang="zh-CN" sz="900" b="1" i="0" u="none" strike="noStrike" kern="1200" baseline="0">
                  <a:solidFill>
                    <a:schemeClr val="tx1"/>
                  </a:solidFill>
                  <a:latin typeface="宋体" panose="02010600030101010101" pitchFamily="2" charset="-122"/>
                  <a:ea typeface="宋体" panose="02010600030101010101" pitchFamily="2" charset="-122"/>
                  <a:cs typeface="+mn-cs"/>
                </a:defRPr>
              </a:pPr>
              <a:endParaRPr lang="zh-CN" alt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200" b="1" i="0" u="none" strike="noStrike" kern="1200" baseline="0">
                <a:solidFill>
                  <a:schemeClr val="tx1"/>
                </a:solidFill>
                <a:latin typeface="+mn-lt"/>
                <a:ea typeface="+mj-ea"/>
                <a:cs typeface="Times New Roman" panose="02020603050405020304" pitchFamily="18" charset="0"/>
              </a:defRPr>
            </a:pPr>
            <a:endParaRPr lang="zh-CN"/>
          </a:p>
        </c:txPr>
        <c:crossAx val="2126547311"/>
        <c:crosses val="autoZero"/>
        <c:crossBetween val="midCat"/>
      </c:valAx>
      <c:spPr>
        <a:noFill/>
        <a:ln>
          <a:noFill/>
        </a:ln>
        <a:effectLst/>
      </c:spPr>
    </c:plotArea>
    <c:plotVisOnly val="1"/>
    <c:dispBlanksAs val="gap"/>
    <c:showDLblsOverMax val="0"/>
    <c:extLst>
      <c:ext uri="{0b15fc19-7d7d-44ad-8c2d-2c3a37ce22c3}">
        <chartProps xmlns="https://web.wps.cn/et/2018/main" chartId="{902e98cc-4b7c-4784-95b2-3e262676be38}"/>
      </c:ext>
    </c:extLst>
  </c:chart>
  <c:spPr>
    <a:noFill/>
    <a:ln>
      <a:noFill/>
    </a:ln>
    <a:effectLst/>
  </c:spPr>
  <c:txPr>
    <a:bodyPr/>
    <a:lstStyle/>
    <a:p>
      <a:pPr>
        <a:defRPr lang="zh-CN"/>
      </a:pPr>
      <a:endParaRPr lang="zh-CN"/>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4103362968272301"/>
          <c:y val="7.2619821532218201E-2"/>
          <c:w val="0.79313401078157297"/>
          <c:h val="0.699336064694277"/>
        </c:manualLayout>
      </c:layout>
      <c:scatterChart>
        <c:scatterStyle val="smoothMarker"/>
        <c:varyColors val="0"/>
        <c:ser>
          <c:idx val="0"/>
          <c:order val="0"/>
          <c:spPr>
            <a:ln w="25400" cap="rnd">
              <a:solidFill>
                <a:srgbClr val="FFC000"/>
              </a:solidFill>
              <a:round/>
            </a:ln>
            <a:effectLst>
              <a:outerShdw blurRad="57150" dist="19050" dir="5400000" algn="ctr" rotWithShape="0">
                <a:srgbClr val="000000">
                  <a:alpha val="63000"/>
                </a:srgbClr>
              </a:outerShdw>
            </a:effectLst>
          </c:spPr>
          <c:marker>
            <c:symbol val="none"/>
          </c:marker>
          <c:dLbls>
            <c:numFmt formatCode="#,##0_);[Red]\(#,##0\)" sourceLinked="0"/>
            <c:spPr>
              <a:noFill/>
              <a:ln>
                <a:noFill/>
              </a:ln>
              <a:effectLst/>
            </c:spPr>
            <c:txPr>
              <a:bodyPr rot="0" spcFirstLastPara="1" vertOverflow="ellipsis" vert="horz" wrap="square" lIns="38100" tIns="19050" rIns="38100" bIns="19050" anchor="ctr" anchorCtr="1">
                <a:spAutoFit/>
              </a:bodyPr>
              <a:lstStyle/>
              <a:p>
                <a:pPr>
                  <a:defRPr lang="zh-CN" sz="1200" b="1" i="0" u="none" strike="noStrike" kern="1200" baseline="0">
                    <a:solidFill>
                      <a:schemeClr val="tx1"/>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Φύλλο1!$A$2:$A$8</c:f>
              <c:numCache>
                <c:formatCode>General</c:formatCode>
                <c:ptCount val="7"/>
                <c:pt idx="0">
                  <c:v>2024</c:v>
                </c:pt>
                <c:pt idx="1">
                  <c:v>2025</c:v>
                </c:pt>
                <c:pt idx="2">
                  <c:v>2026</c:v>
                </c:pt>
                <c:pt idx="3">
                  <c:v>2027</c:v>
                </c:pt>
                <c:pt idx="4">
                  <c:v>2028</c:v>
                </c:pt>
                <c:pt idx="5">
                  <c:v>2029</c:v>
                </c:pt>
                <c:pt idx="6">
                  <c:v>2030</c:v>
                </c:pt>
              </c:numCache>
            </c:numRef>
          </c:xVal>
          <c:yVal>
            <c:numRef>
              <c:f>Φύλλο1!$E$2:$E$8</c:f>
              <c:numCache>
                <c:formatCode>General</c:formatCode>
                <c:ptCount val="7"/>
                <c:pt idx="0">
                  <c:v>45</c:v>
                </c:pt>
                <c:pt idx="1">
                  <c:v>63.64</c:v>
                </c:pt>
                <c:pt idx="2">
                  <c:v>90</c:v>
                </c:pt>
                <c:pt idx="3">
                  <c:v>127.28</c:v>
                </c:pt>
                <c:pt idx="4">
                  <c:v>180</c:v>
                </c:pt>
                <c:pt idx="5">
                  <c:v>254.56</c:v>
                </c:pt>
                <c:pt idx="6">
                  <c:v>360</c:v>
                </c:pt>
              </c:numCache>
            </c:numRef>
          </c:yVal>
          <c:smooth val="1"/>
          <c:extLst>
            <c:ext xmlns:c16="http://schemas.microsoft.com/office/drawing/2014/chart" uri="{C3380CC4-5D6E-409C-BE32-E72D297353CC}">
              <c16:uniqueId val="{00000000-7A7E-4C10-A428-40E77DF6B023}"/>
            </c:ext>
          </c:extLst>
        </c:ser>
        <c:dLbls>
          <c:showLegendKey val="0"/>
          <c:showVal val="0"/>
          <c:showCatName val="0"/>
          <c:showSerName val="0"/>
          <c:showPercent val="0"/>
          <c:showBubbleSize val="0"/>
        </c:dLbls>
        <c:axId val="2126547311"/>
        <c:axId val="2126548271"/>
      </c:scatterChart>
      <c:valAx>
        <c:axId val="2126547311"/>
        <c:scaling>
          <c:orientation val="minMax"/>
          <c:max val="2030"/>
          <c:min val="2024"/>
        </c:scaling>
        <c:delete val="0"/>
        <c:axPos val="b"/>
        <c:numFmt formatCode="General" sourceLinked="1"/>
        <c:majorTickMark val="out"/>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00" b="1" i="0" u="none" strike="noStrike" kern="1200" baseline="0">
                <a:solidFill>
                  <a:schemeClr val="tx1"/>
                </a:solidFill>
                <a:latin typeface="+mn-lt"/>
                <a:ea typeface="+mj-ea"/>
                <a:cs typeface="Times New Roman" panose="02020603050405020304" pitchFamily="18" charset="0"/>
              </a:defRPr>
            </a:pPr>
            <a:endParaRPr lang="zh-CN"/>
          </a:p>
        </c:txPr>
        <c:crossAx val="2126548271"/>
        <c:crosses val="autoZero"/>
        <c:crossBetween val="midCat"/>
      </c:valAx>
      <c:valAx>
        <c:axId val="212654827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zh-CN" sz="900" b="1" i="0" u="none" strike="noStrike" kern="1200" baseline="0">
                    <a:solidFill>
                      <a:schemeClr val="tx1"/>
                    </a:solidFill>
                    <a:latin typeface="宋体" panose="02010600030101010101" pitchFamily="2" charset="-122"/>
                    <a:ea typeface="宋体" panose="02010600030101010101" pitchFamily="2" charset="-122"/>
                    <a:cs typeface="+mn-cs"/>
                  </a:defRPr>
                </a:pPr>
                <a:r>
                  <a:rPr lang="zh-CN" altLang="en-US" sz="1100" b="1">
                    <a:solidFill>
                      <a:schemeClr val="tx1"/>
                    </a:solidFill>
                    <a:latin typeface="宋体" panose="02010600030101010101" pitchFamily="2" charset="-122"/>
                    <a:ea typeface="宋体" panose="02010600030101010101" pitchFamily="2" charset="-122"/>
                  </a:rPr>
                  <a:t>亿人民币</a:t>
                </a:r>
              </a:p>
            </c:rich>
          </c:tx>
          <c:overlay val="0"/>
          <c:spPr>
            <a:noFill/>
            <a:ln>
              <a:noFill/>
            </a:ln>
            <a:effectLst/>
          </c:spPr>
          <c:txPr>
            <a:bodyPr rot="-5400000" spcFirstLastPara="1" vertOverflow="ellipsis" vert="horz" wrap="square" anchor="ctr" anchorCtr="1"/>
            <a:lstStyle/>
            <a:p>
              <a:pPr>
                <a:defRPr lang="zh-CN" sz="900" b="1" i="0" u="none" strike="noStrike" kern="1200" baseline="0">
                  <a:solidFill>
                    <a:schemeClr val="tx1"/>
                  </a:solidFill>
                  <a:latin typeface="宋体" panose="02010600030101010101" pitchFamily="2" charset="-122"/>
                  <a:ea typeface="宋体" panose="02010600030101010101" pitchFamily="2" charset="-122"/>
                  <a:cs typeface="+mn-cs"/>
                </a:defRPr>
              </a:pPr>
              <a:endParaRPr lang="zh-CN" alt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200" b="1" i="0" u="none" strike="noStrike" kern="1200" baseline="0">
                <a:solidFill>
                  <a:schemeClr val="tx1"/>
                </a:solidFill>
                <a:latin typeface="+mn-lt"/>
                <a:ea typeface="+mj-ea"/>
                <a:cs typeface="Times New Roman" panose="02020603050405020304" pitchFamily="18" charset="0"/>
              </a:defRPr>
            </a:pPr>
            <a:endParaRPr lang="zh-CN"/>
          </a:p>
        </c:txPr>
        <c:crossAx val="2126547311"/>
        <c:crosses val="autoZero"/>
        <c:crossBetween val="midCat"/>
      </c:valAx>
      <c:spPr>
        <a:noFill/>
        <a:ln>
          <a:noFill/>
        </a:ln>
        <a:effectLst/>
      </c:spPr>
    </c:plotArea>
    <c:plotVisOnly val="1"/>
    <c:dispBlanksAs val="gap"/>
    <c:showDLblsOverMax val="0"/>
    <c:extLst>
      <c:ext uri="{0b15fc19-7d7d-44ad-8c2d-2c3a37ce22c3}">
        <chartProps xmlns="https://web.wps.cn/et/2018/main" chartId="{9b16ba21-e663-4561-a121-e92ae614dec9}"/>
      </c:ext>
    </c:extLst>
  </c:chart>
  <c:spPr>
    <a:noFill/>
    <a:ln>
      <a:noFill/>
    </a:ln>
    <a:effectLst/>
  </c:spPr>
  <c:txPr>
    <a:bodyPr/>
    <a:lstStyle/>
    <a:p>
      <a:pPr>
        <a:defRPr lang="zh-CN"/>
      </a:pPr>
      <a:endParaRPr lang="zh-CN"/>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3">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343">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diagrams/colors1.xml><?xml version="1.0" encoding="utf-8"?>
<dgm:colorsDef xmlns:dgm="http://schemas.openxmlformats.org/drawingml/2006/diagram" xmlns:a="http://schemas.openxmlformats.org/drawingml/2006/main" uniqueId="urn:microsoft.com/office/officeart/2005/8/colors/colorful5#2">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3F09E88-8C91-4DC2-9C8D-E8D4D2FDAEB3}" type="doc">
      <dgm:prSet loTypeId="urn:microsoft.com/office/officeart/2005/8/layout/gear1#2" loCatId="process" qsTypeId="urn:microsoft.com/office/officeart/2005/8/quickstyle/simple1#2" qsCatId="simple" csTypeId="urn:microsoft.com/office/officeart/2005/8/colors/colorful5#2" csCatId="colorful" phldr="1"/>
      <dgm:spPr/>
    </dgm:pt>
    <dgm:pt modelId="{30C8057B-A4FA-488F-B6C1-FE35EC7960CC}">
      <dgm:prSet phldrT="[文本]" custT="1"/>
      <dgm:spPr>
        <a:xfrm>
          <a:off x="3120517" y="1389789"/>
          <a:ext cx="2162989" cy="2183955"/>
        </a:xfrm>
        <a:prstGeom prst="gear9">
          <a:avLst/>
        </a:prstGeom>
        <a:solidFill>
          <a:srgbClr val="4BACC6">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pPr>
            <a:buNone/>
          </a:pPr>
          <a:r>
            <a:rPr lang="zh-CN" altLang="en-US" sz="2000" b="1" dirty="0">
              <a:solidFill>
                <a:sysClr val="window" lastClr="FFFFFF"/>
              </a:solidFill>
              <a:latin typeface="Calibri" panose="020F0502020204030204"/>
              <a:ea typeface="宋体" panose="02010600030101010101" pitchFamily="2" charset="-122"/>
              <a:cs typeface="+mn-cs"/>
            </a:rPr>
            <a:t>力矩输出不足</a:t>
          </a:r>
        </a:p>
      </dgm:t>
    </dgm:pt>
    <dgm:pt modelId="{33F0D726-F07C-4C72-97E6-15FAE5DED628}" type="parTrans" cxnId="{32D44204-1B08-483C-B8B1-E0607524ED6B}">
      <dgm:prSet/>
      <dgm:spPr/>
      <dgm:t>
        <a:bodyPr/>
        <a:lstStyle/>
        <a:p>
          <a:endParaRPr lang="zh-CN" altLang="en-US"/>
        </a:p>
      </dgm:t>
    </dgm:pt>
    <dgm:pt modelId="{C2A76248-3147-4BA5-9FB6-81652717D24E}" type="sibTrans" cxnId="{32D44204-1B08-483C-B8B1-E0607524ED6B}">
      <dgm:prSet/>
      <dgm:spPr>
        <a:xfrm>
          <a:off x="3204664" y="1021174"/>
          <a:ext cx="2686265" cy="2686265"/>
        </a:xfrm>
        <a:prstGeom prst="circularArrow">
          <a:avLst>
            <a:gd name="adj1" fmla="val 4878"/>
            <a:gd name="adj2" fmla="val 312630"/>
            <a:gd name="adj3" fmla="val 3125871"/>
            <a:gd name="adj4" fmla="val 15244315"/>
            <a:gd name="adj5" fmla="val 5691"/>
          </a:avLst>
        </a:prstGeom>
        <a:solidFill>
          <a:srgbClr val="4BACC6">
            <a:hueOff val="0"/>
            <a:satOff val="0"/>
            <a:lumOff val="0"/>
            <a:alphaOff val="0"/>
          </a:srgbClr>
        </a:solidFill>
        <a:ln>
          <a:noFill/>
        </a:ln>
        <a:effectLst/>
      </dgm:spPr>
      <dgm:t>
        <a:bodyPr/>
        <a:lstStyle/>
        <a:p>
          <a:endParaRPr lang="zh-CN" altLang="en-US" b="1"/>
        </a:p>
      </dgm:t>
    </dgm:pt>
    <dgm:pt modelId="{0F95B02A-EF5D-4216-BB02-35E81D4CBF2A}">
      <dgm:prSet phldrT="[文本]"/>
      <dgm:spPr>
        <a:xfrm>
          <a:off x="1839369" y="873582"/>
          <a:ext cx="1588331" cy="1588331"/>
        </a:xfrm>
        <a:prstGeom prst="gear6">
          <a:avLst/>
        </a:prstGeom>
        <a:solidFill>
          <a:srgbClr val="4BACC6">
            <a:hueOff val="-9933876"/>
            <a:satOff val="39811"/>
            <a:lumOff val="8628"/>
            <a:alphaOff val="0"/>
          </a:srgbClr>
        </a:solidFill>
        <a:ln w="25400" cap="flat" cmpd="sng" algn="ctr">
          <a:solidFill>
            <a:sysClr val="window" lastClr="FFFFFF">
              <a:hueOff val="0"/>
              <a:satOff val="0"/>
              <a:lumOff val="0"/>
              <a:alphaOff val="0"/>
            </a:sysClr>
          </a:solidFill>
          <a:prstDash val="solid"/>
        </a:ln>
        <a:effectLst/>
      </dgm:spPr>
      <dgm:t>
        <a:bodyPr/>
        <a:lstStyle/>
        <a:p>
          <a:pPr>
            <a:buNone/>
          </a:pPr>
          <a:r>
            <a:rPr lang="zh-CN" altLang="en-US" b="1" dirty="0">
              <a:solidFill>
                <a:sysClr val="window" lastClr="FFFFFF"/>
              </a:solidFill>
              <a:latin typeface="Calibri" panose="020F0502020204030204"/>
              <a:ea typeface="宋体" panose="02010600030101010101" pitchFamily="2" charset="-122"/>
              <a:cs typeface="+mn-cs"/>
            </a:rPr>
            <a:t>发热问题严重</a:t>
          </a:r>
        </a:p>
      </dgm:t>
    </dgm:pt>
    <dgm:pt modelId="{1243D2FF-972F-4C23-A202-834CF386742C}" type="parTrans" cxnId="{024598CE-1AF4-467E-8A16-72D785373223}">
      <dgm:prSet/>
      <dgm:spPr/>
      <dgm:t>
        <a:bodyPr/>
        <a:lstStyle/>
        <a:p>
          <a:endParaRPr lang="zh-CN" altLang="en-US"/>
        </a:p>
      </dgm:t>
    </dgm:pt>
    <dgm:pt modelId="{F7C59EA5-3415-4421-968A-76D8080ADF5E}" type="sibTrans" cxnId="{024598CE-1AF4-467E-8A16-72D785373223}">
      <dgm:prSet/>
      <dgm:spPr>
        <a:xfrm>
          <a:off x="1558078" y="523103"/>
          <a:ext cx="2031078" cy="2031078"/>
        </a:xfrm>
        <a:prstGeom prst="leftCircularArrow">
          <a:avLst>
            <a:gd name="adj1" fmla="val 6452"/>
            <a:gd name="adj2" fmla="val 429999"/>
            <a:gd name="adj3" fmla="val 10489124"/>
            <a:gd name="adj4" fmla="val 14837806"/>
            <a:gd name="adj5" fmla="val 7527"/>
          </a:avLst>
        </a:prstGeom>
        <a:solidFill>
          <a:srgbClr val="4BACC6">
            <a:hueOff val="-9933876"/>
            <a:satOff val="39811"/>
            <a:lumOff val="8628"/>
            <a:alphaOff val="0"/>
          </a:srgbClr>
        </a:solidFill>
        <a:ln>
          <a:noFill/>
        </a:ln>
        <a:effectLst/>
      </dgm:spPr>
      <dgm:t>
        <a:bodyPr/>
        <a:lstStyle/>
        <a:p>
          <a:endParaRPr lang="zh-CN" altLang="en-US"/>
        </a:p>
      </dgm:t>
    </dgm:pt>
    <dgm:pt modelId="{65F78BAE-E6A5-4818-911E-2A7331455A82}" type="pres">
      <dgm:prSet presAssocID="{83F09E88-8C91-4DC2-9C8D-E8D4D2FDAEB3}" presName="composite" presStyleCnt="0">
        <dgm:presLayoutVars>
          <dgm:chMax val="3"/>
          <dgm:animLvl val="lvl"/>
          <dgm:resizeHandles val="exact"/>
        </dgm:presLayoutVars>
      </dgm:prSet>
      <dgm:spPr/>
    </dgm:pt>
    <dgm:pt modelId="{20DF64DB-6793-44C2-9AA0-2F755A27B49D}" type="pres">
      <dgm:prSet presAssocID="{30C8057B-A4FA-488F-B6C1-FE35EC7960CC}" presName="gear1" presStyleLbl="node1" presStyleIdx="0" presStyleCnt="2" custScaleX="99040">
        <dgm:presLayoutVars>
          <dgm:chMax val="1"/>
          <dgm:bulletEnabled val="1"/>
        </dgm:presLayoutVars>
      </dgm:prSet>
      <dgm:spPr/>
    </dgm:pt>
    <dgm:pt modelId="{840E1561-39F7-4746-B7E6-2E8997D704C4}" type="pres">
      <dgm:prSet presAssocID="{30C8057B-A4FA-488F-B6C1-FE35EC7960CC}" presName="gear1srcNode" presStyleLbl="node1" presStyleIdx="0" presStyleCnt="2"/>
      <dgm:spPr/>
    </dgm:pt>
    <dgm:pt modelId="{FBF3125B-B30C-4A3B-9385-97F2E73AB5C3}" type="pres">
      <dgm:prSet presAssocID="{30C8057B-A4FA-488F-B6C1-FE35EC7960CC}" presName="gear1dstNode" presStyleLbl="node1" presStyleIdx="0" presStyleCnt="2"/>
      <dgm:spPr/>
    </dgm:pt>
    <dgm:pt modelId="{67686766-B01F-4869-9455-9BC7F2276F46}" type="pres">
      <dgm:prSet presAssocID="{0F95B02A-EF5D-4216-BB02-35E81D4CBF2A}" presName="gear2" presStyleLbl="node1" presStyleIdx="1" presStyleCnt="2">
        <dgm:presLayoutVars>
          <dgm:chMax val="1"/>
          <dgm:bulletEnabled val="1"/>
        </dgm:presLayoutVars>
      </dgm:prSet>
      <dgm:spPr/>
    </dgm:pt>
    <dgm:pt modelId="{18E10127-30B6-47DF-9762-D025C1840171}" type="pres">
      <dgm:prSet presAssocID="{0F95B02A-EF5D-4216-BB02-35E81D4CBF2A}" presName="gear2srcNode" presStyleLbl="node1" presStyleIdx="1" presStyleCnt="2"/>
      <dgm:spPr/>
    </dgm:pt>
    <dgm:pt modelId="{9F35DABE-6626-4401-ADCC-C47C159D43F1}" type="pres">
      <dgm:prSet presAssocID="{0F95B02A-EF5D-4216-BB02-35E81D4CBF2A}" presName="gear2dstNode" presStyleLbl="node1" presStyleIdx="1" presStyleCnt="2"/>
      <dgm:spPr/>
    </dgm:pt>
    <dgm:pt modelId="{FD1E9B54-EF21-4DA6-95F1-84C814890099}" type="pres">
      <dgm:prSet presAssocID="{C2A76248-3147-4BA5-9FB6-81652717D24E}" presName="connector1" presStyleLbl="sibTrans2D1" presStyleIdx="0" presStyleCnt="2"/>
      <dgm:spPr/>
    </dgm:pt>
    <dgm:pt modelId="{84E5726E-9602-425E-BCAA-AC4F4B4B8FAD}" type="pres">
      <dgm:prSet presAssocID="{F7C59EA5-3415-4421-968A-76D8080ADF5E}" presName="connector2" presStyleLbl="sibTrans2D1" presStyleIdx="1" presStyleCnt="2"/>
      <dgm:spPr/>
    </dgm:pt>
  </dgm:ptLst>
  <dgm:cxnLst>
    <dgm:cxn modelId="{32D44204-1B08-483C-B8B1-E0607524ED6B}" srcId="{83F09E88-8C91-4DC2-9C8D-E8D4D2FDAEB3}" destId="{30C8057B-A4FA-488F-B6C1-FE35EC7960CC}" srcOrd="0" destOrd="0" parTransId="{33F0D726-F07C-4C72-97E6-15FAE5DED628}" sibTransId="{C2A76248-3147-4BA5-9FB6-81652717D24E}"/>
    <dgm:cxn modelId="{6FFF730E-2D48-4F85-9749-6DB7BE4EAC1F}" type="presOf" srcId="{0F95B02A-EF5D-4216-BB02-35E81D4CBF2A}" destId="{9F35DABE-6626-4401-ADCC-C47C159D43F1}" srcOrd="2" destOrd="0" presId="urn:microsoft.com/office/officeart/2005/8/layout/gear1#2"/>
    <dgm:cxn modelId="{56BF7730-A751-4B41-8EA8-97D824B1FCD3}" type="presOf" srcId="{0F95B02A-EF5D-4216-BB02-35E81D4CBF2A}" destId="{18E10127-30B6-47DF-9762-D025C1840171}" srcOrd="1" destOrd="0" presId="urn:microsoft.com/office/officeart/2005/8/layout/gear1#2"/>
    <dgm:cxn modelId="{D1FED95D-9B70-4620-84DC-6603FB9E8DCE}" type="presOf" srcId="{83F09E88-8C91-4DC2-9C8D-E8D4D2FDAEB3}" destId="{65F78BAE-E6A5-4818-911E-2A7331455A82}" srcOrd="0" destOrd="0" presId="urn:microsoft.com/office/officeart/2005/8/layout/gear1#2"/>
    <dgm:cxn modelId="{BE57F1A3-4DD0-4EB2-B2AE-819EA5D0CAB0}" type="presOf" srcId="{C2A76248-3147-4BA5-9FB6-81652717D24E}" destId="{FD1E9B54-EF21-4DA6-95F1-84C814890099}" srcOrd="0" destOrd="0" presId="urn:microsoft.com/office/officeart/2005/8/layout/gear1#2"/>
    <dgm:cxn modelId="{C2F22EBB-17BA-47CA-A7CD-3B0B05AC7D51}" type="presOf" srcId="{0F95B02A-EF5D-4216-BB02-35E81D4CBF2A}" destId="{67686766-B01F-4869-9455-9BC7F2276F46}" srcOrd="0" destOrd="0" presId="urn:microsoft.com/office/officeart/2005/8/layout/gear1#2"/>
    <dgm:cxn modelId="{751D72BD-5757-4C49-8653-622C156C15FE}" type="presOf" srcId="{F7C59EA5-3415-4421-968A-76D8080ADF5E}" destId="{84E5726E-9602-425E-BCAA-AC4F4B4B8FAD}" srcOrd="0" destOrd="0" presId="urn:microsoft.com/office/officeart/2005/8/layout/gear1#2"/>
    <dgm:cxn modelId="{024598CE-1AF4-467E-8A16-72D785373223}" srcId="{83F09E88-8C91-4DC2-9C8D-E8D4D2FDAEB3}" destId="{0F95B02A-EF5D-4216-BB02-35E81D4CBF2A}" srcOrd="1" destOrd="0" parTransId="{1243D2FF-972F-4C23-A202-834CF386742C}" sibTransId="{F7C59EA5-3415-4421-968A-76D8080ADF5E}"/>
    <dgm:cxn modelId="{02D6AAD0-4F9C-4860-B728-9E861BBEFE01}" type="presOf" srcId="{30C8057B-A4FA-488F-B6C1-FE35EC7960CC}" destId="{FBF3125B-B30C-4A3B-9385-97F2E73AB5C3}" srcOrd="2" destOrd="0" presId="urn:microsoft.com/office/officeart/2005/8/layout/gear1#2"/>
    <dgm:cxn modelId="{0B1C05E4-6F1C-4BA3-B5D7-52D823CDB725}" type="presOf" srcId="{30C8057B-A4FA-488F-B6C1-FE35EC7960CC}" destId="{20DF64DB-6793-44C2-9AA0-2F755A27B49D}" srcOrd="0" destOrd="0" presId="urn:microsoft.com/office/officeart/2005/8/layout/gear1#2"/>
    <dgm:cxn modelId="{CE178DFE-91F2-48CB-9448-067FFF341A8C}" type="presOf" srcId="{30C8057B-A4FA-488F-B6C1-FE35EC7960CC}" destId="{840E1561-39F7-4746-B7E6-2E8997D704C4}" srcOrd="1" destOrd="0" presId="urn:microsoft.com/office/officeart/2005/8/layout/gear1#2"/>
    <dgm:cxn modelId="{04DAC3F6-D2D6-42D6-8A9C-A3ADCE4ADC51}" type="presParOf" srcId="{65F78BAE-E6A5-4818-911E-2A7331455A82}" destId="{20DF64DB-6793-44C2-9AA0-2F755A27B49D}" srcOrd="0" destOrd="0" presId="urn:microsoft.com/office/officeart/2005/8/layout/gear1#2"/>
    <dgm:cxn modelId="{6CDEBA5F-6268-4FBF-8779-5D96ACEE3D01}" type="presParOf" srcId="{65F78BAE-E6A5-4818-911E-2A7331455A82}" destId="{840E1561-39F7-4746-B7E6-2E8997D704C4}" srcOrd="1" destOrd="0" presId="urn:microsoft.com/office/officeart/2005/8/layout/gear1#2"/>
    <dgm:cxn modelId="{EF25DA80-0980-406F-9521-3384FABAE633}" type="presParOf" srcId="{65F78BAE-E6A5-4818-911E-2A7331455A82}" destId="{FBF3125B-B30C-4A3B-9385-97F2E73AB5C3}" srcOrd="2" destOrd="0" presId="urn:microsoft.com/office/officeart/2005/8/layout/gear1#2"/>
    <dgm:cxn modelId="{318AC60D-46CC-41AB-901F-33AF36F7BB82}" type="presParOf" srcId="{65F78BAE-E6A5-4818-911E-2A7331455A82}" destId="{67686766-B01F-4869-9455-9BC7F2276F46}" srcOrd="3" destOrd="0" presId="urn:microsoft.com/office/officeart/2005/8/layout/gear1#2"/>
    <dgm:cxn modelId="{9D5A0CAA-D4B7-4DD5-A124-699FD7D08485}" type="presParOf" srcId="{65F78BAE-E6A5-4818-911E-2A7331455A82}" destId="{18E10127-30B6-47DF-9762-D025C1840171}" srcOrd="4" destOrd="0" presId="urn:microsoft.com/office/officeart/2005/8/layout/gear1#2"/>
    <dgm:cxn modelId="{1FCB9548-1F9D-435A-B8C5-12C87B4D83E8}" type="presParOf" srcId="{65F78BAE-E6A5-4818-911E-2A7331455A82}" destId="{9F35DABE-6626-4401-ADCC-C47C159D43F1}" srcOrd="5" destOrd="0" presId="urn:microsoft.com/office/officeart/2005/8/layout/gear1#2"/>
    <dgm:cxn modelId="{B72E6798-3AC7-4823-BBFA-ECF7BD4E1F52}" type="presParOf" srcId="{65F78BAE-E6A5-4818-911E-2A7331455A82}" destId="{FD1E9B54-EF21-4DA6-95F1-84C814890099}" srcOrd="6" destOrd="0" presId="urn:microsoft.com/office/officeart/2005/8/layout/gear1#2"/>
    <dgm:cxn modelId="{8579B634-6C6D-4C5C-8010-3576ACFB1569}" type="presParOf" srcId="{65F78BAE-E6A5-4818-911E-2A7331455A82}" destId="{84E5726E-9602-425E-BCAA-AC4F4B4B8FAD}" srcOrd="7" destOrd="0" presId="urn:microsoft.com/office/officeart/2005/8/layout/gear1#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DF64DB-6793-44C2-9AA0-2F755A27B49D}">
      <dsp:nvSpPr>
        <dsp:cNvPr id="0" name=""/>
        <dsp:cNvSpPr/>
      </dsp:nvSpPr>
      <dsp:spPr>
        <a:xfrm>
          <a:off x="2890098" y="1287272"/>
          <a:ext cx="2003436" cy="2022856"/>
        </a:xfrm>
        <a:prstGeom prst="gear9">
          <a:avLst/>
        </a:prstGeom>
        <a:solidFill>
          <a:srgbClr val="4BACC6">
            <a:hueOff val="0"/>
            <a:satOff val="0"/>
            <a:lumOff val="0"/>
            <a:alphaOff val="0"/>
          </a:srgbClr>
        </a:solidFill>
        <a:ln w="254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ysClr val="window" lastClr="FFFFFF"/>
              </a:solidFill>
              <a:latin typeface="Calibri" panose="020F0502020204030204"/>
              <a:ea typeface="宋体" panose="02010600030101010101" pitchFamily="2" charset="-122"/>
              <a:cs typeface="+mn-cs"/>
            </a:rPr>
            <a:t>力矩输出不足</a:t>
          </a:r>
        </a:p>
      </dsp:txBody>
      <dsp:txXfrm>
        <a:off x="3292878" y="1759826"/>
        <a:ext cx="1197876" cy="1042285"/>
      </dsp:txXfrm>
    </dsp:sp>
    <dsp:sp modelId="{67686766-B01F-4869-9455-9BC7F2276F46}">
      <dsp:nvSpPr>
        <dsp:cNvPr id="0" name=""/>
        <dsp:cNvSpPr/>
      </dsp:nvSpPr>
      <dsp:spPr>
        <a:xfrm>
          <a:off x="1703454" y="809142"/>
          <a:ext cx="1471168" cy="1471168"/>
        </a:xfrm>
        <a:prstGeom prst="gear6">
          <a:avLst/>
        </a:prstGeom>
        <a:solidFill>
          <a:srgbClr val="4BACC6">
            <a:hueOff val="-9933876"/>
            <a:satOff val="39811"/>
            <a:lumOff val="8628"/>
            <a:alphaOff val="0"/>
          </a:srgbClr>
        </a:solidFill>
        <a:ln w="254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zh-CN" altLang="en-US" sz="1700" b="1" kern="1200" dirty="0">
              <a:solidFill>
                <a:sysClr val="window" lastClr="FFFFFF"/>
              </a:solidFill>
              <a:latin typeface="Calibri" panose="020F0502020204030204"/>
              <a:ea typeface="宋体" panose="02010600030101010101" pitchFamily="2" charset="-122"/>
              <a:cs typeface="+mn-cs"/>
            </a:rPr>
            <a:t>发热问题严重</a:t>
          </a:r>
        </a:p>
      </dsp:txBody>
      <dsp:txXfrm>
        <a:off x="2073825" y="1181751"/>
        <a:ext cx="730426" cy="725950"/>
      </dsp:txXfrm>
    </dsp:sp>
    <dsp:sp modelId="{FD1E9B54-EF21-4DA6-95F1-84C814890099}">
      <dsp:nvSpPr>
        <dsp:cNvPr id="0" name=""/>
        <dsp:cNvSpPr/>
      </dsp:nvSpPr>
      <dsp:spPr>
        <a:xfrm>
          <a:off x="2960050" y="950155"/>
          <a:ext cx="2488112" cy="2488112"/>
        </a:xfrm>
        <a:prstGeom prst="circularArrow">
          <a:avLst>
            <a:gd name="adj1" fmla="val 4878"/>
            <a:gd name="adj2" fmla="val 312630"/>
            <a:gd name="adj3" fmla="val 3125871"/>
            <a:gd name="adj4" fmla="val 15244315"/>
            <a:gd name="adj5" fmla="val 5691"/>
          </a:avLst>
        </a:prstGeom>
        <a:solidFill>
          <a:srgbClr val="4BACC6">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sp>
    <dsp:sp modelId="{84E5726E-9602-425E-BCAA-AC4F4B4B8FAD}">
      <dsp:nvSpPr>
        <dsp:cNvPr id="0" name=""/>
        <dsp:cNvSpPr/>
      </dsp:nvSpPr>
      <dsp:spPr>
        <a:xfrm>
          <a:off x="1442913" y="485844"/>
          <a:ext cx="1881256" cy="1881256"/>
        </a:xfrm>
        <a:prstGeom prst="leftCircularArrow">
          <a:avLst>
            <a:gd name="adj1" fmla="val 6452"/>
            <a:gd name="adj2" fmla="val 429999"/>
            <a:gd name="adj3" fmla="val 10489124"/>
            <a:gd name="adj4" fmla="val 14837806"/>
            <a:gd name="adj5" fmla="val 7527"/>
          </a:avLst>
        </a:prstGeom>
        <a:solidFill>
          <a:srgbClr val="4BACC6">
            <a:hueOff val="-9933876"/>
            <a:satOff val="39811"/>
            <a:lumOff val="8628"/>
            <a:alphaOff val="0"/>
          </a:srgb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gear1#2">
  <dgm:title val=""/>
  <dgm:desc val=""/>
  <dgm:catLst>
    <dgm:cat type="relationship" pri="3000"/>
    <dgm:cat type="process" pri="28000"/>
    <dgm:cat type="cycle" pri="14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srcNode" val="gear1srcNode"/>
          <dgm:param type="dstNode" val="gear1dstNode"/>
          <dgm:param type="connRout" val="curv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srcNode" val="gear2srcNode"/>
          <dgm:param type="dstNode" val="gear2dstNode"/>
          <dgm:param type="connRout" val="curv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srcNode" val="gear3srcNode"/>
          <dgm:param type="dstNode" val="gear3dstNode"/>
          <dgm:param type="connRout" val="curv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2026/6/15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6B3AD1-85FE-4B1E-B632-C51DD206ECBF}" type="datetimeFigureOut">
              <a:rPr lang="zh-CN" altLang="en-US" smtClean="0"/>
              <a:t>2026/6/15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B2EA8E-9894-48E2-B65C-DBE68DBF77A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sp>
        <p:nvSpPr>
          <p:cNvPr id="22" name="内容占位符 21"/>
          <p:cNvSpPr>
            <a:spLocks noGrp="1"/>
          </p:cNvSpPr>
          <p:nvPr>
            <p:ph sz="quarter" idx="24" hasCustomPrompt="1"/>
          </p:nvPr>
        </p:nvSpPr>
        <p:spPr>
          <a:xfrm>
            <a:off x="1611775" y="155089"/>
            <a:ext cx="4801314" cy="590931"/>
          </a:xfrm>
        </p:spPr>
        <p:txBody>
          <a:bodyPr vert="horz" wrap="none" lIns="91440" tIns="45720" rIns="91440" bIns="45720" rtlCol="0" anchor="ctr">
            <a:spAutoFit/>
          </a:bodyPr>
          <a:lstStyle>
            <a:lvl1pPr marL="0" indent="0">
              <a:buNone/>
              <a:defRPr lang="zh-CN" altLang="en-US" sz="3600" dirty="0" smtClean="0">
                <a:ln w="12700" cap="flat">
                  <a:solidFill>
                    <a:srgbClr val="2682FF"/>
                  </a:solidFill>
                  <a:prstDash val="solid"/>
                  <a:miter lim="400000"/>
                </a:ln>
                <a:noFill/>
                <a:latin typeface="+mn-ea"/>
                <a:cs typeface="思源黑体 CN Normal" panose="020B0400000000000000" charset="-122"/>
              </a:defRPr>
            </a:lvl1pPr>
          </a:lstStyle>
          <a:p>
            <a:pPr marL="228600" lvl="0" indent="-228600">
              <a:buSzTx/>
            </a:pPr>
            <a:r>
              <a:rPr lang="zh-CN" altLang="en-US" dirty="0"/>
              <a:t>单击此处添加英文标题</a:t>
            </a:r>
          </a:p>
        </p:txBody>
      </p:sp>
      <p:sp>
        <p:nvSpPr>
          <p:cNvPr id="2" name="标题 1"/>
          <p:cNvSpPr>
            <a:spLocks noGrp="1"/>
          </p:cNvSpPr>
          <p:nvPr>
            <p:ph type="title"/>
          </p:nvPr>
        </p:nvSpPr>
        <p:spPr>
          <a:xfrm>
            <a:off x="1622575" y="238018"/>
            <a:ext cx="4608954" cy="480131"/>
          </a:xfrm>
        </p:spPr>
        <p:txBody>
          <a:bodyPr vert="horz" wrap="none" lIns="91440" tIns="45720" rIns="91440" bIns="45720" rtlCol="0" anchor="ctr">
            <a:spAutoFit/>
          </a:bodyPr>
          <a:lstStyle>
            <a:lvl1pPr>
              <a:defRPr lang="en-GB" sz="2800" b="1">
                <a:latin typeface="+mn-ea"/>
                <a:ea typeface="+mn-ea"/>
                <a:cs typeface="思源黑体 CN Normal" panose="020B0400000000000000" charset="-122"/>
              </a:defRPr>
            </a:lvl1pPr>
          </a:lstStyle>
          <a:p>
            <a:pPr marL="0" lvl="0" indent="0">
              <a:spcBef>
                <a:spcPts val="1000"/>
              </a:spcBef>
              <a:buSzTx/>
              <a:buFont typeface="Arial" panose="020B0604020202020204" pitchFamily="34" charset="0"/>
            </a:pPr>
            <a:r>
              <a:rPr lang="zh-CN" altLang="en-US" dirty="0"/>
              <a:t>单击此处编辑母版标题样式</a:t>
            </a:r>
            <a:endParaRPr lang="en-GB" dirty="0"/>
          </a:p>
        </p:txBody>
      </p:sp>
      <p:sp>
        <p:nvSpPr>
          <p:cNvPr id="4" name="页脚占位符 3"/>
          <p:cNvSpPr>
            <a:spLocks noGrp="1"/>
          </p:cNvSpPr>
          <p:nvPr>
            <p:ph type="ftr" sz="quarter" idx="11"/>
          </p:nvPr>
        </p:nvSpPr>
        <p:spPr/>
        <p:txBody>
          <a:bodyPr/>
          <a:lstStyle/>
          <a:p>
            <a:endParaRPr lang="en-GB"/>
          </a:p>
        </p:txBody>
      </p:sp>
      <p:sp>
        <p:nvSpPr>
          <p:cNvPr id="5" name="灯片编号占位符 4"/>
          <p:cNvSpPr>
            <a:spLocks noGrp="1"/>
          </p:cNvSpPr>
          <p:nvPr>
            <p:ph type="sldNum" sz="quarter" idx="12"/>
          </p:nvPr>
        </p:nvSpPr>
        <p:spPr>
          <a:xfrm>
            <a:off x="9051658" y="6494374"/>
            <a:ext cx="2743200" cy="365125"/>
          </a:xfrm>
        </p:spPr>
        <p:txBody>
          <a:bodyPr/>
          <a:lstStyle/>
          <a:p>
            <a:fld id="{99136AE8-E500-1747-9266-48E8CB052769}" type="slidenum">
              <a:rPr lang="en-GB" smtClean="0"/>
              <a:t>‹#›</a:t>
            </a:fld>
            <a:endParaRPr lang="en-GB"/>
          </a:p>
        </p:txBody>
      </p:sp>
      <p:sp>
        <p:nvSpPr>
          <p:cNvPr id="8" name="矩形"/>
          <p:cNvSpPr/>
          <p:nvPr userDrawn="1"/>
        </p:nvSpPr>
        <p:spPr>
          <a:xfrm>
            <a:off x="11794858" y="6485686"/>
            <a:ext cx="89567" cy="400816"/>
          </a:xfrm>
          <a:prstGeom prst="rect">
            <a:avLst/>
          </a:prstGeom>
          <a:solidFill>
            <a:srgbClr val="1082FF"/>
          </a:solidFill>
          <a:ln w="12700">
            <a:miter lim="400000"/>
          </a:ln>
        </p:spPr>
        <p:txBody>
          <a:bodyPr lIns="25400" tIns="25400" rIns="25400" bIns="25400" anchor="ctr"/>
          <a:lstStyle/>
          <a:p>
            <a:pPr algn="ctr" defTabSz="565150">
              <a:lnSpc>
                <a:spcPct val="100000"/>
              </a:lnSpc>
              <a:spcBef>
                <a:spcPts val="0"/>
              </a:spcBef>
              <a:defRPr sz="3200">
                <a:solidFill>
                  <a:srgbClr val="1082FF"/>
                </a:solidFill>
                <a:latin typeface="Avenir Next Regular"/>
                <a:ea typeface="Avenir Next Regular"/>
                <a:cs typeface="Avenir Next Regular"/>
                <a:sym typeface="Avenir Next Regular"/>
              </a:defRPr>
            </a:pPr>
            <a:endParaRPr sz="1600">
              <a:latin typeface="+mn-ea"/>
              <a:ea typeface="+mn-ea"/>
              <a:cs typeface="思源黑体 CN Normal" panose="020B0400000000000000" charset="-122"/>
              <a:sym typeface="思源黑体 CN Normal" panose="020B0400000000000000" charset="-122"/>
            </a:endParaRPr>
          </a:p>
        </p:txBody>
      </p:sp>
      <p:sp>
        <p:nvSpPr>
          <p:cNvPr id="9" name="CHENGDU MICMOTE TECHNOLOGY Co., Ltd"/>
          <p:cNvSpPr txBox="1"/>
          <p:nvPr userDrawn="1"/>
        </p:nvSpPr>
        <p:spPr>
          <a:xfrm>
            <a:off x="226710" y="6619269"/>
            <a:ext cx="2119170" cy="166712"/>
          </a:xfrm>
          <a:prstGeom prst="rect">
            <a:avLst/>
          </a:prstGeom>
          <a:ln w="12700">
            <a:miter lim="400000"/>
          </a:ln>
        </p:spPr>
        <p:txBody>
          <a:bodyPr wrap="none" lIns="25400" tIns="25400" rIns="25400" bIns="25400" anchor="ctr">
            <a:spAutoFit/>
          </a:bodyPr>
          <a:lstStyle>
            <a:lvl1pPr defTabSz="825500">
              <a:lnSpc>
                <a:spcPct val="100000"/>
              </a:lnSpc>
              <a:spcBef>
                <a:spcPts val="5900"/>
              </a:spcBef>
              <a:defRPr sz="1500">
                <a:solidFill>
                  <a:srgbClr val="D5D5D5"/>
                </a:solidFill>
                <a:latin typeface="OPPOSans M"/>
                <a:ea typeface="OPPOSans M"/>
                <a:cs typeface="OPPOSans M"/>
                <a:sym typeface="OPPOSans M"/>
              </a:defRPr>
            </a:lvl1pPr>
          </a:lstStyle>
          <a:p>
            <a:r>
              <a:rPr lang="en-US" sz="750" dirty="0">
                <a:latin typeface="+mn-ea"/>
                <a:ea typeface="+mn-ea"/>
                <a:cs typeface="思源黑体 CN Normal" panose="020B0400000000000000" charset="-122"/>
                <a:sym typeface="思源黑体 CN Normal" panose="020B0400000000000000" charset="-122"/>
              </a:rPr>
              <a:t>Nanjing Cooling Robotics Technology Co.. Ltd.</a:t>
            </a:r>
            <a:endParaRPr sz="750" dirty="0">
              <a:latin typeface="+mn-ea"/>
              <a:ea typeface="+mn-ea"/>
              <a:cs typeface="思源黑体 CN Normal" panose="020B0400000000000000" charset="-122"/>
              <a:sym typeface="思源黑体 CN Normal" panose="020B0400000000000000" charset="-122"/>
            </a:endParaRPr>
          </a:p>
        </p:txBody>
      </p:sp>
      <p:sp>
        <p:nvSpPr>
          <p:cNvPr id="10" name="线条"/>
          <p:cNvSpPr/>
          <p:nvPr userDrawn="1"/>
        </p:nvSpPr>
        <p:spPr>
          <a:xfrm>
            <a:off x="0" y="807360"/>
            <a:ext cx="602996" cy="0"/>
          </a:xfrm>
          <a:prstGeom prst="line">
            <a:avLst/>
          </a:prstGeom>
          <a:ln w="12700">
            <a:solidFill>
              <a:srgbClr val="D5D5D5"/>
            </a:solidFill>
            <a:miter lim="400000"/>
          </a:ln>
        </p:spPr>
        <p:txBody>
          <a:bodyPr lIns="25400" tIns="25400" rIns="25400" bIns="25400" anchor="ctr"/>
          <a:lstStyle/>
          <a:p>
            <a:endParaRPr sz="825">
              <a:latin typeface="+mn-ea"/>
              <a:ea typeface="+mn-ea"/>
              <a:cs typeface="思源黑体 CN Normal" panose="020B0400000000000000" charset="-122"/>
              <a:sym typeface="思源黑体 CN Normal" panose="020B0400000000000000" charset="-122"/>
            </a:endParaRPr>
          </a:p>
        </p:txBody>
      </p:sp>
      <p:grpSp>
        <p:nvGrpSpPr>
          <p:cNvPr id="11" name="成组"/>
          <p:cNvGrpSpPr/>
          <p:nvPr userDrawn="1"/>
        </p:nvGrpSpPr>
        <p:grpSpPr>
          <a:xfrm>
            <a:off x="449190" y="103530"/>
            <a:ext cx="995028" cy="715176"/>
            <a:chOff x="95815" y="0"/>
            <a:chExt cx="1990056" cy="1430350"/>
          </a:xfrm>
        </p:grpSpPr>
        <p:sp>
          <p:nvSpPr>
            <p:cNvPr id="12" name="多边形"/>
            <p:cNvSpPr/>
            <p:nvPr/>
          </p:nvSpPr>
          <p:spPr>
            <a:xfrm>
              <a:off x="95815" y="0"/>
              <a:ext cx="1238721" cy="143035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5400"/>
                  </a:lnTo>
                  <a:lnTo>
                    <a:pt x="21600" y="16200"/>
                  </a:lnTo>
                  <a:lnTo>
                    <a:pt x="10800" y="21600"/>
                  </a:lnTo>
                  <a:lnTo>
                    <a:pt x="0" y="16200"/>
                  </a:lnTo>
                  <a:lnTo>
                    <a:pt x="0" y="5400"/>
                  </a:lnTo>
                  <a:close/>
                </a:path>
              </a:pathLst>
            </a:custGeom>
            <a:noFill/>
            <a:ln w="50800" cap="flat">
              <a:solidFill>
                <a:srgbClr val="D5D5D5"/>
              </a:solidFill>
              <a:prstDash val="solid"/>
              <a:miter lim="400000"/>
            </a:ln>
            <a:effectLst/>
          </p:spPr>
          <p:txBody>
            <a:bodyPr wrap="square" lIns="50800" tIns="50800" rIns="50800" bIns="50800" numCol="1" anchor="ctr">
              <a:noAutofit/>
            </a:bodyPr>
            <a:lstStyle/>
            <a:p>
              <a:pPr algn="ctr" defTabSz="565150">
                <a:lnSpc>
                  <a:spcPct val="100000"/>
                </a:lnSpc>
                <a:spcBef>
                  <a:spcPts val="0"/>
                </a:spcBef>
                <a:defRPr sz="3200">
                  <a:solidFill>
                    <a:srgbClr val="FFFFFF"/>
                  </a:solidFill>
                  <a:latin typeface="Avenir Next Regular"/>
                  <a:ea typeface="Avenir Next Regular"/>
                  <a:cs typeface="Avenir Next Regular"/>
                  <a:sym typeface="Avenir Next Regular"/>
                </a:defRPr>
              </a:pPr>
              <a:endParaRPr sz="1200" b="1">
                <a:latin typeface="+mn-ea"/>
                <a:ea typeface="+mn-ea"/>
                <a:cs typeface="思源黑体 CN Normal" panose="020B0400000000000000" charset="-122"/>
                <a:sym typeface="思源黑体 CN Normal" panose="020B0400000000000000" charset="-122"/>
              </a:endParaRPr>
            </a:p>
          </p:txBody>
        </p:sp>
        <p:sp>
          <p:nvSpPr>
            <p:cNvPr id="13" name="多边形"/>
            <p:cNvSpPr/>
            <p:nvPr/>
          </p:nvSpPr>
          <p:spPr>
            <a:xfrm>
              <a:off x="177949" y="94840"/>
              <a:ext cx="1074453" cy="124067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5400"/>
                  </a:lnTo>
                  <a:lnTo>
                    <a:pt x="21600" y="16200"/>
                  </a:lnTo>
                  <a:lnTo>
                    <a:pt x="10800" y="21600"/>
                  </a:lnTo>
                  <a:lnTo>
                    <a:pt x="0" y="16200"/>
                  </a:lnTo>
                  <a:lnTo>
                    <a:pt x="0" y="5400"/>
                  </a:lnTo>
                  <a:close/>
                </a:path>
              </a:pathLst>
            </a:custGeom>
            <a:noFill/>
            <a:ln w="25400" cap="flat">
              <a:solidFill>
                <a:srgbClr val="D5D5D5"/>
              </a:solidFill>
              <a:prstDash val="solid"/>
              <a:miter lim="400000"/>
            </a:ln>
            <a:effectLst/>
          </p:spPr>
          <p:txBody>
            <a:bodyPr wrap="square" lIns="50800" tIns="50800" rIns="50800" bIns="50800" numCol="1" anchor="ctr">
              <a:noAutofit/>
            </a:bodyPr>
            <a:lstStyle/>
            <a:p>
              <a:pPr algn="ctr" defTabSz="565150">
                <a:lnSpc>
                  <a:spcPct val="100000"/>
                </a:lnSpc>
                <a:spcBef>
                  <a:spcPts val="0"/>
                </a:spcBef>
                <a:defRPr sz="3200">
                  <a:solidFill>
                    <a:srgbClr val="FFFFFF"/>
                  </a:solidFill>
                  <a:latin typeface="Avenir Next Regular"/>
                  <a:ea typeface="Avenir Next Regular"/>
                  <a:cs typeface="Avenir Next Regular"/>
                  <a:sym typeface="Avenir Next Regular"/>
                </a:defRPr>
              </a:pPr>
              <a:endParaRPr sz="1200" b="1">
                <a:latin typeface="+mn-ea"/>
                <a:ea typeface="+mn-ea"/>
                <a:cs typeface="思源黑体 CN Normal" panose="020B0400000000000000" charset="-122"/>
                <a:sym typeface="思源黑体 CN Normal" panose="020B0400000000000000" charset="-122"/>
              </a:endParaRPr>
            </a:p>
          </p:txBody>
        </p:sp>
        <p:sp>
          <p:nvSpPr>
            <p:cNvPr id="14" name="多边形"/>
            <p:cNvSpPr/>
            <p:nvPr/>
          </p:nvSpPr>
          <p:spPr>
            <a:xfrm>
              <a:off x="207692" y="129185"/>
              <a:ext cx="1014966" cy="117198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5400"/>
                  </a:lnTo>
                  <a:lnTo>
                    <a:pt x="21600" y="16200"/>
                  </a:lnTo>
                  <a:lnTo>
                    <a:pt x="10800" y="21600"/>
                  </a:lnTo>
                  <a:lnTo>
                    <a:pt x="0" y="16200"/>
                  </a:lnTo>
                  <a:lnTo>
                    <a:pt x="0" y="5400"/>
                  </a:lnTo>
                  <a:close/>
                </a:path>
              </a:pathLst>
            </a:custGeom>
            <a:noFill/>
            <a:ln w="25400" cap="flat">
              <a:solidFill>
                <a:srgbClr val="D5D5D5"/>
              </a:solidFill>
              <a:prstDash val="solid"/>
              <a:miter lim="400000"/>
            </a:ln>
            <a:effectLst/>
          </p:spPr>
          <p:txBody>
            <a:bodyPr wrap="square" lIns="50800" tIns="50800" rIns="50800" bIns="50800" numCol="1" anchor="ctr">
              <a:noAutofit/>
            </a:bodyPr>
            <a:lstStyle/>
            <a:p>
              <a:pPr algn="ctr" defTabSz="565150">
                <a:lnSpc>
                  <a:spcPct val="100000"/>
                </a:lnSpc>
                <a:spcBef>
                  <a:spcPts val="0"/>
                </a:spcBef>
                <a:defRPr sz="3200">
                  <a:solidFill>
                    <a:srgbClr val="FFFFFF"/>
                  </a:solidFill>
                  <a:latin typeface="Avenir Next Regular"/>
                  <a:ea typeface="Avenir Next Regular"/>
                  <a:cs typeface="Avenir Next Regular"/>
                  <a:sym typeface="Avenir Next Regular"/>
                </a:defRPr>
              </a:pPr>
              <a:endParaRPr sz="1200" b="1">
                <a:latin typeface="+mn-ea"/>
                <a:ea typeface="+mn-ea"/>
                <a:cs typeface="思源黑体 CN Normal" panose="020B0400000000000000" charset="-122"/>
                <a:sym typeface="思源黑体 CN Normal" panose="020B0400000000000000" charset="-122"/>
              </a:endParaRPr>
            </a:p>
          </p:txBody>
        </p:sp>
        <p:sp>
          <p:nvSpPr>
            <p:cNvPr id="15" name="多边形"/>
            <p:cNvSpPr/>
            <p:nvPr/>
          </p:nvSpPr>
          <p:spPr>
            <a:xfrm>
              <a:off x="271239" y="202562"/>
              <a:ext cx="887873" cy="102522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5400"/>
                  </a:lnTo>
                  <a:lnTo>
                    <a:pt x="21600" y="16200"/>
                  </a:lnTo>
                  <a:lnTo>
                    <a:pt x="10800" y="21600"/>
                  </a:lnTo>
                  <a:lnTo>
                    <a:pt x="0" y="16200"/>
                  </a:lnTo>
                  <a:lnTo>
                    <a:pt x="0" y="5400"/>
                  </a:lnTo>
                  <a:close/>
                </a:path>
              </a:pathLst>
            </a:custGeom>
            <a:noFill/>
            <a:ln w="25400" cap="flat">
              <a:solidFill>
                <a:srgbClr val="D5D5D5"/>
              </a:solidFill>
              <a:prstDash val="solid"/>
              <a:miter lim="400000"/>
            </a:ln>
            <a:effectLst/>
          </p:spPr>
          <p:txBody>
            <a:bodyPr wrap="square" lIns="50800" tIns="50800" rIns="50800" bIns="50800" numCol="1" anchor="ctr">
              <a:noAutofit/>
            </a:bodyPr>
            <a:lstStyle/>
            <a:p>
              <a:pPr algn="ctr" defTabSz="565150">
                <a:lnSpc>
                  <a:spcPct val="100000"/>
                </a:lnSpc>
                <a:spcBef>
                  <a:spcPts val="0"/>
                </a:spcBef>
                <a:defRPr sz="3200">
                  <a:solidFill>
                    <a:srgbClr val="FFFFFF"/>
                  </a:solidFill>
                  <a:latin typeface="Avenir Next Regular"/>
                  <a:ea typeface="Avenir Next Regular"/>
                  <a:cs typeface="Avenir Next Regular"/>
                  <a:sym typeface="Avenir Next Regular"/>
                </a:defRPr>
              </a:pPr>
              <a:endParaRPr sz="1200" b="1">
                <a:latin typeface="+mn-ea"/>
                <a:ea typeface="+mn-ea"/>
                <a:cs typeface="思源黑体 CN Normal" panose="020B0400000000000000" charset="-122"/>
                <a:sym typeface="思源黑体 CN Normal" panose="020B0400000000000000" charset="-122"/>
              </a:endParaRPr>
            </a:p>
          </p:txBody>
        </p:sp>
        <p:sp>
          <p:nvSpPr>
            <p:cNvPr id="16" name="多边形"/>
            <p:cNvSpPr/>
            <p:nvPr/>
          </p:nvSpPr>
          <p:spPr>
            <a:xfrm>
              <a:off x="847151" y="0"/>
              <a:ext cx="1238721" cy="143035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5400"/>
                  </a:lnTo>
                  <a:lnTo>
                    <a:pt x="21600" y="16200"/>
                  </a:lnTo>
                  <a:lnTo>
                    <a:pt x="10800" y="21600"/>
                  </a:lnTo>
                  <a:lnTo>
                    <a:pt x="0" y="16200"/>
                  </a:lnTo>
                  <a:lnTo>
                    <a:pt x="0" y="5400"/>
                  </a:lnTo>
                  <a:close/>
                </a:path>
              </a:pathLst>
            </a:custGeom>
            <a:noFill/>
            <a:ln w="50800" cap="flat">
              <a:solidFill>
                <a:srgbClr val="2682FF"/>
              </a:solidFill>
              <a:prstDash val="solid"/>
              <a:miter lim="400000"/>
            </a:ln>
            <a:effectLst/>
          </p:spPr>
          <p:txBody>
            <a:bodyPr wrap="square" lIns="50800" tIns="50800" rIns="50800" bIns="50800" numCol="1" anchor="ctr">
              <a:noAutofit/>
            </a:bodyPr>
            <a:lstStyle/>
            <a:p>
              <a:pPr algn="ctr" defTabSz="565150">
                <a:lnSpc>
                  <a:spcPct val="100000"/>
                </a:lnSpc>
                <a:spcBef>
                  <a:spcPts val="0"/>
                </a:spcBef>
                <a:defRPr sz="3200">
                  <a:solidFill>
                    <a:srgbClr val="FFFFFF"/>
                  </a:solidFill>
                  <a:latin typeface="Avenir Next Regular"/>
                  <a:ea typeface="Avenir Next Regular"/>
                  <a:cs typeface="Avenir Next Regular"/>
                  <a:sym typeface="Avenir Next Regular"/>
                </a:defRPr>
              </a:pPr>
              <a:endParaRPr sz="1200" b="1">
                <a:latin typeface="+mn-ea"/>
                <a:ea typeface="+mn-ea"/>
                <a:cs typeface="思源黑体 CN Normal" panose="020B0400000000000000" charset="-122"/>
                <a:sym typeface="思源黑体 CN Normal" panose="020B0400000000000000" charset="-122"/>
              </a:endParaRPr>
            </a:p>
          </p:txBody>
        </p:sp>
        <p:sp>
          <p:nvSpPr>
            <p:cNvPr id="17" name="多边形"/>
            <p:cNvSpPr/>
            <p:nvPr/>
          </p:nvSpPr>
          <p:spPr>
            <a:xfrm>
              <a:off x="929284" y="94840"/>
              <a:ext cx="1074453" cy="124067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5400"/>
                  </a:lnTo>
                  <a:lnTo>
                    <a:pt x="21600" y="16200"/>
                  </a:lnTo>
                  <a:lnTo>
                    <a:pt x="10800" y="21600"/>
                  </a:lnTo>
                  <a:lnTo>
                    <a:pt x="0" y="16200"/>
                  </a:lnTo>
                  <a:lnTo>
                    <a:pt x="0" y="5400"/>
                  </a:lnTo>
                  <a:close/>
                </a:path>
              </a:pathLst>
            </a:custGeom>
            <a:noFill/>
            <a:ln w="25400" cap="flat">
              <a:solidFill>
                <a:srgbClr val="2682FF"/>
              </a:solidFill>
              <a:prstDash val="solid"/>
              <a:miter lim="400000"/>
            </a:ln>
            <a:effectLst/>
          </p:spPr>
          <p:txBody>
            <a:bodyPr wrap="square" lIns="50800" tIns="50800" rIns="50800" bIns="50800" numCol="1" anchor="ctr">
              <a:noAutofit/>
            </a:bodyPr>
            <a:lstStyle/>
            <a:p>
              <a:pPr algn="ctr" defTabSz="565150">
                <a:lnSpc>
                  <a:spcPct val="100000"/>
                </a:lnSpc>
                <a:spcBef>
                  <a:spcPts val="0"/>
                </a:spcBef>
                <a:defRPr sz="3200">
                  <a:solidFill>
                    <a:srgbClr val="FFFFFF"/>
                  </a:solidFill>
                  <a:latin typeface="Avenir Next Regular"/>
                  <a:ea typeface="Avenir Next Regular"/>
                  <a:cs typeface="Avenir Next Regular"/>
                  <a:sym typeface="Avenir Next Regular"/>
                </a:defRPr>
              </a:pPr>
              <a:endParaRPr sz="1200" b="1">
                <a:latin typeface="+mn-ea"/>
                <a:ea typeface="+mn-ea"/>
                <a:cs typeface="思源黑体 CN Normal" panose="020B0400000000000000" charset="-122"/>
                <a:sym typeface="思源黑体 CN Normal" panose="020B0400000000000000" charset="-122"/>
              </a:endParaRPr>
            </a:p>
          </p:txBody>
        </p:sp>
        <p:sp>
          <p:nvSpPr>
            <p:cNvPr id="18" name="多边形"/>
            <p:cNvSpPr/>
            <p:nvPr/>
          </p:nvSpPr>
          <p:spPr>
            <a:xfrm>
              <a:off x="959028" y="129185"/>
              <a:ext cx="1014966" cy="117198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5400"/>
                  </a:lnTo>
                  <a:lnTo>
                    <a:pt x="21600" y="16200"/>
                  </a:lnTo>
                  <a:lnTo>
                    <a:pt x="10800" y="21600"/>
                  </a:lnTo>
                  <a:lnTo>
                    <a:pt x="0" y="16200"/>
                  </a:lnTo>
                  <a:lnTo>
                    <a:pt x="0" y="5400"/>
                  </a:lnTo>
                  <a:close/>
                </a:path>
              </a:pathLst>
            </a:custGeom>
            <a:noFill/>
            <a:ln w="25400" cap="flat">
              <a:solidFill>
                <a:srgbClr val="2682FF"/>
              </a:solidFill>
              <a:prstDash val="solid"/>
              <a:miter lim="400000"/>
            </a:ln>
            <a:effectLst/>
          </p:spPr>
          <p:txBody>
            <a:bodyPr wrap="square" lIns="50800" tIns="50800" rIns="50800" bIns="50800" numCol="1" anchor="ctr">
              <a:noAutofit/>
            </a:bodyPr>
            <a:lstStyle/>
            <a:p>
              <a:pPr algn="ctr" defTabSz="565150">
                <a:lnSpc>
                  <a:spcPct val="100000"/>
                </a:lnSpc>
                <a:spcBef>
                  <a:spcPts val="0"/>
                </a:spcBef>
                <a:defRPr sz="3200">
                  <a:solidFill>
                    <a:srgbClr val="FFFFFF"/>
                  </a:solidFill>
                  <a:latin typeface="Avenir Next Regular"/>
                  <a:ea typeface="Avenir Next Regular"/>
                  <a:cs typeface="Avenir Next Regular"/>
                  <a:sym typeface="Avenir Next Regular"/>
                </a:defRPr>
              </a:pPr>
              <a:endParaRPr sz="1200" b="1">
                <a:latin typeface="+mn-ea"/>
                <a:ea typeface="+mn-ea"/>
                <a:cs typeface="思源黑体 CN Normal" panose="020B0400000000000000" charset="-122"/>
                <a:sym typeface="思源黑体 CN Normal" panose="020B0400000000000000" charset="-122"/>
              </a:endParaRPr>
            </a:p>
          </p:txBody>
        </p:sp>
        <p:sp>
          <p:nvSpPr>
            <p:cNvPr id="19" name="多边形"/>
            <p:cNvSpPr/>
            <p:nvPr/>
          </p:nvSpPr>
          <p:spPr>
            <a:xfrm>
              <a:off x="1022574" y="202562"/>
              <a:ext cx="887873" cy="102522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5400"/>
                  </a:lnTo>
                  <a:lnTo>
                    <a:pt x="21600" y="16200"/>
                  </a:lnTo>
                  <a:lnTo>
                    <a:pt x="10800" y="21600"/>
                  </a:lnTo>
                  <a:lnTo>
                    <a:pt x="0" y="16200"/>
                  </a:lnTo>
                  <a:lnTo>
                    <a:pt x="0" y="5400"/>
                  </a:lnTo>
                  <a:close/>
                </a:path>
              </a:pathLst>
            </a:custGeom>
            <a:noFill/>
            <a:ln w="25400" cap="flat">
              <a:solidFill>
                <a:srgbClr val="2682FF"/>
              </a:solidFill>
              <a:prstDash val="solid"/>
              <a:miter lim="400000"/>
            </a:ln>
            <a:effectLst/>
          </p:spPr>
          <p:txBody>
            <a:bodyPr wrap="square" lIns="50800" tIns="50800" rIns="50800" bIns="50800" numCol="1" anchor="ctr">
              <a:noAutofit/>
            </a:bodyPr>
            <a:lstStyle/>
            <a:p>
              <a:pPr algn="ctr" defTabSz="565150">
                <a:lnSpc>
                  <a:spcPct val="100000"/>
                </a:lnSpc>
                <a:spcBef>
                  <a:spcPts val="0"/>
                </a:spcBef>
                <a:defRPr sz="3200">
                  <a:solidFill>
                    <a:srgbClr val="FFFFFF"/>
                  </a:solidFill>
                  <a:latin typeface="Avenir Next Regular"/>
                  <a:ea typeface="Avenir Next Regular"/>
                  <a:cs typeface="Avenir Next Regular"/>
                  <a:sym typeface="Avenir Next Regular"/>
                </a:defRPr>
              </a:pPr>
              <a:endParaRPr sz="1200" b="1">
                <a:latin typeface="+mn-ea"/>
                <a:ea typeface="+mn-ea"/>
                <a:cs typeface="思源黑体 CN Normal" panose="020B0400000000000000" charset="-122"/>
                <a:sym typeface="思源黑体 CN Normal" panose="020B0400000000000000" charset="-122"/>
              </a:endParaRPr>
            </a:p>
          </p:txBody>
        </p:sp>
      </p:grpSp>
      <p:sp>
        <p:nvSpPr>
          <p:cNvPr id="24" name="文本占位符 23"/>
          <p:cNvSpPr>
            <a:spLocks noGrp="1"/>
          </p:cNvSpPr>
          <p:nvPr>
            <p:ph type="body" sz="quarter" idx="25" hasCustomPrompt="1"/>
          </p:nvPr>
        </p:nvSpPr>
        <p:spPr>
          <a:xfrm>
            <a:off x="857364" y="260880"/>
            <a:ext cx="558166" cy="424732"/>
          </a:xfrm>
        </p:spPr>
        <p:txBody>
          <a:bodyPr vert="horz" wrap="none" lIns="91440" tIns="45720" rIns="91440" bIns="45720" rtlCol="0" anchor="ctr">
            <a:spAutoFit/>
          </a:bodyPr>
          <a:lstStyle>
            <a:lvl1pPr marL="0" indent="0" algn="ctr">
              <a:buNone/>
              <a:defRPr lang="zh-CN" altLang="en-US" sz="2400" b="1" dirty="0" smtClean="0">
                <a:latin typeface="+mn-ea"/>
                <a:cs typeface="思源黑体 CN Normal" panose="020B0400000000000000" charset="-122"/>
              </a:defRPr>
            </a:lvl1pPr>
          </a:lstStyle>
          <a:p>
            <a:pPr marL="228600" lvl="0" indent="-228600">
              <a:buSzTx/>
            </a:pPr>
            <a:r>
              <a:rPr lang="en-US" altLang="zh-CN" dirty="0"/>
              <a:t>0X</a:t>
            </a:r>
            <a:endParaRPr lang="zh-CN" altLang="en-US" dirty="0"/>
          </a:p>
        </p:txBody>
      </p:sp>
      <p:sp>
        <p:nvSpPr>
          <p:cNvPr id="27" name="线条"/>
          <p:cNvSpPr/>
          <p:nvPr userDrawn="1"/>
        </p:nvSpPr>
        <p:spPr>
          <a:xfrm>
            <a:off x="1444218" y="806400"/>
            <a:ext cx="10350640" cy="960"/>
          </a:xfrm>
          <a:prstGeom prst="line">
            <a:avLst/>
          </a:prstGeom>
          <a:ln w="12700">
            <a:solidFill>
              <a:schemeClr val="accent1"/>
            </a:solidFill>
            <a:miter lim="400000"/>
          </a:ln>
        </p:spPr>
        <p:txBody>
          <a:bodyPr lIns="25400" tIns="25400" rIns="25400" bIns="25400" anchor="ctr"/>
          <a:lstStyle/>
          <a:p>
            <a:endParaRPr sz="825">
              <a:latin typeface="+mn-ea"/>
              <a:ea typeface="+mn-ea"/>
              <a:cs typeface="思源黑体 CN Normal" panose="020B0400000000000000" charset="-122"/>
              <a:sym typeface="思源黑体 CN Normal" panose="020B0400000000000000" charset="-122"/>
            </a:endParaRPr>
          </a:p>
        </p:txBody>
      </p:sp>
      <p:pic>
        <p:nvPicPr>
          <p:cNvPr id="23" name="图片 22"/>
          <p:cNvPicPr>
            <a:picLocks noChangeAspect="1"/>
          </p:cNvPicPr>
          <p:nvPr userDrawn="1"/>
        </p:nvPicPr>
        <p:blipFill>
          <a:blip r:embed="rId2"/>
          <a:srcRect l="13220" t="9980" b="11757"/>
          <a:stretch>
            <a:fillRect/>
          </a:stretch>
        </p:blipFill>
        <p:spPr>
          <a:xfrm>
            <a:off x="10423258" y="91223"/>
            <a:ext cx="1410381" cy="715177"/>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xml"/><Relationship Id="rId1" Type="http://schemas.openxmlformats.org/officeDocument/2006/relationships/tags" Target="../tags/tag1.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image" Target="../media/image7.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tags" Target="../tags/tag6.xml"/><Relationship Id="rId7" Type="http://schemas.openxmlformats.org/officeDocument/2006/relationships/image" Target="../media/image7.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9.png"/><Relationship Id="rId5" Type="http://schemas.openxmlformats.org/officeDocument/2006/relationships/slideLayout" Target="../slideLayouts/slideLayout1.xml"/><Relationship Id="rId4" Type="http://schemas.openxmlformats.org/officeDocument/2006/relationships/tags" Target="../tags/tag7.xml"/><Relationship Id="rId9" Type="http://schemas.openxmlformats.org/officeDocument/2006/relationships/chart" Target="../charts/char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diagramData" Target="../diagrams/data1.xml"/><Relationship Id="rId13" Type="http://schemas.openxmlformats.org/officeDocument/2006/relationships/image" Target="../media/image13.png"/><Relationship Id="rId3" Type="http://schemas.microsoft.com/office/2007/relationships/media" Target="../media/media2.mp4"/><Relationship Id="rId7" Type="http://schemas.openxmlformats.org/officeDocument/2006/relationships/image" Target="../media/image7.png"/><Relationship Id="rId12" Type="http://schemas.microsoft.com/office/2007/relationships/diagramDrawing" Target="../diagrams/drawing1.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9.png"/><Relationship Id="rId11" Type="http://schemas.openxmlformats.org/officeDocument/2006/relationships/diagramColors" Target="../diagrams/colors1.xml"/><Relationship Id="rId5" Type="http://schemas.openxmlformats.org/officeDocument/2006/relationships/slideLayout" Target="../slideLayouts/slideLayout1.xml"/><Relationship Id="rId10" Type="http://schemas.openxmlformats.org/officeDocument/2006/relationships/diagramQuickStyle" Target="../diagrams/quickStyle1.xml"/><Relationship Id="rId4" Type="http://schemas.openxmlformats.org/officeDocument/2006/relationships/video" Target="../media/media2.mp4"/><Relationship Id="rId9" Type="http://schemas.openxmlformats.org/officeDocument/2006/relationships/diagramLayout" Target="../diagrams/layout1.xml"/><Relationship Id="rId1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image" Target="../media/image16.emf"/><Relationship Id="rId7" Type="http://schemas.openxmlformats.org/officeDocument/2006/relationships/image" Target="../media/image20.emf"/><Relationship Id="rId12" Type="http://schemas.openxmlformats.org/officeDocument/2006/relationships/image" Target="../media/image25.png"/><Relationship Id="rId17" Type="http://schemas.openxmlformats.org/officeDocument/2006/relationships/image" Target="../media/image7.png"/><Relationship Id="rId2" Type="http://schemas.openxmlformats.org/officeDocument/2006/relationships/image" Target="../media/image15.png"/><Relationship Id="rId16" Type="http://schemas.openxmlformats.org/officeDocument/2006/relationships/image" Target="../media/image29.png"/><Relationship Id="rId1" Type="http://schemas.openxmlformats.org/officeDocument/2006/relationships/slideLayout" Target="../slideLayouts/slideLayout1.xml"/><Relationship Id="rId6" Type="http://schemas.openxmlformats.org/officeDocument/2006/relationships/image" Target="../media/image19.emf"/><Relationship Id="rId11" Type="http://schemas.openxmlformats.org/officeDocument/2006/relationships/image" Target="../media/image24.jpeg"/><Relationship Id="rId5" Type="http://schemas.openxmlformats.org/officeDocument/2006/relationships/image" Target="../media/image18.emf"/><Relationship Id="rId15" Type="http://schemas.openxmlformats.org/officeDocument/2006/relationships/image" Target="../media/image28.png"/><Relationship Id="rId10" Type="http://schemas.openxmlformats.org/officeDocument/2006/relationships/image" Target="../media/image23.jpeg"/><Relationship Id="rId4" Type="http://schemas.openxmlformats.org/officeDocument/2006/relationships/image" Target="../media/image17.emf"/><Relationship Id="rId9" Type="http://schemas.openxmlformats.org/officeDocument/2006/relationships/image" Target="../media/image22.tiff"/><Relationship Id="rId1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tags" Target="../tags/tag20.xml"/><Relationship Id="rId18" Type="http://schemas.openxmlformats.org/officeDocument/2006/relationships/tags" Target="../tags/tag25.xml"/><Relationship Id="rId26" Type="http://schemas.openxmlformats.org/officeDocument/2006/relationships/tags" Target="../tags/tag33.xml"/><Relationship Id="rId3" Type="http://schemas.openxmlformats.org/officeDocument/2006/relationships/tags" Target="../tags/tag10.xml"/><Relationship Id="rId21" Type="http://schemas.openxmlformats.org/officeDocument/2006/relationships/tags" Target="../tags/tag28.xml"/><Relationship Id="rId7" Type="http://schemas.openxmlformats.org/officeDocument/2006/relationships/tags" Target="../tags/tag14.xml"/><Relationship Id="rId12" Type="http://schemas.openxmlformats.org/officeDocument/2006/relationships/tags" Target="../tags/tag19.xml"/><Relationship Id="rId17" Type="http://schemas.openxmlformats.org/officeDocument/2006/relationships/tags" Target="../tags/tag24.xml"/><Relationship Id="rId25" Type="http://schemas.openxmlformats.org/officeDocument/2006/relationships/tags" Target="../tags/tag32.xml"/><Relationship Id="rId2" Type="http://schemas.openxmlformats.org/officeDocument/2006/relationships/tags" Target="../tags/tag9.xml"/><Relationship Id="rId16" Type="http://schemas.openxmlformats.org/officeDocument/2006/relationships/tags" Target="../tags/tag23.xml"/><Relationship Id="rId20" Type="http://schemas.openxmlformats.org/officeDocument/2006/relationships/tags" Target="../tags/tag27.xml"/><Relationship Id="rId29" Type="http://schemas.openxmlformats.org/officeDocument/2006/relationships/slideLayout" Target="../slideLayouts/slideLayout1.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tags" Target="../tags/tag18.xml"/><Relationship Id="rId24" Type="http://schemas.openxmlformats.org/officeDocument/2006/relationships/tags" Target="../tags/tag31.xml"/><Relationship Id="rId5" Type="http://schemas.openxmlformats.org/officeDocument/2006/relationships/tags" Target="../tags/tag12.xml"/><Relationship Id="rId15" Type="http://schemas.openxmlformats.org/officeDocument/2006/relationships/tags" Target="../tags/tag22.xml"/><Relationship Id="rId23" Type="http://schemas.openxmlformats.org/officeDocument/2006/relationships/tags" Target="../tags/tag30.xml"/><Relationship Id="rId28" Type="http://schemas.openxmlformats.org/officeDocument/2006/relationships/tags" Target="../tags/tag35.xml"/><Relationship Id="rId10" Type="http://schemas.openxmlformats.org/officeDocument/2006/relationships/tags" Target="../tags/tag17.xml"/><Relationship Id="rId19" Type="http://schemas.openxmlformats.org/officeDocument/2006/relationships/tags" Target="../tags/tag26.xml"/><Relationship Id="rId31" Type="http://schemas.openxmlformats.org/officeDocument/2006/relationships/image" Target="../media/image7.png"/><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tags" Target="../tags/tag21.xml"/><Relationship Id="rId22" Type="http://schemas.openxmlformats.org/officeDocument/2006/relationships/tags" Target="../tags/tag29.xml"/><Relationship Id="rId27" Type="http://schemas.openxmlformats.org/officeDocument/2006/relationships/tags" Target="../tags/tag34.xml"/><Relationship Id="rId30"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tags" Target="../tags/tag38.xml"/><Relationship Id="rId7" Type="http://schemas.openxmlformats.org/officeDocument/2006/relationships/image" Target="../media/image7.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image" Target="../media/image9.png"/><Relationship Id="rId5" Type="http://schemas.openxmlformats.org/officeDocument/2006/relationships/slideLayout" Target="../slideLayouts/slideLayout1.xml"/><Relationship Id="rId4" Type="http://schemas.openxmlformats.org/officeDocument/2006/relationships/tags" Target="../tags/tag39.xml"/><Relationship Id="rId9" Type="http://schemas.openxmlformats.org/officeDocument/2006/relationships/image" Target="../media/image47.png"/></Relationships>
</file>

<file path=ppt/slides/_rels/slide23.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9.png"/><Relationship Id="rId7" Type="http://schemas.openxmlformats.org/officeDocument/2006/relationships/image" Target="../media/image51.png"/><Relationship Id="rId12" Type="http://schemas.openxmlformats.org/officeDocument/2006/relationships/image" Target="../media/image56.png"/><Relationship Id="rId2" Type="http://schemas.openxmlformats.org/officeDocument/2006/relationships/image" Target="../media/image48.png"/><Relationship Id="rId1" Type="http://schemas.openxmlformats.org/officeDocument/2006/relationships/slideLayout" Target="../slideLayouts/slideLayout1.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7.png"/><Relationship Id="rId9" Type="http://schemas.openxmlformats.org/officeDocument/2006/relationships/image" Target="../media/image53.png"/></Relationships>
</file>

<file path=ppt/slides/_rels/slide24.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7.png"/><Relationship Id="rId2" Type="http://schemas.openxmlformats.org/officeDocument/2006/relationships/slideLayout" Target="../slideLayouts/slideLayout1.xml"/><Relationship Id="rId1" Type="http://schemas.openxmlformats.org/officeDocument/2006/relationships/tags" Target="../tags/tag40.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63.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8" Type="http://schemas.openxmlformats.org/officeDocument/2006/relationships/tags" Target="../tags/tag48.xml"/><Relationship Id="rId13" Type="http://schemas.openxmlformats.org/officeDocument/2006/relationships/tags" Target="../tags/tag53.xml"/><Relationship Id="rId3" Type="http://schemas.openxmlformats.org/officeDocument/2006/relationships/tags" Target="../tags/tag43.xml"/><Relationship Id="rId7" Type="http://schemas.openxmlformats.org/officeDocument/2006/relationships/tags" Target="../tags/tag47.xml"/><Relationship Id="rId12" Type="http://schemas.openxmlformats.org/officeDocument/2006/relationships/tags" Target="../tags/tag52.xml"/><Relationship Id="rId17" Type="http://schemas.openxmlformats.org/officeDocument/2006/relationships/image" Target="../media/image7.png"/><Relationship Id="rId2" Type="http://schemas.openxmlformats.org/officeDocument/2006/relationships/tags" Target="../tags/tag42.xml"/><Relationship Id="rId16" Type="http://schemas.openxmlformats.org/officeDocument/2006/relationships/image" Target="../media/image9.png"/><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tags" Target="../tags/tag51.xml"/><Relationship Id="rId5" Type="http://schemas.openxmlformats.org/officeDocument/2006/relationships/tags" Target="../tags/tag45.xml"/><Relationship Id="rId15" Type="http://schemas.openxmlformats.org/officeDocument/2006/relationships/slideLayout" Target="../slideLayouts/slideLayout1.xml"/><Relationship Id="rId10" Type="http://schemas.openxmlformats.org/officeDocument/2006/relationships/tags" Target="../tags/tag50.xml"/><Relationship Id="rId4" Type="http://schemas.openxmlformats.org/officeDocument/2006/relationships/tags" Target="../tags/tag44.xml"/><Relationship Id="rId9" Type="http://schemas.openxmlformats.org/officeDocument/2006/relationships/tags" Target="../tags/tag49.xml"/><Relationship Id="rId14" Type="http://schemas.openxmlformats.org/officeDocument/2006/relationships/tags" Target="../tags/tag54.xml"/></Relationships>
</file>

<file path=ppt/slides/_rels/slide2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57.png"/><Relationship Id="rId1" Type="http://schemas.openxmlformats.org/officeDocument/2006/relationships/slideLayout" Target="../slideLayouts/slideLayout1.xml"/><Relationship Id="rId6" Type="http://schemas.openxmlformats.org/officeDocument/2006/relationships/image" Target="../media/image66.png"/><Relationship Id="rId5" Type="http://schemas.openxmlformats.org/officeDocument/2006/relationships/image" Target="../media/image7.png"/><Relationship Id="rId4" Type="http://schemas.openxmlformats.org/officeDocument/2006/relationships/image" Target="../media/image6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rot="21600000">
            <a:off x="0" y="0"/>
            <a:ext cx="12192000" cy="6857998"/>
          </a:xfrm>
          <a:prstGeom prst="rect">
            <a:avLst/>
          </a:prstGeom>
        </p:spPr>
      </p:pic>
      <p:pic>
        <p:nvPicPr>
          <p:cNvPr id="4" name="picture 4"/>
          <p:cNvPicPr>
            <a:picLocks noChangeAspect="1"/>
          </p:cNvPicPr>
          <p:nvPr/>
        </p:nvPicPr>
        <p:blipFill>
          <a:blip r:embed="rId3"/>
          <a:stretch>
            <a:fillRect/>
          </a:stretch>
        </p:blipFill>
        <p:spPr>
          <a:xfrm rot="21600000">
            <a:off x="0" y="5536565"/>
            <a:ext cx="12192000" cy="117475"/>
          </a:xfrm>
          <a:prstGeom prst="rect">
            <a:avLst/>
          </a:prstGeom>
        </p:spPr>
      </p:pic>
      <p:sp>
        <p:nvSpPr>
          <p:cNvPr id="6" name="textbox 6"/>
          <p:cNvSpPr/>
          <p:nvPr/>
        </p:nvSpPr>
        <p:spPr>
          <a:xfrm>
            <a:off x="1479226" y="606682"/>
            <a:ext cx="9805675" cy="5521325"/>
          </a:xfrm>
          <a:prstGeom prst="rect">
            <a:avLst/>
          </a:prstGeom>
          <a:noFill/>
          <a:ln w="0" cap="flat">
            <a:noFill/>
            <a:prstDash val="solid"/>
            <a:miter lim="0"/>
          </a:ln>
        </p:spPr>
        <p:txBody>
          <a:bodyPr vert="horz" wrap="square" lIns="0" tIns="0" rIns="0" bIns="0"/>
          <a:lstStyle/>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marL="1504950" algn="l" rtl="0" eaLnBrk="0">
              <a:lnSpc>
                <a:spcPct val="83000"/>
              </a:lnSpc>
              <a:spcBef>
                <a:spcPts val="5"/>
              </a:spcBef>
              <a:tabLst>
                <a:tab pos="2925445" algn="l"/>
              </a:tabLst>
            </a:pPr>
            <a:r>
              <a:rPr sz="3000"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	</a:t>
            </a:r>
            <a:endParaRPr sz="2700" dirty="0">
              <a:latin typeface="微软雅黑" panose="020B0503020204020204" charset="-122"/>
              <a:ea typeface="微软雅黑" panose="020B0503020204020204" charset="-122"/>
              <a:cs typeface="微软雅黑" panose="020B0503020204020204" charset="-122"/>
            </a:endParaRPr>
          </a:p>
        </p:txBody>
      </p:sp>
      <p:pic>
        <p:nvPicPr>
          <p:cNvPr id="8" name="picture 8"/>
          <p:cNvPicPr>
            <a:picLocks noChangeAspect="1"/>
          </p:cNvPicPr>
          <p:nvPr/>
        </p:nvPicPr>
        <p:blipFill>
          <a:blip r:embed="rId4"/>
          <a:stretch>
            <a:fillRect/>
          </a:stretch>
        </p:blipFill>
        <p:spPr>
          <a:xfrm rot="21600000">
            <a:off x="1491926" y="619382"/>
            <a:ext cx="1492318" cy="5495410"/>
          </a:xfrm>
          <a:prstGeom prst="rect">
            <a:avLst/>
          </a:prstGeom>
        </p:spPr>
      </p:pic>
      <p:sp>
        <p:nvSpPr>
          <p:cNvPr id="16" name="path 16"/>
          <p:cNvSpPr/>
          <p:nvPr/>
        </p:nvSpPr>
        <p:spPr>
          <a:xfrm>
            <a:off x="11090275" y="6152515"/>
            <a:ext cx="942974" cy="561975"/>
          </a:xfrm>
          <a:custGeom>
            <a:avLst/>
            <a:gdLst/>
            <a:ahLst/>
            <a:cxnLst/>
            <a:rect l="0" t="0" r="0" b="0"/>
            <a:pathLst>
              <a:path w="1484" h="885">
                <a:moveTo>
                  <a:pt x="1267" y="885"/>
                </a:moveTo>
                <a:lnTo>
                  <a:pt x="1484" y="885"/>
                </a:lnTo>
                <a:lnTo>
                  <a:pt x="1484" y="668"/>
                </a:lnTo>
                <a:lnTo>
                  <a:pt x="1267" y="668"/>
                </a:lnTo>
                <a:lnTo>
                  <a:pt x="1267" y="885"/>
                </a:lnTo>
                <a:close/>
              </a:path>
              <a:path w="1484" h="885">
                <a:moveTo>
                  <a:pt x="950" y="885"/>
                </a:moveTo>
                <a:lnTo>
                  <a:pt x="1167" y="885"/>
                </a:lnTo>
                <a:lnTo>
                  <a:pt x="1167" y="668"/>
                </a:lnTo>
                <a:lnTo>
                  <a:pt x="950" y="668"/>
                </a:lnTo>
                <a:lnTo>
                  <a:pt x="950" y="885"/>
                </a:lnTo>
                <a:close/>
              </a:path>
              <a:path w="1484" h="885">
                <a:moveTo>
                  <a:pt x="634" y="885"/>
                </a:moveTo>
                <a:lnTo>
                  <a:pt x="850" y="885"/>
                </a:lnTo>
                <a:lnTo>
                  <a:pt x="850" y="668"/>
                </a:lnTo>
                <a:lnTo>
                  <a:pt x="634" y="668"/>
                </a:lnTo>
                <a:lnTo>
                  <a:pt x="634" y="885"/>
                </a:lnTo>
                <a:close/>
              </a:path>
              <a:path w="1484" h="885">
                <a:moveTo>
                  <a:pt x="316" y="885"/>
                </a:moveTo>
                <a:lnTo>
                  <a:pt x="533" y="885"/>
                </a:lnTo>
                <a:lnTo>
                  <a:pt x="533" y="668"/>
                </a:lnTo>
                <a:lnTo>
                  <a:pt x="316" y="668"/>
                </a:lnTo>
                <a:lnTo>
                  <a:pt x="316" y="885"/>
                </a:lnTo>
                <a:close/>
              </a:path>
              <a:path w="1484" h="885">
                <a:moveTo>
                  <a:pt x="0" y="885"/>
                </a:moveTo>
                <a:lnTo>
                  <a:pt x="216" y="885"/>
                </a:lnTo>
                <a:lnTo>
                  <a:pt x="216" y="668"/>
                </a:lnTo>
                <a:lnTo>
                  <a:pt x="0" y="668"/>
                </a:lnTo>
                <a:lnTo>
                  <a:pt x="0" y="885"/>
                </a:lnTo>
                <a:close/>
              </a:path>
              <a:path w="1484" h="885">
                <a:moveTo>
                  <a:pt x="1267" y="551"/>
                </a:moveTo>
                <a:lnTo>
                  <a:pt x="1484" y="551"/>
                </a:lnTo>
                <a:lnTo>
                  <a:pt x="1484" y="334"/>
                </a:lnTo>
                <a:lnTo>
                  <a:pt x="1267" y="334"/>
                </a:lnTo>
                <a:lnTo>
                  <a:pt x="1267" y="551"/>
                </a:lnTo>
                <a:close/>
              </a:path>
              <a:path w="1484" h="885">
                <a:moveTo>
                  <a:pt x="950" y="551"/>
                </a:moveTo>
                <a:lnTo>
                  <a:pt x="1167" y="551"/>
                </a:lnTo>
                <a:lnTo>
                  <a:pt x="1167" y="334"/>
                </a:lnTo>
                <a:lnTo>
                  <a:pt x="950" y="334"/>
                </a:lnTo>
                <a:lnTo>
                  <a:pt x="950" y="551"/>
                </a:lnTo>
                <a:close/>
              </a:path>
              <a:path w="1484" h="885">
                <a:moveTo>
                  <a:pt x="634" y="551"/>
                </a:moveTo>
                <a:lnTo>
                  <a:pt x="850" y="551"/>
                </a:lnTo>
                <a:lnTo>
                  <a:pt x="850" y="334"/>
                </a:lnTo>
                <a:lnTo>
                  <a:pt x="634" y="334"/>
                </a:lnTo>
                <a:lnTo>
                  <a:pt x="634" y="551"/>
                </a:lnTo>
                <a:close/>
              </a:path>
              <a:path w="1484" h="885">
                <a:moveTo>
                  <a:pt x="316" y="551"/>
                </a:moveTo>
                <a:lnTo>
                  <a:pt x="533" y="551"/>
                </a:lnTo>
                <a:lnTo>
                  <a:pt x="533" y="334"/>
                </a:lnTo>
                <a:lnTo>
                  <a:pt x="316" y="334"/>
                </a:lnTo>
                <a:lnTo>
                  <a:pt x="316" y="551"/>
                </a:lnTo>
                <a:close/>
              </a:path>
              <a:path w="1484" h="885">
                <a:moveTo>
                  <a:pt x="1267" y="217"/>
                </a:moveTo>
                <a:lnTo>
                  <a:pt x="1484" y="217"/>
                </a:lnTo>
                <a:lnTo>
                  <a:pt x="1484" y="0"/>
                </a:lnTo>
                <a:lnTo>
                  <a:pt x="1267" y="0"/>
                </a:lnTo>
                <a:lnTo>
                  <a:pt x="1267" y="217"/>
                </a:lnTo>
                <a:close/>
              </a:path>
              <a:path w="1484" h="885">
                <a:moveTo>
                  <a:pt x="950" y="217"/>
                </a:moveTo>
                <a:lnTo>
                  <a:pt x="1167" y="217"/>
                </a:lnTo>
                <a:lnTo>
                  <a:pt x="1167" y="0"/>
                </a:lnTo>
                <a:lnTo>
                  <a:pt x="950" y="0"/>
                </a:lnTo>
                <a:lnTo>
                  <a:pt x="950" y="217"/>
                </a:lnTo>
                <a:close/>
              </a:path>
              <a:path w="1484" h="885">
                <a:moveTo>
                  <a:pt x="634" y="217"/>
                </a:moveTo>
                <a:lnTo>
                  <a:pt x="850" y="217"/>
                </a:lnTo>
                <a:lnTo>
                  <a:pt x="850" y="0"/>
                </a:lnTo>
                <a:lnTo>
                  <a:pt x="634" y="0"/>
                </a:lnTo>
                <a:lnTo>
                  <a:pt x="634" y="217"/>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18" name="path 18"/>
          <p:cNvSpPr/>
          <p:nvPr/>
        </p:nvSpPr>
        <p:spPr>
          <a:xfrm>
            <a:off x="147320" y="142875"/>
            <a:ext cx="942975" cy="349884"/>
          </a:xfrm>
          <a:custGeom>
            <a:avLst/>
            <a:gdLst/>
            <a:ahLst/>
            <a:cxnLst/>
            <a:rect l="0" t="0" r="0" b="0"/>
            <a:pathLst>
              <a:path w="1485" h="550">
                <a:moveTo>
                  <a:pt x="0" y="216"/>
                </a:moveTo>
                <a:lnTo>
                  <a:pt x="217" y="216"/>
                </a:lnTo>
                <a:lnTo>
                  <a:pt x="217" y="0"/>
                </a:lnTo>
                <a:lnTo>
                  <a:pt x="0" y="0"/>
                </a:lnTo>
                <a:lnTo>
                  <a:pt x="0" y="216"/>
                </a:lnTo>
                <a:close/>
              </a:path>
              <a:path w="1485" h="550">
                <a:moveTo>
                  <a:pt x="316" y="216"/>
                </a:moveTo>
                <a:lnTo>
                  <a:pt x="533" y="216"/>
                </a:lnTo>
                <a:lnTo>
                  <a:pt x="533" y="0"/>
                </a:lnTo>
                <a:lnTo>
                  <a:pt x="316" y="0"/>
                </a:lnTo>
                <a:lnTo>
                  <a:pt x="316" y="216"/>
                </a:lnTo>
                <a:close/>
              </a:path>
              <a:path w="1485" h="550">
                <a:moveTo>
                  <a:pt x="633" y="216"/>
                </a:moveTo>
                <a:lnTo>
                  <a:pt x="851" y="216"/>
                </a:lnTo>
                <a:lnTo>
                  <a:pt x="851" y="0"/>
                </a:lnTo>
                <a:lnTo>
                  <a:pt x="633" y="0"/>
                </a:lnTo>
                <a:lnTo>
                  <a:pt x="633" y="216"/>
                </a:lnTo>
                <a:close/>
              </a:path>
              <a:path w="1485" h="550">
                <a:moveTo>
                  <a:pt x="950" y="216"/>
                </a:moveTo>
                <a:lnTo>
                  <a:pt x="1168" y="216"/>
                </a:lnTo>
                <a:lnTo>
                  <a:pt x="1168" y="0"/>
                </a:lnTo>
                <a:lnTo>
                  <a:pt x="950" y="0"/>
                </a:lnTo>
                <a:lnTo>
                  <a:pt x="950" y="216"/>
                </a:lnTo>
                <a:close/>
              </a:path>
              <a:path w="1485" h="550">
                <a:moveTo>
                  <a:pt x="1268" y="216"/>
                </a:moveTo>
                <a:lnTo>
                  <a:pt x="1485" y="216"/>
                </a:lnTo>
                <a:lnTo>
                  <a:pt x="1485" y="0"/>
                </a:lnTo>
                <a:lnTo>
                  <a:pt x="1268" y="0"/>
                </a:lnTo>
                <a:lnTo>
                  <a:pt x="1268" y="216"/>
                </a:lnTo>
                <a:close/>
              </a:path>
              <a:path w="1485" h="550">
                <a:moveTo>
                  <a:pt x="0" y="550"/>
                </a:moveTo>
                <a:lnTo>
                  <a:pt x="217" y="550"/>
                </a:lnTo>
                <a:lnTo>
                  <a:pt x="217" y="334"/>
                </a:lnTo>
                <a:lnTo>
                  <a:pt x="0" y="334"/>
                </a:lnTo>
                <a:lnTo>
                  <a:pt x="0" y="550"/>
                </a:lnTo>
                <a:close/>
              </a:path>
              <a:path w="1485" h="550">
                <a:moveTo>
                  <a:pt x="316" y="550"/>
                </a:moveTo>
                <a:lnTo>
                  <a:pt x="533" y="550"/>
                </a:lnTo>
                <a:lnTo>
                  <a:pt x="533" y="334"/>
                </a:lnTo>
                <a:lnTo>
                  <a:pt x="316" y="334"/>
                </a:lnTo>
                <a:lnTo>
                  <a:pt x="316" y="550"/>
                </a:lnTo>
                <a:close/>
              </a:path>
              <a:path w="1485" h="550">
                <a:moveTo>
                  <a:pt x="633" y="550"/>
                </a:moveTo>
                <a:lnTo>
                  <a:pt x="851" y="550"/>
                </a:lnTo>
                <a:lnTo>
                  <a:pt x="851" y="334"/>
                </a:lnTo>
                <a:lnTo>
                  <a:pt x="633" y="334"/>
                </a:lnTo>
                <a:lnTo>
                  <a:pt x="633" y="550"/>
                </a:lnTo>
                <a:close/>
              </a:path>
              <a:path w="1485" h="550">
                <a:moveTo>
                  <a:pt x="950" y="550"/>
                </a:moveTo>
                <a:lnTo>
                  <a:pt x="1168" y="550"/>
                </a:lnTo>
                <a:lnTo>
                  <a:pt x="1168" y="334"/>
                </a:lnTo>
                <a:lnTo>
                  <a:pt x="950" y="334"/>
                </a:lnTo>
                <a:lnTo>
                  <a:pt x="950" y="550"/>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20" name="path 20"/>
          <p:cNvSpPr/>
          <p:nvPr/>
        </p:nvSpPr>
        <p:spPr>
          <a:xfrm>
            <a:off x="147320" y="779145"/>
            <a:ext cx="339089" cy="137795"/>
          </a:xfrm>
          <a:custGeom>
            <a:avLst/>
            <a:gdLst/>
            <a:ahLst/>
            <a:cxnLst/>
            <a:rect l="0" t="0" r="0" b="0"/>
            <a:pathLst>
              <a:path w="533" h="217">
                <a:moveTo>
                  <a:pt x="0" y="217"/>
                </a:moveTo>
                <a:lnTo>
                  <a:pt x="217" y="217"/>
                </a:lnTo>
                <a:lnTo>
                  <a:pt x="217" y="0"/>
                </a:lnTo>
                <a:lnTo>
                  <a:pt x="0" y="0"/>
                </a:lnTo>
                <a:lnTo>
                  <a:pt x="0" y="217"/>
                </a:lnTo>
                <a:close/>
              </a:path>
              <a:path w="533" h="217">
                <a:moveTo>
                  <a:pt x="316" y="217"/>
                </a:moveTo>
                <a:lnTo>
                  <a:pt x="533" y="217"/>
                </a:lnTo>
                <a:lnTo>
                  <a:pt x="533" y="0"/>
                </a:lnTo>
                <a:lnTo>
                  <a:pt x="316" y="0"/>
                </a:lnTo>
                <a:lnTo>
                  <a:pt x="316" y="217"/>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22" name="path 22"/>
          <p:cNvSpPr/>
          <p:nvPr/>
        </p:nvSpPr>
        <p:spPr>
          <a:xfrm>
            <a:off x="11694159" y="5940425"/>
            <a:ext cx="339089" cy="137794"/>
          </a:xfrm>
          <a:custGeom>
            <a:avLst/>
            <a:gdLst/>
            <a:ahLst/>
            <a:cxnLst/>
            <a:rect l="0" t="0" r="0" b="0"/>
            <a:pathLst>
              <a:path w="533" h="216">
                <a:moveTo>
                  <a:pt x="316" y="216"/>
                </a:moveTo>
                <a:lnTo>
                  <a:pt x="533" y="216"/>
                </a:lnTo>
                <a:lnTo>
                  <a:pt x="533" y="0"/>
                </a:lnTo>
                <a:lnTo>
                  <a:pt x="316" y="0"/>
                </a:lnTo>
                <a:lnTo>
                  <a:pt x="316" y="216"/>
                </a:lnTo>
                <a:close/>
              </a:path>
              <a:path w="533" h="216">
                <a:moveTo>
                  <a:pt x="0" y="216"/>
                </a:moveTo>
                <a:lnTo>
                  <a:pt x="216" y="216"/>
                </a:lnTo>
                <a:lnTo>
                  <a:pt x="216" y="0"/>
                </a:lnTo>
                <a:lnTo>
                  <a:pt x="0" y="0"/>
                </a:lnTo>
                <a:lnTo>
                  <a:pt x="0"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24" name="path 24"/>
          <p:cNvSpPr/>
          <p:nvPr/>
        </p:nvSpPr>
        <p:spPr>
          <a:xfrm>
            <a:off x="147320" y="991234"/>
            <a:ext cx="137795" cy="137795"/>
          </a:xfrm>
          <a:custGeom>
            <a:avLst/>
            <a:gdLst/>
            <a:ahLst/>
            <a:cxnLst/>
            <a:rect l="0" t="0" r="0" b="0"/>
            <a:pathLst>
              <a:path w="217" h="217">
                <a:moveTo>
                  <a:pt x="0" y="217"/>
                </a:moveTo>
                <a:lnTo>
                  <a:pt x="217" y="217"/>
                </a:lnTo>
                <a:lnTo>
                  <a:pt x="217" y="0"/>
                </a:lnTo>
                <a:lnTo>
                  <a:pt x="0" y="0"/>
                </a:lnTo>
                <a:lnTo>
                  <a:pt x="0" y="217"/>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26" name="path 26"/>
          <p:cNvSpPr/>
          <p:nvPr/>
        </p:nvSpPr>
        <p:spPr>
          <a:xfrm>
            <a:off x="11895454" y="5728334"/>
            <a:ext cx="137794" cy="137794"/>
          </a:xfrm>
          <a:custGeom>
            <a:avLst/>
            <a:gdLst/>
            <a:ahLst/>
            <a:cxnLst/>
            <a:rect l="0" t="0" r="0" b="0"/>
            <a:pathLst>
              <a:path w="216" h="216">
                <a:moveTo>
                  <a:pt x="0" y="216"/>
                </a:moveTo>
                <a:lnTo>
                  <a:pt x="216" y="216"/>
                </a:lnTo>
                <a:lnTo>
                  <a:pt x="216" y="0"/>
                </a:lnTo>
                <a:lnTo>
                  <a:pt x="0" y="0"/>
                </a:lnTo>
                <a:lnTo>
                  <a:pt x="0"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5" name="文本框 4"/>
          <p:cNvSpPr txBox="1"/>
          <p:nvPr/>
        </p:nvSpPr>
        <p:spPr>
          <a:xfrm>
            <a:off x="3605530" y="2404110"/>
            <a:ext cx="7576185" cy="1437640"/>
          </a:xfrm>
          <a:prstGeom prst="rect">
            <a:avLst/>
          </a:prstGeom>
          <a:noFill/>
        </p:spPr>
        <p:txBody>
          <a:bodyPr wrap="square" rtlCol="0" anchor="t">
            <a:spAutoFit/>
          </a:bodyPr>
          <a:lstStyle/>
          <a:p>
            <a:pPr indent="0" algn="ctr">
              <a:lnSpc>
                <a:spcPct val="125000"/>
              </a:lnSpc>
              <a:defRPr/>
            </a:pPr>
            <a:r>
              <a:rPr lang="en-US" sz="4400" b="1">
                <a:solidFill>
                  <a:srgbClr val="FFFFFF"/>
                </a:solidFill>
                <a:effectLst>
                  <a:outerShdw blurRad="76200" dist="50800" dir="2700000" algn="tl" rotWithShape="0">
                    <a:srgbClr val="000000">
                      <a:alpha val="60000"/>
                    </a:srgbClr>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南京酷灵机器人科技有限公司</a:t>
            </a:r>
            <a:endParaRPr lang="en-US" sz="1100"/>
          </a:p>
          <a:p>
            <a:pPr indent="0" algn="ctr">
              <a:lnSpc>
                <a:spcPct val="125000"/>
              </a:lnSpc>
              <a:spcBef>
                <a:spcPts val="1200"/>
              </a:spcBef>
            </a:pPr>
            <a:r>
              <a:rPr lang="en-US">
                <a:solidFill>
                  <a:srgbClr val="FFFFFF"/>
                </a:solidFill>
                <a:latin typeface="Arial" panose="020B0604020202020204"/>
                <a:ea typeface="Arial" panose="020B0604020202020204"/>
                <a:cs typeface="Arial" panose="020B0604020202020204"/>
                <a:sym typeface="Arial" panose="020B0604020202020204"/>
              </a:rPr>
              <a:t>Nanjing Cooling Robotics Technology Co., Ltd.</a:t>
            </a:r>
            <a:endParaRPr lang="en-US" altLang="en-US">
              <a:solidFill>
                <a:srgbClr val="FFFFFF"/>
              </a:solidFill>
              <a:latin typeface="Arial" panose="020B0604020202020204"/>
              <a:ea typeface="Arial" panose="020B0604020202020204"/>
              <a:cs typeface="Arial" panose="020B0604020202020204"/>
              <a:sym typeface="Arial" panose="020B0604020202020204"/>
            </a:endParaRPr>
          </a:p>
        </p:txBody>
      </p:sp>
      <p:sp>
        <p:nvSpPr>
          <p:cNvPr id="7" name="文本框 6"/>
          <p:cNvSpPr txBox="1"/>
          <p:nvPr/>
        </p:nvSpPr>
        <p:spPr>
          <a:xfrm>
            <a:off x="4942205" y="4912995"/>
            <a:ext cx="3683635" cy="337185"/>
          </a:xfrm>
          <a:prstGeom prst="rect">
            <a:avLst/>
          </a:prstGeom>
          <a:noFill/>
        </p:spPr>
        <p:txBody>
          <a:bodyPr wrap="square" rtlCol="0" anchor="t">
            <a:spAutoFit/>
          </a:bodyPr>
          <a:lstStyle/>
          <a:p>
            <a:pPr algn="ctr"/>
            <a:r>
              <a:rPr lang="zh-CN" altLang="en-US" sz="1600" dirty="0">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天使轮</a:t>
            </a:r>
            <a:r>
              <a:rPr lang="en-US" sz="1600" dirty="0" err="1">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商业计划书</a:t>
            </a:r>
            <a:r>
              <a:rPr lang="en-US" sz="1600" dirty="0">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 2026年5月</a:t>
            </a:r>
            <a:endParaRPr lang="en-US" altLang="en-US" sz="1600" dirty="0">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平行四边形 46"/>
          <p:cNvSpPr/>
          <p:nvPr/>
        </p:nvSpPr>
        <p:spPr>
          <a:xfrm flipH="1">
            <a:off x="4551045" y="4537710"/>
            <a:ext cx="5278120" cy="584835"/>
          </a:xfrm>
          <a:prstGeom prst="parallelogram">
            <a:avLst>
              <a:gd name="adj" fmla="val 57452"/>
            </a:avLst>
          </a:prstGeom>
          <a:gradFill>
            <a:gsLst>
              <a:gs pos="0">
                <a:schemeClr val="bg2"/>
              </a:gs>
              <a:gs pos="80000">
                <a:schemeClr val="bg1"/>
              </a:gs>
            </a:gsLst>
            <a:lin ang="16200000" scaled="1"/>
          </a:gradFill>
          <a:ln>
            <a:noFill/>
          </a:ln>
          <a:effectLst>
            <a:outerShdw blurRad="190500" dist="127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prstClr val="white"/>
              </a:solidFill>
            </a:endParaRPr>
          </a:p>
        </p:txBody>
      </p:sp>
      <p:pic>
        <p:nvPicPr>
          <p:cNvPr id="23" name="图片 22"/>
          <p:cNvPicPr>
            <a:picLocks noChangeAspect="1"/>
          </p:cNvPicPr>
          <p:nvPr/>
        </p:nvPicPr>
        <p:blipFill>
          <a:blip r:embed="rId3"/>
          <a:stretch>
            <a:fillRect/>
          </a:stretch>
        </p:blipFill>
        <p:spPr>
          <a:xfrm>
            <a:off x="762635" y="1374140"/>
            <a:ext cx="2878455" cy="4453255"/>
          </a:xfrm>
          <a:prstGeom prst="rect">
            <a:avLst/>
          </a:prstGeom>
        </p:spPr>
      </p:pic>
      <p:pic>
        <p:nvPicPr>
          <p:cNvPr id="28" name="picture 28"/>
          <p:cNvPicPr>
            <a:picLocks noChangeAspect="1"/>
          </p:cNvPicPr>
          <p:nvPr/>
        </p:nvPicPr>
        <p:blipFill>
          <a:blip r:embed="rId4"/>
          <a:stretch>
            <a:fillRect/>
          </a:stretch>
        </p:blipFill>
        <p:spPr>
          <a:xfrm rot="21600000">
            <a:off x="0" y="6205220"/>
            <a:ext cx="12192000" cy="652778"/>
          </a:xfrm>
          <a:prstGeom prst="rect">
            <a:avLst/>
          </a:prstGeom>
        </p:spPr>
      </p:pic>
      <p:sp>
        <p:nvSpPr>
          <p:cNvPr id="48" name="path 48"/>
          <p:cNvSpPr/>
          <p:nvPr/>
        </p:nvSpPr>
        <p:spPr>
          <a:xfrm>
            <a:off x="147320" y="991234"/>
            <a:ext cx="137795" cy="137795"/>
          </a:xfrm>
          <a:custGeom>
            <a:avLst/>
            <a:gdLst/>
            <a:ahLst/>
            <a:cxnLst/>
            <a:rect l="0" t="0" r="0" b="0"/>
            <a:pathLst>
              <a:path w="217" h="217">
                <a:moveTo>
                  <a:pt x="0" y="217"/>
                </a:moveTo>
                <a:lnTo>
                  <a:pt x="217" y="217"/>
                </a:lnTo>
                <a:lnTo>
                  <a:pt x="217" y="0"/>
                </a:lnTo>
                <a:lnTo>
                  <a:pt x="0" y="0"/>
                </a:lnTo>
                <a:lnTo>
                  <a:pt x="0" y="217"/>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52" name="path 52"/>
          <p:cNvSpPr/>
          <p:nvPr/>
        </p:nvSpPr>
        <p:spPr>
          <a:xfrm>
            <a:off x="147320" y="142875"/>
            <a:ext cx="942975" cy="349884"/>
          </a:xfrm>
          <a:custGeom>
            <a:avLst/>
            <a:gdLst/>
            <a:ahLst/>
            <a:cxnLst/>
            <a:rect l="0" t="0" r="0" b="0"/>
            <a:pathLst>
              <a:path w="1485" h="550">
                <a:moveTo>
                  <a:pt x="0" y="216"/>
                </a:moveTo>
                <a:lnTo>
                  <a:pt x="217" y="216"/>
                </a:lnTo>
                <a:lnTo>
                  <a:pt x="217" y="0"/>
                </a:lnTo>
                <a:lnTo>
                  <a:pt x="0" y="0"/>
                </a:lnTo>
                <a:lnTo>
                  <a:pt x="0" y="216"/>
                </a:lnTo>
                <a:close/>
              </a:path>
              <a:path w="1485" h="550">
                <a:moveTo>
                  <a:pt x="316" y="216"/>
                </a:moveTo>
                <a:lnTo>
                  <a:pt x="533" y="216"/>
                </a:lnTo>
                <a:lnTo>
                  <a:pt x="533" y="0"/>
                </a:lnTo>
                <a:lnTo>
                  <a:pt x="316" y="0"/>
                </a:lnTo>
                <a:lnTo>
                  <a:pt x="316" y="216"/>
                </a:lnTo>
                <a:close/>
              </a:path>
              <a:path w="1485" h="550">
                <a:moveTo>
                  <a:pt x="633" y="216"/>
                </a:moveTo>
                <a:lnTo>
                  <a:pt x="851" y="216"/>
                </a:lnTo>
                <a:lnTo>
                  <a:pt x="851" y="0"/>
                </a:lnTo>
                <a:lnTo>
                  <a:pt x="633" y="0"/>
                </a:lnTo>
                <a:lnTo>
                  <a:pt x="633" y="216"/>
                </a:lnTo>
                <a:close/>
              </a:path>
              <a:path w="1485" h="550">
                <a:moveTo>
                  <a:pt x="950" y="216"/>
                </a:moveTo>
                <a:lnTo>
                  <a:pt x="1168" y="216"/>
                </a:lnTo>
                <a:lnTo>
                  <a:pt x="1168" y="0"/>
                </a:lnTo>
                <a:lnTo>
                  <a:pt x="950" y="0"/>
                </a:lnTo>
                <a:lnTo>
                  <a:pt x="950" y="216"/>
                </a:lnTo>
                <a:close/>
              </a:path>
              <a:path w="1485" h="550">
                <a:moveTo>
                  <a:pt x="1268" y="216"/>
                </a:moveTo>
                <a:lnTo>
                  <a:pt x="1485" y="216"/>
                </a:lnTo>
                <a:lnTo>
                  <a:pt x="1485" y="0"/>
                </a:lnTo>
                <a:lnTo>
                  <a:pt x="1268" y="0"/>
                </a:lnTo>
                <a:lnTo>
                  <a:pt x="1268" y="216"/>
                </a:lnTo>
                <a:close/>
              </a:path>
              <a:path w="1485" h="550">
                <a:moveTo>
                  <a:pt x="0" y="550"/>
                </a:moveTo>
                <a:lnTo>
                  <a:pt x="217" y="550"/>
                </a:lnTo>
                <a:lnTo>
                  <a:pt x="217" y="334"/>
                </a:lnTo>
                <a:lnTo>
                  <a:pt x="0" y="334"/>
                </a:lnTo>
                <a:lnTo>
                  <a:pt x="0" y="550"/>
                </a:lnTo>
                <a:close/>
              </a:path>
              <a:path w="1485" h="550">
                <a:moveTo>
                  <a:pt x="316" y="550"/>
                </a:moveTo>
                <a:lnTo>
                  <a:pt x="533" y="550"/>
                </a:lnTo>
                <a:lnTo>
                  <a:pt x="533" y="334"/>
                </a:lnTo>
                <a:lnTo>
                  <a:pt x="316" y="334"/>
                </a:lnTo>
                <a:lnTo>
                  <a:pt x="316" y="550"/>
                </a:lnTo>
                <a:close/>
              </a:path>
              <a:path w="1485" h="550">
                <a:moveTo>
                  <a:pt x="633" y="550"/>
                </a:moveTo>
                <a:lnTo>
                  <a:pt x="851" y="550"/>
                </a:lnTo>
                <a:lnTo>
                  <a:pt x="851" y="334"/>
                </a:lnTo>
                <a:lnTo>
                  <a:pt x="633" y="334"/>
                </a:lnTo>
                <a:lnTo>
                  <a:pt x="633" y="550"/>
                </a:lnTo>
                <a:close/>
              </a:path>
              <a:path w="1485" h="550">
                <a:moveTo>
                  <a:pt x="950" y="550"/>
                </a:moveTo>
                <a:lnTo>
                  <a:pt x="1168" y="550"/>
                </a:lnTo>
                <a:lnTo>
                  <a:pt x="1168" y="334"/>
                </a:lnTo>
                <a:lnTo>
                  <a:pt x="950" y="334"/>
                </a:lnTo>
                <a:lnTo>
                  <a:pt x="950" y="550"/>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54" name="path 54"/>
          <p:cNvSpPr/>
          <p:nvPr/>
        </p:nvSpPr>
        <p:spPr>
          <a:xfrm>
            <a:off x="147320" y="567054"/>
            <a:ext cx="540385" cy="349885"/>
          </a:xfrm>
          <a:custGeom>
            <a:avLst/>
            <a:gdLst/>
            <a:ahLst/>
            <a:cxnLst/>
            <a:rect l="0" t="0" r="0" b="0"/>
            <a:pathLst>
              <a:path w="851" h="551">
                <a:moveTo>
                  <a:pt x="0" y="217"/>
                </a:moveTo>
                <a:lnTo>
                  <a:pt x="217" y="217"/>
                </a:lnTo>
                <a:lnTo>
                  <a:pt x="217" y="0"/>
                </a:lnTo>
                <a:lnTo>
                  <a:pt x="0" y="0"/>
                </a:lnTo>
                <a:lnTo>
                  <a:pt x="0" y="217"/>
                </a:lnTo>
                <a:close/>
              </a:path>
              <a:path w="851" h="551">
                <a:moveTo>
                  <a:pt x="316" y="217"/>
                </a:moveTo>
                <a:lnTo>
                  <a:pt x="533" y="217"/>
                </a:lnTo>
                <a:lnTo>
                  <a:pt x="533" y="0"/>
                </a:lnTo>
                <a:lnTo>
                  <a:pt x="316" y="0"/>
                </a:lnTo>
                <a:lnTo>
                  <a:pt x="316" y="217"/>
                </a:lnTo>
                <a:close/>
              </a:path>
              <a:path w="851" h="551">
                <a:moveTo>
                  <a:pt x="633" y="217"/>
                </a:moveTo>
                <a:lnTo>
                  <a:pt x="851" y="217"/>
                </a:lnTo>
                <a:lnTo>
                  <a:pt x="851" y="0"/>
                </a:lnTo>
                <a:lnTo>
                  <a:pt x="633" y="0"/>
                </a:lnTo>
                <a:lnTo>
                  <a:pt x="633" y="217"/>
                </a:lnTo>
                <a:close/>
              </a:path>
              <a:path w="851" h="551">
                <a:moveTo>
                  <a:pt x="0" y="551"/>
                </a:moveTo>
                <a:lnTo>
                  <a:pt x="217" y="551"/>
                </a:lnTo>
                <a:lnTo>
                  <a:pt x="217" y="334"/>
                </a:lnTo>
                <a:lnTo>
                  <a:pt x="0" y="334"/>
                </a:lnTo>
                <a:lnTo>
                  <a:pt x="0" y="551"/>
                </a:lnTo>
                <a:close/>
              </a:path>
              <a:path w="851" h="551">
                <a:moveTo>
                  <a:pt x="316" y="551"/>
                </a:moveTo>
                <a:lnTo>
                  <a:pt x="533" y="551"/>
                </a:lnTo>
                <a:lnTo>
                  <a:pt x="533" y="334"/>
                </a:lnTo>
                <a:lnTo>
                  <a:pt x="316" y="334"/>
                </a:lnTo>
                <a:lnTo>
                  <a:pt x="316" y="551"/>
                </a:lnTo>
                <a:close/>
              </a:path>
            </a:pathLst>
          </a:custGeom>
          <a:solidFill>
            <a:srgbClr val="F2F2F2">
              <a:alpha val="100000"/>
            </a:srgbClr>
          </a:solidFill>
          <a:ln w="0" cap="flat">
            <a:noFill/>
            <a:prstDash val="solid"/>
            <a:miter lim="0"/>
          </a:ln>
        </p:spPr>
        <p:txBody>
          <a:bodyPr rtlCol="0"/>
          <a:lstStyle/>
          <a:p>
            <a:pPr algn="ctr"/>
            <a:endParaRPr lang="zh-CN" altLang="en-US"/>
          </a:p>
        </p:txBody>
      </p:sp>
      <p:pic>
        <p:nvPicPr>
          <p:cNvPr id="3" name="图片 2"/>
          <p:cNvPicPr>
            <a:picLocks noChangeAspect="1"/>
          </p:cNvPicPr>
          <p:nvPr/>
        </p:nvPicPr>
        <p:blipFill>
          <a:blip r:embed="rId5"/>
          <a:stretch>
            <a:fillRect/>
          </a:stretch>
        </p:blipFill>
        <p:spPr>
          <a:xfrm>
            <a:off x="10428563" y="68429"/>
            <a:ext cx="1354271" cy="781170"/>
          </a:xfrm>
          <a:prstGeom prst="rect">
            <a:avLst/>
          </a:prstGeom>
        </p:spPr>
      </p:pic>
      <p:sp>
        <p:nvSpPr>
          <p:cNvPr id="39" name="平行四边形 38"/>
          <p:cNvSpPr/>
          <p:nvPr/>
        </p:nvSpPr>
        <p:spPr>
          <a:xfrm flipH="1">
            <a:off x="3668395" y="2830830"/>
            <a:ext cx="5269865" cy="584835"/>
          </a:xfrm>
          <a:prstGeom prst="parallelogram">
            <a:avLst>
              <a:gd name="adj" fmla="val 57452"/>
            </a:avLst>
          </a:prstGeom>
          <a:gradFill>
            <a:gsLst>
              <a:gs pos="0">
                <a:schemeClr val="bg2"/>
              </a:gs>
              <a:gs pos="80000">
                <a:schemeClr val="bg1"/>
              </a:gs>
            </a:gsLst>
            <a:lin ang="16200000" scaled="1"/>
          </a:gradFill>
          <a:ln>
            <a:noFill/>
          </a:ln>
          <a:effectLst>
            <a:outerShdw blurRad="190500" dist="127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prstClr val="white"/>
              </a:solidFill>
            </a:endParaRPr>
          </a:p>
        </p:txBody>
      </p:sp>
      <p:sp>
        <p:nvSpPr>
          <p:cNvPr id="13" name="平行四边形 12"/>
          <p:cNvSpPr/>
          <p:nvPr/>
        </p:nvSpPr>
        <p:spPr>
          <a:xfrm flipH="1">
            <a:off x="4098046" y="2830280"/>
            <a:ext cx="1157620" cy="584774"/>
          </a:xfrm>
          <a:prstGeom prst="parallelogram">
            <a:avLst>
              <a:gd name="adj" fmla="val 57778"/>
            </a:avLst>
          </a:prstGeom>
          <a:solidFill>
            <a:schemeClr val="accent1">
              <a:lumMod val="50000"/>
            </a:schemeClr>
          </a:solidFill>
          <a:ln>
            <a:noFill/>
          </a:ln>
          <a:effectLst>
            <a:innerShdw blurRad="889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prstClr val="white"/>
                </a:solidFill>
                <a:effectLst>
                  <a:outerShdw blurRad="76200" dist="63500" dir="2700000" algn="tl" rotWithShape="0">
                    <a:prstClr val="black">
                      <a:alpha val="30000"/>
                    </a:prstClr>
                  </a:outerShdw>
                </a:effectLst>
                <a:latin typeface="Impact" panose="020B0806030902050204" pitchFamily="34" charset="0"/>
              </a:rPr>
              <a:t>03</a:t>
            </a:r>
            <a:endParaRPr lang="zh-CN" altLang="en-US" sz="3600" dirty="0">
              <a:solidFill>
                <a:prstClr val="white"/>
              </a:solidFill>
              <a:effectLst>
                <a:outerShdw blurRad="76200" dist="63500" dir="2700000" algn="tl" rotWithShape="0">
                  <a:prstClr val="black">
                    <a:alpha val="30000"/>
                  </a:prstClr>
                </a:outerShdw>
              </a:effectLst>
              <a:latin typeface="Impact" panose="020B0806030902050204" pitchFamily="34" charset="0"/>
            </a:endParaRPr>
          </a:p>
        </p:txBody>
      </p:sp>
      <p:sp>
        <p:nvSpPr>
          <p:cNvPr id="41" name="文本框 40"/>
          <p:cNvSpPr txBox="1"/>
          <p:nvPr/>
        </p:nvSpPr>
        <p:spPr>
          <a:xfrm>
            <a:off x="4918075" y="2890838"/>
            <a:ext cx="3972560" cy="398780"/>
          </a:xfrm>
          <a:prstGeom prst="rect">
            <a:avLst/>
          </a:prstGeom>
          <a:noFill/>
        </p:spPr>
        <p:txBody>
          <a:bodyPr wrap="square" rtlCol="0" anchor="ctr" anchorCtr="1">
            <a:spAutoFit/>
          </a:bodyPr>
          <a:lstStyle/>
          <a:p>
            <a:pPr algn="l"/>
            <a:r>
              <a:rPr lang="zh-CN" altLang="en-US" sz="2000" dirty="0">
                <a:solidFill>
                  <a:schemeClr val="tx2">
                    <a:lumMod val="50000"/>
                  </a:schemeClr>
                </a:solidFill>
                <a:latin typeface="微软雅黑" panose="020B0503020204020204" charset="-122"/>
                <a:ea typeface="微软雅黑" panose="020B0503020204020204" charset="-122"/>
              </a:rPr>
              <a:t>产品与解决方案 </a:t>
            </a:r>
            <a:r>
              <a:rPr lang="en-US" altLang="zh-CN" sz="1200" dirty="0">
                <a:solidFill>
                  <a:schemeClr val="tx2">
                    <a:lumMod val="50000"/>
                  </a:schemeClr>
                </a:solidFill>
                <a:latin typeface="微软雅黑" panose="020B0503020204020204" charset="-122"/>
                <a:ea typeface="微软雅黑" panose="020B0503020204020204" charset="-122"/>
              </a:rPr>
              <a:t>Product Solutions</a:t>
            </a:r>
          </a:p>
        </p:txBody>
      </p:sp>
      <p:sp>
        <p:nvSpPr>
          <p:cNvPr id="43" name="平行四边形 42"/>
          <p:cNvSpPr/>
          <p:nvPr/>
        </p:nvSpPr>
        <p:spPr>
          <a:xfrm flipH="1">
            <a:off x="4098290" y="3715385"/>
            <a:ext cx="5310505" cy="584835"/>
          </a:xfrm>
          <a:prstGeom prst="parallelogram">
            <a:avLst>
              <a:gd name="adj" fmla="val 57452"/>
            </a:avLst>
          </a:prstGeom>
          <a:gradFill>
            <a:gsLst>
              <a:gs pos="0">
                <a:schemeClr val="bg2"/>
              </a:gs>
              <a:gs pos="80000">
                <a:schemeClr val="bg1"/>
              </a:gs>
            </a:gsLst>
            <a:lin ang="16200000" scaled="1"/>
          </a:gradFill>
          <a:ln>
            <a:noFill/>
          </a:ln>
          <a:effectLst>
            <a:outerShdw blurRad="190500" dist="127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prstClr val="white"/>
              </a:solidFill>
            </a:endParaRPr>
          </a:p>
        </p:txBody>
      </p:sp>
      <p:sp>
        <p:nvSpPr>
          <p:cNvPr id="14" name="平行四边形 13"/>
          <p:cNvSpPr/>
          <p:nvPr/>
        </p:nvSpPr>
        <p:spPr>
          <a:xfrm flipH="1">
            <a:off x="4550533" y="3731865"/>
            <a:ext cx="1157620" cy="584774"/>
          </a:xfrm>
          <a:prstGeom prst="parallelogram">
            <a:avLst>
              <a:gd name="adj" fmla="val 57778"/>
            </a:avLst>
          </a:prstGeom>
          <a:solidFill>
            <a:schemeClr val="tx1">
              <a:lumMod val="65000"/>
              <a:lumOff val="35000"/>
            </a:schemeClr>
          </a:solidFill>
          <a:ln>
            <a:noFill/>
          </a:ln>
          <a:effectLst>
            <a:innerShdw blurRad="889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prstClr val="white"/>
                </a:solidFill>
                <a:effectLst>
                  <a:outerShdw blurRad="76200" dist="63500" dir="2700000" algn="tl" rotWithShape="0">
                    <a:prstClr val="black">
                      <a:alpha val="30000"/>
                    </a:prstClr>
                  </a:outerShdw>
                </a:effectLst>
                <a:latin typeface="Impact" panose="020B0806030902050204" pitchFamily="34" charset="0"/>
              </a:rPr>
              <a:t>04</a:t>
            </a:r>
            <a:endParaRPr lang="zh-CN" altLang="en-US" sz="3200" dirty="0">
              <a:solidFill>
                <a:prstClr val="white"/>
              </a:solidFill>
              <a:effectLst>
                <a:outerShdw blurRad="76200" dist="63500" dir="2700000" algn="tl" rotWithShape="0">
                  <a:prstClr val="black">
                    <a:alpha val="30000"/>
                  </a:prstClr>
                </a:outerShdw>
              </a:effectLst>
              <a:latin typeface="Impact" panose="020B0806030902050204" pitchFamily="34" charset="0"/>
            </a:endParaRPr>
          </a:p>
        </p:txBody>
      </p:sp>
      <p:sp>
        <p:nvSpPr>
          <p:cNvPr id="45" name="文本框 44"/>
          <p:cNvSpPr txBox="1"/>
          <p:nvPr/>
        </p:nvSpPr>
        <p:spPr>
          <a:xfrm>
            <a:off x="6002020" y="4634230"/>
            <a:ext cx="3092450" cy="583565"/>
          </a:xfrm>
          <a:prstGeom prst="rect">
            <a:avLst/>
          </a:prstGeom>
          <a:noFill/>
        </p:spPr>
        <p:txBody>
          <a:bodyPr wrap="square" rtlCol="0" anchor="ctr" anchorCtr="1">
            <a:spAutoFit/>
          </a:bodyPr>
          <a:lstStyle/>
          <a:p>
            <a:pPr algn="l"/>
            <a:r>
              <a:rPr lang="zh-CN" altLang="en-US" sz="2000" dirty="0">
                <a:solidFill>
                  <a:schemeClr val="tx2">
                    <a:lumMod val="50000"/>
                  </a:schemeClr>
                </a:solidFill>
                <a:latin typeface="微软雅黑" panose="020B0503020204020204" charset="-122"/>
                <a:ea typeface="微软雅黑" panose="020B0503020204020204" charset="-122"/>
              </a:rPr>
              <a:t>前景展望</a:t>
            </a:r>
            <a:r>
              <a:rPr lang="en-US" altLang="zh-CN" sz="2000" dirty="0">
                <a:solidFill>
                  <a:schemeClr val="tx2">
                    <a:lumMod val="50000"/>
                  </a:schemeClr>
                </a:solidFill>
                <a:latin typeface="微软雅黑" panose="020B0503020204020204" charset="-122"/>
                <a:ea typeface="微软雅黑" panose="020B0503020204020204" charset="-122"/>
              </a:rPr>
              <a:t> </a:t>
            </a:r>
            <a:r>
              <a:rPr lang="en-US" altLang="zh-CN" sz="1200" dirty="0">
                <a:solidFill>
                  <a:schemeClr val="tx2">
                    <a:lumMod val="50000"/>
                  </a:schemeClr>
                </a:solidFill>
                <a:latin typeface="微软雅黑" panose="020B0503020204020204" charset="-122"/>
                <a:ea typeface="微软雅黑" panose="020B0503020204020204" charset="-122"/>
                <a:sym typeface="+mn-ea"/>
              </a:rPr>
              <a:t>Future Outlook</a:t>
            </a:r>
            <a:endParaRPr lang="zh-CN" altLang="en-US" sz="1200" dirty="0">
              <a:solidFill>
                <a:schemeClr val="tx2">
                  <a:lumMod val="50000"/>
                </a:schemeClr>
              </a:solidFill>
              <a:latin typeface="微软雅黑" panose="020B0503020204020204" charset="-122"/>
              <a:ea typeface="微软雅黑" panose="020B0503020204020204" charset="-122"/>
            </a:endParaRPr>
          </a:p>
          <a:p>
            <a:pPr algn="l"/>
            <a:r>
              <a:rPr lang="en-US" altLang="zh-CN" sz="1200" dirty="0">
                <a:solidFill>
                  <a:schemeClr val="tx2">
                    <a:lumMod val="50000"/>
                  </a:schemeClr>
                </a:solidFill>
                <a:latin typeface="微软雅黑" panose="020B0503020204020204" charset="-122"/>
                <a:ea typeface="微软雅黑" panose="020B0503020204020204" charset="-122"/>
              </a:rPr>
              <a:t> </a:t>
            </a:r>
          </a:p>
        </p:txBody>
      </p:sp>
      <p:sp>
        <p:nvSpPr>
          <p:cNvPr id="15" name="平行四边形 14"/>
          <p:cNvSpPr/>
          <p:nvPr/>
        </p:nvSpPr>
        <p:spPr>
          <a:xfrm flipH="1">
            <a:off x="5022070" y="4537564"/>
            <a:ext cx="1157620" cy="584774"/>
          </a:xfrm>
          <a:prstGeom prst="parallelogram">
            <a:avLst>
              <a:gd name="adj" fmla="val 57778"/>
            </a:avLst>
          </a:prstGeom>
          <a:solidFill>
            <a:schemeClr val="accent1">
              <a:lumMod val="50000"/>
            </a:schemeClr>
          </a:solidFill>
          <a:ln>
            <a:noFill/>
          </a:ln>
          <a:effectLst>
            <a:innerShdw blurRad="889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prstClr val="white"/>
                </a:solidFill>
                <a:effectLst>
                  <a:outerShdw blurRad="76200" dist="63500" dir="2700000" algn="tl" rotWithShape="0">
                    <a:prstClr val="black">
                      <a:alpha val="30000"/>
                    </a:prstClr>
                  </a:outerShdw>
                </a:effectLst>
                <a:latin typeface="Impact" panose="020B0806030902050204" pitchFamily="34" charset="0"/>
              </a:rPr>
              <a:t>05</a:t>
            </a:r>
            <a:endParaRPr lang="zh-CN" altLang="en-US" sz="3600" dirty="0">
              <a:solidFill>
                <a:prstClr val="white"/>
              </a:solidFill>
              <a:effectLst>
                <a:outerShdw blurRad="76200" dist="63500" dir="2700000" algn="tl" rotWithShape="0">
                  <a:prstClr val="black">
                    <a:alpha val="30000"/>
                  </a:prstClr>
                </a:outerShdw>
              </a:effectLst>
              <a:latin typeface="Impact" panose="020B0806030902050204" pitchFamily="34" charset="0"/>
            </a:endParaRPr>
          </a:p>
        </p:txBody>
      </p:sp>
      <p:sp>
        <p:nvSpPr>
          <p:cNvPr id="49" name="文本框 48"/>
          <p:cNvSpPr txBox="1"/>
          <p:nvPr/>
        </p:nvSpPr>
        <p:spPr>
          <a:xfrm>
            <a:off x="6001890" y="3668218"/>
            <a:ext cx="2459355" cy="583565"/>
          </a:xfrm>
          <a:prstGeom prst="rect">
            <a:avLst/>
          </a:prstGeom>
          <a:noFill/>
        </p:spPr>
        <p:txBody>
          <a:bodyPr wrap="none" rtlCol="0" anchor="ctr" anchorCtr="1">
            <a:spAutoFit/>
          </a:bodyPr>
          <a:lstStyle/>
          <a:p>
            <a:pPr algn="l"/>
            <a:r>
              <a:rPr lang="zh-CN" altLang="en-US" sz="2000" dirty="0">
                <a:solidFill>
                  <a:schemeClr val="tx2">
                    <a:lumMod val="50000"/>
                  </a:schemeClr>
                </a:solidFill>
                <a:latin typeface="微软雅黑" panose="020B0503020204020204" charset="-122"/>
                <a:ea typeface="微软雅黑" panose="020B0503020204020204" charset="-122"/>
              </a:rPr>
              <a:t>商业化进程与规划</a:t>
            </a:r>
          </a:p>
          <a:p>
            <a:pPr algn="l"/>
            <a:r>
              <a:rPr lang="en-US" altLang="zh-CN" sz="1200" dirty="0">
                <a:solidFill>
                  <a:schemeClr val="tx2">
                    <a:lumMod val="50000"/>
                  </a:schemeClr>
                </a:solidFill>
                <a:latin typeface="微软雅黑" panose="020B0503020204020204" charset="-122"/>
                <a:ea typeface="微软雅黑" panose="020B0503020204020204" charset="-122"/>
              </a:rPr>
              <a:t>Commercialization &amp; Roadmap</a:t>
            </a:r>
          </a:p>
        </p:txBody>
      </p:sp>
      <p:sp>
        <p:nvSpPr>
          <p:cNvPr id="17" name="直角三角形 16"/>
          <p:cNvSpPr/>
          <p:nvPr>
            <p:custDataLst>
              <p:tags r:id="rId1"/>
            </p:custDataLst>
          </p:nvPr>
        </p:nvSpPr>
        <p:spPr>
          <a:xfrm rot="16200000" flipH="1">
            <a:off x="7637780" y="2087880"/>
            <a:ext cx="4161790" cy="2315845"/>
          </a:xfrm>
          <a:prstGeom prst="rtTriangle">
            <a:avLst/>
          </a:prstGeom>
          <a:solidFill>
            <a:schemeClr val="accent1">
              <a:lumMod val="50000"/>
            </a:schemeClr>
          </a:solidFill>
          <a:ln>
            <a:noFill/>
          </a:ln>
          <a:effectLst>
            <a:outerShdw blurRad="190500" dist="127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prstClr val="white"/>
              </a:solidFill>
            </a:endParaRPr>
          </a:p>
        </p:txBody>
      </p:sp>
      <p:sp>
        <p:nvSpPr>
          <p:cNvPr id="19" name="文本框 18"/>
          <p:cNvSpPr txBox="1"/>
          <p:nvPr/>
        </p:nvSpPr>
        <p:spPr>
          <a:xfrm flipH="1">
            <a:off x="10142220" y="1152525"/>
            <a:ext cx="1206500" cy="2274570"/>
          </a:xfrm>
          <a:prstGeom prst="rect">
            <a:avLst/>
          </a:prstGeom>
          <a:noFill/>
        </p:spPr>
        <p:txBody>
          <a:bodyPr vert="eaVert" wrap="none" rtlCol="0" anchor="ctr" anchorCtr="1">
            <a:noAutofit/>
          </a:bodyPr>
          <a:lstStyle/>
          <a:p>
            <a:pPr algn="ctr"/>
            <a:r>
              <a:rPr lang="zh-CN" altLang="en-US" sz="6000" b="1" spc="1500" dirty="0">
                <a:gradFill flip="none" rotWithShape="1">
                  <a:gsLst>
                    <a:gs pos="63000">
                      <a:srgbClr val="0563C1">
                        <a:lumMod val="5000"/>
                        <a:lumOff val="95000"/>
                      </a:srgbClr>
                    </a:gs>
                    <a:gs pos="62000">
                      <a:schemeClr val="accent5">
                        <a:lumMod val="75000"/>
                      </a:schemeClr>
                    </a:gs>
                  </a:gsLst>
                  <a:lin ang="5400000" scaled="0"/>
                  <a:tileRect/>
                </a:gradFill>
                <a:latin typeface="微软雅黑" panose="020B0503020204020204" charset="-122"/>
                <a:ea typeface="微软雅黑" panose="020B0503020204020204" charset="-122"/>
              </a:rPr>
              <a:t>目录</a:t>
            </a:r>
          </a:p>
        </p:txBody>
      </p:sp>
      <p:grpSp>
        <p:nvGrpSpPr>
          <p:cNvPr id="20" name="组合 19"/>
          <p:cNvGrpSpPr/>
          <p:nvPr/>
        </p:nvGrpSpPr>
        <p:grpSpPr>
          <a:xfrm>
            <a:off x="8800465" y="809625"/>
            <a:ext cx="1415732" cy="3283648"/>
            <a:chOff x="9553112" y="728663"/>
            <a:chExt cx="1299792" cy="2910480"/>
          </a:xfrm>
        </p:grpSpPr>
        <p:sp>
          <p:nvSpPr>
            <p:cNvPr id="50" name="矩形 49"/>
            <p:cNvSpPr/>
            <p:nvPr/>
          </p:nvSpPr>
          <p:spPr>
            <a:xfrm rot="3604354">
              <a:off x="9510743" y="2303628"/>
              <a:ext cx="1965603" cy="705427"/>
            </a:xfrm>
            <a:prstGeom prst="rect">
              <a:avLst/>
            </a:prstGeom>
          </p:spPr>
          <p:txBody>
            <a:bodyPr wrap="square">
              <a:spAutoFit/>
            </a:bodyPr>
            <a:lstStyle/>
            <a:p>
              <a:r>
                <a:rPr lang="en-US" altLang="zh-CN" sz="4400" b="1" dirty="0">
                  <a:solidFill>
                    <a:prstClr val="white"/>
                  </a:solidFill>
                  <a:latin typeface="Angsana New" panose="02020603050405020304" pitchFamily="18" charset="-34"/>
                  <a:cs typeface="Angsana New" panose="02020603050405020304" pitchFamily="18" charset="-34"/>
                </a:rPr>
                <a:t>ONTENTS</a:t>
              </a:r>
              <a:endParaRPr lang="zh-CN" altLang="en-US" dirty="0">
                <a:solidFill>
                  <a:prstClr val="black"/>
                </a:solidFill>
              </a:endParaRPr>
            </a:p>
          </p:txBody>
        </p:sp>
        <p:sp>
          <p:nvSpPr>
            <p:cNvPr id="51" name="任意多边形 50"/>
            <p:cNvSpPr/>
            <p:nvPr/>
          </p:nvSpPr>
          <p:spPr>
            <a:xfrm rot="16200000" flipH="1">
              <a:off x="9683099" y="598676"/>
              <a:ext cx="1039818" cy="1299792"/>
            </a:xfrm>
            <a:custGeom>
              <a:avLst/>
              <a:gdLst>
                <a:gd name="connsiteX0" fmla="*/ 0 w 1039818"/>
                <a:gd name="connsiteY0" fmla="*/ 231409 h 1299792"/>
                <a:gd name="connsiteX1" fmla="*/ 0 w 1039818"/>
                <a:gd name="connsiteY1" fmla="*/ 931179 h 1299792"/>
                <a:gd name="connsiteX2" fmla="*/ 11205 w 1039818"/>
                <a:gd name="connsiteY2" fmla="*/ 949198 h 1299792"/>
                <a:gd name="connsiteX3" fmla="*/ 190578 w 1039818"/>
                <a:gd name="connsiteY3" fmla="*/ 1102487 h 1299792"/>
                <a:gd name="connsiteX4" fmla="*/ 429146 w 1039818"/>
                <a:gd name="connsiteY4" fmla="*/ 1180563 h 1299792"/>
                <a:gd name="connsiteX5" fmla="*/ 525918 w 1039818"/>
                <a:gd name="connsiteY5" fmla="*/ 1202483 h 1299792"/>
                <a:gd name="connsiteX6" fmla="*/ 556995 w 1039818"/>
                <a:gd name="connsiteY6" fmla="*/ 1243122 h 1299792"/>
                <a:gd name="connsiteX7" fmla="*/ 548477 w 1039818"/>
                <a:gd name="connsiteY7" fmla="*/ 1299792 h 1299792"/>
                <a:gd name="connsiteX8" fmla="*/ 587432 w 1039818"/>
                <a:gd name="connsiteY8" fmla="*/ 1299792 h 1299792"/>
                <a:gd name="connsiteX9" fmla="*/ 764587 w 1039818"/>
                <a:gd name="connsiteY9" fmla="*/ 989646 h 1299792"/>
                <a:gd name="connsiteX10" fmla="*/ 737298 w 1039818"/>
                <a:gd name="connsiteY10" fmla="*/ 974058 h 1299792"/>
                <a:gd name="connsiteX11" fmla="*/ 513289 w 1039818"/>
                <a:gd name="connsiteY11" fmla="*/ 1106559 h 1299792"/>
                <a:gd name="connsiteX12" fmla="*/ 275644 w 1039818"/>
                <a:gd name="connsiteY12" fmla="*/ 1066624 h 1299792"/>
                <a:gd name="connsiteX13" fmla="*/ 109775 w 1039818"/>
                <a:gd name="connsiteY13" fmla="*/ 824620 h 1299792"/>
                <a:gd name="connsiteX14" fmla="*/ 199333 w 1039818"/>
                <a:gd name="connsiteY14" fmla="*/ 460964 h 1299792"/>
                <a:gd name="connsiteX15" fmla="*/ 768731 w 1039818"/>
                <a:gd name="connsiteY15" fmla="*/ 192195 h 1299792"/>
                <a:gd name="connsiteX16" fmla="*/ 992443 w 1039818"/>
                <a:gd name="connsiteY16" fmla="*/ 553467 h 1299792"/>
                <a:gd name="connsiteX17" fmla="*/ 1039818 w 1039818"/>
                <a:gd name="connsiteY17" fmla="*/ 470526 h 1299792"/>
                <a:gd name="connsiteX18" fmla="*/ 759542 w 1039818"/>
                <a:gd name="connsiteY18" fmla="*/ 98946 h 1299792"/>
                <a:gd name="connsiteX19" fmla="*/ 286777 w 1039818"/>
                <a:gd name="connsiteY19" fmla="*/ 23356 h 1299792"/>
                <a:gd name="connsiteX20" fmla="*/ 23821 w 1039818"/>
                <a:gd name="connsiteY20" fmla="*/ 197173 h 1299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39818" h="1299792">
                  <a:moveTo>
                    <a:pt x="0" y="231409"/>
                  </a:moveTo>
                  <a:lnTo>
                    <a:pt x="0" y="931179"/>
                  </a:lnTo>
                  <a:lnTo>
                    <a:pt x="11205" y="949198"/>
                  </a:lnTo>
                  <a:cubicBezTo>
                    <a:pt x="58370" y="1010026"/>
                    <a:pt x="118161" y="1061123"/>
                    <a:pt x="190578" y="1102487"/>
                  </a:cubicBezTo>
                  <a:cubicBezTo>
                    <a:pt x="257644" y="1140796"/>
                    <a:pt x="337167" y="1166820"/>
                    <a:pt x="429146" y="1180563"/>
                  </a:cubicBezTo>
                  <a:cubicBezTo>
                    <a:pt x="481887" y="1188452"/>
                    <a:pt x="514144" y="1195759"/>
                    <a:pt x="525918" y="1202483"/>
                  </a:cubicBezTo>
                  <a:cubicBezTo>
                    <a:pt x="543040" y="1212264"/>
                    <a:pt x="553399" y="1225810"/>
                    <a:pt x="556995" y="1243122"/>
                  </a:cubicBezTo>
                  <a:lnTo>
                    <a:pt x="548477" y="1299792"/>
                  </a:lnTo>
                  <a:lnTo>
                    <a:pt x="587432" y="1299792"/>
                  </a:lnTo>
                  <a:lnTo>
                    <a:pt x="764587" y="989646"/>
                  </a:lnTo>
                  <a:lnTo>
                    <a:pt x="737298" y="974058"/>
                  </a:lnTo>
                  <a:cubicBezTo>
                    <a:pt x="670404" y="1045613"/>
                    <a:pt x="595734" y="1089780"/>
                    <a:pt x="513289" y="1106559"/>
                  </a:cubicBezTo>
                  <a:cubicBezTo>
                    <a:pt x="430843" y="1123338"/>
                    <a:pt x="351628" y="1110026"/>
                    <a:pt x="275644" y="1066624"/>
                  </a:cubicBezTo>
                  <a:cubicBezTo>
                    <a:pt x="182180" y="1013238"/>
                    <a:pt x="126890" y="932570"/>
                    <a:pt x="109775" y="824620"/>
                  </a:cubicBezTo>
                  <a:cubicBezTo>
                    <a:pt x="92662" y="716671"/>
                    <a:pt x="122513" y="595452"/>
                    <a:pt x="199333" y="460964"/>
                  </a:cubicBezTo>
                  <a:cubicBezTo>
                    <a:pt x="369886" y="162378"/>
                    <a:pt x="559685" y="72788"/>
                    <a:pt x="768731" y="192195"/>
                  </a:cubicBezTo>
                  <a:cubicBezTo>
                    <a:pt x="883955" y="258012"/>
                    <a:pt x="958526" y="378436"/>
                    <a:pt x="992443" y="553467"/>
                  </a:cubicBezTo>
                  <a:lnTo>
                    <a:pt x="1039818" y="470526"/>
                  </a:lnTo>
                  <a:cubicBezTo>
                    <a:pt x="998515" y="305942"/>
                    <a:pt x="905090" y="182082"/>
                    <a:pt x="759542" y="98946"/>
                  </a:cubicBezTo>
                  <a:cubicBezTo>
                    <a:pt x="587953" y="934"/>
                    <a:pt x="430365" y="-24262"/>
                    <a:pt x="286777" y="23356"/>
                  </a:cubicBezTo>
                  <a:cubicBezTo>
                    <a:pt x="179085" y="59070"/>
                    <a:pt x="91434" y="117009"/>
                    <a:pt x="23821" y="197173"/>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prstClr val="white"/>
                </a:solidFill>
              </a:endParaRPr>
            </a:p>
          </p:txBody>
        </p:sp>
      </p:grpSp>
      <p:sp>
        <p:nvSpPr>
          <p:cNvPr id="72" name="path 72"/>
          <p:cNvSpPr/>
          <p:nvPr/>
        </p:nvSpPr>
        <p:spPr>
          <a:xfrm>
            <a:off x="11398249" y="6043294"/>
            <a:ext cx="741679" cy="774064"/>
          </a:xfrm>
          <a:custGeom>
            <a:avLst/>
            <a:gdLst/>
            <a:ahLst/>
            <a:cxnLst/>
            <a:rect l="0" t="0" r="0" b="0"/>
            <a:pathLst>
              <a:path w="1167" h="1218">
                <a:moveTo>
                  <a:pt x="950" y="1218"/>
                </a:moveTo>
                <a:lnTo>
                  <a:pt x="1167" y="1218"/>
                </a:lnTo>
                <a:lnTo>
                  <a:pt x="1167" y="1001"/>
                </a:lnTo>
                <a:lnTo>
                  <a:pt x="950" y="1001"/>
                </a:lnTo>
                <a:lnTo>
                  <a:pt x="950" y="1218"/>
                </a:lnTo>
                <a:close/>
              </a:path>
              <a:path w="1167" h="1218">
                <a:moveTo>
                  <a:pt x="634" y="1218"/>
                </a:moveTo>
                <a:lnTo>
                  <a:pt x="850" y="1218"/>
                </a:lnTo>
                <a:lnTo>
                  <a:pt x="850" y="1001"/>
                </a:lnTo>
                <a:lnTo>
                  <a:pt x="634" y="1001"/>
                </a:lnTo>
                <a:lnTo>
                  <a:pt x="634" y="1218"/>
                </a:lnTo>
                <a:close/>
              </a:path>
              <a:path w="1167" h="1218">
                <a:moveTo>
                  <a:pt x="317" y="1218"/>
                </a:moveTo>
                <a:lnTo>
                  <a:pt x="534" y="1218"/>
                </a:lnTo>
                <a:lnTo>
                  <a:pt x="534" y="1001"/>
                </a:lnTo>
                <a:lnTo>
                  <a:pt x="317" y="1001"/>
                </a:lnTo>
                <a:lnTo>
                  <a:pt x="317" y="1218"/>
                </a:lnTo>
                <a:close/>
              </a:path>
              <a:path w="1167" h="1218">
                <a:moveTo>
                  <a:pt x="0" y="1218"/>
                </a:moveTo>
                <a:lnTo>
                  <a:pt x="216" y="1218"/>
                </a:lnTo>
                <a:lnTo>
                  <a:pt x="216" y="1001"/>
                </a:lnTo>
                <a:lnTo>
                  <a:pt x="0" y="1001"/>
                </a:lnTo>
                <a:lnTo>
                  <a:pt x="0" y="1218"/>
                </a:lnTo>
                <a:close/>
              </a:path>
              <a:path w="1167" h="1218">
                <a:moveTo>
                  <a:pt x="950" y="884"/>
                </a:moveTo>
                <a:lnTo>
                  <a:pt x="1167" y="884"/>
                </a:lnTo>
                <a:lnTo>
                  <a:pt x="1167" y="667"/>
                </a:lnTo>
                <a:lnTo>
                  <a:pt x="950" y="667"/>
                </a:lnTo>
                <a:lnTo>
                  <a:pt x="950" y="884"/>
                </a:lnTo>
                <a:close/>
              </a:path>
              <a:path w="1167" h="1218">
                <a:moveTo>
                  <a:pt x="634" y="884"/>
                </a:moveTo>
                <a:lnTo>
                  <a:pt x="850" y="884"/>
                </a:lnTo>
                <a:lnTo>
                  <a:pt x="850" y="667"/>
                </a:lnTo>
                <a:lnTo>
                  <a:pt x="634" y="667"/>
                </a:lnTo>
                <a:lnTo>
                  <a:pt x="634" y="884"/>
                </a:lnTo>
                <a:close/>
              </a:path>
              <a:path w="1167" h="1218">
                <a:moveTo>
                  <a:pt x="317" y="884"/>
                </a:moveTo>
                <a:lnTo>
                  <a:pt x="534" y="884"/>
                </a:lnTo>
                <a:lnTo>
                  <a:pt x="534" y="667"/>
                </a:lnTo>
                <a:lnTo>
                  <a:pt x="317" y="667"/>
                </a:lnTo>
                <a:lnTo>
                  <a:pt x="317" y="884"/>
                </a:lnTo>
                <a:close/>
              </a:path>
              <a:path w="1167" h="1218">
                <a:moveTo>
                  <a:pt x="950" y="550"/>
                </a:moveTo>
                <a:lnTo>
                  <a:pt x="1167" y="550"/>
                </a:lnTo>
                <a:lnTo>
                  <a:pt x="1167" y="333"/>
                </a:lnTo>
                <a:lnTo>
                  <a:pt x="950" y="333"/>
                </a:lnTo>
                <a:lnTo>
                  <a:pt x="950" y="550"/>
                </a:lnTo>
                <a:close/>
              </a:path>
              <a:path w="1167" h="1218">
                <a:moveTo>
                  <a:pt x="634" y="550"/>
                </a:moveTo>
                <a:lnTo>
                  <a:pt x="850" y="550"/>
                </a:lnTo>
                <a:lnTo>
                  <a:pt x="850" y="333"/>
                </a:lnTo>
                <a:lnTo>
                  <a:pt x="634" y="333"/>
                </a:lnTo>
                <a:lnTo>
                  <a:pt x="634" y="550"/>
                </a:lnTo>
                <a:close/>
              </a:path>
              <a:path w="1167" h="1218">
                <a:moveTo>
                  <a:pt x="950" y="216"/>
                </a:moveTo>
                <a:lnTo>
                  <a:pt x="1167" y="216"/>
                </a:lnTo>
                <a:lnTo>
                  <a:pt x="1167" y="0"/>
                </a:lnTo>
                <a:lnTo>
                  <a:pt x="950" y="0"/>
                </a:lnTo>
                <a:lnTo>
                  <a:pt x="950"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2" name="平行四边形 1"/>
          <p:cNvSpPr/>
          <p:nvPr/>
        </p:nvSpPr>
        <p:spPr>
          <a:xfrm flipH="1">
            <a:off x="5066665" y="5389880"/>
            <a:ext cx="5259070" cy="584835"/>
          </a:xfrm>
          <a:prstGeom prst="parallelogram">
            <a:avLst>
              <a:gd name="adj" fmla="val 57452"/>
            </a:avLst>
          </a:prstGeom>
          <a:gradFill>
            <a:gsLst>
              <a:gs pos="0">
                <a:schemeClr val="bg2"/>
              </a:gs>
              <a:gs pos="80000">
                <a:schemeClr val="bg1"/>
              </a:gs>
            </a:gsLst>
            <a:lin ang="16200000" scaled="1"/>
          </a:gradFill>
          <a:ln>
            <a:noFill/>
          </a:ln>
          <a:effectLst>
            <a:outerShdw blurRad="190500" dist="127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prstClr val="white"/>
              </a:solidFill>
            </a:endParaRPr>
          </a:p>
        </p:txBody>
      </p:sp>
      <p:sp>
        <p:nvSpPr>
          <p:cNvPr id="53" name="平行四边形 52"/>
          <p:cNvSpPr/>
          <p:nvPr/>
        </p:nvSpPr>
        <p:spPr>
          <a:xfrm flipH="1">
            <a:off x="5506307" y="5389620"/>
            <a:ext cx="1157620" cy="584774"/>
          </a:xfrm>
          <a:prstGeom prst="parallelogram">
            <a:avLst>
              <a:gd name="adj" fmla="val 57778"/>
            </a:avLst>
          </a:prstGeom>
          <a:solidFill>
            <a:schemeClr val="tx1">
              <a:lumMod val="65000"/>
              <a:lumOff val="35000"/>
            </a:schemeClr>
          </a:solidFill>
          <a:ln>
            <a:noFill/>
          </a:ln>
          <a:effectLst>
            <a:innerShdw blurRad="889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prstClr val="white"/>
                </a:solidFill>
                <a:effectLst>
                  <a:outerShdw blurRad="76200" dist="63500" dir="2700000" algn="tl" rotWithShape="0">
                    <a:prstClr val="black">
                      <a:alpha val="30000"/>
                    </a:prstClr>
                  </a:outerShdw>
                </a:effectLst>
                <a:latin typeface="Impact" panose="020B0806030902050204" pitchFamily="34" charset="0"/>
              </a:rPr>
              <a:t>06</a:t>
            </a:r>
            <a:endParaRPr lang="zh-CN" altLang="en-US" sz="3200" dirty="0">
              <a:solidFill>
                <a:prstClr val="white"/>
              </a:solidFill>
              <a:effectLst>
                <a:outerShdw blurRad="76200" dist="63500" dir="2700000" algn="tl" rotWithShape="0">
                  <a:prstClr val="black">
                    <a:alpha val="30000"/>
                  </a:prstClr>
                </a:outerShdw>
              </a:effectLst>
              <a:latin typeface="Impact" panose="020B0806030902050204" pitchFamily="34" charset="0"/>
            </a:endParaRPr>
          </a:p>
        </p:txBody>
      </p:sp>
      <p:sp>
        <p:nvSpPr>
          <p:cNvPr id="4" name="文本框 3"/>
          <p:cNvSpPr txBox="1"/>
          <p:nvPr/>
        </p:nvSpPr>
        <p:spPr>
          <a:xfrm>
            <a:off x="6864921" y="5310348"/>
            <a:ext cx="2543810" cy="583565"/>
          </a:xfrm>
          <a:prstGeom prst="rect">
            <a:avLst/>
          </a:prstGeom>
          <a:noFill/>
        </p:spPr>
        <p:txBody>
          <a:bodyPr wrap="none" rtlCol="0" anchor="ctr" anchorCtr="1">
            <a:spAutoFit/>
          </a:bodyPr>
          <a:lstStyle/>
          <a:p>
            <a:pPr algn="l"/>
            <a:r>
              <a:rPr lang="zh-CN" altLang="en-US" sz="2000" dirty="0">
                <a:solidFill>
                  <a:prstClr val="black">
                    <a:lumMod val="75000"/>
                    <a:lumOff val="25000"/>
                  </a:prstClr>
                </a:solidFill>
                <a:latin typeface="微软雅黑" panose="020B0503020204020204" charset="-122"/>
                <a:ea typeface="微软雅黑" panose="020B0503020204020204" charset="-122"/>
              </a:rPr>
              <a:t>财务预测与融资规划 </a:t>
            </a:r>
          </a:p>
          <a:p>
            <a:pPr algn="ctr"/>
            <a:r>
              <a:rPr lang="en-US" altLang="zh-CN" sz="1200" dirty="0">
                <a:solidFill>
                  <a:prstClr val="black">
                    <a:lumMod val="75000"/>
                    <a:lumOff val="25000"/>
                  </a:prstClr>
                </a:solidFill>
                <a:latin typeface="微软雅黑" panose="020B0503020204020204" charset="-122"/>
                <a:ea typeface="微软雅黑" panose="020B0503020204020204" charset="-122"/>
              </a:rPr>
              <a:t>Financial Plan </a:t>
            </a:r>
            <a:r>
              <a:rPr lang="en-US" altLang="zh-CN" sz="1200" dirty="0">
                <a:solidFill>
                  <a:schemeClr val="tx2">
                    <a:lumMod val="50000"/>
                  </a:schemeClr>
                </a:solidFill>
                <a:latin typeface="微软雅黑" panose="020B0503020204020204" charset="-122"/>
                <a:ea typeface="微软雅黑" panose="020B0503020204020204" charset="-122"/>
                <a:sym typeface="+mn-ea"/>
              </a:rPr>
              <a:t>&amp;</a:t>
            </a:r>
            <a:r>
              <a:rPr lang="en-US" altLang="zh-CN" sz="1200" dirty="0">
                <a:solidFill>
                  <a:prstClr val="black">
                    <a:lumMod val="75000"/>
                    <a:lumOff val="25000"/>
                  </a:prstClr>
                </a:solidFill>
                <a:latin typeface="微软雅黑" panose="020B0503020204020204" charset="-122"/>
                <a:ea typeface="微软雅黑" panose="020B0503020204020204" charset="-122"/>
              </a:rPr>
              <a:t>The Ask</a:t>
            </a:r>
          </a:p>
        </p:txBody>
      </p:sp>
      <p:sp>
        <p:nvSpPr>
          <p:cNvPr id="11" name="平行四边形 10"/>
          <p:cNvSpPr/>
          <p:nvPr/>
        </p:nvSpPr>
        <p:spPr>
          <a:xfrm flipH="1">
            <a:off x="2715895" y="1123950"/>
            <a:ext cx="5184140" cy="584835"/>
          </a:xfrm>
          <a:prstGeom prst="parallelogram">
            <a:avLst>
              <a:gd name="adj" fmla="val 57452"/>
            </a:avLst>
          </a:prstGeom>
          <a:gradFill>
            <a:gsLst>
              <a:gs pos="0">
                <a:schemeClr val="bg2"/>
              </a:gs>
              <a:gs pos="80000">
                <a:schemeClr val="bg1"/>
              </a:gs>
            </a:gsLst>
            <a:lin ang="16200000" scaled="1"/>
          </a:gradFill>
          <a:ln>
            <a:noFill/>
          </a:ln>
          <a:effectLst>
            <a:outerShdw blurRad="190500" dist="127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prstClr val="white"/>
              </a:solidFill>
            </a:endParaRPr>
          </a:p>
        </p:txBody>
      </p:sp>
      <p:sp>
        <p:nvSpPr>
          <p:cNvPr id="16" name="平行四边形 15"/>
          <p:cNvSpPr/>
          <p:nvPr/>
        </p:nvSpPr>
        <p:spPr>
          <a:xfrm flipH="1">
            <a:off x="3171482" y="1124904"/>
            <a:ext cx="1157620" cy="584774"/>
          </a:xfrm>
          <a:prstGeom prst="parallelogram">
            <a:avLst>
              <a:gd name="adj" fmla="val 57778"/>
            </a:avLst>
          </a:prstGeom>
          <a:solidFill>
            <a:schemeClr val="accent1">
              <a:lumMod val="50000"/>
            </a:schemeClr>
          </a:solidFill>
          <a:ln>
            <a:noFill/>
          </a:ln>
          <a:effectLst>
            <a:innerShdw blurRad="889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prstClr val="white"/>
                </a:solidFill>
                <a:effectLst>
                  <a:outerShdw blurRad="76200" dist="63500" dir="2700000" algn="tl" rotWithShape="0">
                    <a:prstClr val="black">
                      <a:alpha val="30000"/>
                    </a:prstClr>
                  </a:outerShdw>
                </a:effectLst>
                <a:latin typeface="Impact" panose="020B0806030902050204" pitchFamily="34" charset="0"/>
              </a:rPr>
              <a:t>01</a:t>
            </a:r>
            <a:endParaRPr lang="zh-CN" altLang="en-US" sz="3600" dirty="0">
              <a:solidFill>
                <a:prstClr val="white"/>
              </a:solidFill>
              <a:effectLst>
                <a:outerShdw blurRad="76200" dist="63500" dir="2700000" algn="tl" rotWithShape="0">
                  <a:prstClr val="black">
                    <a:alpha val="30000"/>
                  </a:prstClr>
                </a:outerShdw>
              </a:effectLst>
              <a:latin typeface="Impact" panose="020B0806030902050204" pitchFamily="34" charset="0"/>
            </a:endParaRPr>
          </a:p>
        </p:txBody>
      </p:sp>
      <p:sp>
        <p:nvSpPr>
          <p:cNvPr id="18" name="文本框 17"/>
          <p:cNvSpPr txBox="1"/>
          <p:nvPr/>
        </p:nvSpPr>
        <p:spPr>
          <a:xfrm>
            <a:off x="4328795" y="1187133"/>
            <a:ext cx="2987040" cy="398780"/>
          </a:xfrm>
          <a:prstGeom prst="rect">
            <a:avLst/>
          </a:prstGeom>
          <a:noFill/>
        </p:spPr>
        <p:txBody>
          <a:bodyPr wrap="square" rtlCol="0" anchor="ctr" anchorCtr="1">
            <a:spAutoFit/>
          </a:bodyPr>
          <a:lstStyle/>
          <a:p>
            <a:r>
              <a:rPr lang="zh-CN" altLang="en-US" sz="2000" dirty="0">
                <a:solidFill>
                  <a:schemeClr val="tx2">
                    <a:lumMod val="50000"/>
                  </a:schemeClr>
                </a:solidFill>
                <a:latin typeface="微软雅黑" panose="020B0503020204020204" charset="-122"/>
                <a:ea typeface="微软雅黑" panose="020B0503020204020204" charset="-122"/>
              </a:rPr>
              <a:t>公司及团队介绍</a:t>
            </a:r>
            <a:r>
              <a:rPr lang="en-US" altLang="zh-CN" sz="2000" dirty="0">
                <a:solidFill>
                  <a:schemeClr val="tx2">
                    <a:lumMod val="50000"/>
                  </a:schemeClr>
                </a:solidFill>
                <a:latin typeface="微软雅黑" panose="020B0503020204020204" charset="-122"/>
                <a:ea typeface="微软雅黑" panose="020B0503020204020204" charset="-122"/>
              </a:rPr>
              <a:t> </a:t>
            </a:r>
            <a:r>
              <a:rPr lang="en-US" altLang="zh-CN" sz="1200" dirty="0">
                <a:solidFill>
                  <a:schemeClr val="tx2">
                    <a:lumMod val="50000"/>
                  </a:schemeClr>
                </a:solidFill>
                <a:latin typeface="微软雅黑" panose="020B0503020204020204" charset="-122"/>
                <a:ea typeface="微软雅黑" panose="020B0503020204020204" charset="-122"/>
              </a:rPr>
              <a:t>About us</a:t>
            </a:r>
          </a:p>
        </p:txBody>
      </p:sp>
      <p:sp>
        <p:nvSpPr>
          <p:cNvPr id="35" name="平行四边形 34"/>
          <p:cNvSpPr/>
          <p:nvPr/>
        </p:nvSpPr>
        <p:spPr>
          <a:xfrm flipH="1">
            <a:off x="3219450" y="1998980"/>
            <a:ext cx="5267960" cy="584835"/>
          </a:xfrm>
          <a:prstGeom prst="parallelogram">
            <a:avLst>
              <a:gd name="adj" fmla="val 57452"/>
            </a:avLst>
          </a:prstGeom>
          <a:gradFill>
            <a:gsLst>
              <a:gs pos="0">
                <a:schemeClr val="bg2"/>
              </a:gs>
              <a:gs pos="80000">
                <a:schemeClr val="bg1"/>
              </a:gs>
            </a:gsLst>
            <a:lin ang="16200000" scaled="1"/>
          </a:gradFill>
          <a:ln>
            <a:noFill/>
          </a:ln>
          <a:effectLst>
            <a:outerShdw blurRad="190500" dist="127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prstClr val="white"/>
              </a:solidFill>
            </a:endParaRPr>
          </a:p>
        </p:txBody>
      </p:sp>
      <p:sp>
        <p:nvSpPr>
          <p:cNvPr id="12" name="平行四边形 11"/>
          <p:cNvSpPr/>
          <p:nvPr/>
        </p:nvSpPr>
        <p:spPr>
          <a:xfrm flipH="1">
            <a:off x="3677309" y="1999182"/>
            <a:ext cx="1157620" cy="584774"/>
          </a:xfrm>
          <a:prstGeom prst="parallelogram">
            <a:avLst>
              <a:gd name="adj" fmla="val 57778"/>
            </a:avLst>
          </a:prstGeom>
          <a:solidFill>
            <a:schemeClr val="tx1">
              <a:lumMod val="65000"/>
              <a:lumOff val="35000"/>
            </a:schemeClr>
          </a:solidFill>
          <a:ln>
            <a:noFill/>
          </a:ln>
          <a:effectLst>
            <a:innerShdw blurRad="889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prstClr val="white"/>
                </a:solidFill>
                <a:effectLst>
                  <a:outerShdw blurRad="76200" dist="63500" dir="2700000" algn="tl" rotWithShape="0">
                    <a:prstClr val="black">
                      <a:alpha val="30000"/>
                    </a:prstClr>
                  </a:outerShdw>
                </a:effectLst>
                <a:latin typeface="Impact" panose="020B0806030902050204" pitchFamily="34" charset="0"/>
              </a:rPr>
              <a:t>02</a:t>
            </a:r>
            <a:endParaRPr lang="zh-CN" altLang="en-US" sz="3200" dirty="0">
              <a:solidFill>
                <a:prstClr val="white"/>
              </a:solidFill>
              <a:effectLst>
                <a:outerShdw blurRad="76200" dist="63500" dir="2700000" algn="tl" rotWithShape="0">
                  <a:prstClr val="black">
                    <a:alpha val="30000"/>
                  </a:prstClr>
                </a:outerShdw>
              </a:effectLst>
              <a:latin typeface="Impact" panose="020B0806030902050204" pitchFamily="34" charset="0"/>
            </a:endParaRPr>
          </a:p>
        </p:txBody>
      </p:sp>
      <p:sp>
        <p:nvSpPr>
          <p:cNvPr id="37" name="文本框 36"/>
          <p:cNvSpPr txBox="1"/>
          <p:nvPr/>
        </p:nvSpPr>
        <p:spPr>
          <a:xfrm>
            <a:off x="4752340" y="2050098"/>
            <a:ext cx="3422650" cy="398780"/>
          </a:xfrm>
          <a:prstGeom prst="rect">
            <a:avLst/>
          </a:prstGeom>
          <a:noFill/>
        </p:spPr>
        <p:txBody>
          <a:bodyPr wrap="square" rtlCol="0" anchor="ctr" anchorCtr="1">
            <a:spAutoFit/>
          </a:bodyPr>
          <a:lstStyle/>
          <a:p>
            <a:pPr algn="l"/>
            <a:r>
              <a:rPr lang="zh-CN" altLang="en-US" sz="2000" dirty="0">
                <a:solidFill>
                  <a:schemeClr val="tx2">
                    <a:lumMod val="50000"/>
                  </a:schemeClr>
                </a:solidFill>
                <a:latin typeface="微软雅黑" panose="020B0503020204020204" charset="-122"/>
                <a:ea typeface="微软雅黑" panose="020B0503020204020204" charset="-122"/>
              </a:rPr>
              <a:t>痛点与机遇 </a:t>
            </a:r>
            <a:r>
              <a:rPr lang="en-US" altLang="zh-CN" sz="1200" dirty="0">
                <a:solidFill>
                  <a:schemeClr val="tx2">
                    <a:lumMod val="50000"/>
                  </a:schemeClr>
                </a:solidFill>
                <a:latin typeface="微软雅黑" panose="020B0503020204020204" charset="-122"/>
                <a:ea typeface="微软雅黑" panose="020B0503020204020204" charset="-122"/>
              </a:rPr>
              <a:t>Problem &amp; Solution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1000" fill="hold"/>
                                        <p:tgtEl>
                                          <p:spTgt spid="17"/>
                                        </p:tgtEl>
                                        <p:attrNameLst>
                                          <p:attrName>ppt_x</p:attrName>
                                        </p:attrNameLst>
                                      </p:cBhvr>
                                      <p:tavLst>
                                        <p:tav tm="0">
                                          <p:val>
                                            <p:strVal val="1+#ppt_w/2"/>
                                          </p:val>
                                        </p:tav>
                                        <p:tav tm="100000">
                                          <p:val>
                                            <p:strVal val="#ppt_x"/>
                                          </p:val>
                                        </p:tav>
                                      </p:tavLst>
                                    </p:anim>
                                    <p:anim calcmode="lin" valueType="num">
                                      <p:cBhvr additive="base">
                                        <p:cTn id="8" dur="1000" fill="hold"/>
                                        <p:tgtEl>
                                          <p:spTgt spid="17"/>
                                        </p:tgtEl>
                                        <p:attrNameLst>
                                          <p:attrName>ppt_y</p:attrName>
                                        </p:attrNameLst>
                                      </p:cBhvr>
                                      <p:tavLst>
                                        <p:tav tm="0">
                                          <p:val>
                                            <p:strVal val="#ppt_y"/>
                                          </p:val>
                                        </p:tav>
                                        <p:tav tm="100000">
                                          <p:val>
                                            <p:strVal val="#ppt_y"/>
                                          </p:val>
                                        </p:tav>
                                      </p:tavLst>
                                    </p:anim>
                                  </p:childTnLst>
                                </p:cTn>
                              </p:par>
                              <p:par>
                                <p:cTn id="9" presetID="22" presetClass="entr" presetSubtype="1" fill="hold" nodeType="withEffect">
                                  <p:stCondLst>
                                    <p:cond delay="1000"/>
                                  </p:stCondLst>
                                  <p:childTnLst>
                                    <p:set>
                                      <p:cBhvr>
                                        <p:cTn id="10" dur="1" fill="hold">
                                          <p:stCondLst>
                                            <p:cond delay="0"/>
                                          </p:stCondLst>
                                        </p:cTn>
                                        <p:tgtEl>
                                          <p:spTgt spid="20"/>
                                        </p:tgtEl>
                                        <p:attrNameLst>
                                          <p:attrName>style.visibility</p:attrName>
                                        </p:attrNameLst>
                                      </p:cBhvr>
                                      <p:to>
                                        <p:strVal val="visible"/>
                                      </p:to>
                                    </p:set>
                                    <p:animEffect transition="in" filter="wipe(up)">
                                      <p:cBhvr>
                                        <p:cTn id="11" dur="750"/>
                                        <p:tgtEl>
                                          <p:spTgt spid="20"/>
                                        </p:tgtEl>
                                      </p:cBhvr>
                                    </p:animEffect>
                                  </p:childTnLst>
                                </p:cTn>
                              </p:par>
                              <p:par>
                                <p:cTn id="12" presetID="22" presetClass="entr" presetSubtype="8" fill="hold" grpId="0" nodeType="withEffect">
                                  <p:stCondLst>
                                    <p:cond delay="1750"/>
                                  </p:stCondLst>
                                  <p:childTnLst>
                                    <p:set>
                                      <p:cBhvr>
                                        <p:cTn id="13" dur="1" fill="hold">
                                          <p:stCondLst>
                                            <p:cond delay="0"/>
                                          </p:stCondLst>
                                        </p:cTn>
                                        <p:tgtEl>
                                          <p:spTgt spid="19"/>
                                        </p:tgtEl>
                                        <p:attrNameLst>
                                          <p:attrName>style.visibility</p:attrName>
                                        </p:attrNameLst>
                                      </p:cBhvr>
                                      <p:to>
                                        <p:strVal val="visible"/>
                                      </p:to>
                                    </p:set>
                                    <p:animEffect transition="in" filter="wipe(left)">
                                      <p:cBhvr>
                                        <p:cTn id="14" dur="500"/>
                                        <p:tgtEl>
                                          <p:spTgt spid="19"/>
                                        </p:tgtEl>
                                      </p:cBhvr>
                                    </p:animEffect>
                                  </p:childTnLst>
                                </p:cTn>
                              </p:par>
                            </p:childTnLst>
                          </p:cTn>
                        </p:par>
                        <p:par>
                          <p:cTn id="15" fill="hold">
                            <p:stCondLst>
                              <p:cond delay="1000"/>
                            </p:stCondLst>
                            <p:childTnLst>
                              <p:par>
                                <p:cTn id="16" presetID="1" presetClass="entr" presetSubtype="0" fill="hold" grpId="1" nodeType="afterEffect">
                                  <p:stCondLst>
                                    <p:cond delay="0"/>
                                  </p:stCondLst>
                                  <p:childTnLst>
                                    <p:set>
                                      <p:cBhvr>
                                        <p:cTn id="17" dur="1" fill="hold">
                                          <p:stCondLst>
                                            <p:cond delay="0"/>
                                          </p:stCondLst>
                                        </p:cTn>
                                        <p:tgtEl>
                                          <p:spTgt spid="11"/>
                                        </p:tgtEl>
                                        <p:attrNameLst>
                                          <p:attrName>style.visibility</p:attrName>
                                        </p:attrNameLst>
                                      </p:cBhvr>
                                      <p:to>
                                        <p:strVal val="visible"/>
                                      </p:to>
                                    </p:set>
                                  </p:childTnLst>
                                </p:cTn>
                              </p:par>
                              <p:par>
                                <p:cTn id="18" presetID="42" presetClass="path" presetSubtype="0" decel="100000" fill="hold" grpId="0" nodeType="withEffect">
                                  <p:stCondLst>
                                    <p:cond delay="0"/>
                                  </p:stCondLst>
                                  <p:childTnLst>
                                    <p:animMotion origin="layout" path="M -6.25E-7 -2.59259E-6 L 0.29063 0.8956 " pathEditMode="relative" rAng="0" ptsTypes="AA">
                                      <p:cBhvr>
                                        <p:cTn id="19" dur="1000" spd="-100000" fill="hold"/>
                                        <p:tgtEl>
                                          <p:spTgt spid="11"/>
                                        </p:tgtEl>
                                        <p:attrNameLst>
                                          <p:attrName>ppt_x</p:attrName>
                                          <p:attrName>ppt_y</p:attrName>
                                        </p:attrNameLst>
                                      </p:cBhvr>
                                      <p:rCtr x="14531" y="44769"/>
                                    </p:animMotion>
                                  </p:childTnLst>
                                </p:cTn>
                              </p:par>
                            </p:childTnLst>
                          </p:cTn>
                        </p:par>
                        <p:par>
                          <p:cTn id="20" fill="hold">
                            <p:stCondLst>
                              <p:cond delay="1000"/>
                            </p:stCondLst>
                            <p:childTnLst>
                              <p:par>
                                <p:cTn id="21" presetID="10" presetClass="entr" presetSubtype="0" fill="hold" grpId="1" nodeType="after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250"/>
                                        <p:tgtEl>
                                          <p:spTgt spid="16"/>
                                        </p:tgtEl>
                                      </p:cBhvr>
                                    </p:animEffect>
                                  </p:childTnLst>
                                </p:cTn>
                              </p:par>
                              <p:par>
                                <p:cTn id="24" presetID="63" presetClass="path" presetSubtype="0" decel="100000" fill="hold" grpId="0" nodeType="withEffect">
                                  <p:stCondLst>
                                    <p:cond delay="0"/>
                                  </p:stCondLst>
                                  <p:childTnLst>
                                    <p:animMotion origin="layout" path="M 0 0 L 0.25 0 E" pathEditMode="relative" ptsTypes="">
                                      <p:cBhvr>
                                        <p:cTn id="25" dur="750" spd="-100000" fill="hold"/>
                                        <p:tgtEl>
                                          <p:spTgt spid="16"/>
                                        </p:tgtEl>
                                        <p:attrNameLst>
                                          <p:attrName>ppt_x</p:attrName>
                                          <p:attrName>ppt_y</p:attrName>
                                        </p:attrNameLst>
                                      </p:cBhvr>
                                    </p:animMotion>
                                  </p:childTnLst>
                                </p:cTn>
                              </p:par>
                              <p:par>
                                <p:cTn id="26" presetID="22" presetClass="entr" presetSubtype="2"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wipe(right)">
                                      <p:cBhvr>
                                        <p:cTn id="28" dur="500"/>
                                        <p:tgtEl>
                                          <p:spTgt spid="18"/>
                                        </p:tgtEl>
                                      </p:cBhvr>
                                    </p:animEffect>
                                  </p:childTnLst>
                                </p:cTn>
                              </p:par>
                            </p:childTnLst>
                          </p:cTn>
                        </p:par>
                        <p:par>
                          <p:cTn id="29" fill="hold">
                            <p:stCondLst>
                              <p:cond delay="1500"/>
                            </p:stCondLst>
                            <p:childTnLst>
                              <p:par>
                                <p:cTn id="30" presetID="1" presetClass="entr" presetSubtype="0" fill="hold" grpId="0" nodeType="afterEffect">
                                  <p:stCondLst>
                                    <p:cond delay="0"/>
                                  </p:stCondLst>
                                  <p:childTnLst>
                                    <p:set>
                                      <p:cBhvr>
                                        <p:cTn id="31" dur="1" fill="hold">
                                          <p:stCondLst>
                                            <p:cond delay="0"/>
                                          </p:stCondLst>
                                        </p:cTn>
                                        <p:tgtEl>
                                          <p:spTgt spid="35"/>
                                        </p:tgtEl>
                                        <p:attrNameLst>
                                          <p:attrName>style.visibility</p:attrName>
                                        </p:attrNameLst>
                                      </p:cBhvr>
                                      <p:to>
                                        <p:strVal val="visible"/>
                                      </p:to>
                                    </p:set>
                                  </p:childTnLst>
                                </p:cTn>
                              </p:par>
                              <p:par>
                                <p:cTn id="32" presetID="42" presetClass="path" presetSubtype="0" decel="100000" fill="hold" grpId="1" nodeType="withEffect">
                                  <p:stCondLst>
                                    <p:cond delay="0"/>
                                  </p:stCondLst>
                                  <p:childTnLst>
                                    <p:animMotion origin="layout" path="M -3.75E-6 -1.85185E-6 L 0.2461 0.75834 " pathEditMode="relative" rAng="0" ptsTypes="AA">
                                      <p:cBhvr>
                                        <p:cTn id="33" dur="1000" spd="-100000" fill="hold"/>
                                        <p:tgtEl>
                                          <p:spTgt spid="35"/>
                                        </p:tgtEl>
                                        <p:attrNameLst>
                                          <p:attrName>ppt_x</p:attrName>
                                          <p:attrName>ppt_y</p:attrName>
                                        </p:attrNameLst>
                                      </p:cBhvr>
                                      <p:rCtr x="12305" y="37917"/>
                                    </p:animMotion>
                                  </p:childTnLst>
                                </p:cTn>
                              </p:par>
                            </p:childTnLst>
                          </p:cTn>
                        </p:par>
                        <p:par>
                          <p:cTn id="34" fill="hold">
                            <p:stCondLst>
                              <p:cond delay="1500"/>
                            </p:stCondLst>
                            <p:childTnLst>
                              <p:par>
                                <p:cTn id="35" presetID="10" presetClass="entr" presetSubtype="0" fill="hold" grpId="0" nodeType="after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250"/>
                                        <p:tgtEl>
                                          <p:spTgt spid="12"/>
                                        </p:tgtEl>
                                      </p:cBhvr>
                                    </p:animEffect>
                                  </p:childTnLst>
                                </p:cTn>
                              </p:par>
                              <p:par>
                                <p:cTn id="38" presetID="63" presetClass="path" presetSubtype="0" decel="100000" fill="hold" grpId="1" nodeType="withEffect">
                                  <p:stCondLst>
                                    <p:cond delay="0"/>
                                  </p:stCondLst>
                                  <p:childTnLst>
                                    <p:animMotion origin="layout" path="M 0 0 L 0.25 0 E" pathEditMode="relative" ptsTypes="">
                                      <p:cBhvr>
                                        <p:cTn id="39" dur="750" spd="-100000" fill="hold"/>
                                        <p:tgtEl>
                                          <p:spTgt spid="12"/>
                                        </p:tgtEl>
                                        <p:attrNameLst>
                                          <p:attrName>ppt_x</p:attrName>
                                          <p:attrName>ppt_y</p:attrName>
                                        </p:attrNameLst>
                                      </p:cBhvr>
                                    </p:animMotion>
                                  </p:childTnLst>
                                </p:cTn>
                              </p:par>
                              <p:par>
                                <p:cTn id="40" presetID="22" presetClass="entr" presetSubtype="2" fill="hold" grpId="0" nodeType="withEffect">
                                  <p:stCondLst>
                                    <p:cond delay="0"/>
                                  </p:stCondLst>
                                  <p:childTnLst>
                                    <p:set>
                                      <p:cBhvr>
                                        <p:cTn id="41" dur="1" fill="hold">
                                          <p:stCondLst>
                                            <p:cond delay="0"/>
                                          </p:stCondLst>
                                        </p:cTn>
                                        <p:tgtEl>
                                          <p:spTgt spid="37"/>
                                        </p:tgtEl>
                                        <p:attrNameLst>
                                          <p:attrName>style.visibility</p:attrName>
                                        </p:attrNameLst>
                                      </p:cBhvr>
                                      <p:to>
                                        <p:strVal val="visible"/>
                                      </p:to>
                                    </p:set>
                                    <p:animEffect transition="in" filter="wipe(right)">
                                      <p:cBhvr>
                                        <p:cTn id="42" dur="500"/>
                                        <p:tgtEl>
                                          <p:spTgt spid="37"/>
                                        </p:tgtEl>
                                      </p:cBhvr>
                                    </p:animEffect>
                                  </p:childTnLst>
                                </p:cTn>
                              </p:par>
                            </p:childTnLst>
                          </p:cTn>
                        </p:par>
                        <p:par>
                          <p:cTn id="43" fill="hold">
                            <p:stCondLst>
                              <p:cond delay="2000"/>
                            </p:stCondLst>
                            <p:childTnLst>
                              <p:par>
                                <p:cTn id="44" presetID="1" presetClass="entr" presetSubtype="0" fill="hold" grpId="0" nodeType="afterEffect">
                                  <p:stCondLst>
                                    <p:cond delay="0"/>
                                  </p:stCondLst>
                                  <p:childTnLst>
                                    <p:set>
                                      <p:cBhvr>
                                        <p:cTn id="45" dur="1" fill="hold">
                                          <p:stCondLst>
                                            <p:cond delay="0"/>
                                          </p:stCondLst>
                                        </p:cTn>
                                        <p:tgtEl>
                                          <p:spTgt spid="39"/>
                                        </p:tgtEl>
                                        <p:attrNameLst>
                                          <p:attrName>style.visibility</p:attrName>
                                        </p:attrNameLst>
                                      </p:cBhvr>
                                      <p:to>
                                        <p:strVal val="visible"/>
                                      </p:to>
                                    </p:set>
                                  </p:childTnLst>
                                </p:cTn>
                              </p:par>
                              <p:par>
                                <p:cTn id="46" presetID="42" presetClass="path" presetSubtype="0" decel="100000" fill="hold" grpId="1" nodeType="withEffect">
                                  <p:stCondLst>
                                    <p:cond delay="0"/>
                                  </p:stCondLst>
                                  <p:childTnLst>
                                    <p:animMotion origin="layout" path="M 2.91667E-6 3.7037E-7 L 0.20052 0.61806 " pathEditMode="relative" rAng="0" ptsTypes="AA">
                                      <p:cBhvr>
                                        <p:cTn id="47" dur="1000" spd="-100000" fill="hold"/>
                                        <p:tgtEl>
                                          <p:spTgt spid="39"/>
                                        </p:tgtEl>
                                        <p:attrNameLst>
                                          <p:attrName>ppt_x</p:attrName>
                                          <p:attrName>ppt_y</p:attrName>
                                        </p:attrNameLst>
                                      </p:cBhvr>
                                      <p:rCtr x="10026" y="30903"/>
                                    </p:animMotion>
                                  </p:childTnLst>
                                </p:cTn>
                              </p:par>
                            </p:childTnLst>
                          </p:cTn>
                        </p:par>
                        <p:par>
                          <p:cTn id="48" fill="hold">
                            <p:stCondLst>
                              <p:cond delay="2000"/>
                            </p:stCondLst>
                            <p:childTnLst>
                              <p:par>
                                <p:cTn id="49" presetID="10" presetClass="entr" presetSubtype="0" fill="hold" grpId="0" nodeType="after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250"/>
                                        <p:tgtEl>
                                          <p:spTgt spid="13"/>
                                        </p:tgtEl>
                                      </p:cBhvr>
                                    </p:animEffect>
                                  </p:childTnLst>
                                </p:cTn>
                              </p:par>
                              <p:par>
                                <p:cTn id="52" presetID="63" presetClass="path" presetSubtype="0" decel="100000" fill="hold" grpId="1" nodeType="withEffect">
                                  <p:stCondLst>
                                    <p:cond delay="0"/>
                                  </p:stCondLst>
                                  <p:childTnLst>
                                    <p:animMotion origin="layout" path="M 0 0 L 0.25 0 E" pathEditMode="relative" ptsTypes="">
                                      <p:cBhvr>
                                        <p:cTn id="53" dur="750" spd="-100000" fill="hold"/>
                                        <p:tgtEl>
                                          <p:spTgt spid="13"/>
                                        </p:tgtEl>
                                        <p:attrNameLst>
                                          <p:attrName>ppt_x</p:attrName>
                                          <p:attrName>ppt_y</p:attrName>
                                        </p:attrNameLst>
                                      </p:cBhvr>
                                    </p:animMotion>
                                  </p:childTnLst>
                                </p:cTn>
                              </p:par>
                              <p:par>
                                <p:cTn id="54" presetID="22" presetClass="entr" presetSubtype="2" fill="hold" grpId="0" nodeType="withEffect">
                                  <p:stCondLst>
                                    <p:cond delay="0"/>
                                  </p:stCondLst>
                                  <p:childTnLst>
                                    <p:set>
                                      <p:cBhvr>
                                        <p:cTn id="55" dur="1" fill="hold">
                                          <p:stCondLst>
                                            <p:cond delay="0"/>
                                          </p:stCondLst>
                                        </p:cTn>
                                        <p:tgtEl>
                                          <p:spTgt spid="41"/>
                                        </p:tgtEl>
                                        <p:attrNameLst>
                                          <p:attrName>style.visibility</p:attrName>
                                        </p:attrNameLst>
                                      </p:cBhvr>
                                      <p:to>
                                        <p:strVal val="visible"/>
                                      </p:to>
                                    </p:set>
                                    <p:animEffect transition="in" filter="wipe(right)">
                                      <p:cBhvr>
                                        <p:cTn id="56" dur="500"/>
                                        <p:tgtEl>
                                          <p:spTgt spid="41"/>
                                        </p:tgtEl>
                                      </p:cBhvr>
                                    </p:animEffect>
                                  </p:childTnLst>
                                </p:cTn>
                              </p:par>
                            </p:childTnLst>
                          </p:cTn>
                        </p:par>
                        <p:par>
                          <p:cTn id="57" fill="hold">
                            <p:stCondLst>
                              <p:cond delay="2500"/>
                            </p:stCondLst>
                            <p:childTnLst>
                              <p:par>
                                <p:cTn id="58" presetID="1" presetClass="entr" presetSubtype="0" fill="hold" grpId="0" nodeType="afterEffect">
                                  <p:stCondLst>
                                    <p:cond delay="0"/>
                                  </p:stCondLst>
                                  <p:childTnLst>
                                    <p:set>
                                      <p:cBhvr>
                                        <p:cTn id="59" dur="1" fill="hold">
                                          <p:stCondLst>
                                            <p:cond delay="0"/>
                                          </p:stCondLst>
                                        </p:cTn>
                                        <p:tgtEl>
                                          <p:spTgt spid="43"/>
                                        </p:tgtEl>
                                        <p:attrNameLst>
                                          <p:attrName>style.visibility</p:attrName>
                                        </p:attrNameLst>
                                      </p:cBhvr>
                                      <p:to>
                                        <p:strVal val="visible"/>
                                      </p:to>
                                    </p:set>
                                  </p:childTnLst>
                                </p:cTn>
                              </p:par>
                              <p:par>
                                <p:cTn id="60" presetID="42" presetClass="path" presetSubtype="0" decel="100000" fill="hold" grpId="1" nodeType="withEffect">
                                  <p:stCondLst>
                                    <p:cond delay="0"/>
                                  </p:stCondLst>
                                  <p:childTnLst>
                                    <p:animMotion origin="layout" path="M -2.08333E-7 1.11111E-6 L 0.15378 0.47384 " pathEditMode="relative" rAng="0" ptsTypes="AA">
                                      <p:cBhvr>
                                        <p:cTn id="61" dur="750" spd="-100000" fill="hold"/>
                                        <p:tgtEl>
                                          <p:spTgt spid="43"/>
                                        </p:tgtEl>
                                        <p:attrNameLst>
                                          <p:attrName>ppt_x</p:attrName>
                                          <p:attrName>ppt_y</p:attrName>
                                        </p:attrNameLst>
                                      </p:cBhvr>
                                      <p:rCtr x="7682" y="23681"/>
                                    </p:animMotion>
                                  </p:childTnLst>
                                </p:cTn>
                              </p:par>
                            </p:childTnLst>
                          </p:cTn>
                        </p:par>
                        <p:par>
                          <p:cTn id="62" fill="hold">
                            <p:stCondLst>
                              <p:cond delay="2500"/>
                            </p:stCondLst>
                            <p:childTnLst>
                              <p:par>
                                <p:cTn id="63" presetID="10" presetClass="entr" presetSubtype="0" fill="hold" grpId="0" nodeType="after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fade">
                                      <p:cBhvr>
                                        <p:cTn id="65" dur="250"/>
                                        <p:tgtEl>
                                          <p:spTgt spid="14"/>
                                        </p:tgtEl>
                                      </p:cBhvr>
                                    </p:animEffect>
                                  </p:childTnLst>
                                </p:cTn>
                              </p:par>
                              <p:par>
                                <p:cTn id="66" presetID="63" presetClass="path" presetSubtype="0" decel="100000" fill="hold" grpId="1" nodeType="withEffect">
                                  <p:stCondLst>
                                    <p:cond delay="0"/>
                                  </p:stCondLst>
                                  <p:childTnLst>
                                    <p:animMotion origin="layout" path="M 0 0 L 0.25 0 E" pathEditMode="relative" ptsTypes="">
                                      <p:cBhvr>
                                        <p:cTn id="67" dur="750" spd="-100000" fill="hold"/>
                                        <p:tgtEl>
                                          <p:spTgt spid="14"/>
                                        </p:tgtEl>
                                        <p:attrNameLst>
                                          <p:attrName>ppt_x</p:attrName>
                                          <p:attrName>ppt_y</p:attrName>
                                        </p:attrNameLst>
                                      </p:cBhvr>
                                    </p:animMotion>
                                  </p:childTnLst>
                                </p:cTn>
                              </p:par>
                              <p:par>
                                <p:cTn id="68" presetID="22" presetClass="entr" presetSubtype="2" fill="hold" grpId="0" nodeType="withEffect">
                                  <p:stCondLst>
                                    <p:cond delay="0"/>
                                  </p:stCondLst>
                                  <p:childTnLst>
                                    <p:set>
                                      <p:cBhvr>
                                        <p:cTn id="69" dur="1" fill="hold">
                                          <p:stCondLst>
                                            <p:cond delay="0"/>
                                          </p:stCondLst>
                                        </p:cTn>
                                        <p:tgtEl>
                                          <p:spTgt spid="45"/>
                                        </p:tgtEl>
                                        <p:attrNameLst>
                                          <p:attrName>style.visibility</p:attrName>
                                        </p:attrNameLst>
                                      </p:cBhvr>
                                      <p:to>
                                        <p:strVal val="visible"/>
                                      </p:to>
                                    </p:set>
                                    <p:animEffect transition="in" filter="wipe(right)">
                                      <p:cBhvr>
                                        <p:cTn id="70" dur="500"/>
                                        <p:tgtEl>
                                          <p:spTgt spid="45"/>
                                        </p:tgtEl>
                                      </p:cBhvr>
                                    </p:animEffect>
                                  </p:childTnLst>
                                </p:cTn>
                              </p:par>
                            </p:childTnLst>
                          </p:cTn>
                        </p:par>
                        <p:par>
                          <p:cTn id="71" fill="hold">
                            <p:stCondLst>
                              <p:cond delay="3000"/>
                            </p:stCondLst>
                            <p:childTnLst>
                              <p:par>
                                <p:cTn id="72" presetID="1" presetClass="entr" presetSubtype="0" fill="hold" grpId="0" nodeType="afterEffect">
                                  <p:stCondLst>
                                    <p:cond delay="0"/>
                                  </p:stCondLst>
                                  <p:childTnLst>
                                    <p:set>
                                      <p:cBhvr>
                                        <p:cTn id="73" dur="1" fill="hold">
                                          <p:stCondLst>
                                            <p:cond delay="0"/>
                                          </p:stCondLst>
                                        </p:cTn>
                                        <p:tgtEl>
                                          <p:spTgt spid="47"/>
                                        </p:tgtEl>
                                        <p:attrNameLst>
                                          <p:attrName>style.visibility</p:attrName>
                                        </p:attrNameLst>
                                      </p:cBhvr>
                                      <p:to>
                                        <p:strVal val="visible"/>
                                      </p:to>
                                    </p:set>
                                  </p:childTnLst>
                                </p:cTn>
                              </p:par>
                              <p:par>
                                <p:cTn id="74" presetID="42" presetClass="path" presetSubtype="0" decel="100000" fill="hold" grpId="1" nodeType="withEffect">
                                  <p:stCondLst>
                                    <p:cond delay="0"/>
                                  </p:stCondLst>
                                  <p:childTnLst>
                                    <p:animMotion origin="layout" path="M -3.54167E-6 1.85185E-6 L 0.10964 0.33796 " pathEditMode="relative" rAng="0" ptsTypes="AA">
                                      <p:cBhvr>
                                        <p:cTn id="75" dur="750" spd="-100000" fill="hold"/>
                                        <p:tgtEl>
                                          <p:spTgt spid="47"/>
                                        </p:tgtEl>
                                        <p:attrNameLst>
                                          <p:attrName>ppt_x</p:attrName>
                                          <p:attrName>ppt_y</p:attrName>
                                        </p:attrNameLst>
                                      </p:cBhvr>
                                      <p:rCtr x="5482" y="16898"/>
                                    </p:animMotion>
                                  </p:childTnLst>
                                </p:cTn>
                              </p:par>
                            </p:childTnLst>
                          </p:cTn>
                        </p:par>
                        <p:par>
                          <p:cTn id="76" fill="hold">
                            <p:stCondLst>
                              <p:cond delay="3000"/>
                            </p:stCondLst>
                            <p:childTnLst>
                              <p:par>
                                <p:cTn id="77" presetID="10" presetClass="entr" presetSubtype="0" fill="hold" grpId="0" nodeType="afterEffect">
                                  <p:stCondLst>
                                    <p:cond delay="0"/>
                                  </p:stCondLst>
                                  <p:childTnLst>
                                    <p:set>
                                      <p:cBhvr>
                                        <p:cTn id="78" dur="1" fill="hold">
                                          <p:stCondLst>
                                            <p:cond delay="0"/>
                                          </p:stCondLst>
                                        </p:cTn>
                                        <p:tgtEl>
                                          <p:spTgt spid="15"/>
                                        </p:tgtEl>
                                        <p:attrNameLst>
                                          <p:attrName>style.visibility</p:attrName>
                                        </p:attrNameLst>
                                      </p:cBhvr>
                                      <p:to>
                                        <p:strVal val="visible"/>
                                      </p:to>
                                    </p:set>
                                    <p:animEffect transition="in" filter="fade">
                                      <p:cBhvr>
                                        <p:cTn id="79" dur="250"/>
                                        <p:tgtEl>
                                          <p:spTgt spid="15"/>
                                        </p:tgtEl>
                                      </p:cBhvr>
                                    </p:animEffect>
                                  </p:childTnLst>
                                </p:cTn>
                              </p:par>
                              <p:par>
                                <p:cTn id="80" presetID="63" presetClass="path" presetSubtype="0" decel="100000" fill="hold" grpId="1" nodeType="withEffect">
                                  <p:stCondLst>
                                    <p:cond delay="0"/>
                                  </p:stCondLst>
                                  <p:childTnLst>
                                    <p:animMotion origin="layout" path="M 0 0 L 0.25 0 E" pathEditMode="relative" ptsTypes="">
                                      <p:cBhvr>
                                        <p:cTn id="81" dur="750" spd="-100000" fill="hold"/>
                                        <p:tgtEl>
                                          <p:spTgt spid="15"/>
                                        </p:tgtEl>
                                        <p:attrNameLst>
                                          <p:attrName>ppt_x</p:attrName>
                                          <p:attrName>ppt_y</p:attrName>
                                        </p:attrNameLst>
                                      </p:cBhvr>
                                    </p:animMotion>
                                  </p:childTnLst>
                                </p:cTn>
                              </p:par>
                              <p:par>
                                <p:cTn id="82" presetID="22" presetClass="entr" presetSubtype="2" fill="hold" grpId="0" nodeType="withEffect">
                                  <p:stCondLst>
                                    <p:cond delay="0"/>
                                  </p:stCondLst>
                                  <p:childTnLst>
                                    <p:set>
                                      <p:cBhvr>
                                        <p:cTn id="83" dur="1" fill="hold">
                                          <p:stCondLst>
                                            <p:cond delay="0"/>
                                          </p:stCondLst>
                                        </p:cTn>
                                        <p:tgtEl>
                                          <p:spTgt spid="49"/>
                                        </p:tgtEl>
                                        <p:attrNameLst>
                                          <p:attrName>style.visibility</p:attrName>
                                        </p:attrNameLst>
                                      </p:cBhvr>
                                      <p:to>
                                        <p:strVal val="visible"/>
                                      </p:to>
                                    </p:set>
                                    <p:animEffect transition="in" filter="wipe(right)">
                                      <p:cBhvr>
                                        <p:cTn id="84" dur="500"/>
                                        <p:tgtEl>
                                          <p:spTgt spid="49"/>
                                        </p:tgtEl>
                                      </p:cBhvr>
                                    </p:animEffect>
                                  </p:childTnLst>
                                </p:cTn>
                              </p:par>
                            </p:childTnLst>
                          </p:cTn>
                        </p:par>
                        <p:par>
                          <p:cTn id="85" fill="hold">
                            <p:stCondLst>
                              <p:cond delay="3500"/>
                            </p:stCondLst>
                            <p:childTnLst>
                              <p:par>
                                <p:cTn id="86" presetID="1" presetClass="entr" presetSubtype="0" fill="hold" grpId="0" nodeType="afterEffect">
                                  <p:stCondLst>
                                    <p:cond delay="0"/>
                                  </p:stCondLst>
                                  <p:childTnLst>
                                    <p:set>
                                      <p:cBhvr>
                                        <p:cTn id="87" dur="1" fill="hold">
                                          <p:stCondLst>
                                            <p:cond delay="0"/>
                                          </p:stCondLst>
                                        </p:cTn>
                                        <p:tgtEl>
                                          <p:spTgt spid="2"/>
                                        </p:tgtEl>
                                        <p:attrNameLst>
                                          <p:attrName>style.visibility</p:attrName>
                                        </p:attrNameLst>
                                      </p:cBhvr>
                                      <p:to>
                                        <p:strVal val="visible"/>
                                      </p:to>
                                    </p:set>
                                  </p:childTnLst>
                                </p:cTn>
                              </p:par>
                              <p:par>
                                <p:cTn id="88" presetID="42" presetClass="path" presetSubtype="0" decel="100000" fill="hold" grpId="1" nodeType="withEffect">
                                  <p:stCondLst>
                                    <p:cond delay="0"/>
                                  </p:stCondLst>
                                  <p:childTnLst>
                                    <p:animMotion origin="layout" path="M 3.33333E-6 2.59259E-6 L 0.06367 0.19653 " pathEditMode="relative" rAng="0" ptsTypes="AA">
                                      <p:cBhvr>
                                        <p:cTn id="89" dur="750" spd="-100000" fill="hold"/>
                                        <p:tgtEl>
                                          <p:spTgt spid="2"/>
                                        </p:tgtEl>
                                        <p:attrNameLst>
                                          <p:attrName>ppt_x</p:attrName>
                                          <p:attrName>ppt_y</p:attrName>
                                        </p:attrNameLst>
                                      </p:cBhvr>
                                      <p:rCtr x="3177" y="9815"/>
                                    </p:animMotion>
                                  </p:childTnLst>
                                </p:cTn>
                              </p:par>
                            </p:childTnLst>
                          </p:cTn>
                        </p:par>
                        <p:par>
                          <p:cTn id="90" fill="hold">
                            <p:stCondLst>
                              <p:cond delay="3500"/>
                            </p:stCondLst>
                            <p:childTnLst>
                              <p:par>
                                <p:cTn id="91" presetID="10" presetClass="entr" presetSubtype="0" fill="hold" grpId="0" nodeType="afterEffect">
                                  <p:stCondLst>
                                    <p:cond delay="0"/>
                                  </p:stCondLst>
                                  <p:childTnLst>
                                    <p:set>
                                      <p:cBhvr>
                                        <p:cTn id="92" dur="1" fill="hold">
                                          <p:stCondLst>
                                            <p:cond delay="0"/>
                                          </p:stCondLst>
                                        </p:cTn>
                                        <p:tgtEl>
                                          <p:spTgt spid="53"/>
                                        </p:tgtEl>
                                        <p:attrNameLst>
                                          <p:attrName>style.visibility</p:attrName>
                                        </p:attrNameLst>
                                      </p:cBhvr>
                                      <p:to>
                                        <p:strVal val="visible"/>
                                      </p:to>
                                    </p:set>
                                    <p:animEffect transition="in" filter="fade">
                                      <p:cBhvr>
                                        <p:cTn id="93" dur="250"/>
                                        <p:tgtEl>
                                          <p:spTgt spid="53"/>
                                        </p:tgtEl>
                                      </p:cBhvr>
                                    </p:animEffect>
                                  </p:childTnLst>
                                </p:cTn>
                              </p:par>
                              <p:par>
                                <p:cTn id="94" presetID="63" presetClass="path" presetSubtype="0" decel="100000" fill="hold" grpId="1" nodeType="withEffect">
                                  <p:stCondLst>
                                    <p:cond delay="0"/>
                                  </p:stCondLst>
                                  <p:childTnLst>
                                    <p:animMotion origin="layout" path="M 0 0 L 0.25 0 E" pathEditMode="relative" ptsTypes="">
                                      <p:cBhvr>
                                        <p:cTn id="95" dur="750" spd="-100000" fill="hold"/>
                                        <p:tgtEl>
                                          <p:spTgt spid="53"/>
                                        </p:tgtEl>
                                        <p:attrNameLst>
                                          <p:attrName>ppt_x</p:attrName>
                                          <p:attrName>ppt_y</p:attrName>
                                        </p:attrNameLst>
                                      </p:cBhvr>
                                    </p:animMotion>
                                  </p:childTnLst>
                                </p:cTn>
                              </p:par>
                              <p:par>
                                <p:cTn id="96" presetID="22" presetClass="entr" presetSubtype="2" fill="hold" grpId="0" nodeType="withEffect">
                                  <p:stCondLst>
                                    <p:cond delay="0"/>
                                  </p:stCondLst>
                                  <p:childTnLst>
                                    <p:set>
                                      <p:cBhvr>
                                        <p:cTn id="97" dur="1" fill="hold">
                                          <p:stCondLst>
                                            <p:cond delay="0"/>
                                          </p:stCondLst>
                                        </p:cTn>
                                        <p:tgtEl>
                                          <p:spTgt spid="4"/>
                                        </p:tgtEl>
                                        <p:attrNameLst>
                                          <p:attrName>style.visibility</p:attrName>
                                        </p:attrNameLst>
                                      </p:cBhvr>
                                      <p:to>
                                        <p:strVal val="visible"/>
                                      </p:to>
                                    </p:set>
                                    <p:animEffect transition="in" filter="wipe(right)">
                                      <p:cBhvr>
                                        <p:cTn id="9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bldLvl="0" animBg="1"/>
      <p:bldP spid="47" grpId="1" bldLvl="0" animBg="1"/>
      <p:bldP spid="39" grpId="0" bldLvl="0" animBg="1"/>
      <p:bldP spid="39" grpId="1" bldLvl="0" animBg="1"/>
      <p:bldP spid="13" grpId="0" bldLvl="0" animBg="1"/>
      <p:bldP spid="13" grpId="1" bldLvl="0" animBg="1"/>
      <p:bldP spid="41" grpId="0"/>
      <p:bldP spid="43" grpId="0" bldLvl="0" animBg="1"/>
      <p:bldP spid="43" grpId="1" bldLvl="0" animBg="1"/>
      <p:bldP spid="14" grpId="0" bldLvl="0" animBg="1"/>
      <p:bldP spid="14" grpId="1" bldLvl="0" animBg="1"/>
      <p:bldP spid="45" grpId="0"/>
      <p:bldP spid="15" grpId="0" bldLvl="0" animBg="1"/>
      <p:bldP spid="15" grpId="1" bldLvl="0" animBg="1"/>
      <p:bldP spid="49" grpId="0"/>
      <p:bldP spid="17" grpId="0" bldLvl="0" animBg="1"/>
      <p:bldP spid="19" grpId="0"/>
      <p:bldP spid="2" grpId="0" bldLvl="0" animBg="1"/>
      <p:bldP spid="2" grpId="1" bldLvl="0" animBg="1"/>
      <p:bldP spid="53" grpId="0" bldLvl="0" animBg="1"/>
      <p:bldP spid="53" grpId="1" bldLvl="0" animBg="1"/>
      <p:bldP spid="4" grpId="0"/>
      <p:bldP spid="11" grpId="0" bldLvl="0" animBg="1"/>
      <p:bldP spid="11" grpId="1" bldLvl="0" animBg="1"/>
      <p:bldP spid="16" grpId="0" bldLvl="0" animBg="1"/>
      <p:bldP spid="16" grpId="1" bldLvl="0" animBg="1"/>
      <p:bldP spid="18" grpId="0"/>
      <p:bldP spid="35" grpId="0" bldLvl="0" animBg="1"/>
      <p:bldP spid="35" grpId="1" bldLvl="0" animBg="1"/>
      <p:bldP spid="12" grpId="0" bldLvl="0" animBg="1"/>
      <p:bldP spid="12" grpId="1" bldLvl="0" animBg="1"/>
      <p:bldP spid="3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56"/>
          <p:cNvPicPr>
            <a:picLocks noChangeAspect="1"/>
          </p:cNvPicPr>
          <p:nvPr/>
        </p:nvPicPr>
        <p:blipFill>
          <a:blip r:embed="rId2"/>
          <a:stretch>
            <a:fillRect/>
          </a:stretch>
        </p:blipFill>
        <p:spPr>
          <a:xfrm rot="21600000">
            <a:off x="275" y="-216"/>
            <a:ext cx="12192000" cy="6857998"/>
          </a:xfrm>
          <a:prstGeom prst="rect">
            <a:avLst/>
          </a:prstGeom>
        </p:spPr>
      </p:pic>
      <p:sp>
        <p:nvSpPr>
          <p:cNvPr id="62" name="textbox 62"/>
          <p:cNvSpPr/>
          <p:nvPr/>
        </p:nvSpPr>
        <p:spPr>
          <a:xfrm>
            <a:off x="6926443" y="1466538"/>
            <a:ext cx="3498811" cy="465455"/>
          </a:xfrm>
          <a:prstGeom prst="rect">
            <a:avLst/>
          </a:prstGeom>
          <a:noFill/>
          <a:ln w="0" cap="flat">
            <a:noFill/>
            <a:prstDash val="solid"/>
            <a:miter lim="0"/>
          </a:ln>
        </p:spPr>
        <p:txBody>
          <a:bodyPr vert="horz" wrap="square" lIns="0" tIns="0" rIns="0" bIns="0"/>
          <a:lstStyle/>
          <a:p>
            <a:pPr algn="l" rtl="0" eaLnBrk="0">
              <a:lnSpc>
                <a:spcPct val="69000"/>
              </a:lnSpc>
            </a:pPr>
            <a:endParaRPr sz="100" dirty="0">
              <a:latin typeface="Arial" panose="020B0604020202020204"/>
              <a:ea typeface="Arial" panose="020B0604020202020204"/>
              <a:cs typeface="Arial" panose="020B0604020202020204"/>
            </a:endParaRPr>
          </a:p>
        </p:txBody>
      </p:sp>
      <p:pic>
        <p:nvPicPr>
          <p:cNvPr id="66" name="picture 66"/>
          <p:cNvPicPr>
            <a:picLocks noChangeAspect="1"/>
          </p:cNvPicPr>
          <p:nvPr/>
        </p:nvPicPr>
        <p:blipFill>
          <a:blip r:embed="rId3"/>
          <a:stretch>
            <a:fillRect/>
          </a:stretch>
        </p:blipFill>
        <p:spPr>
          <a:xfrm rot="21600000">
            <a:off x="0" y="6576693"/>
            <a:ext cx="12192000" cy="271779"/>
          </a:xfrm>
          <a:prstGeom prst="rect">
            <a:avLst/>
          </a:prstGeom>
        </p:spPr>
      </p:pic>
      <p:sp>
        <p:nvSpPr>
          <p:cNvPr id="70" name="textbox 70"/>
          <p:cNvSpPr/>
          <p:nvPr/>
        </p:nvSpPr>
        <p:spPr>
          <a:xfrm>
            <a:off x="3606165" y="3364230"/>
            <a:ext cx="5231130" cy="507365"/>
          </a:xfrm>
          <a:prstGeom prst="rect">
            <a:avLst/>
          </a:prstGeom>
          <a:noFill/>
          <a:ln w="0" cap="flat">
            <a:noFill/>
            <a:prstDash val="solid"/>
            <a:miter lim="0"/>
          </a:ln>
        </p:spPr>
        <p:txBody>
          <a:bodyPr vert="horz" wrap="square" lIns="0" tIns="0" rIns="0" bIns="0"/>
          <a:lstStyle/>
          <a:p>
            <a:pPr algn="l" rtl="0" eaLnBrk="0">
              <a:lnSpc>
                <a:spcPct val="93000"/>
              </a:lnSpc>
            </a:pPr>
            <a:endParaRPr sz="100" dirty="0">
              <a:latin typeface="Arial" panose="020B0604020202020204"/>
              <a:ea typeface="Arial" panose="020B0604020202020204"/>
              <a:cs typeface="Arial" panose="020B0604020202020204"/>
            </a:endParaRPr>
          </a:p>
          <a:p>
            <a:pPr algn="ctr" rtl="0" eaLnBrk="0">
              <a:lnSpc>
                <a:spcPct val="87000"/>
              </a:lnSpc>
            </a:pPr>
            <a:r>
              <a:rPr lang="en-US" altLang="zh-CN" sz="4400" b="1" dirty="0">
                <a:solidFill>
                  <a:schemeClr val="accent1">
                    <a:lumMod val="5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01/</a:t>
            </a:r>
            <a:r>
              <a:rPr lang="zh-CN" altLang="en-US" sz="4400" b="1" dirty="0">
                <a:solidFill>
                  <a:schemeClr val="accent1">
                    <a:lumMod val="5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公司及团队介绍</a:t>
            </a:r>
            <a:endParaRPr lang="zh-CN" altLang="en-US" sz="4400" kern="0" spc="60" dirty="0">
              <a:solidFill>
                <a:schemeClr val="accent1">
                  <a:lumMod val="75000"/>
                  <a:alpha val="100000"/>
                </a:schemeClr>
              </a:solidFill>
              <a:latin typeface="微软雅黑" panose="020B0503020204020204" charset="-122"/>
              <a:ea typeface="微软雅黑" panose="020B0503020204020204" charset="-122"/>
              <a:cs typeface="微软雅黑" panose="020B0503020204020204" charset="-122"/>
            </a:endParaRPr>
          </a:p>
          <a:p>
            <a:pPr algn="r" rtl="0" eaLnBrk="0">
              <a:lnSpc>
                <a:spcPct val="87000"/>
              </a:lnSpc>
            </a:pPr>
            <a:endParaRPr lang="zh-CN" altLang="en-US" sz="4400" kern="0" spc="60" dirty="0">
              <a:solidFill>
                <a:schemeClr val="accent1">
                  <a:lumMod val="75000"/>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74" name="path 74"/>
          <p:cNvSpPr/>
          <p:nvPr/>
        </p:nvSpPr>
        <p:spPr>
          <a:xfrm>
            <a:off x="348614" y="354965"/>
            <a:ext cx="540385" cy="137794"/>
          </a:xfrm>
          <a:custGeom>
            <a:avLst/>
            <a:gdLst/>
            <a:ahLst/>
            <a:cxnLst/>
            <a:rect l="0" t="0" r="0" b="0"/>
            <a:pathLst>
              <a:path w="851" h="216">
                <a:moveTo>
                  <a:pt x="0" y="216"/>
                </a:moveTo>
                <a:lnTo>
                  <a:pt x="217" y="216"/>
                </a:lnTo>
                <a:lnTo>
                  <a:pt x="217" y="0"/>
                </a:lnTo>
                <a:lnTo>
                  <a:pt x="0" y="0"/>
                </a:lnTo>
                <a:lnTo>
                  <a:pt x="0" y="216"/>
                </a:lnTo>
                <a:close/>
              </a:path>
              <a:path w="851" h="216">
                <a:moveTo>
                  <a:pt x="317" y="216"/>
                </a:moveTo>
                <a:lnTo>
                  <a:pt x="534" y="216"/>
                </a:lnTo>
                <a:lnTo>
                  <a:pt x="534" y="0"/>
                </a:lnTo>
                <a:lnTo>
                  <a:pt x="317" y="0"/>
                </a:lnTo>
                <a:lnTo>
                  <a:pt x="317" y="216"/>
                </a:lnTo>
                <a:close/>
              </a:path>
              <a:path w="851" h="216">
                <a:moveTo>
                  <a:pt x="633" y="216"/>
                </a:moveTo>
                <a:lnTo>
                  <a:pt x="851" y="216"/>
                </a:lnTo>
                <a:lnTo>
                  <a:pt x="851" y="0"/>
                </a:lnTo>
                <a:lnTo>
                  <a:pt x="633" y="0"/>
                </a:lnTo>
                <a:lnTo>
                  <a:pt x="633"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0" name="textbox 80"/>
          <p:cNvSpPr/>
          <p:nvPr/>
        </p:nvSpPr>
        <p:spPr>
          <a:xfrm>
            <a:off x="335914" y="515264"/>
            <a:ext cx="962025" cy="41465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351790" algn="l" rtl="0" eaLnBrk="0">
              <a:lnSpc>
                <a:spcPct val="97000"/>
              </a:lnSpc>
              <a:tabLst>
                <a:tab pos="600710" algn="l"/>
              </a:tabLst>
            </a:pPr>
            <a:r>
              <a:rPr sz="24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	</a:t>
            </a:r>
            <a:r>
              <a:rPr sz="2400" b="1" kern="0" spc="-120" dirty="0">
                <a:solidFill>
                  <a:srgbClr val="FFFFFF">
                    <a:alpha val="100000"/>
                  </a:srgbClr>
                </a:solidFill>
                <a:latin typeface="微软雅黑" panose="020B0503020204020204" charset="-122"/>
                <a:ea typeface="微软雅黑" panose="020B0503020204020204" charset="-122"/>
                <a:cs typeface="微软雅黑" panose="020B0503020204020204" charset="-122"/>
              </a:rPr>
              <a:t>01</a:t>
            </a:r>
            <a:endParaRPr sz="2400" dirty="0">
              <a:latin typeface="微软雅黑" panose="020B0503020204020204" charset="-122"/>
              <a:ea typeface="微软雅黑" panose="020B0503020204020204" charset="-122"/>
              <a:cs typeface="微软雅黑" panose="020B0503020204020204" charset="-122"/>
            </a:endParaRPr>
          </a:p>
        </p:txBody>
      </p:sp>
      <p:sp>
        <p:nvSpPr>
          <p:cNvPr id="82" name="path 82"/>
          <p:cNvSpPr/>
          <p:nvPr/>
        </p:nvSpPr>
        <p:spPr>
          <a:xfrm>
            <a:off x="348614" y="567054"/>
            <a:ext cx="339090" cy="349885"/>
          </a:xfrm>
          <a:custGeom>
            <a:avLst/>
            <a:gdLst/>
            <a:ahLst/>
            <a:cxnLst/>
            <a:rect l="0" t="0" r="0" b="0"/>
            <a:pathLst>
              <a:path w="534" h="551">
                <a:moveTo>
                  <a:pt x="0" y="217"/>
                </a:moveTo>
                <a:lnTo>
                  <a:pt x="217" y="217"/>
                </a:lnTo>
                <a:lnTo>
                  <a:pt x="217" y="0"/>
                </a:lnTo>
                <a:lnTo>
                  <a:pt x="0" y="0"/>
                </a:lnTo>
                <a:lnTo>
                  <a:pt x="0" y="217"/>
                </a:lnTo>
                <a:close/>
              </a:path>
              <a:path w="534" h="551">
                <a:moveTo>
                  <a:pt x="317" y="217"/>
                </a:moveTo>
                <a:lnTo>
                  <a:pt x="534" y="217"/>
                </a:lnTo>
                <a:lnTo>
                  <a:pt x="534" y="0"/>
                </a:lnTo>
                <a:lnTo>
                  <a:pt x="317" y="0"/>
                </a:lnTo>
                <a:lnTo>
                  <a:pt x="317" y="217"/>
                </a:lnTo>
                <a:close/>
              </a:path>
              <a:path w="534" h="551">
                <a:moveTo>
                  <a:pt x="0" y="551"/>
                </a:moveTo>
                <a:lnTo>
                  <a:pt x="217" y="551"/>
                </a:lnTo>
                <a:lnTo>
                  <a:pt x="217" y="334"/>
                </a:lnTo>
                <a:lnTo>
                  <a:pt x="0" y="334"/>
                </a:lnTo>
                <a:lnTo>
                  <a:pt x="0" y="551"/>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4" name="path 84"/>
          <p:cNvSpPr/>
          <p:nvPr/>
        </p:nvSpPr>
        <p:spPr>
          <a:xfrm>
            <a:off x="348614" y="142875"/>
            <a:ext cx="741680" cy="137794"/>
          </a:xfrm>
          <a:custGeom>
            <a:avLst/>
            <a:gdLst/>
            <a:ahLst/>
            <a:cxnLst/>
            <a:rect l="0" t="0" r="0" b="0"/>
            <a:pathLst>
              <a:path w="1168" h="216">
                <a:moveTo>
                  <a:pt x="0" y="216"/>
                </a:moveTo>
                <a:lnTo>
                  <a:pt x="217" y="216"/>
                </a:lnTo>
                <a:lnTo>
                  <a:pt x="217" y="0"/>
                </a:lnTo>
                <a:lnTo>
                  <a:pt x="0" y="0"/>
                </a:lnTo>
                <a:lnTo>
                  <a:pt x="0" y="216"/>
                </a:lnTo>
                <a:close/>
              </a:path>
              <a:path w="1168" h="216">
                <a:moveTo>
                  <a:pt x="317" y="216"/>
                </a:moveTo>
                <a:lnTo>
                  <a:pt x="534" y="216"/>
                </a:lnTo>
                <a:lnTo>
                  <a:pt x="534" y="0"/>
                </a:lnTo>
                <a:lnTo>
                  <a:pt x="317" y="0"/>
                </a:lnTo>
                <a:lnTo>
                  <a:pt x="317" y="216"/>
                </a:lnTo>
                <a:close/>
              </a:path>
              <a:path w="1168" h="216">
                <a:moveTo>
                  <a:pt x="633" y="216"/>
                </a:moveTo>
                <a:lnTo>
                  <a:pt x="851" y="216"/>
                </a:lnTo>
                <a:lnTo>
                  <a:pt x="851" y="0"/>
                </a:lnTo>
                <a:lnTo>
                  <a:pt x="633" y="0"/>
                </a:lnTo>
                <a:lnTo>
                  <a:pt x="633" y="216"/>
                </a:lnTo>
                <a:close/>
              </a:path>
              <a:path w="1168" h="216">
                <a:moveTo>
                  <a:pt x="951" y="216"/>
                </a:moveTo>
                <a:lnTo>
                  <a:pt x="1168" y="216"/>
                </a:lnTo>
                <a:lnTo>
                  <a:pt x="1168" y="0"/>
                </a:lnTo>
                <a:lnTo>
                  <a:pt x="951" y="0"/>
                </a:lnTo>
                <a:lnTo>
                  <a:pt x="951"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8" name="rect 88"/>
          <p:cNvSpPr/>
          <p:nvPr/>
        </p:nvSpPr>
        <p:spPr>
          <a:xfrm>
            <a:off x="147320" y="56705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0" name="rect 90"/>
          <p:cNvSpPr/>
          <p:nvPr/>
        </p:nvSpPr>
        <p:spPr>
          <a:xfrm>
            <a:off x="147320" y="779145"/>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2" name="rect 92"/>
          <p:cNvSpPr/>
          <p:nvPr/>
        </p:nvSpPr>
        <p:spPr>
          <a:xfrm>
            <a:off x="147320" y="99123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4" name="rect 94"/>
          <p:cNvSpPr/>
          <p:nvPr/>
        </p:nvSpPr>
        <p:spPr>
          <a:xfrm>
            <a:off x="147320" y="14287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6" name="rect 96"/>
          <p:cNvSpPr/>
          <p:nvPr/>
        </p:nvSpPr>
        <p:spPr>
          <a:xfrm>
            <a:off x="147320" y="35496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pic>
        <p:nvPicPr>
          <p:cNvPr id="2" name="图片 1"/>
          <p:cNvPicPr>
            <a:picLocks noChangeAspect="1"/>
          </p:cNvPicPr>
          <p:nvPr/>
        </p:nvPicPr>
        <p:blipFill>
          <a:blip r:embed="rId4"/>
          <a:stretch>
            <a:fillRect/>
          </a:stretch>
        </p:blipFill>
        <p:spPr>
          <a:xfrm>
            <a:off x="10428563" y="68429"/>
            <a:ext cx="1354271" cy="781170"/>
          </a:xfrm>
          <a:prstGeom prst="rect">
            <a:avLst/>
          </a:prstGeom>
        </p:spPr>
      </p:pic>
      <p:sp>
        <p:nvSpPr>
          <p:cNvPr id="7" name="矩形 6"/>
          <p:cNvSpPr/>
          <p:nvPr/>
        </p:nvSpPr>
        <p:spPr>
          <a:xfrm>
            <a:off x="975989" y="2921466"/>
            <a:ext cx="65753" cy="46166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397510" y="3411220"/>
            <a:ext cx="1257300" cy="460375"/>
          </a:xfrm>
          <a:prstGeom prst="rect">
            <a:avLst/>
          </a:prstGeom>
          <a:noFill/>
        </p:spPr>
        <p:txBody>
          <a:bodyPr wrap="square">
            <a:spAutoFit/>
          </a:bodyPr>
          <a:lstStyle/>
          <a:p>
            <a:pPr algn="ctr"/>
            <a:r>
              <a:rPr lang="en-US" sz="1200" b="1">
                <a:solidFill>
                  <a:srgbClr val="FFFFFF"/>
                </a:solidFill>
                <a:latin typeface="Arial" panose="020B0604020202020204"/>
                <a:ea typeface="Arial" panose="020B0604020202020204"/>
                <a:cs typeface="Arial" panose="020B0604020202020204"/>
                <a:sym typeface="Arial" panose="020B0604020202020204"/>
              </a:rPr>
              <a:t>Nanjing Cooling</a:t>
            </a:r>
            <a:endParaRPr lang="en-US" altLang="zh-CN" sz="1200" b="1" dirty="0">
              <a:solidFill>
                <a:schemeClr val="bg1"/>
              </a:solidFill>
              <a:latin typeface="微软雅黑" panose="020B0503020204020204" charset="-122"/>
              <a:ea typeface="微软雅黑" panose="020B0503020204020204" charset="-122"/>
              <a:sym typeface="+mn-ea"/>
            </a:endParaRPr>
          </a:p>
        </p:txBody>
      </p:sp>
      <p:sp>
        <p:nvSpPr>
          <p:cNvPr id="14" name="文本框 13"/>
          <p:cNvSpPr txBox="1"/>
          <p:nvPr/>
        </p:nvSpPr>
        <p:spPr>
          <a:xfrm>
            <a:off x="252688" y="4022898"/>
            <a:ext cx="1576567" cy="645160"/>
          </a:xfrm>
          <a:prstGeom prst="rect">
            <a:avLst/>
          </a:prstGeom>
          <a:noFill/>
        </p:spPr>
        <p:txBody>
          <a:bodyPr wrap="square" rtlCol="0">
            <a:spAutoFit/>
          </a:bodyPr>
          <a:lstStyle/>
          <a:p>
            <a:pPr algn="ctr">
              <a:lnSpc>
                <a:spcPct val="150000"/>
              </a:lnSpc>
            </a:pPr>
            <a:r>
              <a:rPr lang="zh-CN" altLang="en-US" sz="1200" b="1" dirty="0">
                <a:solidFill>
                  <a:schemeClr val="accent1">
                    <a:lumMod val="75000"/>
                  </a:schemeClr>
                </a:solidFill>
                <a:latin typeface="微软雅黑" panose="020B0503020204020204" charset="-122"/>
                <a:ea typeface="微软雅黑" panose="020B0503020204020204" charset="-122"/>
              </a:rPr>
              <a:t>酷灵热管理</a:t>
            </a:r>
            <a:endParaRPr lang="en-US" altLang="zh-CN" sz="1200" b="1" dirty="0">
              <a:solidFill>
                <a:schemeClr val="accent1">
                  <a:lumMod val="75000"/>
                </a:schemeClr>
              </a:solidFill>
              <a:latin typeface="微软雅黑" panose="020B0503020204020204" charset="-122"/>
              <a:ea typeface="微软雅黑" panose="020B0503020204020204" charset="-122"/>
            </a:endParaRPr>
          </a:p>
          <a:p>
            <a:pPr algn="ctr">
              <a:lnSpc>
                <a:spcPct val="150000"/>
              </a:lnSpc>
            </a:pPr>
            <a:r>
              <a:rPr lang="zh-CN" altLang="en-US" sz="1200" b="1" dirty="0">
                <a:solidFill>
                  <a:schemeClr val="accent1">
                    <a:lumMod val="75000"/>
                  </a:schemeClr>
                </a:solidFill>
                <a:latin typeface="微软雅黑" panose="020B0503020204020204" charset="-122"/>
                <a:ea typeface="微软雅黑" panose="020B0503020204020204" charset="-122"/>
              </a:rPr>
              <a:t>为机器人持久赋能</a:t>
            </a:r>
          </a:p>
        </p:txBody>
      </p:sp>
      <p:sp>
        <p:nvSpPr>
          <p:cNvPr id="15" name="文本框 14"/>
          <p:cNvSpPr txBox="1"/>
          <p:nvPr/>
        </p:nvSpPr>
        <p:spPr>
          <a:xfrm>
            <a:off x="327025" y="4843780"/>
            <a:ext cx="1502410" cy="614045"/>
          </a:xfrm>
          <a:prstGeom prst="rect">
            <a:avLst/>
          </a:prstGeom>
          <a:noFill/>
        </p:spPr>
        <p:txBody>
          <a:bodyPr wrap="square">
            <a:spAutoFit/>
          </a:bodyPr>
          <a:lstStyle/>
          <a:p>
            <a:pPr algn="ctr"/>
            <a:endParaRPr lang="zh-CN" altLang="en-US" sz="2000" b="1" dirty="0">
              <a:solidFill>
                <a:schemeClr val="bg1"/>
              </a:solidFill>
              <a:latin typeface="华文楷体" panose="02010600040101010101" pitchFamily="2" charset="-122"/>
              <a:ea typeface="华文楷体" panose="02010600040101010101" pitchFamily="2" charset="-122"/>
            </a:endParaRPr>
          </a:p>
          <a:p>
            <a:pPr algn="ctr"/>
            <a:r>
              <a:rPr lang="zh-CN" altLang="en-US" sz="1400" b="1" dirty="0">
                <a:solidFill>
                  <a:schemeClr val="bg1"/>
                </a:solidFill>
                <a:latin typeface="华文楷体" panose="02010600040101010101" pitchFamily="2" charset="-122"/>
                <a:ea typeface="华文楷体" panose="02010600040101010101" pitchFamily="2" charset="-122"/>
              </a:rPr>
              <a:t>公司及团队介绍</a:t>
            </a:r>
          </a:p>
        </p:txBody>
      </p:sp>
      <p:sp>
        <p:nvSpPr>
          <p:cNvPr id="17" name="矩形 16"/>
          <p:cNvSpPr/>
          <p:nvPr/>
        </p:nvSpPr>
        <p:spPr>
          <a:xfrm>
            <a:off x="975937" y="5458089"/>
            <a:ext cx="65753" cy="46166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path 72"/>
          <p:cNvSpPr/>
          <p:nvPr/>
        </p:nvSpPr>
        <p:spPr>
          <a:xfrm>
            <a:off x="11398249" y="6043294"/>
            <a:ext cx="741679" cy="774064"/>
          </a:xfrm>
          <a:custGeom>
            <a:avLst/>
            <a:gdLst/>
            <a:ahLst/>
            <a:cxnLst/>
            <a:rect l="0" t="0" r="0" b="0"/>
            <a:pathLst>
              <a:path w="1167" h="1218">
                <a:moveTo>
                  <a:pt x="950" y="1218"/>
                </a:moveTo>
                <a:lnTo>
                  <a:pt x="1167" y="1218"/>
                </a:lnTo>
                <a:lnTo>
                  <a:pt x="1167" y="1001"/>
                </a:lnTo>
                <a:lnTo>
                  <a:pt x="950" y="1001"/>
                </a:lnTo>
                <a:lnTo>
                  <a:pt x="950" y="1218"/>
                </a:lnTo>
                <a:close/>
              </a:path>
              <a:path w="1167" h="1218">
                <a:moveTo>
                  <a:pt x="634" y="1218"/>
                </a:moveTo>
                <a:lnTo>
                  <a:pt x="850" y="1218"/>
                </a:lnTo>
                <a:lnTo>
                  <a:pt x="850" y="1001"/>
                </a:lnTo>
                <a:lnTo>
                  <a:pt x="634" y="1001"/>
                </a:lnTo>
                <a:lnTo>
                  <a:pt x="634" y="1218"/>
                </a:lnTo>
                <a:close/>
              </a:path>
              <a:path w="1167" h="1218">
                <a:moveTo>
                  <a:pt x="317" y="1218"/>
                </a:moveTo>
                <a:lnTo>
                  <a:pt x="534" y="1218"/>
                </a:lnTo>
                <a:lnTo>
                  <a:pt x="534" y="1001"/>
                </a:lnTo>
                <a:lnTo>
                  <a:pt x="317" y="1001"/>
                </a:lnTo>
                <a:lnTo>
                  <a:pt x="317" y="1218"/>
                </a:lnTo>
                <a:close/>
              </a:path>
              <a:path w="1167" h="1218">
                <a:moveTo>
                  <a:pt x="0" y="1218"/>
                </a:moveTo>
                <a:lnTo>
                  <a:pt x="216" y="1218"/>
                </a:lnTo>
                <a:lnTo>
                  <a:pt x="216" y="1001"/>
                </a:lnTo>
                <a:lnTo>
                  <a:pt x="0" y="1001"/>
                </a:lnTo>
                <a:lnTo>
                  <a:pt x="0" y="1218"/>
                </a:lnTo>
                <a:close/>
              </a:path>
              <a:path w="1167" h="1218">
                <a:moveTo>
                  <a:pt x="950" y="884"/>
                </a:moveTo>
                <a:lnTo>
                  <a:pt x="1167" y="884"/>
                </a:lnTo>
                <a:lnTo>
                  <a:pt x="1167" y="667"/>
                </a:lnTo>
                <a:lnTo>
                  <a:pt x="950" y="667"/>
                </a:lnTo>
                <a:lnTo>
                  <a:pt x="950" y="884"/>
                </a:lnTo>
                <a:close/>
              </a:path>
              <a:path w="1167" h="1218">
                <a:moveTo>
                  <a:pt x="634" y="884"/>
                </a:moveTo>
                <a:lnTo>
                  <a:pt x="850" y="884"/>
                </a:lnTo>
                <a:lnTo>
                  <a:pt x="850" y="667"/>
                </a:lnTo>
                <a:lnTo>
                  <a:pt x="634" y="667"/>
                </a:lnTo>
                <a:lnTo>
                  <a:pt x="634" y="884"/>
                </a:lnTo>
                <a:close/>
              </a:path>
              <a:path w="1167" h="1218">
                <a:moveTo>
                  <a:pt x="317" y="884"/>
                </a:moveTo>
                <a:lnTo>
                  <a:pt x="534" y="884"/>
                </a:lnTo>
                <a:lnTo>
                  <a:pt x="534" y="667"/>
                </a:lnTo>
                <a:lnTo>
                  <a:pt x="317" y="667"/>
                </a:lnTo>
                <a:lnTo>
                  <a:pt x="317" y="884"/>
                </a:lnTo>
                <a:close/>
              </a:path>
              <a:path w="1167" h="1218">
                <a:moveTo>
                  <a:pt x="950" y="550"/>
                </a:moveTo>
                <a:lnTo>
                  <a:pt x="1167" y="550"/>
                </a:lnTo>
                <a:lnTo>
                  <a:pt x="1167" y="333"/>
                </a:lnTo>
                <a:lnTo>
                  <a:pt x="950" y="333"/>
                </a:lnTo>
                <a:lnTo>
                  <a:pt x="950" y="550"/>
                </a:lnTo>
                <a:close/>
              </a:path>
              <a:path w="1167" h="1218">
                <a:moveTo>
                  <a:pt x="634" y="550"/>
                </a:moveTo>
                <a:lnTo>
                  <a:pt x="850" y="550"/>
                </a:lnTo>
                <a:lnTo>
                  <a:pt x="850" y="333"/>
                </a:lnTo>
                <a:lnTo>
                  <a:pt x="634" y="333"/>
                </a:lnTo>
                <a:lnTo>
                  <a:pt x="634" y="550"/>
                </a:lnTo>
                <a:close/>
              </a:path>
              <a:path w="1167" h="1218">
                <a:moveTo>
                  <a:pt x="950" y="216"/>
                </a:moveTo>
                <a:lnTo>
                  <a:pt x="1167" y="216"/>
                </a:lnTo>
                <a:lnTo>
                  <a:pt x="1167" y="0"/>
                </a:lnTo>
                <a:lnTo>
                  <a:pt x="950" y="0"/>
                </a:lnTo>
                <a:lnTo>
                  <a:pt x="950"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5" name="path 86"/>
          <p:cNvSpPr/>
          <p:nvPr/>
        </p:nvSpPr>
        <p:spPr>
          <a:xfrm>
            <a:off x="688340" y="955040"/>
            <a:ext cx="10786745" cy="76200"/>
          </a:xfrm>
          <a:custGeom>
            <a:avLst/>
            <a:gdLst/>
            <a:ahLst/>
            <a:cxnLst/>
            <a:rect l="0" t="0" r="0" b="0"/>
            <a:pathLst>
              <a:path w="15485" h="10">
                <a:moveTo>
                  <a:pt x="0" y="5"/>
                </a:moveTo>
                <a:lnTo>
                  <a:pt x="15485" y="5"/>
                </a:lnTo>
              </a:path>
            </a:pathLst>
          </a:custGeom>
          <a:noFill/>
          <a:ln w="6350" cap="flat">
            <a:solidFill>
              <a:srgbClr val="D9D9D9"/>
            </a:solidFill>
            <a:prstDash val="solid"/>
            <a:miter lim="1000000"/>
          </a:ln>
        </p:spPr>
        <p:txBody>
          <a:bodyPr rtlCol="0"/>
          <a:lstStyle/>
          <a:p>
            <a:pPr algn="ct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0" y="849630"/>
            <a:ext cx="12192000" cy="6008370"/>
          </a:xfrm>
          <a:prstGeom prst="rect">
            <a:avLst/>
          </a:prstGeom>
        </p:spPr>
      </p:pic>
      <p:sp>
        <p:nvSpPr>
          <p:cNvPr id="62" name="textbox 62"/>
          <p:cNvSpPr/>
          <p:nvPr/>
        </p:nvSpPr>
        <p:spPr>
          <a:xfrm>
            <a:off x="6926443" y="1466538"/>
            <a:ext cx="3498811" cy="465455"/>
          </a:xfrm>
          <a:prstGeom prst="rect">
            <a:avLst/>
          </a:prstGeom>
          <a:noFill/>
          <a:ln w="0" cap="flat">
            <a:noFill/>
            <a:prstDash val="solid"/>
            <a:miter lim="0"/>
          </a:ln>
        </p:spPr>
        <p:txBody>
          <a:bodyPr vert="horz" wrap="square" lIns="0" tIns="0" rIns="0" bIns="0"/>
          <a:lstStyle/>
          <a:p>
            <a:pPr algn="l" rtl="0" eaLnBrk="0">
              <a:lnSpc>
                <a:spcPct val="69000"/>
              </a:lnSpc>
            </a:pPr>
            <a:endParaRPr sz="100" dirty="0">
              <a:latin typeface="Arial" panose="020B0604020202020204"/>
              <a:ea typeface="Arial" panose="020B0604020202020204"/>
              <a:cs typeface="Arial" panose="020B0604020202020204"/>
            </a:endParaRPr>
          </a:p>
        </p:txBody>
      </p:sp>
      <p:sp>
        <p:nvSpPr>
          <p:cNvPr id="70" name="textbox 70"/>
          <p:cNvSpPr/>
          <p:nvPr/>
        </p:nvSpPr>
        <p:spPr>
          <a:xfrm>
            <a:off x="3837305" y="3794760"/>
            <a:ext cx="3764280" cy="507365"/>
          </a:xfrm>
          <a:prstGeom prst="rect">
            <a:avLst/>
          </a:prstGeom>
          <a:noFill/>
          <a:ln w="0" cap="flat">
            <a:noFill/>
            <a:prstDash val="solid"/>
            <a:miter lim="0"/>
          </a:ln>
        </p:spPr>
        <p:txBody>
          <a:bodyPr vert="horz" wrap="square" lIns="0" tIns="0" rIns="0" bIns="0"/>
          <a:lstStyle/>
          <a:p>
            <a:pPr algn="l" rtl="0" eaLnBrk="0">
              <a:lnSpc>
                <a:spcPct val="93000"/>
              </a:lnSpc>
            </a:pPr>
            <a:endParaRPr sz="100" dirty="0">
              <a:latin typeface="Arial" panose="020B0604020202020204"/>
              <a:ea typeface="Arial" panose="020B0604020202020204"/>
              <a:cs typeface="Arial" panose="020B0604020202020204"/>
            </a:endParaRPr>
          </a:p>
          <a:p>
            <a:pPr algn="ctr" rtl="0" eaLnBrk="0">
              <a:lnSpc>
                <a:spcPct val="87000"/>
              </a:lnSpc>
            </a:pPr>
            <a:endParaRPr lang="zh-CN" altLang="en-US" sz="4400" kern="0" spc="60" dirty="0">
              <a:solidFill>
                <a:schemeClr val="accent1">
                  <a:lumMod val="75000"/>
                  <a:alpha val="100000"/>
                </a:schemeClr>
              </a:solidFill>
              <a:latin typeface="微软雅黑" panose="020B0503020204020204" charset="-122"/>
              <a:ea typeface="微软雅黑" panose="020B0503020204020204" charset="-122"/>
              <a:cs typeface="微软雅黑" panose="020B0503020204020204" charset="-122"/>
            </a:endParaRPr>
          </a:p>
          <a:p>
            <a:pPr algn="r" rtl="0" eaLnBrk="0">
              <a:lnSpc>
                <a:spcPct val="87000"/>
              </a:lnSpc>
            </a:pPr>
            <a:endParaRPr lang="zh-CN" altLang="en-US" sz="4400" kern="0" spc="60" dirty="0">
              <a:solidFill>
                <a:schemeClr val="accent1">
                  <a:lumMod val="75000"/>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74" name="path 74"/>
          <p:cNvSpPr/>
          <p:nvPr/>
        </p:nvSpPr>
        <p:spPr>
          <a:xfrm>
            <a:off x="348614" y="354965"/>
            <a:ext cx="540385" cy="137794"/>
          </a:xfrm>
          <a:custGeom>
            <a:avLst/>
            <a:gdLst/>
            <a:ahLst/>
            <a:cxnLst/>
            <a:rect l="0" t="0" r="0" b="0"/>
            <a:pathLst>
              <a:path w="851" h="216">
                <a:moveTo>
                  <a:pt x="0" y="216"/>
                </a:moveTo>
                <a:lnTo>
                  <a:pt x="217" y="216"/>
                </a:lnTo>
                <a:lnTo>
                  <a:pt x="217" y="0"/>
                </a:lnTo>
                <a:lnTo>
                  <a:pt x="0" y="0"/>
                </a:lnTo>
                <a:lnTo>
                  <a:pt x="0" y="216"/>
                </a:lnTo>
                <a:close/>
              </a:path>
              <a:path w="851" h="216">
                <a:moveTo>
                  <a:pt x="317" y="216"/>
                </a:moveTo>
                <a:lnTo>
                  <a:pt x="534" y="216"/>
                </a:lnTo>
                <a:lnTo>
                  <a:pt x="534" y="0"/>
                </a:lnTo>
                <a:lnTo>
                  <a:pt x="317" y="0"/>
                </a:lnTo>
                <a:lnTo>
                  <a:pt x="317" y="216"/>
                </a:lnTo>
                <a:close/>
              </a:path>
              <a:path w="851" h="216">
                <a:moveTo>
                  <a:pt x="633" y="216"/>
                </a:moveTo>
                <a:lnTo>
                  <a:pt x="851" y="216"/>
                </a:lnTo>
                <a:lnTo>
                  <a:pt x="851" y="0"/>
                </a:lnTo>
                <a:lnTo>
                  <a:pt x="633" y="0"/>
                </a:lnTo>
                <a:lnTo>
                  <a:pt x="633"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0" name="textbox 80"/>
          <p:cNvSpPr/>
          <p:nvPr/>
        </p:nvSpPr>
        <p:spPr>
          <a:xfrm>
            <a:off x="335914" y="515264"/>
            <a:ext cx="962025" cy="41465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351790" algn="l" rtl="0" eaLnBrk="0">
              <a:lnSpc>
                <a:spcPct val="97000"/>
              </a:lnSpc>
              <a:tabLst>
                <a:tab pos="600710" algn="l"/>
              </a:tabLst>
            </a:pPr>
            <a:r>
              <a:rPr sz="24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	</a:t>
            </a:r>
            <a:r>
              <a:rPr sz="2400" b="1" kern="0" spc="-120" dirty="0">
                <a:solidFill>
                  <a:srgbClr val="FFFFFF">
                    <a:alpha val="100000"/>
                  </a:srgbClr>
                </a:solidFill>
                <a:latin typeface="微软雅黑" panose="020B0503020204020204" charset="-122"/>
                <a:ea typeface="微软雅黑" panose="020B0503020204020204" charset="-122"/>
                <a:cs typeface="微软雅黑" panose="020B0503020204020204" charset="-122"/>
              </a:rPr>
              <a:t>01</a:t>
            </a:r>
            <a:endParaRPr sz="2400" dirty="0">
              <a:latin typeface="微软雅黑" panose="020B0503020204020204" charset="-122"/>
              <a:ea typeface="微软雅黑" panose="020B0503020204020204" charset="-122"/>
              <a:cs typeface="微软雅黑" panose="020B0503020204020204" charset="-122"/>
            </a:endParaRPr>
          </a:p>
        </p:txBody>
      </p:sp>
      <p:sp>
        <p:nvSpPr>
          <p:cNvPr id="82" name="path 82"/>
          <p:cNvSpPr/>
          <p:nvPr/>
        </p:nvSpPr>
        <p:spPr>
          <a:xfrm>
            <a:off x="348614" y="567054"/>
            <a:ext cx="339090" cy="349885"/>
          </a:xfrm>
          <a:custGeom>
            <a:avLst/>
            <a:gdLst/>
            <a:ahLst/>
            <a:cxnLst/>
            <a:rect l="0" t="0" r="0" b="0"/>
            <a:pathLst>
              <a:path w="534" h="551">
                <a:moveTo>
                  <a:pt x="0" y="217"/>
                </a:moveTo>
                <a:lnTo>
                  <a:pt x="217" y="217"/>
                </a:lnTo>
                <a:lnTo>
                  <a:pt x="217" y="0"/>
                </a:lnTo>
                <a:lnTo>
                  <a:pt x="0" y="0"/>
                </a:lnTo>
                <a:lnTo>
                  <a:pt x="0" y="217"/>
                </a:lnTo>
                <a:close/>
              </a:path>
              <a:path w="534" h="551">
                <a:moveTo>
                  <a:pt x="317" y="217"/>
                </a:moveTo>
                <a:lnTo>
                  <a:pt x="534" y="217"/>
                </a:lnTo>
                <a:lnTo>
                  <a:pt x="534" y="0"/>
                </a:lnTo>
                <a:lnTo>
                  <a:pt x="317" y="0"/>
                </a:lnTo>
                <a:lnTo>
                  <a:pt x="317" y="217"/>
                </a:lnTo>
                <a:close/>
              </a:path>
              <a:path w="534" h="551">
                <a:moveTo>
                  <a:pt x="0" y="551"/>
                </a:moveTo>
                <a:lnTo>
                  <a:pt x="217" y="551"/>
                </a:lnTo>
                <a:lnTo>
                  <a:pt x="217" y="334"/>
                </a:lnTo>
                <a:lnTo>
                  <a:pt x="0" y="334"/>
                </a:lnTo>
                <a:lnTo>
                  <a:pt x="0" y="551"/>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4" name="path 84"/>
          <p:cNvSpPr/>
          <p:nvPr/>
        </p:nvSpPr>
        <p:spPr>
          <a:xfrm>
            <a:off x="348614" y="142875"/>
            <a:ext cx="741680" cy="137794"/>
          </a:xfrm>
          <a:custGeom>
            <a:avLst/>
            <a:gdLst/>
            <a:ahLst/>
            <a:cxnLst/>
            <a:rect l="0" t="0" r="0" b="0"/>
            <a:pathLst>
              <a:path w="1168" h="216">
                <a:moveTo>
                  <a:pt x="0" y="216"/>
                </a:moveTo>
                <a:lnTo>
                  <a:pt x="217" y="216"/>
                </a:lnTo>
                <a:lnTo>
                  <a:pt x="217" y="0"/>
                </a:lnTo>
                <a:lnTo>
                  <a:pt x="0" y="0"/>
                </a:lnTo>
                <a:lnTo>
                  <a:pt x="0" y="216"/>
                </a:lnTo>
                <a:close/>
              </a:path>
              <a:path w="1168" h="216">
                <a:moveTo>
                  <a:pt x="317" y="216"/>
                </a:moveTo>
                <a:lnTo>
                  <a:pt x="534" y="216"/>
                </a:lnTo>
                <a:lnTo>
                  <a:pt x="534" y="0"/>
                </a:lnTo>
                <a:lnTo>
                  <a:pt x="317" y="0"/>
                </a:lnTo>
                <a:lnTo>
                  <a:pt x="317" y="216"/>
                </a:lnTo>
                <a:close/>
              </a:path>
              <a:path w="1168" h="216">
                <a:moveTo>
                  <a:pt x="633" y="216"/>
                </a:moveTo>
                <a:lnTo>
                  <a:pt x="851" y="216"/>
                </a:lnTo>
                <a:lnTo>
                  <a:pt x="851" y="0"/>
                </a:lnTo>
                <a:lnTo>
                  <a:pt x="633" y="0"/>
                </a:lnTo>
                <a:lnTo>
                  <a:pt x="633" y="216"/>
                </a:lnTo>
                <a:close/>
              </a:path>
              <a:path w="1168" h="216">
                <a:moveTo>
                  <a:pt x="951" y="216"/>
                </a:moveTo>
                <a:lnTo>
                  <a:pt x="1168" y="216"/>
                </a:lnTo>
                <a:lnTo>
                  <a:pt x="1168" y="0"/>
                </a:lnTo>
                <a:lnTo>
                  <a:pt x="951" y="0"/>
                </a:lnTo>
                <a:lnTo>
                  <a:pt x="951"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8" name="rect 88"/>
          <p:cNvSpPr/>
          <p:nvPr/>
        </p:nvSpPr>
        <p:spPr>
          <a:xfrm>
            <a:off x="147320" y="56705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0" name="rect 90"/>
          <p:cNvSpPr/>
          <p:nvPr/>
        </p:nvSpPr>
        <p:spPr>
          <a:xfrm>
            <a:off x="147320" y="779145"/>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2" name="rect 92"/>
          <p:cNvSpPr/>
          <p:nvPr/>
        </p:nvSpPr>
        <p:spPr>
          <a:xfrm>
            <a:off x="147320" y="99123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4" name="rect 94"/>
          <p:cNvSpPr/>
          <p:nvPr/>
        </p:nvSpPr>
        <p:spPr>
          <a:xfrm>
            <a:off x="147320" y="14287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6" name="rect 96"/>
          <p:cNvSpPr/>
          <p:nvPr/>
        </p:nvSpPr>
        <p:spPr>
          <a:xfrm>
            <a:off x="147320" y="35496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pic>
        <p:nvPicPr>
          <p:cNvPr id="2" name="图片 1"/>
          <p:cNvPicPr>
            <a:picLocks noChangeAspect="1"/>
          </p:cNvPicPr>
          <p:nvPr/>
        </p:nvPicPr>
        <p:blipFill>
          <a:blip r:embed="rId3"/>
          <a:stretch>
            <a:fillRect/>
          </a:stretch>
        </p:blipFill>
        <p:spPr>
          <a:xfrm>
            <a:off x="10428563" y="68429"/>
            <a:ext cx="1354271" cy="781170"/>
          </a:xfrm>
          <a:prstGeom prst="rect">
            <a:avLst/>
          </a:prstGeom>
        </p:spPr>
      </p:pic>
      <p:sp>
        <p:nvSpPr>
          <p:cNvPr id="7" name="矩形 6"/>
          <p:cNvSpPr/>
          <p:nvPr/>
        </p:nvSpPr>
        <p:spPr>
          <a:xfrm>
            <a:off x="975989" y="2921466"/>
            <a:ext cx="65753" cy="4616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397340" y="3411415"/>
            <a:ext cx="1257300" cy="645160"/>
          </a:xfrm>
          <a:prstGeom prst="rect">
            <a:avLst/>
          </a:prstGeom>
          <a:noFill/>
        </p:spPr>
        <p:txBody>
          <a:bodyPr wrap="square">
            <a:spAutoFit/>
          </a:bodyPr>
          <a:lstStyle/>
          <a:p>
            <a:pPr algn="ctr"/>
            <a:r>
              <a:rPr lang="en-US" sz="1200" b="1">
                <a:solidFill>
                  <a:srgbClr val="FFFFFF"/>
                </a:solidFill>
                <a:latin typeface="Arial" panose="020B0604020202020204"/>
                <a:ea typeface="Arial" panose="020B0604020202020204"/>
                <a:cs typeface="Arial" panose="020B0604020202020204"/>
                <a:sym typeface="Arial" panose="020B0604020202020204"/>
              </a:rPr>
              <a:t>Nanjing Cooling</a:t>
            </a:r>
            <a:endParaRPr lang="en-US" altLang="zh-CN" sz="1200" b="1" dirty="0">
              <a:solidFill>
                <a:schemeClr val="bg1"/>
              </a:solidFill>
              <a:latin typeface="微软雅黑" panose="020B0503020204020204" charset="-122"/>
              <a:ea typeface="微软雅黑" panose="020B0503020204020204" charset="-122"/>
              <a:sym typeface="+mn-ea"/>
            </a:endParaRPr>
          </a:p>
          <a:p>
            <a:pPr algn="ctr"/>
            <a:endParaRPr lang="en-US" altLang="zh-CN" sz="1200" b="1" dirty="0">
              <a:solidFill>
                <a:schemeClr val="bg1"/>
              </a:solidFill>
              <a:latin typeface="微软雅黑" panose="020B0503020204020204" charset="-122"/>
              <a:ea typeface="微软雅黑" panose="020B0503020204020204" charset="-122"/>
              <a:sym typeface="+mn-ea"/>
            </a:endParaRPr>
          </a:p>
        </p:txBody>
      </p:sp>
      <p:sp>
        <p:nvSpPr>
          <p:cNvPr id="14" name="文本框 13"/>
          <p:cNvSpPr txBox="1"/>
          <p:nvPr/>
        </p:nvSpPr>
        <p:spPr>
          <a:xfrm>
            <a:off x="252688" y="4022898"/>
            <a:ext cx="1576567" cy="645160"/>
          </a:xfrm>
          <a:prstGeom prst="rect">
            <a:avLst/>
          </a:prstGeom>
          <a:noFill/>
        </p:spPr>
        <p:txBody>
          <a:bodyPr wrap="square" rtlCol="0">
            <a:spAutoFit/>
          </a:bodyPr>
          <a:lstStyle/>
          <a:p>
            <a:pPr algn="ctr">
              <a:lnSpc>
                <a:spcPct val="150000"/>
              </a:lnSpc>
            </a:pPr>
            <a:r>
              <a:rPr lang="zh-CN" altLang="en-US" sz="1200" b="1" dirty="0">
                <a:solidFill>
                  <a:schemeClr val="bg1"/>
                </a:solidFill>
                <a:latin typeface="微软雅黑" panose="020B0503020204020204" charset="-122"/>
                <a:ea typeface="微软雅黑" panose="020B0503020204020204" charset="-122"/>
              </a:rPr>
              <a:t>酷灵热管理</a:t>
            </a:r>
            <a:endParaRPr lang="en-US" altLang="zh-CN" sz="1200" b="1" dirty="0">
              <a:solidFill>
                <a:schemeClr val="bg1"/>
              </a:solidFill>
              <a:latin typeface="微软雅黑" panose="020B0503020204020204" charset="-122"/>
              <a:ea typeface="微软雅黑" panose="020B0503020204020204" charset="-122"/>
            </a:endParaRPr>
          </a:p>
          <a:p>
            <a:pPr algn="ctr">
              <a:lnSpc>
                <a:spcPct val="150000"/>
              </a:lnSpc>
            </a:pPr>
            <a:r>
              <a:rPr lang="zh-CN" altLang="en-US" sz="1200" b="1" dirty="0">
                <a:solidFill>
                  <a:schemeClr val="bg1"/>
                </a:solidFill>
                <a:latin typeface="微软雅黑" panose="020B0503020204020204" charset="-122"/>
                <a:ea typeface="微软雅黑" panose="020B0503020204020204" charset="-122"/>
              </a:rPr>
              <a:t>为机器人持久赋能</a:t>
            </a:r>
          </a:p>
        </p:txBody>
      </p:sp>
      <p:sp>
        <p:nvSpPr>
          <p:cNvPr id="15" name="文本框 14"/>
          <p:cNvSpPr txBox="1"/>
          <p:nvPr/>
        </p:nvSpPr>
        <p:spPr>
          <a:xfrm>
            <a:off x="147320" y="4961255"/>
            <a:ext cx="1682115" cy="306705"/>
          </a:xfrm>
          <a:prstGeom prst="rect">
            <a:avLst/>
          </a:prstGeom>
          <a:noFill/>
        </p:spPr>
        <p:txBody>
          <a:bodyPr wrap="square">
            <a:spAutoFit/>
          </a:bodyPr>
          <a:lstStyle/>
          <a:p>
            <a:pPr algn="ctr"/>
            <a:r>
              <a:rPr lang="zh-CN" altLang="en-US" sz="1400" b="1" dirty="0">
                <a:solidFill>
                  <a:schemeClr val="bg1"/>
                </a:solidFill>
                <a:latin typeface="华文楷体" panose="02010600040101010101" pitchFamily="2" charset="-122"/>
                <a:ea typeface="华文楷体" panose="02010600040101010101" pitchFamily="2" charset="-122"/>
              </a:rPr>
              <a:t>公司及团队介绍</a:t>
            </a:r>
          </a:p>
        </p:txBody>
      </p:sp>
      <p:sp>
        <p:nvSpPr>
          <p:cNvPr id="17" name="矩形 16"/>
          <p:cNvSpPr/>
          <p:nvPr/>
        </p:nvSpPr>
        <p:spPr>
          <a:xfrm>
            <a:off x="975937" y="5268224"/>
            <a:ext cx="65753" cy="4616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2241550" y="2358390"/>
            <a:ext cx="8632825" cy="2690288"/>
          </a:xfrm>
          <a:prstGeom prst="rect">
            <a:avLst/>
          </a:prstGeom>
          <a:noFill/>
        </p:spPr>
        <p:txBody>
          <a:bodyPr wrap="square" rtlCol="0" anchor="t">
            <a:spAutoFit/>
          </a:bodyPr>
          <a:lstStyle/>
          <a:p>
            <a:pPr marL="17145" algn="l" rtl="0" eaLnBrk="0">
              <a:lnSpc>
                <a:spcPct val="150000"/>
              </a:lnSpc>
              <a:spcBef>
                <a:spcPts val="600"/>
              </a:spcBef>
              <a:spcAft>
                <a:spcPts val="600"/>
              </a:spcAft>
            </a:pPr>
            <a:r>
              <a:rPr lang="en-US" altLang="zh-CN" sz="1800" b="1" kern="0" spc="90" dirty="0">
                <a:solidFill>
                  <a:schemeClr val="bg1">
                    <a:alpha val="10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      </a:t>
            </a:r>
            <a:r>
              <a:rPr lang="zh-CN" altLang="en-US" b="1" kern="0" spc="90" dirty="0">
                <a:solidFill>
                  <a:schemeClr val="bg1">
                    <a:alpha val="10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南京酷灵机器人科技有限公司于2025年9月在南京设立，</a:t>
            </a:r>
            <a:r>
              <a:rPr lang="zh-CN" altLang="en-US" sz="1800" b="1" kern="0" spc="90" dirty="0">
                <a:solidFill>
                  <a:schemeClr val="bg1">
                    <a:alpha val="10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公司</a:t>
            </a:r>
            <a:r>
              <a:rPr lang="zh-CN" altLang="en-US" b="1" kern="0" spc="90" dirty="0">
                <a:solidFill>
                  <a:schemeClr val="bg1">
                    <a:alpha val="10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聚焦高效热管理技术，专注于具身智能机器人核心关键部件研发，为客户提供高效热管理一体化关节模组，产品</a:t>
            </a:r>
            <a:r>
              <a:rPr lang="en-US" altLang="zh-CN" b="1" kern="0" spc="90" dirty="0">
                <a:solidFill>
                  <a:schemeClr val="bg1">
                    <a:alpha val="10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a:t>
            </a:r>
            <a:r>
              <a:rPr lang="zh-CN" altLang="en-US" b="1" kern="0" spc="90" dirty="0">
                <a:solidFill>
                  <a:schemeClr val="bg1">
                    <a:alpha val="10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方案已成功应用于四足机器人、人形机器人、无人机等产品。</a:t>
            </a:r>
          </a:p>
          <a:p>
            <a:pPr marL="17145" algn="l" rtl="0" eaLnBrk="0">
              <a:lnSpc>
                <a:spcPct val="150000"/>
              </a:lnSpc>
              <a:spcBef>
                <a:spcPts val="600"/>
              </a:spcBef>
              <a:spcAft>
                <a:spcPts val="600"/>
              </a:spcAft>
            </a:pPr>
            <a:r>
              <a:rPr lang="en-US" altLang="zh-CN" b="1" kern="0" spc="90" dirty="0">
                <a:solidFill>
                  <a:schemeClr val="bg1">
                    <a:alpha val="10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      </a:t>
            </a:r>
            <a:r>
              <a:rPr lang="zh-CN" altLang="en-US" b="1" kern="0" spc="90" dirty="0">
                <a:solidFill>
                  <a:schemeClr val="bg1">
                    <a:alpha val="10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公司怀揣远大理想与技术</a:t>
            </a:r>
            <a:r>
              <a:rPr lang="zh-CN" altLang="en-US" b="1" kern="0" spc="90">
                <a:solidFill>
                  <a:schemeClr val="bg1">
                    <a:alpha val="10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初心，以</a:t>
            </a:r>
            <a:r>
              <a:rPr lang="zh-CN" altLang="en-US" b="1" kern="0" spc="90" dirty="0">
                <a:solidFill>
                  <a:schemeClr val="bg1">
                    <a:alpha val="10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高效热管理技术为核心，立志成为全球具身智能机器人高效热管理关节模组领跑者，重构机器人新生态。</a:t>
            </a:r>
          </a:p>
        </p:txBody>
      </p:sp>
      <p:pic>
        <p:nvPicPr>
          <p:cNvPr id="6" name="picture 4"/>
          <p:cNvPicPr>
            <a:picLocks noChangeAspect="1"/>
          </p:cNvPicPr>
          <p:nvPr/>
        </p:nvPicPr>
        <p:blipFill>
          <a:blip r:embed="rId4"/>
          <a:stretch>
            <a:fillRect/>
          </a:stretch>
        </p:blipFill>
        <p:spPr>
          <a:xfrm rot="21600000">
            <a:off x="0" y="6295390"/>
            <a:ext cx="12192000" cy="117475"/>
          </a:xfrm>
          <a:prstGeom prst="rect">
            <a:avLst/>
          </a:prstGeom>
        </p:spPr>
      </p:pic>
      <p:sp>
        <p:nvSpPr>
          <p:cNvPr id="72" name="path 72"/>
          <p:cNvSpPr/>
          <p:nvPr/>
        </p:nvSpPr>
        <p:spPr>
          <a:xfrm>
            <a:off x="11398249" y="6043294"/>
            <a:ext cx="741679" cy="774064"/>
          </a:xfrm>
          <a:custGeom>
            <a:avLst/>
            <a:gdLst/>
            <a:ahLst/>
            <a:cxnLst/>
            <a:rect l="0" t="0" r="0" b="0"/>
            <a:pathLst>
              <a:path w="1167" h="1218">
                <a:moveTo>
                  <a:pt x="950" y="1218"/>
                </a:moveTo>
                <a:lnTo>
                  <a:pt x="1167" y="1218"/>
                </a:lnTo>
                <a:lnTo>
                  <a:pt x="1167" y="1001"/>
                </a:lnTo>
                <a:lnTo>
                  <a:pt x="950" y="1001"/>
                </a:lnTo>
                <a:lnTo>
                  <a:pt x="950" y="1218"/>
                </a:lnTo>
                <a:close/>
              </a:path>
              <a:path w="1167" h="1218">
                <a:moveTo>
                  <a:pt x="634" y="1218"/>
                </a:moveTo>
                <a:lnTo>
                  <a:pt x="850" y="1218"/>
                </a:lnTo>
                <a:lnTo>
                  <a:pt x="850" y="1001"/>
                </a:lnTo>
                <a:lnTo>
                  <a:pt x="634" y="1001"/>
                </a:lnTo>
                <a:lnTo>
                  <a:pt x="634" y="1218"/>
                </a:lnTo>
                <a:close/>
              </a:path>
              <a:path w="1167" h="1218">
                <a:moveTo>
                  <a:pt x="317" y="1218"/>
                </a:moveTo>
                <a:lnTo>
                  <a:pt x="534" y="1218"/>
                </a:lnTo>
                <a:lnTo>
                  <a:pt x="534" y="1001"/>
                </a:lnTo>
                <a:lnTo>
                  <a:pt x="317" y="1001"/>
                </a:lnTo>
                <a:lnTo>
                  <a:pt x="317" y="1218"/>
                </a:lnTo>
                <a:close/>
              </a:path>
              <a:path w="1167" h="1218">
                <a:moveTo>
                  <a:pt x="0" y="1218"/>
                </a:moveTo>
                <a:lnTo>
                  <a:pt x="216" y="1218"/>
                </a:lnTo>
                <a:lnTo>
                  <a:pt x="216" y="1001"/>
                </a:lnTo>
                <a:lnTo>
                  <a:pt x="0" y="1001"/>
                </a:lnTo>
                <a:lnTo>
                  <a:pt x="0" y="1218"/>
                </a:lnTo>
                <a:close/>
              </a:path>
              <a:path w="1167" h="1218">
                <a:moveTo>
                  <a:pt x="950" y="884"/>
                </a:moveTo>
                <a:lnTo>
                  <a:pt x="1167" y="884"/>
                </a:lnTo>
                <a:lnTo>
                  <a:pt x="1167" y="667"/>
                </a:lnTo>
                <a:lnTo>
                  <a:pt x="950" y="667"/>
                </a:lnTo>
                <a:lnTo>
                  <a:pt x="950" y="884"/>
                </a:lnTo>
                <a:close/>
              </a:path>
              <a:path w="1167" h="1218">
                <a:moveTo>
                  <a:pt x="634" y="884"/>
                </a:moveTo>
                <a:lnTo>
                  <a:pt x="850" y="884"/>
                </a:lnTo>
                <a:lnTo>
                  <a:pt x="850" y="667"/>
                </a:lnTo>
                <a:lnTo>
                  <a:pt x="634" y="667"/>
                </a:lnTo>
                <a:lnTo>
                  <a:pt x="634" y="884"/>
                </a:lnTo>
                <a:close/>
              </a:path>
              <a:path w="1167" h="1218">
                <a:moveTo>
                  <a:pt x="317" y="884"/>
                </a:moveTo>
                <a:lnTo>
                  <a:pt x="534" y="884"/>
                </a:lnTo>
                <a:lnTo>
                  <a:pt x="534" y="667"/>
                </a:lnTo>
                <a:lnTo>
                  <a:pt x="317" y="667"/>
                </a:lnTo>
                <a:lnTo>
                  <a:pt x="317" y="884"/>
                </a:lnTo>
                <a:close/>
              </a:path>
              <a:path w="1167" h="1218">
                <a:moveTo>
                  <a:pt x="950" y="550"/>
                </a:moveTo>
                <a:lnTo>
                  <a:pt x="1167" y="550"/>
                </a:lnTo>
                <a:lnTo>
                  <a:pt x="1167" y="333"/>
                </a:lnTo>
                <a:lnTo>
                  <a:pt x="950" y="333"/>
                </a:lnTo>
                <a:lnTo>
                  <a:pt x="950" y="550"/>
                </a:lnTo>
                <a:close/>
              </a:path>
              <a:path w="1167" h="1218">
                <a:moveTo>
                  <a:pt x="634" y="550"/>
                </a:moveTo>
                <a:lnTo>
                  <a:pt x="850" y="550"/>
                </a:lnTo>
                <a:lnTo>
                  <a:pt x="850" y="333"/>
                </a:lnTo>
                <a:lnTo>
                  <a:pt x="634" y="333"/>
                </a:lnTo>
                <a:lnTo>
                  <a:pt x="634" y="550"/>
                </a:lnTo>
                <a:close/>
              </a:path>
              <a:path w="1167" h="1218">
                <a:moveTo>
                  <a:pt x="950" y="216"/>
                </a:moveTo>
                <a:lnTo>
                  <a:pt x="1167" y="216"/>
                </a:lnTo>
                <a:lnTo>
                  <a:pt x="1167" y="0"/>
                </a:lnTo>
                <a:lnTo>
                  <a:pt x="950" y="0"/>
                </a:lnTo>
                <a:lnTo>
                  <a:pt x="950" y="216"/>
                </a:lnTo>
                <a:close/>
              </a:path>
            </a:pathLst>
          </a:custGeom>
          <a:solidFill>
            <a:srgbClr val="F2F2F2">
              <a:alpha val="100000"/>
            </a:srgbClr>
          </a:solidFill>
          <a:ln w="0" cap="flat">
            <a:noFill/>
            <a:prstDash val="solid"/>
            <a:miter lim="0"/>
          </a:ln>
        </p:spPr>
        <p:txBody>
          <a:bodyPr rtlCol="0"/>
          <a:lstStyle/>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6"/>
          <p:cNvPicPr>
            <a:picLocks noChangeAspect="1"/>
          </p:cNvPicPr>
          <p:nvPr/>
        </p:nvPicPr>
        <p:blipFill>
          <a:blip r:embed="rId4"/>
          <a:stretch>
            <a:fillRect/>
          </a:stretch>
        </p:blipFill>
        <p:spPr>
          <a:xfrm rot="21600000">
            <a:off x="0" y="6576693"/>
            <a:ext cx="12192000" cy="271779"/>
          </a:xfrm>
          <a:prstGeom prst="rect">
            <a:avLst/>
          </a:prstGeom>
        </p:spPr>
      </p:pic>
      <p:sp>
        <p:nvSpPr>
          <p:cNvPr id="70" name="textbox 70"/>
          <p:cNvSpPr/>
          <p:nvPr/>
        </p:nvSpPr>
        <p:spPr>
          <a:xfrm>
            <a:off x="1636628" y="455178"/>
            <a:ext cx="2599689" cy="507365"/>
          </a:xfrm>
          <a:prstGeom prst="rect">
            <a:avLst/>
          </a:prstGeom>
          <a:noFill/>
          <a:ln w="0" cap="flat">
            <a:noFill/>
            <a:prstDash val="solid"/>
            <a:miter lim="0"/>
          </a:ln>
        </p:spPr>
        <p:txBody>
          <a:bodyPr vert="horz" wrap="square" lIns="0" tIns="0" rIns="0" bIns="0"/>
          <a:lstStyle/>
          <a:p>
            <a:pPr algn="l" rtl="0" eaLnBrk="0">
              <a:lnSpc>
                <a:spcPct val="93000"/>
              </a:lnSpc>
            </a:pPr>
            <a:endParaRPr sz="1000" dirty="0">
              <a:latin typeface="微软雅黑" panose="020B0503020204020204" charset="-122"/>
              <a:ea typeface="微软雅黑" panose="020B0503020204020204" charset="-122"/>
              <a:cs typeface="微软雅黑" panose="020B0503020204020204" charset="-122"/>
            </a:endParaRPr>
          </a:p>
        </p:txBody>
      </p:sp>
      <p:sp>
        <p:nvSpPr>
          <p:cNvPr id="74" name="path 74"/>
          <p:cNvSpPr/>
          <p:nvPr/>
        </p:nvSpPr>
        <p:spPr>
          <a:xfrm>
            <a:off x="348614" y="354965"/>
            <a:ext cx="540385" cy="137794"/>
          </a:xfrm>
          <a:custGeom>
            <a:avLst/>
            <a:gdLst/>
            <a:ahLst/>
            <a:cxnLst/>
            <a:rect l="0" t="0" r="0" b="0"/>
            <a:pathLst>
              <a:path w="851" h="216">
                <a:moveTo>
                  <a:pt x="0" y="216"/>
                </a:moveTo>
                <a:lnTo>
                  <a:pt x="217" y="216"/>
                </a:lnTo>
                <a:lnTo>
                  <a:pt x="217" y="0"/>
                </a:lnTo>
                <a:lnTo>
                  <a:pt x="0" y="0"/>
                </a:lnTo>
                <a:lnTo>
                  <a:pt x="0" y="216"/>
                </a:lnTo>
                <a:close/>
              </a:path>
              <a:path w="851" h="216">
                <a:moveTo>
                  <a:pt x="317" y="216"/>
                </a:moveTo>
                <a:lnTo>
                  <a:pt x="534" y="216"/>
                </a:lnTo>
                <a:lnTo>
                  <a:pt x="534" y="0"/>
                </a:lnTo>
                <a:lnTo>
                  <a:pt x="317" y="0"/>
                </a:lnTo>
                <a:lnTo>
                  <a:pt x="317" y="216"/>
                </a:lnTo>
                <a:close/>
              </a:path>
              <a:path w="851" h="216">
                <a:moveTo>
                  <a:pt x="633" y="216"/>
                </a:moveTo>
                <a:lnTo>
                  <a:pt x="851" y="216"/>
                </a:lnTo>
                <a:lnTo>
                  <a:pt x="851" y="0"/>
                </a:lnTo>
                <a:lnTo>
                  <a:pt x="633" y="0"/>
                </a:lnTo>
                <a:lnTo>
                  <a:pt x="633"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2" name="path 82"/>
          <p:cNvSpPr/>
          <p:nvPr/>
        </p:nvSpPr>
        <p:spPr>
          <a:xfrm>
            <a:off x="348614" y="567054"/>
            <a:ext cx="339090" cy="349885"/>
          </a:xfrm>
          <a:custGeom>
            <a:avLst/>
            <a:gdLst/>
            <a:ahLst/>
            <a:cxnLst/>
            <a:rect l="0" t="0" r="0" b="0"/>
            <a:pathLst>
              <a:path w="534" h="551">
                <a:moveTo>
                  <a:pt x="0" y="217"/>
                </a:moveTo>
                <a:lnTo>
                  <a:pt x="217" y="217"/>
                </a:lnTo>
                <a:lnTo>
                  <a:pt x="217" y="0"/>
                </a:lnTo>
                <a:lnTo>
                  <a:pt x="0" y="0"/>
                </a:lnTo>
                <a:lnTo>
                  <a:pt x="0" y="217"/>
                </a:lnTo>
                <a:close/>
              </a:path>
              <a:path w="534" h="551">
                <a:moveTo>
                  <a:pt x="317" y="217"/>
                </a:moveTo>
                <a:lnTo>
                  <a:pt x="534" y="217"/>
                </a:lnTo>
                <a:lnTo>
                  <a:pt x="534" y="0"/>
                </a:lnTo>
                <a:lnTo>
                  <a:pt x="317" y="0"/>
                </a:lnTo>
                <a:lnTo>
                  <a:pt x="317" y="217"/>
                </a:lnTo>
                <a:close/>
              </a:path>
              <a:path w="534" h="551">
                <a:moveTo>
                  <a:pt x="0" y="551"/>
                </a:moveTo>
                <a:lnTo>
                  <a:pt x="217" y="551"/>
                </a:lnTo>
                <a:lnTo>
                  <a:pt x="217" y="334"/>
                </a:lnTo>
                <a:lnTo>
                  <a:pt x="0" y="334"/>
                </a:lnTo>
                <a:lnTo>
                  <a:pt x="0" y="551"/>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4" name="path 84"/>
          <p:cNvSpPr/>
          <p:nvPr/>
        </p:nvSpPr>
        <p:spPr>
          <a:xfrm>
            <a:off x="348614" y="142875"/>
            <a:ext cx="741680" cy="137794"/>
          </a:xfrm>
          <a:custGeom>
            <a:avLst/>
            <a:gdLst/>
            <a:ahLst/>
            <a:cxnLst/>
            <a:rect l="0" t="0" r="0" b="0"/>
            <a:pathLst>
              <a:path w="1168" h="216">
                <a:moveTo>
                  <a:pt x="0" y="216"/>
                </a:moveTo>
                <a:lnTo>
                  <a:pt x="217" y="216"/>
                </a:lnTo>
                <a:lnTo>
                  <a:pt x="217" y="0"/>
                </a:lnTo>
                <a:lnTo>
                  <a:pt x="0" y="0"/>
                </a:lnTo>
                <a:lnTo>
                  <a:pt x="0" y="216"/>
                </a:lnTo>
                <a:close/>
              </a:path>
              <a:path w="1168" h="216">
                <a:moveTo>
                  <a:pt x="317" y="216"/>
                </a:moveTo>
                <a:lnTo>
                  <a:pt x="534" y="216"/>
                </a:lnTo>
                <a:lnTo>
                  <a:pt x="534" y="0"/>
                </a:lnTo>
                <a:lnTo>
                  <a:pt x="317" y="0"/>
                </a:lnTo>
                <a:lnTo>
                  <a:pt x="317" y="216"/>
                </a:lnTo>
                <a:close/>
              </a:path>
              <a:path w="1168" h="216">
                <a:moveTo>
                  <a:pt x="633" y="216"/>
                </a:moveTo>
                <a:lnTo>
                  <a:pt x="851" y="216"/>
                </a:lnTo>
                <a:lnTo>
                  <a:pt x="851" y="0"/>
                </a:lnTo>
                <a:lnTo>
                  <a:pt x="633" y="0"/>
                </a:lnTo>
                <a:lnTo>
                  <a:pt x="633" y="216"/>
                </a:lnTo>
                <a:close/>
              </a:path>
              <a:path w="1168" h="216">
                <a:moveTo>
                  <a:pt x="951" y="216"/>
                </a:moveTo>
                <a:lnTo>
                  <a:pt x="1168" y="216"/>
                </a:lnTo>
                <a:lnTo>
                  <a:pt x="1168" y="0"/>
                </a:lnTo>
                <a:lnTo>
                  <a:pt x="951" y="0"/>
                </a:lnTo>
                <a:lnTo>
                  <a:pt x="951"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6" name="path 86"/>
          <p:cNvSpPr/>
          <p:nvPr/>
        </p:nvSpPr>
        <p:spPr>
          <a:xfrm>
            <a:off x="688340" y="955040"/>
            <a:ext cx="10786745" cy="76200"/>
          </a:xfrm>
          <a:custGeom>
            <a:avLst/>
            <a:gdLst/>
            <a:ahLst/>
            <a:cxnLst/>
            <a:rect l="0" t="0" r="0" b="0"/>
            <a:pathLst>
              <a:path w="15485" h="10">
                <a:moveTo>
                  <a:pt x="0" y="5"/>
                </a:moveTo>
                <a:lnTo>
                  <a:pt x="15485" y="5"/>
                </a:lnTo>
              </a:path>
            </a:pathLst>
          </a:custGeom>
          <a:noFill/>
          <a:ln w="6350" cap="flat">
            <a:solidFill>
              <a:srgbClr val="D9D9D9"/>
            </a:solidFill>
            <a:prstDash val="solid"/>
            <a:miter lim="1000000"/>
          </a:ln>
        </p:spPr>
        <p:txBody>
          <a:bodyPr rtlCol="0"/>
          <a:lstStyle/>
          <a:p>
            <a:pPr algn="ctr"/>
            <a:endParaRPr lang="zh-CN" altLang="en-US"/>
          </a:p>
        </p:txBody>
      </p:sp>
      <p:sp>
        <p:nvSpPr>
          <p:cNvPr id="88" name="rect 88"/>
          <p:cNvSpPr/>
          <p:nvPr/>
        </p:nvSpPr>
        <p:spPr>
          <a:xfrm>
            <a:off x="147320" y="56705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0" name="rect 90"/>
          <p:cNvSpPr/>
          <p:nvPr/>
        </p:nvSpPr>
        <p:spPr>
          <a:xfrm>
            <a:off x="147320" y="779145"/>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2" name="rect 92"/>
          <p:cNvSpPr/>
          <p:nvPr/>
        </p:nvSpPr>
        <p:spPr>
          <a:xfrm>
            <a:off x="147320" y="99123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4" name="rect 94"/>
          <p:cNvSpPr/>
          <p:nvPr/>
        </p:nvSpPr>
        <p:spPr>
          <a:xfrm>
            <a:off x="147320" y="14287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6" name="rect 96"/>
          <p:cNvSpPr/>
          <p:nvPr/>
        </p:nvSpPr>
        <p:spPr>
          <a:xfrm>
            <a:off x="147320" y="35496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pic>
        <p:nvPicPr>
          <p:cNvPr id="2" name="图片 1"/>
          <p:cNvPicPr>
            <a:picLocks noChangeAspect="1"/>
          </p:cNvPicPr>
          <p:nvPr/>
        </p:nvPicPr>
        <p:blipFill>
          <a:blip r:embed="rId5"/>
          <a:stretch>
            <a:fillRect/>
          </a:stretch>
        </p:blipFill>
        <p:spPr>
          <a:xfrm>
            <a:off x="10428563" y="68429"/>
            <a:ext cx="1354271" cy="781170"/>
          </a:xfrm>
          <a:prstGeom prst="rect">
            <a:avLst/>
          </a:prstGeom>
        </p:spPr>
      </p:pic>
      <p:sp>
        <p:nvSpPr>
          <p:cNvPr id="3" name="textbox 60"/>
          <p:cNvSpPr/>
          <p:nvPr/>
        </p:nvSpPr>
        <p:spPr>
          <a:xfrm>
            <a:off x="688022" y="3017728"/>
            <a:ext cx="10637203" cy="3795845"/>
          </a:xfrm>
          <a:prstGeom prst="rect">
            <a:avLst/>
          </a:prstGeom>
          <a:noFill/>
          <a:ln w="0" cap="flat">
            <a:noFill/>
            <a:prstDash val="solid"/>
            <a:miter lim="0"/>
          </a:ln>
        </p:spPr>
        <p:txBody>
          <a:bodyPr vert="horz" wrap="square" lIns="0" tIns="0" rIns="0" bIns="0"/>
          <a:lstStyle/>
          <a:p>
            <a:pPr algn="l" rtl="0" eaLnBrk="0">
              <a:lnSpc>
                <a:spcPct val="150000"/>
              </a:lnSpc>
            </a:pPr>
            <a:endParaRPr sz="100" dirty="0">
              <a:latin typeface="Arial" panose="020B0604020202020204"/>
              <a:ea typeface="Arial" panose="020B0604020202020204"/>
              <a:cs typeface="Arial" panose="020B0604020202020204"/>
            </a:endParaRPr>
          </a:p>
          <a:p>
            <a:pPr marL="17145" algn="l" rtl="0" eaLnBrk="0">
              <a:lnSpc>
                <a:spcPct val="150000"/>
              </a:lnSpc>
              <a:spcBef>
                <a:spcPts val="600"/>
              </a:spcBef>
              <a:spcAft>
                <a:spcPts val="600"/>
              </a:spcAft>
            </a:pPr>
            <a:endParaRPr lang="zh-CN" altLang="en-US" kern="0" spc="90" dirty="0">
              <a:solidFill>
                <a:srgbClr val="595959">
                  <a:alpha val="100000"/>
                </a:srgbClr>
              </a:solidFill>
              <a:latin typeface="微软雅黑" panose="020B0503020204020204" charset="-122"/>
              <a:ea typeface="微软雅黑" panose="020B0503020204020204" charset="-122"/>
              <a:cs typeface="微软雅黑" panose="020B0503020204020204" charset="-122"/>
            </a:endParaRPr>
          </a:p>
        </p:txBody>
      </p:sp>
      <p:sp>
        <p:nvSpPr>
          <p:cNvPr id="6" name="矩形 5"/>
          <p:cNvSpPr/>
          <p:nvPr/>
        </p:nvSpPr>
        <p:spPr>
          <a:xfrm>
            <a:off x="890270" y="354965"/>
            <a:ext cx="746125" cy="387985"/>
          </a:xfrm>
          <a:prstGeom prst="rect">
            <a:avLst/>
          </a:prstGeom>
          <a:noFill/>
          <a:ln>
            <a:noFill/>
          </a:ln>
        </p:spPr>
        <p:txBody>
          <a:bodyPr wrap="none" rtlCol="0" anchor="t">
            <a:noAutofit/>
          </a:bodyPr>
          <a:lstStyle/>
          <a:p>
            <a:pPr algn="ctr"/>
            <a:endParaRPr lang="en-US" altLang="zh-CN" sz="4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8" name="文本框 7"/>
          <p:cNvSpPr txBox="1"/>
          <p:nvPr/>
        </p:nvSpPr>
        <p:spPr>
          <a:xfrm>
            <a:off x="837565" y="433070"/>
            <a:ext cx="6797675" cy="521970"/>
          </a:xfrm>
          <a:prstGeom prst="rect">
            <a:avLst/>
          </a:prstGeom>
          <a:noFill/>
        </p:spPr>
        <p:txBody>
          <a:bodyPr wrap="square" rtlCol="0" anchor="t">
            <a:spAutoFit/>
          </a:bodyPr>
          <a:lstStyle/>
          <a:p>
            <a:r>
              <a:rPr lang="zh-CN" altLang="en-US" sz="2800" b="1" kern="0" spc="150" dirty="0">
                <a:solidFill>
                  <a:srgbClr val="2C5374">
                    <a:alpha val="100000"/>
                  </a:srgbClr>
                </a:solidFill>
                <a:latin typeface="微软雅黑" panose="020B0503020204020204" charset="-122"/>
                <a:ea typeface="微软雅黑" panose="020B0503020204020204" charset="-122"/>
                <a:cs typeface="微软雅黑" panose="020B0503020204020204" charset="-122"/>
                <a:sym typeface="+mn-ea"/>
              </a:rPr>
              <a:t>公司地址</a:t>
            </a:r>
          </a:p>
        </p:txBody>
      </p:sp>
      <p:sp>
        <p:nvSpPr>
          <p:cNvPr id="72" name="path 72"/>
          <p:cNvSpPr/>
          <p:nvPr/>
        </p:nvSpPr>
        <p:spPr>
          <a:xfrm>
            <a:off x="11398249" y="6043294"/>
            <a:ext cx="741679" cy="774064"/>
          </a:xfrm>
          <a:custGeom>
            <a:avLst/>
            <a:gdLst/>
            <a:ahLst/>
            <a:cxnLst/>
            <a:rect l="0" t="0" r="0" b="0"/>
            <a:pathLst>
              <a:path w="1167" h="1218">
                <a:moveTo>
                  <a:pt x="950" y="1218"/>
                </a:moveTo>
                <a:lnTo>
                  <a:pt x="1167" y="1218"/>
                </a:lnTo>
                <a:lnTo>
                  <a:pt x="1167" y="1001"/>
                </a:lnTo>
                <a:lnTo>
                  <a:pt x="950" y="1001"/>
                </a:lnTo>
                <a:lnTo>
                  <a:pt x="950" y="1218"/>
                </a:lnTo>
                <a:close/>
              </a:path>
              <a:path w="1167" h="1218">
                <a:moveTo>
                  <a:pt x="634" y="1218"/>
                </a:moveTo>
                <a:lnTo>
                  <a:pt x="850" y="1218"/>
                </a:lnTo>
                <a:lnTo>
                  <a:pt x="850" y="1001"/>
                </a:lnTo>
                <a:lnTo>
                  <a:pt x="634" y="1001"/>
                </a:lnTo>
                <a:lnTo>
                  <a:pt x="634" y="1218"/>
                </a:lnTo>
                <a:close/>
              </a:path>
              <a:path w="1167" h="1218">
                <a:moveTo>
                  <a:pt x="317" y="1218"/>
                </a:moveTo>
                <a:lnTo>
                  <a:pt x="534" y="1218"/>
                </a:lnTo>
                <a:lnTo>
                  <a:pt x="534" y="1001"/>
                </a:lnTo>
                <a:lnTo>
                  <a:pt x="317" y="1001"/>
                </a:lnTo>
                <a:lnTo>
                  <a:pt x="317" y="1218"/>
                </a:lnTo>
                <a:close/>
              </a:path>
              <a:path w="1167" h="1218">
                <a:moveTo>
                  <a:pt x="0" y="1218"/>
                </a:moveTo>
                <a:lnTo>
                  <a:pt x="216" y="1218"/>
                </a:lnTo>
                <a:lnTo>
                  <a:pt x="216" y="1001"/>
                </a:lnTo>
                <a:lnTo>
                  <a:pt x="0" y="1001"/>
                </a:lnTo>
                <a:lnTo>
                  <a:pt x="0" y="1218"/>
                </a:lnTo>
                <a:close/>
              </a:path>
              <a:path w="1167" h="1218">
                <a:moveTo>
                  <a:pt x="950" y="884"/>
                </a:moveTo>
                <a:lnTo>
                  <a:pt x="1167" y="884"/>
                </a:lnTo>
                <a:lnTo>
                  <a:pt x="1167" y="667"/>
                </a:lnTo>
                <a:lnTo>
                  <a:pt x="950" y="667"/>
                </a:lnTo>
                <a:lnTo>
                  <a:pt x="950" y="884"/>
                </a:lnTo>
                <a:close/>
              </a:path>
              <a:path w="1167" h="1218">
                <a:moveTo>
                  <a:pt x="634" y="884"/>
                </a:moveTo>
                <a:lnTo>
                  <a:pt x="850" y="884"/>
                </a:lnTo>
                <a:lnTo>
                  <a:pt x="850" y="667"/>
                </a:lnTo>
                <a:lnTo>
                  <a:pt x="634" y="667"/>
                </a:lnTo>
                <a:lnTo>
                  <a:pt x="634" y="884"/>
                </a:lnTo>
                <a:close/>
              </a:path>
              <a:path w="1167" h="1218">
                <a:moveTo>
                  <a:pt x="317" y="884"/>
                </a:moveTo>
                <a:lnTo>
                  <a:pt x="534" y="884"/>
                </a:lnTo>
                <a:lnTo>
                  <a:pt x="534" y="667"/>
                </a:lnTo>
                <a:lnTo>
                  <a:pt x="317" y="667"/>
                </a:lnTo>
                <a:lnTo>
                  <a:pt x="317" y="884"/>
                </a:lnTo>
                <a:close/>
              </a:path>
              <a:path w="1167" h="1218">
                <a:moveTo>
                  <a:pt x="950" y="550"/>
                </a:moveTo>
                <a:lnTo>
                  <a:pt x="1167" y="550"/>
                </a:lnTo>
                <a:lnTo>
                  <a:pt x="1167" y="333"/>
                </a:lnTo>
                <a:lnTo>
                  <a:pt x="950" y="333"/>
                </a:lnTo>
                <a:lnTo>
                  <a:pt x="950" y="550"/>
                </a:lnTo>
                <a:close/>
              </a:path>
              <a:path w="1167" h="1218">
                <a:moveTo>
                  <a:pt x="634" y="550"/>
                </a:moveTo>
                <a:lnTo>
                  <a:pt x="850" y="550"/>
                </a:lnTo>
                <a:lnTo>
                  <a:pt x="850" y="333"/>
                </a:lnTo>
                <a:lnTo>
                  <a:pt x="634" y="333"/>
                </a:lnTo>
                <a:lnTo>
                  <a:pt x="634" y="550"/>
                </a:lnTo>
                <a:close/>
              </a:path>
              <a:path w="1167" h="1218">
                <a:moveTo>
                  <a:pt x="950" y="216"/>
                </a:moveTo>
                <a:lnTo>
                  <a:pt x="1167" y="216"/>
                </a:lnTo>
                <a:lnTo>
                  <a:pt x="1167" y="0"/>
                </a:lnTo>
                <a:lnTo>
                  <a:pt x="950" y="0"/>
                </a:lnTo>
                <a:lnTo>
                  <a:pt x="950" y="216"/>
                </a:lnTo>
                <a:close/>
              </a:path>
            </a:pathLst>
          </a:custGeom>
          <a:solidFill>
            <a:srgbClr val="F2F2F2">
              <a:alpha val="100000"/>
            </a:srgbClr>
          </a:solidFill>
          <a:ln w="0" cap="flat">
            <a:noFill/>
            <a:prstDash val="solid"/>
            <a:miter lim="0"/>
          </a:ln>
        </p:spPr>
        <p:txBody>
          <a:bodyPr rtlCol="0"/>
          <a:lstStyle/>
          <a:p>
            <a:pPr algn="ctr"/>
            <a:endParaRPr lang="zh-CN" altLang="en-US"/>
          </a:p>
        </p:txBody>
      </p:sp>
      <p:grpSp>
        <p:nvGrpSpPr>
          <p:cNvPr id="119" name="PA_组合 118"/>
          <p:cNvGrpSpPr/>
          <p:nvPr>
            <p:custDataLst>
              <p:tags r:id="rId1"/>
            </p:custDataLst>
          </p:nvPr>
        </p:nvGrpSpPr>
        <p:grpSpPr>
          <a:xfrm>
            <a:off x="1881823" y="2016001"/>
            <a:ext cx="4553914" cy="3716680"/>
            <a:chOff x="5569247" y="-2398522"/>
            <a:chExt cx="4553914" cy="3716680"/>
          </a:xfrm>
        </p:grpSpPr>
        <p:sp>
          <p:nvSpPr>
            <p:cNvPr id="121" name="内蒙古"/>
            <p:cNvSpPr/>
            <p:nvPr/>
          </p:nvSpPr>
          <p:spPr bwMode="auto">
            <a:xfrm>
              <a:off x="7481387" y="-2357103"/>
              <a:ext cx="1996006" cy="1681618"/>
            </a:xfrm>
            <a:custGeom>
              <a:avLst/>
              <a:gdLst>
                <a:gd name="T0" fmla="*/ 2147483646 w 1428"/>
                <a:gd name="T1" fmla="*/ 2147483646 h 1218"/>
                <a:gd name="T2" fmla="*/ 2147483646 w 1428"/>
                <a:gd name="T3" fmla="*/ 2147483646 h 1218"/>
                <a:gd name="T4" fmla="*/ 2147483646 w 1428"/>
                <a:gd name="T5" fmla="*/ 2147483646 h 1218"/>
                <a:gd name="T6" fmla="*/ 2147483646 w 1428"/>
                <a:gd name="T7" fmla="*/ 2147483646 h 1218"/>
                <a:gd name="T8" fmla="*/ 2147483646 w 1428"/>
                <a:gd name="T9" fmla="*/ 2147483646 h 1218"/>
                <a:gd name="T10" fmla="*/ 2147483646 w 1428"/>
                <a:gd name="T11" fmla="*/ 2147483646 h 1218"/>
                <a:gd name="T12" fmla="*/ 2147483646 w 1428"/>
                <a:gd name="T13" fmla="*/ 2147483646 h 1218"/>
                <a:gd name="T14" fmla="*/ 2147483646 w 1428"/>
                <a:gd name="T15" fmla="*/ 2147483646 h 1218"/>
                <a:gd name="T16" fmla="*/ 2147483646 w 1428"/>
                <a:gd name="T17" fmla="*/ 2147483646 h 1218"/>
                <a:gd name="T18" fmla="*/ 2147483646 w 1428"/>
                <a:gd name="T19" fmla="*/ 2147483646 h 1218"/>
                <a:gd name="T20" fmla="*/ 2147483646 w 1428"/>
                <a:gd name="T21" fmla="*/ 2147483646 h 1218"/>
                <a:gd name="T22" fmla="*/ 2147483646 w 1428"/>
                <a:gd name="T23" fmla="*/ 2147483646 h 1218"/>
                <a:gd name="T24" fmla="*/ 2147483646 w 1428"/>
                <a:gd name="T25" fmla="*/ 2147483646 h 1218"/>
                <a:gd name="T26" fmla="*/ 2147483646 w 1428"/>
                <a:gd name="T27" fmla="*/ 2147483646 h 1218"/>
                <a:gd name="T28" fmla="*/ 2147483646 w 1428"/>
                <a:gd name="T29" fmla="*/ 2147483646 h 1218"/>
                <a:gd name="T30" fmla="*/ 2147483646 w 1428"/>
                <a:gd name="T31" fmla="*/ 2147483646 h 1218"/>
                <a:gd name="T32" fmla="*/ 2147483646 w 1428"/>
                <a:gd name="T33" fmla="*/ 2147483646 h 1218"/>
                <a:gd name="T34" fmla="*/ 2147483646 w 1428"/>
                <a:gd name="T35" fmla="*/ 2147483646 h 1218"/>
                <a:gd name="T36" fmla="*/ 2147483646 w 1428"/>
                <a:gd name="T37" fmla="*/ 2147483646 h 1218"/>
                <a:gd name="T38" fmla="*/ 2147483646 w 1428"/>
                <a:gd name="T39" fmla="*/ 2147483646 h 1218"/>
                <a:gd name="T40" fmla="*/ 2147483646 w 1428"/>
                <a:gd name="T41" fmla="*/ 2147483646 h 1218"/>
                <a:gd name="T42" fmla="*/ 2147483646 w 1428"/>
                <a:gd name="T43" fmla="*/ 2147483646 h 1218"/>
                <a:gd name="T44" fmla="*/ 0 w 1428"/>
                <a:gd name="T45" fmla="*/ 2147483646 h 1218"/>
                <a:gd name="T46" fmla="*/ 2147483646 w 1428"/>
                <a:gd name="T47" fmla="*/ 2147483646 h 1218"/>
                <a:gd name="T48" fmla="*/ 2147483646 w 1428"/>
                <a:gd name="T49" fmla="*/ 2147483646 h 1218"/>
                <a:gd name="T50" fmla="*/ 2147483646 w 1428"/>
                <a:gd name="T51" fmla="*/ 2147483646 h 1218"/>
                <a:gd name="T52" fmla="*/ 2147483646 w 1428"/>
                <a:gd name="T53" fmla="*/ 2147483646 h 1218"/>
                <a:gd name="T54" fmla="*/ 2147483646 w 1428"/>
                <a:gd name="T55" fmla="*/ 2147483646 h 1218"/>
                <a:gd name="T56" fmla="*/ 2147483646 w 1428"/>
                <a:gd name="T57" fmla="*/ 2147483646 h 1218"/>
                <a:gd name="T58" fmla="*/ 2147483646 w 1428"/>
                <a:gd name="T59" fmla="*/ 2147483646 h 1218"/>
                <a:gd name="T60" fmla="*/ 2147483646 w 1428"/>
                <a:gd name="T61" fmla="*/ 2147483646 h 1218"/>
                <a:gd name="T62" fmla="*/ 2147483646 w 1428"/>
                <a:gd name="T63" fmla="*/ 2147483646 h 1218"/>
                <a:gd name="T64" fmla="*/ 2147483646 w 1428"/>
                <a:gd name="T65" fmla="*/ 2147483646 h 1218"/>
                <a:gd name="T66" fmla="*/ 2147483646 w 1428"/>
                <a:gd name="T67" fmla="*/ 2147483646 h 1218"/>
                <a:gd name="T68" fmla="*/ 2147483646 w 1428"/>
                <a:gd name="T69" fmla="*/ 2147483646 h 1218"/>
                <a:gd name="T70" fmla="*/ 2147483646 w 1428"/>
                <a:gd name="T71" fmla="*/ 2147483646 h 1218"/>
                <a:gd name="T72" fmla="*/ 2147483646 w 1428"/>
                <a:gd name="T73" fmla="*/ 2147483646 h 1218"/>
                <a:gd name="T74" fmla="*/ 2147483646 w 1428"/>
                <a:gd name="T75" fmla="*/ 2147483646 h 1218"/>
                <a:gd name="T76" fmla="*/ 2147483646 w 1428"/>
                <a:gd name="T77" fmla="*/ 2147483646 h 1218"/>
                <a:gd name="T78" fmla="*/ 2147483646 w 1428"/>
                <a:gd name="T79" fmla="*/ 2147483646 h 1218"/>
                <a:gd name="T80" fmla="*/ 2147483646 w 1428"/>
                <a:gd name="T81" fmla="*/ 2147483646 h 1218"/>
                <a:gd name="T82" fmla="*/ 2147483646 w 1428"/>
                <a:gd name="T83" fmla="*/ 2147483646 h 1218"/>
                <a:gd name="T84" fmla="*/ 2147483646 w 1428"/>
                <a:gd name="T85" fmla="*/ 2147483646 h 1218"/>
                <a:gd name="T86" fmla="*/ 2147483646 w 1428"/>
                <a:gd name="T87" fmla="*/ 2147483646 h 1218"/>
                <a:gd name="T88" fmla="*/ 2147483646 w 1428"/>
                <a:gd name="T89" fmla="*/ 2147483646 h 1218"/>
                <a:gd name="T90" fmla="*/ 2147483646 w 1428"/>
                <a:gd name="T91" fmla="*/ 2147483646 h 1218"/>
                <a:gd name="T92" fmla="*/ 2147483646 w 1428"/>
                <a:gd name="T93" fmla="*/ 2147483646 h 1218"/>
                <a:gd name="T94" fmla="*/ 2147483646 w 1428"/>
                <a:gd name="T95" fmla="*/ 2147483646 h 1218"/>
                <a:gd name="T96" fmla="*/ 2147483646 w 1428"/>
                <a:gd name="T97" fmla="*/ 2147483646 h 1218"/>
                <a:gd name="T98" fmla="*/ 2147483646 w 1428"/>
                <a:gd name="T99" fmla="*/ 2147483646 h 1218"/>
                <a:gd name="T100" fmla="*/ 2147483646 w 1428"/>
                <a:gd name="T101" fmla="*/ 2147483646 h 1218"/>
                <a:gd name="T102" fmla="*/ 2147483646 w 1428"/>
                <a:gd name="T103" fmla="*/ 2147483646 h 1218"/>
                <a:gd name="T104" fmla="*/ 2147483646 w 1428"/>
                <a:gd name="T105" fmla="*/ 2147483646 h 1218"/>
                <a:gd name="T106" fmla="*/ 2147483646 w 1428"/>
                <a:gd name="T107" fmla="*/ 2147483646 h 1218"/>
                <a:gd name="T108" fmla="*/ 2147483646 w 1428"/>
                <a:gd name="T109" fmla="*/ 2147483646 h 1218"/>
                <a:gd name="T110" fmla="*/ 2147483646 w 1428"/>
                <a:gd name="T111" fmla="*/ 2147483646 h 1218"/>
                <a:gd name="T112" fmla="*/ 2147483646 w 1428"/>
                <a:gd name="T113" fmla="*/ 2147483646 h 1218"/>
                <a:gd name="T114" fmla="*/ 2147483646 w 1428"/>
                <a:gd name="T115" fmla="*/ 2147483646 h 1218"/>
                <a:gd name="T116" fmla="*/ 2147483646 w 1428"/>
                <a:gd name="T117" fmla="*/ 2147483646 h 121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428" h="1218">
                  <a:moveTo>
                    <a:pt x="1398" y="128"/>
                  </a:moveTo>
                  <a:lnTo>
                    <a:pt x="1394" y="112"/>
                  </a:lnTo>
                  <a:lnTo>
                    <a:pt x="1378" y="86"/>
                  </a:lnTo>
                  <a:lnTo>
                    <a:pt x="1366" y="80"/>
                  </a:lnTo>
                  <a:lnTo>
                    <a:pt x="1354" y="86"/>
                  </a:lnTo>
                  <a:lnTo>
                    <a:pt x="1348" y="100"/>
                  </a:lnTo>
                  <a:lnTo>
                    <a:pt x="1346" y="102"/>
                  </a:lnTo>
                  <a:lnTo>
                    <a:pt x="1344" y="102"/>
                  </a:lnTo>
                  <a:lnTo>
                    <a:pt x="1322" y="106"/>
                  </a:lnTo>
                  <a:lnTo>
                    <a:pt x="1318" y="108"/>
                  </a:lnTo>
                  <a:lnTo>
                    <a:pt x="1316" y="112"/>
                  </a:lnTo>
                  <a:lnTo>
                    <a:pt x="1310" y="116"/>
                  </a:lnTo>
                  <a:lnTo>
                    <a:pt x="1298" y="126"/>
                  </a:lnTo>
                  <a:lnTo>
                    <a:pt x="1296" y="128"/>
                  </a:lnTo>
                  <a:lnTo>
                    <a:pt x="1286" y="130"/>
                  </a:lnTo>
                  <a:lnTo>
                    <a:pt x="1276" y="126"/>
                  </a:lnTo>
                  <a:lnTo>
                    <a:pt x="1264" y="118"/>
                  </a:lnTo>
                  <a:lnTo>
                    <a:pt x="1262" y="116"/>
                  </a:lnTo>
                  <a:lnTo>
                    <a:pt x="1244" y="96"/>
                  </a:lnTo>
                  <a:lnTo>
                    <a:pt x="1240" y="90"/>
                  </a:lnTo>
                  <a:lnTo>
                    <a:pt x="1238" y="84"/>
                  </a:lnTo>
                  <a:lnTo>
                    <a:pt x="1238" y="62"/>
                  </a:lnTo>
                  <a:lnTo>
                    <a:pt x="1238" y="60"/>
                  </a:lnTo>
                  <a:lnTo>
                    <a:pt x="1242" y="56"/>
                  </a:lnTo>
                  <a:lnTo>
                    <a:pt x="1218" y="48"/>
                  </a:lnTo>
                  <a:lnTo>
                    <a:pt x="1218" y="56"/>
                  </a:lnTo>
                  <a:lnTo>
                    <a:pt x="1216" y="60"/>
                  </a:lnTo>
                  <a:lnTo>
                    <a:pt x="1210" y="64"/>
                  </a:lnTo>
                  <a:lnTo>
                    <a:pt x="1202" y="68"/>
                  </a:lnTo>
                  <a:lnTo>
                    <a:pt x="1200" y="68"/>
                  </a:lnTo>
                  <a:lnTo>
                    <a:pt x="1200" y="66"/>
                  </a:lnTo>
                  <a:lnTo>
                    <a:pt x="1188" y="64"/>
                  </a:lnTo>
                  <a:lnTo>
                    <a:pt x="1190" y="72"/>
                  </a:lnTo>
                  <a:lnTo>
                    <a:pt x="1170" y="60"/>
                  </a:lnTo>
                  <a:lnTo>
                    <a:pt x="1168" y="60"/>
                  </a:lnTo>
                  <a:lnTo>
                    <a:pt x="1168" y="58"/>
                  </a:lnTo>
                  <a:lnTo>
                    <a:pt x="1164" y="46"/>
                  </a:lnTo>
                  <a:lnTo>
                    <a:pt x="1162" y="32"/>
                  </a:lnTo>
                  <a:lnTo>
                    <a:pt x="1164" y="22"/>
                  </a:lnTo>
                  <a:lnTo>
                    <a:pt x="1166" y="16"/>
                  </a:lnTo>
                  <a:lnTo>
                    <a:pt x="1172" y="6"/>
                  </a:lnTo>
                  <a:lnTo>
                    <a:pt x="1170" y="0"/>
                  </a:lnTo>
                  <a:lnTo>
                    <a:pt x="1150" y="2"/>
                  </a:lnTo>
                  <a:lnTo>
                    <a:pt x="1142" y="4"/>
                  </a:lnTo>
                  <a:lnTo>
                    <a:pt x="1136" y="8"/>
                  </a:lnTo>
                  <a:lnTo>
                    <a:pt x="1132" y="14"/>
                  </a:lnTo>
                  <a:lnTo>
                    <a:pt x="1128" y="22"/>
                  </a:lnTo>
                  <a:lnTo>
                    <a:pt x="1116" y="40"/>
                  </a:lnTo>
                  <a:lnTo>
                    <a:pt x="1128" y="40"/>
                  </a:lnTo>
                  <a:lnTo>
                    <a:pt x="1130" y="40"/>
                  </a:lnTo>
                  <a:lnTo>
                    <a:pt x="1140" y="44"/>
                  </a:lnTo>
                  <a:lnTo>
                    <a:pt x="1142" y="44"/>
                  </a:lnTo>
                  <a:lnTo>
                    <a:pt x="1142" y="46"/>
                  </a:lnTo>
                  <a:lnTo>
                    <a:pt x="1142" y="48"/>
                  </a:lnTo>
                  <a:lnTo>
                    <a:pt x="1144" y="64"/>
                  </a:lnTo>
                  <a:lnTo>
                    <a:pt x="1150" y="80"/>
                  </a:lnTo>
                  <a:lnTo>
                    <a:pt x="1150" y="82"/>
                  </a:lnTo>
                  <a:lnTo>
                    <a:pt x="1150" y="84"/>
                  </a:lnTo>
                  <a:lnTo>
                    <a:pt x="1122" y="136"/>
                  </a:lnTo>
                  <a:lnTo>
                    <a:pt x="1120" y="142"/>
                  </a:lnTo>
                  <a:lnTo>
                    <a:pt x="1118" y="154"/>
                  </a:lnTo>
                  <a:lnTo>
                    <a:pt x="1114" y="190"/>
                  </a:lnTo>
                  <a:lnTo>
                    <a:pt x="1114" y="192"/>
                  </a:lnTo>
                  <a:lnTo>
                    <a:pt x="1104" y="212"/>
                  </a:lnTo>
                  <a:lnTo>
                    <a:pt x="1110" y="220"/>
                  </a:lnTo>
                  <a:lnTo>
                    <a:pt x="1110" y="222"/>
                  </a:lnTo>
                  <a:lnTo>
                    <a:pt x="1110" y="236"/>
                  </a:lnTo>
                  <a:lnTo>
                    <a:pt x="1110" y="242"/>
                  </a:lnTo>
                  <a:lnTo>
                    <a:pt x="1108" y="244"/>
                  </a:lnTo>
                  <a:lnTo>
                    <a:pt x="1106" y="244"/>
                  </a:lnTo>
                  <a:lnTo>
                    <a:pt x="1098" y="250"/>
                  </a:lnTo>
                  <a:lnTo>
                    <a:pt x="1088" y="262"/>
                  </a:lnTo>
                  <a:lnTo>
                    <a:pt x="1052" y="302"/>
                  </a:lnTo>
                  <a:lnTo>
                    <a:pt x="1050" y="304"/>
                  </a:lnTo>
                  <a:lnTo>
                    <a:pt x="1048" y="304"/>
                  </a:lnTo>
                  <a:lnTo>
                    <a:pt x="1046" y="302"/>
                  </a:lnTo>
                  <a:lnTo>
                    <a:pt x="1030" y="292"/>
                  </a:lnTo>
                  <a:lnTo>
                    <a:pt x="1020" y="282"/>
                  </a:lnTo>
                  <a:lnTo>
                    <a:pt x="1014" y="280"/>
                  </a:lnTo>
                  <a:lnTo>
                    <a:pt x="1008" y="278"/>
                  </a:lnTo>
                  <a:lnTo>
                    <a:pt x="982" y="276"/>
                  </a:lnTo>
                  <a:lnTo>
                    <a:pt x="982" y="314"/>
                  </a:lnTo>
                  <a:lnTo>
                    <a:pt x="966" y="384"/>
                  </a:lnTo>
                  <a:lnTo>
                    <a:pt x="964" y="392"/>
                  </a:lnTo>
                  <a:lnTo>
                    <a:pt x="964" y="402"/>
                  </a:lnTo>
                  <a:lnTo>
                    <a:pt x="962" y="432"/>
                  </a:lnTo>
                  <a:lnTo>
                    <a:pt x="968" y="440"/>
                  </a:lnTo>
                  <a:lnTo>
                    <a:pt x="974" y="430"/>
                  </a:lnTo>
                  <a:lnTo>
                    <a:pt x="974" y="428"/>
                  </a:lnTo>
                  <a:lnTo>
                    <a:pt x="994" y="420"/>
                  </a:lnTo>
                  <a:lnTo>
                    <a:pt x="1044" y="428"/>
                  </a:lnTo>
                  <a:lnTo>
                    <a:pt x="1050" y="420"/>
                  </a:lnTo>
                  <a:lnTo>
                    <a:pt x="1058" y="408"/>
                  </a:lnTo>
                  <a:lnTo>
                    <a:pt x="1060" y="406"/>
                  </a:lnTo>
                  <a:lnTo>
                    <a:pt x="1080" y="402"/>
                  </a:lnTo>
                  <a:lnTo>
                    <a:pt x="1106" y="400"/>
                  </a:lnTo>
                  <a:lnTo>
                    <a:pt x="1112" y="404"/>
                  </a:lnTo>
                  <a:lnTo>
                    <a:pt x="1120" y="410"/>
                  </a:lnTo>
                  <a:lnTo>
                    <a:pt x="1136" y="428"/>
                  </a:lnTo>
                  <a:lnTo>
                    <a:pt x="1158" y="440"/>
                  </a:lnTo>
                  <a:lnTo>
                    <a:pt x="1174" y="452"/>
                  </a:lnTo>
                  <a:lnTo>
                    <a:pt x="1184" y="462"/>
                  </a:lnTo>
                  <a:lnTo>
                    <a:pt x="1190" y="472"/>
                  </a:lnTo>
                  <a:lnTo>
                    <a:pt x="1192" y="480"/>
                  </a:lnTo>
                  <a:lnTo>
                    <a:pt x="1190" y="488"/>
                  </a:lnTo>
                  <a:lnTo>
                    <a:pt x="1186" y="492"/>
                  </a:lnTo>
                  <a:lnTo>
                    <a:pt x="1184" y="496"/>
                  </a:lnTo>
                  <a:lnTo>
                    <a:pt x="1174" y="498"/>
                  </a:lnTo>
                  <a:lnTo>
                    <a:pt x="1172" y="498"/>
                  </a:lnTo>
                  <a:lnTo>
                    <a:pt x="1126" y="498"/>
                  </a:lnTo>
                  <a:lnTo>
                    <a:pt x="1112" y="498"/>
                  </a:lnTo>
                  <a:lnTo>
                    <a:pt x="1102" y="500"/>
                  </a:lnTo>
                  <a:lnTo>
                    <a:pt x="1084" y="512"/>
                  </a:lnTo>
                  <a:lnTo>
                    <a:pt x="1054" y="532"/>
                  </a:lnTo>
                  <a:lnTo>
                    <a:pt x="1042" y="536"/>
                  </a:lnTo>
                  <a:lnTo>
                    <a:pt x="1034" y="538"/>
                  </a:lnTo>
                  <a:lnTo>
                    <a:pt x="1018" y="540"/>
                  </a:lnTo>
                  <a:lnTo>
                    <a:pt x="1010" y="580"/>
                  </a:lnTo>
                  <a:lnTo>
                    <a:pt x="1004" y="596"/>
                  </a:lnTo>
                  <a:lnTo>
                    <a:pt x="1000" y="602"/>
                  </a:lnTo>
                  <a:lnTo>
                    <a:pt x="996" y="606"/>
                  </a:lnTo>
                  <a:lnTo>
                    <a:pt x="990" y="610"/>
                  </a:lnTo>
                  <a:lnTo>
                    <a:pt x="984" y="614"/>
                  </a:lnTo>
                  <a:lnTo>
                    <a:pt x="966" y="620"/>
                  </a:lnTo>
                  <a:lnTo>
                    <a:pt x="956" y="622"/>
                  </a:lnTo>
                  <a:lnTo>
                    <a:pt x="946" y="626"/>
                  </a:lnTo>
                  <a:lnTo>
                    <a:pt x="926" y="634"/>
                  </a:lnTo>
                  <a:lnTo>
                    <a:pt x="914" y="664"/>
                  </a:lnTo>
                  <a:lnTo>
                    <a:pt x="912" y="664"/>
                  </a:lnTo>
                  <a:lnTo>
                    <a:pt x="910" y="664"/>
                  </a:lnTo>
                  <a:lnTo>
                    <a:pt x="874" y="680"/>
                  </a:lnTo>
                  <a:lnTo>
                    <a:pt x="872" y="680"/>
                  </a:lnTo>
                  <a:lnTo>
                    <a:pt x="854" y="676"/>
                  </a:lnTo>
                  <a:lnTo>
                    <a:pt x="834" y="670"/>
                  </a:lnTo>
                  <a:lnTo>
                    <a:pt x="820" y="664"/>
                  </a:lnTo>
                  <a:lnTo>
                    <a:pt x="814" y="662"/>
                  </a:lnTo>
                  <a:lnTo>
                    <a:pt x="806" y="660"/>
                  </a:lnTo>
                  <a:lnTo>
                    <a:pt x="798" y="660"/>
                  </a:lnTo>
                  <a:lnTo>
                    <a:pt x="790" y="662"/>
                  </a:lnTo>
                  <a:lnTo>
                    <a:pt x="784" y="672"/>
                  </a:lnTo>
                  <a:lnTo>
                    <a:pt x="778" y="684"/>
                  </a:lnTo>
                  <a:lnTo>
                    <a:pt x="776" y="698"/>
                  </a:lnTo>
                  <a:lnTo>
                    <a:pt x="776" y="710"/>
                  </a:lnTo>
                  <a:lnTo>
                    <a:pt x="778" y="722"/>
                  </a:lnTo>
                  <a:lnTo>
                    <a:pt x="782" y="728"/>
                  </a:lnTo>
                  <a:lnTo>
                    <a:pt x="786" y="728"/>
                  </a:lnTo>
                  <a:lnTo>
                    <a:pt x="794" y="724"/>
                  </a:lnTo>
                  <a:lnTo>
                    <a:pt x="794" y="748"/>
                  </a:lnTo>
                  <a:lnTo>
                    <a:pt x="794" y="756"/>
                  </a:lnTo>
                  <a:lnTo>
                    <a:pt x="792" y="760"/>
                  </a:lnTo>
                  <a:lnTo>
                    <a:pt x="790" y="764"/>
                  </a:lnTo>
                  <a:lnTo>
                    <a:pt x="786" y="768"/>
                  </a:lnTo>
                  <a:lnTo>
                    <a:pt x="776" y="774"/>
                  </a:lnTo>
                  <a:lnTo>
                    <a:pt x="764" y="778"/>
                  </a:lnTo>
                  <a:lnTo>
                    <a:pt x="758" y="780"/>
                  </a:lnTo>
                  <a:lnTo>
                    <a:pt x="750" y="786"/>
                  </a:lnTo>
                  <a:lnTo>
                    <a:pt x="738" y="798"/>
                  </a:lnTo>
                  <a:lnTo>
                    <a:pt x="724" y="818"/>
                  </a:lnTo>
                  <a:lnTo>
                    <a:pt x="708" y="844"/>
                  </a:lnTo>
                  <a:lnTo>
                    <a:pt x="706" y="844"/>
                  </a:lnTo>
                  <a:lnTo>
                    <a:pt x="682" y="860"/>
                  </a:lnTo>
                  <a:lnTo>
                    <a:pt x="688" y="860"/>
                  </a:lnTo>
                  <a:lnTo>
                    <a:pt x="688" y="862"/>
                  </a:lnTo>
                  <a:lnTo>
                    <a:pt x="688" y="864"/>
                  </a:lnTo>
                  <a:lnTo>
                    <a:pt x="686" y="868"/>
                  </a:lnTo>
                  <a:lnTo>
                    <a:pt x="678" y="868"/>
                  </a:lnTo>
                  <a:lnTo>
                    <a:pt x="610" y="868"/>
                  </a:lnTo>
                  <a:lnTo>
                    <a:pt x="584" y="868"/>
                  </a:lnTo>
                  <a:lnTo>
                    <a:pt x="558" y="870"/>
                  </a:lnTo>
                  <a:lnTo>
                    <a:pt x="532" y="874"/>
                  </a:lnTo>
                  <a:lnTo>
                    <a:pt x="510" y="882"/>
                  </a:lnTo>
                  <a:lnTo>
                    <a:pt x="488" y="890"/>
                  </a:lnTo>
                  <a:lnTo>
                    <a:pt x="468" y="900"/>
                  </a:lnTo>
                  <a:lnTo>
                    <a:pt x="450" y="914"/>
                  </a:lnTo>
                  <a:lnTo>
                    <a:pt x="434" y="928"/>
                  </a:lnTo>
                  <a:lnTo>
                    <a:pt x="432" y="930"/>
                  </a:lnTo>
                  <a:lnTo>
                    <a:pt x="430" y="930"/>
                  </a:lnTo>
                  <a:lnTo>
                    <a:pt x="402" y="934"/>
                  </a:lnTo>
                  <a:lnTo>
                    <a:pt x="400" y="934"/>
                  </a:lnTo>
                  <a:lnTo>
                    <a:pt x="398" y="934"/>
                  </a:lnTo>
                  <a:lnTo>
                    <a:pt x="390" y="916"/>
                  </a:lnTo>
                  <a:lnTo>
                    <a:pt x="362" y="922"/>
                  </a:lnTo>
                  <a:lnTo>
                    <a:pt x="350" y="922"/>
                  </a:lnTo>
                  <a:lnTo>
                    <a:pt x="336" y="920"/>
                  </a:lnTo>
                  <a:lnTo>
                    <a:pt x="320" y="916"/>
                  </a:lnTo>
                  <a:lnTo>
                    <a:pt x="304" y="908"/>
                  </a:lnTo>
                  <a:lnTo>
                    <a:pt x="290" y="900"/>
                  </a:lnTo>
                  <a:lnTo>
                    <a:pt x="274" y="892"/>
                  </a:lnTo>
                  <a:lnTo>
                    <a:pt x="246" y="872"/>
                  </a:lnTo>
                  <a:lnTo>
                    <a:pt x="238" y="866"/>
                  </a:lnTo>
                  <a:lnTo>
                    <a:pt x="226" y="860"/>
                  </a:lnTo>
                  <a:lnTo>
                    <a:pt x="214" y="856"/>
                  </a:lnTo>
                  <a:lnTo>
                    <a:pt x="202" y="854"/>
                  </a:lnTo>
                  <a:lnTo>
                    <a:pt x="176" y="852"/>
                  </a:lnTo>
                  <a:lnTo>
                    <a:pt x="148" y="856"/>
                  </a:lnTo>
                  <a:lnTo>
                    <a:pt x="116" y="858"/>
                  </a:lnTo>
                  <a:lnTo>
                    <a:pt x="86" y="856"/>
                  </a:lnTo>
                  <a:lnTo>
                    <a:pt x="68" y="854"/>
                  </a:lnTo>
                  <a:lnTo>
                    <a:pt x="48" y="852"/>
                  </a:lnTo>
                  <a:lnTo>
                    <a:pt x="2" y="838"/>
                  </a:lnTo>
                  <a:lnTo>
                    <a:pt x="0" y="844"/>
                  </a:lnTo>
                  <a:lnTo>
                    <a:pt x="2" y="844"/>
                  </a:lnTo>
                  <a:lnTo>
                    <a:pt x="2" y="852"/>
                  </a:lnTo>
                  <a:lnTo>
                    <a:pt x="10" y="868"/>
                  </a:lnTo>
                  <a:lnTo>
                    <a:pt x="26" y="888"/>
                  </a:lnTo>
                  <a:lnTo>
                    <a:pt x="28" y="892"/>
                  </a:lnTo>
                  <a:lnTo>
                    <a:pt x="24" y="906"/>
                  </a:lnTo>
                  <a:lnTo>
                    <a:pt x="24" y="908"/>
                  </a:lnTo>
                  <a:lnTo>
                    <a:pt x="14" y="920"/>
                  </a:lnTo>
                  <a:lnTo>
                    <a:pt x="24" y="930"/>
                  </a:lnTo>
                  <a:lnTo>
                    <a:pt x="30" y="936"/>
                  </a:lnTo>
                  <a:lnTo>
                    <a:pt x="30" y="940"/>
                  </a:lnTo>
                  <a:lnTo>
                    <a:pt x="34" y="956"/>
                  </a:lnTo>
                  <a:lnTo>
                    <a:pt x="46" y="968"/>
                  </a:lnTo>
                  <a:lnTo>
                    <a:pt x="46" y="970"/>
                  </a:lnTo>
                  <a:lnTo>
                    <a:pt x="46" y="980"/>
                  </a:lnTo>
                  <a:lnTo>
                    <a:pt x="46" y="988"/>
                  </a:lnTo>
                  <a:lnTo>
                    <a:pt x="54" y="994"/>
                  </a:lnTo>
                  <a:lnTo>
                    <a:pt x="58" y="992"/>
                  </a:lnTo>
                  <a:lnTo>
                    <a:pt x="60" y="990"/>
                  </a:lnTo>
                  <a:lnTo>
                    <a:pt x="64" y="982"/>
                  </a:lnTo>
                  <a:lnTo>
                    <a:pt x="72" y="980"/>
                  </a:lnTo>
                  <a:lnTo>
                    <a:pt x="78" y="976"/>
                  </a:lnTo>
                  <a:lnTo>
                    <a:pt x="120" y="972"/>
                  </a:lnTo>
                  <a:lnTo>
                    <a:pt x="138" y="966"/>
                  </a:lnTo>
                  <a:lnTo>
                    <a:pt x="142" y="964"/>
                  </a:lnTo>
                  <a:lnTo>
                    <a:pt x="150" y="984"/>
                  </a:lnTo>
                  <a:lnTo>
                    <a:pt x="150" y="990"/>
                  </a:lnTo>
                  <a:lnTo>
                    <a:pt x="148" y="996"/>
                  </a:lnTo>
                  <a:lnTo>
                    <a:pt x="126" y="1028"/>
                  </a:lnTo>
                  <a:lnTo>
                    <a:pt x="126" y="1034"/>
                  </a:lnTo>
                  <a:lnTo>
                    <a:pt x="138" y="1044"/>
                  </a:lnTo>
                  <a:lnTo>
                    <a:pt x="148" y="1052"/>
                  </a:lnTo>
                  <a:lnTo>
                    <a:pt x="156" y="1060"/>
                  </a:lnTo>
                  <a:lnTo>
                    <a:pt x="162" y="1064"/>
                  </a:lnTo>
                  <a:lnTo>
                    <a:pt x="170" y="1068"/>
                  </a:lnTo>
                  <a:lnTo>
                    <a:pt x="178" y="1076"/>
                  </a:lnTo>
                  <a:lnTo>
                    <a:pt x="178" y="1078"/>
                  </a:lnTo>
                  <a:lnTo>
                    <a:pt x="186" y="1082"/>
                  </a:lnTo>
                  <a:lnTo>
                    <a:pt x="190" y="1082"/>
                  </a:lnTo>
                  <a:lnTo>
                    <a:pt x="192" y="1092"/>
                  </a:lnTo>
                  <a:lnTo>
                    <a:pt x="194" y="1100"/>
                  </a:lnTo>
                  <a:lnTo>
                    <a:pt x="196" y="1112"/>
                  </a:lnTo>
                  <a:lnTo>
                    <a:pt x="216" y="1116"/>
                  </a:lnTo>
                  <a:lnTo>
                    <a:pt x="218" y="1116"/>
                  </a:lnTo>
                  <a:lnTo>
                    <a:pt x="218" y="1118"/>
                  </a:lnTo>
                  <a:lnTo>
                    <a:pt x="220" y="1120"/>
                  </a:lnTo>
                  <a:lnTo>
                    <a:pt x="226" y="1130"/>
                  </a:lnTo>
                  <a:lnTo>
                    <a:pt x="242" y="1136"/>
                  </a:lnTo>
                  <a:lnTo>
                    <a:pt x="252" y="1130"/>
                  </a:lnTo>
                  <a:lnTo>
                    <a:pt x="250" y="1124"/>
                  </a:lnTo>
                  <a:lnTo>
                    <a:pt x="240" y="1114"/>
                  </a:lnTo>
                  <a:lnTo>
                    <a:pt x="242" y="1112"/>
                  </a:lnTo>
                  <a:lnTo>
                    <a:pt x="250" y="1094"/>
                  </a:lnTo>
                  <a:lnTo>
                    <a:pt x="270" y="1094"/>
                  </a:lnTo>
                  <a:lnTo>
                    <a:pt x="270" y="1096"/>
                  </a:lnTo>
                  <a:lnTo>
                    <a:pt x="298" y="1104"/>
                  </a:lnTo>
                  <a:lnTo>
                    <a:pt x="314" y="1102"/>
                  </a:lnTo>
                  <a:lnTo>
                    <a:pt x="326" y="1092"/>
                  </a:lnTo>
                  <a:lnTo>
                    <a:pt x="334" y="1080"/>
                  </a:lnTo>
                  <a:lnTo>
                    <a:pt x="342" y="1074"/>
                  </a:lnTo>
                  <a:lnTo>
                    <a:pt x="348" y="1070"/>
                  </a:lnTo>
                  <a:lnTo>
                    <a:pt x="354" y="1072"/>
                  </a:lnTo>
                  <a:lnTo>
                    <a:pt x="360" y="1070"/>
                  </a:lnTo>
                  <a:lnTo>
                    <a:pt x="368" y="1072"/>
                  </a:lnTo>
                  <a:lnTo>
                    <a:pt x="374" y="1072"/>
                  </a:lnTo>
                  <a:lnTo>
                    <a:pt x="374" y="1076"/>
                  </a:lnTo>
                  <a:lnTo>
                    <a:pt x="378" y="1084"/>
                  </a:lnTo>
                  <a:lnTo>
                    <a:pt x="382" y="1096"/>
                  </a:lnTo>
                  <a:lnTo>
                    <a:pt x="386" y="1108"/>
                  </a:lnTo>
                  <a:lnTo>
                    <a:pt x="386" y="1110"/>
                  </a:lnTo>
                  <a:lnTo>
                    <a:pt x="382" y="1124"/>
                  </a:lnTo>
                  <a:lnTo>
                    <a:pt x="368" y="1140"/>
                  </a:lnTo>
                  <a:lnTo>
                    <a:pt x="366" y="1142"/>
                  </a:lnTo>
                  <a:lnTo>
                    <a:pt x="338" y="1154"/>
                  </a:lnTo>
                  <a:lnTo>
                    <a:pt x="334" y="1162"/>
                  </a:lnTo>
                  <a:lnTo>
                    <a:pt x="330" y="1186"/>
                  </a:lnTo>
                  <a:lnTo>
                    <a:pt x="332" y="1196"/>
                  </a:lnTo>
                  <a:lnTo>
                    <a:pt x="340" y="1208"/>
                  </a:lnTo>
                  <a:lnTo>
                    <a:pt x="342" y="1212"/>
                  </a:lnTo>
                  <a:lnTo>
                    <a:pt x="352" y="1218"/>
                  </a:lnTo>
                  <a:lnTo>
                    <a:pt x="386" y="1218"/>
                  </a:lnTo>
                  <a:lnTo>
                    <a:pt x="414" y="1214"/>
                  </a:lnTo>
                  <a:lnTo>
                    <a:pt x="418" y="1210"/>
                  </a:lnTo>
                  <a:lnTo>
                    <a:pt x="424" y="1204"/>
                  </a:lnTo>
                  <a:lnTo>
                    <a:pt x="428" y="1204"/>
                  </a:lnTo>
                  <a:lnTo>
                    <a:pt x="448" y="1206"/>
                  </a:lnTo>
                  <a:lnTo>
                    <a:pt x="450" y="1204"/>
                  </a:lnTo>
                  <a:lnTo>
                    <a:pt x="448" y="1196"/>
                  </a:lnTo>
                  <a:lnTo>
                    <a:pt x="450" y="1188"/>
                  </a:lnTo>
                  <a:lnTo>
                    <a:pt x="458" y="1174"/>
                  </a:lnTo>
                  <a:lnTo>
                    <a:pt x="458" y="1148"/>
                  </a:lnTo>
                  <a:lnTo>
                    <a:pt x="474" y="1106"/>
                  </a:lnTo>
                  <a:lnTo>
                    <a:pt x="474" y="1104"/>
                  </a:lnTo>
                  <a:lnTo>
                    <a:pt x="500" y="1084"/>
                  </a:lnTo>
                  <a:lnTo>
                    <a:pt x="502" y="1082"/>
                  </a:lnTo>
                  <a:lnTo>
                    <a:pt x="522" y="1092"/>
                  </a:lnTo>
                  <a:lnTo>
                    <a:pt x="536" y="1102"/>
                  </a:lnTo>
                  <a:lnTo>
                    <a:pt x="538" y="1108"/>
                  </a:lnTo>
                  <a:lnTo>
                    <a:pt x="540" y="1110"/>
                  </a:lnTo>
                  <a:lnTo>
                    <a:pt x="538" y="1128"/>
                  </a:lnTo>
                  <a:lnTo>
                    <a:pt x="530" y="1140"/>
                  </a:lnTo>
                  <a:lnTo>
                    <a:pt x="526" y="1156"/>
                  </a:lnTo>
                  <a:lnTo>
                    <a:pt x="526" y="1172"/>
                  </a:lnTo>
                  <a:lnTo>
                    <a:pt x="530" y="1180"/>
                  </a:lnTo>
                  <a:lnTo>
                    <a:pt x="538" y="1180"/>
                  </a:lnTo>
                  <a:lnTo>
                    <a:pt x="540" y="1180"/>
                  </a:lnTo>
                  <a:lnTo>
                    <a:pt x="552" y="1180"/>
                  </a:lnTo>
                  <a:lnTo>
                    <a:pt x="556" y="1182"/>
                  </a:lnTo>
                  <a:lnTo>
                    <a:pt x="560" y="1186"/>
                  </a:lnTo>
                  <a:lnTo>
                    <a:pt x="566" y="1196"/>
                  </a:lnTo>
                  <a:lnTo>
                    <a:pt x="572" y="1200"/>
                  </a:lnTo>
                  <a:lnTo>
                    <a:pt x="574" y="1200"/>
                  </a:lnTo>
                  <a:lnTo>
                    <a:pt x="602" y="1212"/>
                  </a:lnTo>
                  <a:lnTo>
                    <a:pt x="614" y="1216"/>
                  </a:lnTo>
                  <a:lnTo>
                    <a:pt x="630" y="1214"/>
                  </a:lnTo>
                  <a:lnTo>
                    <a:pt x="638" y="1204"/>
                  </a:lnTo>
                  <a:lnTo>
                    <a:pt x="646" y="1164"/>
                  </a:lnTo>
                  <a:lnTo>
                    <a:pt x="648" y="1144"/>
                  </a:lnTo>
                  <a:lnTo>
                    <a:pt x="648" y="1142"/>
                  </a:lnTo>
                  <a:lnTo>
                    <a:pt x="650" y="1140"/>
                  </a:lnTo>
                  <a:lnTo>
                    <a:pt x="666" y="1128"/>
                  </a:lnTo>
                  <a:lnTo>
                    <a:pt x="674" y="1116"/>
                  </a:lnTo>
                  <a:lnTo>
                    <a:pt x="690" y="1108"/>
                  </a:lnTo>
                  <a:lnTo>
                    <a:pt x="700" y="1102"/>
                  </a:lnTo>
                  <a:lnTo>
                    <a:pt x="712" y="1098"/>
                  </a:lnTo>
                  <a:lnTo>
                    <a:pt x="706" y="1074"/>
                  </a:lnTo>
                  <a:lnTo>
                    <a:pt x="734" y="1076"/>
                  </a:lnTo>
                  <a:lnTo>
                    <a:pt x="734" y="1078"/>
                  </a:lnTo>
                  <a:lnTo>
                    <a:pt x="748" y="1084"/>
                  </a:lnTo>
                  <a:lnTo>
                    <a:pt x="748" y="1082"/>
                  </a:lnTo>
                  <a:lnTo>
                    <a:pt x="752" y="1068"/>
                  </a:lnTo>
                  <a:lnTo>
                    <a:pt x="752" y="1064"/>
                  </a:lnTo>
                  <a:lnTo>
                    <a:pt x="754" y="1066"/>
                  </a:lnTo>
                  <a:lnTo>
                    <a:pt x="756" y="1066"/>
                  </a:lnTo>
                  <a:lnTo>
                    <a:pt x="768" y="1068"/>
                  </a:lnTo>
                  <a:lnTo>
                    <a:pt x="774" y="1068"/>
                  </a:lnTo>
                  <a:lnTo>
                    <a:pt x="786" y="1056"/>
                  </a:lnTo>
                  <a:lnTo>
                    <a:pt x="788" y="1056"/>
                  </a:lnTo>
                  <a:lnTo>
                    <a:pt x="788" y="1054"/>
                  </a:lnTo>
                  <a:lnTo>
                    <a:pt x="790" y="1054"/>
                  </a:lnTo>
                  <a:lnTo>
                    <a:pt x="806" y="1052"/>
                  </a:lnTo>
                  <a:lnTo>
                    <a:pt x="818" y="1038"/>
                  </a:lnTo>
                  <a:lnTo>
                    <a:pt x="826" y="1028"/>
                  </a:lnTo>
                  <a:lnTo>
                    <a:pt x="826" y="1016"/>
                  </a:lnTo>
                  <a:lnTo>
                    <a:pt x="828" y="1010"/>
                  </a:lnTo>
                  <a:lnTo>
                    <a:pt x="834" y="1004"/>
                  </a:lnTo>
                  <a:lnTo>
                    <a:pt x="836" y="1004"/>
                  </a:lnTo>
                  <a:lnTo>
                    <a:pt x="850" y="1006"/>
                  </a:lnTo>
                  <a:lnTo>
                    <a:pt x="858" y="1002"/>
                  </a:lnTo>
                  <a:lnTo>
                    <a:pt x="860" y="992"/>
                  </a:lnTo>
                  <a:lnTo>
                    <a:pt x="876" y="986"/>
                  </a:lnTo>
                  <a:lnTo>
                    <a:pt x="878" y="986"/>
                  </a:lnTo>
                  <a:lnTo>
                    <a:pt x="898" y="988"/>
                  </a:lnTo>
                  <a:lnTo>
                    <a:pt x="914" y="984"/>
                  </a:lnTo>
                  <a:lnTo>
                    <a:pt x="922" y="976"/>
                  </a:lnTo>
                  <a:lnTo>
                    <a:pt x="930" y="962"/>
                  </a:lnTo>
                  <a:lnTo>
                    <a:pt x="918" y="950"/>
                  </a:lnTo>
                  <a:lnTo>
                    <a:pt x="918" y="948"/>
                  </a:lnTo>
                  <a:lnTo>
                    <a:pt x="914" y="940"/>
                  </a:lnTo>
                  <a:lnTo>
                    <a:pt x="912" y="924"/>
                  </a:lnTo>
                  <a:lnTo>
                    <a:pt x="918" y="912"/>
                  </a:lnTo>
                  <a:lnTo>
                    <a:pt x="920" y="904"/>
                  </a:lnTo>
                  <a:lnTo>
                    <a:pt x="928" y="896"/>
                  </a:lnTo>
                  <a:lnTo>
                    <a:pt x="936" y="878"/>
                  </a:lnTo>
                  <a:lnTo>
                    <a:pt x="936" y="876"/>
                  </a:lnTo>
                  <a:lnTo>
                    <a:pt x="938" y="876"/>
                  </a:lnTo>
                  <a:lnTo>
                    <a:pt x="946" y="864"/>
                  </a:lnTo>
                  <a:lnTo>
                    <a:pt x="958" y="840"/>
                  </a:lnTo>
                  <a:lnTo>
                    <a:pt x="968" y="856"/>
                  </a:lnTo>
                  <a:lnTo>
                    <a:pt x="970" y="856"/>
                  </a:lnTo>
                  <a:lnTo>
                    <a:pt x="970" y="858"/>
                  </a:lnTo>
                  <a:lnTo>
                    <a:pt x="974" y="874"/>
                  </a:lnTo>
                  <a:lnTo>
                    <a:pt x="976" y="890"/>
                  </a:lnTo>
                  <a:lnTo>
                    <a:pt x="986" y="896"/>
                  </a:lnTo>
                  <a:lnTo>
                    <a:pt x="988" y="896"/>
                  </a:lnTo>
                  <a:lnTo>
                    <a:pt x="990" y="896"/>
                  </a:lnTo>
                  <a:lnTo>
                    <a:pt x="992" y="896"/>
                  </a:lnTo>
                  <a:lnTo>
                    <a:pt x="1002" y="880"/>
                  </a:lnTo>
                  <a:lnTo>
                    <a:pt x="1006" y="864"/>
                  </a:lnTo>
                  <a:lnTo>
                    <a:pt x="1010" y="864"/>
                  </a:lnTo>
                  <a:lnTo>
                    <a:pt x="1012" y="864"/>
                  </a:lnTo>
                  <a:lnTo>
                    <a:pt x="1034" y="872"/>
                  </a:lnTo>
                  <a:lnTo>
                    <a:pt x="1046" y="864"/>
                  </a:lnTo>
                  <a:lnTo>
                    <a:pt x="1048" y="864"/>
                  </a:lnTo>
                  <a:lnTo>
                    <a:pt x="1060" y="862"/>
                  </a:lnTo>
                  <a:lnTo>
                    <a:pt x="1068" y="848"/>
                  </a:lnTo>
                  <a:lnTo>
                    <a:pt x="1068" y="832"/>
                  </a:lnTo>
                  <a:lnTo>
                    <a:pt x="1074" y="806"/>
                  </a:lnTo>
                  <a:lnTo>
                    <a:pt x="1074" y="808"/>
                  </a:lnTo>
                  <a:lnTo>
                    <a:pt x="1078" y="808"/>
                  </a:lnTo>
                  <a:lnTo>
                    <a:pt x="1094" y="812"/>
                  </a:lnTo>
                  <a:lnTo>
                    <a:pt x="1102" y="796"/>
                  </a:lnTo>
                  <a:lnTo>
                    <a:pt x="1104" y="796"/>
                  </a:lnTo>
                  <a:lnTo>
                    <a:pt x="1106" y="796"/>
                  </a:lnTo>
                  <a:lnTo>
                    <a:pt x="1122" y="796"/>
                  </a:lnTo>
                  <a:lnTo>
                    <a:pt x="1124" y="796"/>
                  </a:lnTo>
                  <a:lnTo>
                    <a:pt x="1126" y="796"/>
                  </a:lnTo>
                  <a:lnTo>
                    <a:pt x="1134" y="808"/>
                  </a:lnTo>
                  <a:lnTo>
                    <a:pt x="1134" y="810"/>
                  </a:lnTo>
                  <a:lnTo>
                    <a:pt x="1134" y="812"/>
                  </a:lnTo>
                  <a:lnTo>
                    <a:pt x="1136" y="828"/>
                  </a:lnTo>
                  <a:lnTo>
                    <a:pt x="1144" y="834"/>
                  </a:lnTo>
                  <a:lnTo>
                    <a:pt x="1154" y="824"/>
                  </a:lnTo>
                  <a:lnTo>
                    <a:pt x="1158" y="828"/>
                  </a:lnTo>
                  <a:lnTo>
                    <a:pt x="1162" y="834"/>
                  </a:lnTo>
                  <a:lnTo>
                    <a:pt x="1162" y="840"/>
                  </a:lnTo>
                  <a:lnTo>
                    <a:pt x="1162" y="854"/>
                  </a:lnTo>
                  <a:lnTo>
                    <a:pt x="1158" y="868"/>
                  </a:lnTo>
                  <a:lnTo>
                    <a:pt x="1162" y="876"/>
                  </a:lnTo>
                  <a:lnTo>
                    <a:pt x="1170" y="884"/>
                  </a:lnTo>
                  <a:lnTo>
                    <a:pt x="1202" y="888"/>
                  </a:lnTo>
                  <a:lnTo>
                    <a:pt x="1204" y="890"/>
                  </a:lnTo>
                  <a:lnTo>
                    <a:pt x="1206" y="890"/>
                  </a:lnTo>
                  <a:lnTo>
                    <a:pt x="1208" y="892"/>
                  </a:lnTo>
                  <a:lnTo>
                    <a:pt x="1218" y="880"/>
                  </a:lnTo>
                  <a:lnTo>
                    <a:pt x="1226" y="872"/>
                  </a:lnTo>
                  <a:lnTo>
                    <a:pt x="1222" y="860"/>
                  </a:lnTo>
                  <a:lnTo>
                    <a:pt x="1214" y="808"/>
                  </a:lnTo>
                  <a:lnTo>
                    <a:pt x="1238" y="820"/>
                  </a:lnTo>
                  <a:lnTo>
                    <a:pt x="1250" y="832"/>
                  </a:lnTo>
                  <a:lnTo>
                    <a:pt x="1256" y="838"/>
                  </a:lnTo>
                  <a:lnTo>
                    <a:pt x="1266" y="832"/>
                  </a:lnTo>
                  <a:lnTo>
                    <a:pt x="1298" y="796"/>
                  </a:lnTo>
                  <a:lnTo>
                    <a:pt x="1300" y="796"/>
                  </a:lnTo>
                  <a:lnTo>
                    <a:pt x="1312" y="786"/>
                  </a:lnTo>
                  <a:lnTo>
                    <a:pt x="1326" y="768"/>
                  </a:lnTo>
                  <a:lnTo>
                    <a:pt x="1326" y="766"/>
                  </a:lnTo>
                  <a:lnTo>
                    <a:pt x="1344" y="770"/>
                  </a:lnTo>
                  <a:lnTo>
                    <a:pt x="1354" y="770"/>
                  </a:lnTo>
                  <a:lnTo>
                    <a:pt x="1354" y="762"/>
                  </a:lnTo>
                  <a:lnTo>
                    <a:pt x="1356" y="756"/>
                  </a:lnTo>
                  <a:lnTo>
                    <a:pt x="1370" y="740"/>
                  </a:lnTo>
                  <a:lnTo>
                    <a:pt x="1374" y="736"/>
                  </a:lnTo>
                  <a:lnTo>
                    <a:pt x="1390" y="742"/>
                  </a:lnTo>
                  <a:lnTo>
                    <a:pt x="1408" y="740"/>
                  </a:lnTo>
                  <a:lnTo>
                    <a:pt x="1422" y="726"/>
                  </a:lnTo>
                  <a:lnTo>
                    <a:pt x="1428" y="714"/>
                  </a:lnTo>
                  <a:lnTo>
                    <a:pt x="1424" y="708"/>
                  </a:lnTo>
                  <a:lnTo>
                    <a:pt x="1412" y="714"/>
                  </a:lnTo>
                  <a:lnTo>
                    <a:pt x="1412" y="712"/>
                  </a:lnTo>
                  <a:lnTo>
                    <a:pt x="1410" y="712"/>
                  </a:lnTo>
                  <a:lnTo>
                    <a:pt x="1396" y="700"/>
                  </a:lnTo>
                  <a:lnTo>
                    <a:pt x="1396" y="698"/>
                  </a:lnTo>
                  <a:lnTo>
                    <a:pt x="1402" y="676"/>
                  </a:lnTo>
                  <a:lnTo>
                    <a:pt x="1402" y="660"/>
                  </a:lnTo>
                  <a:lnTo>
                    <a:pt x="1398" y="648"/>
                  </a:lnTo>
                  <a:lnTo>
                    <a:pt x="1388" y="644"/>
                  </a:lnTo>
                  <a:lnTo>
                    <a:pt x="1388" y="642"/>
                  </a:lnTo>
                  <a:lnTo>
                    <a:pt x="1386" y="642"/>
                  </a:lnTo>
                  <a:lnTo>
                    <a:pt x="1386" y="640"/>
                  </a:lnTo>
                  <a:lnTo>
                    <a:pt x="1376" y="622"/>
                  </a:lnTo>
                  <a:lnTo>
                    <a:pt x="1374" y="620"/>
                  </a:lnTo>
                  <a:lnTo>
                    <a:pt x="1362" y="636"/>
                  </a:lnTo>
                  <a:lnTo>
                    <a:pt x="1348" y="644"/>
                  </a:lnTo>
                  <a:lnTo>
                    <a:pt x="1344" y="646"/>
                  </a:lnTo>
                  <a:lnTo>
                    <a:pt x="1344" y="644"/>
                  </a:lnTo>
                  <a:lnTo>
                    <a:pt x="1342" y="644"/>
                  </a:lnTo>
                  <a:lnTo>
                    <a:pt x="1328" y="630"/>
                  </a:lnTo>
                  <a:lnTo>
                    <a:pt x="1328" y="628"/>
                  </a:lnTo>
                  <a:lnTo>
                    <a:pt x="1318" y="606"/>
                  </a:lnTo>
                  <a:lnTo>
                    <a:pt x="1314" y="590"/>
                  </a:lnTo>
                  <a:lnTo>
                    <a:pt x="1314" y="588"/>
                  </a:lnTo>
                  <a:lnTo>
                    <a:pt x="1314" y="564"/>
                  </a:lnTo>
                  <a:lnTo>
                    <a:pt x="1312" y="550"/>
                  </a:lnTo>
                  <a:lnTo>
                    <a:pt x="1300" y="546"/>
                  </a:lnTo>
                  <a:lnTo>
                    <a:pt x="1274" y="526"/>
                  </a:lnTo>
                  <a:lnTo>
                    <a:pt x="1276" y="524"/>
                  </a:lnTo>
                  <a:lnTo>
                    <a:pt x="1288" y="510"/>
                  </a:lnTo>
                  <a:lnTo>
                    <a:pt x="1288" y="508"/>
                  </a:lnTo>
                  <a:lnTo>
                    <a:pt x="1290" y="508"/>
                  </a:lnTo>
                  <a:lnTo>
                    <a:pt x="1302" y="508"/>
                  </a:lnTo>
                  <a:lnTo>
                    <a:pt x="1304" y="508"/>
                  </a:lnTo>
                  <a:lnTo>
                    <a:pt x="1310" y="510"/>
                  </a:lnTo>
                  <a:lnTo>
                    <a:pt x="1314" y="514"/>
                  </a:lnTo>
                  <a:lnTo>
                    <a:pt x="1326" y="522"/>
                  </a:lnTo>
                  <a:lnTo>
                    <a:pt x="1338" y="512"/>
                  </a:lnTo>
                  <a:lnTo>
                    <a:pt x="1346" y="500"/>
                  </a:lnTo>
                  <a:lnTo>
                    <a:pt x="1346" y="490"/>
                  </a:lnTo>
                  <a:lnTo>
                    <a:pt x="1344" y="464"/>
                  </a:lnTo>
                  <a:lnTo>
                    <a:pt x="1342" y="454"/>
                  </a:lnTo>
                  <a:lnTo>
                    <a:pt x="1324" y="452"/>
                  </a:lnTo>
                  <a:lnTo>
                    <a:pt x="1324" y="440"/>
                  </a:lnTo>
                  <a:lnTo>
                    <a:pt x="1308" y="420"/>
                  </a:lnTo>
                  <a:lnTo>
                    <a:pt x="1306" y="420"/>
                  </a:lnTo>
                  <a:lnTo>
                    <a:pt x="1298" y="406"/>
                  </a:lnTo>
                  <a:lnTo>
                    <a:pt x="1298" y="404"/>
                  </a:lnTo>
                  <a:lnTo>
                    <a:pt x="1298" y="402"/>
                  </a:lnTo>
                  <a:lnTo>
                    <a:pt x="1314" y="380"/>
                  </a:lnTo>
                  <a:lnTo>
                    <a:pt x="1314" y="378"/>
                  </a:lnTo>
                  <a:lnTo>
                    <a:pt x="1316" y="378"/>
                  </a:lnTo>
                  <a:lnTo>
                    <a:pt x="1316" y="376"/>
                  </a:lnTo>
                  <a:lnTo>
                    <a:pt x="1318" y="376"/>
                  </a:lnTo>
                  <a:lnTo>
                    <a:pt x="1324" y="376"/>
                  </a:lnTo>
                  <a:lnTo>
                    <a:pt x="1334" y="368"/>
                  </a:lnTo>
                  <a:lnTo>
                    <a:pt x="1344" y="336"/>
                  </a:lnTo>
                  <a:lnTo>
                    <a:pt x="1358" y="322"/>
                  </a:lnTo>
                  <a:lnTo>
                    <a:pt x="1358" y="320"/>
                  </a:lnTo>
                  <a:lnTo>
                    <a:pt x="1374" y="316"/>
                  </a:lnTo>
                  <a:lnTo>
                    <a:pt x="1374" y="318"/>
                  </a:lnTo>
                  <a:lnTo>
                    <a:pt x="1382" y="326"/>
                  </a:lnTo>
                  <a:lnTo>
                    <a:pt x="1386" y="328"/>
                  </a:lnTo>
                  <a:lnTo>
                    <a:pt x="1392" y="302"/>
                  </a:lnTo>
                  <a:lnTo>
                    <a:pt x="1386" y="284"/>
                  </a:lnTo>
                  <a:lnTo>
                    <a:pt x="1386" y="282"/>
                  </a:lnTo>
                  <a:lnTo>
                    <a:pt x="1388" y="262"/>
                  </a:lnTo>
                  <a:lnTo>
                    <a:pt x="1388" y="260"/>
                  </a:lnTo>
                  <a:lnTo>
                    <a:pt x="1398" y="250"/>
                  </a:lnTo>
                  <a:lnTo>
                    <a:pt x="1404" y="240"/>
                  </a:lnTo>
                  <a:lnTo>
                    <a:pt x="1404" y="230"/>
                  </a:lnTo>
                  <a:lnTo>
                    <a:pt x="1402" y="220"/>
                  </a:lnTo>
                  <a:lnTo>
                    <a:pt x="1398" y="204"/>
                  </a:lnTo>
                  <a:lnTo>
                    <a:pt x="1398" y="186"/>
                  </a:lnTo>
                  <a:lnTo>
                    <a:pt x="1398" y="184"/>
                  </a:lnTo>
                  <a:lnTo>
                    <a:pt x="1402" y="168"/>
                  </a:lnTo>
                  <a:lnTo>
                    <a:pt x="1398" y="158"/>
                  </a:lnTo>
                  <a:lnTo>
                    <a:pt x="1396" y="152"/>
                  </a:lnTo>
                  <a:lnTo>
                    <a:pt x="1398" y="128"/>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22" name="甘肃"/>
            <p:cNvSpPr/>
            <p:nvPr/>
          </p:nvSpPr>
          <p:spPr bwMode="auto">
            <a:xfrm>
              <a:off x="7098401" y="-1219456"/>
              <a:ext cx="1274760" cy="1065853"/>
            </a:xfrm>
            <a:custGeom>
              <a:avLst/>
              <a:gdLst>
                <a:gd name="T0" fmla="*/ 2147483646 w 912"/>
                <a:gd name="T1" fmla="*/ 2147483646 h 772"/>
                <a:gd name="T2" fmla="*/ 2147483646 w 912"/>
                <a:gd name="T3" fmla="*/ 2147483646 h 772"/>
                <a:gd name="T4" fmla="*/ 2147483646 w 912"/>
                <a:gd name="T5" fmla="*/ 2147483646 h 772"/>
                <a:gd name="T6" fmla="*/ 2147483646 w 912"/>
                <a:gd name="T7" fmla="*/ 2147483646 h 772"/>
                <a:gd name="T8" fmla="*/ 2147483646 w 912"/>
                <a:gd name="T9" fmla="*/ 2147483646 h 772"/>
                <a:gd name="T10" fmla="*/ 2147483646 w 912"/>
                <a:gd name="T11" fmla="*/ 2147483646 h 772"/>
                <a:gd name="T12" fmla="*/ 2147483646 w 912"/>
                <a:gd name="T13" fmla="*/ 2147483646 h 772"/>
                <a:gd name="T14" fmla="*/ 2147483646 w 912"/>
                <a:gd name="T15" fmla="*/ 2147483646 h 772"/>
                <a:gd name="T16" fmla="*/ 2147483646 w 912"/>
                <a:gd name="T17" fmla="*/ 2147483646 h 772"/>
                <a:gd name="T18" fmla="*/ 2147483646 w 912"/>
                <a:gd name="T19" fmla="*/ 2147483646 h 772"/>
                <a:gd name="T20" fmla="*/ 2147483646 w 912"/>
                <a:gd name="T21" fmla="*/ 2147483646 h 772"/>
                <a:gd name="T22" fmla="*/ 2147483646 w 912"/>
                <a:gd name="T23" fmla="*/ 2147483646 h 772"/>
                <a:gd name="T24" fmla="*/ 2147483646 w 912"/>
                <a:gd name="T25" fmla="*/ 2147483646 h 772"/>
                <a:gd name="T26" fmla="*/ 2147483646 w 912"/>
                <a:gd name="T27" fmla="*/ 2147483646 h 772"/>
                <a:gd name="T28" fmla="*/ 2147483646 w 912"/>
                <a:gd name="T29" fmla="*/ 2147483646 h 772"/>
                <a:gd name="T30" fmla="*/ 2147483646 w 912"/>
                <a:gd name="T31" fmla="*/ 2147483646 h 772"/>
                <a:gd name="T32" fmla="*/ 2147483646 w 912"/>
                <a:gd name="T33" fmla="*/ 2147483646 h 772"/>
                <a:gd name="T34" fmla="*/ 2147483646 w 912"/>
                <a:gd name="T35" fmla="*/ 2147483646 h 772"/>
                <a:gd name="T36" fmla="*/ 2147483646 w 912"/>
                <a:gd name="T37" fmla="*/ 2147483646 h 772"/>
                <a:gd name="T38" fmla="*/ 2147483646 w 912"/>
                <a:gd name="T39" fmla="*/ 2147483646 h 772"/>
                <a:gd name="T40" fmla="*/ 2147483646 w 912"/>
                <a:gd name="T41" fmla="*/ 2147483646 h 772"/>
                <a:gd name="T42" fmla="*/ 2147483646 w 912"/>
                <a:gd name="T43" fmla="*/ 2147483646 h 772"/>
                <a:gd name="T44" fmla="*/ 2147483646 w 912"/>
                <a:gd name="T45" fmla="*/ 2147483646 h 772"/>
                <a:gd name="T46" fmla="*/ 2147483646 w 912"/>
                <a:gd name="T47" fmla="*/ 2147483646 h 772"/>
                <a:gd name="T48" fmla="*/ 2147483646 w 912"/>
                <a:gd name="T49" fmla="*/ 2147483646 h 772"/>
                <a:gd name="T50" fmla="*/ 2147483646 w 912"/>
                <a:gd name="T51" fmla="*/ 2147483646 h 772"/>
                <a:gd name="T52" fmla="*/ 2147483646 w 912"/>
                <a:gd name="T53" fmla="*/ 2147483646 h 772"/>
                <a:gd name="T54" fmla="*/ 2147483646 w 912"/>
                <a:gd name="T55" fmla="*/ 2147483646 h 772"/>
                <a:gd name="T56" fmla="*/ 2147483646 w 912"/>
                <a:gd name="T57" fmla="*/ 2147483646 h 772"/>
                <a:gd name="T58" fmla="*/ 2147483646 w 912"/>
                <a:gd name="T59" fmla="*/ 2147483646 h 772"/>
                <a:gd name="T60" fmla="*/ 2147483646 w 912"/>
                <a:gd name="T61" fmla="*/ 2147483646 h 772"/>
                <a:gd name="T62" fmla="*/ 2147483646 w 912"/>
                <a:gd name="T63" fmla="*/ 2147483646 h 772"/>
                <a:gd name="T64" fmla="*/ 2147483646 w 912"/>
                <a:gd name="T65" fmla="*/ 2147483646 h 772"/>
                <a:gd name="T66" fmla="*/ 2147483646 w 912"/>
                <a:gd name="T67" fmla="*/ 2147483646 h 772"/>
                <a:gd name="T68" fmla="*/ 2147483646 w 912"/>
                <a:gd name="T69" fmla="*/ 2147483646 h 772"/>
                <a:gd name="T70" fmla="*/ 2147483646 w 912"/>
                <a:gd name="T71" fmla="*/ 2147483646 h 772"/>
                <a:gd name="T72" fmla="*/ 2147483646 w 912"/>
                <a:gd name="T73" fmla="*/ 2147483646 h 772"/>
                <a:gd name="T74" fmla="*/ 2147483646 w 912"/>
                <a:gd name="T75" fmla="*/ 2147483646 h 772"/>
                <a:gd name="T76" fmla="*/ 2147483646 w 912"/>
                <a:gd name="T77" fmla="*/ 2147483646 h 772"/>
                <a:gd name="T78" fmla="*/ 2147483646 w 912"/>
                <a:gd name="T79" fmla="*/ 2147483646 h 772"/>
                <a:gd name="T80" fmla="*/ 2147483646 w 912"/>
                <a:gd name="T81" fmla="*/ 2147483646 h 772"/>
                <a:gd name="T82" fmla="*/ 2147483646 w 912"/>
                <a:gd name="T83" fmla="*/ 2147483646 h 772"/>
                <a:gd name="T84" fmla="*/ 2147483646 w 912"/>
                <a:gd name="T85" fmla="*/ 2147483646 h 772"/>
                <a:gd name="T86" fmla="*/ 2147483646 w 912"/>
                <a:gd name="T87" fmla="*/ 2147483646 h 772"/>
                <a:gd name="T88" fmla="*/ 2147483646 w 912"/>
                <a:gd name="T89" fmla="*/ 2147483646 h 772"/>
                <a:gd name="T90" fmla="*/ 2147483646 w 912"/>
                <a:gd name="T91" fmla="*/ 2147483646 h 772"/>
                <a:gd name="T92" fmla="*/ 2147483646 w 912"/>
                <a:gd name="T93" fmla="*/ 2147483646 h 772"/>
                <a:gd name="T94" fmla="*/ 2147483646 w 912"/>
                <a:gd name="T95" fmla="*/ 2147483646 h 772"/>
                <a:gd name="T96" fmla="*/ 2147483646 w 912"/>
                <a:gd name="T97" fmla="*/ 2147483646 h 772"/>
                <a:gd name="T98" fmla="*/ 2147483646 w 912"/>
                <a:gd name="T99" fmla="*/ 2147483646 h 772"/>
                <a:gd name="T100" fmla="*/ 2147483646 w 912"/>
                <a:gd name="T101" fmla="*/ 2147483646 h 772"/>
                <a:gd name="T102" fmla="*/ 2147483646 w 912"/>
                <a:gd name="T103" fmla="*/ 2147483646 h 772"/>
                <a:gd name="T104" fmla="*/ 2147483646 w 912"/>
                <a:gd name="T105" fmla="*/ 2147483646 h 772"/>
                <a:gd name="T106" fmla="*/ 2147483646 w 912"/>
                <a:gd name="T107" fmla="*/ 2147483646 h 772"/>
                <a:gd name="T108" fmla="*/ 2147483646 w 912"/>
                <a:gd name="T109" fmla="*/ 2147483646 h 772"/>
                <a:gd name="T110" fmla="*/ 2147483646 w 912"/>
                <a:gd name="T111" fmla="*/ 2147483646 h 77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912" h="772">
                  <a:moveTo>
                    <a:pt x="542" y="280"/>
                  </a:moveTo>
                  <a:lnTo>
                    <a:pt x="530" y="280"/>
                  </a:lnTo>
                  <a:lnTo>
                    <a:pt x="526" y="288"/>
                  </a:lnTo>
                  <a:lnTo>
                    <a:pt x="532" y="296"/>
                  </a:lnTo>
                  <a:lnTo>
                    <a:pt x="536" y="308"/>
                  </a:lnTo>
                  <a:lnTo>
                    <a:pt x="536" y="310"/>
                  </a:lnTo>
                  <a:lnTo>
                    <a:pt x="536" y="312"/>
                  </a:lnTo>
                  <a:lnTo>
                    <a:pt x="518" y="320"/>
                  </a:lnTo>
                  <a:lnTo>
                    <a:pt x="516" y="320"/>
                  </a:lnTo>
                  <a:lnTo>
                    <a:pt x="506" y="320"/>
                  </a:lnTo>
                  <a:lnTo>
                    <a:pt x="500" y="316"/>
                  </a:lnTo>
                  <a:lnTo>
                    <a:pt x="494" y="314"/>
                  </a:lnTo>
                  <a:lnTo>
                    <a:pt x="492" y="310"/>
                  </a:lnTo>
                  <a:lnTo>
                    <a:pt x="488" y="300"/>
                  </a:lnTo>
                  <a:lnTo>
                    <a:pt x="464" y="296"/>
                  </a:lnTo>
                  <a:lnTo>
                    <a:pt x="456" y="264"/>
                  </a:lnTo>
                  <a:lnTo>
                    <a:pt x="450" y="262"/>
                  </a:lnTo>
                  <a:lnTo>
                    <a:pt x="446" y="258"/>
                  </a:lnTo>
                  <a:lnTo>
                    <a:pt x="444" y="256"/>
                  </a:lnTo>
                  <a:lnTo>
                    <a:pt x="440" y="250"/>
                  </a:lnTo>
                  <a:lnTo>
                    <a:pt x="432" y="248"/>
                  </a:lnTo>
                  <a:lnTo>
                    <a:pt x="424" y="242"/>
                  </a:lnTo>
                  <a:lnTo>
                    <a:pt x="416" y="232"/>
                  </a:lnTo>
                  <a:lnTo>
                    <a:pt x="406" y="228"/>
                  </a:lnTo>
                  <a:lnTo>
                    <a:pt x="392" y="214"/>
                  </a:lnTo>
                  <a:lnTo>
                    <a:pt x="390" y="204"/>
                  </a:lnTo>
                  <a:lnTo>
                    <a:pt x="390" y="202"/>
                  </a:lnTo>
                  <a:lnTo>
                    <a:pt x="416" y="168"/>
                  </a:lnTo>
                  <a:lnTo>
                    <a:pt x="416" y="164"/>
                  </a:lnTo>
                  <a:lnTo>
                    <a:pt x="416" y="162"/>
                  </a:lnTo>
                  <a:lnTo>
                    <a:pt x="412" y="152"/>
                  </a:lnTo>
                  <a:lnTo>
                    <a:pt x="398" y="156"/>
                  </a:lnTo>
                  <a:lnTo>
                    <a:pt x="396" y="156"/>
                  </a:lnTo>
                  <a:lnTo>
                    <a:pt x="396" y="158"/>
                  </a:lnTo>
                  <a:lnTo>
                    <a:pt x="360" y="160"/>
                  </a:lnTo>
                  <a:lnTo>
                    <a:pt x="348" y="164"/>
                  </a:lnTo>
                  <a:lnTo>
                    <a:pt x="342" y="168"/>
                  </a:lnTo>
                  <a:lnTo>
                    <a:pt x="340" y="172"/>
                  </a:lnTo>
                  <a:lnTo>
                    <a:pt x="334" y="178"/>
                  </a:lnTo>
                  <a:lnTo>
                    <a:pt x="330" y="178"/>
                  </a:lnTo>
                  <a:lnTo>
                    <a:pt x="324" y="178"/>
                  </a:lnTo>
                  <a:lnTo>
                    <a:pt x="324" y="176"/>
                  </a:lnTo>
                  <a:lnTo>
                    <a:pt x="312" y="168"/>
                  </a:lnTo>
                  <a:lnTo>
                    <a:pt x="312" y="148"/>
                  </a:lnTo>
                  <a:lnTo>
                    <a:pt x="304" y="142"/>
                  </a:lnTo>
                  <a:lnTo>
                    <a:pt x="300" y="134"/>
                  </a:lnTo>
                  <a:lnTo>
                    <a:pt x="296" y="116"/>
                  </a:lnTo>
                  <a:lnTo>
                    <a:pt x="288" y="108"/>
                  </a:lnTo>
                  <a:lnTo>
                    <a:pt x="280" y="100"/>
                  </a:lnTo>
                  <a:lnTo>
                    <a:pt x="276" y="98"/>
                  </a:lnTo>
                  <a:lnTo>
                    <a:pt x="290" y="80"/>
                  </a:lnTo>
                  <a:lnTo>
                    <a:pt x="292" y="68"/>
                  </a:lnTo>
                  <a:lnTo>
                    <a:pt x="276" y="48"/>
                  </a:lnTo>
                  <a:lnTo>
                    <a:pt x="268" y="32"/>
                  </a:lnTo>
                  <a:lnTo>
                    <a:pt x="268" y="24"/>
                  </a:lnTo>
                  <a:lnTo>
                    <a:pt x="256" y="16"/>
                  </a:lnTo>
                  <a:lnTo>
                    <a:pt x="256" y="14"/>
                  </a:lnTo>
                  <a:lnTo>
                    <a:pt x="246" y="2"/>
                  </a:lnTo>
                  <a:lnTo>
                    <a:pt x="232" y="0"/>
                  </a:lnTo>
                  <a:lnTo>
                    <a:pt x="216" y="4"/>
                  </a:lnTo>
                  <a:lnTo>
                    <a:pt x="212" y="8"/>
                  </a:lnTo>
                  <a:lnTo>
                    <a:pt x="210" y="30"/>
                  </a:lnTo>
                  <a:lnTo>
                    <a:pt x="210" y="56"/>
                  </a:lnTo>
                  <a:lnTo>
                    <a:pt x="208" y="56"/>
                  </a:lnTo>
                  <a:lnTo>
                    <a:pt x="192" y="62"/>
                  </a:lnTo>
                  <a:lnTo>
                    <a:pt x="178" y="64"/>
                  </a:lnTo>
                  <a:lnTo>
                    <a:pt x="168" y="70"/>
                  </a:lnTo>
                  <a:lnTo>
                    <a:pt x="154" y="74"/>
                  </a:lnTo>
                  <a:lnTo>
                    <a:pt x="152" y="76"/>
                  </a:lnTo>
                  <a:lnTo>
                    <a:pt x="124" y="68"/>
                  </a:lnTo>
                  <a:lnTo>
                    <a:pt x="114" y="80"/>
                  </a:lnTo>
                  <a:lnTo>
                    <a:pt x="108" y="86"/>
                  </a:lnTo>
                  <a:lnTo>
                    <a:pt x="98" y="88"/>
                  </a:lnTo>
                  <a:lnTo>
                    <a:pt x="82" y="102"/>
                  </a:lnTo>
                  <a:lnTo>
                    <a:pt x="72" y="116"/>
                  </a:lnTo>
                  <a:lnTo>
                    <a:pt x="72" y="118"/>
                  </a:lnTo>
                  <a:lnTo>
                    <a:pt x="66" y="128"/>
                  </a:lnTo>
                  <a:lnTo>
                    <a:pt x="60" y="132"/>
                  </a:lnTo>
                  <a:lnTo>
                    <a:pt x="50" y="144"/>
                  </a:lnTo>
                  <a:lnTo>
                    <a:pt x="50" y="146"/>
                  </a:lnTo>
                  <a:lnTo>
                    <a:pt x="44" y="150"/>
                  </a:lnTo>
                  <a:lnTo>
                    <a:pt x="32" y="152"/>
                  </a:lnTo>
                  <a:lnTo>
                    <a:pt x="12" y="152"/>
                  </a:lnTo>
                  <a:lnTo>
                    <a:pt x="8" y="158"/>
                  </a:lnTo>
                  <a:lnTo>
                    <a:pt x="0" y="172"/>
                  </a:lnTo>
                  <a:lnTo>
                    <a:pt x="4" y="184"/>
                  </a:lnTo>
                  <a:lnTo>
                    <a:pt x="2" y="216"/>
                  </a:lnTo>
                  <a:lnTo>
                    <a:pt x="8" y="224"/>
                  </a:lnTo>
                  <a:lnTo>
                    <a:pt x="8" y="226"/>
                  </a:lnTo>
                  <a:lnTo>
                    <a:pt x="10" y="232"/>
                  </a:lnTo>
                  <a:lnTo>
                    <a:pt x="22" y="232"/>
                  </a:lnTo>
                  <a:lnTo>
                    <a:pt x="40" y="236"/>
                  </a:lnTo>
                  <a:lnTo>
                    <a:pt x="66" y="238"/>
                  </a:lnTo>
                  <a:lnTo>
                    <a:pt x="76" y="236"/>
                  </a:lnTo>
                  <a:lnTo>
                    <a:pt x="78" y="236"/>
                  </a:lnTo>
                  <a:lnTo>
                    <a:pt x="80" y="236"/>
                  </a:lnTo>
                  <a:lnTo>
                    <a:pt x="100" y="244"/>
                  </a:lnTo>
                  <a:lnTo>
                    <a:pt x="102" y="244"/>
                  </a:lnTo>
                  <a:lnTo>
                    <a:pt x="112" y="254"/>
                  </a:lnTo>
                  <a:lnTo>
                    <a:pt x="136" y="262"/>
                  </a:lnTo>
                  <a:lnTo>
                    <a:pt x="138" y="262"/>
                  </a:lnTo>
                  <a:lnTo>
                    <a:pt x="154" y="272"/>
                  </a:lnTo>
                  <a:lnTo>
                    <a:pt x="192" y="308"/>
                  </a:lnTo>
                  <a:lnTo>
                    <a:pt x="210" y="316"/>
                  </a:lnTo>
                  <a:lnTo>
                    <a:pt x="218" y="312"/>
                  </a:lnTo>
                  <a:lnTo>
                    <a:pt x="224" y="300"/>
                  </a:lnTo>
                  <a:lnTo>
                    <a:pt x="220" y="278"/>
                  </a:lnTo>
                  <a:lnTo>
                    <a:pt x="222" y="274"/>
                  </a:lnTo>
                  <a:lnTo>
                    <a:pt x="224" y="270"/>
                  </a:lnTo>
                  <a:lnTo>
                    <a:pt x="236" y="264"/>
                  </a:lnTo>
                  <a:lnTo>
                    <a:pt x="236" y="262"/>
                  </a:lnTo>
                  <a:lnTo>
                    <a:pt x="286" y="292"/>
                  </a:lnTo>
                  <a:lnTo>
                    <a:pt x="292" y="290"/>
                  </a:lnTo>
                  <a:lnTo>
                    <a:pt x="302" y="284"/>
                  </a:lnTo>
                  <a:lnTo>
                    <a:pt x="304" y="284"/>
                  </a:lnTo>
                  <a:lnTo>
                    <a:pt x="310" y="284"/>
                  </a:lnTo>
                  <a:lnTo>
                    <a:pt x="320" y="276"/>
                  </a:lnTo>
                  <a:lnTo>
                    <a:pt x="322" y="276"/>
                  </a:lnTo>
                  <a:lnTo>
                    <a:pt x="324" y="276"/>
                  </a:lnTo>
                  <a:lnTo>
                    <a:pt x="352" y="296"/>
                  </a:lnTo>
                  <a:lnTo>
                    <a:pt x="354" y="298"/>
                  </a:lnTo>
                  <a:lnTo>
                    <a:pt x="372" y="312"/>
                  </a:lnTo>
                  <a:lnTo>
                    <a:pt x="380" y="320"/>
                  </a:lnTo>
                  <a:lnTo>
                    <a:pt x="388" y="330"/>
                  </a:lnTo>
                  <a:lnTo>
                    <a:pt x="398" y="340"/>
                  </a:lnTo>
                  <a:lnTo>
                    <a:pt x="404" y="338"/>
                  </a:lnTo>
                  <a:lnTo>
                    <a:pt x="412" y="324"/>
                  </a:lnTo>
                  <a:lnTo>
                    <a:pt x="430" y="336"/>
                  </a:lnTo>
                  <a:lnTo>
                    <a:pt x="432" y="336"/>
                  </a:lnTo>
                  <a:lnTo>
                    <a:pt x="444" y="352"/>
                  </a:lnTo>
                  <a:lnTo>
                    <a:pt x="480" y="380"/>
                  </a:lnTo>
                  <a:lnTo>
                    <a:pt x="492" y="392"/>
                  </a:lnTo>
                  <a:lnTo>
                    <a:pt x="522" y="382"/>
                  </a:lnTo>
                  <a:lnTo>
                    <a:pt x="524" y="406"/>
                  </a:lnTo>
                  <a:lnTo>
                    <a:pt x="538" y="420"/>
                  </a:lnTo>
                  <a:lnTo>
                    <a:pt x="548" y="436"/>
                  </a:lnTo>
                  <a:lnTo>
                    <a:pt x="548" y="438"/>
                  </a:lnTo>
                  <a:lnTo>
                    <a:pt x="548" y="440"/>
                  </a:lnTo>
                  <a:lnTo>
                    <a:pt x="560" y="494"/>
                  </a:lnTo>
                  <a:lnTo>
                    <a:pt x="572" y="516"/>
                  </a:lnTo>
                  <a:lnTo>
                    <a:pt x="556" y="558"/>
                  </a:lnTo>
                  <a:lnTo>
                    <a:pt x="556" y="560"/>
                  </a:lnTo>
                  <a:lnTo>
                    <a:pt x="544" y="564"/>
                  </a:lnTo>
                  <a:lnTo>
                    <a:pt x="544" y="576"/>
                  </a:lnTo>
                  <a:lnTo>
                    <a:pt x="542" y="576"/>
                  </a:lnTo>
                  <a:lnTo>
                    <a:pt x="528" y="598"/>
                  </a:lnTo>
                  <a:lnTo>
                    <a:pt x="508" y="600"/>
                  </a:lnTo>
                  <a:lnTo>
                    <a:pt x="488" y="616"/>
                  </a:lnTo>
                  <a:lnTo>
                    <a:pt x="494" y="620"/>
                  </a:lnTo>
                  <a:lnTo>
                    <a:pt x="500" y="622"/>
                  </a:lnTo>
                  <a:lnTo>
                    <a:pt x="504" y="626"/>
                  </a:lnTo>
                  <a:lnTo>
                    <a:pt x="508" y="630"/>
                  </a:lnTo>
                  <a:lnTo>
                    <a:pt x="508" y="634"/>
                  </a:lnTo>
                  <a:lnTo>
                    <a:pt x="504" y="642"/>
                  </a:lnTo>
                  <a:lnTo>
                    <a:pt x="504" y="644"/>
                  </a:lnTo>
                  <a:lnTo>
                    <a:pt x="492" y="656"/>
                  </a:lnTo>
                  <a:lnTo>
                    <a:pt x="490" y="656"/>
                  </a:lnTo>
                  <a:lnTo>
                    <a:pt x="490" y="658"/>
                  </a:lnTo>
                  <a:lnTo>
                    <a:pt x="488" y="658"/>
                  </a:lnTo>
                  <a:lnTo>
                    <a:pt x="450" y="652"/>
                  </a:lnTo>
                  <a:lnTo>
                    <a:pt x="448" y="666"/>
                  </a:lnTo>
                  <a:lnTo>
                    <a:pt x="452" y="696"/>
                  </a:lnTo>
                  <a:lnTo>
                    <a:pt x="484" y="708"/>
                  </a:lnTo>
                  <a:lnTo>
                    <a:pt x="484" y="710"/>
                  </a:lnTo>
                  <a:lnTo>
                    <a:pt x="496" y="706"/>
                  </a:lnTo>
                  <a:lnTo>
                    <a:pt x="498" y="706"/>
                  </a:lnTo>
                  <a:lnTo>
                    <a:pt x="500" y="704"/>
                  </a:lnTo>
                  <a:lnTo>
                    <a:pt x="500" y="706"/>
                  </a:lnTo>
                  <a:lnTo>
                    <a:pt x="510" y="712"/>
                  </a:lnTo>
                  <a:lnTo>
                    <a:pt x="524" y="712"/>
                  </a:lnTo>
                  <a:lnTo>
                    <a:pt x="528" y="710"/>
                  </a:lnTo>
                  <a:lnTo>
                    <a:pt x="524" y="696"/>
                  </a:lnTo>
                  <a:lnTo>
                    <a:pt x="520" y="680"/>
                  </a:lnTo>
                  <a:lnTo>
                    <a:pt x="520" y="678"/>
                  </a:lnTo>
                  <a:lnTo>
                    <a:pt x="520" y="676"/>
                  </a:lnTo>
                  <a:lnTo>
                    <a:pt x="526" y="670"/>
                  </a:lnTo>
                  <a:lnTo>
                    <a:pt x="528" y="668"/>
                  </a:lnTo>
                  <a:lnTo>
                    <a:pt x="536" y="656"/>
                  </a:lnTo>
                  <a:lnTo>
                    <a:pt x="538" y="654"/>
                  </a:lnTo>
                  <a:lnTo>
                    <a:pt x="552" y="644"/>
                  </a:lnTo>
                  <a:lnTo>
                    <a:pt x="552" y="642"/>
                  </a:lnTo>
                  <a:lnTo>
                    <a:pt x="554" y="642"/>
                  </a:lnTo>
                  <a:lnTo>
                    <a:pt x="572" y="640"/>
                  </a:lnTo>
                  <a:lnTo>
                    <a:pt x="572" y="644"/>
                  </a:lnTo>
                  <a:lnTo>
                    <a:pt x="572" y="656"/>
                  </a:lnTo>
                  <a:lnTo>
                    <a:pt x="576" y="664"/>
                  </a:lnTo>
                  <a:lnTo>
                    <a:pt x="580" y="674"/>
                  </a:lnTo>
                  <a:lnTo>
                    <a:pt x="596" y="684"/>
                  </a:lnTo>
                  <a:lnTo>
                    <a:pt x="640" y="688"/>
                  </a:lnTo>
                  <a:lnTo>
                    <a:pt x="642" y="688"/>
                  </a:lnTo>
                  <a:lnTo>
                    <a:pt x="644" y="688"/>
                  </a:lnTo>
                  <a:lnTo>
                    <a:pt x="644" y="690"/>
                  </a:lnTo>
                  <a:lnTo>
                    <a:pt x="644" y="692"/>
                  </a:lnTo>
                  <a:lnTo>
                    <a:pt x="644" y="706"/>
                  </a:lnTo>
                  <a:lnTo>
                    <a:pt x="656" y="720"/>
                  </a:lnTo>
                  <a:lnTo>
                    <a:pt x="666" y="724"/>
                  </a:lnTo>
                  <a:lnTo>
                    <a:pt x="668" y="724"/>
                  </a:lnTo>
                  <a:lnTo>
                    <a:pt x="668" y="726"/>
                  </a:lnTo>
                  <a:lnTo>
                    <a:pt x="668" y="732"/>
                  </a:lnTo>
                  <a:lnTo>
                    <a:pt x="668" y="740"/>
                  </a:lnTo>
                  <a:lnTo>
                    <a:pt x="664" y="756"/>
                  </a:lnTo>
                  <a:lnTo>
                    <a:pt x="670" y="760"/>
                  </a:lnTo>
                  <a:lnTo>
                    <a:pt x="678" y="760"/>
                  </a:lnTo>
                  <a:lnTo>
                    <a:pt x="684" y="762"/>
                  </a:lnTo>
                  <a:lnTo>
                    <a:pt x="688" y="764"/>
                  </a:lnTo>
                  <a:lnTo>
                    <a:pt x="706" y="772"/>
                  </a:lnTo>
                  <a:lnTo>
                    <a:pt x="716" y="764"/>
                  </a:lnTo>
                  <a:lnTo>
                    <a:pt x="728" y="750"/>
                  </a:lnTo>
                  <a:lnTo>
                    <a:pt x="730" y="744"/>
                  </a:lnTo>
                  <a:lnTo>
                    <a:pt x="732" y="742"/>
                  </a:lnTo>
                  <a:lnTo>
                    <a:pt x="734" y="740"/>
                  </a:lnTo>
                  <a:lnTo>
                    <a:pt x="730" y="722"/>
                  </a:lnTo>
                  <a:lnTo>
                    <a:pt x="728" y="714"/>
                  </a:lnTo>
                  <a:lnTo>
                    <a:pt x="728" y="712"/>
                  </a:lnTo>
                  <a:lnTo>
                    <a:pt x="728" y="710"/>
                  </a:lnTo>
                  <a:lnTo>
                    <a:pt x="736" y="700"/>
                  </a:lnTo>
                  <a:lnTo>
                    <a:pt x="748" y="690"/>
                  </a:lnTo>
                  <a:lnTo>
                    <a:pt x="750" y="690"/>
                  </a:lnTo>
                  <a:lnTo>
                    <a:pt x="776" y="690"/>
                  </a:lnTo>
                  <a:lnTo>
                    <a:pt x="780" y="688"/>
                  </a:lnTo>
                  <a:lnTo>
                    <a:pt x="780" y="676"/>
                  </a:lnTo>
                  <a:lnTo>
                    <a:pt x="776" y="664"/>
                  </a:lnTo>
                  <a:lnTo>
                    <a:pt x="766" y="648"/>
                  </a:lnTo>
                  <a:lnTo>
                    <a:pt x="766" y="628"/>
                  </a:lnTo>
                  <a:lnTo>
                    <a:pt x="766" y="626"/>
                  </a:lnTo>
                  <a:lnTo>
                    <a:pt x="770" y="614"/>
                  </a:lnTo>
                  <a:lnTo>
                    <a:pt x="772" y="614"/>
                  </a:lnTo>
                  <a:lnTo>
                    <a:pt x="792" y="582"/>
                  </a:lnTo>
                  <a:lnTo>
                    <a:pt x="794" y="582"/>
                  </a:lnTo>
                  <a:lnTo>
                    <a:pt x="796" y="580"/>
                  </a:lnTo>
                  <a:lnTo>
                    <a:pt x="800" y="580"/>
                  </a:lnTo>
                  <a:lnTo>
                    <a:pt x="808" y="582"/>
                  </a:lnTo>
                  <a:lnTo>
                    <a:pt x="828" y="592"/>
                  </a:lnTo>
                  <a:lnTo>
                    <a:pt x="840" y="596"/>
                  </a:lnTo>
                  <a:lnTo>
                    <a:pt x="840" y="590"/>
                  </a:lnTo>
                  <a:lnTo>
                    <a:pt x="838" y="588"/>
                  </a:lnTo>
                  <a:lnTo>
                    <a:pt x="838" y="586"/>
                  </a:lnTo>
                  <a:lnTo>
                    <a:pt x="840" y="580"/>
                  </a:lnTo>
                  <a:lnTo>
                    <a:pt x="846" y="572"/>
                  </a:lnTo>
                  <a:lnTo>
                    <a:pt x="860" y="562"/>
                  </a:lnTo>
                  <a:lnTo>
                    <a:pt x="860" y="560"/>
                  </a:lnTo>
                  <a:lnTo>
                    <a:pt x="876" y="556"/>
                  </a:lnTo>
                  <a:lnTo>
                    <a:pt x="890" y="556"/>
                  </a:lnTo>
                  <a:lnTo>
                    <a:pt x="892" y="556"/>
                  </a:lnTo>
                  <a:lnTo>
                    <a:pt x="900" y="556"/>
                  </a:lnTo>
                  <a:lnTo>
                    <a:pt x="904" y="536"/>
                  </a:lnTo>
                  <a:lnTo>
                    <a:pt x="904" y="524"/>
                  </a:lnTo>
                  <a:lnTo>
                    <a:pt x="906" y="512"/>
                  </a:lnTo>
                  <a:lnTo>
                    <a:pt x="906" y="510"/>
                  </a:lnTo>
                  <a:lnTo>
                    <a:pt x="908" y="508"/>
                  </a:lnTo>
                  <a:lnTo>
                    <a:pt x="912" y="496"/>
                  </a:lnTo>
                  <a:lnTo>
                    <a:pt x="906" y="488"/>
                  </a:lnTo>
                  <a:lnTo>
                    <a:pt x="896" y="480"/>
                  </a:lnTo>
                  <a:lnTo>
                    <a:pt x="876" y="476"/>
                  </a:lnTo>
                  <a:lnTo>
                    <a:pt x="868" y="472"/>
                  </a:lnTo>
                  <a:lnTo>
                    <a:pt x="852" y="460"/>
                  </a:lnTo>
                  <a:lnTo>
                    <a:pt x="840" y="456"/>
                  </a:lnTo>
                  <a:lnTo>
                    <a:pt x="840" y="454"/>
                  </a:lnTo>
                  <a:lnTo>
                    <a:pt x="824" y="436"/>
                  </a:lnTo>
                  <a:lnTo>
                    <a:pt x="812" y="436"/>
                  </a:lnTo>
                  <a:lnTo>
                    <a:pt x="810" y="436"/>
                  </a:lnTo>
                  <a:lnTo>
                    <a:pt x="798" y="430"/>
                  </a:lnTo>
                  <a:lnTo>
                    <a:pt x="790" y="440"/>
                  </a:lnTo>
                  <a:lnTo>
                    <a:pt x="788" y="476"/>
                  </a:lnTo>
                  <a:lnTo>
                    <a:pt x="792" y="492"/>
                  </a:lnTo>
                  <a:lnTo>
                    <a:pt x="796" y="492"/>
                  </a:lnTo>
                  <a:lnTo>
                    <a:pt x="798" y="492"/>
                  </a:lnTo>
                  <a:lnTo>
                    <a:pt x="808" y="496"/>
                  </a:lnTo>
                  <a:lnTo>
                    <a:pt x="814" y="510"/>
                  </a:lnTo>
                  <a:lnTo>
                    <a:pt x="816" y="510"/>
                  </a:lnTo>
                  <a:lnTo>
                    <a:pt x="816" y="512"/>
                  </a:lnTo>
                  <a:lnTo>
                    <a:pt x="812" y="536"/>
                  </a:lnTo>
                  <a:lnTo>
                    <a:pt x="812" y="538"/>
                  </a:lnTo>
                  <a:lnTo>
                    <a:pt x="812" y="540"/>
                  </a:lnTo>
                  <a:lnTo>
                    <a:pt x="800" y="546"/>
                  </a:lnTo>
                  <a:lnTo>
                    <a:pt x="798" y="548"/>
                  </a:lnTo>
                  <a:lnTo>
                    <a:pt x="798" y="546"/>
                  </a:lnTo>
                  <a:lnTo>
                    <a:pt x="796" y="546"/>
                  </a:lnTo>
                  <a:lnTo>
                    <a:pt x="792" y="544"/>
                  </a:lnTo>
                  <a:lnTo>
                    <a:pt x="778" y="550"/>
                  </a:lnTo>
                  <a:lnTo>
                    <a:pt x="778" y="552"/>
                  </a:lnTo>
                  <a:lnTo>
                    <a:pt x="780" y="552"/>
                  </a:lnTo>
                  <a:lnTo>
                    <a:pt x="782" y="574"/>
                  </a:lnTo>
                  <a:lnTo>
                    <a:pt x="780" y="578"/>
                  </a:lnTo>
                  <a:lnTo>
                    <a:pt x="776" y="580"/>
                  </a:lnTo>
                  <a:lnTo>
                    <a:pt x="768" y="580"/>
                  </a:lnTo>
                  <a:lnTo>
                    <a:pt x="762" y="578"/>
                  </a:lnTo>
                  <a:lnTo>
                    <a:pt x="758" y="576"/>
                  </a:lnTo>
                  <a:lnTo>
                    <a:pt x="748" y="568"/>
                  </a:lnTo>
                  <a:lnTo>
                    <a:pt x="746" y="568"/>
                  </a:lnTo>
                  <a:lnTo>
                    <a:pt x="746" y="566"/>
                  </a:lnTo>
                  <a:lnTo>
                    <a:pt x="740" y="552"/>
                  </a:lnTo>
                  <a:lnTo>
                    <a:pt x="736" y="550"/>
                  </a:lnTo>
                  <a:lnTo>
                    <a:pt x="728" y="546"/>
                  </a:lnTo>
                  <a:lnTo>
                    <a:pt x="726" y="546"/>
                  </a:lnTo>
                  <a:lnTo>
                    <a:pt x="714" y="538"/>
                  </a:lnTo>
                  <a:lnTo>
                    <a:pt x="712" y="538"/>
                  </a:lnTo>
                  <a:lnTo>
                    <a:pt x="712" y="536"/>
                  </a:lnTo>
                  <a:lnTo>
                    <a:pt x="710" y="524"/>
                  </a:lnTo>
                  <a:lnTo>
                    <a:pt x="712" y="512"/>
                  </a:lnTo>
                  <a:lnTo>
                    <a:pt x="716" y="506"/>
                  </a:lnTo>
                  <a:lnTo>
                    <a:pt x="716" y="502"/>
                  </a:lnTo>
                  <a:lnTo>
                    <a:pt x="712" y="488"/>
                  </a:lnTo>
                  <a:lnTo>
                    <a:pt x="700" y="478"/>
                  </a:lnTo>
                  <a:lnTo>
                    <a:pt x="700" y="476"/>
                  </a:lnTo>
                  <a:lnTo>
                    <a:pt x="698" y="444"/>
                  </a:lnTo>
                  <a:lnTo>
                    <a:pt x="690" y="436"/>
                  </a:lnTo>
                  <a:lnTo>
                    <a:pt x="688" y="436"/>
                  </a:lnTo>
                  <a:lnTo>
                    <a:pt x="688" y="434"/>
                  </a:lnTo>
                  <a:lnTo>
                    <a:pt x="682" y="420"/>
                  </a:lnTo>
                  <a:lnTo>
                    <a:pt x="652" y="416"/>
                  </a:lnTo>
                  <a:lnTo>
                    <a:pt x="644" y="410"/>
                  </a:lnTo>
                  <a:lnTo>
                    <a:pt x="638" y="402"/>
                  </a:lnTo>
                  <a:lnTo>
                    <a:pt x="624" y="402"/>
                  </a:lnTo>
                  <a:lnTo>
                    <a:pt x="618" y="398"/>
                  </a:lnTo>
                  <a:lnTo>
                    <a:pt x="610" y="392"/>
                  </a:lnTo>
                  <a:lnTo>
                    <a:pt x="608" y="390"/>
                  </a:lnTo>
                  <a:lnTo>
                    <a:pt x="604" y="384"/>
                  </a:lnTo>
                  <a:lnTo>
                    <a:pt x="598" y="376"/>
                  </a:lnTo>
                  <a:lnTo>
                    <a:pt x="596" y="362"/>
                  </a:lnTo>
                  <a:lnTo>
                    <a:pt x="596" y="360"/>
                  </a:lnTo>
                  <a:lnTo>
                    <a:pt x="600" y="336"/>
                  </a:lnTo>
                  <a:lnTo>
                    <a:pt x="604" y="324"/>
                  </a:lnTo>
                  <a:lnTo>
                    <a:pt x="606" y="324"/>
                  </a:lnTo>
                  <a:lnTo>
                    <a:pt x="636" y="310"/>
                  </a:lnTo>
                  <a:lnTo>
                    <a:pt x="648" y="296"/>
                  </a:lnTo>
                  <a:lnTo>
                    <a:pt x="650" y="284"/>
                  </a:lnTo>
                  <a:lnTo>
                    <a:pt x="648" y="276"/>
                  </a:lnTo>
                  <a:lnTo>
                    <a:pt x="644" y="262"/>
                  </a:lnTo>
                  <a:lnTo>
                    <a:pt x="640" y="254"/>
                  </a:lnTo>
                  <a:lnTo>
                    <a:pt x="634" y="256"/>
                  </a:lnTo>
                  <a:lnTo>
                    <a:pt x="624" y="254"/>
                  </a:lnTo>
                  <a:lnTo>
                    <a:pt x="616" y="260"/>
                  </a:lnTo>
                  <a:lnTo>
                    <a:pt x="606" y="272"/>
                  </a:lnTo>
                  <a:lnTo>
                    <a:pt x="592" y="286"/>
                  </a:lnTo>
                  <a:lnTo>
                    <a:pt x="590" y="286"/>
                  </a:lnTo>
                  <a:lnTo>
                    <a:pt x="578" y="290"/>
                  </a:lnTo>
                  <a:lnTo>
                    <a:pt x="568" y="288"/>
                  </a:lnTo>
                  <a:lnTo>
                    <a:pt x="542" y="280"/>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23" name="宁夏"/>
            <p:cNvSpPr/>
            <p:nvPr/>
          </p:nvSpPr>
          <p:spPr bwMode="auto">
            <a:xfrm>
              <a:off x="8004151" y="-849445"/>
              <a:ext cx="257189" cy="419714"/>
            </a:xfrm>
            <a:custGeom>
              <a:avLst/>
              <a:gdLst>
                <a:gd name="T0" fmla="*/ 2147483646 w 184"/>
                <a:gd name="T1" fmla="*/ 2147483646 h 304"/>
                <a:gd name="T2" fmla="*/ 2147483646 w 184"/>
                <a:gd name="T3" fmla="*/ 2147483646 h 304"/>
                <a:gd name="T4" fmla="*/ 2147483646 w 184"/>
                <a:gd name="T5" fmla="*/ 2147483646 h 304"/>
                <a:gd name="T6" fmla="*/ 2147483646 w 184"/>
                <a:gd name="T7" fmla="*/ 2147483646 h 304"/>
                <a:gd name="T8" fmla="*/ 2147483646 w 184"/>
                <a:gd name="T9" fmla="*/ 2147483646 h 304"/>
                <a:gd name="T10" fmla="*/ 2147483646 w 184"/>
                <a:gd name="T11" fmla="*/ 2147483646 h 304"/>
                <a:gd name="T12" fmla="*/ 2147483646 w 184"/>
                <a:gd name="T13" fmla="*/ 2147483646 h 304"/>
                <a:gd name="T14" fmla="*/ 2147483646 w 184"/>
                <a:gd name="T15" fmla="*/ 2147483646 h 304"/>
                <a:gd name="T16" fmla="*/ 2147483646 w 184"/>
                <a:gd name="T17" fmla="*/ 2147483646 h 304"/>
                <a:gd name="T18" fmla="*/ 2147483646 w 184"/>
                <a:gd name="T19" fmla="*/ 2147483646 h 304"/>
                <a:gd name="T20" fmla="*/ 2147483646 w 184"/>
                <a:gd name="T21" fmla="*/ 2147483646 h 304"/>
                <a:gd name="T22" fmla="*/ 2147483646 w 184"/>
                <a:gd name="T23" fmla="*/ 2147483646 h 304"/>
                <a:gd name="T24" fmla="*/ 2147483646 w 184"/>
                <a:gd name="T25" fmla="*/ 2147483646 h 304"/>
                <a:gd name="T26" fmla="*/ 2147483646 w 184"/>
                <a:gd name="T27" fmla="*/ 2147483646 h 304"/>
                <a:gd name="T28" fmla="*/ 2147483646 w 184"/>
                <a:gd name="T29" fmla="*/ 2147483646 h 304"/>
                <a:gd name="T30" fmla="*/ 2147483646 w 184"/>
                <a:gd name="T31" fmla="*/ 2147483646 h 304"/>
                <a:gd name="T32" fmla="*/ 2147483646 w 184"/>
                <a:gd name="T33" fmla="*/ 2147483646 h 304"/>
                <a:gd name="T34" fmla="*/ 2147483646 w 184"/>
                <a:gd name="T35" fmla="*/ 2147483646 h 304"/>
                <a:gd name="T36" fmla="*/ 2147483646 w 184"/>
                <a:gd name="T37" fmla="*/ 2147483646 h 304"/>
                <a:gd name="T38" fmla="*/ 2147483646 w 184"/>
                <a:gd name="T39" fmla="*/ 2147483646 h 304"/>
                <a:gd name="T40" fmla="*/ 2147483646 w 184"/>
                <a:gd name="T41" fmla="*/ 2147483646 h 304"/>
                <a:gd name="T42" fmla="*/ 2147483646 w 184"/>
                <a:gd name="T43" fmla="*/ 2147483646 h 304"/>
                <a:gd name="T44" fmla="*/ 2147483646 w 184"/>
                <a:gd name="T45" fmla="*/ 2147483646 h 304"/>
                <a:gd name="T46" fmla="*/ 2147483646 w 184"/>
                <a:gd name="T47" fmla="*/ 2147483646 h 304"/>
                <a:gd name="T48" fmla="*/ 2147483646 w 184"/>
                <a:gd name="T49" fmla="*/ 2147483646 h 304"/>
                <a:gd name="T50" fmla="*/ 2147483646 w 184"/>
                <a:gd name="T51" fmla="*/ 2147483646 h 304"/>
                <a:gd name="T52" fmla="*/ 2147483646 w 184"/>
                <a:gd name="T53" fmla="*/ 2147483646 h 304"/>
                <a:gd name="T54" fmla="*/ 2147483646 w 184"/>
                <a:gd name="T55" fmla="*/ 2147483646 h 304"/>
                <a:gd name="T56" fmla="*/ 2147483646 w 184"/>
                <a:gd name="T57" fmla="*/ 2147483646 h 304"/>
                <a:gd name="T58" fmla="*/ 2147483646 w 184"/>
                <a:gd name="T59" fmla="*/ 2147483646 h 304"/>
                <a:gd name="T60" fmla="*/ 2147483646 w 184"/>
                <a:gd name="T61" fmla="*/ 2147483646 h 304"/>
                <a:gd name="T62" fmla="*/ 2147483646 w 184"/>
                <a:gd name="T63" fmla="*/ 2147483646 h 304"/>
                <a:gd name="T64" fmla="*/ 2147483646 w 184"/>
                <a:gd name="T65" fmla="*/ 2147483646 h 304"/>
                <a:gd name="T66" fmla="*/ 2147483646 w 184"/>
                <a:gd name="T67" fmla="*/ 2147483646 h 304"/>
                <a:gd name="T68" fmla="*/ 2147483646 w 184"/>
                <a:gd name="T69" fmla="*/ 2147483646 h 304"/>
                <a:gd name="T70" fmla="*/ 2147483646 w 184"/>
                <a:gd name="T71" fmla="*/ 2147483646 h 304"/>
                <a:gd name="T72" fmla="*/ 2147483646 w 184"/>
                <a:gd name="T73" fmla="*/ 2147483646 h 304"/>
                <a:gd name="T74" fmla="*/ 2147483646 w 184"/>
                <a:gd name="T75" fmla="*/ 2147483646 h 304"/>
                <a:gd name="T76" fmla="*/ 2147483646 w 184"/>
                <a:gd name="T77" fmla="*/ 2147483646 h 304"/>
                <a:gd name="T78" fmla="*/ 2147483646 w 184"/>
                <a:gd name="T79" fmla="*/ 2147483646 h 304"/>
                <a:gd name="T80" fmla="*/ 2147483646 w 184"/>
                <a:gd name="T81" fmla="*/ 2147483646 h 304"/>
                <a:gd name="T82" fmla="*/ 2147483646 w 184"/>
                <a:gd name="T83" fmla="*/ 2147483646 h 304"/>
                <a:gd name="T84" fmla="*/ 2147483646 w 184"/>
                <a:gd name="T85" fmla="*/ 2147483646 h 304"/>
                <a:gd name="T86" fmla="*/ 2147483646 w 184"/>
                <a:gd name="T87" fmla="*/ 2147483646 h 304"/>
                <a:gd name="T88" fmla="*/ 2147483646 w 184"/>
                <a:gd name="T89" fmla="*/ 2147483646 h 304"/>
                <a:gd name="T90" fmla="*/ 2147483646 w 184"/>
                <a:gd name="T91" fmla="*/ 2147483646 h 304"/>
                <a:gd name="T92" fmla="*/ 2147483646 w 184"/>
                <a:gd name="T93" fmla="*/ 2147483646 h 304"/>
                <a:gd name="T94" fmla="*/ 2147483646 w 184"/>
                <a:gd name="T95" fmla="*/ 2147483646 h 304"/>
                <a:gd name="T96" fmla="*/ 2147483646 w 184"/>
                <a:gd name="T97" fmla="*/ 2147483646 h 304"/>
                <a:gd name="T98" fmla="*/ 2147483646 w 184"/>
                <a:gd name="T99" fmla="*/ 0 h 30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84" h="304">
                  <a:moveTo>
                    <a:pt x="108" y="18"/>
                  </a:moveTo>
                  <a:lnTo>
                    <a:pt x="92" y="58"/>
                  </a:lnTo>
                  <a:lnTo>
                    <a:pt x="92" y="84"/>
                  </a:lnTo>
                  <a:lnTo>
                    <a:pt x="92" y="86"/>
                  </a:lnTo>
                  <a:lnTo>
                    <a:pt x="84" y="100"/>
                  </a:lnTo>
                  <a:lnTo>
                    <a:pt x="84" y="108"/>
                  </a:lnTo>
                  <a:lnTo>
                    <a:pt x="84" y="112"/>
                  </a:lnTo>
                  <a:lnTo>
                    <a:pt x="82" y="116"/>
                  </a:lnTo>
                  <a:lnTo>
                    <a:pt x="80" y="120"/>
                  </a:lnTo>
                  <a:lnTo>
                    <a:pt x="76" y="122"/>
                  </a:lnTo>
                  <a:lnTo>
                    <a:pt x="76" y="124"/>
                  </a:lnTo>
                  <a:lnTo>
                    <a:pt x="74" y="124"/>
                  </a:lnTo>
                  <a:lnTo>
                    <a:pt x="74" y="122"/>
                  </a:lnTo>
                  <a:lnTo>
                    <a:pt x="54" y="120"/>
                  </a:lnTo>
                  <a:lnTo>
                    <a:pt x="44" y="130"/>
                  </a:lnTo>
                  <a:lnTo>
                    <a:pt x="12" y="134"/>
                  </a:lnTo>
                  <a:lnTo>
                    <a:pt x="0" y="134"/>
                  </a:lnTo>
                  <a:lnTo>
                    <a:pt x="8" y="140"/>
                  </a:lnTo>
                  <a:lnTo>
                    <a:pt x="36" y="144"/>
                  </a:lnTo>
                  <a:lnTo>
                    <a:pt x="38" y="144"/>
                  </a:lnTo>
                  <a:lnTo>
                    <a:pt x="40" y="144"/>
                  </a:lnTo>
                  <a:lnTo>
                    <a:pt x="48" y="162"/>
                  </a:lnTo>
                  <a:lnTo>
                    <a:pt x="56" y="168"/>
                  </a:lnTo>
                  <a:lnTo>
                    <a:pt x="60" y="174"/>
                  </a:lnTo>
                  <a:lnTo>
                    <a:pt x="60" y="184"/>
                  </a:lnTo>
                  <a:lnTo>
                    <a:pt x="60" y="206"/>
                  </a:lnTo>
                  <a:lnTo>
                    <a:pt x="70" y="216"/>
                  </a:lnTo>
                  <a:lnTo>
                    <a:pt x="72" y="216"/>
                  </a:lnTo>
                  <a:lnTo>
                    <a:pt x="76" y="232"/>
                  </a:lnTo>
                  <a:lnTo>
                    <a:pt x="76" y="240"/>
                  </a:lnTo>
                  <a:lnTo>
                    <a:pt x="72" y="248"/>
                  </a:lnTo>
                  <a:lnTo>
                    <a:pt x="70" y="256"/>
                  </a:lnTo>
                  <a:lnTo>
                    <a:pt x="72" y="264"/>
                  </a:lnTo>
                  <a:lnTo>
                    <a:pt x="82" y="270"/>
                  </a:lnTo>
                  <a:lnTo>
                    <a:pt x="94" y="276"/>
                  </a:lnTo>
                  <a:lnTo>
                    <a:pt x="100" y="280"/>
                  </a:lnTo>
                  <a:lnTo>
                    <a:pt x="106" y="292"/>
                  </a:lnTo>
                  <a:lnTo>
                    <a:pt x="114" y="298"/>
                  </a:lnTo>
                  <a:lnTo>
                    <a:pt x="116" y="302"/>
                  </a:lnTo>
                  <a:lnTo>
                    <a:pt x="124" y="304"/>
                  </a:lnTo>
                  <a:lnTo>
                    <a:pt x="122" y="288"/>
                  </a:lnTo>
                  <a:lnTo>
                    <a:pt x="122" y="282"/>
                  </a:lnTo>
                  <a:lnTo>
                    <a:pt x="122" y="278"/>
                  </a:lnTo>
                  <a:lnTo>
                    <a:pt x="126" y="274"/>
                  </a:lnTo>
                  <a:lnTo>
                    <a:pt x="128" y="272"/>
                  </a:lnTo>
                  <a:lnTo>
                    <a:pt x="140" y="268"/>
                  </a:lnTo>
                  <a:lnTo>
                    <a:pt x="142" y="268"/>
                  </a:lnTo>
                  <a:lnTo>
                    <a:pt x="144" y="268"/>
                  </a:lnTo>
                  <a:lnTo>
                    <a:pt x="148" y="270"/>
                  </a:lnTo>
                  <a:lnTo>
                    <a:pt x="156" y="266"/>
                  </a:lnTo>
                  <a:lnTo>
                    <a:pt x="156" y="264"/>
                  </a:lnTo>
                  <a:lnTo>
                    <a:pt x="158" y="244"/>
                  </a:lnTo>
                  <a:lnTo>
                    <a:pt x="154" y="236"/>
                  </a:lnTo>
                  <a:lnTo>
                    <a:pt x="148" y="232"/>
                  </a:lnTo>
                  <a:lnTo>
                    <a:pt x="140" y="232"/>
                  </a:lnTo>
                  <a:lnTo>
                    <a:pt x="138" y="232"/>
                  </a:lnTo>
                  <a:lnTo>
                    <a:pt x="136" y="230"/>
                  </a:lnTo>
                  <a:lnTo>
                    <a:pt x="132" y="210"/>
                  </a:lnTo>
                  <a:lnTo>
                    <a:pt x="134" y="168"/>
                  </a:lnTo>
                  <a:lnTo>
                    <a:pt x="136" y="168"/>
                  </a:lnTo>
                  <a:lnTo>
                    <a:pt x="148" y="150"/>
                  </a:lnTo>
                  <a:lnTo>
                    <a:pt x="164" y="160"/>
                  </a:lnTo>
                  <a:lnTo>
                    <a:pt x="176" y="160"/>
                  </a:lnTo>
                  <a:lnTo>
                    <a:pt x="184" y="108"/>
                  </a:lnTo>
                  <a:lnTo>
                    <a:pt x="180" y="100"/>
                  </a:lnTo>
                  <a:lnTo>
                    <a:pt x="174" y="96"/>
                  </a:lnTo>
                  <a:lnTo>
                    <a:pt x="168" y="96"/>
                  </a:lnTo>
                  <a:lnTo>
                    <a:pt x="166" y="96"/>
                  </a:lnTo>
                  <a:lnTo>
                    <a:pt x="154" y="98"/>
                  </a:lnTo>
                  <a:lnTo>
                    <a:pt x="152" y="96"/>
                  </a:lnTo>
                  <a:lnTo>
                    <a:pt x="144" y="84"/>
                  </a:lnTo>
                  <a:lnTo>
                    <a:pt x="142" y="84"/>
                  </a:lnTo>
                  <a:lnTo>
                    <a:pt x="142" y="64"/>
                  </a:lnTo>
                  <a:lnTo>
                    <a:pt x="146" y="52"/>
                  </a:lnTo>
                  <a:lnTo>
                    <a:pt x="148" y="48"/>
                  </a:lnTo>
                  <a:lnTo>
                    <a:pt x="150" y="42"/>
                  </a:lnTo>
                  <a:lnTo>
                    <a:pt x="152" y="36"/>
                  </a:lnTo>
                  <a:lnTo>
                    <a:pt x="156" y="32"/>
                  </a:lnTo>
                  <a:lnTo>
                    <a:pt x="156" y="20"/>
                  </a:lnTo>
                  <a:lnTo>
                    <a:pt x="144" y="8"/>
                  </a:lnTo>
                  <a:lnTo>
                    <a:pt x="128" y="0"/>
                  </a:lnTo>
                  <a:lnTo>
                    <a:pt x="108" y="18"/>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20" name="湖南"/>
            <p:cNvSpPr txBox="1"/>
            <p:nvPr/>
          </p:nvSpPr>
          <p:spPr>
            <a:xfrm>
              <a:off x="5815129" y="-1166478"/>
              <a:ext cx="1210588" cy="230832"/>
            </a:xfrm>
            <a:prstGeom prst="rect">
              <a:avLst/>
            </a:prstGeom>
            <a:noFill/>
          </p:spPr>
          <p:txBody>
            <a:bodyPr wrap="none" rtlCol="0">
              <a:spAutoFit/>
            </a:bodyPr>
            <a:lstStyle/>
            <a:p>
              <a:r>
                <a:rPr lang="zh-CN" altLang="en-US" sz="900" dirty="0">
                  <a:solidFill>
                    <a:srgbClr val="E6E9EE"/>
                  </a:solidFill>
                  <a:latin typeface="微软雅黑" panose="020B0503020204020204" charset="-122"/>
                  <a:ea typeface="微软雅黑" panose="020B0503020204020204" charset="-122"/>
                </a:rPr>
                <a:t>原创</a:t>
              </a:r>
              <a:r>
                <a:rPr lang="en-US" altLang="zh-CN" sz="900" dirty="0">
                  <a:solidFill>
                    <a:srgbClr val="E6E9EE"/>
                  </a:solidFill>
                  <a:latin typeface="微软雅黑" panose="020B0503020204020204" charset="-122"/>
                  <a:ea typeface="微软雅黑" panose="020B0503020204020204" charset="-122"/>
                </a:rPr>
                <a:t>QQ729615610</a:t>
              </a:r>
              <a:endParaRPr lang="zh-CN" altLang="en-US" sz="900" dirty="0">
                <a:solidFill>
                  <a:srgbClr val="E6E9EE"/>
                </a:solidFill>
                <a:latin typeface="微软雅黑" panose="020B0503020204020204" charset="-122"/>
                <a:ea typeface="微软雅黑" panose="020B0503020204020204" charset="-122"/>
              </a:endParaRPr>
            </a:p>
          </p:txBody>
        </p:sp>
        <p:sp>
          <p:nvSpPr>
            <p:cNvPr id="124" name="新疆"/>
            <p:cNvSpPr/>
            <p:nvPr/>
          </p:nvSpPr>
          <p:spPr bwMode="auto">
            <a:xfrm>
              <a:off x="5569247" y="-1953956"/>
              <a:ext cx="1822684" cy="1361310"/>
            </a:xfrm>
            <a:custGeom>
              <a:avLst/>
              <a:gdLst>
                <a:gd name="T0" fmla="*/ 2147483646 w 1304"/>
                <a:gd name="T1" fmla="*/ 2147483646 h 986"/>
                <a:gd name="T2" fmla="*/ 2147483646 w 1304"/>
                <a:gd name="T3" fmla="*/ 2147483646 h 986"/>
                <a:gd name="T4" fmla="*/ 2147483646 w 1304"/>
                <a:gd name="T5" fmla="*/ 2147483646 h 986"/>
                <a:gd name="T6" fmla="*/ 2147483646 w 1304"/>
                <a:gd name="T7" fmla="*/ 2147483646 h 986"/>
                <a:gd name="T8" fmla="*/ 2147483646 w 1304"/>
                <a:gd name="T9" fmla="*/ 2147483646 h 986"/>
                <a:gd name="T10" fmla="*/ 2147483646 w 1304"/>
                <a:gd name="T11" fmla="*/ 2147483646 h 986"/>
                <a:gd name="T12" fmla="*/ 2147483646 w 1304"/>
                <a:gd name="T13" fmla="*/ 2147483646 h 986"/>
                <a:gd name="T14" fmla="*/ 2147483646 w 1304"/>
                <a:gd name="T15" fmla="*/ 2147483646 h 986"/>
                <a:gd name="T16" fmla="*/ 2147483646 w 1304"/>
                <a:gd name="T17" fmla="*/ 2147483646 h 986"/>
                <a:gd name="T18" fmla="*/ 2147483646 w 1304"/>
                <a:gd name="T19" fmla="*/ 2147483646 h 986"/>
                <a:gd name="T20" fmla="*/ 2147483646 w 1304"/>
                <a:gd name="T21" fmla="*/ 2147483646 h 986"/>
                <a:gd name="T22" fmla="*/ 2147483646 w 1304"/>
                <a:gd name="T23" fmla="*/ 2147483646 h 986"/>
                <a:gd name="T24" fmla="*/ 2147483646 w 1304"/>
                <a:gd name="T25" fmla="*/ 2147483646 h 986"/>
                <a:gd name="T26" fmla="*/ 2147483646 w 1304"/>
                <a:gd name="T27" fmla="*/ 2147483646 h 986"/>
                <a:gd name="T28" fmla="*/ 2147483646 w 1304"/>
                <a:gd name="T29" fmla="*/ 2147483646 h 986"/>
                <a:gd name="T30" fmla="*/ 2147483646 w 1304"/>
                <a:gd name="T31" fmla="*/ 2147483646 h 986"/>
                <a:gd name="T32" fmla="*/ 2147483646 w 1304"/>
                <a:gd name="T33" fmla="*/ 2147483646 h 986"/>
                <a:gd name="T34" fmla="*/ 2147483646 w 1304"/>
                <a:gd name="T35" fmla="*/ 2147483646 h 986"/>
                <a:gd name="T36" fmla="*/ 2147483646 w 1304"/>
                <a:gd name="T37" fmla="*/ 2147483646 h 986"/>
                <a:gd name="T38" fmla="*/ 2147483646 w 1304"/>
                <a:gd name="T39" fmla="*/ 2147483646 h 986"/>
                <a:gd name="T40" fmla="*/ 2147483646 w 1304"/>
                <a:gd name="T41" fmla="*/ 2147483646 h 986"/>
                <a:gd name="T42" fmla="*/ 2147483646 w 1304"/>
                <a:gd name="T43" fmla="*/ 2147483646 h 986"/>
                <a:gd name="T44" fmla="*/ 2147483646 w 1304"/>
                <a:gd name="T45" fmla="*/ 2147483646 h 986"/>
                <a:gd name="T46" fmla="*/ 2147483646 w 1304"/>
                <a:gd name="T47" fmla="*/ 2147483646 h 986"/>
                <a:gd name="T48" fmla="*/ 2147483646 w 1304"/>
                <a:gd name="T49" fmla="*/ 2147483646 h 986"/>
                <a:gd name="T50" fmla="*/ 2147483646 w 1304"/>
                <a:gd name="T51" fmla="*/ 2147483646 h 986"/>
                <a:gd name="T52" fmla="*/ 2147483646 w 1304"/>
                <a:gd name="T53" fmla="*/ 2147483646 h 986"/>
                <a:gd name="T54" fmla="*/ 2147483646 w 1304"/>
                <a:gd name="T55" fmla="*/ 2147483646 h 986"/>
                <a:gd name="T56" fmla="*/ 2147483646 w 1304"/>
                <a:gd name="T57" fmla="*/ 2147483646 h 986"/>
                <a:gd name="T58" fmla="*/ 2147483646 w 1304"/>
                <a:gd name="T59" fmla="*/ 2147483646 h 986"/>
                <a:gd name="T60" fmla="*/ 2147483646 w 1304"/>
                <a:gd name="T61" fmla="*/ 2147483646 h 986"/>
                <a:gd name="T62" fmla="*/ 2147483646 w 1304"/>
                <a:gd name="T63" fmla="*/ 2147483646 h 986"/>
                <a:gd name="T64" fmla="*/ 2147483646 w 1304"/>
                <a:gd name="T65" fmla="*/ 2147483646 h 986"/>
                <a:gd name="T66" fmla="*/ 2147483646 w 1304"/>
                <a:gd name="T67" fmla="*/ 2147483646 h 986"/>
                <a:gd name="T68" fmla="*/ 2147483646 w 1304"/>
                <a:gd name="T69" fmla="*/ 2147483646 h 986"/>
                <a:gd name="T70" fmla="*/ 2147483646 w 1304"/>
                <a:gd name="T71" fmla="*/ 2147483646 h 986"/>
                <a:gd name="T72" fmla="*/ 2147483646 w 1304"/>
                <a:gd name="T73" fmla="*/ 2147483646 h 986"/>
                <a:gd name="T74" fmla="*/ 2147483646 w 1304"/>
                <a:gd name="T75" fmla="*/ 2147483646 h 986"/>
                <a:gd name="T76" fmla="*/ 2147483646 w 1304"/>
                <a:gd name="T77" fmla="*/ 2147483646 h 986"/>
                <a:gd name="T78" fmla="*/ 2147483646 w 1304"/>
                <a:gd name="T79" fmla="*/ 2147483646 h 986"/>
                <a:gd name="T80" fmla="*/ 2147483646 w 1304"/>
                <a:gd name="T81" fmla="*/ 2147483646 h 986"/>
                <a:gd name="T82" fmla="*/ 2147483646 w 1304"/>
                <a:gd name="T83" fmla="*/ 2147483646 h 986"/>
                <a:gd name="T84" fmla="*/ 2147483646 w 1304"/>
                <a:gd name="T85" fmla="*/ 2147483646 h 986"/>
                <a:gd name="T86" fmla="*/ 2147483646 w 1304"/>
                <a:gd name="T87" fmla="*/ 2147483646 h 986"/>
                <a:gd name="T88" fmla="*/ 2147483646 w 1304"/>
                <a:gd name="T89" fmla="*/ 2147483646 h 986"/>
                <a:gd name="T90" fmla="*/ 2147483646 w 1304"/>
                <a:gd name="T91" fmla="*/ 2147483646 h 986"/>
                <a:gd name="T92" fmla="*/ 2147483646 w 1304"/>
                <a:gd name="T93" fmla="*/ 2147483646 h 986"/>
                <a:gd name="T94" fmla="*/ 2147483646 w 1304"/>
                <a:gd name="T95" fmla="*/ 2147483646 h 986"/>
                <a:gd name="T96" fmla="*/ 2147483646 w 1304"/>
                <a:gd name="T97" fmla="*/ 2147483646 h 986"/>
                <a:gd name="T98" fmla="*/ 2147483646 w 1304"/>
                <a:gd name="T99" fmla="*/ 2147483646 h 986"/>
                <a:gd name="T100" fmla="*/ 2147483646 w 1304"/>
                <a:gd name="T101" fmla="*/ 2147483646 h 986"/>
                <a:gd name="T102" fmla="*/ 2147483646 w 1304"/>
                <a:gd name="T103" fmla="*/ 2147483646 h 986"/>
                <a:gd name="T104" fmla="*/ 2147483646 w 1304"/>
                <a:gd name="T105" fmla="*/ 2147483646 h 986"/>
                <a:gd name="T106" fmla="*/ 2147483646 w 1304"/>
                <a:gd name="T107" fmla="*/ 2147483646 h 986"/>
                <a:gd name="T108" fmla="*/ 2147483646 w 1304"/>
                <a:gd name="T109" fmla="*/ 2147483646 h 986"/>
                <a:gd name="T110" fmla="*/ 2147483646 w 1304"/>
                <a:gd name="T111" fmla="*/ 2147483646 h 986"/>
                <a:gd name="T112" fmla="*/ 2147483646 w 1304"/>
                <a:gd name="T113" fmla="*/ 2147483646 h 986"/>
                <a:gd name="T114" fmla="*/ 2147483646 w 1304"/>
                <a:gd name="T115" fmla="*/ 2147483646 h 98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304" h="986">
                  <a:moveTo>
                    <a:pt x="1302" y="530"/>
                  </a:moveTo>
                  <a:lnTo>
                    <a:pt x="1304" y="530"/>
                  </a:lnTo>
                  <a:lnTo>
                    <a:pt x="1304" y="528"/>
                  </a:lnTo>
                  <a:lnTo>
                    <a:pt x="1278" y="456"/>
                  </a:lnTo>
                  <a:lnTo>
                    <a:pt x="1262" y="444"/>
                  </a:lnTo>
                  <a:lnTo>
                    <a:pt x="1262" y="442"/>
                  </a:lnTo>
                  <a:lnTo>
                    <a:pt x="1258" y="412"/>
                  </a:lnTo>
                  <a:lnTo>
                    <a:pt x="1226" y="408"/>
                  </a:lnTo>
                  <a:lnTo>
                    <a:pt x="1224" y="408"/>
                  </a:lnTo>
                  <a:lnTo>
                    <a:pt x="1222" y="408"/>
                  </a:lnTo>
                  <a:lnTo>
                    <a:pt x="1222" y="406"/>
                  </a:lnTo>
                  <a:lnTo>
                    <a:pt x="1222" y="404"/>
                  </a:lnTo>
                  <a:lnTo>
                    <a:pt x="1218" y="396"/>
                  </a:lnTo>
                  <a:lnTo>
                    <a:pt x="1212" y="386"/>
                  </a:lnTo>
                  <a:lnTo>
                    <a:pt x="1202" y="378"/>
                  </a:lnTo>
                  <a:lnTo>
                    <a:pt x="1192" y="368"/>
                  </a:lnTo>
                  <a:lnTo>
                    <a:pt x="1178" y="360"/>
                  </a:lnTo>
                  <a:lnTo>
                    <a:pt x="1166" y="354"/>
                  </a:lnTo>
                  <a:lnTo>
                    <a:pt x="1152" y="346"/>
                  </a:lnTo>
                  <a:lnTo>
                    <a:pt x="1140" y="340"/>
                  </a:lnTo>
                  <a:lnTo>
                    <a:pt x="1116" y="336"/>
                  </a:lnTo>
                  <a:lnTo>
                    <a:pt x="1084" y="334"/>
                  </a:lnTo>
                  <a:lnTo>
                    <a:pt x="1042" y="332"/>
                  </a:lnTo>
                  <a:lnTo>
                    <a:pt x="1040" y="332"/>
                  </a:lnTo>
                  <a:lnTo>
                    <a:pt x="1032" y="320"/>
                  </a:lnTo>
                  <a:lnTo>
                    <a:pt x="1028" y="310"/>
                  </a:lnTo>
                  <a:lnTo>
                    <a:pt x="1026" y="300"/>
                  </a:lnTo>
                  <a:lnTo>
                    <a:pt x="1028" y="288"/>
                  </a:lnTo>
                  <a:lnTo>
                    <a:pt x="1034" y="272"/>
                  </a:lnTo>
                  <a:lnTo>
                    <a:pt x="1044" y="246"/>
                  </a:lnTo>
                  <a:lnTo>
                    <a:pt x="1058" y="214"/>
                  </a:lnTo>
                  <a:lnTo>
                    <a:pt x="1048" y="180"/>
                  </a:lnTo>
                  <a:lnTo>
                    <a:pt x="1036" y="124"/>
                  </a:lnTo>
                  <a:lnTo>
                    <a:pt x="1032" y="118"/>
                  </a:lnTo>
                  <a:lnTo>
                    <a:pt x="1024" y="112"/>
                  </a:lnTo>
                  <a:lnTo>
                    <a:pt x="1012" y="106"/>
                  </a:lnTo>
                  <a:lnTo>
                    <a:pt x="996" y="100"/>
                  </a:lnTo>
                  <a:lnTo>
                    <a:pt x="990" y="98"/>
                  </a:lnTo>
                  <a:lnTo>
                    <a:pt x="982" y="94"/>
                  </a:lnTo>
                  <a:lnTo>
                    <a:pt x="976" y="90"/>
                  </a:lnTo>
                  <a:lnTo>
                    <a:pt x="970" y="86"/>
                  </a:lnTo>
                  <a:lnTo>
                    <a:pt x="966" y="80"/>
                  </a:lnTo>
                  <a:lnTo>
                    <a:pt x="964" y="74"/>
                  </a:lnTo>
                  <a:lnTo>
                    <a:pt x="960" y="68"/>
                  </a:lnTo>
                  <a:lnTo>
                    <a:pt x="954" y="60"/>
                  </a:lnTo>
                  <a:lnTo>
                    <a:pt x="948" y="54"/>
                  </a:lnTo>
                  <a:lnTo>
                    <a:pt x="940" y="50"/>
                  </a:lnTo>
                  <a:lnTo>
                    <a:pt x="938" y="50"/>
                  </a:lnTo>
                  <a:lnTo>
                    <a:pt x="938" y="48"/>
                  </a:lnTo>
                  <a:lnTo>
                    <a:pt x="928" y="0"/>
                  </a:lnTo>
                  <a:lnTo>
                    <a:pt x="890" y="4"/>
                  </a:lnTo>
                  <a:lnTo>
                    <a:pt x="886" y="14"/>
                  </a:lnTo>
                  <a:lnTo>
                    <a:pt x="882" y="24"/>
                  </a:lnTo>
                  <a:lnTo>
                    <a:pt x="878" y="32"/>
                  </a:lnTo>
                  <a:lnTo>
                    <a:pt x="876" y="36"/>
                  </a:lnTo>
                  <a:lnTo>
                    <a:pt x="870" y="38"/>
                  </a:lnTo>
                  <a:lnTo>
                    <a:pt x="846" y="46"/>
                  </a:lnTo>
                  <a:lnTo>
                    <a:pt x="828" y="56"/>
                  </a:lnTo>
                  <a:lnTo>
                    <a:pt x="822" y="60"/>
                  </a:lnTo>
                  <a:lnTo>
                    <a:pt x="816" y="66"/>
                  </a:lnTo>
                  <a:lnTo>
                    <a:pt x="814" y="74"/>
                  </a:lnTo>
                  <a:lnTo>
                    <a:pt x="810" y="92"/>
                  </a:lnTo>
                  <a:lnTo>
                    <a:pt x="806" y="110"/>
                  </a:lnTo>
                  <a:lnTo>
                    <a:pt x="802" y="122"/>
                  </a:lnTo>
                  <a:lnTo>
                    <a:pt x="798" y="130"/>
                  </a:lnTo>
                  <a:lnTo>
                    <a:pt x="792" y="136"/>
                  </a:lnTo>
                  <a:lnTo>
                    <a:pt x="786" y="142"/>
                  </a:lnTo>
                  <a:lnTo>
                    <a:pt x="778" y="144"/>
                  </a:lnTo>
                  <a:lnTo>
                    <a:pt x="770" y="146"/>
                  </a:lnTo>
                  <a:lnTo>
                    <a:pt x="760" y="146"/>
                  </a:lnTo>
                  <a:lnTo>
                    <a:pt x="750" y="144"/>
                  </a:lnTo>
                  <a:lnTo>
                    <a:pt x="738" y="140"/>
                  </a:lnTo>
                  <a:lnTo>
                    <a:pt x="724" y="134"/>
                  </a:lnTo>
                  <a:lnTo>
                    <a:pt x="708" y="126"/>
                  </a:lnTo>
                  <a:lnTo>
                    <a:pt x="674" y="104"/>
                  </a:lnTo>
                  <a:lnTo>
                    <a:pt x="608" y="188"/>
                  </a:lnTo>
                  <a:lnTo>
                    <a:pt x="616" y="224"/>
                  </a:lnTo>
                  <a:lnTo>
                    <a:pt x="618" y="224"/>
                  </a:lnTo>
                  <a:lnTo>
                    <a:pt x="616" y="226"/>
                  </a:lnTo>
                  <a:lnTo>
                    <a:pt x="610" y="232"/>
                  </a:lnTo>
                  <a:lnTo>
                    <a:pt x="602" y="236"/>
                  </a:lnTo>
                  <a:lnTo>
                    <a:pt x="598" y="236"/>
                  </a:lnTo>
                  <a:lnTo>
                    <a:pt x="594" y="234"/>
                  </a:lnTo>
                  <a:lnTo>
                    <a:pt x="582" y="230"/>
                  </a:lnTo>
                  <a:lnTo>
                    <a:pt x="576" y="226"/>
                  </a:lnTo>
                  <a:lnTo>
                    <a:pt x="564" y="224"/>
                  </a:lnTo>
                  <a:lnTo>
                    <a:pt x="548" y="220"/>
                  </a:lnTo>
                  <a:lnTo>
                    <a:pt x="528" y="220"/>
                  </a:lnTo>
                  <a:lnTo>
                    <a:pt x="514" y="218"/>
                  </a:lnTo>
                  <a:lnTo>
                    <a:pt x="494" y="216"/>
                  </a:lnTo>
                  <a:lnTo>
                    <a:pt x="474" y="220"/>
                  </a:lnTo>
                  <a:lnTo>
                    <a:pt x="482" y="234"/>
                  </a:lnTo>
                  <a:lnTo>
                    <a:pt x="492" y="248"/>
                  </a:lnTo>
                  <a:lnTo>
                    <a:pt x="494" y="252"/>
                  </a:lnTo>
                  <a:lnTo>
                    <a:pt x="494" y="256"/>
                  </a:lnTo>
                  <a:lnTo>
                    <a:pt x="484" y="308"/>
                  </a:lnTo>
                  <a:lnTo>
                    <a:pt x="488" y="336"/>
                  </a:lnTo>
                  <a:lnTo>
                    <a:pt x="490" y="336"/>
                  </a:lnTo>
                  <a:lnTo>
                    <a:pt x="488" y="336"/>
                  </a:lnTo>
                  <a:lnTo>
                    <a:pt x="472" y="388"/>
                  </a:lnTo>
                  <a:lnTo>
                    <a:pt x="470" y="394"/>
                  </a:lnTo>
                  <a:lnTo>
                    <a:pt x="468" y="396"/>
                  </a:lnTo>
                  <a:lnTo>
                    <a:pt x="466" y="396"/>
                  </a:lnTo>
                  <a:lnTo>
                    <a:pt x="466" y="394"/>
                  </a:lnTo>
                  <a:lnTo>
                    <a:pt x="464" y="390"/>
                  </a:lnTo>
                  <a:lnTo>
                    <a:pt x="460" y="384"/>
                  </a:lnTo>
                  <a:lnTo>
                    <a:pt x="460" y="382"/>
                  </a:lnTo>
                  <a:lnTo>
                    <a:pt x="458" y="382"/>
                  </a:lnTo>
                  <a:lnTo>
                    <a:pt x="454" y="384"/>
                  </a:lnTo>
                  <a:lnTo>
                    <a:pt x="452" y="392"/>
                  </a:lnTo>
                  <a:lnTo>
                    <a:pt x="450" y="404"/>
                  </a:lnTo>
                  <a:lnTo>
                    <a:pt x="444" y="414"/>
                  </a:lnTo>
                  <a:lnTo>
                    <a:pt x="436" y="422"/>
                  </a:lnTo>
                  <a:lnTo>
                    <a:pt x="426" y="432"/>
                  </a:lnTo>
                  <a:lnTo>
                    <a:pt x="412" y="444"/>
                  </a:lnTo>
                  <a:lnTo>
                    <a:pt x="406" y="448"/>
                  </a:lnTo>
                  <a:lnTo>
                    <a:pt x="404" y="448"/>
                  </a:lnTo>
                  <a:lnTo>
                    <a:pt x="352" y="448"/>
                  </a:lnTo>
                  <a:lnTo>
                    <a:pt x="332" y="468"/>
                  </a:lnTo>
                  <a:lnTo>
                    <a:pt x="330" y="468"/>
                  </a:lnTo>
                  <a:lnTo>
                    <a:pt x="274" y="460"/>
                  </a:lnTo>
                  <a:lnTo>
                    <a:pt x="268" y="466"/>
                  </a:lnTo>
                  <a:lnTo>
                    <a:pt x="260" y="470"/>
                  </a:lnTo>
                  <a:lnTo>
                    <a:pt x="254" y="470"/>
                  </a:lnTo>
                  <a:lnTo>
                    <a:pt x="248" y="470"/>
                  </a:lnTo>
                  <a:lnTo>
                    <a:pt x="240" y="470"/>
                  </a:lnTo>
                  <a:lnTo>
                    <a:pt x="232" y="470"/>
                  </a:lnTo>
                  <a:lnTo>
                    <a:pt x="206" y="478"/>
                  </a:lnTo>
                  <a:lnTo>
                    <a:pt x="184" y="504"/>
                  </a:lnTo>
                  <a:lnTo>
                    <a:pt x="184" y="506"/>
                  </a:lnTo>
                  <a:lnTo>
                    <a:pt x="148" y="508"/>
                  </a:lnTo>
                  <a:lnTo>
                    <a:pt x="148" y="478"/>
                  </a:lnTo>
                  <a:lnTo>
                    <a:pt x="126" y="478"/>
                  </a:lnTo>
                  <a:lnTo>
                    <a:pt x="122" y="490"/>
                  </a:lnTo>
                  <a:lnTo>
                    <a:pt x="106" y="494"/>
                  </a:lnTo>
                  <a:lnTo>
                    <a:pt x="104" y="494"/>
                  </a:lnTo>
                  <a:lnTo>
                    <a:pt x="102" y="494"/>
                  </a:lnTo>
                  <a:lnTo>
                    <a:pt x="86" y="486"/>
                  </a:lnTo>
                  <a:lnTo>
                    <a:pt x="66" y="480"/>
                  </a:lnTo>
                  <a:lnTo>
                    <a:pt x="60" y="482"/>
                  </a:lnTo>
                  <a:lnTo>
                    <a:pt x="54" y="484"/>
                  </a:lnTo>
                  <a:lnTo>
                    <a:pt x="38" y="496"/>
                  </a:lnTo>
                  <a:lnTo>
                    <a:pt x="20" y="512"/>
                  </a:lnTo>
                  <a:lnTo>
                    <a:pt x="14" y="520"/>
                  </a:lnTo>
                  <a:lnTo>
                    <a:pt x="10" y="528"/>
                  </a:lnTo>
                  <a:lnTo>
                    <a:pt x="12" y="530"/>
                  </a:lnTo>
                  <a:lnTo>
                    <a:pt x="14" y="536"/>
                  </a:lnTo>
                  <a:lnTo>
                    <a:pt x="16" y="546"/>
                  </a:lnTo>
                  <a:lnTo>
                    <a:pt x="16" y="554"/>
                  </a:lnTo>
                  <a:lnTo>
                    <a:pt x="14" y="562"/>
                  </a:lnTo>
                  <a:lnTo>
                    <a:pt x="10" y="568"/>
                  </a:lnTo>
                  <a:lnTo>
                    <a:pt x="6" y="570"/>
                  </a:lnTo>
                  <a:lnTo>
                    <a:pt x="4" y="574"/>
                  </a:lnTo>
                  <a:lnTo>
                    <a:pt x="0" y="590"/>
                  </a:lnTo>
                  <a:lnTo>
                    <a:pt x="14" y="598"/>
                  </a:lnTo>
                  <a:lnTo>
                    <a:pt x="30" y="580"/>
                  </a:lnTo>
                  <a:lnTo>
                    <a:pt x="54" y="604"/>
                  </a:lnTo>
                  <a:lnTo>
                    <a:pt x="54" y="606"/>
                  </a:lnTo>
                  <a:lnTo>
                    <a:pt x="58" y="650"/>
                  </a:lnTo>
                  <a:lnTo>
                    <a:pt x="58" y="652"/>
                  </a:lnTo>
                  <a:lnTo>
                    <a:pt x="44" y="712"/>
                  </a:lnTo>
                  <a:lnTo>
                    <a:pt x="42" y="712"/>
                  </a:lnTo>
                  <a:lnTo>
                    <a:pt x="18" y="712"/>
                  </a:lnTo>
                  <a:lnTo>
                    <a:pt x="12" y="714"/>
                  </a:lnTo>
                  <a:lnTo>
                    <a:pt x="6" y="716"/>
                  </a:lnTo>
                  <a:lnTo>
                    <a:pt x="8" y="720"/>
                  </a:lnTo>
                  <a:lnTo>
                    <a:pt x="12" y="724"/>
                  </a:lnTo>
                  <a:lnTo>
                    <a:pt x="28" y="736"/>
                  </a:lnTo>
                  <a:lnTo>
                    <a:pt x="40" y="734"/>
                  </a:lnTo>
                  <a:lnTo>
                    <a:pt x="42" y="734"/>
                  </a:lnTo>
                  <a:lnTo>
                    <a:pt x="70" y="760"/>
                  </a:lnTo>
                  <a:lnTo>
                    <a:pt x="72" y="764"/>
                  </a:lnTo>
                  <a:lnTo>
                    <a:pt x="76" y="768"/>
                  </a:lnTo>
                  <a:lnTo>
                    <a:pt x="76" y="778"/>
                  </a:lnTo>
                  <a:lnTo>
                    <a:pt x="74" y="792"/>
                  </a:lnTo>
                  <a:lnTo>
                    <a:pt x="66" y="806"/>
                  </a:lnTo>
                  <a:lnTo>
                    <a:pt x="70" y="832"/>
                  </a:lnTo>
                  <a:lnTo>
                    <a:pt x="80" y="834"/>
                  </a:lnTo>
                  <a:lnTo>
                    <a:pt x="120" y="834"/>
                  </a:lnTo>
                  <a:lnTo>
                    <a:pt x="100" y="852"/>
                  </a:lnTo>
                  <a:lnTo>
                    <a:pt x="112" y="860"/>
                  </a:lnTo>
                  <a:lnTo>
                    <a:pt x="128" y="868"/>
                  </a:lnTo>
                  <a:lnTo>
                    <a:pt x="170" y="886"/>
                  </a:lnTo>
                  <a:lnTo>
                    <a:pt x="172" y="888"/>
                  </a:lnTo>
                  <a:lnTo>
                    <a:pt x="174" y="888"/>
                  </a:lnTo>
                  <a:lnTo>
                    <a:pt x="178" y="952"/>
                  </a:lnTo>
                  <a:lnTo>
                    <a:pt x="180" y="962"/>
                  </a:lnTo>
                  <a:lnTo>
                    <a:pt x="186" y="970"/>
                  </a:lnTo>
                  <a:lnTo>
                    <a:pt x="194" y="976"/>
                  </a:lnTo>
                  <a:lnTo>
                    <a:pt x="206" y="982"/>
                  </a:lnTo>
                  <a:lnTo>
                    <a:pt x="210" y="980"/>
                  </a:lnTo>
                  <a:lnTo>
                    <a:pt x="212" y="980"/>
                  </a:lnTo>
                  <a:lnTo>
                    <a:pt x="256" y="986"/>
                  </a:lnTo>
                  <a:lnTo>
                    <a:pt x="260" y="986"/>
                  </a:lnTo>
                  <a:lnTo>
                    <a:pt x="260" y="984"/>
                  </a:lnTo>
                  <a:lnTo>
                    <a:pt x="268" y="968"/>
                  </a:lnTo>
                  <a:lnTo>
                    <a:pt x="268" y="966"/>
                  </a:lnTo>
                  <a:lnTo>
                    <a:pt x="268" y="960"/>
                  </a:lnTo>
                  <a:lnTo>
                    <a:pt x="270" y="956"/>
                  </a:lnTo>
                  <a:lnTo>
                    <a:pt x="274" y="952"/>
                  </a:lnTo>
                  <a:lnTo>
                    <a:pt x="278" y="948"/>
                  </a:lnTo>
                  <a:lnTo>
                    <a:pt x="286" y="940"/>
                  </a:lnTo>
                  <a:lnTo>
                    <a:pt x="290" y="932"/>
                  </a:lnTo>
                  <a:lnTo>
                    <a:pt x="294" y="928"/>
                  </a:lnTo>
                  <a:lnTo>
                    <a:pt x="298" y="926"/>
                  </a:lnTo>
                  <a:lnTo>
                    <a:pt x="306" y="926"/>
                  </a:lnTo>
                  <a:lnTo>
                    <a:pt x="314" y="928"/>
                  </a:lnTo>
                  <a:lnTo>
                    <a:pt x="316" y="928"/>
                  </a:lnTo>
                  <a:lnTo>
                    <a:pt x="330" y="936"/>
                  </a:lnTo>
                  <a:lnTo>
                    <a:pt x="382" y="946"/>
                  </a:lnTo>
                  <a:lnTo>
                    <a:pt x="412" y="944"/>
                  </a:lnTo>
                  <a:lnTo>
                    <a:pt x="434" y="934"/>
                  </a:lnTo>
                  <a:lnTo>
                    <a:pt x="440" y="928"/>
                  </a:lnTo>
                  <a:lnTo>
                    <a:pt x="444" y="924"/>
                  </a:lnTo>
                  <a:lnTo>
                    <a:pt x="452" y="924"/>
                  </a:lnTo>
                  <a:lnTo>
                    <a:pt x="460" y="930"/>
                  </a:lnTo>
                  <a:lnTo>
                    <a:pt x="464" y="932"/>
                  </a:lnTo>
                  <a:lnTo>
                    <a:pt x="468" y="938"/>
                  </a:lnTo>
                  <a:lnTo>
                    <a:pt x="472" y="948"/>
                  </a:lnTo>
                  <a:lnTo>
                    <a:pt x="488" y="960"/>
                  </a:lnTo>
                  <a:lnTo>
                    <a:pt x="500" y="960"/>
                  </a:lnTo>
                  <a:lnTo>
                    <a:pt x="502" y="960"/>
                  </a:lnTo>
                  <a:lnTo>
                    <a:pt x="504" y="960"/>
                  </a:lnTo>
                  <a:lnTo>
                    <a:pt x="520" y="968"/>
                  </a:lnTo>
                  <a:lnTo>
                    <a:pt x="552" y="964"/>
                  </a:lnTo>
                  <a:lnTo>
                    <a:pt x="570" y="960"/>
                  </a:lnTo>
                  <a:lnTo>
                    <a:pt x="614" y="964"/>
                  </a:lnTo>
                  <a:lnTo>
                    <a:pt x="634" y="958"/>
                  </a:lnTo>
                  <a:lnTo>
                    <a:pt x="658" y="948"/>
                  </a:lnTo>
                  <a:lnTo>
                    <a:pt x="666" y="944"/>
                  </a:lnTo>
                  <a:lnTo>
                    <a:pt x="676" y="940"/>
                  </a:lnTo>
                  <a:lnTo>
                    <a:pt x="720" y="940"/>
                  </a:lnTo>
                  <a:lnTo>
                    <a:pt x="736" y="934"/>
                  </a:lnTo>
                  <a:lnTo>
                    <a:pt x="746" y="930"/>
                  </a:lnTo>
                  <a:lnTo>
                    <a:pt x="754" y="928"/>
                  </a:lnTo>
                  <a:lnTo>
                    <a:pt x="778" y="928"/>
                  </a:lnTo>
                  <a:lnTo>
                    <a:pt x="790" y="936"/>
                  </a:lnTo>
                  <a:lnTo>
                    <a:pt x="826" y="944"/>
                  </a:lnTo>
                  <a:lnTo>
                    <a:pt x="830" y="944"/>
                  </a:lnTo>
                  <a:lnTo>
                    <a:pt x="832" y="948"/>
                  </a:lnTo>
                  <a:lnTo>
                    <a:pt x="842" y="956"/>
                  </a:lnTo>
                  <a:lnTo>
                    <a:pt x="858" y="964"/>
                  </a:lnTo>
                  <a:lnTo>
                    <a:pt x="858" y="966"/>
                  </a:lnTo>
                  <a:lnTo>
                    <a:pt x="892" y="968"/>
                  </a:lnTo>
                  <a:lnTo>
                    <a:pt x="908" y="976"/>
                  </a:lnTo>
                  <a:lnTo>
                    <a:pt x="928" y="980"/>
                  </a:lnTo>
                  <a:lnTo>
                    <a:pt x="946" y="982"/>
                  </a:lnTo>
                  <a:lnTo>
                    <a:pt x="950" y="972"/>
                  </a:lnTo>
                  <a:lnTo>
                    <a:pt x="942" y="956"/>
                  </a:lnTo>
                  <a:lnTo>
                    <a:pt x="940" y="940"/>
                  </a:lnTo>
                  <a:lnTo>
                    <a:pt x="938" y="940"/>
                  </a:lnTo>
                  <a:lnTo>
                    <a:pt x="942" y="936"/>
                  </a:lnTo>
                  <a:lnTo>
                    <a:pt x="952" y="922"/>
                  </a:lnTo>
                  <a:lnTo>
                    <a:pt x="952" y="920"/>
                  </a:lnTo>
                  <a:lnTo>
                    <a:pt x="954" y="920"/>
                  </a:lnTo>
                  <a:lnTo>
                    <a:pt x="964" y="912"/>
                  </a:lnTo>
                  <a:lnTo>
                    <a:pt x="962" y="908"/>
                  </a:lnTo>
                  <a:lnTo>
                    <a:pt x="958" y="892"/>
                  </a:lnTo>
                  <a:lnTo>
                    <a:pt x="956" y="888"/>
                  </a:lnTo>
                  <a:lnTo>
                    <a:pt x="950" y="884"/>
                  </a:lnTo>
                  <a:lnTo>
                    <a:pt x="938" y="872"/>
                  </a:lnTo>
                  <a:lnTo>
                    <a:pt x="922" y="858"/>
                  </a:lnTo>
                  <a:lnTo>
                    <a:pt x="922" y="856"/>
                  </a:lnTo>
                  <a:lnTo>
                    <a:pt x="920" y="856"/>
                  </a:lnTo>
                  <a:lnTo>
                    <a:pt x="922" y="856"/>
                  </a:lnTo>
                  <a:lnTo>
                    <a:pt x="922" y="854"/>
                  </a:lnTo>
                  <a:lnTo>
                    <a:pt x="924" y="838"/>
                  </a:lnTo>
                  <a:lnTo>
                    <a:pt x="924" y="828"/>
                  </a:lnTo>
                  <a:lnTo>
                    <a:pt x="916" y="808"/>
                  </a:lnTo>
                  <a:lnTo>
                    <a:pt x="934" y="804"/>
                  </a:lnTo>
                  <a:lnTo>
                    <a:pt x="944" y="796"/>
                  </a:lnTo>
                  <a:lnTo>
                    <a:pt x="966" y="796"/>
                  </a:lnTo>
                  <a:lnTo>
                    <a:pt x="988" y="792"/>
                  </a:lnTo>
                  <a:lnTo>
                    <a:pt x="990" y="792"/>
                  </a:lnTo>
                  <a:lnTo>
                    <a:pt x="1004" y="794"/>
                  </a:lnTo>
                  <a:lnTo>
                    <a:pt x="1022" y="788"/>
                  </a:lnTo>
                  <a:lnTo>
                    <a:pt x="1042" y="784"/>
                  </a:lnTo>
                  <a:lnTo>
                    <a:pt x="1054" y="780"/>
                  </a:lnTo>
                  <a:lnTo>
                    <a:pt x="1056" y="780"/>
                  </a:lnTo>
                  <a:lnTo>
                    <a:pt x="1090" y="772"/>
                  </a:lnTo>
                  <a:lnTo>
                    <a:pt x="1096" y="768"/>
                  </a:lnTo>
                  <a:lnTo>
                    <a:pt x="1094" y="760"/>
                  </a:lnTo>
                  <a:lnTo>
                    <a:pt x="1088" y="750"/>
                  </a:lnTo>
                  <a:lnTo>
                    <a:pt x="1088" y="748"/>
                  </a:lnTo>
                  <a:lnTo>
                    <a:pt x="1086" y="748"/>
                  </a:lnTo>
                  <a:lnTo>
                    <a:pt x="1088" y="736"/>
                  </a:lnTo>
                  <a:lnTo>
                    <a:pt x="1090" y="734"/>
                  </a:lnTo>
                  <a:lnTo>
                    <a:pt x="1090" y="718"/>
                  </a:lnTo>
                  <a:lnTo>
                    <a:pt x="1086" y="704"/>
                  </a:lnTo>
                  <a:lnTo>
                    <a:pt x="1086" y="702"/>
                  </a:lnTo>
                  <a:lnTo>
                    <a:pt x="1094" y="686"/>
                  </a:lnTo>
                  <a:lnTo>
                    <a:pt x="1100" y="678"/>
                  </a:lnTo>
                  <a:lnTo>
                    <a:pt x="1102" y="676"/>
                  </a:lnTo>
                  <a:lnTo>
                    <a:pt x="1106" y="676"/>
                  </a:lnTo>
                  <a:lnTo>
                    <a:pt x="1126" y="676"/>
                  </a:lnTo>
                  <a:lnTo>
                    <a:pt x="1132" y="676"/>
                  </a:lnTo>
                  <a:lnTo>
                    <a:pt x="1138" y="672"/>
                  </a:lnTo>
                  <a:lnTo>
                    <a:pt x="1170" y="630"/>
                  </a:lnTo>
                  <a:lnTo>
                    <a:pt x="1170" y="628"/>
                  </a:lnTo>
                  <a:lnTo>
                    <a:pt x="1186" y="614"/>
                  </a:lnTo>
                  <a:lnTo>
                    <a:pt x="1188" y="612"/>
                  </a:lnTo>
                  <a:lnTo>
                    <a:pt x="1196" y="610"/>
                  </a:lnTo>
                  <a:lnTo>
                    <a:pt x="1202" y="608"/>
                  </a:lnTo>
                  <a:lnTo>
                    <a:pt x="1206" y="604"/>
                  </a:lnTo>
                  <a:lnTo>
                    <a:pt x="1214" y="596"/>
                  </a:lnTo>
                  <a:lnTo>
                    <a:pt x="1218" y="592"/>
                  </a:lnTo>
                  <a:lnTo>
                    <a:pt x="1246" y="598"/>
                  </a:lnTo>
                  <a:lnTo>
                    <a:pt x="1270" y="588"/>
                  </a:lnTo>
                  <a:lnTo>
                    <a:pt x="1284" y="586"/>
                  </a:lnTo>
                  <a:lnTo>
                    <a:pt x="1296" y="580"/>
                  </a:lnTo>
                  <a:lnTo>
                    <a:pt x="1296" y="562"/>
                  </a:lnTo>
                  <a:lnTo>
                    <a:pt x="1298" y="540"/>
                  </a:lnTo>
                  <a:lnTo>
                    <a:pt x="1298" y="538"/>
                  </a:lnTo>
                  <a:lnTo>
                    <a:pt x="1302" y="532"/>
                  </a:lnTo>
                  <a:lnTo>
                    <a:pt x="1302" y="530"/>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25" name="青海"/>
            <p:cNvSpPr/>
            <p:nvPr/>
          </p:nvSpPr>
          <p:spPr bwMode="auto">
            <a:xfrm>
              <a:off x="6751755" y="-885342"/>
              <a:ext cx="1134984" cy="803532"/>
            </a:xfrm>
            <a:custGeom>
              <a:avLst/>
              <a:gdLst>
                <a:gd name="T0" fmla="*/ 2147483646 w 812"/>
                <a:gd name="T1" fmla="*/ 2147483646 h 582"/>
                <a:gd name="T2" fmla="*/ 2147483646 w 812"/>
                <a:gd name="T3" fmla="*/ 2147483646 h 582"/>
                <a:gd name="T4" fmla="*/ 2147483646 w 812"/>
                <a:gd name="T5" fmla="*/ 2147483646 h 582"/>
                <a:gd name="T6" fmla="*/ 2147483646 w 812"/>
                <a:gd name="T7" fmla="*/ 2147483646 h 582"/>
                <a:gd name="T8" fmla="*/ 2147483646 w 812"/>
                <a:gd name="T9" fmla="*/ 2147483646 h 582"/>
                <a:gd name="T10" fmla="*/ 2147483646 w 812"/>
                <a:gd name="T11" fmla="*/ 2147483646 h 582"/>
                <a:gd name="T12" fmla="*/ 2147483646 w 812"/>
                <a:gd name="T13" fmla="*/ 2147483646 h 582"/>
                <a:gd name="T14" fmla="*/ 2147483646 w 812"/>
                <a:gd name="T15" fmla="*/ 2147483646 h 582"/>
                <a:gd name="T16" fmla="*/ 2147483646 w 812"/>
                <a:gd name="T17" fmla="*/ 2147483646 h 582"/>
                <a:gd name="T18" fmla="*/ 2147483646 w 812"/>
                <a:gd name="T19" fmla="*/ 2147483646 h 582"/>
                <a:gd name="T20" fmla="*/ 2147483646 w 812"/>
                <a:gd name="T21" fmla="*/ 2147483646 h 582"/>
                <a:gd name="T22" fmla="*/ 2147483646 w 812"/>
                <a:gd name="T23" fmla="*/ 2147483646 h 582"/>
                <a:gd name="T24" fmla="*/ 2147483646 w 812"/>
                <a:gd name="T25" fmla="*/ 2147483646 h 582"/>
                <a:gd name="T26" fmla="*/ 2147483646 w 812"/>
                <a:gd name="T27" fmla="*/ 2147483646 h 582"/>
                <a:gd name="T28" fmla="*/ 2147483646 w 812"/>
                <a:gd name="T29" fmla="*/ 2147483646 h 582"/>
                <a:gd name="T30" fmla="*/ 2147483646 w 812"/>
                <a:gd name="T31" fmla="*/ 2147483646 h 582"/>
                <a:gd name="T32" fmla="*/ 2147483646 w 812"/>
                <a:gd name="T33" fmla="*/ 2147483646 h 582"/>
                <a:gd name="T34" fmla="*/ 0 w 812"/>
                <a:gd name="T35" fmla="*/ 2147483646 h 582"/>
                <a:gd name="T36" fmla="*/ 2147483646 w 812"/>
                <a:gd name="T37" fmla="*/ 2147483646 h 582"/>
                <a:gd name="T38" fmla="*/ 2147483646 w 812"/>
                <a:gd name="T39" fmla="*/ 2147483646 h 582"/>
                <a:gd name="T40" fmla="*/ 2147483646 w 812"/>
                <a:gd name="T41" fmla="*/ 2147483646 h 582"/>
                <a:gd name="T42" fmla="*/ 2147483646 w 812"/>
                <a:gd name="T43" fmla="*/ 2147483646 h 582"/>
                <a:gd name="T44" fmla="*/ 2147483646 w 812"/>
                <a:gd name="T45" fmla="*/ 2147483646 h 582"/>
                <a:gd name="T46" fmla="*/ 2147483646 w 812"/>
                <a:gd name="T47" fmla="*/ 2147483646 h 582"/>
                <a:gd name="T48" fmla="*/ 2147483646 w 812"/>
                <a:gd name="T49" fmla="*/ 2147483646 h 582"/>
                <a:gd name="T50" fmla="*/ 2147483646 w 812"/>
                <a:gd name="T51" fmla="*/ 2147483646 h 582"/>
                <a:gd name="T52" fmla="*/ 2147483646 w 812"/>
                <a:gd name="T53" fmla="*/ 2147483646 h 582"/>
                <a:gd name="T54" fmla="*/ 2147483646 w 812"/>
                <a:gd name="T55" fmla="*/ 2147483646 h 582"/>
                <a:gd name="T56" fmla="*/ 2147483646 w 812"/>
                <a:gd name="T57" fmla="*/ 2147483646 h 582"/>
                <a:gd name="T58" fmla="*/ 2147483646 w 812"/>
                <a:gd name="T59" fmla="*/ 2147483646 h 582"/>
                <a:gd name="T60" fmla="*/ 2147483646 w 812"/>
                <a:gd name="T61" fmla="*/ 2147483646 h 582"/>
                <a:gd name="T62" fmla="*/ 2147483646 w 812"/>
                <a:gd name="T63" fmla="*/ 2147483646 h 582"/>
                <a:gd name="T64" fmla="*/ 2147483646 w 812"/>
                <a:gd name="T65" fmla="*/ 2147483646 h 582"/>
                <a:gd name="T66" fmla="*/ 2147483646 w 812"/>
                <a:gd name="T67" fmla="*/ 2147483646 h 582"/>
                <a:gd name="T68" fmla="*/ 2147483646 w 812"/>
                <a:gd name="T69" fmla="*/ 2147483646 h 582"/>
                <a:gd name="T70" fmla="*/ 2147483646 w 812"/>
                <a:gd name="T71" fmla="*/ 2147483646 h 582"/>
                <a:gd name="T72" fmla="*/ 2147483646 w 812"/>
                <a:gd name="T73" fmla="*/ 2147483646 h 582"/>
                <a:gd name="T74" fmla="*/ 2147483646 w 812"/>
                <a:gd name="T75" fmla="*/ 2147483646 h 582"/>
                <a:gd name="T76" fmla="*/ 2147483646 w 812"/>
                <a:gd name="T77" fmla="*/ 2147483646 h 582"/>
                <a:gd name="T78" fmla="*/ 2147483646 w 812"/>
                <a:gd name="T79" fmla="*/ 2147483646 h 582"/>
                <a:gd name="T80" fmla="*/ 2147483646 w 812"/>
                <a:gd name="T81" fmla="*/ 2147483646 h 582"/>
                <a:gd name="T82" fmla="*/ 2147483646 w 812"/>
                <a:gd name="T83" fmla="*/ 2147483646 h 582"/>
                <a:gd name="T84" fmla="*/ 2147483646 w 812"/>
                <a:gd name="T85" fmla="*/ 2147483646 h 582"/>
                <a:gd name="T86" fmla="*/ 2147483646 w 812"/>
                <a:gd name="T87" fmla="*/ 2147483646 h 582"/>
                <a:gd name="T88" fmla="*/ 2147483646 w 812"/>
                <a:gd name="T89" fmla="*/ 2147483646 h 582"/>
                <a:gd name="T90" fmla="*/ 2147483646 w 812"/>
                <a:gd name="T91" fmla="*/ 2147483646 h 582"/>
                <a:gd name="T92" fmla="*/ 2147483646 w 812"/>
                <a:gd name="T93" fmla="*/ 2147483646 h 582"/>
                <a:gd name="T94" fmla="*/ 2147483646 w 812"/>
                <a:gd name="T95" fmla="*/ 2147483646 h 582"/>
                <a:gd name="T96" fmla="*/ 2147483646 w 812"/>
                <a:gd name="T97" fmla="*/ 2147483646 h 582"/>
                <a:gd name="T98" fmla="*/ 2147483646 w 812"/>
                <a:gd name="T99" fmla="*/ 2147483646 h 582"/>
                <a:gd name="T100" fmla="*/ 2147483646 w 812"/>
                <a:gd name="T101" fmla="*/ 2147483646 h 582"/>
                <a:gd name="T102" fmla="*/ 2147483646 w 812"/>
                <a:gd name="T103" fmla="*/ 2147483646 h 582"/>
                <a:gd name="T104" fmla="*/ 2147483646 w 812"/>
                <a:gd name="T105" fmla="*/ 2147483646 h 582"/>
                <a:gd name="T106" fmla="*/ 2147483646 w 812"/>
                <a:gd name="T107" fmla="*/ 2147483646 h 58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812" h="582">
                  <a:moveTo>
                    <a:pt x="484" y="30"/>
                  </a:moveTo>
                  <a:lnTo>
                    <a:pt x="476" y="36"/>
                  </a:lnTo>
                  <a:lnTo>
                    <a:pt x="480" y="56"/>
                  </a:lnTo>
                  <a:lnTo>
                    <a:pt x="480" y="58"/>
                  </a:lnTo>
                  <a:lnTo>
                    <a:pt x="482" y="58"/>
                  </a:lnTo>
                  <a:lnTo>
                    <a:pt x="480" y="58"/>
                  </a:lnTo>
                  <a:lnTo>
                    <a:pt x="472" y="78"/>
                  </a:lnTo>
                  <a:lnTo>
                    <a:pt x="460" y="82"/>
                  </a:lnTo>
                  <a:lnTo>
                    <a:pt x="458" y="84"/>
                  </a:lnTo>
                  <a:lnTo>
                    <a:pt x="456" y="84"/>
                  </a:lnTo>
                  <a:lnTo>
                    <a:pt x="436" y="74"/>
                  </a:lnTo>
                  <a:lnTo>
                    <a:pt x="396" y="38"/>
                  </a:lnTo>
                  <a:lnTo>
                    <a:pt x="380" y="28"/>
                  </a:lnTo>
                  <a:lnTo>
                    <a:pt x="356" y="20"/>
                  </a:lnTo>
                  <a:lnTo>
                    <a:pt x="356" y="18"/>
                  </a:lnTo>
                  <a:lnTo>
                    <a:pt x="344" y="10"/>
                  </a:lnTo>
                  <a:lnTo>
                    <a:pt x="324" y="4"/>
                  </a:lnTo>
                  <a:lnTo>
                    <a:pt x="314" y="6"/>
                  </a:lnTo>
                  <a:lnTo>
                    <a:pt x="312" y="6"/>
                  </a:lnTo>
                  <a:lnTo>
                    <a:pt x="288" y="4"/>
                  </a:lnTo>
                  <a:lnTo>
                    <a:pt x="286" y="4"/>
                  </a:lnTo>
                  <a:lnTo>
                    <a:pt x="268" y="0"/>
                  </a:lnTo>
                  <a:lnTo>
                    <a:pt x="256" y="0"/>
                  </a:lnTo>
                  <a:lnTo>
                    <a:pt x="248" y="6"/>
                  </a:lnTo>
                  <a:lnTo>
                    <a:pt x="240" y="8"/>
                  </a:lnTo>
                  <a:lnTo>
                    <a:pt x="228" y="10"/>
                  </a:lnTo>
                  <a:lnTo>
                    <a:pt x="212" y="14"/>
                  </a:lnTo>
                  <a:lnTo>
                    <a:pt x="198" y="18"/>
                  </a:lnTo>
                  <a:lnTo>
                    <a:pt x="196" y="20"/>
                  </a:lnTo>
                  <a:lnTo>
                    <a:pt x="180" y="22"/>
                  </a:lnTo>
                  <a:lnTo>
                    <a:pt x="160" y="28"/>
                  </a:lnTo>
                  <a:lnTo>
                    <a:pt x="158" y="28"/>
                  </a:lnTo>
                  <a:lnTo>
                    <a:pt x="144" y="26"/>
                  </a:lnTo>
                  <a:lnTo>
                    <a:pt x="120" y="30"/>
                  </a:lnTo>
                  <a:lnTo>
                    <a:pt x="100" y="30"/>
                  </a:lnTo>
                  <a:lnTo>
                    <a:pt x="92" y="38"/>
                  </a:lnTo>
                  <a:lnTo>
                    <a:pt x="82" y="40"/>
                  </a:lnTo>
                  <a:lnTo>
                    <a:pt x="86" y="50"/>
                  </a:lnTo>
                  <a:lnTo>
                    <a:pt x="86" y="66"/>
                  </a:lnTo>
                  <a:lnTo>
                    <a:pt x="84" y="78"/>
                  </a:lnTo>
                  <a:lnTo>
                    <a:pt x="98" y="90"/>
                  </a:lnTo>
                  <a:lnTo>
                    <a:pt x="110" y="102"/>
                  </a:lnTo>
                  <a:lnTo>
                    <a:pt x="118" y="110"/>
                  </a:lnTo>
                  <a:lnTo>
                    <a:pt x="120" y="114"/>
                  </a:lnTo>
                  <a:lnTo>
                    <a:pt x="120" y="118"/>
                  </a:lnTo>
                  <a:lnTo>
                    <a:pt x="124" y="130"/>
                  </a:lnTo>
                  <a:lnTo>
                    <a:pt x="130" y="142"/>
                  </a:lnTo>
                  <a:lnTo>
                    <a:pt x="128" y="142"/>
                  </a:lnTo>
                  <a:lnTo>
                    <a:pt x="112" y="154"/>
                  </a:lnTo>
                  <a:lnTo>
                    <a:pt x="102" y="166"/>
                  </a:lnTo>
                  <a:lnTo>
                    <a:pt x="104" y="178"/>
                  </a:lnTo>
                  <a:lnTo>
                    <a:pt x="112" y="196"/>
                  </a:lnTo>
                  <a:lnTo>
                    <a:pt x="112" y="198"/>
                  </a:lnTo>
                  <a:lnTo>
                    <a:pt x="112" y="204"/>
                  </a:lnTo>
                  <a:lnTo>
                    <a:pt x="108" y="210"/>
                  </a:lnTo>
                  <a:lnTo>
                    <a:pt x="106" y="214"/>
                  </a:lnTo>
                  <a:lnTo>
                    <a:pt x="102" y="216"/>
                  </a:lnTo>
                  <a:lnTo>
                    <a:pt x="96" y="216"/>
                  </a:lnTo>
                  <a:lnTo>
                    <a:pt x="80" y="214"/>
                  </a:lnTo>
                  <a:lnTo>
                    <a:pt x="60" y="210"/>
                  </a:lnTo>
                  <a:lnTo>
                    <a:pt x="58" y="210"/>
                  </a:lnTo>
                  <a:lnTo>
                    <a:pt x="44" y="202"/>
                  </a:lnTo>
                  <a:lnTo>
                    <a:pt x="20" y="202"/>
                  </a:lnTo>
                  <a:lnTo>
                    <a:pt x="22" y="202"/>
                  </a:lnTo>
                  <a:lnTo>
                    <a:pt x="20" y="242"/>
                  </a:lnTo>
                  <a:lnTo>
                    <a:pt x="18" y="246"/>
                  </a:lnTo>
                  <a:lnTo>
                    <a:pt x="16" y="248"/>
                  </a:lnTo>
                  <a:lnTo>
                    <a:pt x="8" y="250"/>
                  </a:lnTo>
                  <a:lnTo>
                    <a:pt x="6" y="254"/>
                  </a:lnTo>
                  <a:lnTo>
                    <a:pt x="6" y="262"/>
                  </a:lnTo>
                  <a:lnTo>
                    <a:pt x="4" y="262"/>
                  </a:lnTo>
                  <a:lnTo>
                    <a:pt x="4" y="272"/>
                  </a:lnTo>
                  <a:lnTo>
                    <a:pt x="10" y="280"/>
                  </a:lnTo>
                  <a:lnTo>
                    <a:pt x="14" y="284"/>
                  </a:lnTo>
                  <a:lnTo>
                    <a:pt x="18" y="304"/>
                  </a:lnTo>
                  <a:lnTo>
                    <a:pt x="18" y="310"/>
                  </a:lnTo>
                  <a:lnTo>
                    <a:pt x="16" y="322"/>
                  </a:lnTo>
                  <a:lnTo>
                    <a:pt x="10" y="338"/>
                  </a:lnTo>
                  <a:lnTo>
                    <a:pt x="0" y="358"/>
                  </a:lnTo>
                  <a:lnTo>
                    <a:pt x="0" y="362"/>
                  </a:lnTo>
                  <a:lnTo>
                    <a:pt x="0" y="370"/>
                  </a:lnTo>
                  <a:lnTo>
                    <a:pt x="12" y="384"/>
                  </a:lnTo>
                  <a:lnTo>
                    <a:pt x="16" y="394"/>
                  </a:lnTo>
                  <a:lnTo>
                    <a:pt x="26" y="406"/>
                  </a:lnTo>
                  <a:lnTo>
                    <a:pt x="40" y="422"/>
                  </a:lnTo>
                  <a:lnTo>
                    <a:pt x="48" y="430"/>
                  </a:lnTo>
                  <a:lnTo>
                    <a:pt x="52" y="430"/>
                  </a:lnTo>
                  <a:lnTo>
                    <a:pt x="68" y="422"/>
                  </a:lnTo>
                  <a:lnTo>
                    <a:pt x="72" y="418"/>
                  </a:lnTo>
                  <a:lnTo>
                    <a:pt x="76" y="418"/>
                  </a:lnTo>
                  <a:lnTo>
                    <a:pt x="84" y="420"/>
                  </a:lnTo>
                  <a:lnTo>
                    <a:pt x="92" y="424"/>
                  </a:lnTo>
                  <a:lnTo>
                    <a:pt x="92" y="426"/>
                  </a:lnTo>
                  <a:lnTo>
                    <a:pt x="100" y="434"/>
                  </a:lnTo>
                  <a:lnTo>
                    <a:pt x="104" y="444"/>
                  </a:lnTo>
                  <a:lnTo>
                    <a:pt x="108" y="448"/>
                  </a:lnTo>
                  <a:lnTo>
                    <a:pt x="110" y="450"/>
                  </a:lnTo>
                  <a:lnTo>
                    <a:pt x="120" y="458"/>
                  </a:lnTo>
                  <a:lnTo>
                    <a:pt x="126" y="458"/>
                  </a:lnTo>
                  <a:lnTo>
                    <a:pt x="132" y="460"/>
                  </a:lnTo>
                  <a:lnTo>
                    <a:pt x="136" y="464"/>
                  </a:lnTo>
                  <a:lnTo>
                    <a:pt x="144" y="468"/>
                  </a:lnTo>
                  <a:lnTo>
                    <a:pt x="160" y="474"/>
                  </a:lnTo>
                  <a:lnTo>
                    <a:pt x="162" y="474"/>
                  </a:lnTo>
                  <a:lnTo>
                    <a:pt x="186" y="482"/>
                  </a:lnTo>
                  <a:lnTo>
                    <a:pt x="188" y="482"/>
                  </a:lnTo>
                  <a:lnTo>
                    <a:pt x="204" y="490"/>
                  </a:lnTo>
                  <a:lnTo>
                    <a:pt x="232" y="498"/>
                  </a:lnTo>
                  <a:lnTo>
                    <a:pt x="234" y="498"/>
                  </a:lnTo>
                  <a:lnTo>
                    <a:pt x="272" y="500"/>
                  </a:lnTo>
                  <a:lnTo>
                    <a:pt x="288" y="494"/>
                  </a:lnTo>
                  <a:lnTo>
                    <a:pt x="304" y="494"/>
                  </a:lnTo>
                  <a:lnTo>
                    <a:pt x="304" y="496"/>
                  </a:lnTo>
                  <a:lnTo>
                    <a:pt x="316" y="512"/>
                  </a:lnTo>
                  <a:lnTo>
                    <a:pt x="324" y="526"/>
                  </a:lnTo>
                  <a:lnTo>
                    <a:pt x="332" y="532"/>
                  </a:lnTo>
                  <a:lnTo>
                    <a:pt x="340" y="536"/>
                  </a:lnTo>
                  <a:lnTo>
                    <a:pt x="340" y="538"/>
                  </a:lnTo>
                  <a:lnTo>
                    <a:pt x="342" y="538"/>
                  </a:lnTo>
                  <a:lnTo>
                    <a:pt x="348" y="554"/>
                  </a:lnTo>
                  <a:lnTo>
                    <a:pt x="350" y="554"/>
                  </a:lnTo>
                  <a:lnTo>
                    <a:pt x="350" y="556"/>
                  </a:lnTo>
                  <a:lnTo>
                    <a:pt x="354" y="574"/>
                  </a:lnTo>
                  <a:lnTo>
                    <a:pt x="364" y="578"/>
                  </a:lnTo>
                  <a:lnTo>
                    <a:pt x="366" y="578"/>
                  </a:lnTo>
                  <a:lnTo>
                    <a:pt x="376" y="582"/>
                  </a:lnTo>
                  <a:lnTo>
                    <a:pt x="388" y="580"/>
                  </a:lnTo>
                  <a:lnTo>
                    <a:pt x="390" y="568"/>
                  </a:lnTo>
                  <a:lnTo>
                    <a:pt x="392" y="566"/>
                  </a:lnTo>
                  <a:lnTo>
                    <a:pt x="404" y="554"/>
                  </a:lnTo>
                  <a:lnTo>
                    <a:pt x="420" y="558"/>
                  </a:lnTo>
                  <a:lnTo>
                    <a:pt x="428" y="574"/>
                  </a:lnTo>
                  <a:lnTo>
                    <a:pt x="442" y="570"/>
                  </a:lnTo>
                  <a:lnTo>
                    <a:pt x="444" y="554"/>
                  </a:lnTo>
                  <a:lnTo>
                    <a:pt x="444" y="552"/>
                  </a:lnTo>
                  <a:lnTo>
                    <a:pt x="456" y="546"/>
                  </a:lnTo>
                  <a:lnTo>
                    <a:pt x="452" y="524"/>
                  </a:lnTo>
                  <a:lnTo>
                    <a:pt x="452" y="522"/>
                  </a:lnTo>
                  <a:lnTo>
                    <a:pt x="464" y="496"/>
                  </a:lnTo>
                  <a:lnTo>
                    <a:pt x="476" y="492"/>
                  </a:lnTo>
                  <a:lnTo>
                    <a:pt x="472" y="470"/>
                  </a:lnTo>
                  <a:lnTo>
                    <a:pt x="484" y="470"/>
                  </a:lnTo>
                  <a:lnTo>
                    <a:pt x="484" y="458"/>
                  </a:lnTo>
                  <a:lnTo>
                    <a:pt x="476" y="438"/>
                  </a:lnTo>
                  <a:lnTo>
                    <a:pt x="476" y="436"/>
                  </a:lnTo>
                  <a:lnTo>
                    <a:pt x="478" y="420"/>
                  </a:lnTo>
                  <a:lnTo>
                    <a:pt x="478" y="418"/>
                  </a:lnTo>
                  <a:lnTo>
                    <a:pt x="480" y="418"/>
                  </a:lnTo>
                  <a:lnTo>
                    <a:pt x="488" y="406"/>
                  </a:lnTo>
                  <a:lnTo>
                    <a:pt x="490" y="406"/>
                  </a:lnTo>
                  <a:lnTo>
                    <a:pt x="492" y="406"/>
                  </a:lnTo>
                  <a:lnTo>
                    <a:pt x="514" y="410"/>
                  </a:lnTo>
                  <a:lnTo>
                    <a:pt x="532" y="414"/>
                  </a:lnTo>
                  <a:lnTo>
                    <a:pt x="548" y="410"/>
                  </a:lnTo>
                  <a:lnTo>
                    <a:pt x="556" y="426"/>
                  </a:lnTo>
                  <a:lnTo>
                    <a:pt x="556" y="428"/>
                  </a:lnTo>
                  <a:lnTo>
                    <a:pt x="556" y="440"/>
                  </a:lnTo>
                  <a:lnTo>
                    <a:pt x="560" y="452"/>
                  </a:lnTo>
                  <a:lnTo>
                    <a:pt x="562" y="458"/>
                  </a:lnTo>
                  <a:lnTo>
                    <a:pt x="568" y="462"/>
                  </a:lnTo>
                  <a:lnTo>
                    <a:pt x="578" y="464"/>
                  </a:lnTo>
                  <a:lnTo>
                    <a:pt x="580" y="468"/>
                  </a:lnTo>
                  <a:lnTo>
                    <a:pt x="580" y="470"/>
                  </a:lnTo>
                  <a:lnTo>
                    <a:pt x="584" y="478"/>
                  </a:lnTo>
                  <a:lnTo>
                    <a:pt x="590" y="486"/>
                  </a:lnTo>
                  <a:lnTo>
                    <a:pt x="598" y="498"/>
                  </a:lnTo>
                  <a:lnTo>
                    <a:pt x="602" y="506"/>
                  </a:lnTo>
                  <a:lnTo>
                    <a:pt x="610" y="506"/>
                  </a:lnTo>
                  <a:lnTo>
                    <a:pt x="624" y="494"/>
                  </a:lnTo>
                  <a:lnTo>
                    <a:pt x="632" y="512"/>
                  </a:lnTo>
                  <a:lnTo>
                    <a:pt x="650" y="518"/>
                  </a:lnTo>
                  <a:lnTo>
                    <a:pt x="652" y="518"/>
                  </a:lnTo>
                  <a:lnTo>
                    <a:pt x="660" y="534"/>
                  </a:lnTo>
                  <a:lnTo>
                    <a:pt x="664" y="538"/>
                  </a:lnTo>
                  <a:lnTo>
                    <a:pt x="664" y="522"/>
                  </a:lnTo>
                  <a:lnTo>
                    <a:pt x="664" y="518"/>
                  </a:lnTo>
                  <a:lnTo>
                    <a:pt x="700" y="518"/>
                  </a:lnTo>
                  <a:lnTo>
                    <a:pt x="700" y="514"/>
                  </a:lnTo>
                  <a:lnTo>
                    <a:pt x="702" y="512"/>
                  </a:lnTo>
                  <a:lnTo>
                    <a:pt x="700" y="508"/>
                  </a:lnTo>
                  <a:lnTo>
                    <a:pt x="698" y="500"/>
                  </a:lnTo>
                  <a:lnTo>
                    <a:pt x="696" y="494"/>
                  </a:lnTo>
                  <a:lnTo>
                    <a:pt x="696" y="486"/>
                  </a:lnTo>
                  <a:lnTo>
                    <a:pt x="698" y="480"/>
                  </a:lnTo>
                  <a:lnTo>
                    <a:pt x="702" y="478"/>
                  </a:lnTo>
                  <a:lnTo>
                    <a:pt x="706" y="478"/>
                  </a:lnTo>
                  <a:lnTo>
                    <a:pt x="720" y="482"/>
                  </a:lnTo>
                  <a:lnTo>
                    <a:pt x="722" y="472"/>
                  </a:lnTo>
                  <a:lnTo>
                    <a:pt x="696" y="460"/>
                  </a:lnTo>
                  <a:lnTo>
                    <a:pt x="694" y="460"/>
                  </a:lnTo>
                  <a:lnTo>
                    <a:pt x="692" y="458"/>
                  </a:lnTo>
                  <a:lnTo>
                    <a:pt x="688" y="426"/>
                  </a:lnTo>
                  <a:lnTo>
                    <a:pt x="690" y="406"/>
                  </a:lnTo>
                  <a:lnTo>
                    <a:pt x="690" y="402"/>
                  </a:lnTo>
                  <a:lnTo>
                    <a:pt x="734" y="406"/>
                  </a:lnTo>
                  <a:lnTo>
                    <a:pt x="744" y="396"/>
                  </a:lnTo>
                  <a:lnTo>
                    <a:pt x="746" y="392"/>
                  </a:lnTo>
                  <a:lnTo>
                    <a:pt x="744" y="388"/>
                  </a:lnTo>
                  <a:lnTo>
                    <a:pt x="732" y="382"/>
                  </a:lnTo>
                  <a:lnTo>
                    <a:pt x="730" y="378"/>
                  </a:lnTo>
                  <a:lnTo>
                    <a:pt x="728" y="374"/>
                  </a:lnTo>
                  <a:lnTo>
                    <a:pt x="730" y="372"/>
                  </a:lnTo>
                  <a:lnTo>
                    <a:pt x="732" y="368"/>
                  </a:lnTo>
                  <a:lnTo>
                    <a:pt x="752" y="350"/>
                  </a:lnTo>
                  <a:lnTo>
                    <a:pt x="772" y="348"/>
                  </a:lnTo>
                  <a:lnTo>
                    <a:pt x="782" y="330"/>
                  </a:lnTo>
                  <a:lnTo>
                    <a:pt x="782" y="314"/>
                  </a:lnTo>
                  <a:lnTo>
                    <a:pt x="796" y="310"/>
                  </a:lnTo>
                  <a:lnTo>
                    <a:pt x="804" y="290"/>
                  </a:lnTo>
                  <a:lnTo>
                    <a:pt x="812" y="276"/>
                  </a:lnTo>
                  <a:lnTo>
                    <a:pt x="800" y="256"/>
                  </a:lnTo>
                  <a:lnTo>
                    <a:pt x="800" y="254"/>
                  </a:lnTo>
                  <a:lnTo>
                    <a:pt x="792" y="228"/>
                  </a:lnTo>
                  <a:lnTo>
                    <a:pt x="792" y="226"/>
                  </a:lnTo>
                  <a:lnTo>
                    <a:pt x="788" y="198"/>
                  </a:lnTo>
                  <a:lnTo>
                    <a:pt x="778" y="182"/>
                  </a:lnTo>
                  <a:lnTo>
                    <a:pt x="764" y="168"/>
                  </a:lnTo>
                  <a:lnTo>
                    <a:pt x="764" y="166"/>
                  </a:lnTo>
                  <a:lnTo>
                    <a:pt x="762" y="150"/>
                  </a:lnTo>
                  <a:lnTo>
                    <a:pt x="736" y="158"/>
                  </a:lnTo>
                  <a:lnTo>
                    <a:pt x="724" y="144"/>
                  </a:lnTo>
                  <a:lnTo>
                    <a:pt x="688" y="118"/>
                  </a:lnTo>
                  <a:lnTo>
                    <a:pt x="686" y="118"/>
                  </a:lnTo>
                  <a:lnTo>
                    <a:pt x="672" y="100"/>
                  </a:lnTo>
                  <a:lnTo>
                    <a:pt x="664" y="94"/>
                  </a:lnTo>
                  <a:lnTo>
                    <a:pt x="658" y="102"/>
                  </a:lnTo>
                  <a:lnTo>
                    <a:pt x="658" y="104"/>
                  </a:lnTo>
                  <a:lnTo>
                    <a:pt x="658" y="106"/>
                  </a:lnTo>
                  <a:lnTo>
                    <a:pt x="656" y="106"/>
                  </a:lnTo>
                  <a:lnTo>
                    <a:pt x="644" y="106"/>
                  </a:lnTo>
                  <a:lnTo>
                    <a:pt x="642" y="106"/>
                  </a:lnTo>
                  <a:lnTo>
                    <a:pt x="616" y="78"/>
                  </a:lnTo>
                  <a:lnTo>
                    <a:pt x="606" y="72"/>
                  </a:lnTo>
                  <a:lnTo>
                    <a:pt x="596" y="62"/>
                  </a:lnTo>
                  <a:lnTo>
                    <a:pt x="584" y="54"/>
                  </a:lnTo>
                  <a:lnTo>
                    <a:pt x="584" y="52"/>
                  </a:lnTo>
                  <a:lnTo>
                    <a:pt x="570" y="44"/>
                  </a:lnTo>
                  <a:lnTo>
                    <a:pt x="562" y="50"/>
                  </a:lnTo>
                  <a:lnTo>
                    <a:pt x="560" y="52"/>
                  </a:lnTo>
                  <a:lnTo>
                    <a:pt x="552" y="50"/>
                  </a:lnTo>
                  <a:lnTo>
                    <a:pt x="544" y="54"/>
                  </a:lnTo>
                  <a:lnTo>
                    <a:pt x="542" y="56"/>
                  </a:lnTo>
                  <a:lnTo>
                    <a:pt x="530" y="58"/>
                  </a:lnTo>
                  <a:lnTo>
                    <a:pt x="484" y="30"/>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26" name="四川"/>
            <p:cNvSpPr/>
            <p:nvPr/>
          </p:nvSpPr>
          <p:spPr bwMode="auto">
            <a:xfrm>
              <a:off x="7403113" y="-322041"/>
              <a:ext cx="981230" cy="850473"/>
            </a:xfrm>
            <a:custGeom>
              <a:avLst/>
              <a:gdLst>
                <a:gd name="T0" fmla="*/ 2147483646 w 702"/>
                <a:gd name="T1" fmla="*/ 2147483646 h 616"/>
                <a:gd name="T2" fmla="*/ 2147483646 w 702"/>
                <a:gd name="T3" fmla="*/ 2147483646 h 616"/>
                <a:gd name="T4" fmla="*/ 2147483646 w 702"/>
                <a:gd name="T5" fmla="*/ 2147483646 h 616"/>
                <a:gd name="T6" fmla="*/ 2147483646 w 702"/>
                <a:gd name="T7" fmla="*/ 2147483646 h 616"/>
                <a:gd name="T8" fmla="*/ 2147483646 w 702"/>
                <a:gd name="T9" fmla="*/ 2147483646 h 616"/>
                <a:gd name="T10" fmla="*/ 2147483646 w 702"/>
                <a:gd name="T11" fmla="*/ 2147483646 h 616"/>
                <a:gd name="T12" fmla="*/ 2147483646 w 702"/>
                <a:gd name="T13" fmla="*/ 2147483646 h 616"/>
                <a:gd name="T14" fmla="*/ 2147483646 w 702"/>
                <a:gd name="T15" fmla="*/ 2147483646 h 616"/>
                <a:gd name="T16" fmla="*/ 2147483646 w 702"/>
                <a:gd name="T17" fmla="*/ 2147483646 h 616"/>
                <a:gd name="T18" fmla="*/ 2147483646 w 702"/>
                <a:gd name="T19" fmla="*/ 2147483646 h 616"/>
                <a:gd name="T20" fmla="*/ 2147483646 w 702"/>
                <a:gd name="T21" fmla="*/ 2147483646 h 616"/>
                <a:gd name="T22" fmla="*/ 2147483646 w 702"/>
                <a:gd name="T23" fmla="*/ 2147483646 h 616"/>
                <a:gd name="T24" fmla="*/ 2147483646 w 702"/>
                <a:gd name="T25" fmla="*/ 2147483646 h 616"/>
                <a:gd name="T26" fmla="*/ 2147483646 w 702"/>
                <a:gd name="T27" fmla="*/ 2147483646 h 616"/>
                <a:gd name="T28" fmla="*/ 2147483646 w 702"/>
                <a:gd name="T29" fmla="*/ 2147483646 h 616"/>
                <a:gd name="T30" fmla="*/ 2147483646 w 702"/>
                <a:gd name="T31" fmla="*/ 2147483646 h 616"/>
                <a:gd name="T32" fmla="*/ 2147483646 w 702"/>
                <a:gd name="T33" fmla="*/ 2147483646 h 616"/>
                <a:gd name="T34" fmla="*/ 2147483646 w 702"/>
                <a:gd name="T35" fmla="*/ 2147483646 h 616"/>
                <a:gd name="T36" fmla="*/ 2147483646 w 702"/>
                <a:gd name="T37" fmla="*/ 2147483646 h 616"/>
                <a:gd name="T38" fmla="*/ 2147483646 w 702"/>
                <a:gd name="T39" fmla="*/ 2147483646 h 616"/>
                <a:gd name="T40" fmla="*/ 2147483646 w 702"/>
                <a:gd name="T41" fmla="*/ 2147483646 h 616"/>
                <a:gd name="T42" fmla="*/ 2147483646 w 702"/>
                <a:gd name="T43" fmla="*/ 2147483646 h 616"/>
                <a:gd name="T44" fmla="*/ 2147483646 w 702"/>
                <a:gd name="T45" fmla="*/ 2147483646 h 616"/>
                <a:gd name="T46" fmla="*/ 2147483646 w 702"/>
                <a:gd name="T47" fmla="*/ 2147483646 h 616"/>
                <a:gd name="T48" fmla="*/ 2147483646 w 702"/>
                <a:gd name="T49" fmla="*/ 2147483646 h 616"/>
                <a:gd name="T50" fmla="*/ 2147483646 w 702"/>
                <a:gd name="T51" fmla="*/ 2147483646 h 616"/>
                <a:gd name="T52" fmla="*/ 2147483646 w 702"/>
                <a:gd name="T53" fmla="*/ 2147483646 h 616"/>
                <a:gd name="T54" fmla="*/ 2147483646 w 702"/>
                <a:gd name="T55" fmla="*/ 2147483646 h 616"/>
                <a:gd name="T56" fmla="*/ 2147483646 w 702"/>
                <a:gd name="T57" fmla="*/ 2147483646 h 616"/>
                <a:gd name="T58" fmla="*/ 2147483646 w 702"/>
                <a:gd name="T59" fmla="*/ 2147483646 h 616"/>
                <a:gd name="T60" fmla="*/ 2147483646 w 702"/>
                <a:gd name="T61" fmla="*/ 2147483646 h 616"/>
                <a:gd name="T62" fmla="*/ 2147483646 w 702"/>
                <a:gd name="T63" fmla="*/ 2147483646 h 616"/>
                <a:gd name="T64" fmla="*/ 2147483646 w 702"/>
                <a:gd name="T65" fmla="*/ 2147483646 h 616"/>
                <a:gd name="T66" fmla="*/ 2147483646 w 702"/>
                <a:gd name="T67" fmla="*/ 2147483646 h 616"/>
                <a:gd name="T68" fmla="*/ 2147483646 w 702"/>
                <a:gd name="T69" fmla="*/ 2147483646 h 616"/>
                <a:gd name="T70" fmla="*/ 2147483646 w 702"/>
                <a:gd name="T71" fmla="*/ 2147483646 h 616"/>
                <a:gd name="T72" fmla="*/ 2147483646 w 702"/>
                <a:gd name="T73" fmla="*/ 2147483646 h 616"/>
                <a:gd name="T74" fmla="*/ 2147483646 w 702"/>
                <a:gd name="T75" fmla="*/ 2147483646 h 616"/>
                <a:gd name="T76" fmla="*/ 2147483646 w 702"/>
                <a:gd name="T77" fmla="*/ 2147483646 h 616"/>
                <a:gd name="T78" fmla="*/ 2147483646 w 702"/>
                <a:gd name="T79" fmla="*/ 2147483646 h 616"/>
                <a:gd name="T80" fmla="*/ 2147483646 w 702"/>
                <a:gd name="T81" fmla="*/ 2147483646 h 616"/>
                <a:gd name="T82" fmla="*/ 2147483646 w 702"/>
                <a:gd name="T83" fmla="*/ 2147483646 h 616"/>
                <a:gd name="T84" fmla="*/ 2147483646 w 702"/>
                <a:gd name="T85" fmla="*/ 2147483646 h 616"/>
                <a:gd name="T86" fmla="*/ 2147483646 w 702"/>
                <a:gd name="T87" fmla="*/ 2147483646 h 616"/>
                <a:gd name="T88" fmla="*/ 2147483646 w 702"/>
                <a:gd name="T89" fmla="*/ 2147483646 h 616"/>
                <a:gd name="T90" fmla="*/ 2147483646 w 702"/>
                <a:gd name="T91" fmla="*/ 2147483646 h 616"/>
                <a:gd name="T92" fmla="*/ 2147483646 w 702"/>
                <a:gd name="T93" fmla="*/ 2147483646 h 616"/>
                <a:gd name="T94" fmla="*/ 2147483646 w 702"/>
                <a:gd name="T95" fmla="*/ 2147483646 h 616"/>
                <a:gd name="T96" fmla="*/ 2147483646 w 702"/>
                <a:gd name="T97" fmla="*/ 2147483646 h 616"/>
                <a:gd name="T98" fmla="*/ 2147483646 w 702"/>
                <a:gd name="T99" fmla="*/ 0 h 616"/>
                <a:gd name="T100" fmla="*/ 2147483646 w 702"/>
                <a:gd name="T101" fmla="*/ 2147483646 h 616"/>
                <a:gd name="T102" fmla="*/ 2147483646 w 702"/>
                <a:gd name="T103" fmla="*/ 2147483646 h 616"/>
                <a:gd name="T104" fmla="*/ 2147483646 w 702"/>
                <a:gd name="T105" fmla="*/ 2147483646 h 616"/>
                <a:gd name="T106" fmla="*/ 2147483646 w 702"/>
                <a:gd name="T107" fmla="*/ 2147483646 h 616"/>
                <a:gd name="T108" fmla="*/ 2147483646 w 702"/>
                <a:gd name="T109" fmla="*/ 2147483646 h 616"/>
                <a:gd name="T110" fmla="*/ 2147483646 w 702"/>
                <a:gd name="T111" fmla="*/ 2147483646 h 616"/>
                <a:gd name="T112" fmla="*/ 2147483646 w 702"/>
                <a:gd name="T113" fmla="*/ 2147483646 h 616"/>
                <a:gd name="T114" fmla="*/ 2147483646 w 702"/>
                <a:gd name="T115" fmla="*/ 2147483646 h 616"/>
                <a:gd name="T116" fmla="*/ 2147483646 w 702"/>
                <a:gd name="T117" fmla="*/ 2147483646 h 616"/>
                <a:gd name="T118" fmla="*/ 2147483646 w 702"/>
                <a:gd name="T119" fmla="*/ 2147483646 h 61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702" h="616">
                  <a:moveTo>
                    <a:pt x="66" y="14"/>
                  </a:moveTo>
                  <a:lnTo>
                    <a:pt x="46" y="10"/>
                  </a:lnTo>
                  <a:lnTo>
                    <a:pt x="28" y="6"/>
                  </a:lnTo>
                  <a:lnTo>
                    <a:pt x="22" y="14"/>
                  </a:lnTo>
                  <a:lnTo>
                    <a:pt x="20" y="28"/>
                  </a:lnTo>
                  <a:lnTo>
                    <a:pt x="26" y="50"/>
                  </a:lnTo>
                  <a:lnTo>
                    <a:pt x="26" y="66"/>
                  </a:lnTo>
                  <a:lnTo>
                    <a:pt x="26" y="70"/>
                  </a:lnTo>
                  <a:lnTo>
                    <a:pt x="18" y="70"/>
                  </a:lnTo>
                  <a:lnTo>
                    <a:pt x="22" y="90"/>
                  </a:lnTo>
                  <a:lnTo>
                    <a:pt x="6" y="94"/>
                  </a:lnTo>
                  <a:lnTo>
                    <a:pt x="0" y="106"/>
                  </a:lnTo>
                  <a:lnTo>
                    <a:pt x="8" y="114"/>
                  </a:lnTo>
                  <a:lnTo>
                    <a:pt x="10" y="114"/>
                  </a:lnTo>
                  <a:lnTo>
                    <a:pt x="38" y="136"/>
                  </a:lnTo>
                  <a:lnTo>
                    <a:pt x="38" y="138"/>
                  </a:lnTo>
                  <a:lnTo>
                    <a:pt x="42" y="158"/>
                  </a:lnTo>
                  <a:lnTo>
                    <a:pt x="56" y="178"/>
                  </a:lnTo>
                  <a:lnTo>
                    <a:pt x="62" y="184"/>
                  </a:lnTo>
                  <a:lnTo>
                    <a:pt x="70" y="194"/>
                  </a:lnTo>
                  <a:lnTo>
                    <a:pt x="72" y="194"/>
                  </a:lnTo>
                  <a:lnTo>
                    <a:pt x="70" y="196"/>
                  </a:lnTo>
                  <a:lnTo>
                    <a:pt x="70" y="214"/>
                  </a:lnTo>
                  <a:lnTo>
                    <a:pt x="74" y="226"/>
                  </a:lnTo>
                  <a:lnTo>
                    <a:pt x="74" y="244"/>
                  </a:lnTo>
                  <a:lnTo>
                    <a:pt x="82" y="258"/>
                  </a:lnTo>
                  <a:lnTo>
                    <a:pt x="84" y="266"/>
                  </a:lnTo>
                  <a:lnTo>
                    <a:pt x="86" y="274"/>
                  </a:lnTo>
                  <a:lnTo>
                    <a:pt x="90" y="286"/>
                  </a:lnTo>
                  <a:lnTo>
                    <a:pt x="92" y="302"/>
                  </a:lnTo>
                  <a:lnTo>
                    <a:pt x="90" y="314"/>
                  </a:lnTo>
                  <a:lnTo>
                    <a:pt x="88" y="320"/>
                  </a:lnTo>
                  <a:lnTo>
                    <a:pt x="90" y="326"/>
                  </a:lnTo>
                  <a:lnTo>
                    <a:pt x="94" y="336"/>
                  </a:lnTo>
                  <a:lnTo>
                    <a:pt x="98" y="346"/>
                  </a:lnTo>
                  <a:lnTo>
                    <a:pt x="100" y="346"/>
                  </a:lnTo>
                  <a:lnTo>
                    <a:pt x="100" y="348"/>
                  </a:lnTo>
                  <a:lnTo>
                    <a:pt x="100" y="350"/>
                  </a:lnTo>
                  <a:lnTo>
                    <a:pt x="86" y="378"/>
                  </a:lnTo>
                  <a:lnTo>
                    <a:pt x="90" y="386"/>
                  </a:lnTo>
                  <a:lnTo>
                    <a:pt x="90" y="392"/>
                  </a:lnTo>
                  <a:lnTo>
                    <a:pt x="86" y="418"/>
                  </a:lnTo>
                  <a:lnTo>
                    <a:pt x="86" y="428"/>
                  </a:lnTo>
                  <a:lnTo>
                    <a:pt x="88" y="432"/>
                  </a:lnTo>
                  <a:lnTo>
                    <a:pt x="90" y="434"/>
                  </a:lnTo>
                  <a:lnTo>
                    <a:pt x="94" y="436"/>
                  </a:lnTo>
                  <a:lnTo>
                    <a:pt x="102" y="442"/>
                  </a:lnTo>
                  <a:lnTo>
                    <a:pt x="104" y="448"/>
                  </a:lnTo>
                  <a:lnTo>
                    <a:pt x="102" y="462"/>
                  </a:lnTo>
                  <a:lnTo>
                    <a:pt x="106" y="462"/>
                  </a:lnTo>
                  <a:lnTo>
                    <a:pt x="108" y="464"/>
                  </a:lnTo>
                  <a:lnTo>
                    <a:pt x="110" y="462"/>
                  </a:lnTo>
                  <a:lnTo>
                    <a:pt x="114" y="458"/>
                  </a:lnTo>
                  <a:lnTo>
                    <a:pt x="116" y="452"/>
                  </a:lnTo>
                  <a:lnTo>
                    <a:pt x="118" y="450"/>
                  </a:lnTo>
                  <a:lnTo>
                    <a:pt x="118" y="448"/>
                  </a:lnTo>
                  <a:lnTo>
                    <a:pt x="122" y="444"/>
                  </a:lnTo>
                  <a:lnTo>
                    <a:pt x="126" y="440"/>
                  </a:lnTo>
                  <a:lnTo>
                    <a:pt x="126" y="434"/>
                  </a:lnTo>
                  <a:lnTo>
                    <a:pt x="124" y="426"/>
                  </a:lnTo>
                  <a:lnTo>
                    <a:pt x="122" y="422"/>
                  </a:lnTo>
                  <a:lnTo>
                    <a:pt x="126" y="420"/>
                  </a:lnTo>
                  <a:lnTo>
                    <a:pt x="136" y="418"/>
                  </a:lnTo>
                  <a:lnTo>
                    <a:pt x="142" y="418"/>
                  </a:lnTo>
                  <a:lnTo>
                    <a:pt x="146" y="420"/>
                  </a:lnTo>
                  <a:lnTo>
                    <a:pt x="150" y="424"/>
                  </a:lnTo>
                  <a:lnTo>
                    <a:pt x="156" y="440"/>
                  </a:lnTo>
                  <a:lnTo>
                    <a:pt x="156" y="442"/>
                  </a:lnTo>
                  <a:lnTo>
                    <a:pt x="158" y="468"/>
                  </a:lnTo>
                  <a:lnTo>
                    <a:pt x="170" y="474"/>
                  </a:lnTo>
                  <a:lnTo>
                    <a:pt x="178" y="478"/>
                  </a:lnTo>
                  <a:lnTo>
                    <a:pt x="184" y="472"/>
                  </a:lnTo>
                  <a:lnTo>
                    <a:pt x="190" y="466"/>
                  </a:lnTo>
                  <a:lnTo>
                    <a:pt x="194" y="466"/>
                  </a:lnTo>
                  <a:lnTo>
                    <a:pt x="200" y="470"/>
                  </a:lnTo>
                  <a:lnTo>
                    <a:pt x="204" y="478"/>
                  </a:lnTo>
                  <a:lnTo>
                    <a:pt x="206" y="498"/>
                  </a:lnTo>
                  <a:lnTo>
                    <a:pt x="208" y="502"/>
                  </a:lnTo>
                  <a:lnTo>
                    <a:pt x="230" y="548"/>
                  </a:lnTo>
                  <a:lnTo>
                    <a:pt x="238" y="556"/>
                  </a:lnTo>
                  <a:lnTo>
                    <a:pt x="238" y="558"/>
                  </a:lnTo>
                  <a:lnTo>
                    <a:pt x="242" y="578"/>
                  </a:lnTo>
                  <a:lnTo>
                    <a:pt x="244" y="596"/>
                  </a:lnTo>
                  <a:lnTo>
                    <a:pt x="246" y="598"/>
                  </a:lnTo>
                  <a:lnTo>
                    <a:pt x="254" y="588"/>
                  </a:lnTo>
                  <a:lnTo>
                    <a:pt x="256" y="586"/>
                  </a:lnTo>
                  <a:lnTo>
                    <a:pt x="258" y="586"/>
                  </a:lnTo>
                  <a:lnTo>
                    <a:pt x="262" y="588"/>
                  </a:lnTo>
                  <a:lnTo>
                    <a:pt x="262" y="592"/>
                  </a:lnTo>
                  <a:lnTo>
                    <a:pt x="262" y="598"/>
                  </a:lnTo>
                  <a:lnTo>
                    <a:pt x="262" y="612"/>
                  </a:lnTo>
                  <a:lnTo>
                    <a:pt x="262" y="616"/>
                  </a:lnTo>
                  <a:lnTo>
                    <a:pt x="268" y="616"/>
                  </a:lnTo>
                  <a:lnTo>
                    <a:pt x="270" y="614"/>
                  </a:lnTo>
                  <a:lnTo>
                    <a:pt x="278" y="602"/>
                  </a:lnTo>
                  <a:lnTo>
                    <a:pt x="288" y="594"/>
                  </a:lnTo>
                  <a:lnTo>
                    <a:pt x="296" y="588"/>
                  </a:lnTo>
                  <a:lnTo>
                    <a:pt x="306" y="586"/>
                  </a:lnTo>
                  <a:lnTo>
                    <a:pt x="322" y="590"/>
                  </a:lnTo>
                  <a:lnTo>
                    <a:pt x="328" y="588"/>
                  </a:lnTo>
                  <a:lnTo>
                    <a:pt x="336" y="576"/>
                  </a:lnTo>
                  <a:lnTo>
                    <a:pt x="334" y="558"/>
                  </a:lnTo>
                  <a:lnTo>
                    <a:pt x="330" y="546"/>
                  </a:lnTo>
                  <a:lnTo>
                    <a:pt x="328" y="540"/>
                  </a:lnTo>
                  <a:lnTo>
                    <a:pt x="328" y="536"/>
                  </a:lnTo>
                  <a:lnTo>
                    <a:pt x="330" y="522"/>
                  </a:lnTo>
                  <a:lnTo>
                    <a:pt x="330" y="520"/>
                  </a:lnTo>
                  <a:lnTo>
                    <a:pt x="332" y="518"/>
                  </a:lnTo>
                  <a:lnTo>
                    <a:pt x="346" y="510"/>
                  </a:lnTo>
                  <a:lnTo>
                    <a:pt x="348" y="510"/>
                  </a:lnTo>
                  <a:lnTo>
                    <a:pt x="358" y="502"/>
                  </a:lnTo>
                  <a:lnTo>
                    <a:pt x="372" y="484"/>
                  </a:lnTo>
                  <a:lnTo>
                    <a:pt x="374" y="470"/>
                  </a:lnTo>
                  <a:lnTo>
                    <a:pt x="358" y="436"/>
                  </a:lnTo>
                  <a:lnTo>
                    <a:pt x="390" y="450"/>
                  </a:lnTo>
                  <a:lnTo>
                    <a:pt x="390" y="438"/>
                  </a:lnTo>
                  <a:lnTo>
                    <a:pt x="390" y="436"/>
                  </a:lnTo>
                  <a:lnTo>
                    <a:pt x="402" y="426"/>
                  </a:lnTo>
                  <a:lnTo>
                    <a:pt x="426" y="420"/>
                  </a:lnTo>
                  <a:lnTo>
                    <a:pt x="428" y="420"/>
                  </a:lnTo>
                  <a:lnTo>
                    <a:pt x="442" y="450"/>
                  </a:lnTo>
                  <a:lnTo>
                    <a:pt x="440" y="462"/>
                  </a:lnTo>
                  <a:lnTo>
                    <a:pt x="442" y="472"/>
                  </a:lnTo>
                  <a:lnTo>
                    <a:pt x="444" y="478"/>
                  </a:lnTo>
                  <a:lnTo>
                    <a:pt x="448" y="480"/>
                  </a:lnTo>
                  <a:lnTo>
                    <a:pt x="454" y="478"/>
                  </a:lnTo>
                  <a:lnTo>
                    <a:pt x="458" y="474"/>
                  </a:lnTo>
                  <a:lnTo>
                    <a:pt x="458" y="472"/>
                  </a:lnTo>
                  <a:lnTo>
                    <a:pt x="460" y="472"/>
                  </a:lnTo>
                  <a:lnTo>
                    <a:pt x="478" y="466"/>
                  </a:lnTo>
                  <a:lnTo>
                    <a:pt x="480" y="466"/>
                  </a:lnTo>
                  <a:lnTo>
                    <a:pt x="492" y="468"/>
                  </a:lnTo>
                  <a:lnTo>
                    <a:pt x="496" y="470"/>
                  </a:lnTo>
                  <a:lnTo>
                    <a:pt x="498" y="472"/>
                  </a:lnTo>
                  <a:lnTo>
                    <a:pt x="498" y="494"/>
                  </a:lnTo>
                  <a:lnTo>
                    <a:pt x="502" y="496"/>
                  </a:lnTo>
                  <a:lnTo>
                    <a:pt x="510" y="498"/>
                  </a:lnTo>
                  <a:lnTo>
                    <a:pt x="522" y="498"/>
                  </a:lnTo>
                  <a:lnTo>
                    <a:pt x="542" y="492"/>
                  </a:lnTo>
                  <a:lnTo>
                    <a:pt x="554" y="482"/>
                  </a:lnTo>
                  <a:lnTo>
                    <a:pt x="556" y="472"/>
                  </a:lnTo>
                  <a:lnTo>
                    <a:pt x="550" y="466"/>
                  </a:lnTo>
                  <a:lnTo>
                    <a:pt x="530" y="458"/>
                  </a:lnTo>
                  <a:lnTo>
                    <a:pt x="528" y="458"/>
                  </a:lnTo>
                  <a:lnTo>
                    <a:pt x="504" y="434"/>
                  </a:lnTo>
                  <a:lnTo>
                    <a:pt x="506" y="432"/>
                  </a:lnTo>
                  <a:lnTo>
                    <a:pt x="518" y="422"/>
                  </a:lnTo>
                  <a:lnTo>
                    <a:pt x="518" y="420"/>
                  </a:lnTo>
                  <a:lnTo>
                    <a:pt x="530" y="416"/>
                  </a:lnTo>
                  <a:lnTo>
                    <a:pt x="534" y="416"/>
                  </a:lnTo>
                  <a:lnTo>
                    <a:pt x="550" y="418"/>
                  </a:lnTo>
                  <a:lnTo>
                    <a:pt x="550" y="420"/>
                  </a:lnTo>
                  <a:lnTo>
                    <a:pt x="550" y="414"/>
                  </a:lnTo>
                  <a:lnTo>
                    <a:pt x="544" y="402"/>
                  </a:lnTo>
                  <a:lnTo>
                    <a:pt x="532" y="396"/>
                  </a:lnTo>
                  <a:lnTo>
                    <a:pt x="518" y="374"/>
                  </a:lnTo>
                  <a:lnTo>
                    <a:pt x="516" y="372"/>
                  </a:lnTo>
                  <a:lnTo>
                    <a:pt x="510" y="346"/>
                  </a:lnTo>
                  <a:lnTo>
                    <a:pt x="510" y="326"/>
                  </a:lnTo>
                  <a:lnTo>
                    <a:pt x="522" y="314"/>
                  </a:lnTo>
                  <a:lnTo>
                    <a:pt x="542" y="314"/>
                  </a:lnTo>
                  <a:lnTo>
                    <a:pt x="586" y="318"/>
                  </a:lnTo>
                  <a:lnTo>
                    <a:pt x="606" y="288"/>
                  </a:lnTo>
                  <a:lnTo>
                    <a:pt x="606" y="286"/>
                  </a:lnTo>
                  <a:lnTo>
                    <a:pt x="608" y="286"/>
                  </a:lnTo>
                  <a:lnTo>
                    <a:pt x="626" y="278"/>
                  </a:lnTo>
                  <a:lnTo>
                    <a:pt x="634" y="260"/>
                  </a:lnTo>
                  <a:lnTo>
                    <a:pt x="634" y="258"/>
                  </a:lnTo>
                  <a:lnTo>
                    <a:pt x="654" y="242"/>
                  </a:lnTo>
                  <a:lnTo>
                    <a:pt x="664" y="224"/>
                  </a:lnTo>
                  <a:lnTo>
                    <a:pt x="666" y="224"/>
                  </a:lnTo>
                  <a:lnTo>
                    <a:pt x="666" y="222"/>
                  </a:lnTo>
                  <a:lnTo>
                    <a:pt x="674" y="214"/>
                  </a:lnTo>
                  <a:lnTo>
                    <a:pt x="682" y="198"/>
                  </a:lnTo>
                  <a:lnTo>
                    <a:pt x="686" y="174"/>
                  </a:lnTo>
                  <a:lnTo>
                    <a:pt x="686" y="172"/>
                  </a:lnTo>
                  <a:lnTo>
                    <a:pt x="686" y="170"/>
                  </a:lnTo>
                  <a:lnTo>
                    <a:pt x="700" y="162"/>
                  </a:lnTo>
                  <a:lnTo>
                    <a:pt x="702" y="158"/>
                  </a:lnTo>
                  <a:lnTo>
                    <a:pt x="684" y="156"/>
                  </a:lnTo>
                  <a:lnTo>
                    <a:pt x="652" y="158"/>
                  </a:lnTo>
                  <a:lnTo>
                    <a:pt x="650" y="156"/>
                  </a:lnTo>
                  <a:lnTo>
                    <a:pt x="638" y="146"/>
                  </a:lnTo>
                  <a:lnTo>
                    <a:pt x="630" y="136"/>
                  </a:lnTo>
                  <a:lnTo>
                    <a:pt x="630" y="138"/>
                  </a:lnTo>
                  <a:lnTo>
                    <a:pt x="628" y="138"/>
                  </a:lnTo>
                  <a:lnTo>
                    <a:pt x="624" y="142"/>
                  </a:lnTo>
                  <a:lnTo>
                    <a:pt x="618" y="142"/>
                  </a:lnTo>
                  <a:lnTo>
                    <a:pt x="614" y="144"/>
                  </a:lnTo>
                  <a:lnTo>
                    <a:pt x="612" y="146"/>
                  </a:lnTo>
                  <a:lnTo>
                    <a:pt x="608" y="146"/>
                  </a:lnTo>
                  <a:lnTo>
                    <a:pt x="606" y="144"/>
                  </a:lnTo>
                  <a:lnTo>
                    <a:pt x="604" y="138"/>
                  </a:lnTo>
                  <a:lnTo>
                    <a:pt x="602" y="132"/>
                  </a:lnTo>
                  <a:lnTo>
                    <a:pt x="598" y="126"/>
                  </a:lnTo>
                  <a:lnTo>
                    <a:pt x="596" y="126"/>
                  </a:lnTo>
                  <a:lnTo>
                    <a:pt x="592" y="114"/>
                  </a:lnTo>
                  <a:lnTo>
                    <a:pt x="588" y="114"/>
                  </a:lnTo>
                  <a:lnTo>
                    <a:pt x="576" y="122"/>
                  </a:lnTo>
                  <a:lnTo>
                    <a:pt x="576" y="124"/>
                  </a:lnTo>
                  <a:lnTo>
                    <a:pt x="574" y="124"/>
                  </a:lnTo>
                  <a:lnTo>
                    <a:pt x="546" y="130"/>
                  </a:lnTo>
                  <a:lnTo>
                    <a:pt x="544" y="128"/>
                  </a:lnTo>
                  <a:lnTo>
                    <a:pt x="526" y="116"/>
                  </a:lnTo>
                  <a:lnTo>
                    <a:pt x="524" y="114"/>
                  </a:lnTo>
                  <a:lnTo>
                    <a:pt x="518" y="104"/>
                  </a:lnTo>
                  <a:lnTo>
                    <a:pt x="506" y="118"/>
                  </a:lnTo>
                  <a:lnTo>
                    <a:pt x="498" y="126"/>
                  </a:lnTo>
                  <a:lnTo>
                    <a:pt x="492" y="130"/>
                  </a:lnTo>
                  <a:lnTo>
                    <a:pt x="488" y="132"/>
                  </a:lnTo>
                  <a:lnTo>
                    <a:pt x="484" y="130"/>
                  </a:lnTo>
                  <a:lnTo>
                    <a:pt x="466" y="120"/>
                  </a:lnTo>
                  <a:lnTo>
                    <a:pt x="452" y="118"/>
                  </a:lnTo>
                  <a:lnTo>
                    <a:pt x="450" y="120"/>
                  </a:lnTo>
                  <a:lnTo>
                    <a:pt x="438" y="110"/>
                  </a:lnTo>
                  <a:lnTo>
                    <a:pt x="436" y="110"/>
                  </a:lnTo>
                  <a:lnTo>
                    <a:pt x="442" y="88"/>
                  </a:lnTo>
                  <a:lnTo>
                    <a:pt x="442" y="80"/>
                  </a:lnTo>
                  <a:lnTo>
                    <a:pt x="434" y="78"/>
                  </a:lnTo>
                  <a:lnTo>
                    <a:pt x="416" y="58"/>
                  </a:lnTo>
                  <a:lnTo>
                    <a:pt x="418" y="46"/>
                  </a:lnTo>
                  <a:lnTo>
                    <a:pt x="376" y="42"/>
                  </a:lnTo>
                  <a:lnTo>
                    <a:pt x="360" y="32"/>
                  </a:lnTo>
                  <a:lnTo>
                    <a:pt x="354" y="28"/>
                  </a:lnTo>
                  <a:lnTo>
                    <a:pt x="350" y="18"/>
                  </a:lnTo>
                  <a:lnTo>
                    <a:pt x="348" y="12"/>
                  </a:lnTo>
                  <a:lnTo>
                    <a:pt x="344" y="0"/>
                  </a:lnTo>
                  <a:lnTo>
                    <a:pt x="338" y="0"/>
                  </a:lnTo>
                  <a:lnTo>
                    <a:pt x="326" y="10"/>
                  </a:lnTo>
                  <a:lnTo>
                    <a:pt x="310" y="30"/>
                  </a:lnTo>
                  <a:lnTo>
                    <a:pt x="314" y="42"/>
                  </a:lnTo>
                  <a:lnTo>
                    <a:pt x="318" y="60"/>
                  </a:lnTo>
                  <a:lnTo>
                    <a:pt x="318" y="62"/>
                  </a:lnTo>
                  <a:lnTo>
                    <a:pt x="320" y="62"/>
                  </a:lnTo>
                  <a:lnTo>
                    <a:pt x="318" y="62"/>
                  </a:lnTo>
                  <a:lnTo>
                    <a:pt x="318" y="66"/>
                  </a:lnTo>
                  <a:lnTo>
                    <a:pt x="314" y="68"/>
                  </a:lnTo>
                  <a:lnTo>
                    <a:pt x="306" y="70"/>
                  </a:lnTo>
                  <a:lnTo>
                    <a:pt x="290" y="70"/>
                  </a:lnTo>
                  <a:lnTo>
                    <a:pt x="280" y="66"/>
                  </a:lnTo>
                  <a:lnTo>
                    <a:pt x="268" y="70"/>
                  </a:lnTo>
                  <a:lnTo>
                    <a:pt x="266" y="70"/>
                  </a:lnTo>
                  <a:lnTo>
                    <a:pt x="264" y="70"/>
                  </a:lnTo>
                  <a:lnTo>
                    <a:pt x="262" y="82"/>
                  </a:lnTo>
                  <a:lnTo>
                    <a:pt x="262" y="86"/>
                  </a:lnTo>
                  <a:lnTo>
                    <a:pt x="258" y="86"/>
                  </a:lnTo>
                  <a:lnTo>
                    <a:pt x="238" y="78"/>
                  </a:lnTo>
                  <a:lnTo>
                    <a:pt x="240" y="88"/>
                  </a:lnTo>
                  <a:lnTo>
                    <a:pt x="242" y="96"/>
                  </a:lnTo>
                  <a:lnTo>
                    <a:pt x="246" y="104"/>
                  </a:lnTo>
                  <a:lnTo>
                    <a:pt x="244" y="110"/>
                  </a:lnTo>
                  <a:lnTo>
                    <a:pt x="242" y="116"/>
                  </a:lnTo>
                  <a:lnTo>
                    <a:pt x="234" y="118"/>
                  </a:lnTo>
                  <a:lnTo>
                    <a:pt x="222" y="118"/>
                  </a:lnTo>
                  <a:lnTo>
                    <a:pt x="208" y="118"/>
                  </a:lnTo>
                  <a:lnTo>
                    <a:pt x="206" y="142"/>
                  </a:lnTo>
                  <a:lnTo>
                    <a:pt x="190" y="134"/>
                  </a:lnTo>
                  <a:lnTo>
                    <a:pt x="188" y="134"/>
                  </a:lnTo>
                  <a:lnTo>
                    <a:pt x="178" y="118"/>
                  </a:lnTo>
                  <a:lnTo>
                    <a:pt x="160" y="110"/>
                  </a:lnTo>
                  <a:lnTo>
                    <a:pt x="154" y="100"/>
                  </a:lnTo>
                  <a:lnTo>
                    <a:pt x="148" y="106"/>
                  </a:lnTo>
                  <a:lnTo>
                    <a:pt x="146" y="106"/>
                  </a:lnTo>
                  <a:lnTo>
                    <a:pt x="134" y="108"/>
                  </a:lnTo>
                  <a:lnTo>
                    <a:pt x="132" y="108"/>
                  </a:lnTo>
                  <a:lnTo>
                    <a:pt x="126" y="94"/>
                  </a:lnTo>
                  <a:lnTo>
                    <a:pt x="118" y="86"/>
                  </a:lnTo>
                  <a:lnTo>
                    <a:pt x="118" y="84"/>
                  </a:lnTo>
                  <a:lnTo>
                    <a:pt x="110" y="74"/>
                  </a:lnTo>
                  <a:lnTo>
                    <a:pt x="106" y="66"/>
                  </a:lnTo>
                  <a:lnTo>
                    <a:pt x="106" y="64"/>
                  </a:lnTo>
                  <a:lnTo>
                    <a:pt x="102" y="62"/>
                  </a:lnTo>
                  <a:lnTo>
                    <a:pt x="98" y="62"/>
                  </a:lnTo>
                  <a:lnTo>
                    <a:pt x="90" y="56"/>
                  </a:lnTo>
                  <a:lnTo>
                    <a:pt x="86" y="46"/>
                  </a:lnTo>
                  <a:lnTo>
                    <a:pt x="82" y="34"/>
                  </a:lnTo>
                  <a:lnTo>
                    <a:pt x="82" y="22"/>
                  </a:lnTo>
                  <a:lnTo>
                    <a:pt x="78" y="12"/>
                  </a:lnTo>
                  <a:lnTo>
                    <a:pt x="68" y="14"/>
                  </a:lnTo>
                  <a:lnTo>
                    <a:pt x="66" y="14"/>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27" name="西藏"/>
            <p:cNvSpPr/>
            <p:nvPr/>
          </p:nvSpPr>
          <p:spPr bwMode="auto">
            <a:xfrm>
              <a:off x="5773320" y="-667201"/>
              <a:ext cx="1755591" cy="1054808"/>
            </a:xfrm>
            <a:custGeom>
              <a:avLst/>
              <a:gdLst>
                <a:gd name="T0" fmla="*/ 2147483646 w 1256"/>
                <a:gd name="T1" fmla="*/ 2147483646 h 764"/>
                <a:gd name="T2" fmla="*/ 2147483646 w 1256"/>
                <a:gd name="T3" fmla="*/ 2147483646 h 764"/>
                <a:gd name="T4" fmla="*/ 2147483646 w 1256"/>
                <a:gd name="T5" fmla="*/ 2147483646 h 764"/>
                <a:gd name="T6" fmla="*/ 2147483646 w 1256"/>
                <a:gd name="T7" fmla="*/ 2147483646 h 764"/>
                <a:gd name="T8" fmla="*/ 2147483646 w 1256"/>
                <a:gd name="T9" fmla="*/ 2147483646 h 764"/>
                <a:gd name="T10" fmla="*/ 2147483646 w 1256"/>
                <a:gd name="T11" fmla="*/ 2147483646 h 764"/>
                <a:gd name="T12" fmla="*/ 2147483646 w 1256"/>
                <a:gd name="T13" fmla="*/ 2147483646 h 764"/>
                <a:gd name="T14" fmla="*/ 2147483646 w 1256"/>
                <a:gd name="T15" fmla="*/ 2147483646 h 764"/>
                <a:gd name="T16" fmla="*/ 2147483646 w 1256"/>
                <a:gd name="T17" fmla="*/ 2147483646 h 764"/>
                <a:gd name="T18" fmla="*/ 2147483646 w 1256"/>
                <a:gd name="T19" fmla="*/ 2147483646 h 764"/>
                <a:gd name="T20" fmla="*/ 2147483646 w 1256"/>
                <a:gd name="T21" fmla="*/ 2147483646 h 764"/>
                <a:gd name="T22" fmla="*/ 2147483646 w 1256"/>
                <a:gd name="T23" fmla="*/ 2147483646 h 764"/>
                <a:gd name="T24" fmla="*/ 2147483646 w 1256"/>
                <a:gd name="T25" fmla="*/ 2147483646 h 764"/>
                <a:gd name="T26" fmla="*/ 2147483646 w 1256"/>
                <a:gd name="T27" fmla="*/ 2147483646 h 764"/>
                <a:gd name="T28" fmla="*/ 2147483646 w 1256"/>
                <a:gd name="T29" fmla="*/ 2147483646 h 764"/>
                <a:gd name="T30" fmla="*/ 2147483646 w 1256"/>
                <a:gd name="T31" fmla="*/ 2147483646 h 764"/>
                <a:gd name="T32" fmla="*/ 2147483646 w 1256"/>
                <a:gd name="T33" fmla="*/ 2147483646 h 764"/>
                <a:gd name="T34" fmla="*/ 2147483646 w 1256"/>
                <a:gd name="T35" fmla="*/ 2147483646 h 764"/>
                <a:gd name="T36" fmla="*/ 2147483646 w 1256"/>
                <a:gd name="T37" fmla="*/ 2147483646 h 764"/>
                <a:gd name="T38" fmla="*/ 2147483646 w 1256"/>
                <a:gd name="T39" fmla="*/ 2147483646 h 764"/>
                <a:gd name="T40" fmla="*/ 2147483646 w 1256"/>
                <a:gd name="T41" fmla="*/ 2147483646 h 764"/>
                <a:gd name="T42" fmla="*/ 2147483646 w 1256"/>
                <a:gd name="T43" fmla="*/ 2147483646 h 764"/>
                <a:gd name="T44" fmla="*/ 2147483646 w 1256"/>
                <a:gd name="T45" fmla="*/ 2147483646 h 764"/>
                <a:gd name="T46" fmla="*/ 2147483646 w 1256"/>
                <a:gd name="T47" fmla="*/ 2147483646 h 764"/>
                <a:gd name="T48" fmla="*/ 2147483646 w 1256"/>
                <a:gd name="T49" fmla="*/ 2147483646 h 764"/>
                <a:gd name="T50" fmla="*/ 2147483646 w 1256"/>
                <a:gd name="T51" fmla="*/ 2147483646 h 764"/>
                <a:gd name="T52" fmla="*/ 2147483646 w 1256"/>
                <a:gd name="T53" fmla="*/ 2147483646 h 764"/>
                <a:gd name="T54" fmla="*/ 2147483646 w 1256"/>
                <a:gd name="T55" fmla="*/ 2147483646 h 764"/>
                <a:gd name="T56" fmla="*/ 2147483646 w 1256"/>
                <a:gd name="T57" fmla="*/ 2147483646 h 764"/>
                <a:gd name="T58" fmla="*/ 2147483646 w 1256"/>
                <a:gd name="T59" fmla="*/ 2147483646 h 764"/>
                <a:gd name="T60" fmla="*/ 2147483646 w 1256"/>
                <a:gd name="T61" fmla="*/ 2147483646 h 764"/>
                <a:gd name="T62" fmla="*/ 2147483646 w 1256"/>
                <a:gd name="T63" fmla="*/ 2147483646 h 764"/>
                <a:gd name="T64" fmla="*/ 2147483646 w 1256"/>
                <a:gd name="T65" fmla="*/ 2147483646 h 764"/>
                <a:gd name="T66" fmla="*/ 2147483646 w 1256"/>
                <a:gd name="T67" fmla="*/ 2147483646 h 764"/>
                <a:gd name="T68" fmla="*/ 2147483646 w 1256"/>
                <a:gd name="T69" fmla="*/ 2147483646 h 764"/>
                <a:gd name="T70" fmla="*/ 2147483646 w 1256"/>
                <a:gd name="T71" fmla="*/ 2147483646 h 764"/>
                <a:gd name="T72" fmla="*/ 2147483646 w 1256"/>
                <a:gd name="T73" fmla="*/ 2147483646 h 764"/>
                <a:gd name="T74" fmla="*/ 2147483646 w 1256"/>
                <a:gd name="T75" fmla="*/ 2147483646 h 764"/>
                <a:gd name="T76" fmla="*/ 2147483646 w 1256"/>
                <a:gd name="T77" fmla="*/ 2147483646 h 764"/>
                <a:gd name="T78" fmla="*/ 2147483646 w 1256"/>
                <a:gd name="T79" fmla="*/ 2147483646 h 764"/>
                <a:gd name="T80" fmla="*/ 2147483646 w 1256"/>
                <a:gd name="T81" fmla="*/ 2147483646 h 764"/>
                <a:gd name="T82" fmla="*/ 2147483646 w 1256"/>
                <a:gd name="T83" fmla="*/ 2147483646 h 764"/>
                <a:gd name="T84" fmla="*/ 2147483646 w 1256"/>
                <a:gd name="T85" fmla="*/ 2147483646 h 764"/>
                <a:gd name="T86" fmla="*/ 2147483646 w 1256"/>
                <a:gd name="T87" fmla="*/ 2147483646 h 764"/>
                <a:gd name="T88" fmla="*/ 2147483646 w 1256"/>
                <a:gd name="T89" fmla="*/ 2147483646 h 764"/>
                <a:gd name="T90" fmla="*/ 2147483646 w 1256"/>
                <a:gd name="T91" fmla="*/ 2147483646 h 764"/>
                <a:gd name="T92" fmla="*/ 2147483646 w 1256"/>
                <a:gd name="T93" fmla="*/ 2147483646 h 764"/>
                <a:gd name="T94" fmla="*/ 2147483646 w 1256"/>
                <a:gd name="T95" fmla="*/ 2147483646 h 764"/>
                <a:gd name="T96" fmla="*/ 2147483646 w 1256"/>
                <a:gd name="T97" fmla="*/ 2147483646 h 764"/>
                <a:gd name="T98" fmla="*/ 2147483646 w 1256"/>
                <a:gd name="T99" fmla="*/ 2147483646 h 764"/>
                <a:gd name="T100" fmla="*/ 2147483646 w 1256"/>
                <a:gd name="T101" fmla="*/ 2147483646 h 764"/>
                <a:gd name="T102" fmla="*/ 2147483646 w 1256"/>
                <a:gd name="T103" fmla="*/ 2147483646 h 764"/>
                <a:gd name="T104" fmla="*/ 2147483646 w 1256"/>
                <a:gd name="T105" fmla="*/ 2147483646 h 764"/>
                <a:gd name="T106" fmla="*/ 2147483646 w 1256"/>
                <a:gd name="T107" fmla="*/ 2147483646 h 764"/>
                <a:gd name="T108" fmla="*/ 2147483646 w 1256"/>
                <a:gd name="T109" fmla="*/ 2147483646 h 764"/>
                <a:gd name="T110" fmla="*/ 2147483646 w 1256"/>
                <a:gd name="T111" fmla="*/ 2147483646 h 764"/>
                <a:gd name="T112" fmla="*/ 2147483646 w 1256"/>
                <a:gd name="T113" fmla="*/ 2147483646 h 764"/>
                <a:gd name="T114" fmla="*/ 2147483646 w 1256"/>
                <a:gd name="T115" fmla="*/ 2147483646 h 764"/>
                <a:gd name="T116" fmla="*/ 2147483646 w 1256"/>
                <a:gd name="T117" fmla="*/ 2147483646 h 764"/>
                <a:gd name="T118" fmla="*/ 2147483646 w 1256"/>
                <a:gd name="T119" fmla="*/ 2147483646 h 764"/>
                <a:gd name="T120" fmla="*/ 2147483646 w 1256"/>
                <a:gd name="T121" fmla="*/ 2147483646 h 764"/>
                <a:gd name="T122" fmla="*/ 2147483646 w 1256"/>
                <a:gd name="T123" fmla="*/ 2147483646 h 764"/>
                <a:gd name="T124" fmla="*/ 2147483646 w 1256"/>
                <a:gd name="T125" fmla="*/ 2147483646 h 76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256" h="764">
                  <a:moveTo>
                    <a:pt x="152" y="4"/>
                  </a:moveTo>
                  <a:lnTo>
                    <a:pt x="152" y="4"/>
                  </a:lnTo>
                  <a:lnTo>
                    <a:pt x="146" y="14"/>
                  </a:lnTo>
                  <a:lnTo>
                    <a:pt x="138" y="22"/>
                  </a:lnTo>
                  <a:lnTo>
                    <a:pt x="132" y="26"/>
                  </a:lnTo>
                  <a:lnTo>
                    <a:pt x="132" y="32"/>
                  </a:lnTo>
                  <a:lnTo>
                    <a:pt x="132" y="36"/>
                  </a:lnTo>
                  <a:lnTo>
                    <a:pt x="130" y="44"/>
                  </a:lnTo>
                  <a:lnTo>
                    <a:pt x="122" y="56"/>
                  </a:lnTo>
                  <a:lnTo>
                    <a:pt x="122" y="60"/>
                  </a:lnTo>
                  <a:lnTo>
                    <a:pt x="118" y="62"/>
                  </a:lnTo>
                  <a:lnTo>
                    <a:pt x="112" y="64"/>
                  </a:lnTo>
                  <a:lnTo>
                    <a:pt x="66" y="58"/>
                  </a:lnTo>
                  <a:lnTo>
                    <a:pt x="62" y="68"/>
                  </a:lnTo>
                  <a:lnTo>
                    <a:pt x="62" y="70"/>
                  </a:lnTo>
                  <a:lnTo>
                    <a:pt x="48" y="92"/>
                  </a:lnTo>
                  <a:lnTo>
                    <a:pt x="42" y="100"/>
                  </a:lnTo>
                  <a:lnTo>
                    <a:pt x="40" y="108"/>
                  </a:lnTo>
                  <a:lnTo>
                    <a:pt x="42" y="112"/>
                  </a:lnTo>
                  <a:lnTo>
                    <a:pt x="44" y="122"/>
                  </a:lnTo>
                  <a:lnTo>
                    <a:pt x="56" y="150"/>
                  </a:lnTo>
                  <a:lnTo>
                    <a:pt x="62" y="168"/>
                  </a:lnTo>
                  <a:lnTo>
                    <a:pt x="64" y="174"/>
                  </a:lnTo>
                  <a:lnTo>
                    <a:pt x="64" y="180"/>
                  </a:lnTo>
                  <a:lnTo>
                    <a:pt x="60" y="188"/>
                  </a:lnTo>
                  <a:lnTo>
                    <a:pt x="56" y="196"/>
                  </a:lnTo>
                  <a:lnTo>
                    <a:pt x="42" y="210"/>
                  </a:lnTo>
                  <a:lnTo>
                    <a:pt x="18" y="210"/>
                  </a:lnTo>
                  <a:lnTo>
                    <a:pt x="12" y="184"/>
                  </a:lnTo>
                  <a:lnTo>
                    <a:pt x="6" y="216"/>
                  </a:lnTo>
                  <a:lnTo>
                    <a:pt x="16" y="232"/>
                  </a:lnTo>
                  <a:lnTo>
                    <a:pt x="16" y="236"/>
                  </a:lnTo>
                  <a:lnTo>
                    <a:pt x="16" y="238"/>
                  </a:lnTo>
                  <a:lnTo>
                    <a:pt x="10" y="246"/>
                  </a:lnTo>
                  <a:lnTo>
                    <a:pt x="2" y="262"/>
                  </a:lnTo>
                  <a:lnTo>
                    <a:pt x="0" y="272"/>
                  </a:lnTo>
                  <a:lnTo>
                    <a:pt x="0" y="280"/>
                  </a:lnTo>
                  <a:lnTo>
                    <a:pt x="4" y="290"/>
                  </a:lnTo>
                  <a:lnTo>
                    <a:pt x="10" y="300"/>
                  </a:lnTo>
                  <a:lnTo>
                    <a:pt x="28" y="300"/>
                  </a:lnTo>
                  <a:lnTo>
                    <a:pt x="34" y="302"/>
                  </a:lnTo>
                  <a:lnTo>
                    <a:pt x="42" y="308"/>
                  </a:lnTo>
                  <a:lnTo>
                    <a:pt x="58" y="330"/>
                  </a:lnTo>
                  <a:lnTo>
                    <a:pt x="60" y="332"/>
                  </a:lnTo>
                  <a:lnTo>
                    <a:pt x="62" y="338"/>
                  </a:lnTo>
                  <a:lnTo>
                    <a:pt x="66" y="344"/>
                  </a:lnTo>
                  <a:lnTo>
                    <a:pt x="108" y="384"/>
                  </a:lnTo>
                  <a:lnTo>
                    <a:pt x="128" y="408"/>
                  </a:lnTo>
                  <a:lnTo>
                    <a:pt x="138" y="408"/>
                  </a:lnTo>
                  <a:lnTo>
                    <a:pt x="150" y="386"/>
                  </a:lnTo>
                  <a:lnTo>
                    <a:pt x="152" y="384"/>
                  </a:lnTo>
                  <a:lnTo>
                    <a:pt x="182" y="392"/>
                  </a:lnTo>
                  <a:lnTo>
                    <a:pt x="182" y="394"/>
                  </a:lnTo>
                  <a:lnTo>
                    <a:pt x="186" y="414"/>
                  </a:lnTo>
                  <a:lnTo>
                    <a:pt x="222" y="454"/>
                  </a:lnTo>
                  <a:lnTo>
                    <a:pt x="234" y="460"/>
                  </a:lnTo>
                  <a:lnTo>
                    <a:pt x="240" y="464"/>
                  </a:lnTo>
                  <a:lnTo>
                    <a:pt x="268" y="504"/>
                  </a:lnTo>
                  <a:lnTo>
                    <a:pt x="288" y="500"/>
                  </a:lnTo>
                  <a:lnTo>
                    <a:pt x="290" y="500"/>
                  </a:lnTo>
                  <a:lnTo>
                    <a:pt x="292" y="500"/>
                  </a:lnTo>
                  <a:lnTo>
                    <a:pt x="292" y="502"/>
                  </a:lnTo>
                  <a:lnTo>
                    <a:pt x="294" y="504"/>
                  </a:lnTo>
                  <a:lnTo>
                    <a:pt x="312" y="542"/>
                  </a:lnTo>
                  <a:lnTo>
                    <a:pt x="334" y="556"/>
                  </a:lnTo>
                  <a:lnTo>
                    <a:pt x="352" y="560"/>
                  </a:lnTo>
                  <a:lnTo>
                    <a:pt x="362" y="584"/>
                  </a:lnTo>
                  <a:lnTo>
                    <a:pt x="376" y="584"/>
                  </a:lnTo>
                  <a:lnTo>
                    <a:pt x="376" y="586"/>
                  </a:lnTo>
                  <a:lnTo>
                    <a:pt x="404" y="602"/>
                  </a:lnTo>
                  <a:lnTo>
                    <a:pt x="406" y="604"/>
                  </a:lnTo>
                  <a:lnTo>
                    <a:pt x="426" y="628"/>
                  </a:lnTo>
                  <a:lnTo>
                    <a:pt x="456" y="624"/>
                  </a:lnTo>
                  <a:lnTo>
                    <a:pt x="458" y="624"/>
                  </a:lnTo>
                  <a:lnTo>
                    <a:pt x="470" y="628"/>
                  </a:lnTo>
                  <a:lnTo>
                    <a:pt x="490" y="644"/>
                  </a:lnTo>
                  <a:lnTo>
                    <a:pt x="524" y="648"/>
                  </a:lnTo>
                  <a:lnTo>
                    <a:pt x="544" y="644"/>
                  </a:lnTo>
                  <a:lnTo>
                    <a:pt x="564" y="642"/>
                  </a:lnTo>
                  <a:lnTo>
                    <a:pt x="580" y="642"/>
                  </a:lnTo>
                  <a:lnTo>
                    <a:pt x="590" y="644"/>
                  </a:lnTo>
                  <a:lnTo>
                    <a:pt x="596" y="648"/>
                  </a:lnTo>
                  <a:lnTo>
                    <a:pt x="598" y="654"/>
                  </a:lnTo>
                  <a:lnTo>
                    <a:pt x="598" y="658"/>
                  </a:lnTo>
                  <a:lnTo>
                    <a:pt x="594" y="664"/>
                  </a:lnTo>
                  <a:lnTo>
                    <a:pt x="588" y="670"/>
                  </a:lnTo>
                  <a:lnTo>
                    <a:pt x="580" y="678"/>
                  </a:lnTo>
                  <a:lnTo>
                    <a:pt x="580" y="682"/>
                  </a:lnTo>
                  <a:lnTo>
                    <a:pt x="582" y="686"/>
                  </a:lnTo>
                  <a:lnTo>
                    <a:pt x="586" y="692"/>
                  </a:lnTo>
                  <a:lnTo>
                    <a:pt x="592" y="698"/>
                  </a:lnTo>
                  <a:lnTo>
                    <a:pt x="592" y="700"/>
                  </a:lnTo>
                  <a:lnTo>
                    <a:pt x="598" y="704"/>
                  </a:lnTo>
                  <a:lnTo>
                    <a:pt x="600" y="702"/>
                  </a:lnTo>
                  <a:lnTo>
                    <a:pt x="616" y="676"/>
                  </a:lnTo>
                  <a:lnTo>
                    <a:pt x="628" y="658"/>
                  </a:lnTo>
                  <a:lnTo>
                    <a:pt x="638" y="646"/>
                  </a:lnTo>
                  <a:lnTo>
                    <a:pt x="648" y="640"/>
                  </a:lnTo>
                  <a:lnTo>
                    <a:pt x="654" y="638"/>
                  </a:lnTo>
                  <a:lnTo>
                    <a:pt x="660" y="638"/>
                  </a:lnTo>
                  <a:lnTo>
                    <a:pt x="676" y="644"/>
                  </a:lnTo>
                  <a:lnTo>
                    <a:pt x="698" y="654"/>
                  </a:lnTo>
                  <a:lnTo>
                    <a:pt x="724" y="670"/>
                  </a:lnTo>
                  <a:lnTo>
                    <a:pt x="772" y="678"/>
                  </a:lnTo>
                  <a:lnTo>
                    <a:pt x="772" y="680"/>
                  </a:lnTo>
                  <a:lnTo>
                    <a:pt x="772" y="682"/>
                  </a:lnTo>
                  <a:lnTo>
                    <a:pt x="768" y="704"/>
                  </a:lnTo>
                  <a:lnTo>
                    <a:pt x="792" y="708"/>
                  </a:lnTo>
                  <a:lnTo>
                    <a:pt x="792" y="738"/>
                  </a:lnTo>
                  <a:lnTo>
                    <a:pt x="802" y="754"/>
                  </a:lnTo>
                  <a:lnTo>
                    <a:pt x="808" y="762"/>
                  </a:lnTo>
                  <a:lnTo>
                    <a:pt x="816" y="764"/>
                  </a:lnTo>
                  <a:lnTo>
                    <a:pt x="830" y="764"/>
                  </a:lnTo>
                  <a:lnTo>
                    <a:pt x="880" y="762"/>
                  </a:lnTo>
                  <a:lnTo>
                    <a:pt x="904" y="748"/>
                  </a:lnTo>
                  <a:lnTo>
                    <a:pt x="928" y="716"/>
                  </a:lnTo>
                  <a:lnTo>
                    <a:pt x="956" y="714"/>
                  </a:lnTo>
                  <a:lnTo>
                    <a:pt x="970" y="710"/>
                  </a:lnTo>
                  <a:lnTo>
                    <a:pt x="1022" y="680"/>
                  </a:lnTo>
                  <a:lnTo>
                    <a:pt x="1024" y="680"/>
                  </a:lnTo>
                  <a:lnTo>
                    <a:pt x="1060" y="676"/>
                  </a:lnTo>
                  <a:lnTo>
                    <a:pt x="1070" y="678"/>
                  </a:lnTo>
                  <a:lnTo>
                    <a:pt x="1076" y="680"/>
                  </a:lnTo>
                  <a:lnTo>
                    <a:pt x="1112" y="708"/>
                  </a:lnTo>
                  <a:lnTo>
                    <a:pt x="1122" y="712"/>
                  </a:lnTo>
                  <a:lnTo>
                    <a:pt x="1124" y="714"/>
                  </a:lnTo>
                  <a:lnTo>
                    <a:pt x="1136" y="720"/>
                  </a:lnTo>
                  <a:lnTo>
                    <a:pt x="1138" y="720"/>
                  </a:lnTo>
                  <a:lnTo>
                    <a:pt x="1138" y="718"/>
                  </a:lnTo>
                  <a:lnTo>
                    <a:pt x="1138" y="716"/>
                  </a:lnTo>
                  <a:lnTo>
                    <a:pt x="1144" y="692"/>
                  </a:lnTo>
                  <a:lnTo>
                    <a:pt x="1142" y="682"/>
                  </a:lnTo>
                  <a:lnTo>
                    <a:pt x="1144" y="674"/>
                  </a:lnTo>
                  <a:lnTo>
                    <a:pt x="1148" y="668"/>
                  </a:lnTo>
                  <a:lnTo>
                    <a:pt x="1156" y="666"/>
                  </a:lnTo>
                  <a:lnTo>
                    <a:pt x="1164" y="666"/>
                  </a:lnTo>
                  <a:lnTo>
                    <a:pt x="1172" y="672"/>
                  </a:lnTo>
                  <a:lnTo>
                    <a:pt x="1182" y="682"/>
                  </a:lnTo>
                  <a:lnTo>
                    <a:pt x="1190" y="696"/>
                  </a:lnTo>
                  <a:lnTo>
                    <a:pt x="1192" y="696"/>
                  </a:lnTo>
                  <a:lnTo>
                    <a:pt x="1212" y="688"/>
                  </a:lnTo>
                  <a:lnTo>
                    <a:pt x="1214" y="686"/>
                  </a:lnTo>
                  <a:lnTo>
                    <a:pt x="1216" y="684"/>
                  </a:lnTo>
                  <a:lnTo>
                    <a:pt x="1218" y="680"/>
                  </a:lnTo>
                  <a:lnTo>
                    <a:pt x="1214" y="664"/>
                  </a:lnTo>
                  <a:lnTo>
                    <a:pt x="1214" y="660"/>
                  </a:lnTo>
                  <a:lnTo>
                    <a:pt x="1214" y="656"/>
                  </a:lnTo>
                  <a:lnTo>
                    <a:pt x="1216" y="652"/>
                  </a:lnTo>
                  <a:lnTo>
                    <a:pt x="1220" y="650"/>
                  </a:lnTo>
                  <a:lnTo>
                    <a:pt x="1228" y="644"/>
                  </a:lnTo>
                  <a:lnTo>
                    <a:pt x="1244" y="624"/>
                  </a:lnTo>
                  <a:lnTo>
                    <a:pt x="1256" y="598"/>
                  </a:lnTo>
                  <a:lnTo>
                    <a:pt x="1250" y="586"/>
                  </a:lnTo>
                  <a:lnTo>
                    <a:pt x="1246" y="576"/>
                  </a:lnTo>
                  <a:lnTo>
                    <a:pt x="1246" y="568"/>
                  </a:lnTo>
                  <a:lnTo>
                    <a:pt x="1246" y="562"/>
                  </a:lnTo>
                  <a:lnTo>
                    <a:pt x="1248" y="540"/>
                  </a:lnTo>
                  <a:lnTo>
                    <a:pt x="1244" y="528"/>
                  </a:lnTo>
                  <a:lnTo>
                    <a:pt x="1242" y="518"/>
                  </a:lnTo>
                  <a:lnTo>
                    <a:pt x="1240" y="510"/>
                  </a:lnTo>
                  <a:lnTo>
                    <a:pt x="1232" y="498"/>
                  </a:lnTo>
                  <a:lnTo>
                    <a:pt x="1232" y="496"/>
                  </a:lnTo>
                  <a:lnTo>
                    <a:pt x="1228" y="468"/>
                  </a:lnTo>
                  <a:lnTo>
                    <a:pt x="1228" y="458"/>
                  </a:lnTo>
                  <a:lnTo>
                    <a:pt x="1228" y="448"/>
                  </a:lnTo>
                  <a:lnTo>
                    <a:pt x="1220" y="440"/>
                  </a:lnTo>
                  <a:lnTo>
                    <a:pt x="1214" y="432"/>
                  </a:lnTo>
                  <a:lnTo>
                    <a:pt x="1202" y="416"/>
                  </a:lnTo>
                  <a:lnTo>
                    <a:pt x="1200" y="414"/>
                  </a:lnTo>
                  <a:lnTo>
                    <a:pt x="1200" y="412"/>
                  </a:lnTo>
                  <a:lnTo>
                    <a:pt x="1196" y="392"/>
                  </a:lnTo>
                  <a:lnTo>
                    <a:pt x="1184" y="382"/>
                  </a:lnTo>
                  <a:lnTo>
                    <a:pt x="1184" y="384"/>
                  </a:lnTo>
                  <a:lnTo>
                    <a:pt x="1162" y="364"/>
                  </a:lnTo>
                  <a:lnTo>
                    <a:pt x="1162" y="366"/>
                  </a:lnTo>
                  <a:lnTo>
                    <a:pt x="1164" y="392"/>
                  </a:lnTo>
                  <a:lnTo>
                    <a:pt x="1164" y="394"/>
                  </a:lnTo>
                  <a:lnTo>
                    <a:pt x="1152" y="400"/>
                  </a:lnTo>
                  <a:lnTo>
                    <a:pt x="1152" y="416"/>
                  </a:lnTo>
                  <a:lnTo>
                    <a:pt x="1152" y="418"/>
                  </a:lnTo>
                  <a:lnTo>
                    <a:pt x="1124" y="428"/>
                  </a:lnTo>
                  <a:lnTo>
                    <a:pt x="1114" y="406"/>
                  </a:lnTo>
                  <a:lnTo>
                    <a:pt x="1108" y="404"/>
                  </a:lnTo>
                  <a:lnTo>
                    <a:pt x="1100" y="414"/>
                  </a:lnTo>
                  <a:lnTo>
                    <a:pt x="1094" y="430"/>
                  </a:lnTo>
                  <a:lnTo>
                    <a:pt x="1074" y="436"/>
                  </a:lnTo>
                  <a:lnTo>
                    <a:pt x="1062" y="428"/>
                  </a:lnTo>
                  <a:lnTo>
                    <a:pt x="1046" y="422"/>
                  </a:lnTo>
                  <a:lnTo>
                    <a:pt x="1042" y="400"/>
                  </a:lnTo>
                  <a:lnTo>
                    <a:pt x="1036" y="386"/>
                  </a:lnTo>
                  <a:lnTo>
                    <a:pt x="1026" y="382"/>
                  </a:lnTo>
                  <a:lnTo>
                    <a:pt x="1024" y="380"/>
                  </a:lnTo>
                  <a:lnTo>
                    <a:pt x="1018" y="372"/>
                  </a:lnTo>
                  <a:lnTo>
                    <a:pt x="1010" y="360"/>
                  </a:lnTo>
                  <a:lnTo>
                    <a:pt x="1000" y="344"/>
                  </a:lnTo>
                  <a:lnTo>
                    <a:pt x="990" y="344"/>
                  </a:lnTo>
                  <a:lnTo>
                    <a:pt x="974" y="350"/>
                  </a:lnTo>
                  <a:lnTo>
                    <a:pt x="972" y="352"/>
                  </a:lnTo>
                  <a:lnTo>
                    <a:pt x="932" y="348"/>
                  </a:lnTo>
                  <a:lnTo>
                    <a:pt x="900" y="342"/>
                  </a:lnTo>
                  <a:lnTo>
                    <a:pt x="884" y="332"/>
                  </a:lnTo>
                  <a:lnTo>
                    <a:pt x="860" y="324"/>
                  </a:lnTo>
                  <a:lnTo>
                    <a:pt x="838" y="318"/>
                  </a:lnTo>
                  <a:lnTo>
                    <a:pt x="832" y="314"/>
                  </a:lnTo>
                  <a:lnTo>
                    <a:pt x="828" y="312"/>
                  </a:lnTo>
                  <a:lnTo>
                    <a:pt x="824" y="308"/>
                  </a:lnTo>
                  <a:lnTo>
                    <a:pt x="820" y="308"/>
                  </a:lnTo>
                  <a:lnTo>
                    <a:pt x="804" y="300"/>
                  </a:lnTo>
                  <a:lnTo>
                    <a:pt x="804" y="298"/>
                  </a:lnTo>
                  <a:lnTo>
                    <a:pt x="796" y="290"/>
                  </a:lnTo>
                  <a:lnTo>
                    <a:pt x="794" y="282"/>
                  </a:lnTo>
                  <a:lnTo>
                    <a:pt x="788" y="272"/>
                  </a:lnTo>
                  <a:lnTo>
                    <a:pt x="776" y="268"/>
                  </a:lnTo>
                  <a:lnTo>
                    <a:pt x="772" y="270"/>
                  </a:lnTo>
                  <a:lnTo>
                    <a:pt x="768" y="274"/>
                  </a:lnTo>
                  <a:lnTo>
                    <a:pt x="766" y="276"/>
                  </a:lnTo>
                  <a:lnTo>
                    <a:pt x="760" y="280"/>
                  </a:lnTo>
                  <a:lnTo>
                    <a:pt x="756" y="280"/>
                  </a:lnTo>
                  <a:lnTo>
                    <a:pt x="750" y="282"/>
                  </a:lnTo>
                  <a:lnTo>
                    <a:pt x="746" y="280"/>
                  </a:lnTo>
                  <a:lnTo>
                    <a:pt x="740" y="276"/>
                  </a:lnTo>
                  <a:lnTo>
                    <a:pt x="736" y="272"/>
                  </a:lnTo>
                  <a:lnTo>
                    <a:pt x="720" y="256"/>
                  </a:lnTo>
                  <a:lnTo>
                    <a:pt x="714" y="246"/>
                  </a:lnTo>
                  <a:lnTo>
                    <a:pt x="708" y="238"/>
                  </a:lnTo>
                  <a:lnTo>
                    <a:pt x="704" y="232"/>
                  </a:lnTo>
                  <a:lnTo>
                    <a:pt x="698" y="224"/>
                  </a:lnTo>
                  <a:lnTo>
                    <a:pt x="692" y="216"/>
                  </a:lnTo>
                  <a:lnTo>
                    <a:pt x="690" y="206"/>
                  </a:lnTo>
                  <a:lnTo>
                    <a:pt x="692" y="196"/>
                  </a:lnTo>
                  <a:lnTo>
                    <a:pt x="702" y="178"/>
                  </a:lnTo>
                  <a:lnTo>
                    <a:pt x="708" y="160"/>
                  </a:lnTo>
                  <a:lnTo>
                    <a:pt x="710" y="148"/>
                  </a:lnTo>
                  <a:lnTo>
                    <a:pt x="706" y="128"/>
                  </a:lnTo>
                  <a:lnTo>
                    <a:pt x="694" y="118"/>
                  </a:lnTo>
                  <a:lnTo>
                    <a:pt x="696" y="104"/>
                  </a:lnTo>
                  <a:lnTo>
                    <a:pt x="698" y="96"/>
                  </a:lnTo>
                  <a:lnTo>
                    <a:pt x="700" y="90"/>
                  </a:lnTo>
                  <a:lnTo>
                    <a:pt x="704" y="86"/>
                  </a:lnTo>
                  <a:lnTo>
                    <a:pt x="708" y="84"/>
                  </a:lnTo>
                  <a:lnTo>
                    <a:pt x="712" y="84"/>
                  </a:lnTo>
                  <a:lnTo>
                    <a:pt x="712" y="80"/>
                  </a:lnTo>
                  <a:lnTo>
                    <a:pt x="712" y="78"/>
                  </a:lnTo>
                  <a:lnTo>
                    <a:pt x="712" y="62"/>
                  </a:lnTo>
                  <a:lnTo>
                    <a:pt x="712" y="44"/>
                  </a:lnTo>
                  <a:lnTo>
                    <a:pt x="710" y="42"/>
                  </a:lnTo>
                  <a:lnTo>
                    <a:pt x="708" y="40"/>
                  </a:lnTo>
                  <a:lnTo>
                    <a:pt x="706" y="40"/>
                  </a:lnTo>
                  <a:lnTo>
                    <a:pt x="692" y="30"/>
                  </a:lnTo>
                  <a:lnTo>
                    <a:pt x="680" y="20"/>
                  </a:lnTo>
                  <a:lnTo>
                    <a:pt x="642" y="14"/>
                  </a:lnTo>
                  <a:lnTo>
                    <a:pt x="630" y="4"/>
                  </a:lnTo>
                  <a:lnTo>
                    <a:pt x="608" y="4"/>
                  </a:lnTo>
                  <a:lnTo>
                    <a:pt x="602" y="6"/>
                  </a:lnTo>
                  <a:lnTo>
                    <a:pt x="596" y="10"/>
                  </a:lnTo>
                  <a:lnTo>
                    <a:pt x="594" y="10"/>
                  </a:lnTo>
                  <a:lnTo>
                    <a:pt x="576" y="16"/>
                  </a:lnTo>
                  <a:lnTo>
                    <a:pt x="532" y="16"/>
                  </a:lnTo>
                  <a:lnTo>
                    <a:pt x="524" y="20"/>
                  </a:lnTo>
                  <a:lnTo>
                    <a:pt x="518" y="24"/>
                  </a:lnTo>
                  <a:lnTo>
                    <a:pt x="508" y="28"/>
                  </a:lnTo>
                  <a:lnTo>
                    <a:pt x="492" y="34"/>
                  </a:lnTo>
                  <a:lnTo>
                    <a:pt x="472" y="40"/>
                  </a:lnTo>
                  <a:lnTo>
                    <a:pt x="470" y="40"/>
                  </a:lnTo>
                  <a:lnTo>
                    <a:pt x="440" y="36"/>
                  </a:lnTo>
                  <a:lnTo>
                    <a:pt x="438" y="36"/>
                  </a:lnTo>
                  <a:lnTo>
                    <a:pt x="428" y="36"/>
                  </a:lnTo>
                  <a:lnTo>
                    <a:pt x="410" y="40"/>
                  </a:lnTo>
                  <a:lnTo>
                    <a:pt x="374" y="44"/>
                  </a:lnTo>
                  <a:lnTo>
                    <a:pt x="372" y="44"/>
                  </a:lnTo>
                  <a:lnTo>
                    <a:pt x="356" y="36"/>
                  </a:lnTo>
                  <a:lnTo>
                    <a:pt x="340" y="36"/>
                  </a:lnTo>
                  <a:lnTo>
                    <a:pt x="330" y="32"/>
                  </a:lnTo>
                  <a:lnTo>
                    <a:pt x="320" y="20"/>
                  </a:lnTo>
                  <a:lnTo>
                    <a:pt x="318" y="20"/>
                  </a:lnTo>
                  <a:lnTo>
                    <a:pt x="316" y="12"/>
                  </a:lnTo>
                  <a:lnTo>
                    <a:pt x="314" y="8"/>
                  </a:lnTo>
                  <a:lnTo>
                    <a:pt x="310" y="4"/>
                  </a:lnTo>
                  <a:lnTo>
                    <a:pt x="302" y="0"/>
                  </a:lnTo>
                  <a:lnTo>
                    <a:pt x="296" y="8"/>
                  </a:lnTo>
                  <a:lnTo>
                    <a:pt x="270" y="20"/>
                  </a:lnTo>
                  <a:lnTo>
                    <a:pt x="268" y="20"/>
                  </a:lnTo>
                  <a:lnTo>
                    <a:pt x="236" y="22"/>
                  </a:lnTo>
                  <a:lnTo>
                    <a:pt x="226" y="20"/>
                  </a:lnTo>
                  <a:lnTo>
                    <a:pt x="210" y="16"/>
                  </a:lnTo>
                  <a:lnTo>
                    <a:pt x="184" y="12"/>
                  </a:lnTo>
                  <a:lnTo>
                    <a:pt x="182" y="12"/>
                  </a:lnTo>
                  <a:lnTo>
                    <a:pt x="166" y="4"/>
                  </a:lnTo>
                  <a:lnTo>
                    <a:pt x="152" y="4"/>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28" name="云南"/>
            <p:cNvSpPr/>
            <p:nvPr/>
          </p:nvSpPr>
          <p:spPr bwMode="auto">
            <a:xfrm>
              <a:off x="7372362" y="210886"/>
              <a:ext cx="793930" cy="817338"/>
            </a:xfrm>
            <a:custGeom>
              <a:avLst/>
              <a:gdLst>
                <a:gd name="T0" fmla="*/ 2147483646 w 568"/>
                <a:gd name="T1" fmla="*/ 2147483646 h 592"/>
                <a:gd name="T2" fmla="*/ 2147483646 w 568"/>
                <a:gd name="T3" fmla="*/ 2147483646 h 592"/>
                <a:gd name="T4" fmla="*/ 2147483646 w 568"/>
                <a:gd name="T5" fmla="*/ 2147483646 h 592"/>
                <a:gd name="T6" fmla="*/ 2147483646 w 568"/>
                <a:gd name="T7" fmla="*/ 2147483646 h 592"/>
                <a:gd name="T8" fmla="*/ 2147483646 w 568"/>
                <a:gd name="T9" fmla="*/ 2147483646 h 592"/>
                <a:gd name="T10" fmla="*/ 2147483646 w 568"/>
                <a:gd name="T11" fmla="*/ 2147483646 h 592"/>
                <a:gd name="T12" fmla="*/ 2147483646 w 568"/>
                <a:gd name="T13" fmla="*/ 2147483646 h 592"/>
                <a:gd name="T14" fmla="*/ 2147483646 w 568"/>
                <a:gd name="T15" fmla="*/ 2147483646 h 592"/>
                <a:gd name="T16" fmla="*/ 2147483646 w 568"/>
                <a:gd name="T17" fmla="*/ 2147483646 h 592"/>
                <a:gd name="T18" fmla="*/ 2147483646 w 568"/>
                <a:gd name="T19" fmla="*/ 2147483646 h 592"/>
                <a:gd name="T20" fmla="*/ 2147483646 w 568"/>
                <a:gd name="T21" fmla="*/ 2147483646 h 592"/>
                <a:gd name="T22" fmla="*/ 2147483646 w 568"/>
                <a:gd name="T23" fmla="*/ 2147483646 h 592"/>
                <a:gd name="T24" fmla="*/ 2147483646 w 568"/>
                <a:gd name="T25" fmla="*/ 2147483646 h 592"/>
                <a:gd name="T26" fmla="*/ 2147483646 w 568"/>
                <a:gd name="T27" fmla="*/ 2147483646 h 592"/>
                <a:gd name="T28" fmla="*/ 2147483646 w 568"/>
                <a:gd name="T29" fmla="*/ 2147483646 h 592"/>
                <a:gd name="T30" fmla="*/ 2147483646 w 568"/>
                <a:gd name="T31" fmla="*/ 2147483646 h 592"/>
                <a:gd name="T32" fmla="*/ 2147483646 w 568"/>
                <a:gd name="T33" fmla="*/ 2147483646 h 592"/>
                <a:gd name="T34" fmla="*/ 2147483646 w 568"/>
                <a:gd name="T35" fmla="*/ 2147483646 h 592"/>
                <a:gd name="T36" fmla="*/ 2147483646 w 568"/>
                <a:gd name="T37" fmla="*/ 2147483646 h 592"/>
                <a:gd name="T38" fmla="*/ 2147483646 w 568"/>
                <a:gd name="T39" fmla="*/ 2147483646 h 592"/>
                <a:gd name="T40" fmla="*/ 2147483646 w 568"/>
                <a:gd name="T41" fmla="*/ 2147483646 h 592"/>
                <a:gd name="T42" fmla="*/ 2147483646 w 568"/>
                <a:gd name="T43" fmla="*/ 2147483646 h 592"/>
                <a:gd name="T44" fmla="*/ 2147483646 w 568"/>
                <a:gd name="T45" fmla="*/ 2147483646 h 592"/>
                <a:gd name="T46" fmla="*/ 2147483646 w 568"/>
                <a:gd name="T47" fmla="*/ 2147483646 h 592"/>
                <a:gd name="T48" fmla="*/ 2147483646 w 568"/>
                <a:gd name="T49" fmla="*/ 2147483646 h 592"/>
                <a:gd name="T50" fmla="*/ 2147483646 w 568"/>
                <a:gd name="T51" fmla="*/ 2147483646 h 592"/>
                <a:gd name="T52" fmla="*/ 2147483646 w 568"/>
                <a:gd name="T53" fmla="*/ 2147483646 h 592"/>
                <a:gd name="T54" fmla="*/ 2147483646 w 568"/>
                <a:gd name="T55" fmla="*/ 2147483646 h 592"/>
                <a:gd name="T56" fmla="*/ 2147483646 w 568"/>
                <a:gd name="T57" fmla="*/ 2147483646 h 592"/>
                <a:gd name="T58" fmla="*/ 2147483646 w 568"/>
                <a:gd name="T59" fmla="*/ 2147483646 h 592"/>
                <a:gd name="T60" fmla="*/ 2147483646 w 568"/>
                <a:gd name="T61" fmla="*/ 2147483646 h 592"/>
                <a:gd name="T62" fmla="*/ 2147483646 w 568"/>
                <a:gd name="T63" fmla="*/ 2147483646 h 592"/>
                <a:gd name="T64" fmla="*/ 2147483646 w 568"/>
                <a:gd name="T65" fmla="*/ 2147483646 h 592"/>
                <a:gd name="T66" fmla="*/ 2147483646 w 568"/>
                <a:gd name="T67" fmla="*/ 2147483646 h 592"/>
                <a:gd name="T68" fmla="*/ 2147483646 w 568"/>
                <a:gd name="T69" fmla="*/ 2147483646 h 592"/>
                <a:gd name="T70" fmla="*/ 2147483646 w 568"/>
                <a:gd name="T71" fmla="*/ 2147483646 h 592"/>
                <a:gd name="T72" fmla="*/ 2147483646 w 568"/>
                <a:gd name="T73" fmla="*/ 2147483646 h 592"/>
                <a:gd name="T74" fmla="*/ 2147483646 w 568"/>
                <a:gd name="T75" fmla="*/ 2147483646 h 592"/>
                <a:gd name="T76" fmla="*/ 2147483646 w 568"/>
                <a:gd name="T77" fmla="*/ 2147483646 h 592"/>
                <a:gd name="T78" fmla="*/ 2147483646 w 568"/>
                <a:gd name="T79" fmla="*/ 2147483646 h 592"/>
                <a:gd name="T80" fmla="*/ 2147483646 w 568"/>
                <a:gd name="T81" fmla="*/ 2147483646 h 592"/>
                <a:gd name="T82" fmla="*/ 2147483646 w 568"/>
                <a:gd name="T83" fmla="*/ 2147483646 h 592"/>
                <a:gd name="T84" fmla="*/ 2147483646 w 568"/>
                <a:gd name="T85" fmla="*/ 2147483646 h 592"/>
                <a:gd name="T86" fmla="*/ 2147483646 w 568"/>
                <a:gd name="T87" fmla="*/ 2147483646 h 592"/>
                <a:gd name="T88" fmla="*/ 2147483646 w 568"/>
                <a:gd name="T89" fmla="*/ 2147483646 h 592"/>
                <a:gd name="T90" fmla="*/ 2147483646 w 568"/>
                <a:gd name="T91" fmla="*/ 2147483646 h 592"/>
                <a:gd name="T92" fmla="*/ 2147483646 w 568"/>
                <a:gd name="T93" fmla="*/ 2147483646 h 592"/>
                <a:gd name="T94" fmla="*/ 2147483646 w 568"/>
                <a:gd name="T95" fmla="*/ 2147483646 h 592"/>
                <a:gd name="T96" fmla="*/ 2147483646 w 568"/>
                <a:gd name="T97" fmla="*/ 2147483646 h 592"/>
                <a:gd name="T98" fmla="*/ 2147483646 w 568"/>
                <a:gd name="T99" fmla="*/ 2147483646 h 592"/>
                <a:gd name="T100" fmla="*/ 2147483646 w 568"/>
                <a:gd name="T101" fmla="*/ 2147483646 h 592"/>
                <a:gd name="T102" fmla="*/ 2147483646 w 568"/>
                <a:gd name="T103" fmla="*/ 2147483646 h 592"/>
                <a:gd name="T104" fmla="*/ 2147483646 w 568"/>
                <a:gd name="T105" fmla="*/ 2147483646 h 592"/>
                <a:gd name="T106" fmla="*/ 2147483646 w 568"/>
                <a:gd name="T107" fmla="*/ 2147483646 h 59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68" h="592">
                  <a:moveTo>
                    <a:pt x="4" y="364"/>
                  </a:moveTo>
                  <a:lnTo>
                    <a:pt x="0" y="374"/>
                  </a:lnTo>
                  <a:lnTo>
                    <a:pt x="10" y="372"/>
                  </a:lnTo>
                  <a:lnTo>
                    <a:pt x="18" y="366"/>
                  </a:lnTo>
                  <a:lnTo>
                    <a:pt x="20" y="364"/>
                  </a:lnTo>
                  <a:lnTo>
                    <a:pt x="52" y="360"/>
                  </a:lnTo>
                  <a:lnTo>
                    <a:pt x="74" y="350"/>
                  </a:lnTo>
                  <a:lnTo>
                    <a:pt x="82" y="362"/>
                  </a:lnTo>
                  <a:lnTo>
                    <a:pt x="84" y="362"/>
                  </a:lnTo>
                  <a:lnTo>
                    <a:pt x="74" y="378"/>
                  </a:lnTo>
                  <a:lnTo>
                    <a:pt x="84" y="388"/>
                  </a:lnTo>
                  <a:lnTo>
                    <a:pt x="84" y="390"/>
                  </a:lnTo>
                  <a:lnTo>
                    <a:pt x="84" y="392"/>
                  </a:lnTo>
                  <a:lnTo>
                    <a:pt x="76" y="426"/>
                  </a:lnTo>
                  <a:lnTo>
                    <a:pt x="98" y="440"/>
                  </a:lnTo>
                  <a:lnTo>
                    <a:pt x="136" y="442"/>
                  </a:lnTo>
                  <a:lnTo>
                    <a:pt x="130" y="450"/>
                  </a:lnTo>
                  <a:lnTo>
                    <a:pt x="104" y="486"/>
                  </a:lnTo>
                  <a:lnTo>
                    <a:pt x="98" y="496"/>
                  </a:lnTo>
                  <a:lnTo>
                    <a:pt x="96" y="502"/>
                  </a:lnTo>
                  <a:lnTo>
                    <a:pt x="110" y="506"/>
                  </a:lnTo>
                  <a:lnTo>
                    <a:pt x="122" y="508"/>
                  </a:lnTo>
                  <a:lnTo>
                    <a:pt x="132" y="510"/>
                  </a:lnTo>
                  <a:lnTo>
                    <a:pt x="140" y="516"/>
                  </a:lnTo>
                  <a:lnTo>
                    <a:pt x="144" y="520"/>
                  </a:lnTo>
                  <a:lnTo>
                    <a:pt x="152" y="534"/>
                  </a:lnTo>
                  <a:lnTo>
                    <a:pt x="158" y="550"/>
                  </a:lnTo>
                  <a:lnTo>
                    <a:pt x="180" y="562"/>
                  </a:lnTo>
                  <a:lnTo>
                    <a:pt x="192" y="564"/>
                  </a:lnTo>
                  <a:lnTo>
                    <a:pt x="220" y="540"/>
                  </a:lnTo>
                  <a:lnTo>
                    <a:pt x="236" y="562"/>
                  </a:lnTo>
                  <a:lnTo>
                    <a:pt x="236" y="564"/>
                  </a:lnTo>
                  <a:lnTo>
                    <a:pt x="240" y="584"/>
                  </a:lnTo>
                  <a:lnTo>
                    <a:pt x="252" y="586"/>
                  </a:lnTo>
                  <a:lnTo>
                    <a:pt x="272" y="592"/>
                  </a:lnTo>
                  <a:lnTo>
                    <a:pt x="276" y="592"/>
                  </a:lnTo>
                  <a:lnTo>
                    <a:pt x="276" y="590"/>
                  </a:lnTo>
                  <a:lnTo>
                    <a:pt x="272" y="570"/>
                  </a:lnTo>
                  <a:lnTo>
                    <a:pt x="272" y="568"/>
                  </a:lnTo>
                  <a:lnTo>
                    <a:pt x="262" y="522"/>
                  </a:lnTo>
                  <a:lnTo>
                    <a:pt x="262" y="520"/>
                  </a:lnTo>
                  <a:lnTo>
                    <a:pt x="268" y="488"/>
                  </a:lnTo>
                  <a:lnTo>
                    <a:pt x="270" y="488"/>
                  </a:lnTo>
                  <a:lnTo>
                    <a:pt x="272" y="488"/>
                  </a:lnTo>
                  <a:lnTo>
                    <a:pt x="294" y="490"/>
                  </a:lnTo>
                  <a:lnTo>
                    <a:pt x="320" y="470"/>
                  </a:lnTo>
                  <a:lnTo>
                    <a:pt x="324" y="472"/>
                  </a:lnTo>
                  <a:lnTo>
                    <a:pt x="342" y="486"/>
                  </a:lnTo>
                  <a:lnTo>
                    <a:pt x="352" y="498"/>
                  </a:lnTo>
                  <a:lnTo>
                    <a:pt x="362" y="490"/>
                  </a:lnTo>
                  <a:lnTo>
                    <a:pt x="378" y="474"/>
                  </a:lnTo>
                  <a:lnTo>
                    <a:pt x="378" y="472"/>
                  </a:lnTo>
                  <a:lnTo>
                    <a:pt x="380" y="472"/>
                  </a:lnTo>
                  <a:lnTo>
                    <a:pt x="420" y="482"/>
                  </a:lnTo>
                  <a:lnTo>
                    <a:pt x="438" y="468"/>
                  </a:lnTo>
                  <a:lnTo>
                    <a:pt x="438" y="466"/>
                  </a:lnTo>
                  <a:lnTo>
                    <a:pt x="440" y="466"/>
                  </a:lnTo>
                  <a:lnTo>
                    <a:pt x="458" y="470"/>
                  </a:lnTo>
                  <a:lnTo>
                    <a:pt x="512" y="422"/>
                  </a:lnTo>
                  <a:lnTo>
                    <a:pt x="528" y="426"/>
                  </a:lnTo>
                  <a:lnTo>
                    <a:pt x="530" y="428"/>
                  </a:lnTo>
                  <a:lnTo>
                    <a:pt x="532" y="428"/>
                  </a:lnTo>
                  <a:lnTo>
                    <a:pt x="536" y="436"/>
                  </a:lnTo>
                  <a:lnTo>
                    <a:pt x="540" y="432"/>
                  </a:lnTo>
                  <a:lnTo>
                    <a:pt x="540" y="430"/>
                  </a:lnTo>
                  <a:lnTo>
                    <a:pt x="556" y="422"/>
                  </a:lnTo>
                  <a:lnTo>
                    <a:pt x="568" y="410"/>
                  </a:lnTo>
                  <a:lnTo>
                    <a:pt x="566" y="386"/>
                  </a:lnTo>
                  <a:lnTo>
                    <a:pt x="564" y="382"/>
                  </a:lnTo>
                  <a:lnTo>
                    <a:pt x="548" y="388"/>
                  </a:lnTo>
                  <a:lnTo>
                    <a:pt x="542" y="392"/>
                  </a:lnTo>
                  <a:lnTo>
                    <a:pt x="534" y="392"/>
                  </a:lnTo>
                  <a:lnTo>
                    <a:pt x="516" y="392"/>
                  </a:lnTo>
                  <a:lnTo>
                    <a:pt x="510" y="390"/>
                  </a:lnTo>
                  <a:lnTo>
                    <a:pt x="504" y="386"/>
                  </a:lnTo>
                  <a:lnTo>
                    <a:pt x="504" y="360"/>
                  </a:lnTo>
                  <a:lnTo>
                    <a:pt x="496" y="358"/>
                  </a:lnTo>
                  <a:lnTo>
                    <a:pt x="492" y="356"/>
                  </a:lnTo>
                  <a:lnTo>
                    <a:pt x="488" y="358"/>
                  </a:lnTo>
                  <a:lnTo>
                    <a:pt x="484" y="360"/>
                  </a:lnTo>
                  <a:lnTo>
                    <a:pt x="472" y="364"/>
                  </a:lnTo>
                  <a:lnTo>
                    <a:pt x="468" y="364"/>
                  </a:lnTo>
                  <a:lnTo>
                    <a:pt x="468" y="362"/>
                  </a:lnTo>
                  <a:lnTo>
                    <a:pt x="462" y="350"/>
                  </a:lnTo>
                  <a:lnTo>
                    <a:pt x="460" y="340"/>
                  </a:lnTo>
                  <a:lnTo>
                    <a:pt x="468" y="310"/>
                  </a:lnTo>
                  <a:lnTo>
                    <a:pt x="468" y="308"/>
                  </a:lnTo>
                  <a:lnTo>
                    <a:pt x="476" y="294"/>
                  </a:lnTo>
                  <a:lnTo>
                    <a:pt x="452" y="274"/>
                  </a:lnTo>
                  <a:lnTo>
                    <a:pt x="452" y="272"/>
                  </a:lnTo>
                  <a:lnTo>
                    <a:pt x="452" y="248"/>
                  </a:lnTo>
                  <a:lnTo>
                    <a:pt x="464" y="212"/>
                  </a:lnTo>
                  <a:lnTo>
                    <a:pt x="456" y="192"/>
                  </a:lnTo>
                  <a:lnTo>
                    <a:pt x="450" y="190"/>
                  </a:lnTo>
                  <a:lnTo>
                    <a:pt x="440" y="190"/>
                  </a:lnTo>
                  <a:lnTo>
                    <a:pt x="432" y="204"/>
                  </a:lnTo>
                  <a:lnTo>
                    <a:pt x="420" y="196"/>
                  </a:lnTo>
                  <a:lnTo>
                    <a:pt x="410" y="190"/>
                  </a:lnTo>
                  <a:lnTo>
                    <a:pt x="400" y="168"/>
                  </a:lnTo>
                  <a:lnTo>
                    <a:pt x="398" y="152"/>
                  </a:lnTo>
                  <a:lnTo>
                    <a:pt x="398" y="150"/>
                  </a:lnTo>
                  <a:lnTo>
                    <a:pt x="396" y="148"/>
                  </a:lnTo>
                  <a:lnTo>
                    <a:pt x="400" y="148"/>
                  </a:lnTo>
                  <a:lnTo>
                    <a:pt x="410" y="132"/>
                  </a:lnTo>
                  <a:lnTo>
                    <a:pt x="412" y="132"/>
                  </a:lnTo>
                  <a:lnTo>
                    <a:pt x="420" y="130"/>
                  </a:lnTo>
                  <a:lnTo>
                    <a:pt x="430" y="128"/>
                  </a:lnTo>
                  <a:lnTo>
                    <a:pt x="472" y="126"/>
                  </a:lnTo>
                  <a:lnTo>
                    <a:pt x="478" y="128"/>
                  </a:lnTo>
                  <a:lnTo>
                    <a:pt x="480" y="128"/>
                  </a:lnTo>
                  <a:lnTo>
                    <a:pt x="486" y="132"/>
                  </a:lnTo>
                  <a:lnTo>
                    <a:pt x="496" y="126"/>
                  </a:lnTo>
                  <a:lnTo>
                    <a:pt x="506" y="120"/>
                  </a:lnTo>
                  <a:lnTo>
                    <a:pt x="512" y="112"/>
                  </a:lnTo>
                  <a:lnTo>
                    <a:pt x="512" y="108"/>
                  </a:lnTo>
                  <a:lnTo>
                    <a:pt x="512" y="90"/>
                  </a:lnTo>
                  <a:lnTo>
                    <a:pt x="502" y="88"/>
                  </a:lnTo>
                  <a:lnTo>
                    <a:pt x="486" y="94"/>
                  </a:lnTo>
                  <a:lnTo>
                    <a:pt x="478" y="100"/>
                  </a:lnTo>
                  <a:lnTo>
                    <a:pt x="474" y="102"/>
                  </a:lnTo>
                  <a:lnTo>
                    <a:pt x="470" y="104"/>
                  </a:lnTo>
                  <a:lnTo>
                    <a:pt x="466" y="102"/>
                  </a:lnTo>
                  <a:lnTo>
                    <a:pt x="462" y="100"/>
                  </a:lnTo>
                  <a:lnTo>
                    <a:pt x="454" y="90"/>
                  </a:lnTo>
                  <a:lnTo>
                    <a:pt x="454" y="88"/>
                  </a:lnTo>
                  <a:lnTo>
                    <a:pt x="452" y="78"/>
                  </a:lnTo>
                  <a:lnTo>
                    <a:pt x="452" y="76"/>
                  </a:lnTo>
                  <a:lnTo>
                    <a:pt x="454" y="66"/>
                  </a:lnTo>
                  <a:lnTo>
                    <a:pt x="444" y="44"/>
                  </a:lnTo>
                  <a:lnTo>
                    <a:pt x="428" y="48"/>
                  </a:lnTo>
                  <a:lnTo>
                    <a:pt x="420" y="56"/>
                  </a:lnTo>
                  <a:lnTo>
                    <a:pt x="424" y="80"/>
                  </a:lnTo>
                  <a:lnTo>
                    <a:pt x="396" y="68"/>
                  </a:lnTo>
                  <a:lnTo>
                    <a:pt x="404" y="82"/>
                  </a:lnTo>
                  <a:lnTo>
                    <a:pt x="404" y="84"/>
                  </a:lnTo>
                  <a:lnTo>
                    <a:pt x="402" y="100"/>
                  </a:lnTo>
                  <a:lnTo>
                    <a:pt x="402" y="102"/>
                  </a:lnTo>
                  <a:lnTo>
                    <a:pt x="400" y="102"/>
                  </a:lnTo>
                  <a:lnTo>
                    <a:pt x="386" y="124"/>
                  </a:lnTo>
                  <a:lnTo>
                    <a:pt x="360" y="138"/>
                  </a:lnTo>
                  <a:lnTo>
                    <a:pt x="358" y="152"/>
                  </a:lnTo>
                  <a:lnTo>
                    <a:pt x="360" y="160"/>
                  </a:lnTo>
                  <a:lnTo>
                    <a:pt x="364" y="170"/>
                  </a:lnTo>
                  <a:lnTo>
                    <a:pt x="366" y="170"/>
                  </a:lnTo>
                  <a:lnTo>
                    <a:pt x="366" y="172"/>
                  </a:lnTo>
                  <a:lnTo>
                    <a:pt x="368" y="192"/>
                  </a:lnTo>
                  <a:lnTo>
                    <a:pt x="368" y="194"/>
                  </a:lnTo>
                  <a:lnTo>
                    <a:pt x="366" y="196"/>
                  </a:lnTo>
                  <a:lnTo>
                    <a:pt x="356" y="208"/>
                  </a:lnTo>
                  <a:lnTo>
                    <a:pt x="348" y="214"/>
                  </a:lnTo>
                  <a:lnTo>
                    <a:pt x="346" y="214"/>
                  </a:lnTo>
                  <a:lnTo>
                    <a:pt x="344" y="214"/>
                  </a:lnTo>
                  <a:lnTo>
                    <a:pt x="326" y="210"/>
                  </a:lnTo>
                  <a:lnTo>
                    <a:pt x="322" y="210"/>
                  </a:lnTo>
                  <a:lnTo>
                    <a:pt x="316" y="214"/>
                  </a:lnTo>
                  <a:lnTo>
                    <a:pt x="308" y="224"/>
                  </a:lnTo>
                  <a:lnTo>
                    <a:pt x="300" y="232"/>
                  </a:lnTo>
                  <a:lnTo>
                    <a:pt x="298" y="236"/>
                  </a:lnTo>
                  <a:lnTo>
                    <a:pt x="294" y="238"/>
                  </a:lnTo>
                  <a:lnTo>
                    <a:pt x="288" y="240"/>
                  </a:lnTo>
                  <a:lnTo>
                    <a:pt x="282" y="238"/>
                  </a:lnTo>
                  <a:lnTo>
                    <a:pt x="280" y="238"/>
                  </a:lnTo>
                  <a:lnTo>
                    <a:pt x="278" y="234"/>
                  </a:lnTo>
                  <a:lnTo>
                    <a:pt x="276" y="230"/>
                  </a:lnTo>
                  <a:lnTo>
                    <a:pt x="276" y="224"/>
                  </a:lnTo>
                  <a:lnTo>
                    <a:pt x="276" y="220"/>
                  </a:lnTo>
                  <a:lnTo>
                    <a:pt x="276" y="214"/>
                  </a:lnTo>
                  <a:lnTo>
                    <a:pt x="272" y="218"/>
                  </a:lnTo>
                  <a:lnTo>
                    <a:pt x="270" y="220"/>
                  </a:lnTo>
                  <a:lnTo>
                    <a:pt x="264" y="222"/>
                  </a:lnTo>
                  <a:lnTo>
                    <a:pt x="260" y="218"/>
                  </a:lnTo>
                  <a:lnTo>
                    <a:pt x="258" y="212"/>
                  </a:lnTo>
                  <a:lnTo>
                    <a:pt x="256" y="192"/>
                  </a:lnTo>
                  <a:lnTo>
                    <a:pt x="252" y="176"/>
                  </a:lnTo>
                  <a:lnTo>
                    <a:pt x="244" y="168"/>
                  </a:lnTo>
                  <a:lnTo>
                    <a:pt x="244" y="166"/>
                  </a:lnTo>
                  <a:lnTo>
                    <a:pt x="226" y="128"/>
                  </a:lnTo>
                  <a:lnTo>
                    <a:pt x="220" y="116"/>
                  </a:lnTo>
                  <a:lnTo>
                    <a:pt x="220" y="114"/>
                  </a:lnTo>
                  <a:lnTo>
                    <a:pt x="216" y="94"/>
                  </a:lnTo>
                  <a:lnTo>
                    <a:pt x="214" y="90"/>
                  </a:lnTo>
                  <a:lnTo>
                    <a:pt x="212" y="92"/>
                  </a:lnTo>
                  <a:lnTo>
                    <a:pt x="204" y="100"/>
                  </a:lnTo>
                  <a:lnTo>
                    <a:pt x="200" y="104"/>
                  </a:lnTo>
                  <a:lnTo>
                    <a:pt x="196" y="102"/>
                  </a:lnTo>
                  <a:lnTo>
                    <a:pt x="188" y="96"/>
                  </a:lnTo>
                  <a:lnTo>
                    <a:pt x="176" y="90"/>
                  </a:lnTo>
                  <a:lnTo>
                    <a:pt x="174" y="88"/>
                  </a:lnTo>
                  <a:lnTo>
                    <a:pt x="172" y="88"/>
                  </a:lnTo>
                  <a:lnTo>
                    <a:pt x="172" y="86"/>
                  </a:lnTo>
                  <a:lnTo>
                    <a:pt x="172" y="70"/>
                  </a:lnTo>
                  <a:lnTo>
                    <a:pt x="168" y="58"/>
                  </a:lnTo>
                  <a:lnTo>
                    <a:pt x="162" y="42"/>
                  </a:lnTo>
                  <a:lnTo>
                    <a:pt x="156" y="42"/>
                  </a:lnTo>
                  <a:lnTo>
                    <a:pt x="156" y="50"/>
                  </a:lnTo>
                  <a:lnTo>
                    <a:pt x="154" y="58"/>
                  </a:lnTo>
                  <a:lnTo>
                    <a:pt x="150" y="64"/>
                  </a:lnTo>
                  <a:lnTo>
                    <a:pt x="144" y="70"/>
                  </a:lnTo>
                  <a:lnTo>
                    <a:pt x="142" y="78"/>
                  </a:lnTo>
                  <a:lnTo>
                    <a:pt x="138" y="82"/>
                  </a:lnTo>
                  <a:lnTo>
                    <a:pt x="134" y="86"/>
                  </a:lnTo>
                  <a:lnTo>
                    <a:pt x="130" y="86"/>
                  </a:lnTo>
                  <a:lnTo>
                    <a:pt x="128" y="86"/>
                  </a:lnTo>
                  <a:lnTo>
                    <a:pt x="124" y="84"/>
                  </a:lnTo>
                  <a:lnTo>
                    <a:pt x="122" y="84"/>
                  </a:lnTo>
                  <a:lnTo>
                    <a:pt x="118" y="82"/>
                  </a:lnTo>
                  <a:lnTo>
                    <a:pt x="118" y="78"/>
                  </a:lnTo>
                  <a:lnTo>
                    <a:pt x="116" y="66"/>
                  </a:lnTo>
                  <a:lnTo>
                    <a:pt x="116" y="62"/>
                  </a:lnTo>
                  <a:lnTo>
                    <a:pt x="106" y="56"/>
                  </a:lnTo>
                  <a:lnTo>
                    <a:pt x="104" y="54"/>
                  </a:lnTo>
                  <a:lnTo>
                    <a:pt x="102" y="50"/>
                  </a:lnTo>
                  <a:lnTo>
                    <a:pt x="100" y="42"/>
                  </a:lnTo>
                  <a:lnTo>
                    <a:pt x="104" y="6"/>
                  </a:lnTo>
                  <a:lnTo>
                    <a:pt x="102" y="0"/>
                  </a:lnTo>
                  <a:lnTo>
                    <a:pt x="88" y="14"/>
                  </a:lnTo>
                  <a:lnTo>
                    <a:pt x="80" y="20"/>
                  </a:lnTo>
                  <a:lnTo>
                    <a:pt x="78" y="26"/>
                  </a:lnTo>
                  <a:lnTo>
                    <a:pt x="82" y="36"/>
                  </a:lnTo>
                  <a:lnTo>
                    <a:pt x="82" y="44"/>
                  </a:lnTo>
                  <a:lnTo>
                    <a:pt x="82" y="48"/>
                  </a:lnTo>
                  <a:lnTo>
                    <a:pt x="80" y="54"/>
                  </a:lnTo>
                  <a:lnTo>
                    <a:pt x="76" y="58"/>
                  </a:lnTo>
                  <a:lnTo>
                    <a:pt x="72" y="60"/>
                  </a:lnTo>
                  <a:lnTo>
                    <a:pt x="56" y="66"/>
                  </a:lnTo>
                  <a:lnTo>
                    <a:pt x="52" y="68"/>
                  </a:lnTo>
                  <a:lnTo>
                    <a:pt x="52" y="74"/>
                  </a:lnTo>
                  <a:lnTo>
                    <a:pt x="52" y="96"/>
                  </a:lnTo>
                  <a:lnTo>
                    <a:pt x="54" y="104"/>
                  </a:lnTo>
                  <a:lnTo>
                    <a:pt x="54" y="106"/>
                  </a:lnTo>
                  <a:lnTo>
                    <a:pt x="56" y="108"/>
                  </a:lnTo>
                  <a:lnTo>
                    <a:pt x="64" y="108"/>
                  </a:lnTo>
                  <a:lnTo>
                    <a:pt x="68" y="108"/>
                  </a:lnTo>
                  <a:lnTo>
                    <a:pt x="72" y="106"/>
                  </a:lnTo>
                  <a:lnTo>
                    <a:pt x="76" y="104"/>
                  </a:lnTo>
                  <a:lnTo>
                    <a:pt x="92" y="138"/>
                  </a:lnTo>
                  <a:lnTo>
                    <a:pt x="92" y="140"/>
                  </a:lnTo>
                  <a:lnTo>
                    <a:pt x="88" y="184"/>
                  </a:lnTo>
                  <a:lnTo>
                    <a:pt x="82" y="216"/>
                  </a:lnTo>
                  <a:lnTo>
                    <a:pt x="78" y="238"/>
                  </a:lnTo>
                  <a:lnTo>
                    <a:pt x="72" y="250"/>
                  </a:lnTo>
                  <a:lnTo>
                    <a:pt x="68" y="254"/>
                  </a:lnTo>
                  <a:lnTo>
                    <a:pt x="62" y="256"/>
                  </a:lnTo>
                  <a:lnTo>
                    <a:pt x="54" y="254"/>
                  </a:lnTo>
                  <a:lnTo>
                    <a:pt x="48" y="252"/>
                  </a:lnTo>
                  <a:lnTo>
                    <a:pt x="22" y="298"/>
                  </a:lnTo>
                  <a:lnTo>
                    <a:pt x="12" y="312"/>
                  </a:lnTo>
                  <a:lnTo>
                    <a:pt x="6" y="318"/>
                  </a:lnTo>
                  <a:lnTo>
                    <a:pt x="8" y="318"/>
                  </a:lnTo>
                  <a:lnTo>
                    <a:pt x="6" y="320"/>
                  </a:lnTo>
                  <a:lnTo>
                    <a:pt x="4" y="326"/>
                  </a:lnTo>
                  <a:lnTo>
                    <a:pt x="4" y="348"/>
                  </a:lnTo>
                  <a:lnTo>
                    <a:pt x="8" y="352"/>
                  </a:lnTo>
                  <a:lnTo>
                    <a:pt x="10" y="352"/>
                  </a:lnTo>
                  <a:lnTo>
                    <a:pt x="12" y="354"/>
                  </a:lnTo>
                  <a:lnTo>
                    <a:pt x="4" y="364"/>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29" name="贵州"/>
            <p:cNvSpPr/>
            <p:nvPr/>
          </p:nvSpPr>
          <p:spPr bwMode="auto">
            <a:xfrm>
              <a:off x="7942650" y="199840"/>
              <a:ext cx="536741" cy="458372"/>
            </a:xfrm>
            <a:custGeom>
              <a:avLst/>
              <a:gdLst>
                <a:gd name="T0" fmla="*/ 2147483646 w 384"/>
                <a:gd name="T1" fmla="*/ 2147483646 h 332"/>
                <a:gd name="T2" fmla="*/ 2147483646 w 384"/>
                <a:gd name="T3" fmla="*/ 2147483646 h 332"/>
                <a:gd name="T4" fmla="*/ 2147483646 w 384"/>
                <a:gd name="T5" fmla="*/ 2147483646 h 332"/>
                <a:gd name="T6" fmla="*/ 2147483646 w 384"/>
                <a:gd name="T7" fmla="*/ 2147483646 h 332"/>
                <a:gd name="T8" fmla="*/ 2147483646 w 384"/>
                <a:gd name="T9" fmla="*/ 2147483646 h 332"/>
                <a:gd name="T10" fmla="*/ 2147483646 w 384"/>
                <a:gd name="T11" fmla="*/ 2147483646 h 332"/>
                <a:gd name="T12" fmla="*/ 2147483646 w 384"/>
                <a:gd name="T13" fmla="*/ 2147483646 h 332"/>
                <a:gd name="T14" fmla="*/ 2147483646 w 384"/>
                <a:gd name="T15" fmla="*/ 2147483646 h 332"/>
                <a:gd name="T16" fmla="*/ 2147483646 w 384"/>
                <a:gd name="T17" fmla="*/ 2147483646 h 332"/>
                <a:gd name="T18" fmla="*/ 2147483646 w 384"/>
                <a:gd name="T19" fmla="*/ 2147483646 h 332"/>
                <a:gd name="T20" fmla="*/ 2147483646 w 384"/>
                <a:gd name="T21" fmla="*/ 2147483646 h 332"/>
                <a:gd name="T22" fmla="*/ 2147483646 w 384"/>
                <a:gd name="T23" fmla="*/ 2147483646 h 332"/>
                <a:gd name="T24" fmla="*/ 2147483646 w 384"/>
                <a:gd name="T25" fmla="*/ 2147483646 h 332"/>
                <a:gd name="T26" fmla="*/ 2147483646 w 384"/>
                <a:gd name="T27" fmla="*/ 2147483646 h 332"/>
                <a:gd name="T28" fmla="*/ 2147483646 w 384"/>
                <a:gd name="T29" fmla="*/ 2147483646 h 332"/>
                <a:gd name="T30" fmla="*/ 2147483646 w 384"/>
                <a:gd name="T31" fmla="*/ 2147483646 h 332"/>
                <a:gd name="T32" fmla="*/ 2147483646 w 384"/>
                <a:gd name="T33" fmla="*/ 2147483646 h 332"/>
                <a:gd name="T34" fmla="*/ 2147483646 w 384"/>
                <a:gd name="T35" fmla="*/ 2147483646 h 332"/>
                <a:gd name="T36" fmla="*/ 2147483646 w 384"/>
                <a:gd name="T37" fmla="*/ 2147483646 h 332"/>
                <a:gd name="T38" fmla="*/ 2147483646 w 384"/>
                <a:gd name="T39" fmla="*/ 2147483646 h 332"/>
                <a:gd name="T40" fmla="*/ 2147483646 w 384"/>
                <a:gd name="T41" fmla="*/ 2147483646 h 332"/>
                <a:gd name="T42" fmla="*/ 0 w 384"/>
                <a:gd name="T43" fmla="*/ 2147483646 h 332"/>
                <a:gd name="T44" fmla="*/ 2147483646 w 384"/>
                <a:gd name="T45" fmla="*/ 2147483646 h 332"/>
                <a:gd name="T46" fmla="*/ 2147483646 w 384"/>
                <a:gd name="T47" fmla="*/ 2147483646 h 332"/>
                <a:gd name="T48" fmla="*/ 2147483646 w 384"/>
                <a:gd name="T49" fmla="*/ 2147483646 h 332"/>
                <a:gd name="T50" fmla="*/ 2147483646 w 384"/>
                <a:gd name="T51" fmla="*/ 2147483646 h 332"/>
                <a:gd name="T52" fmla="*/ 2147483646 w 384"/>
                <a:gd name="T53" fmla="*/ 2147483646 h 332"/>
                <a:gd name="T54" fmla="*/ 2147483646 w 384"/>
                <a:gd name="T55" fmla="*/ 2147483646 h 332"/>
                <a:gd name="T56" fmla="*/ 2147483646 w 384"/>
                <a:gd name="T57" fmla="*/ 2147483646 h 332"/>
                <a:gd name="T58" fmla="*/ 2147483646 w 384"/>
                <a:gd name="T59" fmla="*/ 2147483646 h 332"/>
                <a:gd name="T60" fmla="*/ 2147483646 w 384"/>
                <a:gd name="T61" fmla="*/ 2147483646 h 332"/>
                <a:gd name="T62" fmla="*/ 2147483646 w 384"/>
                <a:gd name="T63" fmla="*/ 2147483646 h 332"/>
                <a:gd name="T64" fmla="*/ 2147483646 w 384"/>
                <a:gd name="T65" fmla="*/ 2147483646 h 332"/>
                <a:gd name="T66" fmla="*/ 2147483646 w 384"/>
                <a:gd name="T67" fmla="*/ 2147483646 h 332"/>
                <a:gd name="T68" fmla="*/ 2147483646 w 384"/>
                <a:gd name="T69" fmla="*/ 2147483646 h 332"/>
                <a:gd name="T70" fmla="*/ 2147483646 w 384"/>
                <a:gd name="T71" fmla="*/ 2147483646 h 332"/>
                <a:gd name="T72" fmla="*/ 2147483646 w 384"/>
                <a:gd name="T73" fmla="*/ 2147483646 h 332"/>
                <a:gd name="T74" fmla="*/ 2147483646 w 384"/>
                <a:gd name="T75" fmla="*/ 2147483646 h 332"/>
                <a:gd name="T76" fmla="*/ 2147483646 w 384"/>
                <a:gd name="T77" fmla="*/ 2147483646 h 332"/>
                <a:gd name="T78" fmla="*/ 2147483646 w 384"/>
                <a:gd name="T79" fmla="*/ 2147483646 h 332"/>
                <a:gd name="T80" fmla="*/ 2147483646 w 384"/>
                <a:gd name="T81" fmla="*/ 2147483646 h 332"/>
                <a:gd name="T82" fmla="*/ 2147483646 w 384"/>
                <a:gd name="T83" fmla="*/ 2147483646 h 332"/>
                <a:gd name="T84" fmla="*/ 2147483646 w 384"/>
                <a:gd name="T85" fmla="*/ 2147483646 h 332"/>
                <a:gd name="T86" fmla="*/ 2147483646 w 384"/>
                <a:gd name="T87" fmla="*/ 2147483646 h 332"/>
                <a:gd name="T88" fmla="*/ 2147483646 w 384"/>
                <a:gd name="T89" fmla="*/ 2147483646 h 332"/>
                <a:gd name="T90" fmla="*/ 2147483646 w 384"/>
                <a:gd name="T91" fmla="*/ 2147483646 h 332"/>
                <a:gd name="T92" fmla="*/ 2147483646 w 384"/>
                <a:gd name="T93" fmla="*/ 2147483646 h 332"/>
                <a:gd name="T94" fmla="*/ 2147483646 w 384"/>
                <a:gd name="T95" fmla="*/ 2147483646 h 332"/>
                <a:gd name="T96" fmla="*/ 2147483646 w 384"/>
                <a:gd name="T97" fmla="*/ 2147483646 h 332"/>
                <a:gd name="T98" fmla="*/ 2147483646 w 384"/>
                <a:gd name="T99" fmla="*/ 2147483646 h 332"/>
                <a:gd name="T100" fmla="*/ 2147483646 w 384"/>
                <a:gd name="T101" fmla="*/ 2147483646 h 332"/>
                <a:gd name="T102" fmla="*/ 2147483646 w 384"/>
                <a:gd name="T103" fmla="*/ 2147483646 h 332"/>
                <a:gd name="T104" fmla="*/ 2147483646 w 384"/>
                <a:gd name="T105" fmla="*/ 2147483646 h 332"/>
                <a:gd name="T106" fmla="*/ 2147483646 w 384"/>
                <a:gd name="T107" fmla="*/ 2147483646 h 332"/>
                <a:gd name="T108" fmla="*/ 2147483646 w 384"/>
                <a:gd name="T109" fmla="*/ 2147483646 h 332"/>
                <a:gd name="T110" fmla="*/ 2147483646 w 384"/>
                <a:gd name="T111" fmla="*/ 2147483646 h 332"/>
                <a:gd name="T112" fmla="*/ 2147483646 w 384"/>
                <a:gd name="T113" fmla="*/ 2147483646 h 332"/>
                <a:gd name="T114" fmla="*/ 2147483646 w 384"/>
                <a:gd name="T115" fmla="*/ 2147483646 h 332"/>
                <a:gd name="T116" fmla="*/ 2147483646 w 384"/>
                <a:gd name="T117" fmla="*/ 2147483646 h 33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84" h="332">
                  <a:moveTo>
                    <a:pt x="300" y="6"/>
                  </a:moveTo>
                  <a:lnTo>
                    <a:pt x="296" y="4"/>
                  </a:lnTo>
                  <a:lnTo>
                    <a:pt x="288" y="8"/>
                  </a:lnTo>
                  <a:lnTo>
                    <a:pt x="284" y="14"/>
                  </a:lnTo>
                  <a:lnTo>
                    <a:pt x="280" y="22"/>
                  </a:lnTo>
                  <a:lnTo>
                    <a:pt x="276" y="24"/>
                  </a:lnTo>
                  <a:lnTo>
                    <a:pt x="272" y="26"/>
                  </a:lnTo>
                  <a:lnTo>
                    <a:pt x="268" y="24"/>
                  </a:lnTo>
                  <a:lnTo>
                    <a:pt x="264" y="20"/>
                  </a:lnTo>
                  <a:lnTo>
                    <a:pt x="262" y="20"/>
                  </a:lnTo>
                  <a:lnTo>
                    <a:pt x="260" y="12"/>
                  </a:lnTo>
                  <a:lnTo>
                    <a:pt x="260" y="10"/>
                  </a:lnTo>
                  <a:lnTo>
                    <a:pt x="258" y="0"/>
                  </a:lnTo>
                  <a:lnTo>
                    <a:pt x="254" y="0"/>
                  </a:lnTo>
                  <a:lnTo>
                    <a:pt x="252" y="0"/>
                  </a:lnTo>
                  <a:lnTo>
                    <a:pt x="250" y="8"/>
                  </a:lnTo>
                  <a:lnTo>
                    <a:pt x="250" y="20"/>
                  </a:lnTo>
                  <a:lnTo>
                    <a:pt x="248" y="20"/>
                  </a:lnTo>
                  <a:lnTo>
                    <a:pt x="240" y="34"/>
                  </a:lnTo>
                  <a:lnTo>
                    <a:pt x="238" y="36"/>
                  </a:lnTo>
                  <a:lnTo>
                    <a:pt x="236" y="36"/>
                  </a:lnTo>
                  <a:lnTo>
                    <a:pt x="216" y="34"/>
                  </a:lnTo>
                  <a:lnTo>
                    <a:pt x="216" y="36"/>
                  </a:lnTo>
                  <a:lnTo>
                    <a:pt x="208" y="44"/>
                  </a:lnTo>
                  <a:lnTo>
                    <a:pt x="212" y="50"/>
                  </a:lnTo>
                  <a:lnTo>
                    <a:pt x="206" y="58"/>
                  </a:lnTo>
                  <a:lnTo>
                    <a:pt x="188" y="58"/>
                  </a:lnTo>
                  <a:lnTo>
                    <a:pt x="188" y="56"/>
                  </a:lnTo>
                  <a:lnTo>
                    <a:pt x="188" y="54"/>
                  </a:lnTo>
                  <a:lnTo>
                    <a:pt x="184" y="52"/>
                  </a:lnTo>
                  <a:lnTo>
                    <a:pt x="182" y="58"/>
                  </a:lnTo>
                  <a:lnTo>
                    <a:pt x="180" y="60"/>
                  </a:lnTo>
                  <a:lnTo>
                    <a:pt x="168" y="60"/>
                  </a:lnTo>
                  <a:lnTo>
                    <a:pt x="160" y="54"/>
                  </a:lnTo>
                  <a:lnTo>
                    <a:pt x="160" y="52"/>
                  </a:lnTo>
                  <a:lnTo>
                    <a:pt x="160" y="50"/>
                  </a:lnTo>
                  <a:lnTo>
                    <a:pt x="146" y="48"/>
                  </a:lnTo>
                  <a:lnTo>
                    <a:pt x="136" y="52"/>
                  </a:lnTo>
                  <a:lnTo>
                    <a:pt x="132" y="56"/>
                  </a:lnTo>
                  <a:lnTo>
                    <a:pt x="148" y="74"/>
                  </a:lnTo>
                  <a:lnTo>
                    <a:pt x="168" y="80"/>
                  </a:lnTo>
                  <a:lnTo>
                    <a:pt x="170" y="82"/>
                  </a:lnTo>
                  <a:lnTo>
                    <a:pt x="180" y="92"/>
                  </a:lnTo>
                  <a:lnTo>
                    <a:pt x="176" y="108"/>
                  </a:lnTo>
                  <a:lnTo>
                    <a:pt x="176" y="110"/>
                  </a:lnTo>
                  <a:lnTo>
                    <a:pt x="162" y="120"/>
                  </a:lnTo>
                  <a:lnTo>
                    <a:pt x="162" y="122"/>
                  </a:lnTo>
                  <a:lnTo>
                    <a:pt x="160" y="122"/>
                  </a:lnTo>
                  <a:lnTo>
                    <a:pt x="138" y="128"/>
                  </a:lnTo>
                  <a:lnTo>
                    <a:pt x="124" y="130"/>
                  </a:lnTo>
                  <a:lnTo>
                    <a:pt x="114" y="126"/>
                  </a:lnTo>
                  <a:lnTo>
                    <a:pt x="110" y="126"/>
                  </a:lnTo>
                  <a:lnTo>
                    <a:pt x="104" y="134"/>
                  </a:lnTo>
                  <a:lnTo>
                    <a:pt x="94" y="142"/>
                  </a:lnTo>
                  <a:lnTo>
                    <a:pt x="92" y="142"/>
                  </a:lnTo>
                  <a:lnTo>
                    <a:pt x="78" y="148"/>
                  </a:lnTo>
                  <a:lnTo>
                    <a:pt x="60" y="142"/>
                  </a:lnTo>
                  <a:lnTo>
                    <a:pt x="24" y="144"/>
                  </a:lnTo>
                  <a:lnTo>
                    <a:pt x="16" y="146"/>
                  </a:lnTo>
                  <a:lnTo>
                    <a:pt x="16" y="148"/>
                  </a:lnTo>
                  <a:lnTo>
                    <a:pt x="8" y="148"/>
                  </a:lnTo>
                  <a:lnTo>
                    <a:pt x="0" y="160"/>
                  </a:lnTo>
                  <a:lnTo>
                    <a:pt x="0" y="172"/>
                  </a:lnTo>
                  <a:lnTo>
                    <a:pt x="8" y="192"/>
                  </a:lnTo>
                  <a:lnTo>
                    <a:pt x="18" y="196"/>
                  </a:lnTo>
                  <a:lnTo>
                    <a:pt x="22" y="200"/>
                  </a:lnTo>
                  <a:lnTo>
                    <a:pt x="28" y="192"/>
                  </a:lnTo>
                  <a:lnTo>
                    <a:pt x="28" y="190"/>
                  </a:lnTo>
                  <a:lnTo>
                    <a:pt x="30" y="190"/>
                  </a:lnTo>
                  <a:lnTo>
                    <a:pt x="42" y="188"/>
                  </a:lnTo>
                  <a:lnTo>
                    <a:pt x="44" y="188"/>
                  </a:lnTo>
                  <a:lnTo>
                    <a:pt x="56" y="192"/>
                  </a:lnTo>
                  <a:lnTo>
                    <a:pt x="68" y="220"/>
                  </a:lnTo>
                  <a:lnTo>
                    <a:pt x="66" y="220"/>
                  </a:lnTo>
                  <a:lnTo>
                    <a:pt x="62" y="236"/>
                  </a:lnTo>
                  <a:lnTo>
                    <a:pt x="58" y="244"/>
                  </a:lnTo>
                  <a:lnTo>
                    <a:pt x="58" y="246"/>
                  </a:lnTo>
                  <a:lnTo>
                    <a:pt x="52" y="260"/>
                  </a:lnTo>
                  <a:lnTo>
                    <a:pt x="52" y="276"/>
                  </a:lnTo>
                  <a:lnTo>
                    <a:pt x="62" y="286"/>
                  </a:lnTo>
                  <a:lnTo>
                    <a:pt x="76" y="296"/>
                  </a:lnTo>
                  <a:lnTo>
                    <a:pt x="76" y="298"/>
                  </a:lnTo>
                  <a:lnTo>
                    <a:pt x="78" y="298"/>
                  </a:lnTo>
                  <a:lnTo>
                    <a:pt x="68" y="320"/>
                  </a:lnTo>
                  <a:lnTo>
                    <a:pt x="66" y="332"/>
                  </a:lnTo>
                  <a:lnTo>
                    <a:pt x="68" y="330"/>
                  </a:lnTo>
                  <a:lnTo>
                    <a:pt x="70" y="330"/>
                  </a:lnTo>
                  <a:lnTo>
                    <a:pt x="78" y="326"/>
                  </a:lnTo>
                  <a:lnTo>
                    <a:pt x="92" y="318"/>
                  </a:lnTo>
                  <a:lnTo>
                    <a:pt x="108" y="320"/>
                  </a:lnTo>
                  <a:lnTo>
                    <a:pt x="110" y="320"/>
                  </a:lnTo>
                  <a:lnTo>
                    <a:pt x="134" y="330"/>
                  </a:lnTo>
                  <a:lnTo>
                    <a:pt x="160" y="330"/>
                  </a:lnTo>
                  <a:lnTo>
                    <a:pt x="168" y="320"/>
                  </a:lnTo>
                  <a:lnTo>
                    <a:pt x="182" y="312"/>
                  </a:lnTo>
                  <a:lnTo>
                    <a:pt x="196" y="302"/>
                  </a:lnTo>
                  <a:lnTo>
                    <a:pt x="196" y="300"/>
                  </a:lnTo>
                  <a:lnTo>
                    <a:pt x="206" y="298"/>
                  </a:lnTo>
                  <a:lnTo>
                    <a:pt x="216" y="290"/>
                  </a:lnTo>
                  <a:lnTo>
                    <a:pt x="228" y="274"/>
                  </a:lnTo>
                  <a:lnTo>
                    <a:pt x="246" y="280"/>
                  </a:lnTo>
                  <a:lnTo>
                    <a:pt x="248" y="280"/>
                  </a:lnTo>
                  <a:lnTo>
                    <a:pt x="248" y="282"/>
                  </a:lnTo>
                  <a:lnTo>
                    <a:pt x="252" y="290"/>
                  </a:lnTo>
                  <a:lnTo>
                    <a:pt x="256" y="292"/>
                  </a:lnTo>
                  <a:lnTo>
                    <a:pt x="266" y="292"/>
                  </a:lnTo>
                  <a:lnTo>
                    <a:pt x="268" y="292"/>
                  </a:lnTo>
                  <a:lnTo>
                    <a:pt x="274" y="292"/>
                  </a:lnTo>
                  <a:lnTo>
                    <a:pt x="276" y="292"/>
                  </a:lnTo>
                  <a:lnTo>
                    <a:pt x="276" y="294"/>
                  </a:lnTo>
                  <a:lnTo>
                    <a:pt x="288" y="298"/>
                  </a:lnTo>
                  <a:lnTo>
                    <a:pt x="292" y="298"/>
                  </a:lnTo>
                  <a:lnTo>
                    <a:pt x="294" y="296"/>
                  </a:lnTo>
                  <a:lnTo>
                    <a:pt x="296" y="290"/>
                  </a:lnTo>
                  <a:lnTo>
                    <a:pt x="296" y="288"/>
                  </a:lnTo>
                  <a:lnTo>
                    <a:pt x="302" y="284"/>
                  </a:lnTo>
                  <a:lnTo>
                    <a:pt x="312" y="276"/>
                  </a:lnTo>
                  <a:lnTo>
                    <a:pt x="314" y="276"/>
                  </a:lnTo>
                  <a:lnTo>
                    <a:pt x="322" y="276"/>
                  </a:lnTo>
                  <a:lnTo>
                    <a:pt x="324" y="268"/>
                  </a:lnTo>
                  <a:lnTo>
                    <a:pt x="330" y="262"/>
                  </a:lnTo>
                  <a:lnTo>
                    <a:pt x="336" y="258"/>
                  </a:lnTo>
                  <a:lnTo>
                    <a:pt x="342" y="256"/>
                  </a:lnTo>
                  <a:lnTo>
                    <a:pt x="346" y="252"/>
                  </a:lnTo>
                  <a:lnTo>
                    <a:pt x="348" y="252"/>
                  </a:lnTo>
                  <a:lnTo>
                    <a:pt x="352" y="248"/>
                  </a:lnTo>
                  <a:lnTo>
                    <a:pt x="352" y="246"/>
                  </a:lnTo>
                  <a:lnTo>
                    <a:pt x="354" y="246"/>
                  </a:lnTo>
                  <a:lnTo>
                    <a:pt x="366" y="244"/>
                  </a:lnTo>
                  <a:lnTo>
                    <a:pt x="374" y="244"/>
                  </a:lnTo>
                  <a:lnTo>
                    <a:pt x="376" y="240"/>
                  </a:lnTo>
                  <a:lnTo>
                    <a:pt x="380" y="236"/>
                  </a:lnTo>
                  <a:lnTo>
                    <a:pt x="384" y="228"/>
                  </a:lnTo>
                  <a:lnTo>
                    <a:pt x="382" y="228"/>
                  </a:lnTo>
                  <a:lnTo>
                    <a:pt x="376" y="218"/>
                  </a:lnTo>
                  <a:lnTo>
                    <a:pt x="372" y="206"/>
                  </a:lnTo>
                  <a:lnTo>
                    <a:pt x="372" y="204"/>
                  </a:lnTo>
                  <a:lnTo>
                    <a:pt x="376" y="188"/>
                  </a:lnTo>
                  <a:lnTo>
                    <a:pt x="376" y="180"/>
                  </a:lnTo>
                  <a:lnTo>
                    <a:pt x="380" y="174"/>
                  </a:lnTo>
                  <a:lnTo>
                    <a:pt x="380" y="160"/>
                  </a:lnTo>
                  <a:lnTo>
                    <a:pt x="378" y="158"/>
                  </a:lnTo>
                  <a:lnTo>
                    <a:pt x="372" y="156"/>
                  </a:lnTo>
                  <a:lnTo>
                    <a:pt x="348" y="166"/>
                  </a:lnTo>
                  <a:lnTo>
                    <a:pt x="348" y="140"/>
                  </a:lnTo>
                  <a:lnTo>
                    <a:pt x="350" y="136"/>
                  </a:lnTo>
                  <a:lnTo>
                    <a:pt x="356" y="132"/>
                  </a:lnTo>
                  <a:lnTo>
                    <a:pt x="372" y="120"/>
                  </a:lnTo>
                  <a:lnTo>
                    <a:pt x="366" y="92"/>
                  </a:lnTo>
                  <a:lnTo>
                    <a:pt x="366" y="84"/>
                  </a:lnTo>
                  <a:lnTo>
                    <a:pt x="366" y="78"/>
                  </a:lnTo>
                  <a:lnTo>
                    <a:pt x="368" y="74"/>
                  </a:lnTo>
                  <a:lnTo>
                    <a:pt x="372" y="68"/>
                  </a:lnTo>
                  <a:lnTo>
                    <a:pt x="372" y="64"/>
                  </a:lnTo>
                  <a:lnTo>
                    <a:pt x="364" y="64"/>
                  </a:lnTo>
                  <a:lnTo>
                    <a:pt x="360" y="64"/>
                  </a:lnTo>
                  <a:lnTo>
                    <a:pt x="356" y="76"/>
                  </a:lnTo>
                  <a:lnTo>
                    <a:pt x="352" y="80"/>
                  </a:lnTo>
                  <a:lnTo>
                    <a:pt x="348" y="82"/>
                  </a:lnTo>
                  <a:lnTo>
                    <a:pt x="346" y="82"/>
                  </a:lnTo>
                  <a:lnTo>
                    <a:pt x="338" y="76"/>
                  </a:lnTo>
                  <a:lnTo>
                    <a:pt x="336" y="76"/>
                  </a:lnTo>
                  <a:lnTo>
                    <a:pt x="336" y="74"/>
                  </a:lnTo>
                  <a:lnTo>
                    <a:pt x="334" y="68"/>
                  </a:lnTo>
                  <a:lnTo>
                    <a:pt x="332" y="60"/>
                  </a:lnTo>
                  <a:lnTo>
                    <a:pt x="332" y="64"/>
                  </a:lnTo>
                  <a:lnTo>
                    <a:pt x="316" y="64"/>
                  </a:lnTo>
                  <a:lnTo>
                    <a:pt x="316" y="60"/>
                  </a:lnTo>
                  <a:lnTo>
                    <a:pt x="312" y="52"/>
                  </a:lnTo>
                  <a:lnTo>
                    <a:pt x="312" y="40"/>
                  </a:lnTo>
                  <a:lnTo>
                    <a:pt x="304" y="24"/>
                  </a:lnTo>
                  <a:lnTo>
                    <a:pt x="304" y="12"/>
                  </a:lnTo>
                  <a:lnTo>
                    <a:pt x="300" y="6"/>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30" name="广西"/>
            <p:cNvSpPr/>
            <p:nvPr/>
          </p:nvSpPr>
          <p:spPr bwMode="auto">
            <a:xfrm>
              <a:off x="8029311" y="481491"/>
              <a:ext cx="701677" cy="527404"/>
            </a:xfrm>
            <a:custGeom>
              <a:avLst/>
              <a:gdLst>
                <a:gd name="T0" fmla="*/ 2147483646 w 502"/>
                <a:gd name="T1" fmla="*/ 2147483646 h 382"/>
                <a:gd name="T2" fmla="*/ 2147483646 w 502"/>
                <a:gd name="T3" fmla="*/ 2147483646 h 382"/>
                <a:gd name="T4" fmla="*/ 2147483646 w 502"/>
                <a:gd name="T5" fmla="*/ 2147483646 h 382"/>
                <a:gd name="T6" fmla="*/ 2147483646 w 502"/>
                <a:gd name="T7" fmla="*/ 2147483646 h 382"/>
                <a:gd name="T8" fmla="*/ 2147483646 w 502"/>
                <a:gd name="T9" fmla="*/ 2147483646 h 382"/>
                <a:gd name="T10" fmla="*/ 2147483646 w 502"/>
                <a:gd name="T11" fmla="*/ 2147483646 h 382"/>
                <a:gd name="T12" fmla="*/ 2147483646 w 502"/>
                <a:gd name="T13" fmla="*/ 2147483646 h 382"/>
                <a:gd name="T14" fmla="*/ 2147483646 w 502"/>
                <a:gd name="T15" fmla="*/ 2147483646 h 382"/>
                <a:gd name="T16" fmla="*/ 2147483646 w 502"/>
                <a:gd name="T17" fmla="*/ 2147483646 h 382"/>
                <a:gd name="T18" fmla="*/ 2147483646 w 502"/>
                <a:gd name="T19" fmla="*/ 2147483646 h 382"/>
                <a:gd name="T20" fmla="*/ 2147483646 w 502"/>
                <a:gd name="T21" fmla="*/ 2147483646 h 382"/>
                <a:gd name="T22" fmla="*/ 2147483646 w 502"/>
                <a:gd name="T23" fmla="*/ 2147483646 h 382"/>
                <a:gd name="T24" fmla="*/ 2147483646 w 502"/>
                <a:gd name="T25" fmla="*/ 2147483646 h 382"/>
                <a:gd name="T26" fmla="*/ 2147483646 w 502"/>
                <a:gd name="T27" fmla="*/ 2147483646 h 382"/>
                <a:gd name="T28" fmla="*/ 2147483646 w 502"/>
                <a:gd name="T29" fmla="*/ 2147483646 h 382"/>
                <a:gd name="T30" fmla="*/ 2147483646 w 502"/>
                <a:gd name="T31" fmla="*/ 2147483646 h 382"/>
                <a:gd name="T32" fmla="*/ 2147483646 w 502"/>
                <a:gd name="T33" fmla="*/ 2147483646 h 382"/>
                <a:gd name="T34" fmla="*/ 2147483646 w 502"/>
                <a:gd name="T35" fmla="*/ 2147483646 h 382"/>
                <a:gd name="T36" fmla="*/ 2147483646 w 502"/>
                <a:gd name="T37" fmla="*/ 2147483646 h 382"/>
                <a:gd name="T38" fmla="*/ 2147483646 w 502"/>
                <a:gd name="T39" fmla="*/ 2147483646 h 382"/>
                <a:gd name="T40" fmla="*/ 2147483646 w 502"/>
                <a:gd name="T41" fmla="*/ 2147483646 h 382"/>
                <a:gd name="T42" fmla="*/ 2147483646 w 502"/>
                <a:gd name="T43" fmla="*/ 2147483646 h 382"/>
                <a:gd name="T44" fmla="*/ 2147483646 w 502"/>
                <a:gd name="T45" fmla="*/ 2147483646 h 382"/>
                <a:gd name="T46" fmla="*/ 2147483646 w 502"/>
                <a:gd name="T47" fmla="*/ 2147483646 h 382"/>
                <a:gd name="T48" fmla="*/ 2147483646 w 502"/>
                <a:gd name="T49" fmla="*/ 2147483646 h 382"/>
                <a:gd name="T50" fmla="*/ 2147483646 w 502"/>
                <a:gd name="T51" fmla="*/ 2147483646 h 382"/>
                <a:gd name="T52" fmla="*/ 2147483646 w 502"/>
                <a:gd name="T53" fmla="*/ 2147483646 h 382"/>
                <a:gd name="T54" fmla="*/ 2147483646 w 502"/>
                <a:gd name="T55" fmla="*/ 2147483646 h 382"/>
                <a:gd name="T56" fmla="*/ 2147483646 w 502"/>
                <a:gd name="T57" fmla="*/ 2147483646 h 382"/>
                <a:gd name="T58" fmla="*/ 2147483646 w 502"/>
                <a:gd name="T59" fmla="*/ 2147483646 h 382"/>
                <a:gd name="T60" fmla="*/ 2147483646 w 502"/>
                <a:gd name="T61" fmla="*/ 2147483646 h 382"/>
                <a:gd name="T62" fmla="*/ 2147483646 w 502"/>
                <a:gd name="T63" fmla="*/ 2147483646 h 382"/>
                <a:gd name="T64" fmla="*/ 2147483646 w 502"/>
                <a:gd name="T65" fmla="*/ 2147483646 h 382"/>
                <a:gd name="T66" fmla="*/ 2147483646 w 502"/>
                <a:gd name="T67" fmla="*/ 2147483646 h 382"/>
                <a:gd name="T68" fmla="*/ 2147483646 w 502"/>
                <a:gd name="T69" fmla="*/ 2147483646 h 382"/>
                <a:gd name="T70" fmla="*/ 2147483646 w 502"/>
                <a:gd name="T71" fmla="*/ 2147483646 h 382"/>
                <a:gd name="T72" fmla="*/ 2147483646 w 502"/>
                <a:gd name="T73" fmla="*/ 2147483646 h 382"/>
                <a:gd name="T74" fmla="*/ 2147483646 w 502"/>
                <a:gd name="T75" fmla="*/ 2147483646 h 382"/>
                <a:gd name="T76" fmla="*/ 2147483646 w 502"/>
                <a:gd name="T77" fmla="*/ 2147483646 h 382"/>
                <a:gd name="T78" fmla="*/ 2147483646 w 502"/>
                <a:gd name="T79" fmla="*/ 2147483646 h 382"/>
                <a:gd name="T80" fmla="*/ 2147483646 w 502"/>
                <a:gd name="T81" fmla="*/ 2147483646 h 382"/>
                <a:gd name="T82" fmla="*/ 2147483646 w 502"/>
                <a:gd name="T83" fmla="*/ 2147483646 h 382"/>
                <a:gd name="T84" fmla="*/ 2147483646 w 502"/>
                <a:gd name="T85" fmla="*/ 2147483646 h 382"/>
                <a:gd name="T86" fmla="*/ 2147483646 w 502"/>
                <a:gd name="T87" fmla="*/ 2147483646 h 382"/>
                <a:gd name="T88" fmla="*/ 2147483646 w 502"/>
                <a:gd name="T89" fmla="*/ 2147483646 h 382"/>
                <a:gd name="T90" fmla="*/ 2147483646 w 502"/>
                <a:gd name="T91" fmla="*/ 2147483646 h 382"/>
                <a:gd name="T92" fmla="*/ 2147483646 w 502"/>
                <a:gd name="T93" fmla="*/ 2147483646 h 382"/>
                <a:gd name="T94" fmla="*/ 2147483646 w 502"/>
                <a:gd name="T95" fmla="*/ 2147483646 h 382"/>
                <a:gd name="T96" fmla="*/ 2147483646 w 502"/>
                <a:gd name="T97" fmla="*/ 2147483646 h 382"/>
                <a:gd name="T98" fmla="*/ 2147483646 w 502"/>
                <a:gd name="T99" fmla="*/ 2147483646 h 382"/>
                <a:gd name="T100" fmla="*/ 2147483646 w 502"/>
                <a:gd name="T101" fmla="*/ 2147483646 h 382"/>
                <a:gd name="T102" fmla="*/ 2147483646 w 502"/>
                <a:gd name="T103" fmla="*/ 2147483646 h 382"/>
                <a:gd name="T104" fmla="*/ 2147483646 w 502"/>
                <a:gd name="T105" fmla="*/ 2147483646 h 382"/>
                <a:gd name="T106" fmla="*/ 2147483646 w 502"/>
                <a:gd name="T107" fmla="*/ 2147483646 h 382"/>
                <a:gd name="T108" fmla="*/ 2147483646 w 502"/>
                <a:gd name="T109" fmla="*/ 2147483646 h 382"/>
                <a:gd name="T110" fmla="*/ 2147483646 w 502"/>
                <a:gd name="T111" fmla="*/ 2147483646 h 38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02" h="382">
                  <a:moveTo>
                    <a:pt x="402" y="8"/>
                  </a:moveTo>
                  <a:lnTo>
                    <a:pt x="402" y="10"/>
                  </a:lnTo>
                  <a:lnTo>
                    <a:pt x="404" y="12"/>
                  </a:lnTo>
                  <a:lnTo>
                    <a:pt x="394" y="28"/>
                  </a:lnTo>
                  <a:lnTo>
                    <a:pt x="386" y="34"/>
                  </a:lnTo>
                  <a:lnTo>
                    <a:pt x="378" y="36"/>
                  </a:lnTo>
                  <a:lnTo>
                    <a:pt x="376" y="36"/>
                  </a:lnTo>
                  <a:lnTo>
                    <a:pt x="368" y="30"/>
                  </a:lnTo>
                  <a:lnTo>
                    <a:pt x="360" y="32"/>
                  </a:lnTo>
                  <a:lnTo>
                    <a:pt x="344" y="44"/>
                  </a:lnTo>
                  <a:lnTo>
                    <a:pt x="340" y="44"/>
                  </a:lnTo>
                  <a:lnTo>
                    <a:pt x="336" y="42"/>
                  </a:lnTo>
                  <a:lnTo>
                    <a:pt x="328" y="32"/>
                  </a:lnTo>
                  <a:lnTo>
                    <a:pt x="322" y="42"/>
                  </a:lnTo>
                  <a:lnTo>
                    <a:pt x="316" y="48"/>
                  </a:lnTo>
                  <a:lnTo>
                    <a:pt x="306" y="48"/>
                  </a:lnTo>
                  <a:lnTo>
                    <a:pt x="294" y="52"/>
                  </a:lnTo>
                  <a:lnTo>
                    <a:pt x="282" y="60"/>
                  </a:lnTo>
                  <a:lnTo>
                    <a:pt x="278" y="60"/>
                  </a:lnTo>
                  <a:lnTo>
                    <a:pt x="274" y="64"/>
                  </a:lnTo>
                  <a:lnTo>
                    <a:pt x="270" y="70"/>
                  </a:lnTo>
                  <a:lnTo>
                    <a:pt x="270" y="72"/>
                  </a:lnTo>
                  <a:lnTo>
                    <a:pt x="270" y="74"/>
                  </a:lnTo>
                  <a:lnTo>
                    <a:pt x="276" y="82"/>
                  </a:lnTo>
                  <a:lnTo>
                    <a:pt x="254" y="80"/>
                  </a:lnTo>
                  <a:lnTo>
                    <a:pt x="242" y="90"/>
                  </a:lnTo>
                  <a:lnTo>
                    <a:pt x="240" y="94"/>
                  </a:lnTo>
                  <a:lnTo>
                    <a:pt x="238" y="100"/>
                  </a:lnTo>
                  <a:lnTo>
                    <a:pt x="236" y="102"/>
                  </a:lnTo>
                  <a:lnTo>
                    <a:pt x="224" y="102"/>
                  </a:lnTo>
                  <a:lnTo>
                    <a:pt x="210" y="96"/>
                  </a:lnTo>
                  <a:lnTo>
                    <a:pt x="206" y="96"/>
                  </a:lnTo>
                  <a:lnTo>
                    <a:pt x="194" y="98"/>
                  </a:lnTo>
                  <a:lnTo>
                    <a:pt x="190" y="96"/>
                  </a:lnTo>
                  <a:lnTo>
                    <a:pt x="186" y="94"/>
                  </a:lnTo>
                  <a:lnTo>
                    <a:pt x="178" y="84"/>
                  </a:lnTo>
                  <a:lnTo>
                    <a:pt x="170" y="80"/>
                  </a:lnTo>
                  <a:lnTo>
                    <a:pt x="162" y="92"/>
                  </a:lnTo>
                  <a:lnTo>
                    <a:pt x="160" y="92"/>
                  </a:lnTo>
                  <a:lnTo>
                    <a:pt x="150" y="100"/>
                  </a:lnTo>
                  <a:lnTo>
                    <a:pt x="148" y="100"/>
                  </a:lnTo>
                  <a:lnTo>
                    <a:pt x="148" y="102"/>
                  </a:lnTo>
                  <a:lnTo>
                    <a:pt x="146" y="102"/>
                  </a:lnTo>
                  <a:lnTo>
                    <a:pt x="138" y="104"/>
                  </a:lnTo>
                  <a:lnTo>
                    <a:pt x="126" y="116"/>
                  </a:lnTo>
                  <a:lnTo>
                    <a:pt x="112" y="122"/>
                  </a:lnTo>
                  <a:lnTo>
                    <a:pt x="102" y="134"/>
                  </a:lnTo>
                  <a:lnTo>
                    <a:pt x="70" y="134"/>
                  </a:lnTo>
                  <a:lnTo>
                    <a:pt x="46" y="124"/>
                  </a:lnTo>
                  <a:lnTo>
                    <a:pt x="32" y="124"/>
                  </a:lnTo>
                  <a:lnTo>
                    <a:pt x="20" y="130"/>
                  </a:lnTo>
                  <a:lnTo>
                    <a:pt x="18" y="130"/>
                  </a:lnTo>
                  <a:lnTo>
                    <a:pt x="10" y="132"/>
                  </a:lnTo>
                  <a:lnTo>
                    <a:pt x="2" y="138"/>
                  </a:lnTo>
                  <a:lnTo>
                    <a:pt x="0" y="142"/>
                  </a:lnTo>
                  <a:lnTo>
                    <a:pt x="0" y="152"/>
                  </a:lnTo>
                  <a:lnTo>
                    <a:pt x="4" y="158"/>
                  </a:lnTo>
                  <a:lnTo>
                    <a:pt x="22" y="152"/>
                  </a:lnTo>
                  <a:lnTo>
                    <a:pt x="30" y="154"/>
                  </a:lnTo>
                  <a:lnTo>
                    <a:pt x="40" y="158"/>
                  </a:lnTo>
                  <a:lnTo>
                    <a:pt x="42" y="158"/>
                  </a:lnTo>
                  <a:lnTo>
                    <a:pt x="42" y="160"/>
                  </a:lnTo>
                  <a:lnTo>
                    <a:pt x="42" y="186"/>
                  </a:lnTo>
                  <a:lnTo>
                    <a:pt x="46" y="188"/>
                  </a:lnTo>
                  <a:lnTo>
                    <a:pt x="64" y="188"/>
                  </a:lnTo>
                  <a:lnTo>
                    <a:pt x="74" y="184"/>
                  </a:lnTo>
                  <a:lnTo>
                    <a:pt x="76" y="184"/>
                  </a:lnTo>
                  <a:lnTo>
                    <a:pt x="86" y="180"/>
                  </a:lnTo>
                  <a:lnTo>
                    <a:pt x="94" y="176"/>
                  </a:lnTo>
                  <a:lnTo>
                    <a:pt x="98" y="176"/>
                  </a:lnTo>
                  <a:lnTo>
                    <a:pt x="100" y="178"/>
                  </a:lnTo>
                  <a:lnTo>
                    <a:pt x="104" y="188"/>
                  </a:lnTo>
                  <a:lnTo>
                    <a:pt x="106" y="216"/>
                  </a:lnTo>
                  <a:lnTo>
                    <a:pt x="106" y="218"/>
                  </a:lnTo>
                  <a:lnTo>
                    <a:pt x="92" y="232"/>
                  </a:lnTo>
                  <a:lnTo>
                    <a:pt x="92" y="234"/>
                  </a:lnTo>
                  <a:lnTo>
                    <a:pt x="74" y="242"/>
                  </a:lnTo>
                  <a:lnTo>
                    <a:pt x="70" y="248"/>
                  </a:lnTo>
                  <a:lnTo>
                    <a:pt x="72" y="252"/>
                  </a:lnTo>
                  <a:lnTo>
                    <a:pt x="106" y="256"/>
                  </a:lnTo>
                  <a:lnTo>
                    <a:pt x="108" y="258"/>
                  </a:lnTo>
                  <a:lnTo>
                    <a:pt x="122" y="266"/>
                  </a:lnTo>
                  <a:lnTo>
                    <a:pt x="152" y="264"/>
                  </a:lnTo>
                  <a:lnTo>
                    <a:pt x="152" y="268"/>
                  </a:lnTo>
                  <a:lnTo>
                    <a:pt x="154" y="284"/>
                  </a:lnTo>
                  <a:lnTo>
                    <a:pt x="154" y="286"/>
                  </a:lnTo>
                  <a:lnTo>
                    <a:pt x="140" y="300"/>
                  </a:lnTo>
                  <a:lnTo>
                    <a:pt x="140" y="312"/>
                  </a:lnTo>
                  <a:lnTo>
                    <a:pt x="142" y="320"/>
                  </a:lnTo>
                  <a:lnTo>
                    <a:pt x="144" y="326"/>
                  </a:lnTo>
                  <a:lnTo>
                    <a:pt x="150" y="330"/>
                  </a:lnTo>
                  <a:lnTo>
                    <a:pt x="174" y="344"/>
                  </a:lnTo>
                  <a:lnTo>
                    <a:pt x="194" y="356"/>
                  </a:lnTo>
                  <a:lnTo>
                    <a:pt x="212" y="348"/>
                  </a:lnTo>
                  <a:lnTo>
                    <a:pt x="214" y="348"/>
                  </a:lnTo>
                  <a:lnTo>
                    <a:pt x="216" y="348"/>
                  </a:lnTo>
                  <a:lnTo>
                    <a:pt x="242" y="368"/>
                  </a:lnTo>
                  <a:lnTo>
                    <a:pt x="246" y="368"/>
                  </a:lnTo>
                  <a:lnTo>
                    <a:pt x="252" y="360"/>
                  </a:lnTo>
                  <a:lnTo>
                    <a:pt x="254" y="360"/>
                  </a:lnTo>
                  <a:lnTo>
                    <a:pt x="254" y="358"/>
                  </a:lnTo>
                  <a:lnTo>
                    <a:pt x="256" y="358"/>
                  </a:lnTo>
                  <a:lnTo>
                    <a:pt x="270" y="360"/>
                  </a:lnTo>
                  <a:lnTo>
                    <a:pt x="274" y="334"/>
                  </a:lnTo>
                  <a:lnTo>
                    <a:pt x="294" y="368"/>
                  </a:lnTo>
                  <a:lnTo>
                    <a:pt x="310" y="370"/>
                  </a:lnTo>
                  <a:lnTo>
                    <a:pt x="312" y="370"/>
                  </a:lnTo>
                  <a:lnTo>
                    <a:pt x="314" y="370"/>
                  </a:lnTo>
                  <a:lnTo>
                    <a:pt x="314" y="372"/>
                  </a:lnTo>
                  <a:lnTo>
                    <a:pt x="314" y="382"/>
                  </a:lnTo>
                  <a:lnTo>
                    <a:pt x="320" y="380"/>
                  </a:lnTo>
                  <a:lnTo>
                    <a:pt x="346" y="346"/>
                  </a:lnTo>
                  <a:lnTo>
                    <a:pt x="358" y="362"/>
                  </a:lnTo>
                  <a:lnTo>
                    <a:pt x="358" y="356"/>
                  </a:lnTo>
                  <a:lnTo>
                    <a:pt x="366" y="340"/>
                  </a:lnTo>
                  <a:lnTo>
                    <a:pt x="372" y="328"/>
                  </a:lnTo>
                  <a:lnTo>
                    <a:pt x="392" y="328"/>
                  </a:lnTo>
                  <a:lnTo>
                    <a:pt x="396" y="304"/>
                  </a:lnTo>
                  <a:lnTo>
                    <a:pt x="398" y="304"/>
                  </a:lnTo>
                  <a:lnTo>
                    <a:pt x="400" y="306"/>
                  </a:lnTo>
                  <a:lnTo>
                    <a:pt x="414" y="308"/>
                  </a:lnTo>
                  <a:lnTo>
                    <a:pt x="416" y="300"/>
                  </a:lnTo>
                  <a:lnTo>
                    <a:pt x="410" y="288"/>
                  </a:lnTo>
                  <a:lnTo>
                    <a:pt x="410" y="286"/>
                  </a:lnTo>
                  <a:lnTo>
                    <a:pt x="414" y="276"/>
                  </a:lnTo>
                  <a:lnTo>
                    <a:pt x="414" y="274"/>
                  </a:lnTo>
                  <a:lnTo>
                    <a:pt x="416" y="274"/>
                  </a:lnTo>
                  <a:lnTo>
                    <a:pt x="458" y="252"/>
                  </a:lnTo>
                  <a:lnTo>
                    <a:pt x="456" y="230"/>
                  </a:lnTo>
                  <a:lnTo>
                    <a:pt x="456" y="228"/>
                  </a:lnTo>
                  <a:lnTo>
                    <a:pt x="464" y="212"/>
                  </a:lnTo>
                  <a:lnTo>
                    <a:pt x="466" y="210"/>
                  </a:lnTo>
                  <a:lnTo>
                    <a:pt x="478" y="180"/>
                  </a:lnTo>
                  <a:lnTo>
                    <a:pt x="490" y="168"/>
                  </a:lnTo>
                  <a:lnTo>
                    <a:pt x="496" y="156"/>
                  </a:lnTo>
                  <a:lnTo>
                    <a:pt x="502" y="146"/>
                  </a:lnTo>
                  <a:lnTo>
                    <a:pt x="496" y="134"/>
                  </a:lnTo>
                  <a:lnTo>
                    <a:pt x="496" y="132"/>
                  </a:lnTo>
                  <a:lnTo>
                    <a:pt x="496" y="120"/>
                  </a:lnTo>
                  <a:lnTo>
                    <a:pt x="490" y="120"/>
                  </a:lnTo>
                  <a:lnTo>
                    <a:pt x="478" y="126"/>
                  </a:lnTo>
                  <a:lnTo>
                    <a:pt x="472" y="128"/>
                  </a:lnTo>
                  <a:lnTo>
                    <a:pt x="468" y="128"/>
                  </a:lnTo>
                  <a:lnTo>
                    <a:pt x="460" y="126"/>
                  </a:lnTo>
                  <a:lnTo>
                    <a:pt x="454" y="122"/>
                  </a:lnTo>
                  <a:lnTo>
                    <a:pt x="452" y="118"/>
                  </a:lnTo>
                  <a:lnTo>
                    <a:pt x="450" y="114"/>
                  </a:lnTo>
                  <a:lnTo>
                    <a:pt x="452" y="98"/>
                  </a:lnTo>
                  <a:lnTo>
                    <a:pt x="446" y="98"/>
                  </a:lnTo>
                  <a:lnTo>
                    <a:pt x="442" y="102"/>
                  </a:lnTo>
                  <a:lnTo>
                    <a:pt x="432" y="112"/>
                  </a:lnTo>
                  <a:lnTo>
                    <a:pt x="428" y="114"/>
                  </a:lnTo>
                  <a:lnTo>
                    <a:pt x="424" y="114"/>
                  </a:lnTo>
                  <a:lnTo>
                    <a:pt x="422" y="108"/>
                  </a:lnTo>
                  <a:lnTo>
                    <a:pt x="422" y="100"/>
                  </a:lnTo>
                  <a:lnTo>
                    <a:pt x="422" y="92"/>
                  </a:lnTo>
                  <a:lnTo>
                    <a:pt x="424" y="88"/>
                  </a:lnTo>
                  <a:lnTo>
                    <a:pt x="426" y="86"/>
                  </a:lnTo>
                  <a:lnTo>
                    <a:pt x="428" y="86"/>
                  </a:lnTo>
                  <a:lnTo>
                    <a:pt x="444" y="58"/>
                  </a:lnTo>
                  <a:lnTo>
                    <a:pt x="448" y="48"/>
                  </a:lnTo>
                  <a:lnTo>
                    <a:pt x="450" y="36"/>
                  </a:lnTo>
                  <a:lnTo>
                    <a:pt x="442" y="28"/>
                  </a:lnTo>
                  <a:lnTo>
                    <a:pt x="440" y="22"/>
                  </a:lnTo>
                  <a:lnTo>
                    <a:pt x="440" y="12"/>
                  </a:lnTo>
                  <a:lnTo>
                    <a:pt x="440" y="8"/>
                  </a:lnTo>
                  <a:lnTo>
                    <a:pt x="438" y="4"/>
                  </a:lnTo>
                  <a:lnTo>
                    <a:pt x="434" y="0"/>
                  </a:lnTo>
                  <a:lnTo>
                    <a:pt x="432" y="2"/>
                  </a:lnTo>
                  <a:lnTo>
                    <a:pt x="430" y="6"/>
                  </a:lnTo>
                  <a:lnTo>
                    <a:pt x="426" y="8"/>
                  </a:lnTo>
                  <a:lnTo>
                    <a:pt x="422" y="10"/>
                  </a:lnTo>
                  <a:lnTo>
                    <a:pt x="416" y="8"/>
                  </a:lnTo>
                  <a:lnTo>
                    <a:pt x="410" y="8"/>
                  </a:lnTo>
                  <a:lnTo>
                    <a:pt x="402" y="8"/>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31" name="重庆"/>
            <p:cNvSpPr/>
            <p:nvPr/>
          </p:nvSpPr>
          <p:spPr bwMode="auto">
            <a:xfrm>
              <a:off x="8127155" y="-98377"/>
              <a:ext cx="396965" cy="397624"/>
            </a:xfrm>
            <a:custGeom>
              <a:avLst/>
              <a:gdLst>
                <a:gd name="T0" fmla="*/ 2147483646 w 284"/>
                <a:gd name="T1" fmla="*/ 2147483646 h 288"/>
                <a:gd name="T2" fmla="*/ 2147483646 w 284"/>
                <a:gd name="T3" fmla="*/ 2147483646 h 288"/>
                <a:gd name="T4" fmla="*/ 2147483646 w 284"/>
                <a:gd name="T5" fmla="*/ 2147483646 h 288"/>
                <a:gd name="T6" fmla="*/ 2147483646 w 284"/>
                <a:gd name="T7" fmla="*/ 2147483646 h 288"/>
                <a:gd name="T8" fmla="*/ 2147483646 w 284"/>
                <a:gd name="T9" fmla="*/ 2147483646 h 288"/>
                <a:gd name="T10" fmla="*/ 2147483646 w 284"/>
                <a:gd name="T11" fmla="*/ 2147483646 h 288"/>
                <a:gd name="T12" fmla="*/ 2147483646 w 284"/>
                <a:gd name="T13" fmla="*/ 2147483646 h 288"/>
                <a:gd name="T14" fmla="*/ 2147483646 w 284"/>
                <a:gd name="T15" fmla="*/ 2147483646 h 288"/>
                <a:gd name="T16" fmla="*/ 2147483646 w 284"/>
                <a:gd name="T17" fmla="*/ 2147483646 h 288"/>
                <a:gd name="T18" fmla="*/ 2147483646 w 284"/>
                <a:gd name="T19" fmla="*/ 2147483646 h 288"/>
                <a:gd name="T20" fmla="*/ 2147483646 w 284"/>
                <a:gd name="T21" fmla="*/ 2147483646 h 288"/>
                <a:gd name="T22" fmla="*/ 2147483646 w 284"/>
                <a:gd name="T23" fmla="*/ 2147483646 h 288"/>
                <a:gd name="T24" fmla="*/ 2147483646 w 284"/>
                <a:gd name="T25" fmla="*/ 2147483646 h 288"/>
                <a:gd name="T26" fmla="*/ 2147483646 w 284"/>
                <a:gd name="T27" fmla="*/ 2147483646 h 288"/>
                <a:gd name="T28" fmla="*/ 2147483646 w 284"/>
                <a:gd name="T29" fmla="*/ 2147483646 h 288"/>
                <a:gd name="T30" fmla="*/ 2147483646 w 284"/>
                <a:gd name="T31" fmla="*/ 2147483646 h 288"/>
                <a:gd name="T32" fmla="*/ 2147483646 w 284"/>
                <a:gd name="T33" fmla="*/ 2147483646 h 288"/>
                <a:gd name="T34" fmla="*/ 2147483646 w 284"/>
                <a:gd name="T35" fmla="*/ 2147483646 h 288"/>
                <a:gd name="T36" fmla="*/ 2147483646 w 284"/>
                <a:gd name="T37" fmla="*/ 2147483646 h 288"/>
                <a:gd name="T38" fmla="*/ 2147483646 w 284"/>
                <a:gd name="T39" fmla="*/ 2147483646 h 288"/>
                <a:gd name="T40" fmla="*/ 2147483646 w 284"/>
                <a:gd name="T41" fmla="*/ 2147483646 h 288"/>
                <a:gd name="T42" fmla="*/ 2147483646 w 284"/>
                <a:gd name="T43" fmla="*/ 2147483646 h 288"/>
                <a:gd name="T44" fmla="*/ 2147483646 w 284"/>
                <a:gd name="T45" fmla="*/ 2147483646 h 288"/>
                <a:gd name="T46" fmla="*/ 2147483646 w 284"/>
                <a:gd name="T47" fmla="*/ 2147483646 h 288"/>
                <a:gd name="T48" fmla="*/ 2147483646 w 284"/>
                <a:gd name="T49" fmla="*/ 2147483646 h 288"/>
                <a:gd name="T50" fmla="*/ 2147483646 w 284"/>
                <a:gd name="T51" fmla="*/ 2147483646 h 288"/>
                <a:gd name="T52" fmla="*/ 2147483646 w 284"/>
                <a:gd name="T53" fmla="*/ 2147483646 h 288"/>
                <a:gd name="T54" fmla="*/ 2147483646 w 284"/>
                <a:gd name="T55" fmla="*/ 2147483646 h 288"/>
                <a:gd name="T56" fmla="*/ 2147483646 w 284"/>
                <a:gd name="T57" fmla="*/ 2147483646 h 288"/>
                <a:gd name="T58" fmla="*/ 2147483646 w 284"/>
                <a:gd name="T59" fmla="*/ 2147483646 h 288"/>
                <a:gd name="T60" fmla="*/ 2147483646 w 284"/>
                <a:gd name="T61" fmla="*/ 2147483646 h 288"/>
                <a:gd name="T62" fmla="*/ 2147483646 w 284"/>
                <a:gd name="T63" fmla="*/ 2147483646 h 288"/>
                <a:gd name="T64" fmla="*/ 2147483646 w 284"/>
                <a:gd name="T65" fmla="*/ 2147483646 h 288"/>
                <a:gd name="T66" fmla="*/ 2147483646 w 284"/>
                <a:gd name="T67" fmla="*/ 2147483646 h 288"/>
                <a:gd name="T68" fmla="*/ 2147483646 w 284"/>
                <a:gd name="T69" fmla="*/ 2147483646 h 288"/>
                <a:gd name="T70" fmla="*/ 2147483646 w 284"/>
                <a:gd name="T71" fmla="*/ 2147483646 h 288"/>
                <a:gd name="T72" fmla="*/ 2147483646 w 284"/>
                <a:gd name="T73" fmla="*/ 2147483646 h 288"/>
                <a:gd name="T74" fmla="*/ 2147483646 w 284"/>
                <a:gd name="T75" fmla="*/ 2147483646 h 288"/>
                <a:gd name="T76" fmla="*/ 2147483646 w 284"/>
                <a:gd name="T77" fmla="*/ 2147483646 h 288"/>
                <a:gd name="T78" fmla="*/ 2147483646 w 284"/>
                <a:gd name="T79" fmla="*/ 2147483646 h 288"/>
                <a:gd name="T80" fmla="*/ 2147483646 w 284"/>
                <a:gd name="T81" fmla="*/ 2147483646 h 288"/>
                <a:gd name="T82" fmla="*/ 2147483646 w 284"/>
                <a:gd name="T83" fmla="*/ 2147483646 h 288"/>
                <a:gd name="T84" fmla="*/ 2147483646 w 284"/>
                <a:gd name="T85" fmla="*/ 2147483646 h 288"/>
                <a:gd name="T86" fmla="*/ 2147483646 w 284"/>
                <a:gd name="T87" fmla="*/ 2147483646 h 288"/>
                <a:gd name="T88" fmla="*/ 2147483646 w 284"/>
                <a:gd name="T89" fmla="*/ 2147483646 h 288"/>
                <a:gd name="T90" fmla="*/ 2147483646 w 284"/>
                <a:gd name="T91" fmla="*/ 2147483646 h 288"/>
                <a:gd name="T92" fmla="*/ 2147483646 w 284"/>
                <a:gd name="T93" fmla="*/ 2147483646 h 288"/>
                <a:gd name="T94" fmla="*/ 2147483646 w 284"/>
                <a:gd name="T95" fmla="*/ 2147483646 h 288"/>
                <a:gd name="T96" fmla="*/ 2147483646 w 284"/>
                <a:gd name="T97" fmla="*/ 2147483646 h 288"/>
                <a:gd name="T98" fmla="*/ 2147483646 w 284"/>
                <a:gd name="T99" fmla="*/ 2147483646 h 288"/>
                <a:gd name="T100" fmla="*/ 2147483646 w 284"/>
                <a:gd name="T101" fmla="*/ 2147483646 h 288"/>
                <a:gd name="T102" fmla="*/ 2147483646 w 284"/>
                <a:gd name="T103" fmla="*/ 2147483646 h 28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84" h="288">
                  <a:moveTo>
                    <a:pt x="284" y="58"/>
                  </a:moveTo>
                  <a:lnTo>
                    <a:pt x="278" y="44"/>
                  </a:lnTo>
                  <a:lnTo>
                    <a:pt x="268" y="32"/>
                  </a:lnTo>
                  <a:lnTo>
                    <a:pt x="260" y="30"/>
                  </a:lnTo>
                  <a:lnTo>
                    <a:pt x="258" y="30"/>
                  </a:lnTo>
                  <a:lnTo>
                    <a:pt x="258" y="28"/>
                  </a:lnTo>
                  <a:lnTo>
                    <a:pt x="250" y="24"/>
                  </a:lnTo>
                  <a:lnTo>
                    <a:pt x="248" y="24"/>
                  </a:lnTo>
                  <a:lnTo>
                    <a:pt x="244" y="26"/>
                  </a:lnTo>
                  <a:lnTo>
                    <a:pt x="234" y="28"/>
                  </a:lnTo>
                  <a:lnTo>
                    <a:pt x="232" y="26"/>
                  </a:lnTo>
                  <a:lnTo>
                    <a:pt x="222" y="22"/>
                  </a:lnTo>
                  <a:lnTo>
                    <a:pt x="220" y="22"/>
                  </a:lnTo>
                  <a:lnTo>
                    <a:pt x="220" y="20"/>
                  </a:lnTo>
                  <a:lnTo>
                    <a:pt x="212" y="12"/>
                  </a:lnTo>
                  <a:lnTo>
                    <a:pt x="204" y="4"/>
                  </a:lnTo>
                  <a:lnTo>
                    <a:pt x="196" y="0"/>
                  </a:lnTo>
                  <a:lnTo>
                    <a:pt x="188" y="8"/>
                  </a:lnTo>
                  <a:lnTo>
                    <a:pt x="176" y="16"/>
                  </a:lnTo>
                  <a:lnTo>
                    <a:pt x="172" y="40"/>
                  </a:lnTo>
                  <a:lnTo>
                    <a:pt x="162" y="58"/>
                  </a:lnTo>
                  <a:lnTo>
                    <a:pt x="162" y="60"/>
                  </a:lnTo>
                  <a:lnTo>
                    <a:pt x="154" y="68"/>
                  </a:lnTo>
                  <a:lnTo>
                    <a:pt x="144" y="86"/>
                  </a:lnTo>
                  <a:lnTo>
                    <a:pt x="144" y="88"/>
                  </a:lnTo>
                  <a:lnTo>
                    <a:pt x="124" y="104"/>
                  </a:lnTo>
                  <a:lnTo>
                    <a:pt x="116" y="118"/>
                  </a:lnTo>
                  <a:lnTo>
                    <a:pt x="114" y="120"/>
                  </a:lnTo>
                  <a:lnTo>
                    <a:pt x="110" y="124"/>
                  </a:lnTo>
                  <a:lnTo>
                    <a:pt x="96" y="132"/>
                  </a:lnTo>
                  <a:lnTo>
                    <a:pt x="88" y="144"/>
                  </a:lnTo>
                  <a:lnTo>
                    <a:pt x="74" y="164"/>
                  </a:lnTo>
                  <a:lnTo>
                    <a:pt x="72" y="164"/>
                  </a:lnTo>
                  <a:lnTo>
                    <a:pt x="8" y="160"/>
                  </a:lnTo>
                  <a:lnTo>
                    <a:pt x="0" y="168"/>
                  </a:lnTo>
                  <a:lnTo>
                    <a:pt x="0" y="180"/>
                  </a:lnTo>
                  <a:lnTo>
                    <a:pt x="6" y="208"/>
                  </a:lnTo>
                  <a:lnTo>
                    <a:pt x="20" y="226"/>
                  </a:lnTo>
                  <a:lnTo>
                    <a:pt x="32" y="232"/>
                  </a:lnTo>
                  <a:lnTo>
                    <a:pt x="32" y="234"/>
                  </a:lnTo>
                  <a:lnTo>
                    <a:pt x="40" y="244"/>
                  </a:lnTo>
                  <a:lnTo>
                    <a:pt x="42" y="252"/>
                  </a:lnTo>
                  <a:lnTo>
                    <a:pt x="42" y="262"/>
                  </a:lnTo>
                  <a:lnTo>
                    <a:pt x="38" y="266"/>
                  </a:lnTo>
                  <a:lnTo>
                    <a:pt x="40" y="268"/>
                  </a:lnTo>
                  <a:lnTo>
                    <a:pt x="44" y="268"/>
                  </a:lnTo>
                  <a:lnTo>
                    <a:pt x="48" y="258"/>
                  </a:lnTo>
                  <a:lnTo>
                    <a:pt x="50" y="258"/>
                  </a:lnTo>
                  <a:lnTo>
                    <a:pt x="62" y="262"/>
                  </a:lnTo>
                  <a:lnTo>
                    <a:pt x="64" y="266"/>
                  </a:lnTo>
                  <a:lnTo>
                    <a:pt x="70" y="266"/>
                  </a:lnTo>
                  <a:lnTo>
                    <a:pt x="68" y="260"/>
                  </a:lnTo>
                  <a:lnTo>
                    <a:pt x="76" y="246"/>
                  </a:lnTo>
                  <a:lnTo>
                    <a:pt x="78" y="244"/>
                  </a:lnTo>
                  <a:lnTo>
                    <a:pt x="80" y="242"/>
                  </a:lnTo>
                  <a:lnTo>
                    <a:pt x="88" y="242"/>
                  </a:lnTo>
                  <a:lnTo>
                    <a:pt x="102" y="242"/>
                  </a:lnTo>
                  <a:lnTo>
                    <a:pt x="110" y="232"/>
                  </a:lnTo>
                  <a:lnTo>
                    <a:pt x="110" y="222"/>
                  </a:lnTo>
                  <a:lnTo>
                    <a:pt x="112" y="212"/>
                  </a:lnTo>
                  <a:lnTo>
                    <a:pt x="114" y="210"/>
                  </a:lnTo>
                  <a:lnTo>
                    <a:pt x="120" y="206"/>
                  </a:lnTo>
                  <a:lnTo>
                    <a:pt x="122" y="206"/>
                  </a:lnTo>
                  <a:lnTo>
                    <a:pt x="134" y="208"/>
                  </a:lnTo>
                  <a:lnTo>
                    <a:pt x="134" y="210"/>
                  </a:lnTo>
                  <a:lnTo>
                    <a:pt x="136" y="220"/>
                  </a:lnTo>
                  <a:lnTo>
                    <a:pt x="136" y="224"/>
                  </a:lnTo>
                  <a:lnTo>
                    <a:pt x="138" y="232"/>
                  </a:lnTo>
                  <a:lnTo>
                    <a:pt x="140" y="232"/>
                  </a:lnTo>
                  <a:lnTo>
                    <a:pt x="144" y="226"/>
                  </a:lnTo>
                  <a:lnTo>
                    <a:pt x="152" y="216"/>
                  </a:lnTo>
                  <a:lnTo>
                    <a:pt x="160" y="212"/>
                  </a:lnTo>
                  <a:lnTo>
                    <a:pt x="162" y="212"/>
                  </a:lnTo>
                  <a:lnTo>
                    <a:pt x="162" y="210"/>
                  </a:lnTo>
                  <a:lnTo>
                    <a:pt x="172" y="214"/>
                  </a:lnTo>
                  <a:lnTo>
                    <a:pt x="174" y="214"/>
                  </a:lnTo>
                  <a:lnTo>
                    <a:pt x="176" y="214"/>
                  </a:lnTo>
                  <a:lnTo>
                    <a:pt x="180" y="226"/>
                  </a:lnTo>
                  <a:lnTo>
                    <a:pt x="180" y="236"/>
                  </a:lnTo>
                  <a:lnTo>
                    <a:pt x="188" y="252"/>
                  </a:lnTo>
                  <a:lnTo>
                    <a:pt x="188" y="254"/>
                  </a:lnTo>
                  <a:lnTo>
                    <a:pt x="188" y="264"/>
                  </a:lnTo>
                  <a:lnTo>
                    <a:pt x="192" y="270"/>
                  </a:lnTo>
                  <a:lnTo>
                    <a:pt x="194" y="270"/>
                  </a:lnTo>
                  <a:lnTo>
                    <a:pt x="196" y="266"/>
                  </a:lnTo>
                  <a:lnTo>
                    <a:pt x="198" y="264"/>
                  </a:lnTo>
                  <a:lnTo>
                    <a:pt x="208" y="270"/>
                  </a:lnTo>
                  <a:lnTo>
                    <a:pt x="208" y="272"/>
                  </a:lnTo>
                  <a:lnTo>
                    <a:pt x="212" y="286"/>
                  </a:lnTo>
                  <a:lnTo>
                    <a:pt x="216" y="288"/>
                  </a:lnTo>
                  <a:lnTo>
                    <a:pt x="216" y="286"/>
                  </a:lnTo>
                  <a:lnTo>
                    <a:pt x="220" y="276"/>
                  </a:lnTo>
                  <a:lnTo>
                    <a:pt x="222" y="274"/>
                  </a:lnTo>
                  <a:lnTo>
                    <a:pt x="224" y="274"/>
                  </a:lnTo>
                  <a:lnTo>
                    <a:pt x="228" y="270"/>
                  </a:lnTo>
                  <a:lnTo>
                    <a:pt x="230" y="270"/>
                  </a:lnTo>
                  <a:lnTo>
                    <a:pt x="236" y="270"/>
                  </a:lnTo>
                  <a:lnTo>
                    <a:pt x="236" y="266"/>
                  </a:lnTo>
                  <a:lnTo>
                    <a:pt x="236" y="264"/>
                  </a:lnTo>
                  <a:lnTo>
                    <a:pt x="232" y="226"/>
                  </a:lnTo>
                  <a:lnTo>
                    <a:pt x="216" y="202"/>
                  </a:lnTo>
                  <a:lnTo>
                    <a:pt x="188" y="168"/>
                  </a:lnTo>
                  <a:lnTo>
                    <a:pt x="186" y="168"/>
                  </a:lnTo>
                  <a:lnTo>
                    <a:pt x="184" y="146"/>
                  </a:lnTo>
                  <a:lnTo>
                    <a:pt x="176" y="128"/>
                  </a:lnTo>
                  <a:lnTo>
                    <a:pt x="174" y="128"/>
                  </a:lnTo>
                  <a:lnTo>
                    <a:pt x="176" y="126"/>
                  </a:lnTo>
                  <a:lnTo>
                    <a:pt x="180" y="104"/>
                  </a:lnTo>
                  <a:lnTo>
                    <a:pt x="182" y="104"/>
                  </a:lnTo>
                  <a:lnTo>
                    <a:pt x="184" y="104"/>
                  </a:lnTo>
                  <a:lnTo>
                    <a:pt x="234" y="102"/>
                  </a:lnTo>
                  <a:lnTo>
                    <a:pt x="260" y="88"/>
                  </a:lnTo>
                  <a:lnTo>
                    <a:pt x="262" y="86"/>
                  </a:lnTo>
                  <a:lnTo>
                    <a:pt x="274" y="82"/>
                  </a:lnTo>
                  <a:lnTo>
                    <a:pt x="278" y="78"/>
                  </a:lnTo>
                  <a:lnTo>
                    <a:pt x="280" y="76"/>
                  </a:lnTo>
                  <a:lnTo>
                    <a:pt x="282" y="68"/>
                  </a:lnTo>
                  <a:lnTo>
                    <a:pt x="284" y="58"/>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32" name="陕西"/>
            <p:cNvSpPr/>
            <p:nvPr/>
          </p:nvSpPr>
          <p:spPr bwMode="auto">
            <a:xfrm>
              <a:off x="8127155" y="-871535"/>
              <a:ext cx="452875" cy="798010"/>
            </a:xfrm>
            <a:custGeom>
              <a:avLst/>
              <a:gdLst>
                <a:gd name="T0" fmla="*/ 2147483646 w 324"/>
                <a:gd name="T1" fmla="*/ 2147483646 h 578"/>
                <a:gd name="T2" fmla="*/ 2147483646 w 324"/>
                <a:gd name="T3" fmla="*/ 2147483646 h 578"/>
                <a:gd name="T4" fmla="*/ 2147483646 w 324"/>
                <a:gd name="T5" fmla="*/ 2147483646 h 578"/>
                <a:gd name="T6" fmla="*/ 2147483646 w 324"/>
                <a:gd name="T7" fmla="*/ 2147483646 h 578"/>
                <a:gd name="T8" fmla="*/ 2147483646 w 324"/>
                <a:gd name="T9" fmla="*/ 2147483646 h 578"/>
                <a:gd name="T10" fmla="*/ 2147483646 w 324"/>
                <a:gd name="T11" fmla="*/ 2147483646 h 578"/>
                <a:gd name="T12" fmla="*/ 2147483646 w 324"/>
                <a:gd name="T13" fmla="*/ 2147483646 h 578"/>
                <a:gd name="T14" fmla="*/ 2147483646 w 324"/>
                <a:gd name="T15" fmla="*/ 2147483646 h 578"/>
                <a:gd name="T16" fmla="*/ 2147483646 w 324"/>
                <a:gd name="T17" fmla="*/ 2147483646 h 578"/>
                <a:gd name="T18" fmla="*/ 2147483646 w 324"/>
                <a:gd name="T19" fmla="*/ 2147483646 h 578"/>
                <a:gd name="T20" fmla="*/ 2147483646 w 324"/>
                <a:gd name="T21" fmla="*/ 2147483646 h 578"/>
                <a:gd name="T22" fmla="*/ 2147483646 w 324"/>
                <a:gd name="T23" fmla="*/ 2147483646 h 578"/>
                <a:gd name="T24" fmla="*/ 2147483646 w 324"/>
                <a:gd name="T25" fmla="*/ 2147483646 h 578"/>
                <a:gd name="T26" fmla="*/ 2147483646 w 324"/>
                <a:gd name="T27" fmla="*/ 2147483646 h 578"/>
                <a:gd name="T28" fmla="*/ 2147483646 w 324"/>
                <a:gd name="T29" fmla="*/ 2147483646 h 578"/>
                <a:gd name="T30" fmla="*/ 2147483646 w 324"/>
                <a:gd name="T31" fmla="*/ 2147483646 h 578"/>
                <a:gd name="T32" fmla="*/ 2147483646 w 324"/>
                <a:gd name="T33" fmla="*/ 2147483646 h 578"/>
                <a:gd name="T34" fmla="*/ 2147483646 w 324"/>
                <a:gd name="T35" fmla="*/ 2147483646 h 578"/>
                <a:gd name="T36" fmla="*/ 2147483646 w 324"/>
                <a:gd name="T37" fmla="*/ 2147483646 h 578"/>
                <a:gd name="T38" fmla="*/ 2147483646 w 324"/>
                <a:gd name="T39" fmla="*/ 2147483646 h 578"/>
                <a:gd name="T40" fmla="*/ 2147483646 w 324"/>
                <a:gd name="T41" fmla="*/ 2147483646 h 578"/>
                <a:gd name="T42" fmla="*/ 2147483646 w 324"/>
                <a:gd name="T43" fmla="*/ 2147483646 h 578"/>
                <a:gd name="T44" fmla="*/ 2147483646 w 324"/>
                <a:gd name="T45" fmla="*/ 2147483646 h 578"/>
                <a:gd name="T46" fmla="*/ 2147483646 w 324"/>
                <a:gd name="T47" fmla="*/ 2147483646 h 578"/>
                <a:gd name="T48" fmla="*/ 2147483646 w 324"/>
                <a:gd name="T49" fmla="*/ 2147483646 h 578"/>
                <a:gd name="T50" fmla="*/ 2147483646 w 324"/>
                <a:gd name="T51" fmla="*/ 2147483646 h 578"/>
                <a:gd name="T52" fmla="*/ 2147483646 w 324"/>
                <a:gd name="T53" fmla="*/ 2147483646 h 578"/>
                <a:gd name="T54" fmla="*/ 2147483646 w 324"/>
                <a:gd name="T55" fmla="*/ 2147483646 h 578"/>
                <a:gd name="T56" fmla="*/ 2147483646 w 324"/>
                <a:gd name="T57" fmla="*/ 2147483646 h 578"/>
                <a:gd name="T58" fmla="*/ 2147483646 w 324"/>
                <a:gd name="T59" fmla="*/ 2147483646 h 578"/>
                <a:gd name="T60" fmla="*/ 2147483646 w 324"/>
                <a:gd name="T61" fmla="*/ 2147483646 h 578"/>
                <a:gd name="T62" fmla="*/ 2147483646 w 324"/>
                <a:gd name="T63" fmla="*/ 2147483646 h 578"/>
                <a:gd name="T64" fmla="*/ 2147483646 w 324"/>
                <a:gd name="T65" fmla="*/ 2147483646 h 578"/>
                <a:gd name="T66" fmla="*/ 2147483646 w 324"/>
                <a:gd name="T67" fmla="*/ 2147483646 h 578"/>
                <a:gd name="T68" fmla="*/ 2147483646 w 324"/>
                <a:gd name="T69" fmla="*/ 2147483646 h 578"/>
                <a:gd name="T70" fmla="*/ 2147483646 w 324"/>
                <a:gd name="T71" fmla="*/ 2147483646 h 578"/>
                <a:gd name="T72" fmla="*/ 2147483646 w 324"/>
                <a:gd name="T73" fmla="*/ 2147483646 h 578"/>
                <a:gd name="T74" fmla="*/ 2147483646 w 324"/>
                <a:gd name="T75" fmla="*/ 2147483646 h 578"/>
                <a:gd name="T76" fmla="*/ 2147483646 w 324"/>
                <a:gd name="T77" fmla="*/ 2147483646 h 578"/>
                <a:gd name="T78" fmla="*/ 2147483646 w 324"/>
                <a:gd name="T79" fmla="*/ 2147483646 h 578"/>
                <a:gd name="T80" fmla="*/ 2147483646 w 324"/>
                <a:gd name="T81" fmla="*/ 2147483646 h 578"/>
                <a:gd name="T82" fmla="*/ 2147483646 w 324"/>
                <a:gd name="T83" fmla="*/ 2147483646 h 578"/>
                <a:gd name="T84" fmla="*/ 2147483646 w 324"/>
                <a:gd name="T85" fmla="*/ 2147483646 h 578"/>
                <a:gd name="T86" fmla="*/ 2147483646 w 324"/>
                <a:gd name="T87" fmla="*/ 2147483646 h 578"/>
                <a:gd name="T88" fmla="*/ 2147483646 w 324"/>
                <a:gd name="T89" fmla="*/ 2147483646 h 578"/>
                <a:gd name="T90" fmla="*/ 2147483646 w 324"/>
                <a:gd name="T91" fmla="*/ 2147483646 h 578"/>
                <a:gd name="T92" fmla="*/ 2147483646 w 324"/>
                <a:gd name="T93" fmla="*/ 2147483646 h 578"/>
                <a:gd name="T94" fmla="*/ 2147483646 w 324"/>
                <a:gd name="T95" fmla="*/ 2147483646 h 578"/>
                <a:gd name="T96" fmla="*/ 2147483646 w 324"/>
                <a:gd name="T97" fmla="*/ 2147483646 h 578"/>
                <a:gd name="T98" fmla="*/ 2147483646 w 324"/>
                <a:gd name="T99" fmla="*/ 2147483646 h 578"/>
                <a:gd name="T100" fmla="*/ 2147483646 w 324"/>
                <a:gd name="T101" fmla="*/ 2147483646 h 57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24" h="578">
                  <a:moveTo>
                    <a:pt x="108" y="132"/>
                  </a:moveTo>
                  <a:lnTo>
                    <a:pt x="104" y="130"/>
                  </a:lnTo>
                  <a:lnTo>
                    <a:pt x="96" y="180"/>
                  </a:lnTo>
                  <a:lnTo>
                    <a:pt x="108" y="196"/>
                  </a:lnTo>
                  <a:lnTo>
                    <a:pt x="122" y="200"/>
                  </a:lnTo>
                  <a:lnTo>
                    <a:pt x="124" y="202"/>
                  </a:lnTo>
                  <a:lnTo>
                    <a:pt x="140" y="216"/>
                  </a:lnTo>
                  <a:lnTo>
                    <a:pt x="164" y="220"/>
                  </a:lnTo>
                  <a:lnTo>
                    <a:pt x="176" y="228"/>
                  </a:lnTo>
                  <a:lnTo>
                    <a:pt x="176" y="230"/>
                  </a:lnTo>
                  <a:lnTo>
                    <a:pt x="186" y="244"/>
                  </a:lnTo>
                  <a:lnTo>
                    <a:pt x="188" y="244"/>
                  </a:lnTo>
                  <a:lnTo>
                    <a:pt x="186" y="246"/>
                  </a:lnTo>
                  <a:lnTo>
                    <a:pt x="178" y="260"/>
                  </a:lnTo>
                  <a:lnTo>
                    <a:pt x="178" y="264"/>
                  </a:lnTo>
                  <a:lnTo>
                    <a:pt x="176" y="272"/>
                  </a:lnTo>
                  <a:lnTo>
                    <a:pt x="178" y="272"/>
                  </a:lnTo>
                  <a:lnTo>
                    <a:pt x="178" y="286"/>
                  </a:lnTo>
                  <a:lnTo>
                    <a:pt x="176" y="288"/>
                  </a:lnTo>
                  <a:lnTo>
                    <a:pt x="170" y="312"/>
                  </a:lnTo>
                  <a:lnTo>
                    <a:pt x="168" y="316"/>
                  </a:lnTo>
                  <a:lnTo>
                    <a:pt x="164" y="314"/>
                  </a:lnTo>
                  <a:lnTo>
                    <a:pt x="154" y="312"/>
                  </a:lnTo>
                  <a:lnTo>
                    <a:pt x="140" y="312"/>
                  </a:lnTo>
                  <a:lnTo>
                    <a:pt x="128" y="316"/>
                  </a:lnTo>
                  <a:lnTo>
                    <a:pt x="116" y="328"/>
                  </a:lnTo>
                  <a:lnTo>
                    <a:pt x="112" y="332"/>
                  </a:lnTo>
                  <a:lnTo>
                    <a:pt x="130" y="340"/>
                  </a:lnTo>
                  <a:lnTo>
                    <a:pt x="128" y="344"/>
                  </a:lnTo>
                  <a:lnTo>
                    <a:pt x="124" y="350"/>
                  </a:lnTo>
                  <a:lnTo>
                    <a:pt x="116" y="354"/>
                  </a:lnTo>
                  <a:lnTo>
                    <a:pt x="106" y="354"/>
                  </a:lnTo>
                  <a:lnTo>
                    <a:pt x="88" y="348"/>
                  </a:lnTo>
                  <a:lnTo>
                    <a:pt x="70" y="338"/>
                  </a:lnTo>
                  <a:lnTo>
                    <a:pt x="64" y="338"/>
                  </a:lnTo>
                  <a:lnTo>
                    <a:pt x="44" y="366"/>
                  </a:lnTo>
                  <a:lnTo>
                    <a:pt x="40" y="376"/>
                  </a:lnTo>
                  <a:lnTo>
                    <a:pt x="40" y="392"/>
                  </a:lnTo>
                  <a:lnTo>
                    <a:pt x="48" y="406"/>
                  </a:lnTo>
                  <a:lnTo>
                    <a:pt x="48" y="408"/>
                  </a:lnTo>
                  <a:lnTo>
                    <a:pt x="52" y="420"/>
                  </a:lnTo>
                  <a:lnTo>
                    <a:pt x="52" y="422"/>
                  </a:lnTo>
                  <a:lnTo>
                    <a:pt x="52" y="440"/>
                  </a:lnTo>
                  <a:lnTo>
                    <a:pt x="52" y="442"/>
                  </a:lnTo>
                  <a:lnTo>
                    <a:pt x="54" y="444"/>
                  </a:lnTo>
                  <a:lnTo>
                    <a:pt x="40" y="446"/>
                  </a:lnTo>
                  <a:lnTo>
                    <a:pt x="16" y="446"/>
                  </a:lnTo>
                  <a:lnTo>
                    <a:pt x="6" y="454"/>
                  </a:lnTo>
                  <a:lnTo>
                    <a:pt x="0" y="462"/>
                  </a:lnTo>
                  <a:lnTo>
                    <a:pt x="2" y="462"/>
                  </a:lnTo>
                  <a:lnTo>
                    <a:pt x="6" y="486"/>
                  </a:lnTo>
                  <a:lnTo>
                    <a:pt x="8" y="486"/>
                  </a:lnTo>
                  <a:lnTo>
                    <a:pt x="8" y="496"/>
                  </a:lnTo>
                  <a:lnTo>
                    <a:pt x="12" y="508"/>
                  </a:lnTo>
                  <a:lnTo>
                    <a:pt x="30" y="518"/>
                  </a:lnTo>
                  <a:lnTo>
                    <a:pt x="54" y="512"/>
                  </a:lnTo>
                  <a:lnTo>
                    <a:pt x="66" y="504"/>
                  </a:lnTo>
                  <a:lnTo>
                    <a:pt x="68" y="504"/>
                  </a:lnTo>
                  <a:lnTo>
                    <a:pt x="80" y="504"/>
                  </a:lnTo>
                  <a:lnTo>
                    <a:pt x="86" y="520"/>
                  </a:lnTo>
                  <a:lnTo>
                    <a:pt x="92" y="526"/>
                  </a:lnTo>
                  <a:lnTo>
                    <a:pt x="94" y="532"/>
                  </a:lnTo>
                  <a:lnTo>
                    <a:pt x="100" y="532"/>
                  </a:lnTo>
                  <a:lnTo>
                    <a:pt x="102" y="532"/>
                  </a:lnTo>
                  <a:lnTo>
                    <a:pt x="104" y="532"/>
                  </a:lnTo>
                  <a:lnTo>
                    <a:pt x="104" y="530"/>
                  </a:lnTo>
                  <a:lnTo>
                    <a:pt x="116" y="520"/>
                  </a:lnTo>
                  <a:lnTo>
                    <a:pt x="126" y="540"/>
                  </a:lnTo>
                  <a:lnTo>
                    <a:pt x="136" y="546"/>
                  </a:lnTo>
                  <a:lnTo>
                    <a:pt x="152" y="546"/>
                  </a:lnTo>
                  <a:lnTo>
                    <a:pt x="164" y="544"/>
                  </a:lnTo>
                  <a:lnTo>
                    <a:pt x="168" y="544"/>
                  </a:lnTo>
                  <a:lnTo>
                    <a:pt x="196" y="548"/>
                  </a:lnTo>
                  <a:lnTo>
                    <a:pt x="196" y="550"/>
                  </a:lnTo>
                  <a:lnTo>
                    <a:pt x="208" y="556"/>
                  </a:lnTo>
                  <a:lnTo>
                    <a:pt x="208" y="558"/>
                  </a:lnTo>
                  <a:lnTo>
                    <a:pt x="220" y="566"/>
                  </a:lnTo>
                  <a:lnTo>
                    <a:pt x="226" y="574"/>
                  </a:lnTo>
                  <a:lnTo>
                    <a:pt x="234" y="578"/>
                  </a:lnTo>
                  <a:lnTo>
                    <a:pt x="248" y="576"/>
                  </a:lnTo>
                  <a:lnTo>
                    <a:pt x="248" y="560"/>
                  </a:lnTo>
                  <a:lnTo>
                    <a:pt x="240" y="548"/>
                  </a:lnTo>
                  <a:lnTo>
                    <a:pt x="236" y="526"/>
                  </a:lnTo>
                  <a:lnTo>
                    <a:pt x="246" y="516"/>
                  </a:lnTo>
                  <a:lnTo>
                    <a:pt x="248" y="514"/>
                  </a:lnTo>
                  <a:lnTo>
                    <a:pt x="258" y="512"/>
                  </a:lnTo>
                  <a:lnTo>
                    <a:pt x="268" y="512"/>
                  </a:lnTo>
                  <a:lnTo>
                    <a:pt x="272" y="508"/>
                  </a:lnTo>
                  <a:lnTo>
                    <a:pt x="264" y="500"/>
                  </a:lnTo>
                  <a:lnTo>
                    <a:pt x="242" y="484"/>
                  </a:lnTo>
                  <a:lnTo>
                    <a:pt x="236" y="476"/>
                  </a:lnTo>
                  <a:lnTo>
                    <a:pt x="234" y="474"/>
                  </a:lnTo>
                  <a:lnTo>
                    <a:pt x="236" y="472"/>
                  </a:lnTo>
                  <a:lnTo>
                    <a:pt x="242" y="460"/>
                  </a:lnTo>
                  <a:lnTo>
                    <a:pt x="244" y="462"/>
                  </a:lnTo>
                  <a:lnTo>
                    <a:pt x="260" y="466"/>
                  </a:lnTo>
                  <a:lnTo>
                    <a:pt x="302" y="464"/>
                  </a:lnTo>
                  <a:lnTo>
                    <a:pt x="302" y="466"/>
                  </a:lnTo>
                  <a:lnTo>
                    <a:pt x="304" y="466"/>
                  </a:lnTo>
                  <a:lnTo>
                    <a:pt x="316" y="470"/>
                  </a:lnTo>
                  <a:lnTo>
                    <a:pt x="324" y="462"/>
                  </a:lnTo>
                  <a:lnTo>
                    <a:pt x="320" y="438"/>
                  </a:lnTo>
                  <a:lnTo>
                    <a:pt x="304" y="428"/>
                  </a:lnTo>
                  <a:lnTo>
                    <a:pt x="300" y="424"/>
                  </a:lnTo>
                  <a:lnTo>
                    <a:pt x="296" y="420"/>
                  </a:lnTo>
                  <a:lnTo>
                    <a:pt x="292" y="410"/>
                  </a:lnTo>
                  <a:lnTo>
                    <a:pt x="290" y="394"/>
                  </a:lnTo>
                  <a:lnTo>
                    <a:pt x="290" y="374"/>
                  </a:lnTo>
                  <a:lnTo>
                    <a:pt x="276" y="368"/>
                  </a:lnTo>
                  <a:lnTo>
                    <a:pt x="274" y="368"/>
                  </a:lnTo>
                  <a:lnTo>
                    <a:pt x="274" y="366"/>
                  </a:lnTo>
                  <a:lnTo>
                    <a:pt x="274" y="364"/>
                  </a:lnTo>
                  <a:lnTo>
                    <a:pt x="272" y="344"/>
                  </a:lnTo>
                  <a:lnTo>
                    <a:pt x="288" y="262"/>
                  </a:lnTo>
                  <a:lnTo>
                    <a:pt x="280" y="232"/>
                  </a:lnTo>
                  <a:lnTo>
                    <a:pt x="278" y="214"/>
                  </a:lnTo>
                  <a:lnTo>
                    <a:pt x="276" y="190"/>
                  </a:lnTo>
                  <a:lnTo>
                    <a:pt x="278" y="164"/>
                  </a:lnTo>
                  <a:lnTo>
                    <a:pt x="278" y="162"/>
                  </a:lnTo>
                  <a:lnTo>
                    <a:pt x="280" y="160"/>
                  </a:lnTo>
                  <a:lnTo>
                    <a:pt x="296" y="148"/>
                  </a:lnTo>
                  <a:lnTo>
                    <a:pt x="296" y="136"/>
                  </a:lnTo>
                  <a:lnTo>
                    <a:pt x="294" y="130"/>
                  </a:lnTo>
                  <a:lnTo>
                    <a:pt x="290" y="122"/>
                  </a:lnTo>
                  <a:lnTo>
                    <a:pt x="280" y="110"/>
                  </a:lnTo>
                  <a:lnTo>
                    <a:pt x="278" y="110"/>
                  </a:lnTo>
                  <a:lnTo>
                    <a:pt x="278" y="108"/>
                  </a:lnTo>
                  <a:lnTo>
                    <a:pt x="276" y="88"/>
                  </a:lnTo>
                  <a:lnTo>
                    <a:pt x="276" y="86"/>
                  </a:lnTo>
                  <a:lnTo>
                    <a:pt x="298" y="60"/>
                  </a:lnTo>
                  <a:lnTo>
                    <a:pt x="298" y="48"/>
                  </a:lnTo>
                  <a:lnTo>
                    <a:pt x="292" y="36"/>
                  </a:lnTo>
                  <a:lnTo>
                    <a:pt x="290" y="34"/>
                  </a:lnTo>
                  <a:lnTo>
                    <a:pt x="300" y="20"/>
                  </a:lnTo>
                  <a:lnTo>
                    <a:pt x="302" y="20"/>
                  </a:lnTo>
                  <a:lnTo>
                    <a:pt x="312" y="12"/>
                  </a:lnTo>
                  <a:lnTo>
                    <a:pt x="312" y="0"/>
                  </a:lnTo>
                  <a:lnTo>
                    <a:pt x="306" y="0"/>
                  </a:lnTo>
                  <a:lnTo>
                    <a:pt x="296" y="0"/>
                  </a:lnTo>
                  <a:lnTo>
                    <a:pt x="292" y="18"/>
                  </a:lnTo>
                  <a:lnTo>
                    <a:pt x="290" y="18"/>
                  </a:lnTo>
                  <a:lnTo>
                    <a:pt x="268" y="10"/>
                  </a:lnTo>
                  <a:lnTo>
                    <a:pt x="256" y="8"/>
                  </a:lnTo>
                  <a:lnTo>
                    <a:pt x="260" y="28"/>
                  </a:lnTo>
                  <a:lnTo>
                    <a:pt x="244" y="32"/>
                  </a:lnTo>
                  <a:lnTo>
                    <a:pt x="218" y="46"/>
                  </a:lnTo>
                  <a:lnTo>
                    <a:pt x="210" y="56"/>
                  </a:lnTo>
                  <a:lnTo>
                    <a:pt x="210" y="58"/>
                  </a:lnTo>
                  <a:lnTo>
                    <a:pt x="208" y="58"/>
                  </a:lnTo>
                  <a:lnTo>
                    <a:pt x="196" y="70"/>
                  </a:lnTo>
                  <a:lnTo>
                    <a:pt x="192" y="88"/>
                  </a:lnTo>
                  <a:lnTo>
                    <a:pt x="192" y="90"/>
                  </a:lnTo>
                  <a:lnTo>
                    <a:pt x="186" y="118"/>
                  </a:lnTo>
                  <a:lnTo>
                    <a:pt x="184" y="130"/>
                  </a:lnTo>
                  <a:lnTo>
                    <a:pt x="184" y="132"/>
                  </a:lnTo>
                  <a:lnTo>
                    <a:pt x="182" y="132"/>
                  </a:lnTo>
                  <a:lnTo>
                    <a:pt x="174" y="144"/>
                  </a:lnTo>
                  <a:lnTo>
                    <a:pt x="172" y="144"/>
                  </a:lnTo>
                  <a:lnTo>
                    <a:pt x="172" y="146"/>
                  </a:lnTo>
                  <a:lnTo>
                    <a:pt x="152" y="148"/>
                  </a:lnTo>
                  <a:lnTo>
                    <a:pt x="122" y="138"/>
                  </a:lnTo>
                  <a:lnTo>
                    <a:pt x="108" y="132"/>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33" name="山西"/>
            <p:cNvSpPr/>
            <p:nvPr/>
          </p:nvSpPr>
          <p:spPr bwMode="auto">
            <a:xfrm>
              <a:off x="8518529" y="-1020645"/>
              <a:ext cx="301917" cy="654423"/>
            </a:xfrm>
            <a:custGeom>
              <a:avLst/>
              <a:gdLst>
                <a:gd name="T0" fmla="*/ 2147483646 w 216"/>
                <a:gd name="T1" fmla="*/ 2147483646 h 474"/>
                <a:gd name="T2" fmla="*/ 2147483646 w 216"/>
                <a:gd name="T3" fmla="*/ 2147483646 h 474"/>
                <a:gd name="T4" fmla="*/ 2147483646 w 216"/>
                <a:gd name="T5" fmla="*/ 2147483646 h 474"/>
                <a:gd name="T6" fmla="*/ 2147483646 w 216"/>
                <a:gd name="T7" fmla="*/ 2147483646 h 474"/>
                <a:gd name="T8" fmla="*/ 2147483646 w 216"/>
                <a:gd name="T9" fmla="*/ 2147483646 h 474"/>
                <a:gd name="T10" fmla="*/ 2147483646 w 216"/>
                <a:gd name="T11" fmla="*/ 2147483646 h 474"/>
                <a:gd name="T12" fmla="*/ 2147483646 w 216"/>
                <a:gd name="T13" fmla="*/ 2147483646 h 474"/>
                <a:gd name="T14" fmla="*/ 2147483646 w 216"/>
                <a:gd name="T15" fmla="*/ 2147483646 h 474"/>
                <a:gd name="T16" fmla="*/ 2147483646 w 216"/>
                <a:gd name="T17" fmla="*/ 2147483646 h 474"/>
                <a:gd name="T18" fmla="*/ 2147483646 w 216"/>
                <a:gd name="T19" fmla="*/ 2147483646 h 474"/>
                <a:gd name="T20" fmla="*/ 2147483646 w 216"/>
                <a:gd name="T21" fmla="*/ 2147483646 h 474"/>
                <a:gd name="T22" fmla="*/ 2147483646 w 216"/>
                <a:gd name="T23" fmla="*/ 2147483646 h 474"/>
                <a:gd name="T24" fmla="*/ 2147483646 w 216"/>
                <a:gd name="T25" fmla="*/ 2147483646 h 474"/>
                <a:gd name="T26" fmla="*/ 2147483646 w 216"/>
                <a:gd name="T27" fmla="*/ 2147483646 h 474"/>
                <a:gd name="T28" fmla="*/ 2147483646 w 216"/>
                <a:gd name="T29" fmla="*/ 2147483646 h 474"/>
                <a:gd name="T30" fmla="*/ 2147483646 w 216"/>
                <a:gd name="T31" fmla="*/ 2147483646 h 474"/>
                <a:gd name="T32" fmla="*/ 2147483646 w 216"/>
                <a:gd name="T33" fmla="*/ 2147483646 h 474"/>
                <a:gd name="T34" fmla="*/ 2147483646 w 216"/>
                <a:gd name="T35" fmla="*/ 2147483646 h 474"/>
                <a:gd name="T36" fmla="*/ 2147483646 w 216"/>
                <a:gd name="T37" fmla="*/ 2147483646 h 474"/>
                <a:gd name="T38" fmla="*/ 2147483646 w 216"/>
                <a:gd name="T39" fmla="*/ 2147483646 h 474"/>
                <a:gd name="T40" fmla="*/ 2147483646 w 216"/>
                <a:gd name="T41" fmla="*/ 2147483646 h 474"/>
                <a:gd name="T42" fmla="*/ 2147483646 w 216"/>
                <a:gd name="T43" fmla="*/ 2147483646 h 474"/>
                <a:gd name="T44" fmla="*/ 2147483646 w 216"/>
                <a:gd name="T45" fmla="*/ 2147483646 h 474"/>
                <a:gd name="T46" fmla="*/ 2147483646 w 216"/>
                <a:gd name="T47" fmla="*/ 2147483646 h 474"/>
                <a:gd name="T48" fmla="*/ 2147483646 w 216"/>
                <a:gd name="T49" fmla="*/ 2147483646 h 474"/>
                <a:gd name="T50" fmla="*/ 2147483646 w 216"/>
                <a:gd name="T51" fmla="*/ 2147483646 h 474"/>
                <a:gd name="T52" fmla="*/ 2147483646 w 216"/>
                <a:gd name="T53" fmla="*/ 2147483646 h 474"/>
                <a:gd name="T54" fmla="*/ 2147483646 w 216"/>
                <a:gd name="T55" fmla="*/ 2147483646 h 474"/>
                <a:gd name="T56" fmla="*/ 2147483646 w 216"/>
                <a:gd name="T57" fmla="*/ 2147483646 h 474"/>
                <a:gd name="T58" fmla="*/ 2147483646 w 216"/>
                <a:gd name="T59" fmla="*/ 2147483646 h 474"/>
                <a:gd name="T60" fmla="*/ 2147483646 w 216"/>
                <a:gd name="T61" fmla="*/ 2147483646 h 474"/>
                <a:gd name="T62" fmla="*/ 2147483646 w 216"/>
                <a:gd name="T63" fmla="*/ 2147483646 h 474"/>
                <a:gd name="T64" fmla="*/ 2147483646 w 216"/>
                <a:gd name="T65" fmla="*/ 2147483646 h 474"/>
                <a:gd name="T66" fmla="*/ 2147483646 w 216"/>
                <a:gd name="T67" fmla="*/ 2147483646 h 474"/>
                <a:gd name="T68" fmla="*/ 2147483646 w 216"/>
                <a:gd name="T69" fmla="*/ 2147483646 h 474"/>
                <a:gd name="T70" fmla="*/ 2147483646 w 216"/>
                <a:gd name="T71" fmla="*/ 2147483646 h 474"/>
                <a:gd name="T72" fmla="*/ 2147483646 w 216"/>
                <a:gd name="T73" fmla="*/ 2147483646 h 474"/>
                <a:gd name="T74" fmla="*/ 2147483646 w 216"/>
                <a:gd name="T75" fmla="*/ 2147483646 h 474"/>
                <a:gd name="T76" fmla="*/ 2147483646 w 216"/>
                <a:gd name="T77" fmla="*/ 2147483646 h 474"/>
                <a:gd name="T78" fmla="*/ 2147483646 w 216"/>
                <a:gd name="T79" fmla="*/ 2147483646 h 474"/>
                <a:gd name="T80" fmla="*/ 2147483646 w 216"/>
                <a:gd name="T81" fmla="*/ 2147483646 h 474"/>
                <a:gd name="T82" fmla="*/ 2147483646 w 216"/>
                <a:gd name="T83" fmla="*/ 2147483646 h 474"/>
                <a:gd name="T84" fmla="*/ 2147483646 w 216"/>
                <a:gd name="T85" fmla="*/ 2147483646 h 474"/>
                <a:gd name="T86" fmla="*/ 2147483646 w 216"/>
                <a:gd name="T87" fmla="*/ 2147483646 h 474"/>
                <a:gd name="T88" fmla="*/ 2147483646 w 216"/>
                <a:gd name="T89" fmla="*/ 2147483646 h 474"/>
                <a:gd name="T90" fmla="*/ 2147483646 w 216"/>
                <a:gd name="T91" fmla="*/ 2147483646 h 474"/>
                <a:gd name="T92" fmla="*/ 2147483646 w 216"/>
                <a:gd name="T93" fmla="*/ 2147483646 h 474"/>
                <a:gd name="T94" fmla="*/ 2147483646 w 216"/>
                <a:gd name="T95" fmla="*/ 2147483646 h 474"/>
                <a:gd name="T96" fmla="*/ 2147483646 w 216"/>
                <a:gd name="T97" fmla="*/ 2147483646 h 47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16" h="474">
                  <a:moveTo>
                    <a:pt x="202" y="24"/>
                  </a:moveTo>
                  <a:lnTo>
                    <a:pt x="204" y="20"/>
                  </a:lnTo>
                  <a:lnTo>
                    <a:pt x="200" y="8"/>
                  </a:lnTo>
                  <a:lnTo>
                    <a:pt x="194" y="0"/>
                  </a:lnTo>
                  <a:lnTo>
                    <a:pt x="188" y="12"/>
                  </a:lnTo>
                  <a:lnTo>
                    <a:pt x="176" y="24"/>
                  </a:lnTo>
                  <a:lnTo>
                    <a:pt x="174" y="24"/>
                  </a:lnTo>
                  <a:lnTo>
                    <a:pt x="156" y="30"/>
                  </a:lnTo>
                  <a:lnTo>
                    <a:pt x="154" y="30"/>
                  </a:lnTo>
                  <a:lnTo>
                    <a:pt x="136" y="28"/>
                  </a:lnTo>
                  <a:lnTo>
                    <a:pt x="124" y="30"/>
                  </a:lnTo>
                  <a:lnTo>
                    <a:pt x="122" y="40"/>
                  </a:lnTo>
                  <a:lnTo>
                    <a:pt x="112" y="46"/>
                  </a:lnTo>
                  <a:lnTo>
                    <a:pt x="112" y="48"/>
                  </a:lnTo>
                  <a:lnTo>
                    <a:pt x="110" y="48"/>
                  </a:lnTo>
                  <a:lnTo>
                    <a:pt x="94" y="46"/>
                  </a:lnTo>
                  <a:lnTo>
                    <a:pt x="92" y="48"/>
                  </a:lnTo>
                  <a:lnTo>
                    <a:pt x="92" y="64"/>
                  </a:lnTo>
                  <a:lnTo>
                    <a:pt x="84" y="76"/>
                  </a:lnTo>
                  <a:lnTo>
                    <a:pt x="82" y="76"/>
                  </a:lnTo>
                  <a:lnTo>
                    <a:pt x="68" y="92"/>
                  </a:lnTo>
                  <a:lnTo>
                    <a:pt x="66" y="92"/>
                  </a:lnTo>
                  <a:lnTo>
                    <a:pt x="50" y="96"/>
                  </a:lnTo>
                  <a:lnTo>
                    <a:pt x="40" y="106"/>
                  </a:lnTo>
                  <a:lnTo>
                    <a:pt x="42" y="120"/>
                  </a:lnTo>
                  <a:lnTo>
                    <a:pt x="42" y="124"/>
                  </a:lnTo>
                  <a:lnTo>
                    <a:pt x="40" y="124"/>
                  </a:lnTo>
                  <a:lnTo>
                    <a:pt x="28" y="136"/>
                  </a:lnTo>
                  <a:lnTo>
                    <a:pt x="20" y="144"/>
                  </a:lnTo>
                  <a:lnTo>
                    <a:pt x="26" y="154"/>
                  </a:lnTo>
                  <a:lnTo>
                    <a:pt x="26" y="156"/>
                  </a:lnTo>
                  <a:lnTo>
                    <a:pt x="26" y="170"/>
                  </a:lnTo>
                  <a:lnTo>
                    <a:pt x="26" y="172"/>
                  </a:lnTo>
                  <a:lnTo>
                    <a:pt x="16" y="184"/>
                  </a:lnTo>
                  <a:lnTo>
                    <a:pt x="4" y="198"/>
                  </a:lnTo>
                  <a:lnTo>
                    <a:pt x="6" y="214"/>
                  </a:lnTo>
                  <a:lnTo>
                    <a:pt x="16" y="224"/>
                  </a:lnTo>
                  <a:lnTo>
                    <a:pt x="22" y="236"/>
                  </a:lnTo>
                  <a:lnTo>
                    <a:pt x="24" y="244"/>
                  </a:lnTo>
                  <a:lnTo>
                    <a:pt x="24" y="262"/>
                  </a:lnTo>
                  <a:lnTo>
                    <a:pt x="22" y="264"/>
                  </a:lnTo>
                  <a:lnTo>
                    <a:pt x="6" y="276"/>
                  </a:lnTo>
                  <a:lnTo>
                    <a:pt x="4" y="300"/>
                  </a:lnTo>
                  <a:lnTo>
                    <a:pt x="6" y="324"/>
                  </a:lnTo>
                  <a:lnTo>
                    <a:pt x="10" y="340"/>
                  </a:lnTo>
                  <a:lnTo>
                    <a:pt x="18" y="368"/>
                  </a:lnTo>
                  <a:lnTo>
                    <a:pt x="18" y="370"/>
                  </a:lnTo>
                  <a:lnTo>
                    <a:pt x="18" y="372"/>
                  </a:lnTo>
                  <a:lnTo>
                    <a:pt x="0" y="452"/>
                  </a:lnTo>
                  <a:lnTo>
                    <a:pt x="2" y="468"/>
                  </a:lnTo>
                  <a:lnTo>
                    <a:pt x="14" y="474"/>
                  </a:lnTo>
                  <a:lnTo>
                    <a:pt x="32" y="456"/>
                  </a:lnTo>
                  <a:lnTo>
                    <a:pt x="34" y="456"/>
                  </a:lnTo>
                  <a:lnTo>
                    <a:pt x="96" y="432"/>
                  </a:lnTo>
                  <a:lnTo>
                    <a:pt x="112" y="416"/>
                  </a:lnTo>
                  <a:lnTo>
                    <a:pt x="114" y="416"/>
                  </a:lnTo>
                  <a:lnTo>
                    <a:pt x="116" y="416"/>
                  </a:lnTo>
                  <a:lnTo>
                    <a:pt x="150" y="420"/>
                  </a:lnTo>
                  <a:lnTo>
                    <a:pt x="162" y="416"/>
                  </a:lnTo>
                  <a:lnTo>
                    <a:pt x="180" y="408"/>
                  </a:lnTo>
                  <a:lnTo>
                    <a:pt x="180" y="392"/>
                  </a:lnTo>
                  <a:lnTo>
                    <a:pt x="182" y="392"/>
                  </a:lnTo>
                  <a:lnTo>
                    <a:pt x="192" y="382"/>
                  </a:lnTo>
                  <a:lnTo>
                    <a:pt x="190" y="372"/>
                  </a:lnTo>
                  <a:lnTo>
                    <a:pt x="190" y="370"/>
                  </a:lnTo>
                  <a:lnTo>
                    <a:pt x="190" y="368"/>
                  </a:lnTo>
                  <a:lnTo>
                    <a:pt x="194" y="364"/>
                  </a:lnTo>
                  <a:lnTo>
                    <a:pt x="192" y="360"/>
                  </a:lnTo>
                  <a:lnTo>
                    <a:pt x="190" y="356"/>
                  </a:lnTo>
                  <a:lnTo>
                    <a:pt x="190" y="352"/>
                  </a:lnTo>
                  <a:lnTo>
                    <a:pt x="194" y="340"/>
                  </a:lnTo>
                  <a:lnTo>
                    <a:pt x="198" y="336"/>
                  </a:lnTo>
                  <a:lnTo>
                    <a:pt x="196" y="324"/>
                  </a:lnTo>
                  <a:lnTo>
                    <a:pt x="184" y="310"/>
                  </a:lnTo>
                  <a:lnTo>
                    <a:pt x="182" y="306"/>
                  </a:lnTo>
                  <a:lnTo>
                    <a:pt x="180" y="302"/>
                  </a:lnTo>
                  <a:lnTo>
                    <a:pt x="180" y="298"/>
                  </a:lnTo>
                  <a:lnTo>
                    <a:pt x="182" y="294"/>
                  </a:lnTo>
                  <a:lnTo>
                    <a:pt x="184" y="288"/>
                  </a:lnTo>
                  <a:lnTo>
                    <a:pt x="190" y="280"/>
                  </a:lnTo>
                  <a:lnTo>
                    <a:pt x="192" y="268"/>
                  </a:lnTo>
                  <a:lnTo>
                    <a:pt x="202" y="248"/>
                  </a:lnTo>
                  <a:lnTo>
                    <a:pt x="204" y="240"/>
                  </a:lnTo>
                  <a:lnTo>
                    <a:pt x="216" y="216"/>
                  </a:lnTo>
                  <a:lnTo>
                    <a:pt x="208" y="200"/>
                  </a:lnTo>
                  <a:lnTo>
                    <a:pt x="184" y="184"/>
                  </a:lnTo>
                  <a:lnTo>
                    <a:pt x="182" y="184"/>
                  </a:lnTo>
                  <a:lnTo>
                    <a:pt x="176" y="170"/>
                  </a:lnTo>
                  <a:lnTo>
                    <a:pt x="176" y="168"/>
                  </a:lnTo>
                  <a:lnTo>
                    <a:pt x="180" y="146"/>
                  </a:lnTo>
                  <a:lnTo>
                    <a:pt x="184" y="130"/>
                  </a:lnTo>
                  <a:lnTo>
                    <a:pt x="184" y="122"/>
                  </a:lnTo>
                  <a:lnTo>
                    <a:pt x="188" y="116"/>
                  </a:lnTo>
                  <a:lnTo>
                    <a:pt x="190" y="114"/>
                  </a:lnTo>
                  <a:lnTo>
                    <a:pt x="194" y="114"/>
                  </a:lnTo>
                  <a:lnTo>
                    <a:pt x="208" y="112"/>
                  </a:lnTo>
                  <a:lnTo>
                    <a:pt x="212" y="102"/>
                  </a:lnTo>
                  <a:lnTo>
                    <a:pt x="216" y="76"/>
                  </a:lnTo>
                  <a:lnTo>
                    <a:pt x="214" y="66"/>
                  </a:lnTo>
                  <a:lnTo>
                    <a:pt x="200" y="64"/>
                  </a:lnTo>
                  <a:lnTo>
                    <a:pt x="184" y="56"/>
                  </a:lnTo>
                  <a:lnTo>
                    <a:pt x="182" y="54"/>
                  </a:lnTo>
                  <a:lnTo>
                    <a:pt x="182" y="52"/>
                  </a:lnTo>
                  <a:lnTo>
                    <a:pt x="180" y="32"/>
                  </a:lnTo>
                  <a:lnTo>
                    <a:pt x="180" y="28"/>
                  </a:lnTo>
                  <a:lnTo>
                    <a:pt x="202" y="24"/>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34" name="湖南"/>
            <p:cNvSpPr/>
            <p:nvPr/>
          </p:nvSpPr>
          <p:spPr bwMode="auto">
            <a:xfrm>
              <a:off x="8440253" y="94912"/>
              <a:ext cx="480830" cy="552255"/>
            </a:xfrm>
            <a:custGeom>
              <a:avLst/>
              <a:gdLst>
                <a:gd name="T0" fmla="*/ 2147483646 w 344"/>
                <a:gd name="T1" fmla="*/ 2147483646 h 400"/>
                <a:gd name="T2" fmla="*/ 2147483646 w 344"/>
                <a:gd name="T3" fmla="*/ 2147483646 h 400"/>
                <a:gd name="T4" fmla="*/ 2147483646 w 344"/>
                <a:gd name="T5" fmla="*/ 2147483646 h 400"/>
                <a:gd name="T6" fmla="*/ 2147483646 w 344"/>
                <a:gd name="T7" fmla="*/ 2147483646 h 400"/>
                <a:gd name="T8" fmla="*/ 2147483646 w 344"/>
                <a:gd name="T9" fmla="*/ 2147483646 h 400"/>
                <a:gd name="T10" fmla="*/ 2147483646 w 344"/>
                <a:gd name="T11" fmla="*/ 2147483646 h 400"/>
                <a:gd name="T12" fmla="*/ 2147483646 w 344"/>
                <a:gd name="T13" fmla="*/ 2147483646 h 400"/>
                <a:gd name="T14" fmla="*/ 2147483646 w 344"/>
                <a:gd name="T15" fmla="*/ 2147483646 h 400"/>
                <a:gd name="T16" fmla="*/ 2147483646 w 344"/>
                <a:gd name="T17" fmla="*/ 2147483646 h 400"/>
                <a:gd name="T18" fmla="*/ 2147483646 w 344"/>
                <a:gd name="T19" fmla="*/ 2147483646 h 400"/>
                <a:gd name="T20" fmla="*/ 2147483646 w 344"/>
                <a:gd name="T21" fmla="*/ 0 h 400"/>
                <a:gd name="T22" fmla="*/ 2147483646 w 344"/>
                <a:gd name="T23" fmla="*/ 2147483646 h 400"/>
                <a:gd name="T24" fmla="*/ 2147483646 w 344"/>
                <a:gd name="T25" fmla="*/ 2147483646 h 400"/>
                <a:gd name="T26" fmla="*/ 2147483646 w 344"/>
                <a:gd name="T27" fmla="*/ 2147483646 h 400"/>
                <a:gd name="T28" fmla="*/ 2147483646 w 344"/>
                <a:gd name="T29" fmla="*/ 2147483646 h 400"/>
                <a:gd name="T30" fmla="*/ 2147483646 w 344"/>
                <a:gd name="T31" fmla="*/ 2147483646 h 400"/>
                <a:gd name="T32" fmla="*/ 2147483646 w 344"/>
                <a:gd name="T33" fmla="*/ 2147483646 h 400"/>
                <a:gd name="T34" fmla="*/ 2147483646 w 344"/>
                <a:gd name="T35" fmla="*/ 2147483646 h 400"/>
                <a:gd name="T36" fmla="*/ 2147483646 w 344"/>
                <a:gd name="T37" fmla="*/ 2147483646 h 400"/>
                <a:gd name="T38" fmla="*/ 2147483646 w 344"/>
                <a:gd name="T39" fmla="*/ 2147483646 h 400"/>
                <a:gd name="T40" fmla="*/ 2147483646 w 344"/>
                <a:gd name="T41" fmla="*/ 2147483646 h 400"/>
                <a:gd name="T42" fmla="*/ 2147483646 w 344"/>
                <a:gd name="T43" fmla="*/ 2147483646 h 400"/>
                <a:gd name="T44" fmla="*/ 2147483646 w 344"/>
                <a:gd name="T45" fmla="*/ 2147483646 h 400"/>
                <a:gd name="T46" fmla="*/ 2147483646 w 344"/>
                <a:gd name="T47" fmla="*/ 2147483646 h 400"/>
                <a:gd name="T48" fmla="*/ 2147483646 w 344"/>
                <a:gd name="T49" fmla="*/ 2147483646 h 400"/>
                <a:gd name="T50" fmla="*/ 2147483646 w 344"/>
                <a:gd name="T51" fmla="*/ 2147483646 h 400"/>
                <a:gd name="T52" fmla="*/ 2147483646 w 344"/>
                <a:gd name="T53" fmla="*/ 2147483646 h 400"/>
                <a:gd name="T54" fmla="*/ 2147483646 w 344"/>
                <a:gd name="T55" fmla="*/ 2147483646 h 400"/>
                <a:gd name="T56" fmla="*/ 2147483646 w 344"/>
                <a:gd name="T57" fmla="*/ 2147483646 h 400"/>
                <a:gd name="T58" fmla="*/ 2147483646 w 344"/>
                <a:gd name="T59" fmla="*/ 2147483646 h 400"/>
                <a:gd name="T60" fmla="*/ 2147483646 w 344"/>
                <a:gd name="T61" fmla="*/ 2147483646 h 400"/>
                <a:gd name="T62" fmla="*/ 2147483646 w 344"/>
                <a:gd name="T63" fmla="*/ 2147483646 h 400"/>
                <a:gd name="T64" fmla="*/ 2147483646 w 344"/>
                <a:gd name="T65" fmla="*/ 2147483646 h 400"/>
                <a:gd name="T66" fmla="*/ 2147483646 w 344"/>
                <a:gd name="T67" fmla="*/ 2147483646 h 400"/>
                <a:gd name="T68" fmla="*/ 2147483646 w 344"/>
                <a:gd name="T69" fmla="*/ 2147483646 h 400"/>
                <a:gd name="T70" fmla="*/ 2147483646 w 344"/>
                <a:gd name="T71" fmla="*/ 2147483646 h 400"/>
                <a:gd name="T72" fmla="*/ 2147483646 w 344"/>
                <a:gd name="T73" fmla="*/ 2147483646 h 400"/>
                <a:gd name="T74" fmla="*/ 2147483646 w 344"/>
                <a:gd name="T75" fmla="*/ 2147483646 h 400"/>
                <a:gd name="T76" fmla="*/ 2147483646 w 344"/>
                <a:gd name="T77" fmla="*/ 2147483646 h 400"/>
                <a:gd name="T78" fmla="*/ 2147483646 w 344"/>
                <a:gd name="T79" fmla="*/ 2147483646 h 400"/>
                <a:gd name="T80" fmla="*/ 2147483646 w 344"/>
                <a:gd name="T81" fmla="*/ 2147483646 h 400"/>
                <a:gd name="T82" fmla="*/ 2147483646 w 344"/>
                <a:gd name="T83" fmla="*/ 2147483646 h 400"/>
                <a:gd name="T84" fmla="*/ 2147483646 w 344"/>
                <a:gd name="T85" fmla="*/ 2147483646 h 400"/>
                <a:gd name="T86" fmla="*/ 2147483646 w 344"/>
                <a:gd name="T87" fmla="*/ 2147483646 h 400"/>
                <a:gd name="T88" fmla="*/ 2147483646 w 344"/>
                <a:gd name="T89" fmla="*/ 2147483646 h 400"/>
                <a:gd name="T90" fmla="*/ 2147483646 w 344"/>
                <a:gd name="T91" fmla="*/ 2147483646 h 400"/>
                <a:gd name="T92" fmla="*/ 2147483646 w 344"/>
                <a:gd name="T93" fmla="*/ 2147483646 h 400"/>
                <a:gd name="T94" fmla="*/ 2147483646 w 344"/>
                <a:gd name="T95" fmla="*/ 2147483646 h 400"/>
                <a:gd name="T96" fmla="*/ 2147483646 w 344"/>
                <a:gd name="T97" fmla="*/ 2147483646 h 400"/>
                <a:gd name="T98" fmla="*/ 2147483646 w 344"/>
                <a:gd name="T99" fmla="*/ 2147483646 h 400"/>
                <a:gd name="T100" fmla="*/ 2147483646 w 344"/>
                <a:gd name="T101" fmla="*/ 2147483646 h 400"/>
                <a:gd name="T102" fmla="*/ 2147483646 w 344"/>
                <a:gd name="T103" fmla="*/ 2147483646 h 400"/>
                <a:gd name="T104" fmla="*/ 2147483646 w 344"/>
                <a:gd name="T105" fmla="*/ 2147483646 h 40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344" h="400">
                  <a:moveTo>
                    <a:pt x="300" y="68"/>
                  </a:moveTo>
                  <a:lnTo>
                    <a:pt x="300" y="68"/>
                  </a:lnTo>
                  <a:lnTo>
                    <a:pt x="300" y="66"/>
                  </a:lnTo>
                  <a:lnTo>
                    <a:pt x="292" y="54"/>
                  </a:lnTo>
                  <a:lnTo>
                    <a:pt x="292" y="52"/>
                  </a:lnTo>
                  <a:lnTo>
                    <a:pt x="294" y="32"/>
                  </a:lnTo>
                  <a:lnTo>
                    <a:pt x="292" y="28"/>
                  </a:lnTo>
                  <a:lnTo>
                    <a:pt x="286" y="24"/>
                  </a:lnTo>
                  <a:lnTo>
                    <a:pt x="282" y="24"/>
                  </a:lnTo>
                  <a:lnTo>
                    <a:pt x="274" y="34"/>
                  </a:lnTo>
                  <a:lnTo>
                    <a:pt x="272" y="34"/>
                  </a:lnTo>
                  <a:lnTo>
                    <a:pt x="252" y="44"/>
                  </a:lnTo>
                  <a:lnTo>
                    <a:pt x="250" y="30"/>
                  </a:lnTo>
                  <a:lnTo>
                    <a:pt x="250" y="28"/>
                  </a:lnTo>
                  <a:lnTo>
                    <a:pt x="252" y="22"/>
                  </a:lnTo>
                  <a:lnTo>
                    <a:pt x="250" y="14"/>
                  </a:lnTo>
                  <a:lnTo>
                    <a:pt x="248" y="12"/>
                  </a:lnTo>
                  <a:lnTo>
                    <a:pt x="244" y="20"/>
                  </a:lnTo>
                  <a:lnTo>
                    <a:pt x="218" y="42"/>
                  </a:lnTo>
                  <a:lnTo>
                    <a:pt x="218" y="44"/>
                  </a:lnTo>
                  <a:lnTo>
                    <a:pt x="216" y="44"/>
                  </a:lnTo>
                  <a:lnTo>
                    <a:pt x="214" y="44"/>
                  </a:lnTo>
                  <a:lnTo>
                    <a:pt x="206" y="40"/>
                  </a:lnTo>
                  <a:lnTo>
                    <a:pt x="198" y="32"/>
                  </a:lnTo>
                  <a:lnTo>
                    <a:pt x="184" y="28"/>
                  </a:lnTo>
                  <a:lnTo>
                    <a:pt x="184" y="26"/>
                  </a:lnTo>
                  <a:lnTo>
                    <a:pt x="176" y="20"/>
                  </a:lnTo>
                  <a:lnTo>
                    <a:pt x="150" y="16"/>
                  </a:lnTo>
                  <a:lnTo>
                    <a:pt x="148" y="16"/>
                  </a:lnTo>
                  <a:lnTo>
                    <a:pt x="132" y="6"/>
                  </a:lnTo>
                  <a:lnTo>
                    <a:pt x="132" y="8"/>
                  </a:lnTo>
                  <a:lnTo>
                    <a:pt x="118" y="0"/>
                  </a:lnTo>
                  <a:lnTo>
                    <a:pt x="100" y="0"/>
                  </a:lnTo>
                  <a:lnTo>
                    <a:pt x="94" y="0"/>
                  </a:lnTo>
                  <a:lnTo>
                    <a:pt x="100" y="30"/>
                  </a:lnTo>
                  <a:lnTo>
                    <a:pt x="96" y="30"/>
                  </a:lnTo>
                  <a:lnTo>
                    <a:pt x="80" y="32"/>
                  </a:lnTo>
                  <a:lnTo>
                    <a:pt x="70" y="32"/>
                  </a:lnTo>
                  <a:lnTo>
                    <a:pt x="68" y="32"/>
                  </a:lnTo>
                  <a:lnTo>
                    <a:pt x="60" y="24"/>
                  </a:lnTo>
                  <a:lnTo>
                    <a:pt x="44" y="32"/>
                  </a:lnTo>
                  <a:lnTo>
                    <a:pt x="28" y="52"/>
                  </a:lnTo>
                  <a:lnTo>
                    <a:pt x="16" y="86"/>
                  </a:lnTo>
                  <a:lnTo>
                    <a:pt x="20" y="124"/>
                  </a:lnTo>
                  <a:lnTo>
                    <a:pt x="26" y="144"/>
                  </a:lnTo>
                  <a:lnTo>
                    <a:pt x="26" y="148"/>
                  </a:lnTo>
                  <a:lnTo>
                    <a:pt x="24" y="150"/>
                  </a:lnTo>
                  <a:lnTo>
                    <a:pt x="20" y="152"/>
                  </a:lnTo>
                  <a:lnTo>
                    <a:pt x="20" y="156"/>
                  </a:lnTo>
                  <a:lnTo>
                    <a:pt x="18" y="166"/>
                  </a:lnTo>
                  <a:lnTo>
                    <a:pt x="26" y="198"/>
                  </a:lnTo>
                  <a:lnTo>
                    <a:pt x="24" y="200"/>
                  </a:lnTo>
                  <a:lnTo>
                    <a:pt x="8" y="210"/>
                  </a:lnTo>
                  <a:lnTo>
                    <a:pt x="4" y="214"/>
                  </a:lnTo>
                  <a:lnTo>
                    <a:pt x="2" y="218"/>
                  </a:lnTo>
                  <a:lnTo>
                    <a:pt x="0" y="228"/>
                  </a:lnTo>
                  <a:lnTo>
                    <a:pt x="14" y="224"/>
                  </a:lnTo>
                  <a:lnTo>
                    <a:pt x="14" y="222"/>
                  </a:lnTo>
                  <a:lnTo>
                    <a:pt x="16" y="222"/>
                  </a:lnTo>
                  <a:lnTo>
                    <a:pt x="22" y="224"/>
                  </a:lnTo>
                  <a:lnTo>
                    <a:pt x="26" y="226"/>
                  </a:lnTo>
                  <a:lnTo>
                    <a:pt x="30" y="228"/>
                  </a:lnTo>
                  <a:lnTo>
                    <a:pt x="32" y="234"/>
                  </a:lnTo>
                  <a:lnTo>
                    <a:pt x="34" y="252"/>
                  </a:lnTo>
                  <a:lnTo>
                    <a:pt x="32" y="254"/>
                  </a:lnTo>
                  <a:lnTo>
                    <a:pt x="32" y="256"/>
                  </a:lnTo>
                  <a:lnTo>
                    <a:pt x="28" y="260"/>
                  </a:lnTo>
                  <a:lnTo>
                    <a:pt x="28" y="264"/>
                  </a:lnTo>
                  <a:lnTo>
                    <a:pt x="24" y="282"/>
                  </a:lnTo>
                  <a:lnTo>
                    <a:pt x="28" y="290"/>
                  </a:lnTo>
                  <a:lnTo>
                    <a:pt x="32" y="296"/>
                  </a:lnTo>
                  <a:lnTo>
                    <a:pt x="48" y="316"/>
                  </a:lnTo>
                  <a:lnTo>
                    <a:pt x="64" y="304"/>
                  </a:lnTo>
                  <a:lnTo>
                    <a:pt x="76" y="302"/>
                  </a:lnTo>
                  <a:lnTo>
                    <a:pt x="76" y="304"/>
                  </a:lnTo>
                  <a:lnTo>
                    <a:pt x="84" y="306"/>
                  </a:lnTo>
                  <a:lnTo>
                    <a:pt x="88" y="306"/>
                  </a:lnTo>
                  <a:lnTo>
                    <a:pt x="92" y="302"/>
                  </a:lnTo>
                  <a:lnTo>
                    <a:pt x="100" y="292"/>
                  </a:lnTo>
                  <a:lnTo>
                    <a:pt x="98" y="286"/>
                  </a:lnTo>
                  <a:lnTo>
                    <a:pt x="100" y="282"/>
                  </a:lnTo>
                  <a:lnTo>
                    <a:pt x="104" y="280"/>
                  </a:lnTo>
                  <a:lnTo>
                    <a:pt x="124" y="280"/>
                  </a:lnTo>
                  <a:lnTo>
                    <a:pt x="128" y="280"/>
                  </a:lnTo>
                  <a:lnTo>
                    <a:pt x="130" y="280"/>
                  </a:lnTo>
                  <a:lnTo>
                    <a:pt x="134" y="274"/>
                  </a:lnTo>
                  <a:lnTo>
                    <a:pt x="136" y="270"/>
                  </a:lnTo>
                  <a:lnTo>
                    <a:pt x="142" y="270"/>
                  </a:lnTo>
                  <a:lnTo>
                    <a:pt x="146" y="272"/>
                  </a:lnTo>
                  <a:lnTo>
                    <a:pt x="152" y="280"/>
                  </a:lnTo>
                  <a:lnTo>
                    <a:pt x="154" y="284"/>
                  </a:lnTo>
                  <a:lnTo>
                    <a:pt x="156" y="288"/>
                  </a:lnTo>
                  <a:lnTo>
                    <a:pt x="154" y="302"/>
                  </a:lnTo>
                  <a:lnTo>
                    <a:pt x="156" y="304"/>
                  </a:lnTo>
                  <a:lnTo>
                    <a:pt x="162" y="310"/>
                  </a:lnTo>
                  <a:lnTo>
                    <a:pt x="164" y="316"/>
                  </a:lnTo>
                  <a:lnTo>
                    <a:pt x="162" y="330"/>
                  </a:lnTo>
                  <a:lnTo>
                    <a:pt x="158" y="340"/>
                  </a:lnTo>
                  <a:lnTo>
                    <a:pt x="154" y="344"/>
                  </a:lnTo>
                  <a:lnTo>
                    <a:pt x="142" y="370"/>
                  </a:lnTo>
                  <a:lnTo>
                    <a:pt x="146" y="372"/>
                  </a:lnTo>
                  <a:lnTo>
                    <a:pt x="164" y="372"/>
                  </a:lnTo>
                  <a:lnTo>
                    <a:pt x="168" y="374"/>
                  </a:lnTo>
                  <a:lnTo>
                    <a:pt x="168" y="376"/>
                  </a:lnTo>
                  <a:lnTo>
                    <a:pt x="164" y="388"/>
                  </a:lnTo>
                  <a:lnTo>
                    <a:pt x="164" y="394"/>
                  </a:lnTo>
                  <a:lnTo>
                    <a:pt x="172" y="398"/>
                  </a:lnTo>
                  <a:lnTo>
                    <a:pt x="176" y="400"/>
                  </a:lnTo>
                  <a:lnTo>
                    <a:pt x="178" y="398"/>
                  </a:lnTo>
                  <a:lnTo>
                    <a:pt x="188" y="394"/>
                  </a:lnTo>
                  <a:lnTo>
                    <a:pt x="194" y="392"/>
                  </a:lnTo>
                  <a:lnTo>
                    <a:pt x="204" y="392"/>
                  </a:lnTo>
                  <a:lnTo>
                    <a:pt x="216" y="380"/>
                  </a:lnTo>
                  <a:lnTo>
                    <a:pt x="216" y="366"/>
                  </a:lnTo>
                  <a:lnTo>
                    <a:pt x="216" y="360"/>
                  </a:lnTo>
                  <a:lnTo>
                    <a:pt x="216" y="356"/>
                  </a:lnTo>
                  <a:lnTo>
                    <a:pt x="220" y="354"/>
                  </a:lnTo>
                  <a:lnTo>
                    <a:pt x="224" y="354"/>
                  </a:lnTo>
                  <a:lnTo>
                    <a:pt x="230" y="356"/>
                  </a:lnTo>
                  <a:lnTo>
                    <a:pt x="236" y="360"/>
                  </a:lnTo>
                  <a:lnTo>
                    <a:pt x="256" y="372"/>
                  </a:lnTo>
                  <a:lnTo>
                    <a:pt x="264" y="376"/>
                  </a:lnTo>
                  <a:lnTo>
                    <a:pt x="270" y="378"/>
                  </a:lnTo>
                  <a:lnTo>
                    <a:pt x="270" y="376"/>
                  </a:lnTo>
                  <a:lnTo>
                    <a:pt x="270" y="370"/>
                  </a:lnTo>
                  <a:lnTo>
                    <a:pt x="266" y="360"/>
                  </a:lnTo>
                  <a:lnTo>
                    <a:pt x="256" y="344"/>
                  </a:lnTo>
                  <a:lnTo>
                    <a:pt x="256" y="342"/>
                  </a:lnTo>
                  <a:lnTo>
                    <a:pt x="256" y="340"/>
                  </a:lnTo>
                  <a:lnTo>
                    <a:pt x="264" y="332"/>
                  </a:lnTo>
                  <a:lnTo>
                    <a:pt x="274" y="326"/>
                  </a:lnTo>
                  <a:lnTo>
                    <a:pt x="282" y="324"/>
                  </a:lnTo>
                  <a:lnTo>
                    <a:pt x="292" y="326"/>
                  </a:lnTo>
                  <a:lnTo>
                    <a:pt x="320" y="340"/>
                  </a:lnTo>
                  <a:lnTo>
                    <a:pt x="332" y="332"/>
                  </a:lnTo>
                  <a:lnTo>
                    <a:pt x="334" y="332"/>
                  </a:lnTo>
                  <a:lnTo>
                    <a:pt x="334" y="330"/>
                  </a:lnTo>
                  <a:lnTo>
                    <a:pt x="332" y="328"/>
                  </a:lnTo>
                  <a:lnTo>
                    <a:pt x="334" y="326"/>
                  </a:lnTo>
                  <a:lnTo>
                    <a:pt x="340" y="314"/>
                  </a:lnTo>
                  <a:lnTo>
                    <a:pt x="344" y="304"/>
                  </a:lnTo>
                  <a:lnTo>
                    <a:pt x="344" y="298"/>
                  </a:lnTo>
                  <a:lnTo>
                    <a:pt x="344" y="292"/>
                  </a:lnTo>
                  <a:lnTo>
                    <a:pt x="338" y="286"/>
                  </a:lnTo>
                  <a:lnTo>
                    <a:pt x="334" y="284"/>
                  </a:lnTo>
                  <a:lnTo>
                    <a:pt x="332" y="284"/>
                  </a:lnTo>
                  <a:lnTo>
                    <a:pt x="330" y="276"/>
                  </a:lnTo>
                  <a:lnTo>
                    <a:pt x="332" y="276"/>
                  </a:lnTo>
                  <a:lnTo>
                    <a:pt x="338" y="272"/>
                  </a:lnTo>
                  <a:lnTo>
                    <a:pt x="340" y="268"/>
                  </a:lnTo>
                  <a:lnTo>
                    <a:pt x="338" y="264"/>
                  </a:lnTo>
                  <a:lnTo>
                    <a:pt x="326" y="252"/>
                  </a:lnTo>
                  <a:lnTo>
                    <a:pt x="326" y="250"/>
                  </a:lnTo>
                  <a:lnTo>
                    <a:pt x="320" y="232"/>
                  </a:lnTo>
                  <a:lnTo>
                    <a:pt x="316" y="214"/>
                  </a:lnTo>
                  <a:lnTo>
                    <a:pt x="316" y="196"/>
                  </a:lnTo>
                  <a:lnTo>
                    <a:pt x="316" y="188"/>
                  </a:lnTo>
                  <a:lnTo>
                    <a:pt x="308" y="196"/>
                  </a:lnTo>
                  <a:lnTo>
                    <a:pt x="302" y="204"/>
                  </a:lnTo>
                  <a:lnTo>
                    <a:pt x="300" y="170"/>
                  </a:lnTo>
                  <a:lnTo>
                    <a:pt x="300" y="168"/>
                  </a:lnTo>
                  <a:lnTo>
                    <a:pt x="322" y="138"/>
                  </a:lnTo>
                  <a:lnTo>
                    <a:pt x="334" y="124"/>
                  </a:lnTo>
                  <a:lnTo>
                    <a:pt x="326" y="100"/>
                  </a:lnTo>
                  <a:lnTo>
                    <a:pt x="322" y="76"/>
                  </a:lnTo>
                  <a:lnTo>
                    <a:pt x="308" y="70"/>
                  </a:lnTo>
                  <a:lnTo>
                    <a:pt x="300" y="68"/>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35" name="湖北"/>
            <p:cNvSpPr/>
            <p:nvPr/>
          </p:nvSpPr>
          <p:spPr bwMode="auto">
            <a:xfrm>
              <a:off x="8384343" y="-222635"/>
              <a:ext cx="682109" cy="422476"/>
            </a:xfrm>
            <a:custGeom>
              <a:avLst/>
              <a:gdLst>
                <a:gd name="T0" fmla="*/ 2147483646 w 488"/>
                <a:gd name="T1" fmla="*/ 2147483646 h 306"/>
                <a:gd name="T2" fmla="*/ 2147483646 w 488"/>
                <a:gd name="T3" fmla="*/ 2147483646 h 306"/>
                <a:gd name="T4" fmla="*/ 2147483646 w 488"/>
                <a:gd name="T5" fmla="*/ 2147483646 h 306"/>
                <a:gd name="T6" fmla="*/ 2147483646 w 488"/>
                <a:gd name="T7" fmla="*/ 2147483646 h 306"/>
                <a:gd name="T8" fmla="*/ 2147483646 w 488"/>
                <a:gd name="T9" fmla="*/ 2147483646 h 306"/>
                <a:gd name="T10" fmla="*/ 2147483646 w 488"/>
                <a:gd name="T11" fmla="*/ 2147483646 h 306"/>
                <a:gd name="T12" fmla="*/ 2147483646 w 488"/>
                <a:gd name="T13" fmla="*/ 2147483646 h 306"/>
                <a:gd name="T14" fmla="*/ 2147483646 w 488"/>
                <a:gd name="T15" fmla="*/ 2147483646 h 306"/>
                <a:gd name="T16" fmla="*/ 2147483646 w 488"/>
                <a:gd name="T17" fmla="*/ 2147483646 h 306"/>
                <a:gd name="T18" fmla="*/ 2147483646 w 488"/>
                <a:gd name="T19" fmla="*/ 2147483646 h 306"/>
                <a:gd name="T20" fmla="*/ 2147483646 w 488"/>
                <a:gd name="T21" fmla="*/ 2147483646 h 306"/>
                <a:gd name="T22" fmla="*/ 2147483646 w 488"/>
                <a:gd name="T23" fmla="*/ 2147483646 h 306"/>
                <a:gd name="T24" fmla="*/ 2147483646 w 488"/>
                <a:gd name="T25" fmla="*/ 2147483646 h 306"/>
                <a:gd name="T26" fmla="*/ 2147483646 w 488"/>
                <a:gd name="T27" fmla="*/ 2147483646 h 306"/>
                <a:gd name="T28" fmla="*/ 2147483646 w 488"/>
                <a:gd name="T29" fmla="*/ 2147483646 h 306"/>
                <a:gd name="T30" fmla="*/ 2147483646 w 488"/>
                <a:gd name="T31" fmla="*/ 2147483646 h 306"/>
                <a:gd name="T32" fmla="*/ 2147483646 w 488"/>
                <a:gd name="T33" fmla="*/ 2147483646 h 306"/>
                <a:gd name="T34" fmla="*/ 2147483646 w 488"/>
                <a:gd name="T35" fmla="*/ 2147483646 h 306"/>
                <a:gd name="T36" fmla="*/ 2147483646 w 488"/>
                <a:gd name="T37" fmla="*/ 2147483646 h 306"/>
                <a:gd name="T38" fmla="*/ 2147483646 w 488"/>
                <a:gd name="T39" fmla="*/ 2147483646 h 306"/>
                <a:gd name="T40" fmla="*/ 2147483646 w 488"/>
                <a:gd name="T41" fmla="*/ 2147483646 h 306"/>
                <a:gd name="T42" fmla="*/ 2147483646 w 488"/>
                <a:gd name="T43" fmla="*/ 2147483646 h 306"/>
                <a:gd name="T44" fmla="*/ 2147483646 w 488"/>
                <a:gd name="T45" fmla="*/ 2147483646 h 306"/>
                <a:gd name="T46" fmla="*/ 2147483646 w 488"/>
                <a:gd name="T47" fmla="*/ 2147483646 h 306"/>
                <a:gd name="T48" fmla="*/ 2147483646 w 488"/>
                <a:gd name="T49" fmla="*/ 2147483646 h 306"/>
                <a:gd name="T50" fmla="*/ 2147483646 w 488"/>
                <a:gd name="T51" fmla="*/ 2147483646 h 306"/>
                <a:gd name="T52" fmla="*/ 2147483646 w 488"/>
                <a:gd name="T53" fmla="*/ 2147483646 h 306"/>
                <a:gd name="T54" fmla="*/ 2147483646 w 488"/>
                <a:gd name="T55" fmla="*/ 2147483646 h 306"/>
                <a:gd name="T56" fmla="*/ 2147483646 w 488"/>
                <a:gd name="T57" fmla="*/ 2147483646 h 306"/>
                <a:gd name="T58" fmla="*/ 2147483646 w 488"/>
                <a:gd name="T59" fmla="*/ 2147483646 h 306"/>
                <a:gd name="T60" fmla="*/ 2147483646 w 488"/>
                <a:gd name="T61" fmla="*/ 2147483646 h 306"/>
                <a:gd name="T62" fmla="*/ 2147483646 w 488"/>
                <a:gd name="T63" fmla="*/ 2147483646 h 306"/>
                <a:gd name="T64" fmla="*/ 2147483646 w 488"/>
                <a:gd name="T65" fmla="*/ 2147483646 h 306"/>
                <a:gd name="T66" fmla="*/ 2147483646 w 488"/>
                <a:gd name="T67" fmla="*/ 2147483646 h 306"/>
                <a:gd name="T68" fmla="*/ 2147483646 w 488"/>
                <a:gd name="T69" fmla="*/ 2147483646 h 306"/>
                <a:gd name="T70" fmla="*/ 2147483646 w 488"/>
                <a:gd name="T71" fmla="*/ 2147483646 h 306"/>
                <a:gd name="T72" fmla="*/ 2147483646 w 488"/>
                <a:gd name="T73" fmla="*/ 2147483646 h 306"/>
                <a:gd name="T74" fmla="*/ 2147483646 w 488"/>
                <a:gd name="T75" fmla="*/ 2147483646 h 306"/>
                <a:gd name="T76" fmla="*/ 2147483646 w 488"/>
                <a:gd name="T77" fmla="*/ 2147483646 h 306"/>
                <a:gd name="T78" fmla="*/ 2147483646 w 488"/>
                <a:gd name="T79" fmla="*/ 2147483646 h 306"/>
                <a:gd name="T80" fmla="*/ 2147483646 w 488"/>
                <a:gd name="T81" fmla="*/ 2147483646 h 306"/>
                <a:gd name="T82" fmla="*/ 2147483646 w 488"/>
                <a:gd name="T83" fmla="*/ 2147483646 h 306"/>
                <a:gd name="T84" fmla="*/ 2147483646 w 488"/>
                <a:gd name="T85" fmla="*/ 2147483646 h 306"/>
                <a:gd name="T86" fmla="*/ 2147483646 w 488"/>
                <a:gd name="T87" fmla="*/ 2147483646 h 306"/>
                <a:gd name="T88" fmla="*/ 2147483646 w 488"/>
                <a:gd name="T89" fmla="*/ 2147483646 h 306"/>
                <a:gd name="T90" fmla="*/ 2147483646 w 488"/>
                <a:gd name="T91" fmla="*/ 2147483646 h 306"/>
                <a:gd name="T92" fmla="*/ 2147483646 w 488"/>
                <a:gd name="T93" fmla="*/ 2147483646 h 306"/>
                <a:gd name="T94" fmla="*/ 2147483646 w 488"/>
                <a:gd name="T95" fmla="*/ 2147483646 h 306"/>
                <a:gd name="T96" fmla="*/ 2147483646 w 488"/>
                <a:gd name="T97" fmla="*/ 2147483646 h 306"/>
                <a:gd name="T98" fmla="*/ 2147483646 w 488"/>
                <a:gd name="T99" fmla="*/ 2147483646 h 306"/>
                <a:gd name="T100" fmla="*/ 2147483646 w 488"/>
                <a:gd name="T101" fmla="*/ 2147483646 h 306"/>
                <a:gd name="T102" fmla="*/ 2147483646 w 488"/>
                <a:gd name="T103" fmla="*/ 2147483646 h 306"/>
                <a:gd name="T104" fmla="*/ 2147483646 w 488"/>
                <a:gd name="T105" fmla="*/ 2147483646 h 306"/>
                <a:gd name="T106" fmla="*/ 2147483646 w 488"/>
                <a:gd name="T107" fmla="*/ 2147483646 h 306"/>
                <a:gd name="T108" fmla="*/ 2147483646 w 488"/>
                <a:gd name="T109" fmla="*/ 2147483646 h 306"/>
                <a:gd name="T110" fmla="*/ 2147483646 w 488"/>
                <a:gd name="T111" fmla="*/ 2147483646 h 306"/>
                <a:gd name="T112" fmla="*/ 2147483646 w 488"/>
                <a:gd name="T113" fmla="*/ 2147483646 h 306"/>
                <a:gd name="T114" fmla="*/ 2147483646 w 488"/>
                <a:gd name="T115" fmla="*/ 2147483646 h 30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488" h="306">
                  <a:moveTo>
                    <a:pt x="62" y="2"/>
                  </a:moveTo>
                  <a:lnTo>
                    <a:pt x="60" y="4"/>
                  </a:lnTo>
                  <a:lnTo>
                    <a:pt x="64" y="10"/>
                  </a:lnTo>
                  <a:lnTo>
                    <a:pt x="86" y="24"/>
                  </a:lnTo>
                  <a:lnTo>
                    <a:pt x="100" y="38"/>
                  </a:lnTo>
                  <a:lnTo>
                    <a:pt x="98" y="40"/>
                  </a:lnTo>
                  <a:lnTo>
                    <a:pt x="90" y="50"/>
                  </a:lnTo>
                  <a:lnTo>
                    <a:pt x="88" y="50"/>
                  </a:lnTo>
                  <a:lnTo>
                    <a:pt x="88" y="52"/>
                  </a:lnTo>
                  <a:lnTo>
                    <a:pt x="74" y="52"/>
                  </a:lnTo>
                  <a:lnTo>
                    <a:pt x="66" y="54"/>
                  </a:lnTo>
                  <a:lnTo>
                    <a:pt x="60" y="58"/>
                  </a:lnTo>
                  <a:lnTo>
                    <a:pt x="64" y="66"/>
                  </a:lnTo>
                  <a:lnTo>
                    <a:pt x="64" y="74"/>
                  </a:lnTo>
                  <a:lnTo>
                    <a:pt x="72" y="86"/>
                  </a:lnTo>
                  <a:lnTo>
                    <a:pt x="72" y="108"/>
                  </a:lnTo>
                  <a:lnTo>
                    <a:pt x="78" y="110"/>
                  </a:lnTo>
                  <a:lnTo>
                    <a:pt x="88" y="114"/>
                  </a:lnTo>
                  <a:lnTo>
                    <a:pt x="90" y="114"/>
                  </a:lnTo>
                  <a:lnTo>
                    <a:pt x="92" y="116"/>
                  </a:lnTo>
                  <a:lnTo>
                    <a:pt x="102" y="130"/>
                  </a:lnTo>
                  <a:lnTo>
                    <a:pt x="108" y="146"/>
                  </a:lnTo>
                  <a:lnTo>
                    <a:pt x="108" y="156"/>
                  </a:lnTo>
                  <a:lnTo>
                    <a:pt x="106" y="164"/>
                  </a:lnTo>
                  <a:lnTo>
                    <a:pt x="104" y="170"/>
                  </a:lnTo>
                  <a:lnTo>
                    <a:pt x="94" y="178"/>
                  </a:lnTo>
                  <a:lnTo>
                    <a:pt x="80" y="184"/>
                  </a:lnTo>
                  <a:lnTo>
                    <a:pt x="54" y="200"/>
                  </a:lnTo>
                  <a:lnTo>
                    <a:pt x="52" y="200"/>
                  </a:lnTo>
                  <a:lnTo>
                    <a:pt x="4" y="204"/>
                  </a:lnTo>
                  <a:lnTo>
                    <a:pt x="0" y="216"/>
                  </a:lnTo>
                  <a:lnTo>
                    <a:pt x="8" y="232"/>
                  </a:lnTo>
                  <a:lnTo>
                    <a:pt x="8" y="234"/>
                  </a:lnTo>
                  <a:lnTo>
                    <a:pt x="12" y="254"/>
                  </a:lnTo>
                  <a:lnTo>
                    <a:pt x="38" y="286"/>
                  </a:lnTo>
                  <a:lnTo>
                    <a:pt x="40" y="286"/>
                  </a:lnTo>
                  <a:lnTo>
                    <a:pt x="50" y="306"/>
                  </a:lnTo>
                  <a:lnTo>
                    <a:pt x="52" y="302"/>
                  </a:lnTo>
                  <a:lnTo>
                    <a:pt x="60" y="278"/>
                  </a:lnTo>
                  <a:lnTo>
                    <a:pt x="60" y="276"/>
                  </a:lnTo>
                  <a:lnTo>
                    <a:pt x="76" y="256"/>
                  </a:lnTo>
                  <a:lnTo>
                    <a:pt x="78" y="254"/>
                  </a:lnTo>
                  <a:lnTo>
                    <a:pt x="98" y="246"/>
                  </a:lnTo>
                  <a:lnTo>
                    <a:pt x="100" y="246"/>
                  </a:lnTo>
                  <a:lnTo>
                    <a:pt x="112" y="254"/>
                  </a:lnTo>
                  <a:lnTo>
                    <a:pt x="128" y="252"/>
                  </a:lnTo>
                  <a:lnTo>
                    <a:pt x="124" y="224"/>
                  </a:lnTo>
                  <a:lnTo>
                    <a:pt x="126" y="222"/>
                  </a:lnTo>
                  <a:lnTo>
                    <a:pt x="142" y="222"/>
                  </a:lnTo>
                  <a:lnTo>
                    <a:pt x="158" y="222"/>
                  </a:lnTo>
                  <a:lnTo>
                    <a:pt x="160" y="222"/>
                  </a:lnTo>
                  <a:lnTo>
                    <a:pt x="192" y="238"/>
                  </a:lnTo>
                  <a:lnTo>
                    <a:pt x="218" y="242"/>
                  </a:lnTo>
                  <a:lnTo>
                    <a:pt x="220" y="242"/>
                  </a:lnTo>
                  <a:lnTo>
                    <a:pt x="228" y="250"/>
                  </a:lnTo>
                  <a:lnTo>
                    <a:pt x="242" y="254"/>
                  </a:lnTo>
                  <a:lnTo>
                    <a:pt x="250" y="262"/>
                  </a:lnTo>
                  <a:lnTo>
                    <a:pt x="254" y="264"/>
                  </a:lnTo>
                  <a:lnTo>
                    <a:pt x="264" y="256"/>
                  </a:lnTo>
                  <a:lnTo>
                    <a:pt x="264" y="254"/>
                  </a:lnTo>
                  <a:lnTo>
                    <a:pt x="276" y="244"/>
                  </a:lnTo>
                  <a:lnTo>
                    <a:pt x="284" y="230"/>
                  </a:lnTo>
                  <a:lnTo>
                    <a:pt x="296" y="238"/>
                  </a:lnTo>
                  <a:lnTo>
                    <a:pt x="296" y="240"/>
                  </a:lnTo>
                  <a:lnTo>
                    <a:pt x="300" y="250"/>
                  </a:lnTo>
                  <a:lnTo>
                    <a:pt x="300" y="252"/>
                  </a:lnTo>
                  <a:lnTo>
                    <a:pt x="298" y="258"/>
                  </a:lnTo>
                  <a:lnTo>
                    <a:pt x="300" y="260"/>
                  </a:lnTo>
                  <a:lnTo>
                    <a:pt x="308" y="256"/>
                  </a:lnTo>
                  <a:lnTo>
                    <a:pt x="318" y="246"/>
                  </a:lnTo>
                  <a:lnTo>
                    <a:pt x="328" y="246"/>
                  </a:lnTo>
                  <a:lnTo>
                    <a:pt x="330" y="246"/>
                  </a:lnTo>
                  <a:lnTo>
                    <a:pt x="336" y="250"/>
                  </a:lnTo>
                  <a:lnTo>
                    <a:pt x="342" y="258"/>
                  </a:lnTo>
                  <a:lnTo>
                    <a:pt x="342" y="260"/>
                  </a:lnTo>
                  <a:lnTo>
                    <a:pt x="342" y="264"/>
                  </a:lnTo>
                  <a:lnTo>
                    <a:pt x="340" y="282"/>
                  </a:lnTo>
                  <a:lnTo>
                    <a:pt x="346" y="290"/>
                  </a:lnTo>
                  <a:lnTo>
                    <a:pt x="348" y="290"/>
                  </a:lnTo>
                  <a:lnTo>
                    <a:pt x="360" y="278"/>
                  </a:lnTo>
                  <a:lnTo>
                    <a:pt x="372" y="268"/>
                  </a:lnTo>
                  <a:lnTo>
                    <a:pt x="380" y="262"/>
                  </a:lnTo>
                  <a:lnTo>
                    <a:pt x="388" y="260"/>
                  </a:lnTo>
                  <a:lnTo>
                    <a:pt x="408" y="260"/>
                  </a:lnTo>
                  <a:lnTo>
                    <a:pt x="414" y="250"/>
                  </a:lnTo>
                  <a:lnTo>
                    <a:pt x="430" y="242"/>
                  </a:lnTo>
                  <a:lnTo>
                    <a:pt x="432" y="242"/>
                  </a:lnTo>
                  <a:lnTo>
                    <a:pt x="452" y="240"/>
                  </a:lnTo>
                  <a:lnTo>
                    <a:pt x="474" y="228"/>
                  </a:lnTo>
                  <a:lnTo>
                    <a:pt x="488" y="228"/>
                  </a:lnTo>
                  <a:lnTo>
                    <a:pt x="484" y="222"/>
                  </a:lnTo>
                  <a:lnTo>
                    <a:pt x="486" y="220"/>
                  </a:lnTo>
                  <a:lnTo>
                    <a:pt x="488" y="216"/>
                  </a:lnTo>
                  <a:lnTo>
                    <a:pt x="460" y="154"/>
                  </a:lnTo>
                  <a:lnTo>
                    <a:pt x="460" y="152"/>
                  </a:lnTo>
                  <a:lnTo>
                    <a:pt x="458" y="150"/>
                  </a:lnTo>
                  <a:lnTo>
                    <a:pt x="472" y="134"/>
                  </a:lnTo>
                  <a:lnTo>
                    <a:pt x="468" y="130"/>
                  </a:lnTo>
                  <a:lnTo>
                    <a:pt x="446" y="126"/>
                  </a:lnTo>
                  <a:lnTo>
                    <a:pt x="444" y="126"/>
                  </a:lnTo>
                  <a:lnTo>
                    <a:pt x="444" y="124"/>
                  </a:lnTo>
                  <a:lnTo>
                    <a:pt x="430" y="110"/>
                  </a:lnTo>
                  <a:lnTo>
                    <a:pt x="430" y="106"/>
                  </a:lnTo>
                  <a:lnTo>
                    <a:pt x="428" y="108"/>
                  </a:lnTo>
                  <a:lnTo>
                    <a:pt x="416" y="100"/>
                  </a:lnTo>
                  <a:lnTo>
                    <a:pt x="408" y="108"/>
                  </a:lnTo>
                  <a:lnTo>
                    <a:pt x="400" y="114"/>
                  </a:lnTo>
                  <a:lnTo>
                    <a:pt x="394" y="114"/>
                  </a:lnTo>
                  <a:lnTo>
                    <a:pt x="388" y="110"/>
                  </a:lnTo>
                  <a:lnTo>
                    <a:pt x="382" y="104"/>
                  </a:lnTo>
                  <a:lnTo>
                    <a:pt x="372" y="94"/>
                  </a:lnTo>
                  <a:lnTo>
                    <a:pt x="366" y="86"/>
                  </a:lnTo>
                  <a:lnTo>
                    <a:pt x="362" y="86"/>
                  </a:lnTo>
                  <a:lnTo>
                    <a:pt x="352" y="90"/>
                  </a:lnTo>
                  <a:lnTo>
                    <a:pt x="334" y="94"/>
                  </a:lnTo>
                  <a:lnTo>
                    <a:pt x="328" y="94"/>
                  </a:lnTo>
                  <a:lnTo>
                    <a:pt x="324" y="94"/>
                  </a:lnTo>
                  <a:lnTo>
                    <a:pt x="322" y="90"/>
                  </a:lnTo>
                  <a:lnTo>
                    <a:pt x="320" y="84"/>
                  </a:lnTo>
                  <a:lnTo>
                    <a:pt x="320" y="70"/>
                  </a:lnTo>
                  <a:lnTo>
                    <a:pt x="322" y="60"/>
                  </a:lnTo>
                  <a:lnTo>
                    <a:pt x="320" y="54"/>
                  </a:lnTo>
                  <a:lnTo>
                    <a:pt x="216" y="50"/>
                  </a:lnTo>
                  <a:lnTo>
                    <a:pt x="202" y="44"/>
                  </a:lnTo>
                  <a:lnTo>
                    <a:pt x="194" y="38"/>
                  </a:lnTo>
                  <a:lnTo>
                    <a:pt x="178" y="34"/>
                  </a:lnTo>
                  <a:lnTo>
                    <a:pt x="172" y="30"/>
                  </a:lnTo>
                  <a:lnTo>
                    <a:pt x="164" y="24"/>
                  </a:lnTo>
                  <a:lnTo>
                    <a:pt x="144" y="0"/>
                  </a:lnTo>
                  <a:lnTo>
                    <a:pt x="132" y="10"/>
                  </a:lnTo>
                  <a:lnTo>
                    <a:pt x="116" y="4"/>
                  </a:lnTo>
                  <a:lnTo>
                    <a:pt x="74" y="6"/>
                  </a:lnTo>
                  <a:lnTo>
                    <a:pt x="62" y="2"/>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36" name="广东"/>
            <p:cNvSpPr/>
            <p:nvPr/>
          </p:nvSpPr>
          <p:spPr bwMode="auto">
            <a:xfrm>
              <a:off x="8535302" y="553284"/>
              <a:ext cx="710064" cy="555017"/>
            </a:xfrm>
            <a:custGeom>
              <a:avLst/>
              <a:gdLst>
                <a:gd name="T0" fmla="*/ 2147483646 w 508"/>
                <a:gd name="T1" fmla="*/ 2147483646 h 402"/>
                <a:gd name="T2" fmla="*/ 2147483646 w 508"/>
                <a:gd name="T3" fmla="*/ 2147483646 h 402"/>
                <a:gd name="T4" fmla="*/ 2147483646 w 508"/>
                <a:gd name="T5" fmla="*/ 2147483646 h 402"/>
                <a:gd name="T6" fmla="*/ 2147483646 w 508"/>
                <a:gd name="T7" fmla="*/ 2147483646 h 402"/>
                <a:gd name="T8" fmla="*/ 2147483646 w 508"/>
                <a:gd name="T9" fmla="*/ 2147483646 h 402"/>
                <a:gd name="T10" fmla="*/ 2147483646 w 508"/>
                <a:gd name="T11" fmla="*/ 2147483646 h 402"/>
                <a:gd name="T12" fmla="*/ 2147483646 w 508"/>
                <a:gd name="T13" fmla="*/ 2147483646 h 402"/>
                <a:gd name="T14" fmla="*/ 2147483646 w 508"/>
                <a:gd name="T15" fmla="*/ 2147483646 h 402"/>
                <a:gd name="T16" fmla="*/ 2147483646 w 508"/>
                <a:gd name="T17" fmla="*/ 2147483646 h 402"/>
                <a:gd name="T18" fmla="*/ 2147483646 w 508"/>
                <a:gd name="T19" fmla="*/ 2147483646 h 402"/>
                <a:gd name="T20" fmla="*/ 2147483646 w 508"/>
                <a:gd name="T21" fmla="*/ 2147483646 h 402"/>
                <a:gd name="T22" fmla="*/ 2147483646 w 508"/>
                <a:gd name="T23" fmla="*/ 2147483646 h 402"/>
                <a:gd name="T24" fmla="*/ 2147483646 w 508"/>
                <a:gd name="T25" fmla="*/ 2147483646 h 402"/>
                <a:gd name="T26" fmla="*/ 2147483646 w 508"/>
                <a:gd name="T27" fmla="*/ 2147483646 h 402"/>
                <a:gd name="T28" fmla="*/ 2147483646 w 508"/>
                <a:gd name="T29" fmla="*/ 2147483646 h 402"/>
                <a:gd name="T30" fmla="*/ 2147483646 w 508"/>
                <a:gd name="T31" fmla="*/ 2147483646 h 402"/>
                <a:gd name="T32" fmla="*/ 2147483646 w 508"/>
                <a:gd name="T33" fmla="*/ 2147483646 h 402"/>
                <a:gd name="T34" fmla="*/ 2147483646 w 508"/>
                <a:gd name="T35" fmla="*/ 2147483646 h 402"/>
                <a:gd name="T36" fmla="*/ 2147483646 w 508"/>
                <a:gd name="T37" fmla="*/ 2147483646 h 402"/>
                <a:gd name="T38" fmla="*/ 2147483646 w 508"/>
                <a:gd name="T39" fmla="*/ 2147483646 h 402"/>
                <a:gd name="T40" fmla="*/ 2147483646 w 508"/>
                <a:gd name="T41" fmla="*/ 2147483646 h 402"/>
                <a:gd name="T42" fmla="*/ 2147483646 w 508"/>
                <a:gd name="T43" fmla="*/ 2147483646 h 402"/>
                <a:gd name="T44" fmla="*/ 2147483646 w 508"/>
                <a:gd name="T45" fmla="*/ 2147483646 h 402"/>
                <a:gd name="T46" fmla="*/ 2147483646 w 508"/>
                <a:gd name="T47" fmla="*/ 2147483646 h 402"/>
                <a:gd name="T48" fmla="*/ 2147483646 w 508"/>
                <a:gd name="T49" fmla="*/ 2147483646 h 402"/>
                <a:gd name="T50" fmla="*/ 2147483646 w 508"/>
                <a:gd name="T51" fmla="*/ 2147483646 h 402"/>
                <a:gd name="T52" fmla="*/ 2147483646 w 508"/>
                <a:gd name="T53" fmla="*/ 2147483646 h 402"/>
                <a:gd name="T54" fmla="*/ 2147483646 w 508"/>
                <a:gd name="T55" fmla="*/ 2147483646 h 402"/>
                <a:gd name="T56" fmla="*/ 2147483646 w 508"/>
                <a:gd name="T57" fmla="*/ 2147483646 h 402"/>
                <a:gd name="T58" fmla="*/ 2147483646 w 508"/>
                <a:gd name="T59" fmla="*/ 2147483646 h 402"/>
                <a:gd name="T60" fmla="*/ 2147483646 w 508"/>
                <a:gd name="T61" fmla="*/ 2147483646 h 402"/>
                <a:gd name="T62" fmla="*/ 2147483646 w 508"/>
                <a:gd name="T63" fmla="*/ 2147483646 h 402"/>
                <a:gd name="T64" fmla="*/ 2147483646 w 508"/>
                <a:gd name="T65" fmla="*/ 2147483646 h 402"/>
                <a:gd name="T66" fmla="*/ 2147483646 w 508"/>
                <a:gd name="T67" fmla="*/ 2147483646 h 402"/>
                <a:gd name="T68" fmla="*/ 2147483646 w 508"/>
                <a:gd name="T69" fmla="*/ 2147483646 h 402"/>
                <a:gd name="T70" fmla="*/ 2147483646 w 508"/>
                <a:gd name="T71" fmla="*/ 2147483646 h 402"/>
                <a:gd name="T72" fmla="*/ 2147483646 w 508"/>
                <a:gd name="T73" fmla="*/ 2147483646 h 402"/>
                <a:gd name="T74" fmla="*/ 2147483646 w 508"/>
                <a:gd name="T75" fmla="*/ 2147483646 h 402"/>
                <a:gd name="T76" fmla="*/ 2147483646 w 508"/>
                <a:gd name="T77" fmla="*/ 2147483646 h 402"/>
                <a:gd name="T78" fmla="*/ 2147483646 w 508"/>
                <a:gd name="T79" fmla="*/ 2147483646 h 402"/>
                <a:gd name="T80" fmla="*/ 2147483646 w 508"/>
                <a:gd name="T81" fmla="*/ 2147483646 h 402"/>
                <a:gd name="T82" fmla="*/ 2147483646 w 508"/>
                <a:gd name="T83" fmla="*/ 2147483646 h 402"/>
                <a:gd name="T84" fmla="*/ 2147483646 w 508"/>
                <a:gd name="T85" fmla="*/ 2147483646 h 402"/>
                <a:gd name="T86" fmla="*/ 2147483646 w 508"/>
                <a:gd name="T87" fmla="*/ 2147483646 h 402"/>
                <a:gd name="T88" fmla="*/ 2147483646 w 508"/>
                <a:gd name="T89" fmla="*/ 2147483646 h 402"/>
                <a:gd name="T90" fmla="*/ 2147483646 w 508"/>
                <a:gd name="T91" fmla="*/ 2147483646 h 402"/>
                <a:gd name="T92" fmla="*/ 2147483646 w 508"/>
                <a:gd name="T93" fmla="*/ 2147483646 h 402"/>
                <a:gd name="T94" fmla="*/ 2147483646 w 508"/>
                <a:gd name="T95" fmla="*/ 2147483646 h 402"/>
                <a:gd name="T96" fmla="*/ 2147483646 w 508"/>
                <a:gd name="T97" fmla="*/ 2147483646 h 402"/>
                <a:gd name="T98" fmla="*/ 2147483646 w 508"/>
                <a:gd name="T99" fmla="*/ 2147483646 h 402"/>
                <a:gd name="T100" fmla="*/ 2147483646 w 508"/>
                <a:gd name="T101" fmla="*/ 2147483646 h 40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08" h="402">
                  <a:moveTo>
                    <a:pt x="476" y="138"/>
                  </a:moveTo>
                  <a:lnTo>
                    <a:pt x="476" y="138"/>
                  </a:lnTo>
                  <a:lnTo>
                    <a:pt x="484" y="134"/>
                  </a:lnTo>
                  <a:lnTo>
                    <a:pt x="488" y="130"/>
                  </a:lnTo>
                  <a:lnTo>
                    <a:pt x="488" y="128"/>
                  </a:lnTo>
                  <a:lnTo>
                    <a:pt x="490" y="126"/>
                  </a:lnTo>
                  <a:lnTo>
                    <a:pt x="492" y="126"/>
                  </a:lnTo>
                  <a:lnTo>
                    <a:pt x="508" y="126"/>
                  </a:lnTo>
                  <a:lnTo>
                    <a:pt x="508" y="116"/>
                  </a:lnTo>
                  <a:lnTo>
                    <a:pt x="502" y="114"/>
                  </a:lnTo>
                  <a:lnTo>
                    <a:pt x="496" y="110"/>
                  </a:lnTo>
                  <a:lnTo>
                    <a:pt x="472" y="88"/>
                  </a:lnTo>
                  <a:lnTo>
                    <a:pt x="460" y="58"/>
                  </a:lnTo>
                  <a:lnTo>
                    <a:pt x="446" y="44"/>
                  </a:lnTo>
                  <a:lnTo>
                    <a:pt x="424" y="42"/>
                  </a:lnTo>
                  <a:lnTo>
                    <a:pt x="406" y="44"/>
                  </a:lnTo>
                  <a:lnTo>
                    <a:pt x="402" y="44"/>
                  </a:lnTo>
                  <a:lnTo>
                    <a:pt x="404" y="54"/>
                  </a:lnTo>
                  <a:lnTo>
                    <a:pt x="404" y="56"/>
                  </a:lnTo>
                  <a:lnTo>
                    <a:pt x="404" y="58"/>
                  </a:lnTo>
                  <a:lnTo>
                    <a:pt x="400" y="58"/>
                  </a:lnTo>
                  <a:lnTo>
                    <a:pt x="388" y="64"/>
                  </a:lnTo>
                  <a:lnTo>
                    <a:pt x="386" y="62"/>
                  </a:lnTo>
                  <a:lnTo>
                    <a:pt x="372" y="50"/>
                  </a:lnTo>
                  <a:lnTo>
                    <a:pt x="368" y="50"/>
                  </a:lnTo>
                  <a:lnTo>
                    <a:pt x="364" y="50"/>
                  </a:lnTo>
                  <a:lnTo>
                    <a:pt x="332" y="64"/>
                  </a:lnTo>
                  <a:lnTo>
                    <a:pt x="322" y="68"/>
                  </a:lnTo>
                  <a:lnTo>
                    <a:pt x="316" y="66"/>
                  </a:lnTo>
                  <a:lnTo>
                    <a:pt x="310" y="70"/>
                  </a:lnTo>
                  <a:lnTo>
                    <a:pt x="304" y="76"/>
                  </a:lnTo>
                  <a:lnTo>
                    <a:pt x="300" y="80"/>
                  </a:lnTo>
                  <a:lnTo>
                    <a:pt x="298" y="76"/>
                  </a:lnTo>
                  <a:lnTo>
                    <a:pt x="288" y="66"/>
                  </a:lnTo>
                  <a:lnTo>
                    <a:pt x="286" y="62"/>
                  </a:lnTo>
                  <a:lnTo>
                    <a:pt x="286" y="58"/>
                  </a:lnTo>
                  <a:lnTo>
                    <a:pt x="290" y="50"/>
                  </a:lnTo>
                  <a:lnTo>
                    <a:pt x="300" y="38"/>
                  </a:lnTo>
                  <a:lnTo>
                    <a:pt x="314" y="22"/>
                  </a:lnTo>
                  <a:lnTo>
                    <a:pt x="318" y="16"/>
                  </a:lnTo>
                  <a:lnTo>
                    <a:pt x="316" y="12"/>
                  </a:lnTo>
                  <a:lnTo>
                    <a:pt x="312" y="12"/>
                  </a:lnTo>
                  <a:lnTo>
                    <a:pt x="308" y="14"/>
                  </a:lnTo>
                  <a:lnTo>
                    <a:pt x="298" y="20"/>
                  </a:lnTo>
                  <a:lnTo>
                    <a:pt x="288" y="26"/>
                  </a:lnTo>
                  <a:lnTo>
                    <a:pt x="282" y="28"/>
                  </a:lnTo>
                  <a:lnTo>
                    <a:pt x="280" y="26"/>
                  </a:lnTo>
                  <a:lnTo>
                    <a:pt x="278" y="20"/>
                  </a:lnTo>
                  <a:lnTo>
                    <a:pt x="276" y="20"/>
                  </a:lnTo>
                  <a:lnTo>
                    <a:pt x="270" y="6"/>
                  </a:lnTo>
                  <a:lnTo>
                    <a:pt x="254" y="16"/>
                  </a:lnTo>
                  <a:lnTo>
                    <a:pt x="252" y="18"/>
                  </a:lnTo>
                  <a:lnTo>
                    <a:pt x="252" y="16"/>
                  </a:lnTo>
                  <a:lnTo>
                    <a:pt x="236" y="8"/>
                  </a:lnTo>
                  <a:lnTo>
                    <a:pt x="220" y="2"/>
                  </a:lnTo>
                  <a:lnTo>
                    <a:pt x="214" y="0"/>
                  </a:lnTo>
                  <a:lnTo>
                    <a:pt x="208" y="2"/>
                  </a:lnTo>
                  <a:lnTo>
                    <a:pt x="204" y="6"/>
                  </a:lnTo>
                  <a:lnTo>
                    <a:pt x="198" y="12"/>
                  </a:lnTo>
                  <a:lnTo>
                    <a:pt x="204" y="24"/>
                  </a:lnTo>
                  <a:lnTo>
                    <a:pt x="210" y="38"/>
                  </a:lnTo>
                  <a:lnTo>
                    <a:pt x="210" y="44"/>
                  </a:lnTo>
                  <a:lnTo>
                    <a:pt x="210" y="48"/>
                  </a:lnTo>
                  <a:lnTo>
                    <a:pt x="208" y="52"/>
                  </a:lnTo>
                  <a:lnTo>
                    <a:pt x="204" y="54"/>
                  </a:lnTo>
                  <a:lnTo>
                    <a:pt x="200" y="54"/>
                  </a:lnTo>
                  <a:lnTo>
                    <a:pt x="194" y="54"/>
                  </a:lnTo>
                  <a:lnTo>
                    <a:pt x="188" y="50"/>
                  </a:lnTo>
                  <a:lnTo>
                    <a:pt x="182" y="46"/>
                  </a:lnTo>
                  <a:lnTo>
                    <a:pt x="164" y="36"/>
                  </a:lnTo>
                  <a:lnTo>
                    <a:pt x="156" y="32"/>
                  </a:lnTo>
                  <a:lnTo>
                    <a:pt x="156" y="34"/>
                  </a:lnTo>
                  <a:lnTo>
                    <a:pt x="156" y="52"/>
                  </a:lnTo>
                  <a:lnTo>
                    <a:pt x="144" y="66"/>
                  </a:lnTo>
                  <a:lnTo>
                    <a:pt x="144" y="80"/>
                  </a:lnTo>
                  <a:lnTo>
                    <a:pt x="148" y="94"/>
                  </a:lnTo>
                  <a:lnTo>
                    <a:pt x="150" y="94"/>
                  </a:lnTo>
                  <a:lnTo>
                    <a:pt x="140" y="108"/>
                  </a:lnTo>
                  <a:lnTo>
                    <a:pt x="136" y="120"/>
                  </a:lnTo>
                  <a:lnTo>
                    <a:pt x="136" y="122"/>
                  </a:lnTo>
                  <a:lnTo>
                    <a:pt x="124" y="134"/>
                  </a:lnTo>
                  <a:lnTo>
                    <a:pt x="104" y="180"/>
                  </a:lnTo>
                  <a:lnTo>
                    <a:pt x="104" y="204"/>
                  </a:lnTo>
                  <a:lnTo>
                    <a:pt x="60" y="230"/>
                  </a:lnTo>
                  <a:lnTo>
                    <a:pt x="58" y="234"/>
                  </a:lnTo>
                  <a:lnTo>
                    <a:pt x="64" y="248"/>
                  </a:lnTo>
                  <a:lnTo>
                    <a:pt x="60" y="266"/>
                  </a:lnTo>
                  <a:lnTo>
                    <a:pt x="42" y="264"/>
                  </a:lnTo>
                  <a:lnTo>
                    <a:pt x="38" y="284"/>
                  </a:lnTo>
                  <a:lnTo>
                    <a:pt x="16" y="284"/>
                  </a:lnTo>
                  <a:lnTo>
                    <a:pt x="10" y="292"/>
                  </a:lnTo>
                  <a:lnTo>
                    <a:pt x="4" y="306"/>
                  </a:lnTo>
                  <a:lnTo>
                    <a:pt x="0" y="356"/>
                  </a:lnTo>
                  <a:lnTo>
                    <a:pt x="4" y="368"/>
                  </a:lnTo>
                  <a:lnTo>
                    <a:pt x="6" y="368"/>
                  </a:lnTo>
                  <a:lnTo>
                    <a:pt x="6" y="380"/>
                  </a:lnTo>
                  <a:lnTo>
                    <a:pt x="16" y="392"/>
                  </a:lnTo>
                  <a:lnTo>
                    <a:pt x="16" y="402"/>
                  </a:lnTo>
                  <a:lnTo>
                    <a:pt x="42" y="400"/>
                  </a:lnTo>
                  <a:lnTo>
                    <a:pt x="44" y="398"/>
                  </a:lnTo>
                  <a:lnTo>
                    <a:pt x="44" y="396"/>
                  </a:lnTo>
                  <a:lnTo>
                    <a:pt x="52" y="388"/>
                  </a:lnTo>
                  <a:lnTo>
                    <a:pt x="36" y="372"/>
                  </a:lnTo>
                  <a:lnTo>
                    <a:pt x="34" y="372"/>
                  </a:lnTo>
                  <a:lnTo>
                    <a:pt x="24" y="364"/>
                  </a:lnTo>
                  <a:lnTo>
                    <a:pt x="24" y="362"/>
                  </a:lnTo>
                  <a:lnTo>
                    <a:pt x="24" y="346"/>
                  </a:lnTo>
                  <a:lnTo>
                    <a:pt x="36" y="346"/>
                  </a:lnTo>
                  <a:lnTo>
                    <a:pt x="38" y="340"/>
                  </a:lnTo>
                  <a:lnTo>
                    <a:pt x="32" y="324"/>
                  </a:lnTo>
                  <a:lnTo>
                    <a:pt x="64" y="324"/>
                  </a:lnTo>
                  <a:lnTo>
                    <a:pt x="120" y="298"/>
                  </a:lnTo>
                  <a:lnTo>
                    <a:pt x="126" y="286"/>
                  </a:lnTo>
                  <a:lnTo>
                    <a:pt x="128" y="282"/>
                  </a:lnTo>
                  <a:lnTo>
                    <a:pt x="140" y="288"/>
                  </a:lnTo>
                  <a:lnTo>
                    <a:pt x="140" y="290"/>
                  </a:lnTo>
                  <a:lnTo>
                    <a:pt x="146" y="296"/>
                  </a:lnTo>
                  <a:lnTo>
                    <a:pt x="152" y="294"/>
                  </a:lnTo>
                  <a:lnTo>
                    <a:pt x="150" y="282"/>
                  </a:lnTo>
                  <a:lnTo>
                    <a:pt x="168" y="282"/>
                  </a:lnTo>
                  <a:lnTo>
                    <a:pt x="186" y="286"/>
                  </a:lnTo>
                  <a:lnTo>
                    <a:pt x="192" y="274"/>
                  </a:lnTo>
                  <a:lnTo>
                    <a:pt x="194" y="272"/>
                  </a:lnTo>
                  <a:lnTo>
                    <a:pt x="196" y="272"/>
                  </a:lnTo>
                  <a:lnTo>
                    <a:pt x="214" y="266"/>
                  </a:lnTo>
                  <a:lnTo>
                    <a:pt x="218" y="238"/>
                  </a:lnTo>
                  <a:lnTo>
                    <a:pt x="238" y="256"/>
                  </a:lnTo>
                  <a:lnTo>
                    <a:pt x="246" y="256"/>
                  </a:lnTo>
                  <a:lnTo>
                    <a:pt x="250" y="252"/>
                  </a:lnTo>
                  <a:lnTo>
                    <a:pt x="248" y="192"/>
                  </a:lnTo>
                  <a:lnTo>
                    <a:pt x="248" y="190"/>
                  </a:lnTo>
                  <a:lnTo>
                    <a:pt x="248" y="186"/>
                  </a:lnTo>
                  <a:lnTo>
                    <a:pt x="260" y="188"/>
                  </a:lnTo>
                  <a:lnTo>
                    <a:pt x="262" y="188"/>
                  </a:lnTo>
                  <a:lnTo>
                    <a:pt x="264" y="190"/>
                  </a:lnTo>
                  <a:lnTo>
                    <a:pt x="286" y="230"/>
                  </a:lnTo>
                  <a:lnTo>
                    <a:pt x="312" y="226"/>
                  </a:lnTo>
                  <a:lnTo>
                    <a:pt x="318" y="224"/>
                  </a:lnTo>
                  <a:lnTo>
                    <a:pt x="322" y="216"/>
                  </a:lnTo>
                  <a:lnTo>
                    <a:pt x="314" y="208"/>
                  </a:lnTo>
                  <a:lnTo>
                    <a:pt x="312" y="206"/>
                  </a:lnTo>
                  <a:lnTo>
                    <a:pt x="330" y="200"/>
                  </a:lnTo>
                  <a:lnTo>
                    <a:pt x="332" y="198"/>
                  </a:lnTo>
                  <a:lnTo>
                    <a:pt x="340" y="206"/>
                  </a:lnTo>
                  <a:lnTo>
                    <a:pt x="346" y="202"/>
                  </a:lnTo>
                  <a:lnTo>
                    <a:pt x="346" y="190"/>
                  </a:lnTo>
                  <a:lnTo>
                    <a:pt x="350" y="190"/>
                  </a:lnTo>
                  <a:lnTo>
                    <a:pt x="364" y="190"/>
                  </a:lnTo>
                  <a:lnTo>
                    <a:pt x="370" y="192"/>
                  </a:lnTo>
                  <a:lnTo>
                    <a:pt x="376" y="194"/>
                  </a:lnTo>
                  <a:lnTo>
                    <a:pt x="382" y="198"/>
                  </a:lnTo>
                  <a:lnTo>
                    <a:pt x="386" y="202"/>
                  </a:lnTo>
                  <a:lnTo>
                    <a:pt x="388" y="206"/>
                  </a:lnTo>
                  <a:lnTo>
                    <a:pt x="392" y="186"/>
                  </a:lnTo>
                  <a:lnTo>
                    <a:pt x="396" y="184"/>
                  </a:lnTo>
                  <a:lnTo>
                    <a:pt x="400" y="182"/>
                  </a:lnTo>
                  <a:lnTo>
                    <a:pt x="406" y="182"/>
                  </a:lnTo>
                  <a:lnTo>
                    <a:pt x="412" y="184"/>
                  </a:lnTo>
                  <a:lnTo>
                    <a:pt x="414" y="186"/>
                  </a:lnTo>
                  <a:lnTo>
                    <a:pt x="414" y="188"/>
                  </a:lnTo>
                  <a:lnTo>
                    <a:pt x="418" y="188"/>
                  </a:lnTo>
                  <a:lnTo>
                    <a:pt x="432" y="180"/>
                  </a:lnTo>
                  <a:lnTo>
                    <a:pt x="460" y="160"/>
                  </a:lnTo>
                  <a:lnTo>
                    <a:pt x="460" y="152"/>
                  </a:lnTo>
                  <a:lnTo>
                    <a:pt x="464" y="146"/>
                  </a:lnTo>
                  <a:lnTo>
                    <a:pt x="470" y="140"/>
                  </a:lnTo>
                  <a:lnTo>
                    <a:pt x="476" y="138"/>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37" name="江西"/>
            <p:cNvSpPr/>
            <p:nvPr/>
          </p:nvSpPr>
          <p:spPr bwMode="auto">
            <a:xfrm>
              <a:off x="8870765" y="72822"/>
              <a:ext cx="424920" cy="571584"/>
            </a:xfrm>
            <a:custGeom>
              <a:avLst/>
              <a:gdLst>
                <a:gd name="T0" fmla="*/ 2147483646 w 304"/>
                <a:gd name="T1" fmla="*/ 0 h 414"/>
                <a:gd name="T2" fmla="*/ 2147483646 w 304"/>
                <a:gd name="T3" fmla="*/ 2147483646 h 414"/>
                <a:gd name="T4" fmla="*/ 2147483646 w 304"/>
                <a:gd name="T5" fmla="*/ 2147483646 h 414"/>
                <a:gd name="T6" fmla="*/ 2147483646 w 304"/>
                <a:gd name="T7" fmla="*/ 2147483646 h 414"/>
                <a:gd name="T8" fmla="*/ 2147483646 w 304"/>
                <a:gd name="T9" fmla="*/ 2147483646 h 414"/>
                <a:gd name="T10" fmla="*/ 2147483646 w 304"/>
                <a:gd name="T11" fmla="*/ 2147483646 h 414"/>
                <a:gd name="T12" fmla="*/ 2147483646 w 304"/>
                <a:gd name="T13" fmla="*/ 2147483646 h 414"/>
                <a:gd name="T14" fmla="*/ 2147483646 w 304"/>
                <a:gd name="T15" fmla="*/ 2147483646 h 414"/>
                <a:gd name="T16" fmla="*/ 2147483646 w 304"/>
                <a:gd name="T17" fmla="*/ 2147483646 h 414"/>
                <a:gd name="T18" fmla="*/ 2147483646 w 304"/>
                <a:gd name="T19" fmla="*/ 2147483646 h 414"/>
                <a:gd name="T20" fmla="*/ 2147483646 w 304"/>
                <a:gd name="T21" fmla="*/ 2147483646 h 414"/>
                <a:gd name="T22" fmla="*/ 2147483646 w 304"/>
                <a:gd name="T23" fmla="*/ 2147483646 h 414"/>
                <a:gd name="T24" fmla="*/ 2147483646 w 304"/>
                <a:gd name="T25" fmla="*/ 2147483646 h 414"/>
                <a:gd name="T26" fmla="*/ 2147483646 w 304"/>
                <a:gd name="T27" fmla="*/ 2147483646 h 414"/>
                <a:gd name="T28" fmla="*/ 0 w 304"/>
                <a:gd name="T29" fmla="*/ 2147483646 h 414"/>
                <a:gd name="T30" fmla="*/ 2147483646 w 304"/>
                <a:gd name="T31" fmla="*/ 2147483646 h 414"/>
                <a:gd name="T32" fmla="*/ 2147483646 w 304"/>
                <a:gd name="T33" fmla="*/ 2147483646 h 414"/>
                <a:gd name="T34" fmla="*/ 2147483646 w 304"/>
                <a:gd name="T35" fmla="*/ 2147483646 h 414"/>
                <a:gd name="T36" fmla="*/ 2147483646 w 304"/>
                <a:gd name="T37" fmla="*/ 2147483646 h 414"/>
                <a:gd name="T38" fmla="*/ 2147483646 w 304"/>
                <a:gd name="T39" fmla="*/ 2147483646 h 414"/>
                <a:gd name="T40" fmla="*/ 2147483646 w 304"/>
                <a:gd name="T41" fmla="*/ 2147483646 h 414"/>
                <a:gd name="T42" fmla="*/ 2147483646 w 304"/>
                <a:gd name="T43" fmla="*/ 2147483646 h 414"/>
                <a:gd name="T44" fmla="*/ 2147483646 w 304"/>
                <a:gd name="T45" fmla="*/ 2147483646 h 414"/>
                <a:gd name="T46" fmla="*/ 2147483646 w 304"/>
                <a:gd name="T47" fmla="*/ 2147483646 h 414"/>
                <a:gd name="T48" fmla="*/ 2147483646 w 304"/>
                <a:gd name="T49" fmla="*/ 2147483646 h 414"/>
                <a:gd name="T50" fmla="*/ 2147483646 w 304"/>
                <a:gd name="T51" fmla="*/ 2147483646 h 414"/>
                <a:gd name="T52" fmla="*/ 2147483646 w 304"/>
                <a:gd name="T53" fmla="*/ 2147483646 h 414"/>
                <a:gd name="T54" fmla="*/ 2147483646 w 304"/>
                <a:gd name="T55" fmla="*/ 2147483646 h 414"/>
                <a:gd name="T56" fmla="*/ 2147483646 w 304"/>
                <a:gd name="T57" fmla="*/ 2147483646 h 414"/>
                <a:gd name="T58" fmla="*/ 2147483646 w 304"/>
                <a:gd name="T59" fmla="*/ 2147483646 h 414"/>
                <a:gd name="T60" fmla="*/ 2147483646 w 304"/>
                <a:gd name="T61" fmla="*/ 2147483646 h 414"/>
                <a:gd name="T62" fmla="*/ 2147483646 w 304"/>
                <a:gd name="T63" fmla="*/ 2147483646 h 414"/>
                <a:gd name="T64" fmla="*/ 2147483646 w 304"/>
                <a:gd name="T65" fmla="*/ 2147483646 h 414"/>
                <a:gd name="T66" fmla="*/ 2147483646 w 304"/>
                <a:gd name="T67" fmla="*/ 2147483646 h 414"/>
                <a:gd name="T68" fmla="*/ 2147483646 w 304"/>
                <a:gd name="T69" fmla="*/ 2147483646 h 414"/>
                <a:gd name="T70" fmla="*/ 2147483646 w 304"/>
                <a:gd name="T71" fmla="*/ 2147483646 h 414"/>
                <a:gd name="T72" fmla="*/ 2147483646 w 304"/>
                <a:gd name="T73" fmla="*/ 2147483646 h 414"/>
                <a:gd name="T74" fmla="*/ 2147483646 w 304"/>
                <a:gd name="T75" fmla="*/ 2147483646 h 414"/>
                <a:gd name="T76" fmla="*/ 2147483646 w 304"/>
                <a:gd name="T77" fmla="*/ 2147483646 h 414"/>
                <a:gd name="T78" fmla="*/ 2147483646 w 304"/>
                <a:gd name="T79" fmla="*/ 2147483646 h 414"/>
                <a:gd name="T80" fmla="*/ 2147483646 w 304"/>
                <a:gd name="T81" fmla="*/ 2147483646 h 414"/>
                <a:gd name="T82" fmla="*/ 2147483646 w 304"/>
                <a:gd name="T83" fmla="*/ 2147483646 h 414"/>
                <a:gd name="T84" fmla="*/ 2147483646 w 304"/>
                <a:gd name="T85" fmla="*/ 2147483646 h 414"/>
                <a:gd name="T86" fmla="*/ 2147483646 w 304"/>
                <a:gd name="T87" fmla="*/ 2147483646 h 414"/>
                <a:gd name="T88" fmla="*/ 2147483646 w 304"/>
                <a:gd name="T89" fmla="*/ 2147483646 h 414"/>
                <a:gd name="T90" fmla="*/ 2147483646 w 304"/>
                <a:gd name="T91" fmla="*/ 2147483646 h 414"/>
                <a:gd name="T92" fmla="*/ 2147483646 w 304"/>
                <a:gd name="T93" fmla="*/ 2147483646 h 414"/>
                <a:gd name="T94" fmla="*/ 2147483646 w 304"/>
                <a:gd name="T95" fmla="*/ 2147483646 h 414"/>
                <a:gd name="T96" fmla="*/ 2147483646 w 304"/>
                <a:gd name="T97" fmla="*/ 2147483646 h 414"/>
                <a:gd name="T98" fmla="*/ 2147483646 w 304"/>
                <a:gd name="T99" fmla="*/ 2147483646 h 414"/>
                <a:gd name="T100" fmla="*/ 2147483646 w 304"/>
                <a:gd name="T101" fmla="*/ 2147483646 h 414"/>
                <a:gd name="T102" fmla="*/ 2147483646 w 304"/>
                <a:gd name="T103" fmla="*/ 2147483646 h 414"/>
                <a:gd name="T104" fmla="*/ 2147483646 w 304"/>
                <a:gd name="T105" fmla="*/ 2147483646 h 414"/>
                <a:gd name="T106" fmla="*/ 2147483646 w 304"/>
                <a:gd name="T107" fmla="*/ 2147483646 h 414"/>
                <a:gd name="T108" fmla="*/ 2147483646 w 304"/>
                <a:gd name="T109" fmla="*/ 2147483646 h 414"/>
                <a:gd name="T110" fmla="*/ 2147483646 w 304"/>
                <a:gd name="T111" fmla="*/ 2147483646 h 414"/>
                <a:gd name="T112" fmla="*/ 2147483646 w 304"/>
                <a:gd name="T113" fmla="*/ 2147483646 h 414"/>
                <a:gd name="T114" fmla="*/ 2147483646 w 304"/>
                <a:gd name="T115" fmla="*/ 2147483646 h 414"/>
                <a:gd name="T116" fmla="*/ 2147483646 w 304"/>
                <a:gd name="T117" fmla="*/ 2147483646 h 41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04" h="414">
                  <a:moveTo>
                    <a:pt x="240" y="16"/>
                  </a:moveTo>
                  <a:lnTo>
                    <a:pt x="238" y="16"/>
                  </a:lnTo>
                  <a:lnTo>
                    <a:pt x="220" y="0"/>
                  </a:lnTo>
                  <a:lnTo>
                    <a:pt x="212" y="6"/>
                  </a:lnTo>
                  <a:lnTo>
                    <a:pt x="206" y="16"/>
                  </a:lnTo>
                  <a:lnTo>
                    <a:pt x="200" y="24"/>
                  </a:lnTo>
                  <a:lnTo>
                    <a:pt x="192" y="28"/>
                  </a:lnTo>
                  <a:lnTo>
                    <a:pt x="184" y="32"/>
                  </a:lnTo>
                  <a:lnTo>
                    <a:pt x="180" y="34"/>
                  </a:lnTo>
                  <a:lnTo>
                    <a:pt x="176" y="32"/>
                  </a:lnTo>
                  <a:lnTo>
                    <a:pt x="174" y="28"/>
                  </a:lnTo>
                  <a:lnTo>
                    <a:pt x="174" y="22"/>
                  </a:lnTo>
                  <a:lnTo>
                    <a:pt x="180" y="4"/>
                  </a:lnTo>
                  <a:lnTo>
                    <a:pt x="152" y="22"/>
                  </a:lnTo>
                  <a:lnTo>
                    <a:pt x="152" y="24"/>
                  </a:lnTo>
                  <a:lnTo>
                    <a:pt x="128" y="24"/>
                  </a:lnTo>
                  <a:lnTo>
                    <a:pt x="108" y="34"/>
                  </a:lnTo>
                  <a:lnTo>
                    <a:pt x="108" y="36"/>
                  </a:lnTo>
                  <a:lnTo>
                    <a:pt x="84" y="36"/>
                  </a:lnTo>
                  <a:lnTo>
                    <a:pt x="72" y="42"/>
                  </a:lnTo>
                  <a:lnTo>
                    <a:pt x="68" y="54"/>
                  </a:lnTo>
                  <a:lnTo>
                    <a:pt x="66" y="56"/>
                  </a:lnTo>
                  <a:lnTo>
                    <a:pt x="40" y="56"/>
                  </a:lnTo>
                  <a:lnTo>
                    <a:pt x="34" y="56"/>
                  </a:lnTo>
                  <a:lnTo>
                    <a:pt x="28" y="62"/>
                  </a:lnTo>
                  <a:lnTo>
                    <a:pt x="8" y="80"/>
                  </a:lnTo>
                  <a:lnTo>
                    <a:pt x="16" y="84"/>
                  </a:lnTo>
                  <a:lnTo>
                    <a:pt x="20" y="88"/>
                  </a:lnTo>
                  <a:lnTo>
                    <a:pt x="22" y="94"/>
                  </a:lnTo>
                  <a:lnTo>
                    <a:pt x="22" y="92"/>
                  </a:lnTo>
                  <a:lnTo>
                    <a:pt x="34" y="138"/>
                  </a:lnTo>
                  <a:lnTo>
                    <a:pt x="34" y="140"/>
                  </a:lnTo>
                  <a:lnTo>
                    <a:pt x="34" y="144"/>
                  </a:lnTo>
                  <a:lnTo>
                    <a:pt x="32" y="144"/>
                  </a:lnTo>
                  <a:lnTo>
                    <a:pt x="0" y="188"/>
                  </a:lnTo>
                  <a:lnTo>
                    <a:pt x="0" y="200"/>
                  </a:lnTo>
                  <a:lnTo>
                    <a:pt x="8" y="196"/>
                  </a:lnTo>
                  <a:lnTo>
                    <a:pt x="12" y="196"/>
                  </a:lnTo>
                  <a:lnTo>
                    <a:pt x="16" y="198"/>
                  </a:lnTo>
                  <a:lnTo>
                    <a:pt x="18" y="202"/>
                  </a:lnTo>
                  <a:lnTo>
                    <a:pt x="16" y="214"/>
                  </a:lnTo>
                  <a:lnTo>
                    <a:pt x="16" y="226"/>
                  </a:lnTo>
                  <a:lnTo>
                    <a:pt x="18" y="238"/>
                  </a:lnTo>
                  <a:lnTo>
                    <a:pt x="20" y="250"/>
                  </a:lnTo>
                  <a:lnTo>
                    <a:pt x="24" y="262"/>
                  </a:lnTo>
                  <a:lnTo>
                    <a:pt x="36" y="274"/>
                  </a:lnTo>
                  <a:lnTo>
                    <a:pt x="40" y="280"/>
                  </a:lnTo>
                  <a:lnTo>
                    <a:pt x="40" y="286"/>
                  </a:lnTo>
                  <a:lnTo>
                    <a:pt x="36" y="294"/>
                  </a:lnTo>
                  <a:lnTo>
                    <a:pt x="42" y="304"/>
                  </a:lnTo>
                  <a:lnTo>
                    <a:pt x="44" y="310"/>
                  </a:lnTo>
                  <a:lnTo>
                    <a:pt x="44" y="320"/>
                  </a:lnTo>
                  <a:lnTo>
                    <a:pt x="40" y="330"/>
                  </a:lnTo>
                  <a:lnTo>
                    <a:pt x="34" y="344"/>
                  </a:lnTo>
                  <a:lnTo>
                    <a:pt x="44" y="362"/>
                  </a:lnTo>
                  <a:lnTo>
                    <a:pt x="46" y="366"/>
                  </a:lnTo>
                  <a:lnTo>
                    <a:pt x="52" y="362"/>
                  </a:lnTo>
                  <a:lnTo>
                    <a:pt x="60" y="356"/>
                  </a:lnTo>
                  <a:lnTo>
                    <a:pt x="66" y="352"/>
                  </a:lnTo>
                  <a:lnTo>
                    <a:pt x="72" y="352"/>
                  </a:lnTo>
                  <a:lnTo>
                    <a:pt x="78" y="352"/>
                  </a:lnTo>
                  <a:lnTo>
                    <a:pt x="84" y="356"/>
                  </a:lnTo>
                  <a:lnTo>
                    <a:pt x="86" y="362"/>
                  </a:lnTo>
                  <a:lnTo>
                    <a:pt x="86" y="366"/>
                  </a:lnTo>
                  <a:lnTo>
                    <a:pt x="82" y="374"/>
                  </a:lnTo>
                  <a:lnTo>
                    <a:pt x="66" y="392"/>
                  </a:lnTo>
                  <a:lnTo>
                    <a:pt x="56" y="406"/>
                  </a:lnTo>
                  <a:lnTo>
                    <a:pt x="60" y="414"/>
                  </a:lnTo>
                  <a:lnTo>
                    <a:pt x="72" y="408"/>
                  </a:lnTo>
                  <a:lnTo>
                    <a:pt x="76" y="406"/>
                  </a:lnTo>
                  <a:lnTo>
                    <a:pt x="80" y="406"/>
                  </a:lnTo>
                  <a:lnTo>
                    <a:pt x="94" y="402"/>
                  </a:lnTo>
                  <a:lnTo>
                    <a:pt x="120" y="390"/>
                  </a:lnTo>
                  <a:lnTo>
                    <a:pt x="126" y="388"/>
                  </a:lnTo>
                  <a:lnTo>
                    <a:pt x="134" y="390"/>
                  </a:lnTo>
                  <a:lnTo>
                    <a:pt x="142" y="394"/>
                  </a:lnTo>
                  <a:lnTo>
                    <a:pt x="150" y="402"/>
                  </a:lnTo>
                  <a:lnTo>
                    <a:pt x="154" y="400"/>
                  </a:lnTo>
                  <a:lnTo>
                    <a:pt x="154" y="390"/>
                  </a:lnTo>
                  <a:lnTo>
                    <a:pt x="152" y="388"/>
                  </a:lnTo>
                  <a:lnTo>
                    <a:pt x="152" y="384"/>
                  </a:lnTo>
                  <a:lnTo>
                    <a:pt x="154" y="380"/>
                  </a:lnTo>
                  <a:lnTo>
                    <a:pt x="150" y="366"/>
                  </a:lnTo>
                  <a:lnTo>
                    <a:pt x="150" y="362"/>
                  </a:lnTo>
                  <a:lnTo>
                    <a:pt x="150" y="358"/>
                  </a:lnTo>
                  <a:lnTo>
                    <a:pt x="158" y="352"/>
                  </a:lnTo>
                  <a:lnTo>
                    <a:pt x="166" y="346"/>
                  </a:lnTo>
                  <a:lnTo>
                    <a:pt x="162" y="336"/>
                  </a:lnTo>
                  <a:lnTo>
                    <a:pt x="162" y="334"/>
                  </a:lnTo>
                  <a:lnTo>
                    <a:pt x="166" y="328"/>
                  </a:lnTo>
                  <a:lnTo>
                    <a:pt x="164" y="324"/>
                  </a:lnTo>
                  <a:lnTo>
                    <a:pt x="164" y="320"/>
                  </a:lnTo>
                  <a:lnTo>
                    <a:pt x="164" y="316"/>
                  </a:lnTo>
                  <a:lnTo>
                    <a:pt x="170" y="308"/>
                  </a:lnTo>
                  <a:lnTo>
                    <a:pt x="180" y="300"/>
                  </a:lnTo>
                  <a:lnTo>
                    <a:pt x="178" y="298"/>
                  </a:lnTo>
                  <a:lnTo>
                    <a:pt x="176" y="296"/>
                  </a:lnTo>
                  <a:lnTo>
                    <a:pt x="186" y="292"/>
                  </a:lnTo>
                  <a:lnTo>
                    <a:pt x="186" y="278"/>
                  </a:lnTo>
                  <a:lnTo>
                    <a:pt x="186" y="274"/>
                  </a:lnTo>
                  <a:lnTo>
                    <a:pt x="190" y="270"/>
                  </a:lnTo>
                  <a:lnTo>
                    <a:pt x="194" y="266"/>
                  </a:lnTo>
                  <a:lnTo>
                    <a:pt x="200" y="260"/>
                  </a:lnTo>
                  <a:lnTo>
                    <a:pt x="206" y="256"/>
                  </a:lnTo>
                  <a:lnTo>
                    <a:pt x="194" y="242"/>
                  </a:lnTo>
                  <a:lnTo>
                    <a:pt x="192" y="238"/>
                  </a:lnTo>
                  <a:lnTo>
                    <a:pt x="192" y="232"/>
                  </a:lnTo>
                  <a:lnTo>
                    <a:pt x="194" y="228"/>
                  </a:lnTo>
                  <a:lnTo>
                    <a:pt x="198" y="222"/>
                  </a:lnTo>
                  <a:lnTo>
                    <a:pt x="198" y="220"/>
                  </a:lnTo>
                  <a:lnTo>
                    <a:pt x="224" y="200"/>
                  </a:lnTo>
                  <a:lnTo>
                    <a:pt x="224" y="194"/>
                  </a:lnTo>
                  <a:lnTo>
                    <a:pt x="222" y="192"/>
                  </a:lnTo>
                  <a:lnTo>
                    <a:pt x="220" y="186"/>
                  </a:lnTo>
                  <a:lnTo>
                    <a:pt x="220" y="178"/>
                  </a:lnTo>
                  <a:lnTo>
                    <a:pt x="220" y="170"/>
                  </a:lnTo>
                  <a:lnTo>
                    <a:pt x="224" y="156"/>
                  </a:lnTo>
                  <a:lnTo>
                    <a:pt x="230" y="146"/>
                  </a:lnTo>
                  <a:lnTo>
                    <a:pt x="238" y="138"/>
                  </a:lnTo>
                  <a:lnTo>
                    <a:pt x="250" y="136"/>
                  </a:lnTo>
                  <a:lnTo>
                    <a:pt x="252" y="136"/>
                  </a:lnTo>
                  <a:lnTo>
                    <a:pt x="262" y="140"/>
                  </a:lnTo>
                  <a:lnTo>
                    <a:pt x="272" y="140"/>
                  </a:lnTo>
                  <a:lnTo>
                    <a:pt x="284" y="128"/>
                  </a:lnTo>
                  <a:lnTo>
                    <a:pt x="296" y="120"/>
                  </a:lnTo>
                  <a:lnTo>
                    <a:pt x="296" y="108"/>
                  </a:lnTo>
                  <a:lnTo>
                    <a:pt x="296" y="106"/>
                  </a:lnTo>
                  <a:lnTo>
                    <a:pt x="296" y="104"/>
                  </a:lnTo>
                  <a:lnTo>
                    <a:pt x="300" y="102"/>
                  </a:lnTo>
                  <a:lnTo>
                    <a:pt x="304" y="98"/>
                  </a:lnTo>
                  <a:lnTo>
                    <a:pt x="304" y="96"/>
                  </a:lnTo>
                  <a:lnTo>
                    <a:pt x="296" y="84"/>
                  </a:lnTo>
                  <a:lnTo>
                    <a:pt x="286" y="68"/>
                  </a:lnTo>
                  <a:lnTo>
                    <a:pt x="276" y="52"/>
                  </a:lnTo>
                  <a:lnTo>
                    <a:pt x="274" y="46"/>
                  </a:lnTo>
                  <a:lnTo>
                    <a:pt x="274" y="40"/>
                  </a:lnTo>
                  <a:lnTo>
                    <a:pt x="276" y="34"/>
                  </a:lnTo>
                  <a:lnTo>
                    <a:pt x="280" y="28"/>
                  </a:lnTo>
                  <a:lnTo>
                    <a:pt x="264" y="20"/>
                  </a:lnTo>
                  <a:lnTo>
                    <a:pt x="240" y="16"/>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38" name="福建"/>
            <p:cNvSpPr/>
            <p:nvPr/>
          </p:nvSpPr>
          <p:spPr bwMode="auto">
            <a:xfrm>
              <a:off x="9091612" y="224692"/>
              <a:ext cx="394170" cy="474940"/>
            </a:xfrm>
            <a:custGeom>
              <a:avLst/>
              <a:gdLst>
                <a:gd name="T0" fmla="*/ 2147483646 w 282"/>
                <a:gd name="T1" fmla="*/ 2147483646 h 344"/>
                <a:gd name="T2" fmla="*/ 2147483646 w 282"/>
                <a:gd name="T3" fmla="*/ 2147483646 h 344"/>
                <a:gd name="T4" fmla="*/ 2147483646 w 282"/>
                <a:gd name="T5" fmla="*/ 2147483646 h 344"/>
                <a:gd name="T6" fmla="*/ 2147483646 w 282"/>
                <a:gd name="T7" fmla="*/ 2147483646 h 344"/>
                <a:gd name="T8" fmla="*/ 2147483646 w 282"/>
                <a:gd name="T9" fmla="*/ 2147483646 h 344"/>
                <a:gd name="T10" fmla="*/ 2147483646 w 282"/>
                <a:gd name="T11" fmla="*/ 2147483646 h 344"/>
                <a:gd name="T12" fmla="*/ 2147483646 w 282"/>
                <a:gd name="T13" fmla="*/ 2147483646 h 344"/>
                <a:gd name="T14" fmla="*/ 2147483646 w 282"/>
                <a:gd name="T15" fmla="*/ 2147483646 h 344"/>
                <a:gd name="T16" fmla="*/ 2147483646 w 282"/>
                <a:gd name="T17" fmla="*/ 2147483646 h 344"/>
                <a:gd name="T18" fmla="*/ 2147483646 w 282"/>
                <a:gd name="T19" fmla="*/ 2147483646 h 344"/>
                <a:gd name="T20" fmla="*/ 2147483646 w 282"/>
                <a:gd name="T21" fmla="*/ 2147483646 h 344"/>
                <a:gd name="T22" fmla="*/ 2147483646 w 282"/>
                <a:gd name="T23" fmla="*/ 2147483646 h 344"/>
                <a:gd name="T24" fmla="*/ 2147483646 w 282"/>
                <a:gd name="T25" fmla="*/ 2147483646 h 344"/>
                <a:gd name="T26" fmla="*/ 2147483646 w 282"/>
                <a:gd name="T27" fmla="*/ 2147483646 h 344"/>
                <a:gd name="T28" fmla="*/ 2147483646 w 282"/>
                <a:gd name="T29" fmla="*/ 2147483646 h 344"/>
                <a:gd name="T30" fmla="*/ 2147483646 w 282"/>
                <a:gd name="T31" fmla="*/ 2147483646 h 344"/>
                <a:gd name="T32" fmla="*/ 2147483646 w 282"/>
                <a:gd name="T33" fmla="*/ 2147483646 h 344"/>
                <a:gd name="T34" fmla="*/ 0 w 282"/>
                <a:gd name="T35" fmla="*/ 2147483646 h 344"/>
                <a:gd name="T36" fmla="*/ 2147483646 w 282"/>
                <a:gd name="T37" fmla="*/ 2147483646 h 344"/>
                <a:gd name="T38" fmla="*/ 2147483646 w 282"/>
                <a:gd name="T39" fmla="*/ 2147483646 h 344"/>
                <a:gd name="T40" fmla="*/ 2147483646 w 282"/>
                <a:gd name="T41" fmla="*/ 2147483646 h 344"/>
                <a:gd name="T42" fmla="*/ 2147483646 w 282"/>
                <a:gd name="T43" fmla="*/ 2147483646 h 344"/>
                <a:gd name="T44" fmla="*/ 2147483646 w 282"/>
                <a:gd name="T45" fmla="*/ 2147483646 h 344"/>
                <a:gd name="T46" fmla="*/ 2147483646 w 282"/>
                <a:gd name="T47" fmla="*/ 2147483646 h 344"/>
                <a:gd name="T48" fmla="*/ 2147483646 w 282"/>
                <a:gd name="T49" fmla="*/ 2147483646 h 344"/>
                <a:gd name="T50" fmla="*/ 2147483646 w 282"/>
                <a:gd name="T51" fmla="*/ 2147483646 h 344"/>
                <a:gd name="T52" fmla="*/ 2147483646 w 282"/>
                <a:gd name="T53" fmla="*/ 2147483646 h 344"/>
                <a:gd name="T54" fmla="*/ 2147483646 w 282"/>
                <a:gd name="T55" fmla="*/ 2147483646 h 344"/>
                <a:gd name="T56" fmla="*/ 2147483646 w 282"/>
                <a:gd name="T57" fmla="*/ 2147483646 h 344"/>
                <a:gd name="T58" fmla="*/ 2147483646 w 282"/>
                <a:gd name="T59" fmla="*/ 2147483646 h 344"/>
                <a:gd name="T60" fmla="*/ 2147483646 w 282"/>
                <a:gd name="T61" fmla="*/ 2147483646 h 344"/>
                <a:gd name="T62" fmla="*/ 2147483646 w 282"/>
                <a:gd name="T63" fmla="*/ 2147483646 h 344"/>
                <a:gd name="T64" fmla="*/ 2147483646 w 282"/>
                <a:gd name="T65" fmla="*/ 2147483646 h 344"/>
                <a:gd name="T66" fmla="*/ 2147483646 w 282"/>
                <a:gd name="T67" fmla="*/ 2147483646 h 344"/>
                <a:gd name="T68" fmla="*/ 2147483646 w 282"/>
                <a:gd name="T69" fmla="*/ 2147483646 h 344"/>
                <a:gd name="T70" fmla="*/ 2147483646 w 282"/>
                <a:gd name="T71" fmla="*/ 2147483646 h 344"/>
                <a:gd name="T72" fmla="*/ 2147483646 w 282"/>
                <a:gd name="T73" fmla="*/ 2147483646 h 344"/>
                <a:gd name="T74" fmla="*/ 2147483646 w 282"/>
                <a:gd name="T75" fmla="*/ 2147483646 h 344"/>
                <a:gd name="T76" fmla="*/ 2147483646 w 282"/>
                <a:gd name="T77" fmla="*/ 2147483646 h 344"/>
                <a:gd name="T78" fmla="*/ 2147483646 w 282"/>
                <a:gd name="T79" fmla="*/ 2147483646 h 344"/>
                <a:gd name="T80" fmla="*/ 2147483646 w 282"/>
                <a:gd name="T81" fmla="*/ 2147483646 h 344"/>
                <a:gd name="T82" fmla="*/ 2147483646 w 282"/>
                <a:gd name="T83" fmla="*/ 2147483646 h 344"/>
                <a:gd name="T84" fmla="*/ 2147483646 w 282"/>
                <a:gd name="T85" fmla="*/ 2147483646 h 344"/>
                <a:gd name="T86" fmla="*/ 2147483646 w 282"/>
                <a:gd name="T87" fmla="*/ 2147483646 h 344"/>
                <a:gd name="T88" fmla="*/ 2147483646 w 282"/>
                <a:gd name="T89" fmla="*/ 2147483646 h 344"/>
                <a:gd name="T90" fmla="*/ 2147483646 w 282"/>
                <a:gd name="T91" fmla="*/ 2147483646 h 344"/>
                <a:gd name="T92" fmla="*/ 2147483646 w 282"/>
                <a:gd name="T93" fmla="*/ 2147483646 h 344"/>
                <a:gd name="T94" fmla="*/ 2147483646 w 282"/>
                <a:gd name="T95" fmla="*/ 2147483646 h 344"/>
                <a:gd name="T96" fmla="*/ 2147483646 w 282"/>
                <a:gd name="T97" fmla="*/ 2147483646 h 344"/>
                <a:gd name="T98" fmla="*/ 2147483646 w 282"/>
                <a:gd name="T99" fmla="*/ 2147483646 h 344"/>
                <a:gd name="T100" fmla="*/ 2147483646 w 282"/>
                <a:gd name="T101" fmla="*/ 2147483646 h 344"/>
                <a:gd name="T102" fmla="*/ 2147483646 w 282"/>
                <a:gd name="T103" fmla="*/ 0 h 34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82" h="344">
                  <a:moveTo>
                    <a:pt x="146" y="14"/>
                  </a:moveTo>
                  <a:lnTo>
                    <a:pt x="146" y="14"/>
                  </a:lnTo>
                  <a:lnTo>
                    <a:pt x="132" y="24"/>
                  </a:lnTo>
                  <a:lnTo>
                    <a:pt x="120" y="38"/>
                  </a:lnTo>
                  <a:lnTo>
                    <a:pt x="118" y="38"/>
                  </a:lnTo>
                  <a:lnTo>
                    <a:pt x="118" y="40"/>
                  </a:lnTo>
                  <a:lnTo>
                    <a:pt x="102" y="40"/>
                  </a:lnTo>
                  <a:lnTo>
                    <a:pt x="92" y="34"/>
                  </a:lnTo>
                  <a:lnTo>
                    <a:pt x="84" y="38"/>
                  </a:lnTo>
                  <a:lnTo>
                    <a:pt x="78" y="42"/>
                  </a:lnTo>
                  <a:lnTo>
                    <a:pt x="74" y="50"/>
                  </a:lnTo>
                  <a:lnTo>
                    <a:pt x="70" y="60"/>
                  </a:lnTo>
                  <a:lnTo>
                    <a:pt x="70" y="74"/>
                  </a:lnTo>
                  <a:lnTo>
                    <a:pt x="80" y="66"/>
                  </a:lnTo>
                  <a:lnTo>
                    <a:pt x="74" y="92"/>
                  </a:lnTo>
                  <a:lnTo>
                    <a:pt x="74" y="94"/>
                  </a:lnTo>
                  <a:lnTo>
                    <a:pt x="46" y="116"/>
                  </a:lnTo>
                  <a:lnTo>
                    <a:pt x="42" y="124"/>
                  </a:lnTo>
                  <a:lnTo>
                    <a:pt x="42" y="128"/>
                  </a:lnTo>
                  <a:lnTo>
                    <a:pt x="48" y="134"/>
                  </a:lnTo>
                  <a:lnTo>
                    <a:pt x="54" y="140"/>
                  </a:lnTo>
                  <a:lnTo>
                    <a:pt x="56" y="142"/>
                  </a:lnTo>
                  <a:lnTo>
                    <a:pt x="56" y="146"/>
                  </a:lnTo>
                  <a:lnTo>
                    <a:pt x="56" y="148"/>
                  </a:lnTo>
                  <a:lnTo>
                    <a:pt x="54" y="152"/>
                  </a:lnTo>
                  <a:lnTo>
                    <a:pt x="36" y="166"/>
                  </a:lnTo>
                  <a:lnTo>
                    <a:pt x="38" y="174"/>
                  </a:lnTo>
                  <a:lnTo>
                    <a:pt x="36" y="184"/>
                  </a:lnTo>
                  <a:lnTo>
                    <a:pt x="36" y="186"/>
                  </a:lnTo>
                  <a:lnTo>
                    <a:pt x="30" y="190"/>
                  </a:lnTo>
                  <a:lnTo>
                    <a:pt x="28" y="194"/>
                  </a:lnTo>
                  <a:lnTo>
                    <a:pt x="24" y="200"/>
                  </a:lnTo>
                  <a:lnTo>
                    <a:pt x="14" y="208"/>
                  </a:lnTo>
                  <a:lnTo>
                    <a:pt x="14" y="210"/>
                  </a:lnTo>
                  <a:lnTo>
                    <a:pt x="16" y="216"/>
                  </a:lnTo>
                  <a:lnTo>
                    <a:pt x="14" y="226"/>
                  </a:lnTo>
                  <a:lnTo>
                    <a:pt x="16" y="236"/>
                  </a:lnTo>
                  <a:lnTo>
                    <a:pt x="16" y="238"/>
                  </a:lnTo>
                  <a:lnTo>
                    <a:pt x="14" y="242"/>
                  </a:lnTo>
                  <a:lnTo>
                    <a:pt x="6" y="250"/>
                  </a:lnTo>
                  <a:lnTo>
                    <a:pt x="4" y="250"/>
                  </a:lnTo>
                  <a:lnTo>
                    <a:pt x="0" y="252"/>
                  </a:lnTo>
                  <a:lnTo>
                    <a:pt x="0" y="254"/>
                  </a:lnTo>
                  <a:lnTo>
                    <a:pt x="6" y="272"/>
                  </a:lnTo>
                  <a:lnTo>
                    <a:pt x="28" y="272"/>
                  </a:lnTo>
                  <a:lnTo>
                    <a:pt x="50" y="272"/>
                  </a:lnTo>
                  <a:lnTo>
                    <a:pt x="52" y="272"/>
                  </a:lnTo>
                  <a:lnTo>
                    <a:pt x="52" y="274"/>
                  </a:lnTo>
                  <a:lnTo>
                    <a:pt x="70" y="290"/>
                  </a:lnTo>
                  <a:lnTo>
                    <a:pt x="70" y="292"/>
                  </a:lnTo>
                  <a:lnTo>
                    <a:pt x="82" y="322"/>
                  </a:lnTo>
                  <a:lnTo>
                    <a:pt x="102" y="342"/>
                  </a:lnTo>
                  <a:lnTo>
                    <a:pt x="112" y="344"/>
                  </a:lnTo>
                  <a:lnTo>
                    <a:pt x="112" y="320"/>
                  </a:lnTo>
                  <a:lnTo>
                    <a:pt x="132" y="340"/>
                  </a:lnTo>
                  <a:lnTo>
                    <a:pt x="136" y="336"/>
                  </a:lnTo>
                  <a:lnTo>
                    <a:pt x="150" y="306"/>
                  </a:lnTo>
                  <a:lnTo>
                    <a:pt x="152" y="290"/>
                  </a:lnTo>
                  <a:lnTo>
                    <a:pt x="154" y="290"/>
                  </a:lnTo>
                  <a:lnTo>
                    <a:pt x="156" y="290"/>
                  </a:lnTo>
                  <a:lnTo>
                    <a:pt x="172" y="292"/>
                  </a:lnTo>
                  <a:lnTo>
                    <a:pt x="170" y="280"/>
                  </a:lnTo>
                  <a:lnTo>
                    <a:pt x="170" y="278"/>
                  </a:lnTo>
                  <a:lnTo>
                    <a:pt x="170" y="276"/>
                  </a:lnTo>
                  <a:lnTo>
                    <a:pt x="174" y="276"/>
                  </a:lnTo>
                  <a:lnTo>
                    <a:pt x="194" y="276"/>
                  </a:lnTo>
                  <a:lnTo>
                    <a:pt x="200" y="270"/>
                  </a:lnTo>
                  <a:lnTo>
                    <a:pt x="204" y="262"/>
                  </a:lnTo>
                  <a:lnTo>
                    <a:pt x="208" y="256"/>
                  </a:lnTo>
                  <a:lnTo>
                    <a:pt x="208" y="250"/>
                  </a:lnTo>
                  <a:lnTo>
                    <a:pt x="206" y="222"/>
                  </a:lnTo>
                  <a:lnTo>
                    <a:pt x="222" y="226"/>
                  </a:lnTo>
                  <a:lnTo>
                    <a:pt x="228" y="218"/>
                  </a:lnTo>
                  <a:lnTo>
                    <a:pt x="220" y="210"/>
                  </a:lnTo>
                  <a:lnTo>
                    <a:pt x="218" y="208"/>
                  </a:lnTo>
                  <a:lnTo>
                    <a:pt x="234" y="192"/>
                  </a:lnTo>
                  <a:lnTo>
                    <a:pt x="234" y="194"/>
                  </a:lnTo>
                  <a:lnTo>
                    <a:pt x="236" y="194"/>
                  </a:lnTo>
                  <a:lnTo>
                    <a:pt x="246" y="198"/>
                  </a:lnTo>
                  <a:lnTo>
                    <a:pt x="246" y="196"/>
                  </a:lnTo>
                  <a:lnTo>
                    <a:pt x="238" y="182"/>
                  </a:lnTo>
                  <a:lnTo>
                    <a:pt x="242" y="180"/>
                  </a:lnTo>
                  <a:lnTo>
                    <a:pt x="246" y="178"/>
                  </a:lnTo>
                  <a:lnTo>
                    <a:pt x="244" y="172"/>
                  </a:lnTo>
                  <a:lnTo>
                    <a:pt x="236" y="156"/>
                  </a:lnTo>
                  <a:lnTo>
                    <a:pt x="238" y="156"/>
                  </a:lnTo>
                  <a:lnTo>
                    <a:pt x="238" y="154"/>
                  </a:lnTo>
                  <a:lnTo>
                    <a:pt x="260" y="142"/>
                  </a:lnTo>
                  <a:lnTo>
                    <a:pt x="262" y="134"/>
                  </a:lnTo>
                  <a:lnTo>
                    <a:pt x="240" y="120"/>
                  </a:lnTo>
                  <a:lnTo>
                    <a:pt x="236" y="116"/>
                  </a:lnTo>
                  <a:lnTo>
                    <a:pt x="234" y="112"/>
                  </a:lnTo>
                  <a:lnTo>
                    <a:pt x="236" y="108"/>
                  </a:lnTo>
                  <a:lnTo>
                    <a:pt x="242" y="108"/>
                  </a:lnTo>
                  <a:lnTo>
                    <a:pt x="266" y="112"/>
                  </a:lnTo>
                  <a:lnTo>
                    <a:pt x="266" y="98"/>
                  </a:lnTo>
                  <a:lnTo>
                    <a:pt x="266" y="96"/>
                  </a:lnTo>
                  <a:lnTo>
                    <a:pt x="278" y="84"/>
                  </a:lnTo>
                  <a:lnTo>
                    <a:pt x="282" y="74"/>
                  </a:lnTo>
                  <a:lnTo>
                    <a:pt x="276" y="72"/>
                  </a:lnTo>
                  <a:lnTo>
                    <a:pt x="270" y="66"/>
                  </a:lnTo>
                  <a:lnTo>
                    <a:pt x="270" y="64"/>
                  </a:lnTo>
                  <a:lnTo>
                    <a:pt x="270" y="60"/>
                  </a:lnTo>
                  <a:lnTo>
                    <a:pt x="270" y="58"/>
                  </a:lnTo>
                  <a:lnTo>
                    <a:pt x="268" y="58"/>
                  </a:lnTo>
                  <a:lnTo>
                    <a:pt x="266" y="58"/>
                  </a:lnTo>
                  <a:lnTo>
                    <a:pt x="262" y="62"/>
                  </a:lnTo>
                  <a:lnTo>
                    <a:pt x="256" y="64"/>
                  </a:lnTo>
                  <a:lnTo>
                    <a:pt x="250" y="62"/>
                  </a:lnTo>
                  <a:lnTo>
                    <a:pt x="244" y="62"/>
                  </a:lnTo>
                  <a:lnTo>
                    <a:pt x="234" y="54"/>
                  </a:lnTo>
                  <a:lnTo>
                    <a:pt x="226" y="42"/>
                  </a:lnTo>
                  <a:lnTo>
                    <a:pt x="226" y="44"/>
                  </a:lnTo>
                  <a:lnTo>
                    <a:pt x="222" y="50"/>
                  </a:lnTo>
                  <a:lnTo>
                    <a:pt x="216" y="58"/>
                  </a:lnTo>
                  <a:lnTo>
                    <a:pt x="208" y="60"/>
                  </a:lnTo>
                  <a:lnTo>
                    <a:pt x="200" y="62"/>
                  </a:lnTo>
                  <a:lnTo>
                    <a:pt x="194" y="62"/>
                  </a:lnTo>
                  <a:lnTo>
                    <a:pt x="186" y="60"/>
                  </a:lnTo>
                  <a:lnTo>
                    <a:pt x="182" y="58"/>
                  </a:lnTo>
                  <a:lnTo>
                    <a:pt x="178" y="54"/>
                  </a:lnTo>
                  <a:lnTo>
                    <a:pt x="174" y="46"/>
                  </a:lnTo>
                  <a:lnTo>
                    <a:pt x="170" y="30"/>
                  </a:lnTo>
                  <a:lnTo>
                    <a:pt x="166" y="12"/>
                  </a:lnTo>
                  <a:lnTo>
                    <a:pt x="164" y="6"/>
                  </a:lnTo>
                  <a:lnTo>
                    <a:pt x="160" y="2"/>
                  </a:lnTo>
                  <a:lnTo>
                    <a:pt x="154" y="0"/>
                  </a:lnTo>
                  <a:lnTo>
                    <a:pt x="146" y="0"/>
                  </a:lnTo>
                  <a:lnTo>
                    <a:pt x="148" y="14"/>
                  </a:lnTo>
                  <a:lnTo>
                    <a:pt x="146" y="14"/>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39" name="浙江"/>
            <p:cNvSpPr/>
            <p:nvPr/>
          </p:nvSpPr>
          <p:spPr bwMode="auto">
            <a:xfrm>
              <a:off x="9267730" y="-76287"/>
              <a:ext cx="338258" cy="386579"/>
            </a:xfrm>
            <a:custGeom>
              <a:avLst/>
              <a:gdLst>
                <a:gd name="T0" fmla="*/ 2147483646 w 242"/>
                <a:gd name="T1" fmla="*/ 2147483646 h 280"/>
                <a:gd name="T2" fmla="*/ 2147483646 w 242"/>
                <a:gd name="T3" fmla="*/ 2147483646 h 280"/>
                <a:gd name="T4" fmla="*/ 2147483646 w 242"/>
                <a:gd name="T5" fmla="*/ 2147483646 h 280"/>
                <a:gd name="T6" fmla="*/ 2147483646 w 242"/>
                <a:gd name="T7" fmla="*/ 2147483646 h 280"/>
                <a:gd name="T8" fmla="*/ 2147483646 w 242"/>
                <a:gd name="T9" fmla="*/ 2147483646 h 280"/>
                <a:gd name="T10" fmla="*/ 2147483646 w 242"/>
                <a:gd name="T11" fmla="*/ 2147483646 h 280"/>
                <a:gd name="T12" fmla="*/ 2147483646 w 242"/>
                <a:gd name="T13" fmla="*/ 2147483646 h 280"/>
                <a:gd name="T14" fmla="*/ 2147483646 w 242"/>
                <a:gd name="T15" fmla="*/ 2147483646 h 280"/>
                <a:gd name="T16" fmla="*/ 2147483646 w 242"/>
                <a:gd name="T17" fmla="*/ 2147483646 h 280"/>
                <a:gd name="T18" fmla="*/ 0 w 242"/>
                <a:gd name="T19" fmla="*/ 2147483646 h 280"/>
                <a:gd name="T20" fmla="*/ 2147483646 w 242"/>
                <a:gd name="T21" fmla="*/ 2147483646 h 280"/>
                <a:gd name="T22" fmla="*/ 2147483646 w 242"/>
                <a:gd name="T23" fmla="*/ 2147483646 h 280"/>
                <a:gd name="T24" fmla="*/ 2147483646 w 242"/>
                <a:gd name="T25" fmla="*/ 2147483646 h 280"/>
                <a:gd name="T26" fmla="*/ 2147483646 w 242"/>
                <a:gd name="T27" fmla="*/ 2147483646 h 280"/>
                <a:gd name="T28" fmla="*/ 2147483646 w 242"/>
                <a:gd name="T29" fmla="*/ 2147483646 h 280"/>
                <a:gd name="T30" fmla="*/ 2147483646 w 242"/>
                <a:gd name="T31" fmla="*/ 2147483646 h 280"/>
                <a:gd name="T32" fmla="*/ 2147483646 w 242"/>
                <a:gd name="T33" fmla="*/ 2147483646 h 280"/>
                <a:gd name="T34" fmla="*/ 2147483646 w 242"/>
                <a:gd name="T35" fmla="*/ 2147483646 h 280"/>
                <a:gd name="T36" fmla="*/ 2147483646 w 242"/>
                <a:gd name="T37" fmla="*/ 2147483646 h 280"/>
                <a:gd name="T38" fmla="*/ 2147483646 w 242"/>
                <a:gd name="T39" fmla="*/ 2147483646 h 280"/>
                <a:gd name="T40" fmla="*/ 2147483646 w 242"/>
                <a:gd name="T41" fmla="*/ 2147483646 h 280"/>
                <a:gd name="T42" fmla="*/ 2147483646 w 242"/>
                <a:gd name="T43" fmla="*/ 2147483646 h 280"/>
                <a:gd name="T44" fmla="*/ 2147483646 w 242"/>
                <a:gd name="T45" fmla="*/ 2147483646 h 280"/>
                <a:gd name="T46" fmla="*/ 2147483646 w 242"/>
                <a:gd name="T47" fmla="*/ 2147483646 h 280"/>
                <a:gd name="T48" fmla="*/ 2147483646 w 242"/>
                <a:gd name="T49" fmla="*/ 2147483646 h 280"/>
                <a:gd name="T50" fmla="*/ 2147483646 w 242"/>
                <a:gd name="T51" fmla="*/ 2147483646 h 280"/>
                <a:gd name="T52" fmla="*/ 2147483646 w 242"/>
                <a:gd name="T53" fmla="*/ 2147483646 h 280"/>
                <a:gd name="T54" fmla="*/ 2147483646 w 242"/>
                <a:gd name="T55" fmla="*/ 2147483646 h 280"/>
                <a:gd name="T56" fmla="*/ 2147483646 w 242"/>
                <a:gd name="T57" fmla="*/ 2147483646 h 280"/>
                <a:gd name="T58" fmla="*/ 2147483646 w 242"/>
                <a:gd name="T59" fmla="*/ 2147483646 h 280"/>
                <a:gd name="T60" fmla="*/ 2147483646 w 242"/>
                <a:gd name="T61" fmla="*/ 2147483646 h 280"/>
                <a:gd name="T62" fmla="*/ 2147483646 w 242"/>
                <a:gd name="T63" fmla="*/ 2147483646 h 280"/>
                <a:gd name="T64" fmla="*/ 2147483646 w 242"/>
                <a:gd name="T65" fmla="*/ 2147483646 h 280"/>
                <a:gd name="T66" fmla="*/ 2147483646 w 242"/>
                <a:gd name="T67" fmla="*/ 2147483646 h 280"/>
                <a:gd name="T68" fmla="*/ 2147483646 w 242"/>
                <a:gd name="T69" fmla="*/ 2147483646 h 280"/>
                <a:gd name="T70" fmla="*/ 2147483646 w 242"/>
                <a:gd name="T71" fmla="*/ 2147483646 h 280"/>
                <a:gd name="T72" fmla="*/ 2147483646 w 242"/>
                <a:gd name="T73" fmla="*/ 2147483646 h 280"/>
                <a:gd name="T74" fmla="*/ 2147483646 w 242"/>
                <a:gd name="T75" fmla="*/ 2147483646 h 280"/>
                <a:gd name="T76" fmla="*/ 2147483646 w 242"/>
                <a:gd name="T77" fmla="*/ 2147483646 h 280"/>
                <a:gd name="T78" fmla="*/ 2147483646 w 242"/>
                <a:gd name="T79" fmla="*/ 2147483646 h 280"/>
                <a:gd name="T80" fmla="*/ 2147483646 w 242"/>
                <a:gd name="T81" fmla="*/ 2147483646 h 280"/>
                <a:gd name="T82" fmla="*/ 2147483646 w 242"/>
                <a:gd name="T83" fmla="*/ 2147483646 h 280"/>
                <a:gd name="T84" fmla="*/ 2147483646 w 242"/>
                <a:gd name="T85" fmla="*/ 2147483646 h 280"/>
                <a:gd name="T86" fmla="*/ 2147483646 w 242"/>
                <a:gd name="T87" fmla="*/ 2147483646 h 280"/>
                <a:gd name="T88" fmla="*/ 2147483646 w 242"/>
                <a:gd name="T89" fmla="*/ 2147483646 h 280"/>
                <a:gd name="T90" fmla="*/ 2147483646 w 242"/>
                <a:gd name="T91" fmla="*/ 2147483646 h 28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42" h="280">
                  <a:moveTo>
                    <a:pt x="148" y="4"/>
                  </a:moveTo>
                  <a:lnTo>
                    <a:pt x="148" y="4"/>
                  </a:lnTo>
                  <a:lnTo>
                    <a:pt x="136" y="8"/>
                  </a:lnTo>
                  <a:lnTo>
                    <a:pt x="126" y="12"/>
                  </a:lnTo>
                  <a:lnTo>
                    <a:pt x="116" y="10"/>
                  </a:lnTo>
                  <a:lnTo>
                    <a:pt x="102" y="6"/>
                  </a:lnTo>
                  <a:lnTo>
                    <a:pt x="84" y="4"/>
                  </a:lnTo>
                  <a:lnTo>
                    <a:pt x="78" y="6"/>
                  </a:lnTo>
                  <a:lnTo>
                    <a:pt x="74" y="12"/>
                  </a:lnTo>
                  <a:lnTo>
                    <a:pt x="62" y="28"/>
                  </a:lnTo>
                  <a:lnTo>
                    <a:pt x="74" y="52"/>
                  </a:lnTo>
                  <a:lnTo>
                    <a:pt x="54" y="64"/>
                  </a:lnTo>
                  <a:lnTo>
                    <a:pt x="38" y="60"/>
                  </a:lnTo>
                  <a:lnTo>
                    <a:pt x="44" y="74"/>
                  </a:lnTo>
                  <a:lnTo>
                    <a:pt x="44" y="78"/>
                  </a:lnTo>
                  <a:lnTo>
                    <a:pt x="44" y="82"/>
                  </a:lnTo>
                  <a:lnTo>
                    <a:pt x="42" y="88"/>
                  </a:lnTo>
                  <a:lnTo>
                    <a:pt x="36" y="100"/>
                  </a:lnTo>
                  <a:lnTo>
                    <a:pt x="32" y="106"/>
                  </a:lnTo>
                  <a:lnTo>
                    <a:pt x="4" y="132"/>
                  </a:lnTo>
                  <a:lnTo>
                    <a:pt x="10" y="136"/>
                  </a:lnTo>
                  <a:lnTo>
                    <a:pt x="6" y="140"/>
                  </a:lnTo>
                  <a:lnTo>
                    <a:pt x="2" y="144"/>
                  </a:lnTo>
                  <a:lnTo>
                    <a:pt x="0" y="148"/>
                  </a:lnTo>
                  <a:lnTo>
                    <a:pt x="0" y="152"/>
                  </a:lnTo>
                  <a:lnTo>
                    <a:pt x="0" y="156"/>
                  </a:lnTo>
                  <a:lnTo>
                    <a:pt x="20" y="186"/>
                  </a:lnTo>
                  <a:lnTo>
                    <a:pt x="30" y="202"/>
                  </a:lnTo>
                  <a:lnTo>
                    <a:pt x="30" y="204"/>
                  </a:lnTo>
                  <a:lnTo>
                    <a:pt x="30" y="206"/>
                  </a:lnTo>
                  <a:lnTo>
                    <a:pt x="30" y="208"/>
                  </a:lnTo>
                  <a:lnTo>
                    <a:pt x="28" y="210"/>
                  </a:lnTo>
                  <a:lnTo>
                    <a:pt x="34" y="210"/>
                  </a:lnTo>
                  <a:lnTo>
                    <a:pt x="40" y="214"/>
                  </a:lnTo>
                  <a:lnTo>
                    <a:pt x="44" y="218"/>
                  </a:lnTo>
                  <a:lnTo>
                    <a:pt x="48" y="224"/>
                  </a:lnTo>
                  <a:lnTo>
                    <a:pt x="50" y="234"/>
                  </a:lnTo>
                  <a:lnTo>
                    <a:pt x="52" y="246"/>
                  </a:lnTo>
                  <a:lnTo>
                    <a:pt x="56" y="262"/>
                  </a:lnTo>
                  <a:lnTo>
                    <a:pt x="58" y="266"/>
                  </a:lnTo>
                  <a:lnTo>
                    <a:pt x="64" y="270"/>
                  </a:lnTo>
                  <a:lnTo>
                    <a:pt x="68" y="272"/>
                  </a:lnTo>
                  <a:lnTo>
                    <a:pt x="74" y="272"/>
                  </a:lnTo>
                  <a:lnTo>
                    <a:pt x="80" y="270"/>
                  </a:lnTo>
                  <a:lnTo>
                    <a:pt x="84" y="268"/>
                  </a:lnTo>
                  <a:lnTo>
                    <a:pt x="90" y="264"/>
                  </a:lnTo>
                  <a:lnTo>
                    <a:pt x="90" y="260"/>
                  </a:lnTo>
                  <a:lnTo>
                    <a:pt x="90" y="258"/>
                  </a:lnTo>
                  <a:lnTo>
                    <a:pt x="104" y="248"/>
                  </a:lnTo>
                  <a:lnTo>
                    <a:pt x="104" y="250"/>
                  </a:lnTo>
                  <a:lnTo>
                    <a:pt x="116" y="268"/>
                  </a:lnTo>
                  <a:lnTo>
                    <a:pt x="122" y="270"/>
                  </a:lnTo>
                  <a:lnTo>
                    <a:pt x="130" y="272"/>
                  </a:lnTo>
                  <a:lnTo>
                    <a:pt x="134" y="272"/>
                  </a:lnTo>
                  <a:lnTo>
                    <a:pt x="130" y="262"/>
                  </a:lnTo>
                  <a:lnTo>
                    <a:pt x="146" y="268"/>
                  </a:lnTo>
                  <a:lnTo>
                    <a:pt x="150" y="268"/>
                  </a:lnTo>
                  <a:lnTo>
                    <a:pt x="152" y="270"/>
                  </a:lnTo>
                  <a:lnTo>
                    <a:pt x="166" y="280"/>
                  </a:lnTo>
                  <a:lnTo>
                    <a:pt x="170" y="274"/>
                  </a:lnTo>
                  <a:lnTo>
                    <a:pt x="168" y="248"/>
                  </a:lnTo>
                  <a:lnTo>
                    <a:pt x="170" y="246"/>
                  </a:lnTo>
                  <a:lnTo>
                    <a:pt x="180" y="234"/>
                  </a:lnTo>
                  <a:lnTo>
                    <a:pt x="180" y="232"/>
                  </a:lnTo>
                  <a:lnTo>
                    <a:pt x="176" y="226"/>
                  </a:lnTo>
                  <a:lnTo>
                    <a:pt x="172" y="224"/>
                  </a:lnTo>
                  <a:lnTo>
                    <a:pt x="174" y="222"/>
                  </a:lnTo>
                  <a:lnTo>
                    <a:pt x="176" y="220"/>
                  </a:lnTo>
                  <a:lnTo>
                    <a:pt x="178" y="220"/>
                  </a:lnTo>
                  <a:lnTo>
                    <a:pt x="198" y="186"/>
                  </a:lnTo>
                  <a:lnTo>
                    <a:pt x="200" y="188"/>
                  </a:lnTo>
                  <a:lnTo>
                    <a:pt x="204" y="188"/>
                  </a:lnTo>
                  <a:lnTo>
                    <a:pt x="204" y="190"/>
                  </a:lnTo>
                  <a:lnTo>
                    <a:pt x="204" y="204"/>
                  </a:lnTo>
                  <a:lnTo>
                    <a:pt x="228" y="184"/>
                  </a:lnTo>
                  <a:lnTo>
                    <a:pt x="226" y="172"/>
                  </a:lnTo>
                  <a:lnTo>
                    <a:pt x="222" y="172"/>
                  </a:lnTo>
                  <a:lnTo>
                    <a:pt x="214" y="174"/>
                  </a:lnTo>
                  <a:lnTo>
                    <a:pt x="228" y="136"/>
                  </a:lnTo>
                  <a:lnTo>
                    <a:pt x="216" y="136"/>
                  </a:lnTo>
                  <a:lnTo>
                    <a:pt x="214" y="136"/>
                  </a:lnTo>
                  <a:lnTo>
                    <a:pt x="214" y="134"/>
                  </a:lnTo>
                  <a:lnTo>
                    <a:pt x="210" y="128"/>
                  </a:lnTo>
                  <a:lnTo>
                    <a:pt x="208" y="122"/>
                  </a:lnTo>
                  <a:lnTo>
                    <a:pt x="210" y="116"/>
                  </a:lnTo>
                  <a:lnTo>
                    <a:pt x="230" y="116"/>
                  </a:lnTo>
                  <a:lnTo>
                    <a:pt x="242" y="116"/>
                  </a:lnTo>
                  <a:lnTo>
                    <a:pt x="240" y="106"/>
                  </a:lnTo>
                  <a:lnTo>
                    <a:pt x="232" y="92"/>
                  </a:lnTo>
                  <a:lnTo>
                    <a:pt x="216" y="86"/>
                  </a:lnTo>
                  <a:lnTo>
                    <a:pt x="232" y="70"/>
                  </a:lnTo>
                  <a:lnTo>
                    <a:pt x="232" y="66"/>
                  </a:lnTo>
                  <a:lnTo>
                    <a:pt x="224" y="68"/>
                  </a:lnTo>
                  <a:lnTo>
                    <a:pt x="220" y="68"/>
                  </a:lnTo>
                  <a:lnTo>
                    <a:pt x="220" y="66"/>
                  </a:lnTo>
                  <a:lnTo>
                    <a:pt x="220" y="64"/>
                  </a:lnTo>
                  <a:lnTo>
                    <a:pt x="218" y="58"/>
                  </a:lnTo>
                  <a:lnTo>
                    <a:pt x="214" y="54"/>
                  </a:lnTo>
                  <a:lnTo>
                    <a:pt x="210" y="50"/>
                  </a:lnTo>
                  <a:lnTo>
                    <a:pt x="204" y="48"/>
                  </a:lnTo>
                  <a:lnTo>
                    <a:pt x="172" y="48"/>
                  </a:lnTo>
                  <a:lnTo>
                    <a:pt x="160" y="64"/>
                  </a:lnTo>
                  <a:lnTo>
                    <a:pt x="156" y="64"/>
                  </a:lnTo>
                  <a:lnTo>
                    <a:pt x="104" y="48"/>
                  </a:lnTo>
                  <a:lnTo>
                    <a:pt x="154" y="36"/>
                  </a:lnTo>
                  <a:lnTo>
                    <a:pt x="158" y="34"/>
                  </a:lnTo>
                  <a:lnTo>
                    <a:pt x="162" y="30"/>
                  </a:lnTo>
                  <a:lnTo>
                    <a:pt x="178" y="12"/>
                  </a:lnTo>
                  <a:lnTo>
                    <a:pt x="162" y="0"/>
                  </a:lnTo>
                  <a:lnTo>
                    <a:pt x="148" y="4"/>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40" name="安徽"/>
            <p:cNvSpPr/>
            <p:nvPr/>
          </p:nvSpPr>
          <p:spPr bwMode="auto">
            <a:xfrm>
              <a:off x="8937858" y="-410402"/>
              <a:ext cx="427716" cy="516359"/>
            </a:xfrm>
            <a:custGeom>
              <a:avLst/>
              <a:gdLst>
                <a:gd name="T0" fmla="*/ 2147483646 w 306"/>
                <a:gd name="T1" fmla="*/ 2147483646 h 374"/>
                <a:gd name="T2" fmla="*/ 2147483646 w 306"/>
                <a:gd name="T3" fmla="*/ 2147483646 h 374"/>
                <a:gd name="T4" fmla="*/ 2147483646 w 306"/>
                <a:gd name="T5" fmla="*/ 2147483646 h 374"/>
                <a:gd name="T6" fmla="*/ 2147483646 w 306"/>
                <a:gd name="T7" fmla="*/ 2147483646 h 374"/>
                <a:gd name="T8" fmla="*/ 2147483646 w 306"/>
                <a:gd name="T9" fmla="*/ 2147483646 h 374"/>
                <a:gd name="T10" fmla="*/ 2147483646 w 306"/>
                <a:gd name="T11" fmla="*/ 2147483646 h 374"/>
                <a:gd name="T12" fmla="*/ 2147483646 w 306"/>
                <a:gd name="T13" fmla="*/ 2147483646 h 374"/>
                <a:gd name="T14" fmla="*/ 2147483646 w 306"/>
                <a:gd name="T15" fmla="*/ 2147483646 h 374"/>
                <a:gd name="T16" fmla="*/ 2147483646 w 306"/>
                <a:gd name="T17" fmla="*/ 2147483646 h 374"/>
                <a:gd name="T18" fmla="*/ 2147483646 w 306"/>
                <a:gd name="T19" fmla="*/ 2147483646 h 374"/>
                <a:gd name="T20" fmla="*/ 2147483646 w 306"/>
                <a:gd name="T21" fmla="*/ 2147483646 h 374"/>
                <a:gd name="T22" fmla="*/ 2147483646 w 306"/>
                <a:gd name="T23" fmla="*/ 2147483646 h 374"/>
                <a:gd name="T24" fmla="*/ 2147483646 w 306"/>
                <a:gd name="T25" fmla="*/ 2147483646 h 374"/>
                <a:gd name="T26" fmla="*/ 2147483646 w 306"/>
                <a:gd name="T27" fmla="*/ 2147483646 h 374"/>
                <a:gd name="T28" fmla="*/ 2147483646 w 306"/>
                <a:gd name="T29" fmla="*/ 2147483646 h 374"/>
                <a:gd name="T30" fmla="*/ 2147483646 w 306"/>
                <a:gd name="T31" fmla="*/ 2147483646 h 374"/>
                <a:gd name="T32" fmla="*/ 2147483646 w 306"/>
                <a:gd name="T33" fmla="*/ 2147483646 h 374"/>
                <a:gd name="T34" fmla="*/ 2147483646 w 306"/>
                <a:gd name="T35" fmla="*/ 2147483646 h 374"/>
                <a:gd name="T36" fmla="*/ 2147483646 w 306"/>
                <a:gd name="T37" fmla="*/ 2147483646 h 374"/>
                <a:gd name="T38" fmla="*/ 2147483646 w 306"/>
                <a:gd name="T39" fmla="*/ 2147483646 h 374"/>
                <a:gd name="T40" fmla="*/ 2147483646 w 306"/>
                <a:gd name="T41" fmla="*/ 2147483646 h 374"/>
                <a:gd name="T42" fmla="*/ 2147483646 w 306"/>
                <a:gd name="T43" fmla="*/ 2147483646 h 374"/>
                <a:gd name="T44" fmla="*/ 2147483646 w 306"/>
                <a:gd name="T45" fmla="*/ 2147483646 h 374"/>
                <a:gd name="T46" fmla="*/ 2147483646 w 306"/>
                <a:gd name="T47" fmla="*/ 2147483646 h 374"/>
                <a:gd name="T48" fmla="*/ 2147483646 w 306"/>
                <a:gd name="T49" fmla="*/ 2147483646 h 374"/>
                <a:gd name="T50" fmla="*/ 2147483646 w 306"/>
                <a:gd name="T51" fmla="*/ 2147483646 h 374"/>
                <a:gd name="T52" fmla="*/ 2147483646 w 306"/>
                <a:gd name="T53" fmla="*/ 2147483646 h 374"/>
                <a:gd name="T54" fmla="*/ 2147483646 w 306"/>
                <a:gd name="T55" fmla="*/ 2147483646 h 374"/>
                <a:gd name="T56" fmla="*/ 2147483646 w 306"/>
                <a:gd name="T57" fmla="*/ 2147483646 h 374"/>
                <a:gd name="T58" fmla="*/ 2147483646 w 306"/>
                <a:gd name="T59" fmla="*/ 2147483646 h 374"/>
                <a:gd name="T60" fmla="*/ 2147483646 w 306"/>
                <a:gd name="T61" fmla="*/ 2147483646 h 374"/>
                <a:gd name="T62" fmla="*/ 2147483646 w 306"/>
                <a:gd name="T63" fmla="*/ 2147483646 h 374"/>
                <a:gd name="T64" fmla="*/ 2147483646 w 306"/>
                <a:gd name="T65" fmla="*/ 2147483646 h 374"/>
                <a:gd name="T66" fmla="*/ 2147483646 w 306"/>
                <a:gd name="T67" fmla="*/ 2147483646 h 374"/>
                <a:gd name="T68" fmla="*/ 2147483646 w 306"/>
                <a:gd name="T69" fmla="*/ 2147483646 h 374"/>
                <a:gd name="T70" fmla="*/ 2147483646 w 306"/>
                <a:gd name="T71" fmla="*/ 2147483646 h 374"/>
                <a:gd name="T72" fmla="*/ 2147483646 w 306"/>
                <a:gd name="T73" fmla="*/ 2147483646 h 374"/>
                <a:gd name="T74" fmla="*/ 2147483646 w 306"/>
                <a:gd name="T75" fmla="*/ 2147483646 h 374"/>
                <a:gd name="T76" fmla="*/ 2147483646 w 306"/>
                <a:gd name="T77" fmla="*/ 2147483646 h 374"/>
                <a:gd name="T78" fmla="*/ 2147483646 w 306"/>
                <a:gd name="T79" fmla="*/ 2147483646 h 374"/>
                <a:gd name="T80" fmla="*/ 2147483646 w 306"/>
                <a:gd name="T81" fmla="*/ 2147483646 h 374"/>
                <a:gd name="T82" fmla="*/ 2147483646 w 306"/>
                <a:gd name="T83" fmla="*/ 2147483646 h 374"/>
                <a:gd name="T84" fmla="*/ 2147483646 w 306"/>
                <a:gd name="T85" fmla="*/ 2147483646 h 374"/>
                <a:gd name="T86" fmla="*/ 2147483646 w 306"/>
                <a:gd name="T87" fmla="*/ 2147483646 h 374"/>
                <a:gd name="T88" fmla="*/ 2147483646 w 306"/>
                <a:gd name="T89" fmla="*/ 2147483646 h 374"/>
                <a:gd name="T90" fmla="*/ 2147483646 w 306"/>
                <a:gd name="T91" fmla="*/ 2147483646 h 374"/>
                <a:gd name="T92" fmla="*/ 2147483646 w 306"/>
                <a:gd name="T93" fmla="*/ 2147483646 h 374"/>
                <a:gd name="T94" fmla="*/ 2147483646 w 306"/>
                <a:gd name="T95" fmla="*/ 2147483646 h 374"/>
                <a:gd name="T96" fmla="*/ 2147483646 w 306"/>
                <a:gd name="T97" fmla="*/ 2147483646 h 374"/>
                <a:gd name="T98" fmla="*/ 2147483646 w 306"/>
                <a:gd name="T99" fmla="*/ 2147483646 h 374"/>
                <a:gd name="T100" fmla="*/ 2147483646 w 306"/>
                <a:gd name="T101" fmla="*/ 2147483646 h 374"/>
                <a:gd name="T102" fmla="*/ 2147483646 w 306"/>
                <a:gd name="T103" fmla="*/ 2147483646 h 374"/>
                <a:gd name="T104" fmla="*/ 2147483646 w 306"/>
                <a:gd name="T105" fmla="*/ 2147483646 h 374"/>
                <a:gd name="T106" fmla="*/ 2147483646 w 306"/>
                <a:gd name="T107" fmla="*/ 2147483646 h 374"/>
                <a:gd name="T108" fmla="*/ 2147483646 w 306"/>
                <a:gd name="T109" fmla="*/ 2147483646 h 374"/>
                <a:gd name="T110" fmla="*/ 2147483646 w 306"/>
                <a:gd name="T111" fmla="*/ 2147483646 h 374"/>
                <a:gd name="T112" fmla="*/ 2147483646 w 306"/>
                <a:gd name="T113" fmla="*/ 2147483646 h 374"/>
                <a:gd name="T114" fmla="*/ 2147483646 w 306"/>
                <a:gd name="T115" fmla="*/ 2147483646 h 37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06" h="374">
                  <a:moveTo>
                    <a:pt x="192" y="106"/>
                  </a:moveTo>
                  <a:lnTo>
                    <a:pt x="192" y="106"/>
                  </a:lnTo>
                  <a:lnTo>
                    <a:pt x="186" y="86"/>
                  </a:lnTo>
                  <a:lnTo>
                    <a:pt x="180" y="70"/>
                  </a:lnTo>
                  <a:lnTo>
                    <a:pt x="174" y="60"/>
                  </a:lnTo>
                  <a:lnTo>
                    <a:pt x="170" y="56"/>
                  </a:lnTo>
                  <a:lnTo>
                    <a:pt x="142" y="46"/>
                  </a:lnTo>
                  <a:lnTo>
                    <a:pt x="122" y="40"/>
                  </a:lnTo>
                  <a:lnTo>
                    <a:pt x="110" y="34"/>
                  </a:lnTo>
                  <a:lnTo>
                    <a:pt x="104" y="30"/>
                  </a:lnTo>
                  <a:lnTo>
                    <a:pt x="96" y="22"/>
                  </a:lnTo>
                  <a:lnTo>
                    <a:pt x="80" y="0"/>
                  </a:lnTo>
                  <a:lnTo>
                    <a:pt x="74" y="0"/>
                  </a:lnTo>
                  <a:lnTo>
                    <a:pt x="76" y="2"/>
                  </a:lnTo>
                  <a:lnTo>
                    <a:pt x="82" y="14"/>
                  </a:lnTo>
                  <a:lnTo>
                    <a:pt x="96" y="34"/>
                  </a:lnTo>
                  <a:lnTo>
                    <a:pt x="98" y="36"/>
                  </a:lnTo>
                  <a:lnTo>
                    <a:pt x="98" y="38"/>
                  </a:lnTo>
                  <a:lnTo>
                    <a:pt x="86" y="60"/>
                  </a:lnTo>
                  <a:lnTo>
                    <a:pt x="78" y="70"/>
                  </a:lnTo>
                  <a:lnTo>
                    <a:pt x="74" y="72"/>
                  </a:lnTo>
                  <a:lnTo>
                    <a:pt x="72" y="72"/>
                  </a:lnTo>
                  <a:lnTo>
                    <a:pt x="64" y="66"/>
                  </a:lnTo>
                  <a:lnTo>
                    <a:pt x="52" y="50"/>
                  </a:lnTo>
                  <a:lnTo>
                    <a:pt x="38" y="46"/>
                  </a:lnTo>
                  <a:lnTo>
                    <a:pt x="40" y="54"/>
                  </a:lnTo>
                  <a:lnTo>
                    <a:pt x="46" y="70"/>
                  </a:lnTo>
                  <a:lnTo>
                    <a:pt x="46" y="72"/>
                  </a:lnTo>
                  <a:lnTo>
                    <a:pt x="46" y="74"/>
                  </a:lnTo>
                  <a:lnTo>
                    <a:pt x="44" y="82"/>
                  </a:lnTo>
                  <a:lnTo>
                    <a:pt x="28" y="88"/>
                  </a:lnTo>
                  <a:lnTo>
                    <a:pt x="24" y="90"/>
                  </a:lnTo>
                  <a:lnTo>
                    <a:pt x="22" y="94"/>
                  </a:lnTo>
                  <a:lnTo>
                    <a:pt x="22" y="102"/>
                  </a:lnTo>
                  <a:lnTo>
                    <a:pt x="24" y="116"/>
                  </a:lnTo>
                  <a:lnTo>
                    <a:pt x="20" y="124"/>
                  </a:lnTo>
                  <a:lnTo>
                    <a:pt x="18" y="126"/>
                  </a:lnTo>
                  <a:lnTo>
                    <a:pt x="16" y="126"/>
                  </a:lnTo>
                  <a:lnTo>
                    <a:pt x="0" y="122"/>
                  </a:lnTo>
                  <a:lnTo>
                    <a:pt x="2" y="126"/>
                  </a:lnTo>
                  <a:lnTo>
                    <a:pt x="8" y="130"/>
                  </a:lnTo>
                  <a:lnTo>
                    <a:pt x="18" y="144"/>
                  </a:lnTo>
                  <a:lnTo>
                    <a:pt x="28" y="160"/>
                  </a:lnTo>
                  <a:lnTo>
                    <a:pt x="28" y="162"/>
                  </a:lnTo>
                  <a:lnTo>
                    <a:pt x="36" y="162"/>
                  </a:lnTo>
                  <a:lnTo>
                    <a:pt x="42" y="160"/>
                  </a:lnTo>
                  <a:lnTo>
                    <a:pt x="48" y="162"/>
                  </a:lnTo>
                  <a:lnTo>
                    <a:pt x="54" y="164"/>
                  </a:lnTo>
                  <a:lnTo>
                    <a:pt x="60" y="166"/>
                  </a:lnTo>
                  <a:lnTo>
                    <a:pt x="70" y="178"/>
                  </a:lnTo>
                  <a:lnTo>
                    <a:pt x="68" y="200"/>
                  </a:lnTo>
                  <a:lnTo>
                    <a:pt x="72" y="204"/>
                  </a:lnTo>
                  <a:lnTo>
                    <a:pt x="72" y="210"/>
                  </a:lnTo>
                  <a:lnTo>
                    <a:pt x="68" y="214"/>
                  </a:lnTo>
                  <a:lnTo>
                    <a:pt x="60" y="218"/>
                  </a:lnTo>
                  <a:lnTo>
                    <a:pt x="56" y="218"/>
                  </a:lnTo>
                  <a:lnTo>
                    <a:pt x="54" y="220"/>
                  </a:lnTo>
                  <a:lnTo>
                    <a:pt x="52" y="224"/>
                  </a:lnTo>
                  <a:lnTo>
                    <a:pt x="50" y="230"/>
                  </a:lnTo>
                  <a:lnTo>
                    <a:pt x="44" y="244"/>
                  </a:lnTo>
                  <a:lnTo>
                    <a:pt x="52" y="254"/>
                  </a:lnTo>
                  <a:lnTo>
                    <a:pt x="74" y="258"/>
                  </a:lnTo>
                  <a:lnTo>
                    <a:pt x="76" y="258"/>
                  </a:lnTo>
                  <a:lnTo>
                    <a:pt x="86" y="268"/>
                  </a:lnTo>
                  <a:lnTo>
                    <a:pt x="72" y="288"/>
                  </a:lnTo>
                  <a:lnTo>
                    <a:pt x="102" y="352"/>
                  </a:lnTo>
                  <a:lnTo>
                    <a:pt x="104" y="354"/>
                  </a:lnTo>
                  <a:lnTo>
                    <a:pt x="98" y="358"/>
                  </a:lnTo>
                  <a:lnTo>
                    <a:pt x="100" y="364"/>
                  </a:lnTo>
                  <a:lnTo>
                    <a:pt x="156" y="330"/>
                  </a:lnTo>
                  <a:lnTo>
                    <a:pt x="146" y="346"/>
                  </a:lnTo>
                  <a:lnTo>
                    <a:pt x="138" y="362"/>
                  </a:lnTo>
                  <a:lnTo>
                    <a:pt x="134" y="374"/>
                  </a:lnTo>
                  <a:lnTo>
                    <a:pt x="140" y="372"/>
                  </a:lnTo>
                  <a:lnTo>
                    <a:pt x="146" y="366"/>
                  </a:lnTo>
                  <a:lnTo>
                    <a:pt x="152" y="360"/>
                  </a:lnTo>
                  <a:lnTo>
                    <a:pt x="156" y="350"/>
                  </a:lnTo>
                  <a:lnTo>
                    <a:pt x="158" y="350"/>
                  </a:lnTo>
                  <a:lnTo>
                    <a:pt x="172" y="342"/>
                  </a:lnTo>
                  <a:lnTo>
                    <a:pt x="174" y="340"/>
                  </a:lnTo>
                  <a:lnTo>
                    <a:pt x="196" y="358"/>
                  </a:lnTo>
                  <a:lnTo>
                    <a:pt x="220" y="360"/>
                  </a:lnTo>
                  <a:lnTo>
                    <a:pt x="232" y="368"/>
                  </a:lnTo>
                  <a:lnTo>
                    <a:pt x="260" y="342"/>
                  </a:lnTo>
                  <a:lnTo>
                    <a:pt x="264" y="336"/>
                  </a:lnTo>
                  <a:lnTo>
                    <a:pt x="268" y="326"/>
                  </a:lnTo>
                  <a:lnTo>
                    <a:pt x="272" y="320"/>
                  </a:lnTo>
                  <a:lnTo>
                    <a:pt x="270" y="312"/>
                  </a:lnTo>
                  <a:lnTo>
                    <a:pt x="260" y="296"/>
                  </a:lnTo>
                  <a:lnTo>
                    <a:pt x="254" y="286"/>
                  </a:lnTo>
                  <a:lnTo>
                    <a:pt x="288" y="298"/>
                  </a:lnTo>
                  <a:lnTo>
                    <a:pt x="300" y="292"/>
                  </a:lnTo>
                  <a:lnTo>
                    <a:pt x="288" y="270"/>
                  </a:lnTo>
                  <a:lnTo>
                    <a:pt x="288" y="268"/>
                  </a:lnTo>
                  <a:lnTo>
                    <a:pt x="306" y="246"/>
                  </a:lnTo>
                  <a:lnTo>
                    <a:pt x="298" y="234"/>
                  </a:lnTo>
                  <a:lnTo>
                    <a:pt x="290" y="226"/>
                  </a:lnTo>
                  <a:lnTo>
                    <a:pt x="284" y="222"/>
                  </a:lnTo>
                  <a:lnTo>
                    <a:pt x="282" y="222"/>
                  </a:lnTo>
                  <a:lnTo>
                    <a:pt x="272" y="232"/>
                  </a:lnTo>
                  <a:lnTo>
                    <a:pt x="272" y="230"/>
                  </a:lnTo>
                  <a:lnTo>
                    <a:pt x="270" y="230"/>
                  </a:lnTo>
                  <a:lnTo>
                    <a:pt x="256" y="226"/>
                  </a:lnTo>
                  <a:lnTo>
                    <a:pt x="252" y="214"/>
                  </a:lnTo>
                  <a:lnTo>
                    <a:pt x="244" y="210"/>
                  </a:lnTo>
                  <a:lnTo>
                    <a:pt x="236" y="204"/>
                  </a:lnTo>
                  <a:lnTo>
                    <a:pt x="226" y="198"/>
                  </a:lnTo>
                  <a:lnTo>
                    <a:pt x="218" y="192"/>
                  </a:lnTo>
                  <a:lnTo>
                    <a:pt x="216" y="190"/>
                  </a:lnTo>
                  <a:lnTo>
                    <a:pt x="216" y="186"/>
                  </a:lnTo>
                  <a:lnTo>
                    <a:pt x="214" y="184"/>
                  </a:lnTo>
                  <a:lnTo>
                    <a:pt x="216" y="180"/>
                  </a:lnTo>
                  <a:lnTo>
                    <a:pt x="220" y="170"/>
                  </a:lnTo>
                  <a:lnTo>
                    <a:pt x="230" y="152"/>
                  </a:lnTo>
                  <a:lnTo>
                    <a:pt x="232" y="144"/>
                  </a:lnTo>
                  <a:lnTo>
                    <a:pt x="234" y="138"/>
                  </a:lnTo>
                  <a:lnTo>
                    <a:pt x="234" y="128"/>
                  </a:lnTo>
                  <a:lnTo>
                    <a:pt x="240" y="128"/>
                  </a:lnTo>
                  <a:lnTo>
                    <a:pt x="258" y="130"/>
                  </a:lnTo>
                  <a:lnTo>
                    <a:pt x="260" y="122"/>
                  </a:lnTo>
                  <a:lnTo>
                    <a:pt x="264" y="106"/>
                  </a:lnTo>
                  <a:lnTo>
                    <a:pt x="260" y="104"/>
                  </a:lnTo>
                  <a:lnTo>
                    <a:pt x="242" y="116"/>
                  </a:lnTo>
                  <a:lnTo>
                    <a:pt x="230" y="122"/>
                  </a:lnTo>
                  <a:lnTo>
                    <a:pt x="222" y="122"/>
                  </a:lnTo>
                  <a:lnTo>
                    <a:pt x="214" y="120"/>
                  </a:lnTo>
                  <a:lnTo>
                    <a:pt x="204" y="114"/>
                  </a:lnTo>
                  <a:lnTo>
                    <a:pt x="194" y="108"/>
                  </a:lnTo>
                  <a:lnTo>
                    <a:pt x="194" y="106"/>
                  </a:lnTo>
                  <a:lnTo>
                    <a:pt x="192" y="106"/>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41" name="天津"/>
            <p:cNvSpPr/>
            <p:nvPr/>
          </p:nvSpPr>
          <p:spPr bwMode="auto">
            <a:xfrm>
              <a:off x="9021723" y="-1006838"/>
              <a:ext cx="111821" cy="160154"/>
            </a:xfrm>
            <a:custGeom>
              <a:avLst/>
              <a:gdLst>
                <a:gd name="T0" fmla="*/ 2147483646 w 80"/>
                <a:gd name="T1" fmla="*/ 2147483646 h 116"/>
                <a:gd name="T2" fmla="*/ 2147483646 w 80"/>
                <a:gd name="T3" fmla="*/ 0 h 116"/>
                <a:gd name="T4" fmla="*/ 2147483646 w 80"/>
                <a:gd name="T5" fmla="*/ 0 h 116"/>
                <a:gd name="T6" fmla="*/ 2147483646 w 80"/>
                <a:gd name="T7" fmla="*/ 2147483646 h 116"/>
                <a:gd name="T8" fmla="*/ 2147483646 w 80"/>
                <a:gd name="T9" fmla="*/ 2147483646 h 116"/>
                <a:gd name="T10" fmla="*/ 2147483646 w 80"/>
                <a:gd name="T11" fmla="*/ 2147483646 h 116"/>
                <a:gd name="T12" fmla="*/ 2147483646 w 80"/>
                <a:gd name="T13" fmla="*/ 2147483646 h 116"/>
                <a:gd name="T14" fmla="*/ 2147483646 w 80"/>
                <a:gd name="T15" fmla="*/ 2147483646 h 116"/>
                <a:gd name="T16" fmla="*/ 2147483646 w 80"/>
                <a:gd name="T17" fmla="*/ 2147483646 h 116"/>
                <a:gd name="T18" fmla="*/ 2147483646 w 80"/>
                <a:gd name="T19" fmla="*/ 2147483646 h 116"/>
                <a:gd name="T20" fmla="*/ 2147483646 w 80"/>
                <a:gd name="T21" fmla="*/ 2147483646 h 116"/>
                <a:gd name="T22" fmla="*/ 2147483646 w 80"/>
                <a:gd name="T23" fmla="*/ 2147483646 h 116"/>
                <a:gd name="T24" fmla="*/ 2147483646 w 80"/>
                <a:gd name="T25" fmla="*/ 2147483646 h 116"/>
                <a:gd name="T26" fmla="*/ 2147483646 w 80"/>
                <a:gd name="T27" fmla="*/ 2147483646 h 116"/>
                <a:gd name="T28" fmla="*/ 2147483646 w 80"/>
                <a:gd name="T29" fmla="*/ 2147483646 h 116"/>
                <a:gd name="T30" fmla="*/ 2147483646 w 80"/>
                <a:gd name="T31" fmla="*/ 2147483646 h 116"/>
                <a:gd name="T32" fmla="*/ 2147483646 w 80"/>
                <a:gd name="T33" fmla="*/ 2147483646 h 116"/>
                <a:gd name="T34" fmla="*/ 0 w 80"/>
                <a:gd name="T35" fmla="*/ 2147483646 h 116"/>
                <a:gd name="T36" fmla="*/ 0 w 80"/>
                <a:gd name="T37" fmla="*/ 2147483646 h 116"/>
                <a:gd name="T38" fmla="*/ 0 w 80"/>
                <a:gd name="T39" fmla="*/ 2147483646 h 116"/>
                <a:gd name="T40" fmla="*/ 0 w 80"/>
                <a:gd name="T41" fmla="*/ 2147483646 h 116"/>
                <a:gd name="T42" fmla="*/ 2147483646 w 80"/>
                <a:gd name="T43" fmla="*/ 2147483646 h 116"/>
                <a:gd name="T44" fmla="*/ 2147483646 w 80"/>
                <a:gd name="T45" fmla="*/ 2147483646 h 116"/>
                <a:gd name="T46" fmla="*/ 2147483646 w 80"/>
                <a:gd name="T47" fmla="*/ 2147483646 h 116"/>
                <a:gd name="T48" fmla="*/ 2147483646 w 80"/>
                <a:gd name="T49" fmla="*/ 2147483646 h 116"/>
                <a:gd name="T50" fmla="*/ 2147483646 w 80"/>
                <a:gd name="T51" fmla="*/ 2147483646 h 116"/>
                <a:gd name="T52" fmla="*/ 2147483646 w 80"/>
                <a:gd name="T53" fmla="*/ 2147483646 h 116"/>
                <a:gd name="T54" fmla="*/ 2147483646 w 80"/>
                <a:gd name="T55" fmla="*/ 2147483646 h 116"/>
                <a:gd name="T56" fmla="*/ 2147483646 w 80"/>
                <a:gd name="T57" fmla="*/ 2147483646 h 116"/>
                <a:gd name="T58" fmla="*/ 2147483646 w 80"/>
                <a:gd name="T59" fmla="*/ 2147483646 h 116"/>
                <a:gd name="T60" fmla="*/ 2147483646 w 80"/>
                <a:gd name="T61" fmla="*/ 2147483646 h 116"/>
                <a:gd name="T62" fmla="*/ 2147483646 w 80"/>
                <a:gd name="T63" fmla="*/ 2147483646 h 116"/>
                <a:gd name="T64" fmla="*/ 2147483646 w 80"/>
                <a:gd name="T65" fmla="*/ 2147483646 h 116"/>
                <a:gd name="T66" fmla="*/ 2147483646 w 80"/>
                <a:gd name="T67" fmla="*/ 2147483646 h 116"/>
                <a:gd name="T68" fmla="*/ 2147483646 w 80"/>
                <a:gd name="T69" fmla="*/ 2147483646 h 116"/>
                <a:gd name="T70" fmla="*/ 2147483646 w 80"/>
                <a:gd name="T71" fmla="*/ 2147483646 h 116"/>
                <a:gd name="T72" fmla="*/ 2147483646 w 80"/>
                <a:gd name="T73" fmla="*/ 2147483646 h 116"/>
                <a:gd name="T74" fmla="*/ 2147483646 w 80"/>
                <a:gd name="T75" fmla="*/ 2147483646 h 116"/>
                <a:gd name="T76" fmla="*/ 2147483646 w 80"/>
                <a:gd name="T77" fmla="*/ 2147483646 h 116"/>
                <a:gd name="T78" fmla="*/ 2147483646 w 80"/>
                <a:gd name="T79" fmla="*/ 2147483646 h 116"/>
                <a:gd name="T80" fmla="*/ 2147483646 w 80"/>
                <a:gd name="T81" fmla="*/ 2147483646 h 116"/>
                <a:gd name="T82" fmla="*/ 2147483646 w 80"/>
                <a:gd name="T83" fmla="*/ 2147483646 h 116"/>
                <a:gd name="T84" fmla="*/ 2147483646 w 80"/>
                <a:gd name="T85" fmla="*/ 2147483646 h 116"/>
                <a:gd name="T86" fmla="*/ 2147483646 w 80"/>
                <a:gd name="T87" fmla="*/ 2147483646 h 116"/>
                <a:gd name="T88" fmla="*/ 2147483646 w 80"/>
                <a:gd name="T89" fmla="*/ 2147483646 h 116"/>
                <a:gd name="T90" fmla="*/ 2147483646 w 80"/>
                <a:gd name="T91" fmla="*/ 2147483646 h 116"/>
                <a:gd name="T92" fmla="*/ 2147483646 w 80"/>
                <a:gd name="T93" fmla="*/ 2147483646 h 116"/>
                <a:gd name="T94" fmla="*/ 2147483646 w 80"/>
                <a:gd name="T95" fmla="*/ 2147483646 h 11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80" h="116">
                  <a:moveTo>
                    <a:pt x="46" y="2"/>
                  </a:moveTo>
                  <a:lnTo>
                    <a:pt x="44" y="0"/>
                  </a:lnTo>
                  <a:lnTo>
                    <a:pt x="40" y="2"/>
                  </a:lnTo>
                  <a:lnTo>
                    <a:pt x="38" y="4"/>
                  </a:lnTo>
                  <a:lnTo>
                    <a:pt x="32" y="14"/>
                  </a:lnTo>
                  <a:lnTo>
                    <a:pt x="28" y="12"/>
                  </a:lnTo>
                  <a:lnTo>
                    <a:pt x="28" y="14"/>
                  </a:lnTo>
                  <a:lnTo>
                    <a:pt x="22" y="20"/>
                  </a:lnTo>
                  <a:lnTo>
                    <a:pt x="18" y="22"/>
                  </a:lnTo>
                  <a:lnTo>
                    <a:pt x="10" y="26"/>
                  </a:lnTo>
                  <a:lnTo>
                    <a:pt x="8" y="32"/>
                  </a:lnTo>
                  <a:lnTo>
                    <a:pt x="8" y="44"/>
                  </a:lnTo>
                  <a:lnTo>
                    <a:pt x="6" y="48"/>
                  </a:lnTo>
                  <a:lnTo>
                    <a:pt x="4" y="50"/>
                  </a:lnTo>
                  <a:lnTo>
                    <a:pt x="0" y="60"/>
                  </a:lnTo>
                  <a:lnTo>
                    <a:pt x="0" y="66"/>
                  </a:lnTo>
                  <a:lnTo>
                    <a:pt x="0" y="78"/>
                  </a:lnTo>
                  <a:lnTo>
                    <a:pt x="4" y="102"/>
                  </a:lnTo>
                  <a:lnTo>
                    <a:pt x="8" y="106"/>
                  </a:lnTo>
                  <a:lnTo>
                    <a:pt x="18" y="112"/>
                  </a:lnTo>
                  <a:lnTo>
                    <a:pt x="36" y="116"/>
                  </a:lnTo>
                  <a:lnTo>
                    <a:pt x="44" y="114"/>
                  </a:lnTo>
                  <a:lnTo>
                    <a:pt x="54" y="110"/>
                  </a:lnTo>
                  <a:lnTo>
                    <a:pt x="50" y="100"/>
                  </a:lnTo>
                  <a:lnTo>
                    <a:pt x="50" y="98"/>
                  </a:lnTo>
                  <a:lnTo>
                    <a:pt x="52" y="90"/>
                  </a:lnTo>
                  <a:lnTo>
                    <a:pt x="60" y="74"/>
                  </a:lnTo>
                  <a:lnTo>
                    <a:pt x="76" y="74"/>
                  </a:lnTo>
                  <a:lnTo>
                    <a:pt x="80" y="74"/>
                  </a:lnTo>
                  <a:lnTo>
                    <a:pt x="74" y="64"/>
                  </a:lnTo>
                  <a:lnTo>
                    <a:pt x="64" y="48"/>
                  </a:lnTo>
                  <a:lnTo>
                    <a:pt x="58" y="40"/>
                  </a:lnTo>
                  <a:lnTo>
                    <a:pt x="54" y="30"/>
                  </a:lnTo>
                  <a:lnTo>
                    <a:pt x="52" y="18"/>
                  </a:lnTo>
                  <a:lnTo>
                    <a:pt x="48" y="8"/>
                  </a:lnTo>
                  <a:lnTo>
                    <a:pt x="46" y="2"/>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42" name="北京"/>
            <p:cNvSpPr/>
            <p:nvPr/>
          </p:nvSpPr>
          <p:spPr bwMode="auto">
            <a:xfrm>
              <a:off x="8909902" y="-1078631"/>
              <a:ext cx="148163" cy="157393"/>
            </a:xfrm>
            <a:custGeom>
              <a:avLst/>
              <a:gdLst>
                <a:gd name="T0" fmla="*/ 2147483646 w 106"/>
                <a:gd name="T1" fmla="*/ 2147483646 h 114"/>
                <a:gd name="T2" fmla="*/ 2147483646 w 106"/>
                <a:gd name="T3" fmla="*/ 2147483646 h 114"/>
                <a:gd name="T4" fmla="*/ 2147483646 w 106"/>
                <a:gd name="T5" fmla="*/ 2147483646 h 114"/>
                <a:gd name="T6" fmla="*/ 2147483646 w 106"/>
                <a:gd name="T7" fmla="*/ 2147483646 h 114"/>
                <a:gd name="T8" fmla="*/ 2147483646 w 106"/>
                <a:gd name="T9" fmla="*/ 2147483646 h 114"/>
                <a:gd name="T10" fmla="*/ 2147483646 w 106"/>
                <a:gd name="T11" fmla="*/ 2147483646 h 114"/>
                <a:gd name="T12" fmla="*/ 2147483646 w 106"/>
                <a:gd name="T13" fmla="*/ 2147483646 h 114"/>
                <a:gd name="T14" fmla="*/ 2147483646 w 106"/>
                <a:gd name="T15" fmla="*/ 2147483646 h 114"/>
                <a:gd name="T16" fmla="*/ 2147483646 w 106"/>
                <a:gd name="T17" fmla="*/ 2147483646 h 114"/>
                <a:gd name="T18" fmla="*/ 0 w 106"/>
                <a:gd name="T19" fmla="*/ 2147483646 h 114"/>
                <a:gd name="T20" fmla="*/ 2147483646 w 106"/>
                <a:gd name="T21" fmla="*/ 2147483646 h 114"/>
                <a:gd name="T22" fmla="*/ 2147483646 w 106"/>
                <a:gd name="T23" fmla="*/ 2147483646 h 114"/>
                <a:gd name="T24" fmla="*/ 2147483646 w 106"/>
                <a:gd name="T25" fmla="*/ 2147483646 h 114"/>
                <a:gd name="T26" fmla="*/ 2147483646 w 106"/>
                <a:gd name="T27" fmla="*/ 2147483646 h 114"/>
                <a:gd name="T28" fmla="*/ 2147483646 w 106"/>
                <a:gd name="T29" fmla="*/ 2147483646 h 114"/>
                <a:gd name="T30" fmla="*/ 2147483646 w 106"/>
                <a:gd name="T31" fmla="*/ 2147483646 h 114"/>
                <a:gd name="T32" fmla="*/ 2147483646 w 106"/>
                <a:gd name="T33" fmla="*/ 2147483646 h 114"/>
                <a:gd name="T34" fmla="*/ 2147483646 w 106"/>
                <a:gd name="T35" fmla="*/ 2147483646 h 114"/>
                <a:gd name="T36" fmla="*/ 2147483646 w 106"/>
                <a:gd name="T37" fmla="*/ 2147483646 h 114"/>
                <a:gd name="T38" fmla="*/ 2147483646 w 106"/>
                <a:gd name="T39" fmla="*/ 2147483646 h 114"/>
                <a:gd name="T40" fmla="*/ 2147483646 w 106"/>
                <a:gd name="T41" fmla="*/ 2147483646 h 114"/>
                <a:gd name="T42" fmla="*/ 2147483646 w 106"/>
                <a:gd name="T43" fmla="*/ 2147483646 h 114"/>
                <a:gd name="T44" fmla="*/ 2147483646 w 106"/>
                <a:gd name="T45" fmla="*/ 2147483646 h 114"/>
                <a:gd name="T46" fmla="*/ 2147483646 w 106"/>
                <a:gd name="T47" fmla="*/ 2147483646 h 114"/>
                <a:gd name="T48" fmla="*/ 2147483646 w 106"/>
                <a:gd name="T49" fmla="*/ 2147483646 h 114"/>
                <a:gd name="T50" fmla="*/ 2147483646 w 106"/>
                <a:gd name="T51" fmla="*/ 2147483646 h 114"/>
                <a:gd name="T52" fmla="*/ 2147483646 w 106"/>
                <a:gd name="T53" fmla="*/ 2147483646 h 114"/>
                <a:gd name="T54" fmla="*/ 2147483646 w 106"/>
                <a:gd name="T55" fmla="*/ 2147483646 h 114"/>
                <a:gd name="T56" fmla="*/ 2147483646 w 106"/>
                <a:gd name="T57" fmla="*/ 2147483646 h 114"/>
                <a:gd name="T58" fmla="*/ 2147483646 w 106"/>
                <a:gd name="T59" fmla="*/ 2147483646 h 114"/>
                <a:gd name="T60" fmla="*/ 2147483646 w 106"/>
                <a:gd name="T61" fmla="*/ 2147483646 h 114"/>
                <a:gd name="T62" fmla="*/ 2147483646 w 106"/>
                <a:gd name="T63" fmla="*/ 2147483646 h 11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06" h="114">
                  <a:moveTo>
                    <a:pt x="52" y="24"/>
                  </a:moveTo>
                  <a:lnTo>
                    <a:pt x="52" y="26"/>
                  </a:lnTo>
                  <a:lnTo>
                    <a:pt x="48" y="26"/>
                  </a:lnTo>
                  <a:lnTo>
                    <a:pt x="38" y="24"/>
                  </a:lnTo>
                  <a:lnTo>
                    <a:pt x="38" y="28"/>
                  </a:lnTo>
                  <a:lnTo>
                    <a:pt x="38" y="30"/>
                  </a:lnTo>
                  <a:lnTo>
                    <a:pt x="36" y="30"/>
                  </a:lnTo>
                  <a:lnTo>
                    <a:pt x="18" y="38"/>
                  </a:lnTo>
                  <a:lnTo>
                    <a:pt x="18" y="40"/>
                  </a:lnTo>
                  <a:lnTo>
                    <a:pt x="16" y="44"/>
                  </a:lnTo>
                  <a:lnTo>
                    <a:pt x="18" y="48"/>
                  </a:lnTo>
                  <a:lnTo>
                    <a:pt x="24" y="56"/>
                  </a:lnTo>
                  <a:lnTo>
                    <a:pt x="24" y="58"/>
                  </a:lnTo>
                  <a:lnTo>
                    <a:pt x="24" y="60"/>
                  </a:lnTo>
                  <a:lnTo>
                    <a:pt x="14" y="72"/>
                  </a:lnTo>
                  <a:lnTo>
                    <a:pt x="4" y="82"/>
                  </a:lnTo>
                  <a:lnTo>
                    <a:pt x="0" y="86"/>
                  </a:lnTo>
                  <a:lnTo>
                    <a:pt x="0" y="90"/>
                  </a:lnTo>
                  <a:lnTo>
                    <a:pt x="4" y="96"/>
                  </a:lnTo>
                  <a:lnTo>
                    <a:pt x="14" y="100"/>
                  </a:lnTo>
                  <a:lnTo>
                    <a:pt x="20" y="100"/>
                  </a:lnTo>
                  <a:lnTo>
                    <a:pt x="32" y="102"/>
                  </a:lnTo>
                  <a:lnTo>
                    <a:pt x="36" y="102"/>
                  </a:lnTo>
                  <a:lnTo>
                    <a:pt x="40" y="106"/>
                  </a:lnTo>
                  <a:lnTo>
                    <a:pt x="48" y="110"/>
                  </a:lnTo>
                  <a:lnTo>
                    <a:pt x="56" y="114"/>
                  </a:lnTo>
                  <a:lnTo>
                    <a:pt x="62" y="114"/>
                  </a:lnTo>
                  <a:lnTo>
                    <a:pt x="66" y="112"/>
                  </a:lnTo>
                  <a:lnTo>
                    <a:pt x="72" y="106"/>
                  </a:lnTo>
                  <a:lnTo>
                    <a:pt x="78" y="98"/>
                  </a:lnTo>
                  <a:lnTo>
                    <a:pt x="84" y="84"/>
                  </a:lnTo>
                  <a:lnTo>
                    <a:pt x="80" y="66"/>
                  </a:lnTo>
                  <a:lnTo>
                    <a:pt x="86" y="68"/>
                  </a:lnTo>
                  <a:lnTo>
                    <a:pt x="96" y="68"/>
                  </a:lnTo>
                  <a:lnTo>
                    <a:pt x="100" y="66"/>
                  </a:lnTo>
                  <a:lnTo>
                    <a:pt x="102" y="62"/>
                  </a:lnTo>
                  <a:lnTo>
                    <a:pt x="94" y="38"/>
                  </a:lnTo>
                  <a:lnTo>
                    <a:pt x="96" y="30"/>
                  </a:lnTo>
                  <a:lnTo>
                    <a:pt x="102" y="26"/>
                  </a:lnTo>
                  <a:lnTo>
                    <a:pt x="106" y="22"/>
                  </a:lnTo>
                  <a:lnTo>
                    <a:pt x="104" y="18"/>
                  </a:lnTo>
                  <a:lnTo>
                    <a:pt x="86" y="18"/>
                  </a:lnTo>
                  <a:lnTo>
                    <a:pt x="68" y="6"/>
                  </a:lnTo>
                  <a:lnTo>
                    <a:pt x="62" y="2"/>
                  </a:lnTo>
                  <a:lnTo>
                    <a:pt x="58" y="0"/>
                  </a:lnTo>
                  <a:lnTo>
                    <a:pt x="48" y="2"/>
                  </a:lnTo>
                  <a:lnTo>
                    <a:pt x="44" y="2"/>
                  </a:lnTo>
                  <a:lnTo>
                    <a:pt x="44" y="8"/>
                  </a:lnTo>
                  <a:lnTo>
                    <a:pt x="50" y="10"/>
                  </a:lnTo>
                  <a:lnTo>
                    <a:pt x="54" y="16"/>
                  </a:lnTo>
                  <a:lnTo>
                    <a:pt x="54" y="20"/>
                  </a:lnTo>
                  <a:lnTo>
                    <a:pt x="52" y="24"/>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43" name="辽宁"/>
            <p:cNvSpPr/>
            <p:nvPr/>
          </p:nvSpPr>
          <p:spPr bwMode="auto">
            <a:xfrm>
              <a:off x="9161499" y="-1390656"/>
              <a:ext cx="525559" cy="494269"/>
            </a:xfrm>
            <a:custGeom>
              <a:avLst/>
              <a:gdLst>
                <a:gd name="T0" fmla="*/ 2147483646 w 376"/>
                <a:gd name="T1" fmla="*/ 2147483646 h 358"/>
                <a:gd name="T2" fmla="*/ 2147483646 w 376"/>
                <a:gd name="T3" fmla="*/ 2147483646 h 358"/>
                <a:gd name="T4" fmla="*/ 2147483646 w 376"/>
                <a:gd name="T5" fmla="*/ 2147483646 h 358"/>
                <a:gd name="T6" fmla="*/ 2147483646 w 376"/>
                <a:gd name="T7" fmla="*/ 2147483646 h 358"/>
                <a:gd name="T8" fmla="*/ 2147483646 w 376"/>
                <a:gd name="T9" fmla="*/ 2147483646 h 358"/>
                <a:gd name="T10" fmla="*/ 2147483646 w 376"/>
                <a:gd name="T11" fmla="*/ 2147483646 h 358"/>
                <a:gd name="T12" fmla="*/ 2147483646 w 376"/>
                <a:gd name="T13" fmla="*/ 2147483646 h 358"/>
                <a:gd name="T14" fmla="*/ 2147483646 w 376"/>
                <a:gd name="T15" fmla="*/ 2147483646 h 358"/>
                <a:gd name="T16" fmla="*/ 2147483646 w 376"/>
                <a:gd name="T17" fmla="*/ 2147483646 h 358"/>
                <a:gd name="T18" fmla="*/ 2147483646 w 376"/>
                <a:gd name="T19" fmla="*/ 2147483646 h 358"/>
                <a:gd name="T20" fmla="*/ 2147483646 w 376"/>
                <a:gd name="T21" fmla="*/ 2147483646 h 358"/>
                <a:gd name="T22" fmla="*/ 2147483646 w 376"/>
                <a:gd name="T23" fmla="*/ 2147483646 h 358"/>
                <a:gd name="T24" fmla="*/ 2147483646 w 376"/>
                <a:gd name="T25" fmla="*/ 2147483646 h 358"/>
                <a:gd name="T26" fmla="*/ 2147483646 w 376"/>
                <a:gd name="T27" fmla="*/ 2147483646 h 358"/>
                <a:gd name="T28" fmla="*/ 2147483646 w 376"/>
                <a:gd name="T29" fmla="*/ 2147483646 h 358"/>
                <a:gd name="T30" fmla="*/ 2147483646 w 376"/>
                <a:gd name="T31" fmla="*/ 2147483646 h 358"/>
                <a:gd name="T32" fmla="*/ 2147483646 w 376"/>
                <a:gd name="T33" fmla="*/ 2147483646 h 358"/>
                <a:gd name="T34" fmla="*/ 2147483646 w 376"/>
                <a:gd name="T35" fmla="*/ 2147483646 h 358"/>
                <a:gd name="T36" fmla="*/ 2147483646 w 376"/>
                <a:gd name="T37" fmla="*/ 2147483646 h 358"/>
                <a:gd name="T38" fmla="*/ 2147483646 w 376"/>
                <a:gd name="T39" fmla="*/ 2147483646 h 358"/>
                <a:gd name="T40" fmla="*/ 2147483646 w 376"/>
                <a:gd name="T41" fmla="*/ 2147483646 h 358"/>
                <a:gd name="T42" fmla="*/ 2147483646 w 376"/>
                <a:gd name="T43" fmla="*/ 2147483646 h 358"/>
                <a:gd name="T44" fmla="*/ 2147483646 w 376"/>
                <a:gd name="T45" fmla="*/ 2147483646 h 358"/>
                <a:gd name="T46" fmla="*/ 2147483646 w 376"/>
                <a:gd name="T47" fmla="*/ 2147483646 h 358"/>
                <a:gd name="T48" fmla="*/ 2147483646 w 376"/>
                <a:gd name="T49" fmla="*/ 2147483646 h 358"/>
                <a:gd name="T50" fmla="*/ 2147483646 w 376"/>
                <a:gd name="T51" fmla="*/ 2147483646 h 358"/>
                <a:gd name="T52" fmla="*/ 2147483646 w 376"/>
                <a:gd name="T53" fmla="*/ 2147483646 h 358"/>
                <a:gd name="T54" fmla="*/ 2147483646 w 376"/>
                <a:gd name="T55" fmla="*/ 2147483646 h 358"/>
                <a:gd name="T56" fmla="*/ 2147483646 w 376"/>
                <a:gd name="T57" fmla="*/ 2147483646 h 358"/>
                <a:gd name="T58" fmla="*/ 2147483646 w 376"/>
                <a:gd name="T59" fmla="*/ 2147483646 h 358"/>
                <a:gd name="T60" fmla="*/ 2147483646 w 376"/>
                <a:gd name="T61" fmla="*/ 2147483646 h 358"/>
                <a:gd name="T62" fmla="*/ 2147483646 w 376"/>
                <a:gd name="T63" fmla="*/ 2147483646 h 358"/>
                <a:gd name="T64" fmla="*/ 2147483646 w 376"/>
                <a:gd name="T65" fmla="*/ 2147483646 h 358"/>
                <a:gd name="T66" fmla="*/ 2147483646 w 376"/>
                <a:gd name="T67" fmla="*/ 2147483646 h 358"/>
                <a:gd name="T68" fmla="*/ 2147483646 w 376"/>
                <a:gd name="T69" fmla="*/ 2147483646 h 358"/>
                <a:gd name="T70" fmla="*/ 2147483646 w 376"/>
                <a:gd name="T71" fmla="*/ 2147483646 h 358"/>
                <a:gd name="T72" fmla="*/ 2147483646 w 376"/>
                <a:gd name="T73" fmla="*/ 2147483646 h 358"/>
                <a:gd name="T74" fmla="*/ 2147483646 w 376"/>
                <a:gd name="T75" fmla="*/ 2147483646 h 358"/>
                <a:gd name="T76" fmla="*/ 2147483646 w 376"/>
                <a:gd name="T77" fmla="*/ 2147483646 h 358"/>
                <a:gd name="T78" fmla="*/ 2147483646 w 376"/>
                <a:gd name="T79" fmla="*/ 2147483646 h 358"/>
                <a:gd name="T80" fmla="*/ 2147483646 w 376"/>
                <a:gd name="T81" fmla="*/ 2147483646 h 358"/>
                <a:gd name="T82" fmla="*/ 2147483646 w 376"/>
                <a:gd name="T83" fmla="*/ 2147483646 h 358"/>
                <a:gd name="T84" fmla="*/ 2147483646 w 376"/>
                <a:gd name="T85" fmla="*/ 2147483646 h 358"/>
                <a:gd name="T86" fmla="*/ 2147483646 w 376"/>
                <a:gd name="T87" fmla="*/ 2147483646 h 358"/>
                <a:gd name="T88" fmla="*/ 2147483646 w 376"/>
                <a:gd name="T89" fmla="*/ 2147483646 h 358"/>
                <a:gd name="T90" fmla="*/ 2147483646 w 376"/>
                <a:gd name="T91" fmla="*/ 2147483646 h 358"/>
                <a:gd name="T92" fmla="*/ 2147483646 w 376"/>
                <a:gd name="T93" fmla="*/ 2147483646 h 358"/>
                <a:gd name="T94" fmla="*/ 2147483646 w 376"/>
                <a:gd name="T95" fmla="*/ 2147483646 h 358"/>
                <a:gd name="T96" fmla="*/ 2147483646 w 376"/>
                <a:gd name="T97" fmla="*/ 2147483646 h 358"/>
                <a:gd name="T98" fmla="*/ 2147483646 w 376"/>
                <a:gd name="T99" fmla="*/ 2147483646 h 358"/>
                <a:gd name="T100" fmla="*/ 2147483646 w 376"/>
                <a:gd name="T101" fmla="*/ 2147483646 h 358"/>
                <a:gd name="T102" fmla="*/ 2147483646 w 376"/>
                <a:gd name="T103" fmla="*/ 2147483646 h 358"/>
                <a:gd name="T104" fmla="*/ 2147483646 w 376"/>
                <a:gd name="T105" fmla="*/ 0 h 358"/>
                <a:gd name="T106" fmla="*/ 2147483646 w 376"/>
                <a:gd name="T107" fmla="*/ 2147483646 h 358"/>
                <a:gd name="T108" fmla="*/ 2147483646 w 376"/>
                <a:gd name="T109" fmla="*/ 2147483646 h 358"/>
                <a:gd name="T110" fmla="*/ 2147483646 w 376"/>
                <a:gd name="T111" fmla="*/ 2147483646 h 358"/>
                <a:gd name="T112" fmla="*/ 2147483646 w 376"/>
                <a:gd name="T113" fmla="*/ 2147483646 h 35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376" h="358">
                  <a:moveTo>
                    <a:pt x="172" y="46"/>
                  </a:moveTo>
                  <a:lnTo>
                    <a:pt x="162" y="60"/>
                  </a:lnTo>
                  <a:lnTo>
                    <a:pt x="160" y="64"/>
                  </a:lnTo>
                  <a:lnTo>
                    <a:pt x="160" y="74"/>
                  </a:lnTo>
                  <a:lnTo>
                    <a:pt x="160" y="80"/>
                  </a:lnTo>
                  <a:lnTo>
                    <a:pt x="142" y="80"/>
                  </a:lnTo>
                  <a:lnTo>
                    <a:pt x="140" y="80"/>
                  </a:lnTo>
                  <a:lnTo>
                    <a:pt x="128" y="76"/>
                  </a:lnTo>
                  <a:lnTo>
                    <a:pt x="116" y="92"/>
                  </a:lnTo>
                  <a:lnTo>
                    <a:pt x="102" y="100"/>
                  </a:lnTo>
                  <a:lnTo>
                    <a:pt x="92" y="112"/>
                  </a:lnTo>
                  <a:lnTo>
                    <a:pt x="90" y="116"/>
                  </a:lnTo>
                  <a:lnTo>
                    <a:pt x="70" y="138"/>
                  </a:lnTo>
                  <a:lnTo>
                    <a:pt x="70" y="140"/>
                  </a:lnTo>
                  <a:lnTo>
                    <a:pt x="68" y="140"/>
                  </a:lnTo>
                  <a:lnTo>
                    <a:pt x="54" y="148"/>
                  </a:lnTo>
                  <a:lnTo>
                    <a:pt x="42" y="140"/>
                  </a:lnTo>
                  <a:lnTo>
                    <a:pt x="42" y="138"/>
                  </a:lnTo>
                  <a:lnTo>
                    <a:pt x="30" y="126"/>
                  </a:lnTo>
                  <a:lnTo>
                    <a:pt x="24" y="122"/>
                  </a:lnTo>
                  <a:lnTo>
                    <a:pt x="28" y="156"/>
                  </a:lnTo>
                  <a:lnTo>
                    <a:pt x="34" y="172"/>
                  </a:lnTo>
                  <a:lnTo>
                    <a:pt x="22" y="184"/>
                  </a:lnTo>
                  <a:lnTo>
                    <a:pt x="4" y="208"/>
                  </a:lnTo>
                  <a:lnTo>
                    <a:pt x="4" y="220"/>
                  </a:lnTo>
                  <a:lnTo>
                    <a:pt x="0" y="226"/>
                  </a:lnTo>
                  <a:lnTo>
                    <a:pt x="2" y="232"/>
                  </a:lnTo>
                  <a:lnTo>
                    <a:pt x="8" y="232"/>
                  </a:lnTo>
                  <a:lnTo>
                    <a:pt x="32" y="238"/>
                  </a:lnTo>
                  <a:lnTo>
                    <a:pt x="34" y="238"/>
                  </a:lnTo>
                  <a:lnTo>
                    <a:pt x="34" y="240"/>
                  </a:lnTo>
                  <a:lnTo>
                    <a:pt x="40" y="244"/>
                  </a:lnTo>
                  <a:lnTo>
                    <a:pt x="46" y="248"/>
                  </a:lnTo>
                  <a:lnTo>
                    <a:pt x="48" y="248"/>
                  </a:lnTo>
                  <a:lnTo>
                    <a:pt x="50" y="252"/>
                  </a:lnTo>
                  <a:lnTo>
                    <a:pt x="52" y="258"/>
                  </a:lnTo>
                  <a:lnTo>
                    <a:pt x="54" y="264"/>
                  </a:lnTo>
                  <a:lnTo>
                    <a:pt x="78" y="272"/>
                  </a:lnTo>
                  <a:lnTo>
                    <a:pt x="86" y="270"/>
                  </a:lnTo>
                  <a:lnTo>
                    <a:pt x="92" y="260"/>
                  </a:lnTo>
                  <a:lnTo>
                    <a:pt x="112" y="224"/>
                  </a:lnTo>
                  <a:lnTo>
                    <a:pt x="122" y="212"/>
                  </a:lnTo>
                  <a:lnTo>
                    <a:pt x="122" y="210"/>
                  </a:lnTo>
                  <a:lnTo>
                    <a:pt x="138" y="204"/>
                  </a:lnTo>
                  <a:lnTo>
                    <a:pt x="148" y="202"/>
                  </a:lnTo>
                  <a:lnTo>
                    <a:pt x="154" y="196"/>
                  </a:lnTo>
                  <a:lnTo>
                    <a:pt x="160" y="192"/>
                  </a:lnTo>
                  <a:lnTo>
                    <a:pt x="164" y="194"/>
                  </a:lnTo>
                  <a:lnTo>
                    <a:pt x="172" y="198"/>
                  </a:lnTo>
                  <a:lnTo>
                    <a:pt x="174" y="198"/>
                  </a:lnTo>
                  <a:lnTo>
                    <a:pt x="174" y="200"/>
                  </a:lnTo>
                  <a:lnTo>
                    <a:pt x="188" y="220"/>
                  </a:lnTo>
                  <a:lnTo>
                    <a:pt x="188" y="222"/>
                  </a:lnTo>
                  <a:lnTo>
                    <a:pt x="190" y="238"/>
                  </a:lnTo>
                  <a:lnTo>
                    <a:pt x="188" y="254"/>
                  </a:lnTo>
                  <a:lnTo>
                    <a:pt x="184" y="268"/>
                  </a:lnTo>
                  <a:lnTo>
                    <a:pt x="184" y="270"/>
                  </a:lnTo>
                  <a:lnTo>
                    <a:pt x="174" y="284"/>
                  </a:lnTo>
                  <a:lnTo>
                    <a:pt x="168" y="294"/>
                  </a:lnTo>
                  <a:lnTo>
                    <a:pt x="170" y="312"/>
                  </a:lnTo>
                  <a:lnTo>
                    <a:pt x="172" y="312"/>
                  </a:lnTo>
                  <a:lnTo>
                    <a:pt x="176" y="308"/>
                  </a:lnTo>
                  <a:lnTo>
                    <a:pt x="184" y="304"/>
                  </a:lnTo>
                  <a:lnTo>
                    <a:pt x="184" y="302"/>
                  </a:lnTo>
                  <a:lnTo>
                    <a:pt x="186" y="300"/>
                  </a:lnTo>
                  <a:lnTo>
                    <a:pt x="194" y="308"/>
                  </a:lnTo>
                  <a:lnTo>
                    <a:pt x="194" y="320"/>
                  </a:lnTo>
                  <a:lnTo>
                    <a:pt x="192" y="320"/>
                  </a:lnTo>
                  <a:lnTo>
                    <a:pt x="186" y="324"/>
                  </a:lnTo>
                  <a:lnTo>
                    <a:pt x="184" y="328"/>
                  </a:lnTo>
                  <a:lnTo>
                    <a:pt x="184" y="334"/>
                  </a:lnTo>
                  <a:lnTo>
                    <a:pt x="182" y="336"/>
                  </a:lnTo>
                  <a:lnTo>
                    <a:pt x="178" y="344"/>
                  </a:lnTo>
                  <a:lnTo>
                    <a:pt x="176" y="344"/>
                  </a:lnTo>
                  <a:lnTo>
                    <a:pt x="168" y="346"/>
                  </a:lnTo>
                  <a:lnTo>
                    <a:pt x="162" y="348"/>
                  </a:lnTo>
                  <a:lnTo>
                    <a:pt x="158" y="356"/>
                  </a:lnTo>
                  <a:lnTo>
                    <a:pt x="158" y="358"/>
                  </a:lnTo>
                  <a:lnTo>
                    <a:pt x="184" y="354"/>
                  </a:lnTo>
                  <a:lnTo>
                    <a:pt x="190" y="350"/>
                  </a:lnTo>
                  <a:lnTo>
                    <a:pt x="198" y="328"/>
                  </a:lnTo>
                  <a:lnTo>
                    <a:pt x="258" y="266"/>
                  </a:lnTo>
                  <a:lnTo>
                    <a:pt x="260" y="266"/>
                  </a:lnTo>
                  <a:lnTo>
                    <a:pt x="272" y="260"/>
                  </a:lnTo>
                  <a:lnTo>
                    <a:pt x="284" y="260"/>
                  </a:lnTo>
                  <a:lnTo>
                    <a:pt x="294" y="258"/>
                  </a:lnTo>
                  <a:lnTo>
                    <a:pt x="304" y="252"/>
                  </a:lnTo>
                  <a:lnTo>
                    <a:pt x="312" y="244"/>
                  </a:lnTo>
                  <a:lnTo>
                    <a:pt x="326" y="208"/>
                  </a:lnTo>
                  <a:lnTo>
                    <a:pt x="376" y="156"/>
                  </a:lnTo>
                  <a:lnTo>
                    <a:pt x="372" y="128"/>
                  </a:lnTo>
                  <a:lnTo>
                    <a:pt x="368" y="126"/>
                  </a:lnTo>
                  <a:lnTo>
                    <a:pt x="364" y="122"/>
                  </a:lnTo>
                  <a:lnTo>
                    <a:pt x="364" y="120"/>
                  </a:lnTo>
                  <a:lnTo>
                    <a:pt x="364" y="122"/>
                  </a:lnTo>
                  <a:lnTo>
                    <a:pt x="356" y="122"/>
                  </a:lnTo>
                  <a:lnTo>
                    <a:pt x="350" y="120"/>
                  </a:lnTo>
                  <a:lnTo>
                    <a:pt x="346" y="116"/>
                  </a:lnTo>
                  <a:lnTo>
                    <a:pt x="344" y="110"/>
                  </a:lnTo>
                  <a:lnTo>
                    <a:pt x="342" y="108"/>
                  </a:lnTo>
                  <a:lnTo>
                    <a:pt x="342" y="66"/>
                  </a:lnTo>
                  <a:lnTo>
                    <a:pt x="336" y="62"/>
                  </a:lnTo>
                  <a:lnTo>
                    <a:pt x="328" y="56"/>
                  </a:lnTo>
                  <a:lnTo>
                    <a:pt x="316" y="44"/>
                  </a:lnTo>
                  <a:lnTo>
                    <a:pt x="308" y="30"/>
                  </a:lnTo>
                  <a:lnTo>
                    <a:pt x="306" y="24"/>
                  </a:lnTo>
                  <a:lnTo>
                    <a:pt x="306" y="16"/>
                  </a:lnTo>
                  <a:lnTo>
                    <a:pt x="308" y="12"/>
                  </a:lnTo>
                  <a:lnTo>
                    <a:pt x="302" y="4"/>
                  </a:lnTo>
                  <a:lnTo>
                    <a:pt x="300" y="10"/>
                  </a:lnTo>
                  <a:lnTo>
                    <a:pt x="294" y="24"/>
                  </a:lnTo>
                  <a:lnTo>
                    <a:pt x="292" y="24"/>
                  </a:lnTo>
                  <a:lnTo>
                    <a:pt x="282" y="24"/>
                  </a:lnTo>
                  <a:lnTo>
                    <a:pt x="274" y="20"/>
                  </a:lnTo>
                  <a:lnTo>
                    <a:pt x="270" y="16"/>
                  </a:lnTo>
                  <a:lnTo>
                    <a:pt x="268" y="10"/>
                  </a:lnTo>
                  <a:lnTo>
                    <a:pt x="268" y="8"/>
                  </a:lnTo>
                  <a:lnTo>
                    <a:pt x="264" y="8"/>
                  </a:lnTo>
                  <a:lnTo>
                    <a:pt x="248" y="12"/>
                  </a:lnTo>
                  <a:lnTo>
                    <a:pt x="236" y="0"/>
                  </a:lnTo>
                  <a:lnTo>
                    <a:pt x="232" y="0"/>
                  </a:lnTo>
                  <a:lnTo>
                    <a:pt x="228" y="4"/>
                  </a:lnTo>
                  <a:lnTo>
                    <a:pt x="234" y="12"/>
                  </a:lnTo>
                  <a:lnTo>
                    <a:pt x="236" y="14"/>
                  </a:lnTo>
                  <a:lnTo>
                    <a:pt x="228" y="30"/>
                  </a:lnTo>
                  <a:lnTo>
                    <a:pt x="226" y="30"/>
                  </a:lnTo>
                  <a:lnTo>
                    <a:pt x="226" y="32"/>
                  </a:lnTo>
                  <a:lnTo>
                    <a:pt x="212" y="48"/>
                  </a:lnTo>
                  <a:lnTo>
                    <a:pt x="210" y="48"/>
                  </a:lnTo>
                  <a:lnTo>
                    <a:pt x="208" y="48"/>
                  </a:lnTo>
                  <a:lnTo>
                    <a:pt x="186" y="50"/>
                  </a:lnTo>
                  <a:lnTo>
                    <a:pt x="172" y="46"/>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44" name="吉林"/>
            <p:cNvSpPr/>
            <p:nvPr/>
          </p:nvSpPr>
          <p:spPr bwMode="auto">
            <a:xfrm>
              <a:off x="9278912" y="-1688874"/>
              <a:ext cx="749201" cy="502552"/>
            </a:xfrm>
            <a:custGeom>
              <a:avLst/>
              <a:gdLst>
                <a:gd name="T0" fmla="*/ 2147483646 w 536"/>
                <a:gd name="T1" fmla="*/ 2147483646 h 364"/>
                <a:gd name="T2" fmla="*/ 2147483646 w 536"/>
                <a:gd name="T3" fmla="*/ 2147483646 h 364"/>
                <a:gd name="T4" fmla="*/ 2147483646 w 536"/>
                <a:gd name="T5" fmla="*/ 2147483646 h 364"/>
                <a:gd name="T6" fmla="*/ 2147483646 w 536"/>
                <a:gd name="T7" fmla="*/ 2147483646 h 364"/>
                <a:gd name="T8" fmla="*/ 2147483646 w 536"/>
                <a:gd name="T9" fmla="*/ 2147483646 h 364"/>
                <a:gd name="T10" fmla="*/ 2147483646 w 536"/>
                <a:gd name="T11" fmla="*/ 2147483646 h 364"/>
                <a:gd name="T12" fmla="*/ 2147483646 w 536"/>
                <a:gd name="T13" fmla="*/ 2147483646 h 364"/>
                <a:gd name="T14" fmla="*/ 2147483646 w 536"/>
                <a:gd name="T15" fmla="*/ 2147483646 h 364"/>
                <a:gd name="T16" fmla="*/ 2147483646 w 536"/>
                <a:gd name="T17" fmla="*/ 2147483646 h 364"/>
                <a:gd name="T18" fmla="*/ 2147483646 w 536"/>
                <a:gd name="T19" fmla="*/ 2147483646 h 364"/>
                <a:gd name="T20" fmla="*/ 2147483646 w 536"/>
                <a:gd name="T21" fmla="*/ 2147483646 h 364"/>
                <a:gd name="T22" fmla="*/ 2147483646 w 536"/>
                <a:gd name="T23" fmla="*/ 2147483646 h 364"/>
                <a:gd name="T24" fmla="*/ 2147483646 w 536"/>
                <a:gd name="T25" fmla="*/ 2147483646 h 364"/>
                <a:gd name="T26" fmla="*/ 2147483646 w 536"/>
                <a:gd name="T27" fmla="*/ 2147483646 h 364"/>
                <a:gd name="T28" fmla="*/ 2147483646 w 536"/>
                <a:gd name="T29" fmla="*/ 2147483646 h 364"/>
                <a:gd name="T30" fmla="*/ 2147483646 w 536"/>
                <a:gd name="T31" fmla="*/ 2147483646 h 364"/>
                <a:gd name="T32" fmla="*/ 2147483646 w 536"/>
                <a:gd name="T33" fmla="*/ 2147483646 h 364"/>
                <a:gd name="T34" fmla="*/ 2147483646 w 536"/>
                <a:gd name="T35" fmla="*/ 2147483646 h 364"/>
                <a:gd name="T36" fmla="*/ 2147483646 w 536"/>
                <a:gd name="T37" fmla="*/ 2147483646 h 364"/>
                <a:gd name="T38" fmla="*/ 2147483646 w 536"/>
                <a:gd name="T39" fmla="*/ 2147483646 h 364"/>
                <a:gd name="T40" fmla="*/ 2147483646 w 536"/>
                <a:gd name="T41" fmla="*/ 2147483646 h 364"/>
                <a:gd name="T42" fmla="*/ 2147483646 w 536"/>
                <a:gd name="T43" fmla="*/ 2147483646 h 364"/>
                <a:gd name="T44" fmla="*/ 2147483646 w 536"/>
                <a:gd name="T45" fmla="*/ 2147483646 h 364"/>
                <a:gd name="T46" fmla="*/ 2147483646 w 536"/>
                <a:gd name="T47" fmla="*/ 2147483646 h 364"/>
                <a:gd name="T48" fmla="*/ 2147483646 w 536"/>
                <a:gd name="T49" fmla="*/ 2147483646 h 364"/>
                <a:gd name="T50" fmla="*/ 2147483646 w 536"/>
                <a:gd name="T51" fmla="*/ 2147483646 h 364"/>
                <a:gd name="T52" fmla="*/ 2147483646 w 536"/>
                <a:gd name="T53" fmla="*/ 2147483646 h 364"/>
                <a:gd name="T54" fmla="*/ 2147483646 w 536"/>
                <a:gd name="T55" fmla="*/ 2147483646 h 364"/>
                <a:gd name="T56" fmla="*/ 2147483646 w 536"/>
                <a:gd name="T57" fmla="*/ 2147483646 h 364"/>
                <a:gd name="T58" fmla="*/ 2147483646 w 536"/>
                <a:gd name="T59" fmla="*/ 2147483646 h 364"/>
                <a:gd name="T60" fmla="*/ 2147483646 w 536"/>
                <a:gd name="T61" fmla="*/ 2147483646 h 364"/>
                <a:gd name="T62" fmla="*/ 2147483646 w 536"/>
                <a:gd name="T63" fmla="*/ 2147483646 h 364"/>
                <a:gd name="T64" fmla="*/ 2147483646 w 536"/>
                <a:gd name="T65" fmla="*/ 2147483646 h 364"/>
                <a:gd name="T66" fmla="*/ 2147483646 w 536"/>
                <a:gd name="T67" fmla="*/ 2147483646 h 364"/>
                <a:gd name="T68" fmla="*/ 2147483646 w 536"/>
                <a:gd name="T69" fmla="*/ 2147483646 h 364"/>
                <a:gd name="T70" fmla="*/ 2147483646 w 536"/>
                <a:gd name="T71" fmla="*/ 2147483646 h 364"/>
                <a:gd name="T72" fmla="*/ 2147483646 w 536"/>
                <a:gd name="T73" fmla="*/ 2147483646 h 364"/>
                <a:gd name="T74" fmla="*/ 2147483646 w 536"/>
                <a:gd name="T75" fmla="*/ 2147483646 h 364"/>
                <a:gd name="T76" fmla="*/ 2147483646 w 536"/>
                <a:gd name="T77" fmla="*/ 2147483646 h 364"/>
                <a:gd name="T78" fmla="*/ 2147483646 w 536"/>
                <a:gd name="T79" fmla="*/ 2147483646 h 364"/>
                <a:gd name="T80" fmla="*/ 2147483646 w 536"/>
                <a:gd name="T81" fmla="*/ 2147483646 h 364"/>
                <a:gd name="T82" fmla="*/ 2147483646 w 536"/>
                <a:gd name="T83" fmla="*/ 2147483646 h 364"/>
                <a:gd name="T84" fmla="*/ 2147483646 w 536"/>
                <a:gd name="T85" fmla="*/ 2147483646 h 364"/>
                <a:gd name="T86" fmla="*/ 2147483646 w 536"/>
                <a:gd name="T87" fmla="*/ 2147483646 h 364"/>
                <a:gd name="T88" fmla="*/ 2147483646 w 536"/>
                <a:gd name="T89" fmla="*/ 2147483646 h 364"/>
                <a:gd name="T90" fmla="*/ 2147483646 w 536"/>
                <a:gd name="T91" fmla="*/ 2147483646 h 364"/>
                <a:gd name="T92" fmla="*/ 2147483646 w 536"/>
                <a:gd name="T93" fmla="*/ 2147483646 h 364"/>
                <a:gd name="T94" fmla="*/ 2147483646 w 536"/>
                <a:gd name="T95" fmla="*/ 2147483646 h 364"/>
                <a:gd name="T96" fmla="*/ 2147483646 w 536"/>
                <a:gd name="T97" fmla="*/ 2147483646 h 364"/>
                <a:gd name="T98" fmla="*/ 2147483646 w 536"/>
                <a:gd name="T99" fmla="*/ 2147483646 h 364"/>
                <a:gd name="T100" fmla="*/ 2147483646 w 536"/>
                <a:gd name="T101" fmla="*/ 2147483646 h 364"/>
                <a:gd name="T102" fmla="*/ 2147483646 w 536"/>
                <a:gd name="T103" fmla="*/ 2147483646 h 36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536" h="364">
                  <a:moveTo>
                    <a:pt x="104" y="18"/>
                  </a:moveTo>
                  <a:lnTo>
                    <a:pt x="102" y="0"/>
                  </a:lnTo>
                  <a:lnTo>
                    <a:pt x="94" y="6"/>
                  </a:lnTo>
                  <a:lnTo>
                    <a:pt x="92" y="6"/>
                  </a:lnTo>
                  <a:lnTo>
                    <a:pt x="74" y="12"/>
                  </a:lnTo>
                  <a:lnTo>
                    <a:pt x="72" y="12"/>
                  </a:lnTo>
                  <a:lnTo>
                    <a:pt x="70" y="10"/>
                  </a:lnTo>
                  <a:lnTo>
                    <a:pt x="70" y="20"/>
                  </a:lnTo>
                  <a:lnTo>
                    <a:pt x="68" y="20"/>
                  </a:lnTo>
                  <a:lnTo>
                    <a:pt x="60" y="34"/>
                  </a:lnTo>
                  <a:lnTo>
                    <a:pt x="58" y="34"/>
                  </a:lnTo>
                  <a:lnTo>
                    <a:pt x="58" y="36"/>
                  </a:lnTo>
                  <a:lnTo>
                    <a:pt x="44" y="48"/>
                  </a:lnTo>
                  <a:lnTo>
                    <a:pt x="42" y="48"/>
                  </a:lnTo>
                  <a:lnTo>
                    <a:pt x="40" y="48"/>
                  </a:lnTo>
                  <a:lnTo>
                    <a:pt x="28" y="40"/>
                  </a:lnTo>
                  <a:lnTo>
                    <a:pt x="22" y="34"/>
                  </a:lnTo>
                  <a:lnTo>
                    <a:pt x="18" y="32"/>
                  </a:lnTo>
                  <a:lnTo>
                    <a:pt x="8" y="34"/>
                  </a:lnTo>
                  <a:lnTo>
                    <a:pt x="0" y="40"/>
                  </a:lnTo>
                  <a:lnTo>
                    <a:pt x="18" y="54"/>
                  </a:lnTo>
                  <a:lnTo>
                    <a:pt x="32" y="60"/>
                  </a:lnTo>
                  <a:lnTo>
                    <a:pt x="34" y="62"/>
                  </a:lnTo>
                  <a:lnTo>
                    <a:pt x="34" y="64"/>
                  </a:lnTo>
                  <a:lnTo>
                    <a:pt x="36" y="80"/>
                  </a:lnTo>
                  <a:lnTo>
                    <a:pt x="36" y="104"/>
                  </a:lnTo>
                  <a:lnTo>
                    <a:pt x="40" y="118"/>
                  </a:lnTo>
                  <a:lnTo>
                    <a:pt x="50" y="140"/>
                  </a:lnTo>
                  <a:lnTo>
                    <a:pt x="60" y="152"/>
                  </a:lnTo>
                  <a:lnTo>
                    <a:pt x="70" y="144"/>
                  </a:lnTo>
                  <a:lnTo>
                    <a:pt x="76" y="136"/>
                  </a:lnTo>
                  <a:lnTo>
                    <a:pt x="88" y="122"/>
                  </a:lnTo>
                  <a:lnTo>
                    <a:pt x="98" y="132"/>
                  </a:lnTo>
                  <a:lnTo>
                    <a:pt x="108" y="152"/>
                  </a:lnTo>
                  <a:lnTo>
                    <a:pt x="120" y="156"/>
                  </a:lnTo>
                  <a:lnTo>
                    <a:pt x="126" y="176"/>
                  </a:lnTo>
                  <a:lnTo>
                    <a:pt x="124" y="194"/>
                  </a:lnTo>
                  <a:lnTo>
                    <a:pt x="124" y="196"/>
                  </a:lnTo>
                  <a:lnTo>
                    <a:pt x="120" y="212"/>
                  </a:lnTo>
                  <a:lnTo>
                    <a:pt x="128" y="220"/>
                  </a:lnTo>
                  <a:lnTo>
                    <a:pt x="138" y="214"/>
                  </a:lnTo>
                  <a:lnTo>
                    <a:pt x="148" y="204"/>
                  </a:lnTo>
                  <a:lnTo>
                    <a:pt x="150" y="206"/>
                  </a:lnTo>
                  <a:lnTo>
                    <a:pt x="158" y="208"/>
                  </a:lnTo>
                  <a:lnTo>
                    <a:pt x="168" y="218"/>
                  </a:lnTo>
                  <a:lnTo>
                    <a:pt x="178" y="216"/>
                  </a:lnTo>
                  <a:lnTo>
                    <a:pt x="184" y="214"/>
                  </a:lnTo>
                  <a:lnTo>
                    <a:pt x="188" y="216"/>
                  </a:lnTo>
                  <a:lnTo>
                    <a:pt x="190" y="218"/>
                  </a:lnTo>
                  <a:lnTo>
                    <a:pt x="192" y="220"/>
                  </a:lnTo>
                  <a:lnTo>
                    <a:pt x="192" y="228"/>
                  </a:lnTo>
                  <a:lnTo>
                    <a:pt x="194" y="228"/>
                  </a:lnTo>
                  <a:lnTo>
                    <a:pt x="204" y="232"/>
                  </a:lnTo>
                  <a:lnTo>
                    <a:pt x="210" y="222"/>
                  </a:lnTo>
                  <a:lnTo>
                    <a:pt x="210" y="218"/>
                  </a:lnTo>
                  <a:lnTo>
                    <a:pt x="210" y="214"/>
                  </a:lnTo>
                  <a:lnTo>
                    <a:pt x="212" y="210"/>
                  </a:lnTo>
                  <a:lnTo>
                    <a:pt x="220" y="212"/>
                  </a:lnTo>
                  <a:lnTo>
                    <a:pt x="226" y="214"/>
                  </a:lnTo>
                  <a:lnTo>
                    <a:pt x="230" y="218"/>
                  </a:lnTo>
                  <a:lnTo>
                    <a:pt x="232" y="222"/>
                  </a:lnTo>
                  <a:lnTo>
                    <a:pt x="232" y="228"/>
                  </a:lnTo>
                  <a:lnTo>
                    <a:pt x="232" y="232"/>
                  </a:lnTo>
                  <a:lnTo>
                    <a:pt x="232" y="242"/>
                  </a:lnTo>
                  <a:lnTo>
                    <a:pt x="240" y="256"/>
                  </a:lnTo>
                  <a:lnTo>
                    <a:pt x="250" y="266"/>
                  </a:lnTo>
                  <a:lnTo>
                    <a:pt x="256" y="272"/>
                  </a:lnTo>
                  <a:lnTo>
                    <a:pt x="262" y="274"/>
                  </a:lnTo>
                  <a:lnTo>
                    <a:pt x="264" y="274"/>
                  </a:lnTo>
                  <a:lnTo>
                    <a:pt x="266" y="278"/>
                  </a:lnTo>
                  <a:lnTo>
                    <a:pt x="268" y="288"/>
                  </a:lnTo>
                  <a:lnTo>
                    <a:pt x="268" y="324"/>
                  </a:lnTo>
                  <a:lnTo>
                    <a:pt x="270" y="328"/>
                  </a:lnTo>
                  <a:lnTo>
                    <a:pt x="274" y="330"/>
                  </a:lnTo>
                  <a:lnTo>
                    <a:pt x="276" y="330"/>
                  </a:lnTo>
                  <a:lnTo>
                    <a:pt x="282" y="330"/>
                  </a:lnTo>
                  <a:lnTo>
                    <a:pt x="288" y="332"/>
                  </a:lnTo>
                  <a:lnTo>
                    <a:pt x="290" y="334"/>
                  </a:lnTo>
                  <a:lnTo>
                    <a:pt x="294" y="338"/>
                  </a:lnTo>
                  <a:lnTo>
                    <a:pt x="298" y="344"/>
                  </a:lnTo>
                  <a:lnTo>
                    <a:pt x="300" y="364"/>
                  </a:lnTo>
                  <a:lnTo>
                    <a:pt x="318" y="328"/>
                  </a:lnTo>
                  <a:lnTo>
                    <a:pt x="322" y="314"/>
                  </a:lnTo>
                  <a:lnTo>
                    <a:pt x="326" y="304"/>
                  </a:lnTo>
                  <a:lnTo>
                    <a:pt x="332" y="296"/>
                  </a:lnTo>
                  <a:lnTo>
                    <a:pt x="338" y="294"/>
                  </a:lnTo>
                  <a:lnTo>
                    <a:pt x="344" y="294"/>
                  </a:lnTo>
                  <a:lnTo>
                    <a:pt x="352" y="294"/>
                  </a:lnTo>
                  <a:lnTo>
                    <a:pt x="372" y="304"/>
                  </a:lnTo>
                  <a:lnTo>
                    <a:pt x="424" y="308"/>
                  </a:lnTo>
                  <a:lnTo>
                    <a:pt x="424" y="296"/>
                  </a:lnTo>
                  <a:lnTo>
                    <a:pt x="400" y="272"/>
                  </a:lnTo>
                  <a:lnTo>
                    <a:pt x="388" y="264"/>
                  </a:lnTo>
                  <a:lnTo>
                    <a:pt x="386" y="262"/>
                  </a:lnTo>
                  <a:lnTo>
                    <a:pt x="386" y="258"/>
                  </a:lnTo>
                  <a:lnTo>
                    <a:pt x="404" y="260"/>
                  </a:lnTo>
                  <a:lnTo>
                    <a:pt x="412" y="260"/>
                  </a:lnTo>
                  <a:lnTo>
                    <a:pt x="418" y="260"/>
                  </a:lnTo>
                  <a:lnTo>
                    <a:pt x="424" y="260"/>
                  </a:lnTo>
                  <a:lnTo>
                    <a:pt x="430" y="256"/>
                  </a:lnTo>
                  <a:lnTo>
                    <a:pt x="436" y="252"/>
                  </a:lnTo>
                  <a:lnTo>
                    <a:pt x="442" y="246"/>
                  </a:lnTo>
                  <a:lnTo>
                    <a:pt x="452" y="228"/>
                  </a:lnTo>
                  <a:lnTo>
                    <a:pt x="454" y="228"/>
                  </a:lnTo>
                  <a:lnTo>
                    <a:pt x="472" y="212"/>
                  </a:lnTo>
                  <a:lnTo>
                    <a:pt x="474" y="174"/>
                  </a:lnTo>
                  <a:lnTo>
                    <a:pt x="474" y="170"/>
                  </a:lnTo>
                  <a:lnTo>
                    <a:pt x="476" y="170"/>
                  </a:lnTo>
                  <a:lnTo>
                    <a:pt x="478" y="170"/>
                  </a:lnTo>
                  <a:lnTo>
                    <a:pt x="492" y="168"/>
                  </a:lnTo>
                  <a:lnTo>
                    <a:pt x="494" y="168"/>
                  </a:lnTo>
                  <a:lnTo>
                    <a:pt x="496" y="168"/>
                  </a:lnTo>
                  <a:lnTo>
                    <a:pt x="524" y="198"/>
                  </a:lnTo>
                  <a:lnTo>
                    <a:pt x="532" y="196"/>
                  </a:lnTo>
                  <a:lnTo>
                    <a:pt x="532" y="190"/>
                  </a:lnTo>
                  <a:lnTo>
                    <a:pt x="518" y="176"/>
                  </a:lnTo>
                  <a:lnTo>
                    <a:pt x="516" y="174"/>
                  </a:lnTo>
                  <a:lnTo>
                    <a:pt x="514" y="172"/>
                  </a:lnTo>
                  <a:lnTo>
                    <a:pt x="536" y="158"/>
                  </a:lnTo>
                  <a:lnTo>
                    <a:pt x="536" y="124"/>
                  </a:lnTo>
                  <a:lnTo>
                    <a:pt x="526" y="126"/>
                  </a:lnTo>
                  <a:lnTo>
                    <a:pt x="524" y="126"/>
                  </a:lnTo>
                  <a:lnTo>
                    <a:pt x="512" y="120"/>
                  </a:lnTo>
                  <a:lnTo>
                    <a:pt x="504" y="118"/>
                  </a:lnTo>
                  <a:lnTo>
                    <a:pt x="492" y="110"/>
                  </a:lnTo>
                  <a:lnTo>
                    <a:pt x="486" y="106"/>
                  </a:lnTo>
                  <a:lnTo>
                    <a:pt x="484" y="102"/>
                  </a:lnTo>
                  <a:lnTo>
                    <a:pt x="484" y="104"/>
                  </a:lnTo>
                  <a:lnTo>
                    <a:pt x="482" y="108"/>
                  </a:lnTo>
                  <a:lnTo>
                    <a:pt x="480" y="108"/>
                  </a:lnTo>
                  <a:lnTo>
                    <a:pt x="476" y="110"/>
                  </a:lnTo>
                  <a:lnTo>
                    <a:pt x="470" y="112"/>
                  </a:lnTo>
                  <a:lnTo>
                    <a:pt x="468" y="112"/>
                  </a:lnTo>
                  <a:lnTo>
                    <a:pt x="468" y="110"/>
                  </a:lnTo>
                  <a:lnTo>
                    <a:pt x="456" y="102"/>
                  </a:lnTo>
                  <a:lnTo>
                    <a:pt x="446" y="110"/>
                  </a:lnTo>
                  <a:lnTo>
                    <a:pt x="440" y="116"/>
                  </a:lnTo>
                  <a:lnTo>
                    <a:pt x="438" y="120"/>
                  </a:lnTo>
                  <a:lnTo>
                    <a:pt x="444" y="132"/>
                  </a:lnTo>
                  <a:lnTo>
                    <a:pt x="446" y="136"/>
                  </a:lnTo>
                  <a:lnTo>
                    <a:pt x="444" y="138"/>
                  </a:lnTo>
                  <a:lnTo>
                    <a:pt x="440" y="142"/>
                  </a:lnTo>
                  <a:lnTo>
                    <a:pt x="434" y="144"/>
                  </a:lnTo>
                  <a:lnTo>
                    <a:pt x="428" y="146"/>
                  </a:lnTo>
                  <a:lnTo>
                    <a:pt x="422" y="148"/>
                  </a:lnTo>
                  <a:lnTo>
                    <a:pt x="418" y="146"/>
                  </a:lnTo>
                  <a:lnTo>
                    <a:pt x="416" y="144"/>
                  </a:lnTo>
                  <a:lnTo>
                    <a:pt x="414" y="140"/>
                  </a:lnTo>
                  <a:lnTo>
                    <a:pt x="392" y="120"/>
                  </a:lnTo>
                  <a:lnTo>
                    <a:pt x="382" y="114"/>
                  </a:lnTo>
                  <a:lnTo>
                    <a:pt x="376" y="108"/>
                  </a:lnTo>
                  <a:lnTo>
                    <a:pt x="374" y="104"/>
                  </a:lnTo>
                  <a:lnTo>
                    <a:pt x="374" y="100"/>
                  </a:lnTo>
                  <a:lnTo>
                    <a:pt x="372" y="92"/>
                  </a:lnTo>
                  <a:lnTo>
                    <a:pt x="370" y="86"/>
                  </a:lnTo>
                  <a:lnTo>
                    <a:pt x="366" y="88"/>
                  </a:lnTo>
                  <a:lnTo>
                    <a:pt x="364" y="90"/>
                  </a:lnTo>
                  <a:lnTo>
                    <a:pt x="366" y="94"/>
                  </a:lnTo>
                  <a:lnTo>
                    <a:pt x="368" y="98"/>
                  </a:lnTo>
                  <a:lnTo>
                    <a:pt x="368" y="100"/>
                  </a:lnTo>
                  <a:lnTo>
                    <a:pt x="370" y="100"/>
                  </a:lnTo>
                  <a:lnTo>
                    <a:pt x="368" y="102"/>
                  </a:lnTo>
                  <a:lnTo>
                    <a:pt x="358" y="120"/>
                  </a:lnTo>
                  <a:lnTo>
                    <a:pt x="340" y="116"/>
                  </a:lnTo>
                  <a:lnTo>
                    <a:pt x="336" y="114"/>
                  </a:lnTo>
                  <a:lnTo>
                    <a:pt x="336" y="112"/>
                  </a:lnTo>
                  <a:lnTo>
                    <a:pt x="336" y="106"/>
                  </a:lnTo>
                  <a:lnTo>
                    <a:pt x="336" y="100"/>
                  </a:lnTo>
                  <a:lnTo>
                    <a:pt x="332" y="94"/>
                  </a:lnTo>
                  <a:lnTo>
                    <a:pt x="318" y="84"/>
                  </a:lnTo>
                  <a:lnTo>
                    <a:pt x="316" y="82"/>
                  </a:lnTo>
                  <a:lnTo>
                    <a:pt x="314" y="84"/>
                  </a:lnTo>
                  <a:lnTo>
                    <a:pt x="312" y="86"/>
                  </a:lnTo>
                  <a:lnTo>
                    <a:pt x="298" y="84"/>
                  </a:lnTo>
                  <a:lnTo>
                    <a:pt x="292" y="82"/>
                  </a:lnTo>
                  <a:lnTo>
                    <a:pt x="288" y="80"/>
                  </a:lnTo>
                  <a:lnTo>
                    <a:pt x="288" y="76"/>
                  </a:lnTo>
                  <a:lnTo>
                    <a:pt x="288" y="70"/>
                  </a:lnTo>
                  <a:lnTo>
                    <a:pt x="290" y="68"/>
                  </a:lnTo>
                  <a:lnTo>
                    <a:pt x="284" y="56"/>
                  </a:lnTo>
                  <a:lnTo>
                    <a:pt x="256" y="58"/>
                  </a:lnTo>
                  <a:lnTo>
                    <a:pt x="256" y="64"/>
                  </a:lnTo>
                  <a:lnTo>
                    <a:pt x="254" y="68"/>
                  </a:lnTo>
                  <a:lnTo>
                    <a:pt x="252" y="70"/>
                  </a:lnTo>
                  <a:lnTo>
                    <a:pt x="248" y="72"/>
                  </a:lnTo>
                  <a:lnTo>
                    <a:pt x="240" y="72"/>
                  </a:lnTo>
                  <a:lnTo>
                    <a:pt x="234" y="68"/>
                  </a:lnTo>
                  <a:lnTo>
                    <a:pt x="234" y="66"/>
                  </a:lnTo>
                  <a:lnTo>
                    <a:pt x="226" y="56"/>
                  </a:lnTo>
                  <a:lnTo>
                    <a:pt x="224" y="48"/>
                  </a:lnTo>
                  <a:lnTo>
                    <a:pt x="220" y="40"/>
                  </a:lnTo>
                  <a:lnTo>
                    <a:pt x="212" y="46"/>
                  </a:lnTo>
                  <a:lnTo>
                    <a:pt x="202" y="50"/>
                  </a:lnTo>
                  <a:lnTo>
                    <a:pt x="200" y="50"/>
                  </a:lnTo>
                  <a:lnTo>
                    <a:pt x="196" y="48"/>
                  </a:lnTo>
                  <a:lnTo>
                    <a:pt x="194" y="46"/>
                  </a:lnTo>
                  <a:lnTo>
                    <a:pt x="186" y="48"/>
                  </a:lnTo>
                  <a:lnTo>
                    <a:pt x="164" y="54"/>
                  </a:lnTo>
                  <a:lnTo>
                    <a:pt x="158" y="58"/>
                  </a:lnTo>
                  <a:lnTo>
                    <a:pt x="152" y="58"/>
                  </a:lnTo>
                  <a:lnTo>
                    <a:pt x="150" y="58"/>
                  </a:lnTo>
                  <a:lnTo>
                    <a:pt x="140" y="56"/>
                  </a:lnTo>
                  <a:lnTo>
                    <a:pt x="134" y="52"/>
                  </a:lnTo>
                  <a:lnTo>
                    <a:pt x="120" y="42"/>
                  </a:lnTo>
                  <a:lnTo>
                    <a:pt x="104" y="18"/>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45" name="黑龙江"/>
            <p:cNvSpPr/>
            <p:nvPr/>
          </p:nvSpPr>
          <p:spPr bwMode="auto">
            <a:xfrm>
              <a:off x="9119567" y="-2398522"/>
              <a:ext cx="1003594" cy="900176"/>
            </a:xfrm>
            <a:custGeom>
              <a:avLst/>
              <a:gdLst>
                <a:gd name="T0" fmla="*/ 2147483646 w 718"/>
                <a:gd name="T1" fmla="*/ 2147483646 h 652"/>
                <a:gd name="T2" fmla="*/ 2147483646 w 718"/>
                <a:gd name="T3" fmla="*/ 2147483646 h 652"/>
                <a:gd name="T4" fmla="*/ 2147483646 w 718"/>
                <a:gd name="T5" fmla="*/ 2147483646 h 652"/>
                <a:gd name="T6" fmla="*/ 2147483646 w 718"/>
                <a:gd name="T7" fmla="*/ 2147483646 h 652"/>
                <a:gd name="T8" fmla="*/ 2147483646 w 718"/>
                <a:gd name="T9" fmla="*/ 2147483646 h 652"/>
                <a:gd name="T10" fmla="*/ 2147483646 w 718"/>
                <a:gd name="T11" fmla="*/ 2147483646 h 652"/>
                <a:gd name="T12" fmla="*/ 2147483646 w 718"/>
                <a:gd name="T13" fmla="*/ 2147483646 h 652"/>
                <a:gd name="T14" fmla="*/ 2147483646 w 718"/>
                <a:gd name="T15" fmla="*/ 2147483646 h 652"/>
                <a:gd name="T16" fmla="*/ 2147483646 w 718"/>
                <a:gd name="T17" fmla="*/ 2147483646 h 652"/>
                <a:gd name="T18" fmla="*/ 2147483646 w 718"/>
                <a:gd name="T19" fmla="*/ 2147483646 h 652"/>
                <a:gd name="T20" fmla="*/ 2147483646 w 718"/>
                <a:gd name="T21" fmla="*/ 2147483646 h 652"/>
                <a:gd name="T22" fmla="*/ 2147483646 w 718"/>
                <a:gd name="T23" fmla="*/ 2147483646 h 652"/>
                <a:gd name="T24" fmla="*/ 2147483646 w 718"/>
                <a:gd name="T25" fmla="*/ 2147483646 h 652"/>
                <a:gd name="T26" fmla="*/ 2147483646 w 718"/>
                <a:gd name="T27" fmla="*/ 0 h 652"/>
                <a:gd name="T28" fmla="*/ 2147483646 w 718"/>
                <a:gd name="T29" fmla="*/ 2147483646 h 652"/>
                <a:gd name="T30" fmla="*/ 2147483646 w 718"/>
                <a:gd name="T31" fmla="*/ 2147483646 h 652"/>
                <a:gd name="T32" fmla="*/ 0 w 718"/>
                <a:gd name="T33" fmla="*/ 2147483646 h 652"/>
                <a:gd name="T34" fmla="*/ 2147483646 w 718"/>
                <a:gd name="T35" fmla="*/ 2147483646 h 652"/>
                <a:gd name="T36" fmla="*/ 2147483646 w 718"/>
                <a:gd name="T37" fmla="*/ 2147483646 h 652"/>
                <a:gd name="T38" fmla="*/ 2147483646 w 718"/>
                <a:gd name="T39" fmla="*/ 2147483646 h 652"/>
                <a:gd name="T40" fmla="*/ 2147483646 w 718"/>
                <a:gd name="T41" fmla="*/ 2147483646 h 652"/>
                <a:gd name="T42" fmla="*/ 2147483646 w 718"/>
                <a:gd name="T43" fmla="*/ 2147483646 h 652"/>
                <a:gd name="T44" fmla="*/ 2147483646 w 718"/>
                <a:gd name="T45" fmla="*/ 2147483646 h 652"/>
                <a:gd name="T46" fmla="*/ 2147483646 w 718"/>
                <a:gd name="T47" fmla="*/ 2147483646 h 652"/>
                <a:gd name="T48" fmla="*/ 2147483646 w 718"/>
                <a:gd name="T49" fmla="*/ 2147483646 h 652"/>
                <a:gd name="T50" fmla="*/ 2147483646 w 718"/>
                <a:gd name="T51" fmla="*/ 2147483646 h 652"/>
                <a:gd name="T52" fmla="*/ 2147483646 w 718"/>
                <a:gd name="T53" fmla="*/ 2147483646 h 652"/>
                <a:gd name="T54" fmla="*/ 2147483646 w 718"/>
                <a:gd name="T55" fmla="*/ 2147483646 h 652"/>
                <a:gd name="T56" fmla="*/ 2147483646 w 718"/>
                <a:gd name="T57" fmla="*/ 2147483646 h 652"/>
                <a:gd name="T58" fmla="*/ 2147483646 w 718"/>
                <a:gd name="T59" fmla="*/ 2147483646 h 652"/>
                <a:gd name="T60" fmla="*/ 2147483646 w 718"/>
                <a:gd name="T61" fmla="*/ 2147483646 h 652"/>
                <a:gd name="T62" fmla="*/ 2147483646 w 718"/>
                <a:gd name="T63" fmla="*/ 2147483646 h 652"/>
                <a:gd name="T64" fmla="*/ 2147483646 w 718"/>
                <a:gd name="T65" fmla="*/ 2147483646 h 652"/>
                <a:gd name="T66" fmla="*/ 2147483646 w 718"/>
                <a:gd name="T67" fmla="*/ 2147483646 h 652"/>
                <a:gd name="T68" fmla="*/ 2147483646 w 718"/>
                <a:gd name="T69" fmla="*/ 2147483646 h 652"/>
                <a:gd name="T70" fmla="*/ 2147483646 w 718"/>
                <a:gd name="T71" fmla="*/ 2147483646 h 652"/>
                <a:gd name="T72" fmla="*/ 2147483646 w 718"/>
                <a:gd name="T73" fmla="*/ 2147483646 h 652"/>
                <a:gd name="T74" fmla="*/ 2147483646 w 718"/>
                <a:gd name="T75" fmla="*/ 2147483646 h 652"/>
                <a:gd name="T76" fmla="*/ 2147483646 w 718"/>
                <a:gd name="T77" fmla="*/ 2147483646 h 652"/>
                <a:gd name="T78" fmla="*/ 2147483646 w 718"/>
                <a:gd name="T79" fmla="*/ 2147483646 h 652"/>
                <a:gd name="T80" fmla="*/ 2147483646 w 718"/>
                <a:gd name="T81" fmla="*/ 2147483646 h 652"/>
                <a:gd name="T82" fmla="*/ 2147483646 w 718"/>
                <a:gd name="T83" fmla="*/ 2147483646 h 652"/>
                <a:gd name="T84" fmla="*/ 2147483646 w 718"/>
                <a:gd name="T85" fmla="*/ 2147483646 h 652"/>
                <a:gd name="T86" fmla="*/ 2147483646 w 718"/>
                <a:gd name="T87" fmla="*/ 2147483646 h 652"/>
                <a:gd name="T88" fmla="*/ 2147483646 w 718"/>
                <a:gd name="T89" fmla="*/ 2147483646 h 652"/>
                <a:gd name="T90" fmla="*/ 2147483646 w 718"/>
                <a:gd name="T91" fmla="*/ 2147483646 h 652"/>
                <a:gd name="T92" fmla="*/ 2147483646 w 718"/>
                <a:gd name="T93" fmla="*/ 2147483646 h 652"/>
                <a:gd name="T94" fmla="*/ 2147483646 w 718"/>
                <a:gd name="T95" fmla="*/ 2147483646 h 652"/>
                <a:gd name="T96" fmla="*/ 2147483646 w 718"/>
                <a:gd name="T97" fmla="*/ 2147483646 h 652"/>
                <a:gd name="T98" fmla="*/ 2147483646 w 718"/>
                <a:gd name="T99" fmla="*/ 2147483646 h 652"/>
                <a:gd name="T100" fmla="*/ 2147483646 w 718"/>
                <a:gd name="T101" fmla="*/ 2147483646 h 652"/>
                <a:gd name="T102" fmla="*/ 2147483646 w 718"/>
                <a:gd name="T103" fmla="*/ 2147483646 h 652"/>
                <a:gd name="T104" fmla="*/ 2147483646 w 718"/>
                <a:gd name="T105" fmla="*/ 2147483646 h 652"/>
                <a:gd name="T106" fmla="*/ 2147483646 w 718"/>
                <a:gd name="T107" fmla="*/ 2147483646 h 652"/>
                <a:gd name="T108" fmla="*/ 2147483646 w 718"/>
                <a:gd name="T109" fmla="*/ 2147483646 h 652"/>
                <a:gd name="T110" fmla="*/ 2147483646 w 718"/>
                <a:gd name="T111" fmla="*/ 2147483646 h 652"/>
                <a:gd name="T112" fmla="*/ 2147483646 w 718"/>
                <a:gd name="T113" fmla="*/ 2147483646 h 652"/>
                <a:gd name="T114" fmla="*/ 2147483646 w 718"/>
                <a:gd name="T115" fmla="*/ 2147483646 h 652"/>
                <a:gd name="T116" fmla="*/ 2147483646 w 718"/>
                <a:gd name="T117" fmla="*/ 2147483646 h 652"/>
                <a:gd name="T118" fmla="*/ 2147483646 w 718"/>
                <a:gd name="T119" fmla="*/ 2147483646 h 652"/>
                <a:gd name="T120" fmla="*/ 2147483646 w 718"/>
                <a:gd name="T121" fmla="*/ 2147483646 h 652"/>
                <a:gd name="T122" fmla="*/ 2147483646 w 718"/>
                <a:gd name="T123" fmla="*/ 2147483646 h 65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718" h="652">
                  <a:moveTo>
                    <a:pt x="716" y="382"/>
                  </a:moveTo>
                  <a:lnTo>
                    <a:pt x="704" y="302"/>
                  </a:lnTo>
                  <a:lnTo>
                    <a:pt x="706" y="302"/>
                  </a:lnTo>
                  <a:lnTo>
                    <a:pt x="712" y="290"/>
                  </a:lnTo>
                  <a:lnTo>
                    <a:pt x="714" y="284"/>
                  </a:lnTo>
                  <a:lnTo>
                    <a:pt x="714" y="280"/>
                  </a:lnTo>
                  <a:lnTo>
                    <a:pt x="710" y="274"/>
                  </a:lnTo>
                  <a:lnTo>
                    <a:pt x="704" y="270"/>
                  </a:lnTo>
                  <a:lnTo>
                    <a:pt x="700" y="260"/>
                  </a:lnTo>
                  <a:lnTo>
                    <a:pt x="700" y="250"/>
                  </a:lnTo>
                  <a:lnTo>
                    <a:pt x="700" y="234"/>
                  </a:lnTo>
                  <a:lnTo>
                    <a:pt x="692" y="234"/>
                  </a:lnTo>
                  <a:lnTo>
                    <a:pt x="684" y="236"/>
                  </a:lnTo>
                  <a:lnTo>
                    <a:pt x="674" y="240"/>
                  </a:lnTo>
                  <a:lnTo>
                    <a:pt x="666" y="248"/>
                  </a:lnTo>
                  <a:lnTo>
                    <a:pt x="662" y="254"/>
                  </a:lnTo>
                  <a:lnTo>
                    <a:pt x="660" y="262"/>
                  </a:lnTo>
                  <a:lnTo>
                    <a:pt x="652" y="268"/>
                  </a:lnTo>
                  <a:lnTo>
                    <a:pt x="644" y="272"/>
                  </a:lnTo>
                  <a:lnTo>
                    <a:pt x="632" y="276"/>
                  </a:lnTo>
                  <a:lnTo>
                    <a:pt x="628" y="302"/>
                  </a:lnTo>
                  <a:lnTo>
                    <a:pt x="626" y="302"/>
                  </a:lnTo>
                  <a:lnTo>
                    <a:pt x="618" y="318"/>
                  </a:lnTo>
                  <a:lnTo>
                    <a:pt x="618" y="320"/>
                  </a:lnTo>
                  <a:lnTo>
                    <a:pt x="616" y="320"/>
                  </a:lnTo>
                  <a:lnTo>
                    <a:pt x="536" y="334"/>
                  </a:lnTo>
                  <a:lnTo>
                    <a:pt x="534" y="334"/>
                  </a:lnTo>
                  <a:lnTo>
                    <a:pt x="510" y="308"/>
                  </a:lnTo>
                  <a:lnTo>
                    <a:pt x="518" y="302"/>
                  </a:lnTo>
                  <a:lnTo>
                    <a:pt x="508" y="290"/>
                  </a:lnTo>
                  <a:lnTo>
                    <a:pt x="498" y="282"/>
                  </a:lnTo>
                  <a:lnTo>
                    <a:pt x="496" y="280"/>
                  </a:lnTo>
                  <a:lnTo>
                    <a:pt x="496" y="278"/>
                  </a:lnTo>
                  <a:lnTo>
                    <a:pt x="492" y="258"/>
                  </a:lnTo>
                  <a:lnTo>
                    <a:pt x="470" y="258"/>
                  </a:lnTo>
                  <a:lnTo>
                    <a:pt x="452" y="246"/>
                  </a:lnTo>
                  <a:lnTo>
                    <a:pt x="388" y="236"/>
                  </a:lnTo>
                  <a:lnTo>
                    <a:pt x="336" y="234"/>
                  </a:lnTo>
                  <a:lnTo>
                    <a:pt x="334" y="234"/>
                  </a:lnTo>
                  <a:lnTo>
                    <a:pt x="332" y="234"/>
                  </a:lnTo>
                  <a:lnTo>
                    <a:pt x="330" y="232"/>
                  </a:lnTo>
                  <a:lnTo>
                    <a:pt x="298" y="164"/>
                  </a:lnTo>
                  <a:lnTo>
                    <a:pt x="286" y="146"/>
                  </a:lnTo>
                  <a:lnTo>
                    <a:pt x="258" y="110"/>
                  </a:lnTo>
                  <a:lnTo>
                    <a:pt x="230" y="76"/>
                  </a:lnTo>
                  <a:lnTo>
                    <a:pt x="216" y="62"/>
                  </a:lnTo>
                  <a:lnTo>
                    <a:pt x="170" y="18"/>
                  </a:lnTo>
                  <a:lnTo>
                    <a:pt x="164" y="14"/>
                  </a:lnTo>
                  <a:lnTo>
                    <a:pt x="108" y="12"/>
                  </a:lnTo>
                  <a:lnTo>
                    <a:pt x="106" y="12"/>
                  </a:lnTo>
                  <a:lnTo>
                    <a:pt x="106" y="10"/>
                  </a:lnTo>
                  <a:lnTo>
                    <a:pt x="94" y="6"/>
                  </a:lnTo>
                  <a:lnTo>
                    <a:pt x="80" y="0"/>
                  </a:lnTo>
                  <a:lnTo>
                    <a:pt x="76" y="0"/>
                  </a:lnTo>
                  <a:lnTo>
                    <a:pt x="70" y="0"/>
                  </a:lnTo>
                  <a:lnTo>
                    <a:pt x="54" y="4"/>
                  </a:lnTo>
                  <a:lnTo>
                    <a:pt x="34" y="12"/>
                  </a:lnTo>
                  <a:lnTo>
                    <a:pt x="8" y="24"/>
                  </a:lnTo>
                  <a:lnTo>
                    <a:pt x="6" y="26"/>
                  </a:lnTo>
                  <a:lnTo>
                    <a:pt x="8" y="36"/>
                  </a:lnTo>
                  <a:lnTo>
                    <a:pt x="8" y="38"/>
                  </a:lnTo>
                  <a:lnTo>
                    <a:pt x="2" y="52"/>
                  </a:lnTo>
                  <a:lnTo>
                    <a:pt x="0" y="52"/>
                  </a:lnTo>
                  <a:lnTo>
                    <a:pt x="0" y="62"/>
                  </a:lnTo>
                  <a:lnTo>
                    <a:pt x="0" y="72"/>
                  </a:lnTo>
                  <a:lnTo>
                    <a:pt x="4" y="82"/>
                  </a:lnTo>
                  <a:lnTo>
                    <a:pt x="10" y="86"/>
                  </a:lnTo>
                  <a:lnTo>
                    <a:pt x="22" y="86"/>
                  </a:lnTo>
                  <a:lnTo>
                    <a:pt x="32" y="88"/>
                  </a:lnTo>
                  <a:lnTo>
                    <a:pt x="36" y="86"/>
                  </a:lnTo>
                  <a:lnTo>
                    <a:pt x="38" y="76"/>
                  </a:lnTo>
                  <a:lnTo>
                    <a:pt x="42" y="70"/>
                  </a:lnTo>
                  <a:lnTo>
                    <a:pt x="50" y="70"/>
                  </a:lnTo>
                  <a:lnTo>
                    <a:pt x="78" y="78"/>
                  </a:lnTo>
                  <a:lnTo>
                    <a:pt x="84" y="80"/>
                  </a:lnTo>
                  <a:lnTo>
                    <a:pt x="74" y="94"/>
                  </a:lnTo>
                  <a:lnTo>
                    <a:pt x="74" y="114"/>
                  </a:lnTo>
                  <a:lnTo>
                    <a:pt x="76" y="118"/>
                  </a:lnTo>
                  <a:lnTo>
                    <a:pt x="80" y="124"/>
                  </a:lnTo>
                  <a:lnTo>
                    <a:pt x="96" y="140"/>
                  </a:lnTo>
                  <a:lnTo>
                    <a:pt x="108" y="148"/>
                  </a:lnTo>
                  <a:lnTo>
                    <a:pt x="116" y="150"/>
                  </a:lnTo>
                  <a:lnTo>
                    <a:pt x="120" y="150"/>
                  </a:lnTo>
                  <a:lnTo>
                    <a:pt x="124" y="148"/>
                  </a:lnTo>
                  <a:lnTo>
                    <a:pt x="138" y="134"/>
                  </a:lnTo>
                  <a:lnTo>
                    <a:pt x="148" y="128"/>
                  </a:lnTo>
                  <a:lnTo>
                    <a:pt x="170" y="124"/>
                  </a:lnTo>
                  <a:lnTo>
                    <a:pt x="176" y="110"/>
                  </a:lnTo>
                  <a:lnTo>
                    <a:pt x="194" y="100"/>
                  </a:lnTo>
                  <a:lnTo>
                    <a:pt x="212" y="110"/>
                  </a:lnTo>
                  <a:lnTo>
                    <a:pt x="214" y="110"/>
                  </a:lnTo>
                  <a:lnTo>
                    <a:pt x="230" y="138"/>
                  </a:lnTo>
                  <a:lnTo>
                    <a:pt x="236" y="156"/>
                  </a:lnTo>
                  <a:lnTo>
                    <a:pt x="236" y="158"/>
                  </a:lnTo>
                  <a:lnTo>
                    <a:pt x="232" y="182"/>
                  </a:lnTo>
                  <a:lnTo>
                    <a:pt x="238" y="196"/>
                  </a:lnTo>
                  <a:lnTo>
                    <a:pt x="238" y="198"/>
                  </a:lnTo>
                  <a:lnTo>
                    <a:pt x="234" y="216"/>
                  </a:lnTo>
                  <a:lnTo>
                    <a:pt x="234" y="232"/>
                  </a:lnTo>
                  <a:lnTo>
                    <a:pt x="240" y="250"/>
                  </a:lnTo>
                  <a:lnTo>
                    <a:pt x="242" y="258"/>
                  </a:lnTo>
                  <a:lnTo>
                    <a:pt x="240" y="272"/>
                  </a:lnTo>
                  <a:lnTo>
                    <a:pt x="240" y="274"/>
                  </a:lnTo>
                  <a:lnTo>
                    <a:pt x="232" y="284"/>
                  </a:lnTo>
                  <a:lnTo>
                    <a:pt x="232" y="286"/>
                  </a:lnTo>
                  <a:lnTo>
                    <a:pt x="224" y="294"/>
                  </a:lnTo>
                  <a:lnTo>
                    <a:pt x="222" y="312"/>
                  </a:lnTo>
                  <a:lnTo>
                    <a:pt x="228" y="330"/>
                  </a:lnTo>
                  <a:lnTo>
                    <a:pt x="228" y="332"/>
                  </a:lnTo>
                  <a:lnTo>
                    <a:pt x="222" y="360"/>
                  </a:lnTo>
                  <a:lnTo>
                    <a:pt x="218" y="364"/>
                  </a:lnTo>
                  <a:lnTo>
                    <a:pt x="214" y="366"/>
                  </a:lnTo>
                  <a:lnTo>
                    <a:pt x="206" y="364"/>
                  </a:lnTo>
                  <a:lnTo>
                    <a:pt x="198" y="356"/>
                  </a:lnTo>
                  <a:lnTo>
                    <a:pt x="190" y="358"/>
                  </a:lnTo>
                  <a:lnTo>
                    <a:pt x="180" y="370"/>
                  </a:lnTo>
                  <a:lnTo>
                    <a:pt x="168" y="402"/>
                  </a:lnTo>
                  <a:lnTo>
                    <a:pt x="168" y="404"/>
                  </a:lnTo>
                  <a:lnTo>
                    <a:pt x="156" y="414"/>
                  </a:lnTo>
                  <a:lnTo>
                    <a:pt x="154" y="414"/>
                  </a:lnTo>
                  <a:lnTo>
                    <a:pt x="148" y="414"/>
                  </a:lnTo>
                  <a:lnTo>
                    <a:pt x="136" y="434"/>
                  </a:lnTo>
                  <a:lnTo>
                    <a:pt x="142" y="446"/>
                  </a:lnTo>
                  <a:lnTo>
                    <a:pt x="144" y="446"/>
                  </a:lnTo>
                  <a:lnTo>
                    <a:pt x="160" y="466"/>
                  </a:lnTo>
                  <a:lnTo>
                    <a:pt x="160" y="468"/>
                  </a:lnTo>
                  <a:lnTo>
                    <a:pt x="160" y="474"/>
                  </a:lnTo>
                  <a:lnTo>
                    <a:pt x="178" y="476"/>
                  </a:lnTo>
                  <a:lnTo>
                    <a:pt x="180" y="492"/>
                  </a:lnTo>
                  <a:lnTo>
                    <a:pt x="180" y="494"/>
                  </a:lnTo>
                  <a:lnTo>
                    <a:pt x="182" y="512"/>
                  </a:lnTo>
                  <a:lnTo>
                    <a:pt x="188" y="516"/>
                  </a:lnTo>
                  <a:lnTo>
                    <a:pt x="204" y="512"/>
                  </a:lnTo>
                  <a:lnTo>
                    <a:pt x="218" y="502"/>
                  </a:lnTo>
                  <a:lnTo>
                    <a:pt x="222" y="502"/>
                  </a:lnTo>
                  <a:lnTo>
                    <a:pt x="226" y="528"/>
                  </a:lnTo>
                  <a:lnTo>
                    <a:pt x="234" y="538"/>
                  </a:lnTo>
                  <a:lnTo>
                    <a:pt x="236" y="540"/>
                  </a:lnTo>
                  <a:lnTo>
                    <a:pt x="242" y="550"/>
                  </a:lnTo>
                  <a:lnTo>
                    <a:pt x="254" y="560"/>
                  </a:lnTo>
                  <a:lnTo>
                    <a:pt x="258" y="562"/>
                  </a:lnTo>
                  <a:lnTo>
                    <a:pt x="262" y="562"/>
                  </a:lnTo>
                  <a:lnTo>
                    <a:pt x="266" y="564"/>
                  </a:lnTo>
                  <a:lnTo>
                    <a:pt x="274" y="560"/>
                  </a:lnTo>
                  <a:lnTo>
                    <a:pt x="282" y="558"/>
                  </a:lnTo>
                  <a:lnTo>
                    <a:pt x="292" y="554"/>
                  </a:lnTo>
                  <a:lnTo>
                    <a:pt x="296" y="552"/>
                  </a:lnTo>
                  <a:lnTo>
                    <a:pt x="308" y="552"/>
                  </a:lnTo>
                  <a:lnTo>
                    <a:pt x="312" y="552"/>
                  </a:lnTo>
                  <a:lnTo>
                    <a:pt x="316" y="554"/>
                  </a:lnTo>
                  <a:lnTo>
                    <a:pt x="332" y="544"/>
                  </a:lnTo>
                  <a:lnTo>
                    <a:pt x="334" y="544"/>
                  </a:lnTo>
                  <a:lnTo>
                    <a:pt x="334" y="546"/>
                  </a:lnTo>
                  <a:lnTo>
                    <a:pt x="336" y="544"/>
                  </a:lnTo>
                  <a:lnTo>
                    <a:pt x="338" y="546"/>
                  </a:lnTo>
                  <a:lnTo>
                    <a:pt x="344" y="556"/>
                  </a:lnTo>
                  <a:lnTo>
                    <a:pt x="346" y="562"/>
                  </a:lnTo>
                  <a:lnTo>
                    <a:pt x="354" y="574"/>
                  </a:lnTo>
                  <a:lnTo>
                    <a:pt x="360" y="576"/>
                  </a:lnTo>
                  <a:lnTo>
                    <a:pt x="362" y="576"/>
                  </a:lnTo>
                  <a:lnTo>
                    <a:pt x="360" y="574"/>
                  </a:lnTo>
                  <a:lnTo>
                    <a:pt x="360" y="570"/>
                  </a:lnTo>
                  <a:lnTo>
                    <a:pt x="360" y="566"/>
                  </a:lnTo>
                  <a:lnTo>
                    <a:pt x="364" y="564"/>
                  </a:lnTo>
                  <a:lnTo>
                    <a:pt x="370" y="562"/>
                  </a:lnTo>
                  <a:lnTo>
                    <a:pt x="398" y="562"/>
                  </a:lnTo>
                  <a:lnTo>
                    <a:pt x="400" y="562"/>
                  </a:lnTo>
                  <a:lnTo>
                    <a:pt x="402" y="562"/>
                  </a:lnTo>
                  <a:lnTo>
                    <a:pt x="412" y="580"/>
                  </a:lnTo>
                  <a:lnTo>
                    <a:pt x="410" y="588"/>
                  </a:lnTo>
                  <a:lnTo>
                    <a:pt x="422" y="590"/>
                  </a:lnTo>
                  <a:lnTo>
                    <a:pt x="422" y="588"/>
                  </a:lnTo>
                  <a:lnTo>
                    <a:pt x="422" y="586"/>
                  </a:lnTo>
                  <a:lnTo>
                    <a:pt x="426" y="584"/>
                  </a:lnTo>
                  <a:lnTo>
                    <a:pt x="454" y="602"/>
                  </a:lnTo>
                  <a:lnTo>
                    <a:pt x="456" y="608"/>
                  </a:lnTo>
                  <a:lnTo>
                    <a:pt x="458" y="612"/>
                  </a:lnTo>
                  <a:lnTo>
                    <a:pt x="458" y="624"/>
                  </a:lnTo>
                  <a:lnTo>
                    <a:pt x="468" y="626"/>
                  </a:lnTo>
                  <a:lnTo>
                    <a:pt x="474" y="616"/>
                  </a:lnTo>
                  <a:lnTo>
                    <a:pt x="470" y="608"/>
                  </a:lnTo>
                  <a:lnTo>
                    <a:pt x="470" y="602"/>
                  </a:lnTo>
                  <a:lnTo>
                    <a:pt x="472" y="598"/>
                  </a:lnTo>
                  <a:lnTo>
                    <a:pt x="474" y="596"/>
                  </a:lnTo>
                  <a:lnTo>
                    <a:pt x="478" y="594"/>
                  </a:lnTo>
                  <a:lnTo>
                    <a:pt x="478" y="592"/>
                  </a:lnTo>
                  <a:lnTo>
                    <a:pt x="480" y="590"/>
                  </a:lnTo>
                  <a:lnTo>
                    <a:pt x="486" y="590"/>
                  </a:lnTo>
                  <a:lnTo>
                    <a:pt x="490" y="594"/>
                  </a:lnTo>
                  <a:lnTo>
                    <a:pt x="492" y="598"/>
                  </a:lnTo>
                  <a:lnTo>
                    <a:pt x="496" y="614"/>
                  </a:lnTo>
                  <a:lnTo>
                    <a:pt x="496" y="616"/>
                  </a:lnTo>
                  <a:lnTo>
                    <a:pt x="498" y="618"/>
                  </a:lnTo>
                  <a:lnTo>
                    <a:pt x="502" y="622"/>
                  </a:lnTo>
                  <a:lnTo>
                    <a:pt x="510" y="626"/>
                  </a:lnTo>
                  <a:lnTo>
                    <a:pt x="512" y="626"/>
                  </a:lnTo>
                  <a:lnTo>
                    <a:pt x="538" y="652"/>
                  </a:lnTo>
                  <a:lnTo>
                    <a:pt x="550" y="648"/>
                  </a:lnTo>
                  <a:lnTo>
                    <a:pt x="548" y="644"/>
                  </a:lnTo>
                  <a:lnTo>
                    <a:pt x="544" y="638"/>
                  </a:lnTo>
                  <a:lnTo>
                    <a:pt x="544" y="634"/>
                  </a:lnTo>
                  <a:lnTo>
                    <a:pt x="544" y="630"/>
                  </a:lnTo>
                  <a:lnTo>
                    <a:pt x="546" y="626"/>
                  </a:lnTo>
                  <a:lnTo>
                    <a:pt x="556" y="618"/>
                  </a:lnTo>
                  <a:lnTo>
                    <a:pt x="570" y="606"/>
                  </a:lnTo>
                  <a:lnTo>
                    <a:pt x="586" y="616"/>
                  </a:lnTo>
                  <a:lnTo>
                    <a:pt x="588" y="616"/>
                  </a:lnTo>
                  <a:lnTo>
                    <a:pt x="592" y="598"/>
                  </a:lnTo>
                  <a:lnTo>
                    <a:pt x="592" y="596"/>
                  </a:lnTo>
                  <a:lnTo>
                    <a:pt x="594" y="594"/>
                  </a:lnTo>
                  <a:lnTo>
                    <a:pt x="608" y="596"/>
                  </a:lnTo>
                  <a:lnTo>
                    <a:pt x="610" y="600"/>
                  </a:lnTo>
                  <a:lnTo>
                    <a:pt x="612" y="606"/>
                  </a:lnTo>
                  <a:lnTo>
                    <a:pt x="610" y="610"/>
                  </a:lnTo>
                  <a:lnTo>
                    <a:pt x="606" y="616"/>
                  </a:lnTo>
                  <a:lnTo>
                    <a:pt x="610" y="618"/>
                  </a:lnTo>
                  <a:lnTo>
                    <a:pt x="620" y="622"/>
                  </a:lnTo>
                  <a:lnTo>
                    <a:pt x="628" y="626"/>
                  </a:lnTo>
                  <a:lnTo>
                    <a:pt x="630" y="626"/>
                  </a:lnTo>
                  <a:lnTo>
                    <a:pt x="640" y="630"/>
                  </a:lnTo>
                  <a:lnTo>
                    <a:pt x="648" y="630"/>
                  </a:lnTo>
                  <a:lnTo>
                    <a:pt x="636" y="572"/>
                  </a:lnTo>
                  <a:lnTo>
                    <a:pt x="630" y="568"/>
                  </a:lnTo>
                  <a:lnTo>
                    <a:pt x="624" y="562"/>
                  </a:lnTo>
                  <a:lnTo>
                    <a:pt x="614" y="546"/>
                  </a:lnTo>
                  <a:lnTo>
                    <a:pt x="610" y="538"/>
                  </a:lnTo>
                  <a:lnTo>
                    <a:pt x="612" y="528"/>
                  </a:lnTo>
                  <a:lnTo>
                    <a:pt x="616" y="518"/>
                  </a:lnTo>
                  <a:lnTo>
                    <a:pt x="624" y="506"/>
                  </a:lnTo>
                  <a:lnTo>
                    <a:pt x="636" y="494"/>
                  </a:lnTo>
                  <a:lnTo>
                    <a:pt x="650" y="482"/>
                  </a:lnTo>
                  <a:lnTo>
                    <a:pt x="662" y="482"/>
                  </a:lnTo>
                  <a:lnTo>
                    <a:pt x="672" y="486"/>
                  </a:lnTo>
                  <a:lnTo>
                    <a:pt x="692" y="486"/>
                  </a:lnTo>
                  <a:lnTo>
                    <a:pt x="698" y="482"/>
                  </a:lnTo>
                  <a:lnTo>
                    <a:pt x="704" y="476"/>
                  </a:lnTo>
                  <a:lnTo>
                    <a:pt x="714" y="452"/>
                  </a:lnTo>
                  <a:lnTo>
                    <a:pt x="718" y="442"/>
                  </a:lnTo>
                  <a:lnTo>
                    <a:pt x="718" y="426"/>
                  </a:lnTo>
                  <a:lnTo>
                    <a:pt x="716" y="382"/>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46" name="山东"/>
            <p:cNvSpPr/>
            <p:nvPr/>
          </p:nvSpPr>
          <p:spPr bwMode="auto">
            <a:xfrm>
              <a:off x="8921084" y="-783174"/>
              <a:ext cx="606629" cy="375534"/>
            </a:xfrm>
            <a:custGeom>
              <a:avLst/>
              <a:gdLst>
                <a:gd name="T0" fmla="*/ 2147483646 w 434"/>
                <a:gd name="T1" fmla="*/ 2147483646 h 272"/>
                <a:gd name="T2" fmla="*/ 2147483646 w 434"/>
                <a:gd name="T3" fmla="*/ 2147483646 h 272"/>
                <a:gd name="T4" fmla="*/ 2147483646 w 434"/>
                <a:gd name="T5" fmla="*/ 0 h 272"/>
                <a:gd name="T6" fmla="*/ 2147483646 w 434"/>
                <a:gd name="T7" fmla="*/ 2147483646 h 272"/>
                <a:gd name="T8" fmla="*/ 2147483646 w 434"/>
                <a:gd name="T9" fmla="*/ 2147483646 h 272"/>
                <a:gd name="T10" fmla="*/ 2147483646 w 434"/>
                <a:gd name="T11" fmla="*/ 2147483646 h 272"/>
                <a:gd name="T12" fmla="*/ 2147483646 w 434"/>
                <a:gd name="T13" fmla="*/ 2147483646 h 272"/>
                <a:gd name="T14" fmla="*/ 2147483646 w 434"/>
                <a:gd name="T15" fmla="*/ 2147483646 h 272"/>
                <a:gd name="T16" fmla="*/ 2147483646 w 434"/>
                <a:gd name="T17" fmla="*/ 0 h 272"/>
                <a:gd name="T18" fmla="*/ 2147483646 w 434"/>
                <a:gd name="T19" fmla="*/ 2147483646 h 272"/>
                <a:gd name="T20" fmla="*/ 2147483646 w 434"/>
                <a:gd name="T21" fmla="*/ 2147483646 h 272"/>
                <a:gd name="T22" fmla="*/ 2147483646 w 434"/>
                <a:gd name="T23" fmla="*/ 2147483646 h 272"/>
                <a:gd name="T24" fmla="*/ 2147483646 w 434"/>
                <a:gd name="T25" fmla="*/ 2147483646 h 272"/>
                <a:gd name="T26" fmla="*/ 2147483646 w 434"/>
                <a:gd name="T27" fmla="*/ 2147483646 h 272"/>
                <a:gd name="T28" fmla="*/ 2147483646 w 434"/>
                <a:gd name="T29" fmla="*/ 2147483646 h 272"/>
                <a:gd name="T30" fmla="*/ 2147483646 w 434"/>
                <a:gd name="T31" fmla="*/ 2147483646 h 272"/>
                <a:gd name="T32" fmla="*/ 0 w 434"/>
                <a:gd name="T33" fmla="*/ 2147483646 h 272"/>
                <a:gd name="T34" fmla="*/ 2147483646 w 434"/>
                <a:gd name="T35" fmla="*/ 2147483646 h 272"/>
                <a:gd name="T36" fmla="*/ 2147483646 w 434"/>
                <a:gd name="T37" fmla="*/ 2147483646 h 272"/>
                <a:gd name="T38" fmla="*/ 2147483646 w 434"/>
                <a:gd name="T39" fmla="*/ 2147483646 h 272"/>
                <a:gd name="T40" fmla="*/ 2147483646 w 434"/>
                <a:gd name="T41" fmla="*/ 2147483646 h 272"/>
                <a:gd name="T42" fmla="*/ 2147483646 w 434"/>
                <a:gd name="T43" fmla="*/ 2147483646 h 272"/>
                <a:gd name="T44" fmla="*/ 2147483646 w 434"/>
                <a:gd name="T45" fmla="*/ 2147483646 h 272"/>
                <a:gd name="T46" fmla="*/ 2147483646 w 434"/>
                <a:gd name="T47" fmla="*/ 2147483646 h 272"/>
                <a:gd name="T48" fmla="*/ 2147483646 w 434"/>
                <a:gd name="T49" fmla="*/ 2147483646 h 272"/>
                <a:gd name="T50" fmla="*/ 2147483646 w 434"/>
                <a:gd name="T51" fmla="*/ 2147483646 h 272"/>
                <a:gd name="T52" fmla="*/ 2147483646 w 434"/>
                <a:gd name="T53" fmla="*/ 2147483646 h 272"/>
                <a:gd name="T54" fmla="*/ 2147483646 w 434"/>
                <a:gd name="T55" fmla="*/ 2147483646 h 272"/>
                <a:gd name="T56" fmla="*/ 2147483646 w 434"/>
                <a:gd name="T57" fmla="*/ 2147483646 h 272"/>
                <a:gd name="T58" fmla="*/ 2147483646 w 434"/>
                <a:gd name="T59" fmla="*/ 2147483646 h 272"/>
                <a:gd name="T60" fmla="*/ 2147483646 w 434"/>
                <a:gd name="T61" fmla="*/ 2147483646 h 272"/>
                <a:gd name="T62" fmla="*/ 2147483646 w 434"/>
                <a:gd name="T63" fmla="*/ 2147483646 h 272"/>
                <a:gd name="T64" fmla="*/ 2147483646 w 434"/>
                <a:gd name="T65" fmla="*/ 2147483646 h 272"/>
                <a:gd name="T66" fmla="*/ 2147483646 w 434"/>
                <a:gd name="T67" fmla="*/ 2147483646 h 272"/>
                <a:gd name="T68" fmla="*/ 2147483646 w 434"/>
                <a:gd name="T69" fmla="*/ 2147483646 h 272"/>
                <a:gd name="T70" fmla="*/ 2147483646 w 434"/>
                <a:gd name="T71" fmla="*/ 2147483646 h 272"/>
                <a:gd name="T72" fmla="*/ 2147483646 w 434"/>
                <a:gd name="T73" fmla="*/ 2147483646 h 272"/>
                <a:gd name="T74" fmla="*/ 2147483646 w 434"/>
                <a:gd name="T75" fmla="*/ 2147483646 h 272"/>
                <a:gd name="T76" fmla="*/ 2147483646 w 434"/>
                <a:gd name="T77" fmla="*/ 2147483646 h 272"/>
                <a:gd name="T78" fmla="*/ 2147483646 w 434"/>
                <a:gd name="T79" fmla="*/ 2147483646 h 272"/>
                <a:gd name="T80" fmla="*/ 2147483646 w 434"/>
                <a:gd name="T81" fmla="*/ 2147483646 h 272"/>
                <a:gd name="T82" fmla="*/ 2147483646 w 434"/>
                <a:gd name="T83" fmla="*/ 2147483646 h 272"/>
                <a:gd name="T84" fmla="*/ 2147483646 w 434"/>
                <a:gd name="T85" fmla="*/ 2147483646 h 272"/>
                <a:gd name="T86" fmla="*/ 2147483646 w 434"/>
                <a:gd name="T87" fmla="*/ 2147483646 h 272"/>
                <a:gd name="T88" fmla="*/ 2147483646 w 434"/>
                <a:gd name="T89" fmla="*/ 2147483646 h 272"/>
                <a:gd name="T90" fmla="*/ 2147483646 w 434"/>
                <a:gd name="T91" fmla="*/ 2147483646 h 272"/>
                <a:gd name="T92" fmla="*/ 2147483646 w 434"/>
                <a:gd name="T93" fmla="*/ 2147483646 h 272"/>
                <a:gd name="T94" fmla="*/ 2147483646 w 434"/>
                <a:gd name="T95" fmla="*/ 2147483646 h 272"/>
                <a:gd name="T96" fmla="*/ 2147483646 w 434"/>
                <a:gd name="T97" fmla="*/ 2147483646 h 272"/>
                <a:gd name="T98" fmla="*/ 2147483646 w 434"/>
                <a:gd name="T99" fmla="*/ 2147483646 h 272"/>
                <a:gd name="T100" fmla="*/ 2147483646 w 434"/>
                <a:gd name="T101" fmla="*/ 2147483646 h 27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434" h="272">
                  <a:moveTo>
                    <a:pt x="396" y="8"/>
                  </a:moveTo>
                  <a:lnTo>
                    <a:pt x="396" y="8"/>
                  </a:lnTo>
                  <a:lnTo>
                    <a:pt x="394" y="12"/>
                  </a:lnTo>
                  <a:lnTo>
                    <a:pt x="388" y="14"/>
                  </a:lnTo>
                  <a:lnTo>
                    <a:pt x="358" y="12"/>
                  </a:lnTo>
                  <a:lnTo>
                    <a:pt x="330" y="6"/>
                  </a:lnTo>
                  <a:lnTo>
                    <a:pt x="314" y="0"/>
                  </a:lnTo>
                  <a:lnTo>
                    <a:pt x="270" y="42"/>
                  </a:lnTo>
                  <a:lnTo>
                    <a:pt x="272" y="60"/>
                  </a:lnTo>
                  <a:lnTo>
                    <a:pt x="268" y="62"/>
                  </a:lnTo>
                  <a:lnTo>
                    <a:pt x="246" y="64"/>
                  </a:lnTo>
                  <a:lnTo>
                    <a:pt x="228" y="62"/>
                  </a:lnTo>
                  <a:lnTo>
                    <a:pt x="222" y="62"/>
                  </a:lnTo>
                  <a:lnTo>
                    <a:pt x="218" y="60"/>
                  </a:lnTo>
                  <a:lnTo>
                    <a:pt x="214" y="56"/>
                  </a:lnTo>
                  <a:lnTo>
                    <a:pt x="212" y="52"/>
                  </a:lnTo>
                  <a:lnTo>
                    <a:pt x="208" y="2"/>
                  </a:lnTo>
                  <a:lnTo>
                    <a:pt x="168" y="0"/>
                  </a:lnTo>
                  <a:lnTo>
                    <a:pt x="152" y="36"/>
                  </a:lnTo>
                  <a:lnTo>
                    <a:pt x="150" y="20"/>
                  </a:lnTo>
                  <a:lnTo>
                    <a:pt x="148" y="6"/>
                  </a:lnTo>
                  <a:lnTo>
                    <a:pt x="144" y="0"/>
                  </a:lnTo>
                  <a:lnTo>
                    <a:pt x="128" y="8"/>
                  </a:lnTo>
                  <a:lnTo>
                    <a:pt x="120" y="18"/>
                  </a:lnTo>
                  <a:lnTo>
                    <a:pt x="118" y="20"/>
                  </a:lnTo>
                  <a:lnTo>
                    <a:pt x="102" y="24"/>
                  </a:lnTo>
                  <a:lnTo>
                    <a:pt x="78" y="48"/>
                  </a:lnTo>
                  <a:lnTo>
                    <a:pt x="56" y="70"/>
                  </a:lnTo>
                  <a:lnTo>
                    <a:pt x="12" y="128"/>
                  </a:lnTo>
                  <a:lnTo>
                    <a:pt x="22" y="148"/>
                  </a:lnTo>
                  <a:lnTo>
                    <a:pt x="22" y="152"/>
                  </a:lnTo>
                  <a:lnTo>
                    <a:pt x="20" y="152"/>
                  </a:lnTo>
                  <a:lnTo>
                    <a:pt x="20" y="156"/>
                  </a:lnTo>
                  <a:lnTo>
                    <a:pt x="20" y="160"/>
                  </a:lnTo>
                  <a:lnTo>
                    <a:pt x="24" y="172"/>
                  </a:lnTo>
                  <a:lnTo>
                    <a:pt x="32" y="188"/>
                  </a:lnTo>
                  <a:lnTo>
                    <a:pt x="34" y="198"/>
                  </a:lnTo>
                  <a:lnTo>
                    <a:pt x="34" y="206"/>
                  </a:lnTo>
                  <a:lnTo>
                    <a:pt x="34" y="208"/>
                  </a:lnTo>
                  <a:lnTo>
                    <a:pt x="0" y="228"/>
                  </a:lnTo>
                  <a:lnTo>
                    <a:pt x="0" y="236"/>
                  </a:lnTo>
                  <a:lnTo>
                    <a:pt x="16" y="244"/>
                  </a:lnTo>
                  <a:lnTo>
                    <a:pt x="18" y="248"/>
                  </a:lnTo>
                  <a:lnTo>
                    <a:pt x="18" y="252"/>
                  </a:lnTo>
                  <a:lnTo>
                    <a:pt x="22" y="256"/>
                  </a:lnTo>
                  <a:lnTo>
                    <a:pt x="36" y="264"/>
                  </a:lnTo>
                  <a:lnTo>
                    <a:pt x="64" y="272"/>
                  </a:lnTo>
                  <a:lnTo>
                    <a:pt x="74" y="266"/>
                  </a:lnTo>
                  <a:lnTo>
                    <a:pt x="84" y="252"/>
                  </a:lnTo>
                  <a:lnTo>
                    <a:pt x="92" y="230"/>
                  </a:lnTo>
                  <a:lnTo>
                    <a:pt x="114" y="238"/>
                  </a:lnTo>
                  <a:lnTo>
                    <a:pt x="118" y="240"/>
                  </a:lnTo>
                  <a:lnTo>
                    <a:pt x="118" y="242"/>
                  </a:lnTo>
                  <a:lnTo>
                    <a:pt x="118" y="244"/>
                  </a:lnTo>
                  <a:lnTo>
                    <a:pt x="116" y="250"/>
                  </a:lnTo>
                  <a:lnTo>
                    <a:pt x="116" y="256"/>
                  </a:lnTo>
                  <a:lnTo>
                    <a:pt x="118" y="260"/>
                  </a:lnTo>
                  <a:lnTo>
                    <a:pt x="124" y="264"/>
                  </a:lnTo>
                  <a:lnTo>
                    <a:pt x="148" y="264"/>
                  </a:lnTo>
                  <a:lnTo>
                    <a:pt x="160" y="260"/>
                  </a:lnTo>
                  <a:lnTo>
                    <a:pt x="170" y="256"/>
                  </a:lnTo>
                  <a:lnTo>
                    <a:pt x="172" y="252"/>
                  </a:lnTo>
                  <a:lnTo>
                    <a:pt x="176" y="252"/>
                  </a:lnTo>
                  <a:lnTo>
                    <a:pt x="184" y="252"/>
                  </a:lnTo>
                  <a:lnTo>
                    <a:pt x="198" y="256"/>
                  </a:lnTo>
                  <a:lnTo>
                    <a:pt x="202" y="258"/>
                  </a:lnTo>
                  <a:lnTo>
                    <a:pt x="208" y="264"/>
                  </a:lnTo>
                  <a:lnTo>
                    <a:pt x="212" y="250"/>
                  </a:lnTo>
                  <a:lnTo>
                    <a:pt x="214" y="248"/>
                  </a:lnTo>
                  <a:lnTo>
                    <a:pt x="216" y="248"/>
                  </a:lnTo>
                  <a:lnTo>
                    <a:pt x="220" y="242"/>
                  </a:lnTo>
                  <a:lnTo>
                    <a:pt x="224" y="236"/>
                  </a:lnTo>
                  <a:lnTo>
                    <a:pt x="230" y="228"/>
                  </a:lnTo>
                  <a:lnTo>
                    <a:pt x="238" y="220"/>
                  </a:lnTo>
                  <a:lnTo>
                    <a:pt x="248" y="214"/>
                  </a:lnTo>
                  <a:lnTo>
                    <a:pt x="250" y="212"/>
                  </a:lnTo>
                  <a:lnTo>
                    <a:pt x="250" y="214"/>
                  </a:lnTo>
                  <a:lnTo>
                    <a:pt x="252" y="214"/>
                  </a:lnTo>
                  <a:lnTo>
                    <a:pt x="258" y="216"/>
                  </a:lnTo>
                  <a:lnTo>
                    <a:pt x="260" y="216"/>
                  </a:lnTo>
                  <a:lnTo>
                    <a:pt x="268" y="176"/>
                  </a:lnTo>
                  <a:lnTo>
                    <a:pt x="280" y="172"/>
                  </a:lnTo>
                  <a:lnTo>
                    <a:pt x="290" y="166"/>
                  </a:lnTo>
                  <a:lnTo>
                    <a:pt x="296" y="160"/>
                  </a:lnTo>
                  <a:lnTo>
                    <a:pt x="298" y="156"/>
                  </a:lnTo>
                  <a:lnTo>
                    <a:pt x="300" y="150"/>
                  </a:lnTo>
                  <a:lnTo>
                    <a:pt x="296" y="138"/>
                  </a:lnTo>
                  <a:lnTo>
                    <a:pt x="294" y="128"/>
                  </a:lnTo>
                  <a:lnTo>
                    <a:pt x="296" y="122"/>
                  </a:lnTo>
                  <a:lnTo>
                    <a:pt x="298" y="120"/>
                  </a:lnTo>
                  <a:lnTo>
                    <a:pt x="302" y="120"/>
                  </a:lnTo>
                  <a:lnTo>
                    <a:pt x="310" y="120"/>
                  </a:lnTo>
                  <a:lnTo>
                    <a:pt x="320" y="124"/>
                  </a:lnTo>
                  <a:lnTo>
                    <a:pt x="322" y="112"/>
                  </a:lnTo>
                  <a:lnTo>
                    <a:pt x="322" y="110"/>
                  </a:lnTo>
                  <a:lnTo>
                    <a:pt x="322" y="108"/>
                  </a:lnTo>
                  <a:lnTo>
                    <a:pt x="336" y="102"/>
                  </a:lnTo>
                  <a:lnTo>
                    <a:pt x="338" y="96"/>
                  </a:lnTo>
                  <a:lnTo>
                    <a:pt x="330" y="96"/>
                  </a:lnTo>
                  <a:lnTo>
                    <a:pt x="328" y="94"/>
                  </a:lnTo>
                  <a:lnTo>
                    <a:pt x="328" y="90"/>
                  </a:lnTo>
                  <a:lnTo>
                    <a:pt x="328" y="88"/>
                  </a:lnTo>
                  <a:lnTo>
                    <a:pt x="330" y="86"/>
                  </a:lnTo>
                  <a:lnTo>
                    <a:pt x="332" y="86"/>
                  </a:lnTo>
                  <a:lnTo>
                    <a:pt x="334" y="86"/>
                  </a:lnTo>
                  <a:lnTo>
                    <a:pt x="342" y="84"/>
                  </a:lnTo>
                  <a:lnTo>
                    <a:pt x="352" y="76"/>
                  </a:lnTo>
                  <a:lnTo>
                    <a:pt x="404" y="40"/>
                  </a:lnTo>
                  <a:lnTo>
                    <a:pt x="420" y="48"/>
                  </a:lnTo>
                  <a:lnTo>
                    <a:pt x="428" y="48"/>
                  </a:lnTo>
                  <a:lnTo>
                    <a:pt x="424" y="30"/>
                  </a:lnTo>
                  <a:lnTo>
                    <a:pt x="424" y="28"/>
                  </a:lnTo>
                  <a:lnTo>
                    <a:pt x="434" y="12"/>
                  </a:lnTo>
                  <a:lnTo>
                    <a:pt x="432" y="12"/>
                  </a:lnTo>
                  <a:lnTo>
                    <a:pt x="426" y="12"/>
                  </a:lnTo>
                  <a:lnTo>
                    <a:pt x="426" y="14"/>
                  </a:lnTo>
                  <a:lnTo>
                    <a:pt x="424" y="14"/>
                  </a:lnTo>
                  <a:lnTo>
                    <a:pt x="408" y="16"/>
                  </a:lnTo>
                  <a:lnTo>
                    <a:pt x="404" y="16"/>
                  </a:lnTo>
                  <a:lnTo>
                    <a:pt x="404" y="12"/>
                  </a:lnTo>
                  <a:lnTo>
                    <a:pt x="400" y="8"/>
                  </a:lnTo>
                  <a:lnTo>
                    <a:pt x="396" y="8"/>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47" name="上海"/>
            <p:cNvSpPr/>
            <p:nvPr/>
          </p:nvSpPr>
          <p:spPr bwMode="auto">
            <a:xfrm>
              <a:off x="9488576" y="-159125"/>
              <a:ext cx="95048" cy="82838"/>
            </a:xfrm>
            <a:custGeom>
              <a:avLst/>
              <a:gdLst>
                <a:gd name="T0" fmla="*/ 2147483646 w 68"/>
                <a:gd name="T1" fmla="*/ 2147483646 h 60"/>
                <a:gd name="T2" fmla="*/ 2147483646 w 68"/>
                <a:gd name="T3" fmla="*/ 2147483646 h 60"/>
                <a:gd name="T4" fmla="*/ 2147483646 w 68"/>
                <a:gd name="T5" fmla="*/ 2147483646 h 60"/>
                <a:gd name="T6" fmla="*/ 2147483646 w 68"/>
                <a:gd name="T7" fmla="*/ 2147483646 h 60"/>
                <a:gd name="T8" fmla="*/ 2147483646 w 68"/>
                <a:gd name="T9" fmla="*/ 2147483646 h 60"/>
                <a:gd name="T10" fmla="*/ 2147483646 w 68"/>
                <a:gd name="T11" fmla="*/ 2147483646 h 60"/>
                <a:gd name="T12" fmla="*/ 2147483646 w 68"/>
                <a:gd name="T13" fmla="*/ 2147483646 h 60"/>
                <a:gd name="T14" fmla="*/ 2147483646 w 68"/>
                <a:gd name="T15" fmla="*/ 2147483646 h 60"/>
                <a:gd name="T16" fmla="*/ 2147483646 w 68"/>
                <a:gd name="T17" fmla="*/ 0 h 60"/>
                <a:gd name="T18" fmla="*/ 2147483646 w 68"/>
                <a:gd name="T19" fmla="*/ 0 h 60"/>
                <a:gd name="T20" fmla="*/ 2147483646 w 68"/>
                <a:gd name="T21" fmla="*/ 0 h 60"/>
                <a:gd name="T22" fmla="*/ 2147483646 w 68"/>
                <a:gd name="T23" fmla="*/ 2147483646 h 60"/>
                <a:gd name="T24" fmla="*/ 2147483646 w 68"/>
                <a:gd name="T25" fmla="*/ 2147483646 h 60"/>
                <a:gd name="T26" fmla="*/ 2147483646 w 68"/>
                <a:gd name="T27" fmla="*/ 2147483646 h 60"/>
                <a:gd name="T28" fmla="*/ 2147483646 w 68"/>
                <a:gd name="T29" fmla="*/ 2147483646 h 60"/>
                <a:gd name="T30" fmla="*/ 2147483646 w 68"/>
                <a:gd name="T31" fmla="*/ 2147483646 h 60"/>
                <a:gd name="T32" fmla="*/ 0 w 68"/>
                <a:gd name="T33" fmla="*/ 2147483646 h 60"/>
                <a:gd name="T34" fmla="*/ 2147483646 w 68"/>
                <a:gd name="T35" fmla="*/ 2147483646 h 60"/>
                <a:gd name="T36" fmla="*/ 2147483646 w 68"/>
                <a:gd name="T37" fmla="*/ 2147483646 h 60"/>
                <a:gd name="T38" fmla="*/ 2147483646 w 68"/>
                <a:gd name="T39" fmla="*/ 2147483646 h 60"/>
                <a:gd name="T40" fmla="*/ 2147483646 w 68"/>
                <a:gd name="T41" fmla="*/ 2147483646 h 60"/>
                <a:gd name="T42" fmla="*/ 2147483646 w 68"/>
                <a:gd name="T43" fmla="*/ 2147483646 h 60"/>
                <a:gd name="T44" fmla="*/ 2147483646 w 68"/>
                <a:gd name="T45" fmla="*/ 2147483646 h 60"/>
                <a:gd name="T46" fmla="*/ 2147483646 w 68"/>
                <a:gd name="T47" fmla="*/ 2147483646 h 60"/>
                <a:gd name="T48" fmla="*/ 2147483646 w 68"/>
                <a:gd name="T49" fmla="*/ 2147483646 h 60"/>
                <a:gd name="T50" fmla="*/ 2147483646 w 68"/>
                <a:gd name="T51" fmla="*/ 2147483646 h 60"/>
                <a:gd name="T52" fmla="*/ 2147483646 w 68"/>
                <a:gd name="T53" fmla="*/ 2147483646 h 60"/>
                <a:gd name="T54" fmla="*/ 2147483646 w 68"/>
                <a:gd name="T55" fmla="*/ 2147483646 h 60"/>
                <a:gd name="T56" fmla="*/ 2147483646 w 68"/>
                <a:gd name="T57" fmla="*/ 2147483646 h 60"/>
                <a:gd name="T58" fmla="*/ 2147483646 w 68"/>
                <a:gd name="T59" fmla="*/ 2147483646 h 60"/>
                <a:gd name="T60" fmla="*/ 2147483646 w 68"/>
                <a:gd name="T61" fmla="*/ 2147483646 h 60"/>
                <a:gd name="T62" fmla="*/ 2147483646 w 68"/>
                <a:gd name="T63" fmla="*/ 2147483646 h 6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68" h="60">
                  <a:moveTo>
                    <a:pt x="62" y="32"/>
                  </a:moveTo>
                  <a:lnTo>
                    <a:pt x="68" y="24"/>
                  </a:lnTo>
                  <a:lnTo>
                    <a:pt x="48" y="8"/>
                  </a:lnTo>
                  <a:lnTo>
                    <a:pt x="40" y="4"/>
                  </a:lnTo>
                  <a:lnTo>
                    <a:pt x="34" y="0"/>
                  </a:lnTo>
                  <a:lnTo>
                    <a:pt x="28" y="0"/>
                  </a:lnTo>
                  <a:lnTo>
                    <a:pt x="22" y="0"/>
                  </a:lnTo>
                  <a:lnTo>
                    <a:pt x="14" y="2"/>
                  </a:lnTo>
                  <a:lnTo>
                    <a:pt x="14" y="20"/>
                  </a:lnTo>
                  <a:lnTo>
                    <a:pt x="10" y="28"/>
                  </a:lnTo>
                  <a:lnTo>
                    <a:pt x="4" y="36"/>
                  </a:lnTo>
                  <a:lnTo>
                    <a:pt x="0" y="40"/>
                  </a:lnTo>
                  <a:lnTo>
                    <a:pt x="8" y="48"/>
                  </a:lnTo>
                  <a:lnTo>
                    <a:pt x="10" y="48"/>
                  </a:lnTo>
                  <a:lnTo>
                    <a:pt x="12" y="56"/>
                  </a:lnTo>
                  <a:lnTo>
                    <a:pt x="22" y="60"/>
                  </a:lnTo>
                  <a:lnTo>
                    <a:pt x="28" y="56"/>
                  </a:lnTo>
                  <a:lnTo>
                    <a:pt x="34" y="54"/>
                  </a:lnTo>
                  <a:lnTo>
                    <a:pt x="52" y="58"/>
                  </a:lnTo>
                  <a:lnTo>
                    <a:pt x="52" y="52"/>
                  </a:lnTo>
                  <a:lnTo>
                    <a:pt x="54" y="44"/>
                  </a:lnTo>
                  <a:lnTo>
                    <a:pt x="56" y="38"/>
                  </a:lnTo>
                  <a:lnTo>
                    <a:pt x="58" y="34"/>
                  </a:lnTo>
                  <a:lnTo>
                    <a:pt x="62" y="32"/>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48" name="江苏"/>
            <p:cNvSpPr/>
            <p:nvPr/>
          </p:nvSpPr>
          <p:spPr bwMode="auto">
            <a:xfrm>
              <a:off x="9044087" y="-476673"/>
              <a:ext cx="528355" cy="403147"/>
            </a:xfrm>
            <a:custGeom>
              <a:avLst/>
              <a:gdLst>
                <a:gd name="T0" fmla="*/ 2147483646 w 378"/>
                <a:gd name="T1" fmla="*/ 2147483646 h 292"/>
                <a:gd name="T2" fmla="*/ 2147483646 w 378"/>
                <a:gd name="T3" fmla="*/ 2147483646 h 292"/>
                <a:gd name="T4" fmla="*/ 2147483646 w 378"/>
                <a:gd name="T5" fmla="*/ 2147483646 h 292"/>
                <a:gd name="T6" fmla="*/ 2147483646 w 378"/>
                <a:gd name="T7" fmla="*/ 2147483646 h 292"/>
                <a:gd name="T8" fmla="*/ 2147483646 w 378"/>
                <a:gd name="T9" fmla="*/ 2147483646 h 292"/>
                <a:gd name="T10" fmla="*/ 2147483646 w 378"/>
                <a:gd name="T11" fmla="*/ 0 h 292"/>
                <a:gd name="T12" fmla="*/ 2147483646 w 378"/>
                <a:gd name="T13" fmla="*/ 2147483646 h 292"/>
                <a:gd name="T14" fmla="*/ 2147483646 w 378"/>
                <a:gd name="T15" fmla="*/ 2147483646 h 292"/>
                <a:gd name="T16" fmla="*/ 2147483646 w 378"/>
                <a:gd name="T17" fmla="*/ 2147483646 h 292"/>
                <a:gd name="T18" fmla="*/ 2147483646 w 378"/>
                <a:gd name="T19" fmla="*/ 2147483646 h 292"/>
                <a:gd name="T20" fmla="*/ 2147483646 w 378"/>
                <a:gd name="T21" fmla="*/ 2147483646 h 292"/>
                <a:gd name="T22" fmla="*/ 2147483646 w 378"/>
                <a:gd name="T23" fmla="*/ 2147483646 h 292"/>
                <a:gd name="T24" fmla="*/ 2147483646 w 378"/>
                <a:gd name="T25" fmla="*/ 2147483646 h 292"/>
                <a:gd name="T26" fmla="*/ 2147483646 w 378"/>
                <a:gd name="T27" fmla="*/ 2147483646 h 292"/>
                <a:gd name="T28" fmla="*/ 2147483646 w 378"/>
                <a:gd name="T29" fmla="*/ 2147483646 h 292"/>
                <a:gd name="T30" fmla="*/ 2147483646 w 378"/>
                <a:gd name="T31" fmla="*/ 2147483646 h 292"/>
                <a:gd name="T32" fmla="*/ 2147483646 w 378"/>
                <a:gd name="T33" fmla="*/ 2147483646 h 292"/>
                <a:gd name="T34" fmla="*/ 2147483646 w 378"/>
                <a:gd name="T35" fmla="*/ 2147483646 h 292"/>
                <a:gd name="T36" fmla="*/ 2147483646 w 378"/>
                <a:gd name="T37" fmla="*/ 2147483646 h 292"/>
                <a:gd name="T38" fmla="*/ 2147483646 w 378"/>
                <a:gd name="T39" fmla="*/ 2147483646 h 292"/>
                <a:gd name="T40" fmla="*/ 2147483646 w 378"/>
                <a:gd name="T41" fmla="*/ 2147483646 h 292"/>
                <a:gd name="T42" fmla="*/ 2147483646 w 378"/>
                <a:gd name="T43" fmla="*/ 2147483646 h 292"/>
                <a:gd name="T44" fmla="*/ 2147483646 w 378"/>
                <a:gd name="T45" fmla="*/ 2147483646 h 292"/>
                <a:gd name="T46" fmla="*/ 2147483646 w 378"/>
                <a:gd name="T47" fmla="*/ 2147483646 h 292"/>
                <a:gd name="T48" fmla="*/ 2147483646 w 378"/>
                <a:gd name="T49" fmla="*/ 2147483646 h 292"/>
                <a:gd name="T50" fmla="*/ 2147483646 w 378"/>
                <a:gd name="T51" fmla="*/ 2147483646 h 292"/>
                <a:gd name="T52" fmla="*/ 2147483646 w 378"/>
                <a:gd name="T53" fmla="*/ 2147483646 h 292"/>
                <a:gd name="T54" fmla="*/ 2147483646 w 378"/>
                <a:gd name="T55" fmla="*/ 2147483646 h 292"/>
                <a:gd name="T56" fmla="*/ 2147483646 w 378"/>
                <a:gd name="T57" fmla="*/ 2147483646 h 292"/>
                <a:gd name="T58" fmla="*/ 2147483646 w 378"/>
                <a:gd name="T59" fmla="*/ 2147483646 h 292"/>
                <a:gd name="T60" fmla="*/ 2147483646 w 378"/>
                <a:gd name="T61" fmla="*/ 2147483646 h 292"/>
                <a:gd name="T62" fmla="*/ 2147483646 w 378"/>
                <a:gd name="T63" fmla="*/ 2147483646 h 292"/>
                <a:gd name="T64" fmla="*/ 2147483646 w 378"/>
                <a:gd name="T65" fmla="*/ 2147483646 h 292"/>
                <a:gd name="T66" fmla="*/ 2147483646 w 378"/>
                <a:gd name="T67" fmla="*/ 2147483646 h 292"/>
                <a:gd name="T68" fmla="*/ 2147483646 w 378"/>
                <a:gd name="T69" fmla="*/ 2147483646 h 292"/>
                <a:gd name="T70" fmla="*/ 2147483646 w 378"/>
                <a:gd name="T71" fmla="*/ 2147483646 h 292"/>
                <a:gd name="T72" fmla="*/ 2147483646 w 378"/>
                <a:gd name="T73" fmla="*/ 2147483646 h 292"/>
                <a:gd name="T74" fmla="*/ 2147483646 w 378"/>
                <a:gd name="T75" fmla="*/ 2147483646 h 292"/>
                <a:gd name="T76" fmla="*/ 2147483646 w 378"/>
                <a:gd name="T77" fmla="*/ 2147483646 h 292"/>
                <a:gd name="T78" fmla="*/ 2147483646 w 378"/>
                <a:gd name="T79" fmla="*/ 2147483646 h 292"/>
                <a:gd name="T80" fmla="*/ 2147483646 w 378"/>
                <a:gd name="T81" fmla="*/ 2147483646 h 292"/>
                <a:gd name="T82" fmla="*/ 2147483646 w 378"/>
                <a:gd name="T83" fmla="*/ 2147483646 h 292"/>
                <a:gd name="T84" fmla="*/ 2147483646 w 378"/>
                <a:gd name="T85" fmla="*/ 2147483646 h 292"/>
                <a:gd name="T86" fmla="*/ 2147483646 w 378"/>
                <a:gd name="T87" fmla="*/ 2147483646 h 292"/>
                <a:gd name="T88" fmla="*/ 2147483646 w 378"/>
                <a:gd name="T89" fmla="*/ 2147483646 h 292"/>
                <a:gd name="T90" fmla="*/ 2147483646 w 378"/>
                <a:gd name="T91" fmla="*/ 2147483646 h 292"/>
                <a:gd name="T92" fmla="*/ 2147483646 w 378"/>
                <a:gd name="T93" fmla="*/ 2147483646 h 292"/>
                <a:gd name="T94" fmla="*/ 2147483646 w 378"/>
                <a:gd name="T95" fmla="*/ 2147483646 h 292"/>
                <a:gd name="T96" fmla="*/ 2147483646 w 378"/>
                <a:gd name="T97" fmla="*/ 2147483646 h 292"/>
                <a:gd name="T98" fmla="*/ 2147483646 w 378"/>
                <a:gd name="T99" fmla="*/ 2147483646 h 292"/>
                <a:gd name="T100" fmla="*/ 2147483646 w 378"/>
                <a:gd name="T101" fmla="*/ 2147483646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78" h="292">
                  <a:moveTo>
                    <a:pt x="264" y="86"/>
                  </a:moveTo>
                  <a:lnTo>
                    <a:pt x="264" y="86"/>
                  </a:lnTo>
                  <a:lnTo>
                    <a:pt x="258" y="78"/>
                  </a:lnTo>
                  <a:lnTo>
                    <a:pt x="252" y="70"/>
                  </a:lnTo>
                  <a:lnTo>
                    <a:pt x="240" y="46"/>
                  </a:lnTo>
                  <a:lnTo>
                    <a:pt x="226" y="44"/>
                  </a:lnTo>
                  <a:lnTo>
                    <a:pt x="214" y="42"/>
                  </a:lnTo>
                  <a:lnTo>
                    <a:pt x="204" y="38"/>
                  </a:lnTo>
                  <a:lnTo>
                    <a:pt x="198" y="34"/>
                  </a:lnTo>
                  <a:lnTo>
                    <a:pt x="194" y="28"/>
                  </a:lnTo>
                  <a:lnTo>
                    <a:pt x="188" y="24"/>
                  </a:lnTo>
                  <a:lnTo>
                    <a:pt x="170" y="18"/>
                  </a:lnTo>
                  <a:lnTo>
                    <a:pt x="166" y="16"/>
                  </a:lnTo>
                  <a:lnTo>
                    <a:pt x="170" y="2"/>
                  </a:lnTo>
                  <a:lnTo>
                    <a:pt x="168" y="2"/>
                  </a:lnTo>
                  <a:lnTo>
                    <a:pt x="164" y="0"/>
                  </a:lnTo>
                  <a:lnTo>
                    <a:pt x="152" y="8"/>
                  </a:lnTo>
                  <a:lnTo>
                    <a:pt x="148" y="12"/>
                  </a:lnTo>
                  <a:lnTo>
                    <a:pt x="144" y="16"/>
                  </a:lnTo>
                  <a:lnTo>
                    <a:pt x="140" y="26"/>
                  </a:lnTo>
                  <a:lnTo>
                    <a:pt x="132" y="32"/>
                  </a:lnTo>
                  <a:lnTo>
                    <a:pt x="126" y="46"/>
                  </a:lnTo>
                  <a:lnTo>
                    <a:pt x="124" y="50"/>
                  </a:lnTo>
                  <a:lnTo>
                    <a:pt x="120" y="52"/>
                  </a:lnTo>
                  <a:lnTo>
                    <a:pt x="118" y="52"/>
                  </a:lnTo>
                  <a:lnTo>
                    <a:pt x="116" y="48"/>
                  </a:lnTo>
                  <a:lnTo>
                    <a:pt x="108" y="42"/>
                  </a:lnTo>
                  <a:lnTo>
                    <a:pt x="102" y="40"/>
                  </a:lnTo>
                  <a:lnTo>
                    <a:pt x="96" y="38"/>
                  </a:lnTo>
                  <a:lnTo>
                    <a:pt x="88" y="40"/>
                  </a:lnTo>
                  <a:lnTo>
                    <a:pt x="76" y="46"/>
                  </a:lnTo>
                  <a:lnTo>
                    <a:pt x="62" y="50"/>
                  </a:lnTo>
                  <a:lnTo>
                    <a:pt x="32" y="50"/>
                  </a:lnTo>
                  <a:lnTo>
                    <a:pt x="26" y="44"/>
                  </a:lnTo>
                  <a:lnTo>
                    <a:pt x="22" y="38"/>
                  </a:lnTo>
                  <a:lnTo>
                    <a:pt x="20" y="32"/>
                  </a:lnTo>
                  <a:lnTo>
                    <a:pt x="20" y="22"/>
                  </a:lnTo>
                  <a:lnTo>
                    <a:pt x="8" y="18"/>
                  </a:lnTo>
                  <a:lnTo>
                    <a:pt x="4" y="34"/>
                  </a:lnTo>
                  <a:lnTo>
                    <a:pt x="4" y="36"/>
                  </a:lnTo>
                  <a:lnTo>
                    <a:pt x="2" y="36"/>
                  </a:lnTo>
                  <a:lnTo>
                    <a:pt x="0" y="40"/>
                  </a:lnTo>
                  <a:lnTo>
                    <a:pt x="8" y="42"/>
                  </a:lnTo>
                  <a:lnTo>
                    <a:pt x="10" y="42"/>
                  </a:lnTo>
                  <a:lnTo>
                    <a:pt x="28" y="66"/>
                  </a:lnTo>
                  <a:lnTo>
                    <a:pt x="40" y="76"/>
                  </a:lnTo>
                  <a:lnTo>
                    <a:pt x="68" y="86"/>
                  </a:lnTo>
                  <a:lnTo>
                    <a:pt x="98" y="96"/>
                  </a:lnTo>
                  <a:lnTo>
                    <a:pt x="104" y="102"/>
                  </a:lnTo>
                  <a:lnTo>
                    <a:pt x="112" y="112"/>
                  </a:lnTo>
                  <a:lnTo>
                    <a:pt x="118" y="128"/>
                  </a:lnTo>
                  <a:lnTo>
                    <a:pt x="124" y="150"/>
                  </a:lnTo>
                  <a:lnTo>
                    <a:pt x="140" y="158"/>
                  </a:lnTo>
                  <a:lnTo>
                    <a:pt x="146" y="162"/>
                  </a:lnTo>
                  <a:lnTo>
                    <a:pt x="152" y="162"/>
                  </a:lnTo>
                  <a:lnTo>
                    <a:pt x="180" y="144"/>
                  </a:lnTo>
                  <a:lnTo>
                    <a:pt x="182" y="142"/>
                  </a:lnTo>
                  <a:lnTo>
                    <a:pt x="184" y="144"/>
                  </a:lnTo>
                  <a:lnTo>
                    <a:pt x="198" y="146"/>
                  </a:lnTo>
                  <a:lnTo>
                    <a:pt x="200" y="146"/>
                  </a:lnTo>
                  <a:lnTo>
                    <a:pt x="200" y="150"/>
                  </a:lnTo>
                  <a:lnTo>
                    <a:pt x="198" y="152"/>
                  </a:lnTo>
                  <a:lnTo>
                    <a:pt x="192" y="174"/>
                  </a:lnTo>
                  <a:lnTo>
                    <a:pt x="186" y="186"/>
                  </a:lnTo>
                  <a:lnTo>
                    <a:pt x="168" y="186"/>
                  </a:lnTo>
                  <a:lnTo>
                    <a:pt x="166" y="194"/>
                  </a:lnTo>
                  <a:lnTo>
                    <a:pt x="164" y="202"/>
                  </a:lnTo>
                  <a:lnTo>
                    <a:pt x="152" y="222"/>
                  </a:lnTo>
                  <a:lnTo>
                    <a:pt x="148" y="228"/>
                  </a:lnTo>
                  <a:lnTo>
                    <a:pt x="148" y="234"/>
                  </a:lnTo>
                  <a:lnTo>
                    <a:pt x="166" y="246"/>
                  </a:lnTo>
                  <a:lnTo>
                    <a:pt x="172" y="252"/>
                  </a:lnTo>
                  <a:lnTo>
                    <a:pt x="178" y="254"/>
                  </a:lnTo>
                  <a:lnTo>
                    <a:pt x="182" y="254"/>
                  </a:lnTo>
                  <a:lnTo>
                    <a:pt x="186" y="266"/>
                  </a:lnTo>
                  <a:lnTo>
                    <a:pt x="194" y="270"/>
                  </a:lnTo>
                  <a:lnTo>
                    <a:pt x="200" y="266"/>
                  </a:lnTo>
                  <a:lnTo>
                    <a:pt x="204" y="262"/>
                  </a:lnTo>
                  <a:lnTo>
                    <a:pt x="208" y="262"/>
                  </a:lnTo>
                  <a:lnTo>
                    <a:pt x="214" y="264"/>
                  </a:lnTo>
                  <a:lnTo>
                    <a:pt x="218" y="266"/>
                  </a:lnTo>
                  <a:lnTo>
                    <a:pt x="224" y="270"/>
                  </a:lnTo>
                  <a:lnTo>
                    <a:pt x="230" y="278"/>
                  </a:lnTo>
                  <a:lnTo>
                    <a:pt x="236" y="286"/>
                  </a:lnTo>
                  <a:lnTo>
                    <a:pt x="238" y="286"/>
                  </a:lnTo>
                  <a:lnTo>
                    <a:pt x="242" y="284"/>
                  </a:lnTo>
                  <a:lnTo>
                    <a:pt x="248" y="284"/>
                  </a:lnTo>
                  <a:lnTo>
                    <a:pt x="264" y="288"/>
                  </a:lnTo>
                  <a:lnTo>
                    <a:pt x="284" y="292"/>
                  </a:lnTo>
                  <a:lnTo>
                    <a:pt x="304" y="286"/>
                  </a:lnTo>
                  <a:lnTo>
                    <a:pt x="312" y="282"/>
                  </a:lnTo>
                  <a:lnTo>
                    <a:pt x="318" y="278"/>
                  </a:lnTo>
                  <a:lnTo>
                    <a:pt x="312" y="272"/>
                  </a:lnTo>
                  <a:lnTo>
                    <a:pt x="312" y="268"/>
                  </a:lnTo>
                  <a:lnTo>
                    <a:pt x="316" y="262"/>
                  </a:lnTo>
                  <a:lnTo>
                    <a:pt x="322" y="256"/>
                  </a:lnTo>
                  <a:lnTo>
                    <a:pt x="324" y="248"/>
                  </a:lnTo>
                  <a:lnTo>
                    <a:pt x="324" y="238"/>
                  </a:lnTo>
                  <a:lnTo>
                    <a:pt x="324" y="232"/>
                  </a:lnTo>
                  <a:lnTo>
                    <a:pt x="326" y="230"/>
                  </a:lnTo>
                  <a:lnTo>
                    <a:pt x="330" y="226"/>
                  </a:lnTo>
                  <a:lnTo>
                    <a:pt x="340" y="222"/>
                  </a:lnTo>
                  <a:lnTo>
                    <a:pt x="348" y="222"/>
                  </a:lnTo>
                  <a:lnTo>
                    <a:pt x="356" y="226"/>
                  </a:lnTo>
                  <a:lnTo>
                    <a:pt x="366" y="230"/>
                  </a:lnTo>
                  <a:lnTo>
                    <a:pt x="378" y="238"/>
                  </a:lnTo>
                  <a:lnTo>
                    <a:pt x="372" y="222"/>
                  </a:lnTo>
                  <a:lnTo>
                    <a:pt x="364" y="210"/>
                  </a:lnTo>
                  <a:lnTo>
                    <a:pt x="362" y="196"/>
                  </a:lnTo>
                  <a:lnTo>
                    <a:pt x="348" y="194"/>
                  </a:lnTo>
                  <a:lnTo>
                    <a:pt x="312" y="172"/>
                  </a:lnTo>
                  <a:lnTo>
                    <a:pt x="294" y="170"/>
                  </a:lnTo>
                  <a:lnTo>
                    <a:pt x="294" y="166"/>
                  </a:lnTo>
                  <a:lnTo>
                    <a:pt x="292" y="146"/>
                  </a:lnTo>
                  <a:lnTo>
                    <a:pt x="276" y="106"/>
                  </a:lnTo>
                  <a:lnTo>
                    <a:pt x="270" y="94"/>
                  </a:lnTo>
                  <a:lnTo>
                    <a:pt x="264" y="86"/>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49" name="河北"/>
            <p:cNvSpPr/>
            <p:nvPr/>
          </p:nvSpPr>
          <p:spPr bwMode="auto">
            <a:xfrm>
              <a:off x="8767330" y="-1247069"/>
              <a:ext cx="492013" cy="693080"/>
            </a:xfrm>
            <a:custGeom>
              <a:avLst/>
              <a:gdLst>
                <a:gd name="T0" fmla="*/ 2147483646 w 352"/>
                <a:gd name="T1" fmla="*/ 2147483646 h 502"/>
                <a:gd name="T2" fmla="*/ 2147483646 w 352"/>
                <a:gd name="T3" fmla="*/ 2147483646 h 502"/>
                <a:gd name="T4" fmla="*/ 2147483646 w 352"/>
                <a:gd name="T5" fmla="*/ 2147483646 h 502"/>
                <a:gd name="T6" fmla="*/ 2147483646 w 352"/>
                <a:gd name="T7" fmla="*/ 2147483646 h 502"/>
                <a:gd name="T8" fmla="*/ 2147483646 w 352"/>
                <a:gd name="T9" fmla="*/ 2147483646 h 502"/>
                <a:gd name="T10" fmla="*/ 2147483646 w 352"/>
                <a:gd name="T11" fmla="*/ 2147483646 h 502"/>
                <a:gd name="T12" fmla="*/ 2147483646 w 352"/>
                <a:gd name="T13" fmla="*/ 2147483646 h 502"/>
                <a:gd name="T14" fmla="*/ 2147483646 w 352"/>
                <a:gd name="T15" fmla="*/ 2147483646 h 502"/>
                <a:gd name="T16" fmla="*/ 2147483646 w 352"/>
                <a:gd name="T17" fmla="*/ 2147483646 h 502"/>
                <a:gd name="T18" fmla="*/ 2147483646 w 352"/>
                <a:gd name="T19" fmla="*/ 2147483646 h 502"/>
                <a:gd name="T20" fmla="*/ 2147483646 w 352"/>
                <a:gd name="T21" fmla="*/ 2147483646 h 502"/>
                <a:gd name="T22" fmla="*/ 2147483646 w 352"/>
                <a:gd name="T23" fmla="*/ 2147483646 h 502"/>
                <a:gd name="T24" fmla="*/ 2147483646 w 352"/>
                <a:gd name="T25" fmla="*/ 2147483646 h 502"/>
                <a:gd name="T26" fmla="*/ 2147483646 w 352"/>
                <a:gd name="T27" fmla="*/ 2147483646 h 502"/>
                <a:gd name="T28" fmla="*/ 2147483646 w 352"/>
                <a:gd name="T29" fmla="*/ 2147483646 h 502"/>
                <a:gd name="T30" fmla="*/ 2147483646 w 352"/>
                <a:gd name="T31" fmla="*/ 2147483646 h 502"/>
                <a:gd name="T32" fmla="*/ 2147483646 w 352"/>
                <a:gd name="T33" fmla="*/ 2147483646 h 502"/>
                <a:gd name="T34" fmla="*/ 2147483646 w 352"/>
                <a:gd name="T35" fmla="*/ 2147483646 h 502"/>
                <a:gd name="T36" fmla="*/ 2147483646 w 352"/>
                <a:gd name="T37" fmla="*/ 2147483646 h 502"/>
                <a:gd name="T38" fmla="*/ 2147483646 w 352"/>
                <a:gd name="T39" fmla="*/ 2147483646 h 502"/>
                <a:gd name="T40" fmla="*/ 2147483646 w 352"/>
                <a:gd name="T41" fmla="*/ 2147483646 h 502"/>
                <a:gd name="T42" fmla="*/ 2147483646 w 352"/>
                <a:gd name="T43" fmla="*/ 2147483646 h 502"/>
                <a:gd name="T44" fmla="*/ 2147483646 w 352"/>
                <a:gd name="T45" fmla="*/ 2147483646 h 502"/>
                <a:gd name="T46" fmla="*/ 2147483646 w 352"/>
                <a:gd name="T47" fmla="*/ 2147483646 h 502"/>
                <a:gd name="T48" fmla="*/ 2147483646 w 352"/>
                <a:gd name="T49" fmla="*/ 2147483646 h 502"/>
                <a:gd name="T50" fmla="*/ 2147483646 w 352"/>
                <a:gd name="T51" fmla="*/ 2147483646 h 502"/>
                <a:gd name="T52" fmla="*/ 2147483646 w 352"/>
                <a:gd name="T53" fmla="*/ 2147483646 h 502"/>
                <a:gd name="T54" fmla="*/ 2147483646 w 352"/>
                <a:gd name="T55" fmla="*/ 2147483646 h 502"/>
                <a:gd name="T56" fmla="*/ 2147483646 w 352"/>
                <a:gd name="T57" fmla="*/ 2147483646 h 502"/>
                <a:gd name="T58" fmla="*/ 2147483646 w 352"/>
                <a:gd name="T59" fmla="*/ 2147483646 h 502"/>
                <a:gd name="T60" fmla="*/ 2147483646 w 352"/>
                <a:gd name="T61" fmla="*/ 2147483646 h 502"/>
                <a:gd name="T62" fmla="*/ 2147483646 w 352"/>
                <a:gd name="T63" fmla="*/ 2147483646 h 502"/>
                <a:gd name="T64" fmla="*/ 2147483646 w 352"/>
                <a:gd name="T65" fmla="*/ 2147483646 h 502"/>
                <a:gd name="T66" fmla="*/ 2147483646 w 352"/>
                <a:gd name="T67" fmla="*/ 2147483646 h 502"/>
                <a:gd name="T68" fmla="*/ 2147483646 w 352"/>
                <a:gd name="T69" fmla="*/ 2147483646 h 502"/>
                <a:gd name="T70" fmla="*/ 2147483646 w 352"/>
                <a:gd name="T71" fmla="*/ 2147483646 h 502"/>
                <a:gd name="T72" fmla="*/ 2147483646 w 352"/>
                <a:gd name="T73" fmla="*/ 2147483646 h 502"/>
                <a:gd name="T74" fmla="*/ 2147483646 w 352"/>
                <a:gd name="T75" fmla="*/ 2147483646 h 502"/>
                <a:gd name="T76" fmla="*/ 2147483646 w 352"/>
                <a:gd name="T77" fmla="*/ 2147483646 h 502"/>
                <a:gd name="T78" fmla="*/ 2147483646 w 352"/>
                <a:gd name="T79" fmla="*/ 2147483646 h 502"/>
                <a:gd name="T80" fmla="*/ 2147483646 w 352"/>
                <a:gd name="T81" fmla="*/ 2147483646 h 502"/>
                <a:gd name="T82" fmla="*/ 2147483646 w 352"/>
                <a:gd name="T83" fmla="*/ 2147483646 h 502"/>
                <a:gd name="T84" fmla="*/ 2147483646 w 352"/>
                <a:gd name="T85" fmla="*/ 2147483646 h 502"/>
                <a:gd name="T86" fmla="*/ 2147483646 w 352"/>
                <a:gd name="T87" fmla="*/ 2147483646 h 502"/>
                <a:gd name="T88" fmla="*/ 2147483646 w 352"/>
                <a:gd name="T89" fmla="*/ 2147483646 h 502"/>
                <a:gd name="T90" fmla="*/ 2147483646 w 352"/>
                <a:gd name="T91" fmla="*/ 2147483646 h 502"/>
                <a:gd name="T92" fmla="*/ 2147483646 w 352"/>
                <a:gd name="T93" fmla="*/ 2147483646 h 502"/>
                <a:gd name="T94" fmla="*/ 2147483646 w 352"/>
                <a:gd name="T95" fmla="*/ 2147483646 h 502"/>
                <a:gd name="T96" fmla="*/ 2147483646 w 352"/>
                <a:gd name="T97" fmla="*/ 2147483646 h 502"/>
                <a:gd name="T98" fmla="*/ 2147483646 w 352"/>
                <a:gd name="T99" fmla="*/ 2147483646 h 502"/>
                <a:gd name="T100" fmla="*/ 2147483646 w 352"/>
                <a:gd name="T101" fmla="*/ 2147483646 h 502"/>
                <a:gd name="T102" fmla="*/ 2147483646 w 352"/>
                <a:gd name="T103" fmla="*/ 2147483646 h 502"/>
                <a:gd name="T104" fmla="*/ 2147483646 w 352"/>
                <a:gd name="T105" fmla="*/ 2147483646 h 502"/>
                <a:gd name="T106" fmla="*/ 2147483646 w 352"/>
                <a:gd name="T107" fmla="*/ 2147483646 h 502"/>
                <a:gd name="T108" fmla="*/ 2147483646 w 352"/>
                <a:gd name="T109" fmla="*/ 2147483646 h 50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52" h="502">
                  <a:moveTo>
                    <a:pt x="324" y="152"/>
                  </a:moveTo>
                  <a:lnTo>
                    <a:pt x="318" y="148"/>
                  </a:lnTo>
                  <a:lnTo>
                    <a:pt x="316" y="148"/>
                  </a:lnTo>
                  <a:lnTo>
                    <a:pt x="312" y="144"/>
                  </a:lnTo>
                  <a:lnTo>
                    <a:pt x="290" y="136"/>
                  </a:lnTo>
                  <a:lnTo>
                    <a:pt x="284" y="136"/>
                  </a:lnTo>
                  <a:lnTo>
                    <a:pt x="280" y="138"/>
                  </a:lnTo>
                  <a:lnTo>
                    <a:pt x="270" y="122"/>
                  </a:lnTo>
                  <a:lnTo>
                    <a:pt x="272" y="120"/>
                  </a:lnTo>
                  <a:lnTo>
                    <a:pt x="278" y="112"/>
                  </a:lnTo>
                  <a:lnTo>
                    <a:pt x="278" y="104"/>
                  </a:lnTo>
                  <a:lnTo>
                    <a:pt x="278" y="102"/>
                  </a:lnTo>
                  <a:lnTo>
                    <a:pt x="282" y="96"/>
                  </a:lnTo>
                  <a:lnTo>
                    <a:pt x="280" y="94"/>
                  </a:lnTo>
                  <a:lnTo>
                    <a:pt x="268" y="92"/>
                  </a:lnTo>
                  <a:lnTo>
                    <a:pt x="246" y="88"/>
                  </a:lnTo>
                  <a:lnTo>
                    <a:pt x="234" y="76"/>
                  </a:lnTo>
                  <a:lnTo>
                    <a:pt x="230" y="68"/>
                  </a:lnTo>
                  <a:lnTo>
                    <a:pt x="228" y="64"/>
                  </a:lnTo>
                  <a:lnTo>
                    <a:pt x="234" y="48"/>
                  </a:lnTo>
                  <a:lnTo>
                    <a:pt x="234" y="36"/>
                  </a:lnTo>
                  <a:lnTo>
                    <a:pt x="234" y="32"/>
                  </a:lnTo>
                  <a:lnTo>
                    <a:pt x="228" y="40"/>
                  </a:lnTo>
                  <a:lnTo>
                    <a:pt x="226" y="40"/>
                  </a:lnTo>
                  <a:lnTo>
                    <a:pt x="226" y="42"/>
                  </a:lnTo>
                  <a:lnTo>
                    <a:pt x="224" y="40"/>
                  </a:lnTo>
                  <a:lnTo>
                    <a:pt x="222" y="40"/>
                  </a:lnTo>
                  <a:lnTo>
                    <a:pt x="210" y="30"/>
                  </a:lnTo>
                  <a:lnTo>
                    <a:pt x="208" y="28"/>
                  </a:lnTo>
                  <a:lnTo>
                    <a:pt x="208" y="26"/>
                  </a:lnTo>
                  <a:lnTo>
                    <a:pt x="206" y="8"/>
                  </a:lnTo>
                  <a:lnTo>
                    <a:pt x="200" y="0"/>
                  </a:lnTo>
                  <a:lnTo>
                    <a:pt x="188" y="0"/>
                  </a:lnTo>
                  <a:lnTo>
                    <a:pt x="180" y="14"/>
                  </a:lnTo>
                  <a:lnTo>
                    <a:pt x="180" y="16"/>
                  </a:lnTo>
                  <a:lnTo>
                    <a:pt x="178" y="16"/>
                  </a:lnTo>
                  <a:lnTo>
                    <a:pt x="160" y="12"/>
                  </a:lnTo>
                  <a:lnTo>
                    <a:pt x="156" y="30"/>
                  </a:lnTo>
                  <a:lnTo>
                    <a:pt x="156" y="48"/>
                  </a:lnTo>
                  <a:lnTo>
                    <a:pt x="146" y="64"/>
                  </a:lnTo>
                  <a:lnTo>
                    <a:pt x="146" y="66"/>
                  </a:lnTo>
                  <a:lnTo>
                    <a:pt x="144" y="66"/>
                  </a:lnTo>
                  <a:lnTo>
                    <a:pt x="142" y="66"/>
                  </a:lnTo>
                  <a:lnTo>
                    <a:pt x="130" y="68"/>
                  </a:lnTo>
                  <a:lnTo>
                    <a:pt x="118" y="76"/>
                  </a:lnTo>
                  <a:lnTo>
                    <a:pt x="118" y="78"/>
                  </a:lnTo>
                  <a:lnTo>
                    <a:pt x="116" y="78"/>
                  </a:lnTo>
                  <a:lnTo>
                    <a:pt x="114" y="78"/>
                  </a:lnTo>
                  <a:lnTo>
                    <a:pt x="92" y="70"/>
                  </a:lnTo>
                  <a:lnTo>
                    <a:pt x="90" y="78"/>
                  </a:lnTo>
                  <a:lnTo>
                    <a:pt x="90" y="80"/>
                  </a:lnTo>
                  <a:lnTo>
                    <a:pt x="80" y="96"/>
                  </a:lnTo>
                  <a:lnTo>
                    <a:pt x="76" y="100"/>
                  </a:lnTo>
                  <a:lnTo>
                    <a:pt x="74" y="100"/>
                  </a:lnTo>
                  <a:lnTo>
                    <a:pt x="64" y="100"/>
                  </a:lnTo>
                  <a:lnTo>
                    <a:pt x="50" y="94"/>
                  </a:lnTo>
                  <a:lnTo>
                    <a:pt x="48" y="92"/>
                  </a:lnTo>
                  <a:lnTo>
                    <a:pt x="48" y="90"/>
                  </a:lnTo>
                  <a:lnTo>
                    <a:pt x="46" y="72"/>
                  </a:lnTo>
                  <a:lnTo>
                    <a:pt x="42" y="56"/>
                  </a:lnTo>
                  <a:lnTo>
                    <a:pt x="38" y="52"/>
                  </a:lnTo>
                  <a:lnTo>
                    <a:pt x="34" y="64"/>
                  </a:lnTo>
                  <a:lnTo>
                    <a:pt x="24" y="76"/>
                  </a:lnTo>
                  <a:lnTo>
                    <a:pt x="16" y="96"/>
                  </a:lnTo>
                  <a:lnTo>
                    <a:pt x="14" y="96"/>
                  </a:lnTo>
                  <a:lnTo>
                    <a:pt x="8" y="108"/>
                  </a:lnTo>
                  <a:lnTo>
                    <a:pt x="6" y="114"/>
                  </a:lnTo>
                  <a:lnTo>
                    <a:pt x="0" y="122"/>
                  </a:lnTo>
                  <a:lnTo>
                    <a:pt x="6" y="140"/>
                  </a:lnTo>
                  <a:lnTo>
                    <a:pt x="30" y="168"/>
                  </a:lnTo>
                  <a:lnTo>
                    <a:pt x="38" y="184"/>
                  </a:lnTo>
                  <a:lnTo>
                    <a:pt x="38" y="186"/>
                  </a:lnTo>
                  <a:lnTo>
                    <a:pt x="36" y="188"/>
                  </a:lnTo>
                  <a:lnTo>
                    <a:pt x="30" y="196"/>
                  </a:lnTo>
                  <a:lnTo>
                    <a:pt x="28" y="196"/>
                  </a:lnTo>
                  <a:lnTo>
                    <a:pt x="12" y="200"/>
                  </a:lnTo>
                  <a:lnTo>
                    <a:pt x="14" y="212"/>
                  </a:lnTo>
                  <a:lnTo>
                    <a:pt x="26" y="220"/>
                  </a:lnTo>
                  <a:lnTo>
                    <a:pt x="42" y="224"/>
                  </a:lnTo>
                  <a:lnTo>
                    <a:pt x="48" y="240"/>
                  </a:lnTo>
                  <a:lnTo>
                    <a:pt x="44" y="268"/>
                  </a:lnTo>
                  <a:lnTo>
                    <a:pt x="38" y="280"/>
                  </a:lnTo>
                  <a:lnTo>
                    <a:pt x="38" y="284"/>
                  </a:lnTo>
                  <a:lnTo>
                    <a:pt x="36" y="284"/>
                  </a:lnTo>
                  <a:lnTo>
                    <a:pt x="16" y="286"/>
                  </a:lnTo>
                  <a:lnTo>
                    <a:pt x="16" y="294"/>
                  </a:lnTo>
                  <a:lnTo>
                    <a:pt x="10" y="312"/>
                  </a:lnTo>
                  <a:lnTo>
                    <a:pt x="8" y="332"/>
                  </a:lnTo>
                  <a:lnTo>
                    <a:pt x="12" y="344"/>
                  </a:lnTo>
                  <a:lnTo>
                    <a:pt x="36" y="358"/>
                  </a:lnTo>
                  <a:lnTo>
                    <a:pt x="38" y="360"/>
                  </a:lnTo>
                  <a:lnTo>
                    <a:pt x="48" y="376"/>
                  </a:lnTo>
                  <a:lnTo>
                    <a:pt x="48" y="378"/>
                  </a:lnTo>
                  <a:lnTo>
                    <a:pt x="48" y="380"/>
                  </a:lnTo>
                  <a:lnTo>
                    <a:pt x="34" y="408"/>
                  </a:lnTo>
                  <a:lnTo>
                    <a:pt x="32" y="416"/>
                  </a:lnTo>
                  <a:lnTo>
                    <a:pt x="24" y="434"/>
                  </a:lnTo>
                  <a:lnTo>
                    <a:pt x="20" y="448"/>
                  </a:lnTo>
                  <a:lnTo>
                    <a:pt x="20" y="450"/>
                  </a:lnTo>
                  <a:lnTo>
                    <a:pt x="14" y="456"/>
                  </a:lnTo>
                  <a:lnTo>
                    <a:pt x="12" y="462"/>
                  </a:lnTo>
                  <a:lnTo>
                    <a:pt x="12" y="464"/>
                  </a:lnTo>
                  <a:lnTo>
                    <a:pt x="12" y="466"/>
                  </a:lnTo>
                  <a:lnTo>
                    <a:pt x="14" y="468"/>
                  </a:lnTo>
                  <a:lnTo>
                    <a:pt x="22" y="476"/>
                  </a:lnTo>
                  <a:lnTo>
                    <a:pt x="26" y="482"/>
                  </a:lnTo>
                  <a:lnTo>
                    <a:pt x="28" y="484"/>
                  </a:lnTo>
                  <a:lnTo>
                    <a:pt x="28" y="488"/>
                  </a:lnTo>
                  <a:lnTo>
                    <a:pt x="30" y="492"/>
                  </a:lnTo>
                  <a:lnTo>
                    <a:pt x="36" y="496"/>
                  </a:lnTo>
                  <a:lnTo>
                    <a:pt x="66" y="502"/>
                  </a:lnTo>
                  <a:lnTo>
                    <a:pt x="80" y="500"/>
                  </a:lnTo>
                  <a:lnTo>
                    <a:pt x="94" y="496"/>
                  </a:lnTo>
                  <a:lnTo>
                    <a:pt x="108" y="492"/>
                  </a:lnTo>
                  <a:lnTo>
                    <a:pt x="122" y="492"/>
                  </a:lnTo>
                  <a:lnTo>
                    <a:pt x="122" y="486"/>
                  </a:lnTo>
                  <a:lnTo>
                    <a:pt x="114" y="464"/>
                  </a:lnTo>
                  <a:lnTo>
                    <a:pt x="112" y="464"/>
                  </a:lnTo>
                  <a:lnTo>
                    <a:pt x="114" y="464"/>
                  </a:lnTo>
                  <a:lnTo>
                    <a:pt x="158" y="400"/>
                  </a:lnTo>
                  <a:lnTo>
                    <a:pt x="208" y="352"/>
                  </a:lnTo>
                  <a:lnTo>
                    <a:pt x="224" y="348"/>
                  </a:lnTo>
                  <a:lnTo>
                    <a:pt x="232" y="338"/>
                  </a:lnTo>
                  <a:lnTo>
                    <a:pt x="240" y="332"/>
                  </a:lnTo>
                  <a:lnTo>
                    <a:pt x="250" y="328"/>
                  </a:lnTo>
                  <a:lnTo>
                    <a:pt x="246" y="324"/>
                  </a:lnTo>
                  <a:lnTo>
                    <a:pt x="234" y="312"/>
                  </a:lnTo>
                  <a:lnTo>
                    <a:pt x="226" y="302"/>
                  </a:lnTo>
                  <a:lnTo>
                    <a:pt x="226" y="300"/>
                  </a:lnTo>
                  <a:lnTo>
                    <a:pt x="230" y="294"/>
                  </a:lnTo>
                  <a:lnTo>
                    <a:pt x="218" y="296"/>
                  </a:lnTo>
                  <a:lnTo>
                    <a:pt x="196" y="292"/>
                  </a:lnTo>
                  <a:lnTo>
                    <a:pt x="186" y="284"/>
                  </a:lnTo>
                  <a:lnTo>
                    <a:pt x="182" y="280"/>
                  </a:lnTo>
                  <a:lnTo>
                    <a:pt x="180" y="276"/>
                  </a:lnTo>
                  <a:lnTo>
                    <a:pt x="176" y="256"/>
                  </a:lnTo>
                  <a:lnTo>
                    <a:pt x="174" y="238"/>
                  </a:lnTo>
                  <a:lnTo>
                    <a:pt x="170" y="242"/>
                  </a:lnTo>
                  <a:lnTo>
                    <a:pt x="164" y="244"/>
                  </a:lnTo>
                  <a:lnTo>
                    <a:pt x="146" y="240"/>
                  </a:lnTo>
                  <a:lnTo>
                    <a:pt x="136" y="232"/>
                  </a:lnTo>
                  <a:lnTo>
                    <a:pt x="122" y="228"/>
                  </a:lnTo>
                  <a:lnTo>
                    <a:pt x="116" y="228"/>
                  </a:lnTo>
                  <a:lnTo>
                    <a:pt x="110" y="226"/>
                  </a:lnTo>
                  <a:lnTo>
                    <a:pt x="104" y="224"/>
                  </a:lnTo>
                  <a:lnTo>
                    <a:pt x="98" y="218"/>
                  </a:lnTo>
                  <a:lnTo>
                    <a:pt x="96" y="214"/>
                  </a:lnTo>
                  <a:lnTo>
                    <a:pt x="96" y="210"/>
                  </a:lnTo>
                  <a:lnTo>
                    <a:pt x="96" y="206"/>
                  </a:lnTo>
                  <a:lnTo>
                    <a:pt x="98" y="202"/>
                  </a:lnTo>
                  <a:lnTo>
                    <a:pt x="102" y="200"/>
                  </a:lnTo>
                  <a:lnTo>
                    <a:pt x="110" y="192"/>
                  </a:lnTo>
                  <a:lnTo>
                    <a:pt x="118" y="180"/>
                  </a:lnTo>
                  <a:lnTo>
                    <a:pt x="116" y="176"/>
                  </a:lnTo>
                  <a:lnTo>
                    <a:pt x="114" y="170"/>
                  </a:lnTo>
                  <a:lnTo>
                    <a:pt x="112" y="164"/>
                  </a:lnTo>
                  <a:lnTo>
                    <a:pt x="114" y="160"/>
                  </a:lnTo>
                  <a:lnTo>
                    <a:pt x="114" y="158"/>
                  </a:lnTo>
                  <a:lnTo>
                    <a:pt x="116" y="156"/>
                  </a:lnTo>
                  <a:lnTo>
                    <a:pt x="120" y="152"/>
                  </a:lnTo>
                  <a:lnTo>
                    <a:pt x="134" y="148"/>
                  </a:lnTo>
                  <a:lnTo>
                    <a:pt x="136" y="142"/>
                  </a:lnTo>
                  <a:lnTo>
                    <a:pt x="138" y="140"/>
                  </a:lnTo>
                  <a:lnTo>
                    <a:pt x="150" y="140"/>
                  </a:lnTo>
                  <a:lnTo>
                    <a:pt x="148" y="140"/>
                  </a:lnTo>
                  <a:lnTo>
                    <a:pt x="142" y="136"/>
                  </a:lnTo>
                  <a:lnTo>
                    <a:pt x="140" y="132"/>
                  </a:lnTo>
                  <a:lnTo>
                    <a:pt x="140" y="128"/>
                  </a:lnTo>
                  <a:lnTo>
                    <a:pt x="142" y="122"/>
                  </a:lnTo>
                  <a:lnTo>
                    <a:pt x="148" y="118"/>
                  </a:lnTo>
                  <a:lnTo>
                    <a:pt x="154" y="116"/>
                  </a:lnTo>
                  <a:lnTo>
                    <a:pt x="160" y="116"/>
                  </a:lnTo>
                  <a:lnTo>
                    <a:pt x="166" y="118"/>
                  </a:lnTo>
                  <a:lnTo>
                    <a:pt x="172" y="120"/>
                  </a:lnTo>
                  <a:lnTo>
                    <a:pt x="190" y="134"/>
                  </a:lnTo>
                  <a:lnTo>
                    <a:pt x="208" y="134"/>
                  </a:lnTo>
                  <a:lnTo>
                    <a:pt x="214" y="138"/>
                  </a:lnTo>
                  <a:lnTo>
                    <a:pt x="214" y="144"/>
                  </a:lnTo>
                  <a:lnTo>
                    <a:pt x="214" y="150"/>
                  </a:lnTo>
                  <a:lnTo>
                    <a:pt x="210" y="152"/>
                  </a:lnTo>
                  <a:lnTo>
                    <a:pt x="206" y="152"/>
                  </a:lnTo>
                  <a:lnTo>
                    <a:pt x="204" y="154"/>
                  </a:lnTo>
                  <a:lnTo>
                    <a:pt x="202" y="160"/>
                  </a:lnTo>
                  <a:lnTo>
                    <a:pt x="210" y="180"/>
                  </a:lnTo>
                  <a:lnTo>
                    <a:pt x="218" y="170"/>
                  </a:lnTo>
                  <a:lnTo>
                    <a:pt x="226" y="168"/>
                  </a:lnTo>
                  <a:lnTo>
                    <a:pt x="230" y="168"/>
                  </a:lnTo>
                  <a:lnTo>
                    <a:pt x="234" y="172"/>
                  </a:lnTo>
                  <a:lnTo>
                    <a:pt x="236" y="180"/>
                  </a:lnTo>
                  <a:lnTo>
                    <a:pt x="240" y="190"/>
                  </a:lnTo>
                  <a:lnTo>
                    <a:pt x="242" y="202"/>
                  </a:lnTo>
                  <a:lnTo>
                    <a:pt x="246" y="210"/>
                  </a:lnTo>
                  <a:lnTo>
                    <a:pt x="252" y="220"/>
                  </a:lnTo>
                  <a:lnTo>
                    <a:pt x="264" y="236"/>
                  </a:lnTo>
                  <a:lnTo>
                    <a:pt x="268" y="248"/>
                  </a:lnTo>
                  <a:lnTo>
                    <a:pt x="300" y="244"/>
                  </a:lnTo>
                  <a:lnTo>
                    <a:pt x="314" y="236"/>
                  </a:lnTo>
                  <a:lnTo>
                    <a:pt x="326" y="220"/>
                  </a:lnTo>
                  <a:lnTo>
                    <a:pt x="332" y="204"/>
                  </a:lnTo>
                  <a:lnTo>
                    <a:pt x="336" y="188"/>
                  </a:lnTo>
                  <a:lnTo>
                    <a:pt x="336" y="186"/>
                  </a:lnTo>
                  <a:lnTo>
                    <a:pt x="336" y="184"/>
                  </a:lnTo>
                  <a:lnTo>
                    <a:pt x="338" y="184"/>
                  </a:lnTo>
                  <a:lnTo>
                    <a:pt x="350" y="176"/>
                  </a:lnTo>
                  <a:lnTo>
                    <a:pt x="352" y="176"/>
                  </a:lnTo>
                  <a:lnTo>
                    <a:pt x="350" y="174"/>
                  </a:lnTo>
                  <a:lnTo>
                    <a:pt x="330" y="168"/>
                  </a:lnTo>
                  <a:lnTo>
                    <a:pt x="326" y="156"/>
                  </a:lnTo>
                  <a:lnTo>
                    <a:pt x="324" y="152"/>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50" name="河南"/>
            <p:cNvSpPr/>
            <p:nvPr/>
          </p:nvSpPr>
          <p:spPr bwMode="auto">
            <a:xfrm>
              <a:off x="8543688" y="-581601"/>
              <a:ext cx="517173" cy="505314"/>
            </a:xfrm>
            <a:custGeom>
              <a:avLst/>
              <a:gdLst>
                <a:gd name="T0" fmla="*/ 2147483646 w 370"/>
                <a:gd name="T1" fmla="*/ 2147483646 h 366"/>
                <a:gd name="T2" fmla="*/ 0 w 370"/>
                <a:gd name="T3" fmla="*/ 2147483646 h 366"/>
                <a:gd name="T4" fmla="*/ 2147483646 w 370"/>
                <a:gd name="T5" fmla="*/ 2147483646 h 366"/>
                <a:gd name="T6" fmla="*/ 2147483646 w 370"/>
                <a:gd name="T7" fmla="*/ 2147483646 h 366"/>
                <a:gd name="T8" fmla="*/ 2147483646 w 370"/>
                <a:gd name="T9" fmla="*/ 2147483646 h 366"/>
                <a:gd name="T10" fmla="*/ 2147483646 w 370"/>
                <a:gd name="T11" fmla="*/ 2147483646 h 366"/>
                <a:gd name="T12" fmla="*/ 2147483646 w 370"/>
                <a:gd name="T13" fmla="*/ 2147483646 h 366"/>
                <a:gd name="T14" fmla="*/ 2147483646 w 370"/>
                <a:gd name="T15" fmla="*/ 2147483646 h 366"/>
                <a:gd name="T16" fmla="*/ 2147483646 w 370"/>
                <a:gd name="T17" fmla="*/ 2147483646 h 366"/>
                <a:gd name="T18" fmla="*/ 2147483646 w 370"/>
                <a:gd name="T19" fmla="*/ 2147483646 h 366"/>
                <a:gd name="T20" fmla="*/ 2147483646 w 370"/>
                <a:gd name="T21" fmla="*/ 2147483646 h 366"/>
                <a:gd name="T22" fmla="*/ 2147483646 w 370"/>
                <a:gd name="T23" fmla="*/ 2147483646 h 366"/>
                <a:gd name="T24" fmla="*/ 2147483646 w 370"/>
                <a:gd name="T25" fmla="*/ 2147483646 h 366"/>
                <a:gd name="T26" fmla="*/ 2147483646 w 370"/>
                <a:gd name="T27" fmla="*/ 2147483646 h 366"/>
                <a:gd name="T28" fmla="*/ 2147483646 w 370"/>
                <a:gd name="T29" fmla="*/ 2147483646 h 366"/>
                <a:gd name="T30" fmla="*/ 2147483646 w 370"/>
                <a:gd name="T31" fmla="*/ 2147483646 h 366"/>
                <a:gd name="T32" fmla="*/ 2147483646 w 370"/>
                <a:gd name="T33" fmla="*/ 2147483646 h 366"/>
                <a:gd name="T34" fmla="*/ 2147483646 w 370"/>
                <a:gd name="T35" fmla="*/ 2147483646 h 366"/>
                <a:gd name="T36" fmla="*/ 2147483646 w 370"/>
                <a:gd name="T37" fmla="*/ 2147483646 h 366"/>
                <a:gd name="T38" fmla="*/ 2147483646 w 370"/>
                <a:gd name="T39" fmla="*/ 2147483646 h 366"/>
                <a:gd name="T40" fmla="*/ 2147483646 w 370"/>
                <a:gd name="T41" fmla="*/ 2147483646 h 366"/>
                <a:gd name="T42" fmla="*/ 2147483646 w 370"/>
                <a:gd name="T43" fmla="*/ 2147483646 h 366"/>
                <a:gd name="T44" fmla="*/ 2147483646 w 370"/>
                <a:gd name="T45" fmla="*/ 2147483646 h 366"/>
                <a:gd name="T46" fmla="*/ 2147483646 w 370"/>
                <a:gd name="T47" fmla="*/ 2147483646 h 366"/>
                <a:gd name="T48" fmla="*/ 2147483646 w 370"/>
                <a:gd name="T49" fmla="*/ 2147483646 h 366"/>
                <a:gd name="T50" fmla="*/ 2147483646 w 370"/>
                <a:gd name="T51" fmla="*/ 2147483646 h 366"/>
                <a:gd name="T52" fmla="*/ 2147483646 w 370"/>
                <a:gd name="T53" fmla="*/ 2147483646 h 366"/>
                <a:gd name="T54" fmla="*/ 2147483646 w 370"/>
                <a:gd name="T55" fmla="*/ 2147483646 h 366"/>
                <a:gd name="T56" fmla="*/ 2147483646 w 370"/>
                <a:gd name="T57" fmla="*/ 2147483646 h 366"/>
                <a:gd name="T58" fmla="*/ 2147483646 w 370"/>
                <a:gd name="T59" fmla="*/ 2147483646 h 366"/>
                <a:gd name="T60" fmla="*/ 2147483646 w 370"/>
                <a:gd name="T61" fmla="*/ 2147483646 h 366"/>
                <a:gd name="T62" fmla="*/ 2147483646 w 370"/>
                <a:gd name="T63" fmla="*/ 2147483646 h 366"/>
                <a:gd name="T64" fmla="*/ 2147483646 w 370"/>
                <a:gd name="T65" fmla="*/ 2147483646 h 366"/>
                <a:gd name="T66" fmla="*/ 2147483646 w 370"/>
                <a:gd name="T67" fmla="*/ 2147483646 h 366"/>
                <a:gd name="T68" fmla="*/ 2147483646 w 370"/>
                <a:gd name="T69" fmla="*/ 2147483646 h 366"/>
                <a:gd name="T70" fmla="*/ 2147483646 w 370"/>
                <a:gd name="T71" fmla="*/ 2147483646 h 366"/>
                <a:gd name="T72" fmla="*/ 2147483646 w 370"/>
                <a:gd name="T73" fmla="*/ 2147483646 h 366"/>
                <a:gd name="T74" fmla="*/ 2147483646 w 370"/>
                <a:gd name="T75" fmla="*/ 2147483646 h 366"/>
                <a:gd name="T76" fmla="*/ 2147483646 w 370"/>
                <a:gd name="T77" fmla="*/ 2147483646 h 366"/>
                <a:gd name="T78" fmla="*/ 2147483646 w 370"/>
                <a:gd name="T79" fmla="*/ 2147483646 h 366"/>
                <a:gd name="T80" fmla="*/ 2147483646 w 370"/>
                <a:gd name="T81" fmla="*/ 2147483646 h 366"/>
                <a:gd name="T82" fmla="*/ 2147483646 w 370"/>
                <a:gd name="T83" fmla="*/ 2147483646 h 366"/>
                <a:gd name="T84" fmla="*/ 2147483646 w 370"/>
                <a:gd name="T85" fmla="*/ 2147483646 h 366"/>
                <a:gd name="T86" fmla="*/ 2147483646 w 370"/>
                <a:gd name="T87" fmla="*/ 2147483646 h 366"/>
                <a:gd name="T88" fmla="*/ 2147483646 w 370"/>
                <a:gd name="T89" fmla="*/ 2147483646 h 366"/>
                <a:gd name="T90" fmla="*/ 2147483646 w 370"/>
                <a:gd name="T91" fmla="*/ 2147483646 h 366"/>
                <a:gd name="T92" fmla="*/ 2147483646 w 370"/>
                <a:gd name="T93" fmla="*/ 2147483646 h 366"/>
                <a:gd name="T94" fmla="*/ 2147483646 w 370"/>
                <a:gd name="T95" fmla="*/ 0 h 366"/>
                <a:gd name="T96" fmla="*/ 2147483646 w 370"/>
                <a:gd name="T97" fmla="*/ 2147483646 h 366"/>
                <a:gd name="T98" fmla="*/ 2147483646 w 370"/>
                <a:gd name="T99" fmla="*/ 2147483646 h 366"/>
                <a:gd name="T100" fmla="*/ 2147483646 w 370"/>
                <a:gd name="T101" fmla="*/ 2147483646 h 366"/>
                <a:gd name="T102" fmla="*/ 2147483646 w 370"/>
                <a:gd name="T103" fmla="*/ 2147483646 h 366"/>
                <a:gd name="T104" fmla="*/ 2147483646 w 370"/>
                <a:gd name="T105" fmla="*/ 2147483646 h 366"/>
                <a:gd name="T106" fmla="*/ 2147483646 w 370"/>
                <a:gd name="T107" fmla="*/ 2147483646 h 366"/>
                <a:gd name="T108" fmla="*/ 2147483646 w 370"/>
                <a:gd name="T109" fmla="*/ 2147483646 h 36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70" h="366">
                  <a:moveTo>
                    <a:pt x="82" y="120"/>
                  </a:moveTo>
                  <a:lnTo>
                    <a:pt x="80" y="120"/>
                  </a:lnTo>
                  <a:lnTo>
                    <a:pt x="20" y="146"/>
                  </a:lnTo>
                  <a:lnTo>
                    <a:pt x="2" y="162"/>
                  </a:lnTo>
                  <a:lnTo>
                    <a:pt x="0" y="182"/>
                  </a:lnTo>
                  <a:lnTo>
                    <a:pt x="2" y="196"/>
                  </a:lnTo>
                  <a:lnTo>
                    <a:pt x="4" y="206"/>
                  </a:lnTo>
                  <a:lnTo>
                    <a:pt x="10" y="210"/>
                  </a:lnTo>
                  <a:lnTo>
                    <a:pt x="28" y="222"/>
                  </a:lnTo>
                  <a:lnTo>
                    <a:pt x="30" y="222"/>
                  </a:lnTo>
                  <a:lnTo>
                    <a:pt x="34" y="252"/>
                  </a:lnTo>
                  <a:lnTo>
                    <a:pt x="54" y="276"/>
                  </a:lnTo>
                  <a:lnTo>
                    <a:pt x="60" y="282"/>
                  </a:lnTo>
                  <a:lnTo>
                    <a:pt x="66" y="286"/>
                  </a:lnTo>
                  <a:lnTo>
                    <a:pt x="82" y="290"/>
                  </a:lnTo>
                  <a:lnTo>
                    <a:pt x="86" y="290"/>
                  </a:lnTo>
                  <a:lnTo>
                    <a:pt x="92" y="296"/>
                  </a:lnTo>
                  <a:lnTo>
                    <a:pt x="104" y="300"/>
                  </a:lnTo>
                  <a:lnTo>
                    <a:pt x="152" y="302"/>
                  </a:lnTo>
                  <a:lnTo>
                    <a:pt x="194" y="304"/>
                  </a:lnTo>
                  <a:lnTo>
                    <a:pt x="204" y="306"/>
                  </a:lnTo>
                  <a:lnTo>
                    <a:pt x="210" y="310"/>
                  </a:lnTo>
                  <a:lnTo>
                    <a:pt x="214" y="312"/>
                  </a:lnTo>
                  <a:lnTo>
                    <a:pt x="214" y="318"/>
                  </a:lnTo>
                  <a:lnTo>
                    <a:pt x="214" y="332"/>
                  </a:lnTo>
                  <a:lnTo>
                    <a:pt x="214" y="342"/>
                  </a:lnTo>
                  <a:lnTo>
                    <a:pt x="216" y="346"/>
                  </a:lnTo>
                  <a:lnTo>
                    <a:pt x="234" y="342"/>
                  </a:lnTo>
                  <a:lnTo>
                    <a:pt x="242" y="340"/>
                  </a:lnTo>
                  <a:lnTo>
                    <a:pt x="250" y="338"/>
                  </a:lnTo>
                  <a:lnTo>
                    <a:pt x="256" y="340"/>
                  </a:lnTo>
                  <a:lnTo>
                    <a:pt x="258" y="342"/>
                  </a:lnTo>
                  <a:lnTo>
                    <a:pt x="266" y="350"/>
                  </a:lnTo>
                  <a:lnTo>
                    <a:pt x="278" y="362"/>
                  </a:lnTo>
                  <a:lnTo>
                    <a:pt x="280" y="364"/>
                  </a:lnTo>
                  <a:lnTo>
                    <a:pt x="282" y="366"/>
                  </a:lnTo>
                  <a:lnTo>
                    <a:pt x="290" y="360"/>
                  </a:lnTo>
                  <a:lnTo>
                    <a:pt x="298" y="350"/>
                  </a:lnTo>
                  <a:lnTo>
                    <a:pt x="300" y="348"/>
                  </a:lnTo>
                  <a:lnTo>
                    <a:pt x="314" y="358"/>
                  </a:lnTo>
                  <a:lnTo>
                    <a:pt x="324" y="350"/>
                  </a:lnTo>
                  <a:lnTo>
                    <a:pt x="326" y="342"/>
                  </a:lnTo>
                  <a:lnTo>
                    <a:pt x="330" y="338"/>
                  </a:lnTo>
                  <a:lnTo>
                    <a:pt x="334" y="334"/>
                  </a:lnTo>
                  <a:lnTo>
                    <a:pt x="342" y="332"/>
                  </a:lnTo>
                  <a:lnTo>
                    <a:pt x="346" y="330"/>
                  </a:lnTo>
                  <a:lnTo>
                    <a:pt x="344" y="328"/>
                  </a:lnTo>
                  <a:lnTo>
                    <a:pt x="342" y="326"/>
                  </a:lnTo>
                  <a:lnTo>
                    <a:pt x="344" y="306"/>
                  </a:lnTo>
                  <a:lnTo>
                    <a:pt x="338" y="300"/>
                  </a:lnTo>
                  <a:lnTo>
                    <a:pt x="334" y="296"/>
                  </a:lnTo>
                  <a:lnTo>
                    <a:pt x="328" y="294"/>
                  </a:lnTo>
                  <a:lnTo>
                    <a:pt x="320" y="294"/>
                  </a:lnTo>
                  <a:lnTo>
                    <a:pt x="310" y="296"/>
                  </a:lnTo>
                  <a:lnTo>
                    <a:pt x="306" y="296"/>
                  </a:lnTo>
                  <a:lnTo>
                    <a:pt x="302" y="294"/>
                  </a:lnTo>
                  <a:lnTo>
                    <a:pt x="302" y="290"/>
                  </a:lnTo>
                  <a:lnTo>
                    <a:pt x="302" y="286"/>
                  </a:lnTo>
                  <a:lnTo>
                    <a:pt x="292" y="272"/>
                  </a:lnTo>
                  <a:lnTo>
                    <a:pt x="282" y="262"/>
                  </a:lnTo>
                  <a:lnTo>
                    <a:pt x="278" y="256"/>
                  </a:lnTo>
                  <a:lnTo>
                    <a:pt x="274" y="250"/>
                  </a:lnTo>
                  <a:lnTo>
                    <a:pt x="272" y="244"/>
                  </a:lnTo>
                  <a:lnTo>
                    <a:pt x="274" y="238"/>
                  </a:lnTo>
                  <a:lnTo>
                    <a:pt x="274" y="236"/>
                  </a:lnTo>
                  <a:lnTo>
                    <a:pt x="298" y="240"/>
                  </a:lnTo>
                  <a:lnTo>
                    <a:pt x="296" y="226"/>
                  </a:lnTo>
                  <a:lnTo>
                    <a:pt x="296" y="216"/>
                  </a:lnTo>
                  <a:lnTo>
                    <a:pt x="298" y="212"/>
                  </a:lnTo>
                  <a:lnTo>
                    <a:pt x="300" y="210"/>
                  </a:lnTo>
                  <a:lnTo>
                    <a:pt x="304" y="206"/>
                  </a:lnTo>
                  <a:lnTo>
                    <a:pt x="310" y="204"/>
                  </a:lnTo>
                  <a:lnTo>
                    <a:pt x="318" y="200"/>
                  </a:lnTo>
                  <a:lnTo>
                    <a:pt x="318" y="196"/>
                  </a:lnTo>
                  <a:lnTo>
                    <a:pt x="312" y="178"/>
                  </a:lnTo>
                  <a:lnTo>
                    <a:pt x="312" y="170"/>
                  </a:lnTo>
                  <a:lnTo>
                    <a:pt x="312" y="166"/>
                  </a:lnTo>
                  <a:lnTo>
                    <a:pt x="318" y="162"/>
                  </a:lnTo>
                  <a:lnTo>
                    <a:pt x="324" y="162"/>
                  </a:lnTo>
                  <a:lnTo>
                    <a:pt x="338" y="166"/>
                  </a:lnTo>
                  <a:lnTo>
                    <a:pt x="340" y="166"/>
                  </a:lnTo>
                  <a:lnTo>
                    <a:pt x="340" y="168"/>
                  </a:lnTo>
                  <a:lnTo>
                    <a:pt x="356" y="186"/>
                  </a:lnTo>
                  <a:lnTo>
                    <a:pt x="370" y="162"/>
                  </a:lnTo>
                  <a:lnTo>
                    <a:pt x="356" y="140"/>
                  </a:lnTo>
                  <a:lnTo>
                    <a:pt x="348" y="128"/>
                  </a:lnTo>
                  <a:lnTo>
                    <a:pt x="336" y="136"/>
                  </a:lnTo>
                  <a:lnTo>
                    <a:pt x="334" y="134"/>
                  </a:lnTo>
                  <a:lnTo>
                    <a:pt x="302" y="126"/>
                  </a:lnTo>
                  <a:lnTo>
                    <a:pt x="292" y="122"/>
                  </a:lnTo>
                  <a:lnTo>
                    <a:pt x="286" y="116"/>
                  </a:lnTo>
                  <a:lnTo>
                    <a:pt x="280" y="110"/>
                  </a:lnTo>
                  <a:lnTo>
                    <a:pt x="278" y="106"/>
                  </a:lnTo>
                  <a:lnTo>
                    <a:pt x="260" y="96"/>
                  </a:lnTo>
                  <a:lnTo>
                    <a:pt x="260" y="78"/>
                  </a:lnTo>
                  <a:lnTo>
                    <a:pt x="294" y="58"/>
                  </a:lnTo>
                  <a:lnTo>
                    <a:pt x="292" y="44"/>
                  </a:lnTo>
                  <a:lnTo>
                    <a:pt x="286" y="30"/>
                  </a:lnTo>
                  <a:lnTo>
                    <a:pt x="282" y="18"/>
                  </a:lnTo>
                  <a:lnTo>
                    <a:pt x="258" y="22"/>
                  </a:lnTo>
                  <a:lnTo>
                    <a:pt x="242" y="26"/>
                  </a:lnTo>
                  <a:lnTo>
                    <a:pt x="226" y="28"/>
                  </a:lnTo>
                  <a:lnTo>
                    <a:pt x="200" y="22"/>
                  </a:lnTo>
                  <a:lnTo>
                    <a:pt x="200" y="14"/>
                  </a:lnTo>
                  <a:lnTo>
                    <a:pt x="196" y="14"/>
                  </a:lnTo>
                  <a:lnTo>
                    <a:pt x="190" y="10"/>
                  </a:lnTo>
                  <a:lnTo>
                    <a:pt x="188" y="6"/>
                  </a:lnTo>
                  <a:lnTo>
                    <a:pt x="186" y="2"/>
                  </a:lnTo>
                  <a:lnTo>
                    <a:pt x="186" y="0"/>
                  </a:lnTo>
                  <a:lnTo>
                    <a:pt x="184" y="22"/>
                  </a:lnTo>
                  <a:lnTo>
                    <a:pt x="182" y="28"/>
                  </a:lnTo>
                  <a:lnTo>
                    <a:pt x="180" y="34"/>
                  </a:lnTo>
                  <a:lnTo>
                    <a:pt x="182" y="36"/>
                  </a:lnTo>
                  <a:lnTo>
                    <a:pt x="184" y="40"/>
                  </a:lnTo>
                  <a:lnTo>
                    <a:pt x="184" y="46"/>
                  </a:lnTo>
                  <a:lnTo>
                    <a:pt x="182" y="50"/>
                  </a:lnTo>
                  <a:lnTo>
                    <a:pt x="180" y="54"/>
                  </a:lnTo>
                  <a:lnTo>
                    <a:pt x="184" y="68"/>
                  </a:lnTo>
                  <a:lnTo>
                    <a:pt x="182" y="68"/>
                  </a:lnTo>
                  <a:lnTo>
                    <a:pt x="182" y="70"/>
                  </a:lnTo>
                  <a:lnTo>
                    <a:pt x="172" y="78"/>
                  </a:lnTo>
                  <a:lnTo>
                    <a:pt x="172" y="96"/>
                  </a:lnTo>
                  <a:lnTo>
                    <a:pt x="170" y="98"/>
                  </a:lnTo>
                  <a:lnTo>
                    <a:pt x="148" y="106"/>
                  </a:lnTo>
                  <a:lnTo>
                    <a:pt x="132" y="110"/>
                  </a:lnTo>
                  <a:lnTo>
                    <a:pt x="98" y="106"/>
                  </a:lnTo>
                  <a:lnTo>
                    <a:pt x="82" y="120"/>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51" name="台湾"/>
            <p:cNvSpPr/>
            <p:nvPr/>
          </p:nvSpPr>
          <p:spPr bwMode="auto">
            <a:xfrm>
              <a:off x="9516532" y="498058"/>
              <a:ext cx="148163" cy="353444"/>
            </a:xfrm>
            <a:custGeom>
              <a:avLst/>
              <a:gdLst>
                <a:gd name="T0" fmla="*/ 2147483646 w 106"/>
                <a:gd name="T1" fmla="*/ 0 h 256"/>
                <a:gd name="T2" fmla="*/ 2147483646 w 106"/>
                <a:gd name="T3" fmla="*/ 0 h 256"/>
                <a:gd name="T4" fmla="*/ 2147483646 w 106"/>
                <a:gd name="T5" fmla="*/ 2147483646 h 256"/>
                <a:gd name="T6" fmla="*/ 2147483646 w 106"/>
                <a:gd name="T7" fmla="*/ 2147483646 h 256"/>
                <a:gd name="T8" fmla="*/ 2147483646 w 106"/>
                <a:gd name="T9" fmla="*/ 2147483646 h 256"/>
                <a:gd name="T10" fmla="*/ 2147483646 w 106"/>
                <a:gd name="T11" fmla="*/ 2147483646 h 256"/>
                <a:gd name="T12" fmla="*/ 2147483646 w 106"/>
                <a:gd name="T13" fmla="*/ 2147483646 h 256"/>
                <a:gd name="T14" fmla="*/ 2147483646 w 106"/>
                <a:gd name="T15" fmla="*/ 2147483646 h 256"/>
                <a:gd name="T16" fmla="*/ 2147483646 w 106"/>
                <a:gd name="T17" fmla="*/ 2147483646 h 256"/>
                <a:gd name="T18" fmla="*/ 0 w 106"/>
                <a:gd name="T19" fmla="*/ 2147483646 h 256"/>
                <a:gd name="T20" fmla="*/ 2147483646 w 106"/>
                <a:gd name="T21" fmla="*/ 2147483646 h 256"/>
                <a:gd name="T22" fmla="*/ 2147483646 w 106"/>
                <a:gd name="T23" fmla="*/ 2147483646 h 256"/>
                <a:gd name="T24" fmla="*/ 2147483646 w 106"/>
                <a:gd name="T25" fmla="*/ 2147483646 h 256"/>
                <a:gd name="T26" fmla="*/ 2147483646 w 106"/>
                <a:gd name="T27" fmla="*/ 2147483646 h 256"/>
                <a:gd name="T28" fmla="*/ 2147483646 w 106"/>
                <a:gd name="T29" fmla="*/ 2147483646 h 256"/>
                <a:gd name="T30" fmla="*/ 2147483646 w 106"/>
                <a:gd name="T31" fmla="*/ 2147483646 h 256"/>
                <a:gd name="T32" fmla="*/ 2147483646 w 106"/>
                <a:gd name="T33" fmla="*/ 2147483646 h 256"/>
                <a:gd name="T34" fmla="*/ 2147483646 w 106"/>
                <a:gd name="T35" fmla="*/ 2147483646 h 256"/>
                <a:gd name="T36" fmla="*/ 2147483646 w 106"/>
                <a:gd name="T37" fmla="*/ 2147483646 h 256"/>
                <a:gd name="T38" fmla="*/ 2147483646 w 106"/>
                <a:gd name="T39" fmla="*/ 2147483646 h 256"/>
                <a:gd name="T40" fmla="*/ 2147483646 w 106"/>
                <a:gd name="T41" fmla="*/ 2147483646 h 256"/>
                <a:gd name="T42" fmla="*/ 2147483646 w 106"/>
                <a:gd name="T43" fmla="*/ 2147483646 h 256"/>
                <a:gd name="T44" fmla="*/ 2147483646 w 106"/>
                <a:gd name="T45" fmla="*/ 2147483646 h 256"/>
                <a:gd name="T46" fmla="*/ 2147483646 w 106"/>
                <a:gd name="T47" fmla="*/ 2147483646 h 256"/>
                <a:gd name="T48" fmla="*/ 2147483646 w 106"/>
                <a:gd name="T49" fmla="*/ 2147483646 h 256"/>
                <a:gd name="T50" fmla="*/ 2147483646 w 106"/>
                <a:gd name="T51" fmla="*/ 2147483646 h 256"/>
                <a:gd name="T52" fmla="*/ 2147483646 w 106"/>
                <a:gd name="T53" fmla="*/ 2147483646 h 256"/>
                <a:gd name="T54" fmla="*/ 2147483646 w 106"/>
                <a:gd name="T55" fmla="*/ 2147483646 h 256"/>
                <a:gd name="T56" fmla="*/ 2147483646 w 106"/>
                <a:gd name="T57" fmla="*/ 2147483646 h 256"/>
                <a:gd name="T58" fmla="*/ 2147483646 w 106"/>
                <a:gd name="T59" fmla="*/ 2147483646 h 256"/>
                <a:gd name="T60" fmla="*/ 2147483646 w 106"/>
                <a:gd name="T61" fmla="*/ 2147483646 h 256"/>
                <a:gd name="T62" fmla="*/ 2147483646 w 106"/>
                <a:gd name="T63" fmla="*/ 2147483646 h 256"/>
                <a:gd name="T64" fmla="*/ 2147483646 w 106"/>
                <a:gd name="T65" fmla="*/ 2147483646 h 256"/>
                <a:gd name="T66" fmla="*/ 2147483646 w 106"/>
                <a:gd name="T67" fmla="*/ 2147483646 h 256"/>
                <a:gd name="T68" fmla="*/ 2147483646 w 106"/>
                <a:gd name="T69" fmla="*/ 2147483646 h 256"/>
                <a:gd name="T70" fmla="*/ 2147483646 w 106"/>
                <a:gd name="T71" fmla="*/ 2147483646 h 256"/>
                <a:gd name="T72" fmla="*/ 2147483646 w 106"/>
                <a:gd name="T73" fmla="*/ 2147483646 h 256"/>
                <a:gd name="T74" fmla="*/ 2147483646 w 106"/>
                <a:gd name="T75" fmla="*/ 2147483646 h 256"/>
                <a:gd name="T76" fmla="*/ 2147483646 w 106"/>
                <a:gd name="T77" fmla="*/ 2147483646 h 256"/>
                <a:gd name="T78" fmla="*/ 2147483646 w 106"/>
                <a:gd name="T79" fmla="*/ 2147483646 h 256"/>
                <a:gd name="T80" fmla="*/ 2147483646 w 106"/>
                <a:gd name="T81" fmla="*/ 2147483646 h 256"/>
                <a:gd name="T82" fmla="*/ 2147483646 w 106"/>
                <a:gd name="T83" fmla="*/ 2147483646 h 256"/>
                <a:gd name="T84" fmla="*/ 2147483646 w 106"/>
                <a:gd name="T85" fmla="*/ 2147483646 h 256"/>
                <a:gd name="T86" fmla="*/ 2147483646 w 106"/>
                <a:gd name="T87" fmla="*/ 2147483646 h 256"/>
                <a:gd name="T88" fmla="*/ 2147483646 w 106"/>
                <a:gd name="T89" fmla="*/ 0 h 25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106" h="256">
                  <a:moveTo>
                    <a:pt x="80" y="0"/>
                  </a:moveTo>
                  <a:lnTo>
                    <a:pt x="80" y="0"/>
                  </a:lnTo>
                  <a:lnTo>
                    <a:pt x="62" y="14"/>
                  </a:lnTo>
                  <a:lnTo>
                    <a:pt x="46" y="32"/>
                  </a:lnTo>
                  <a:lnTo>
                    <a:pt x="34" y="50"/>
                  </a:lnTo>
                  <a:lnTo>
                    <a:pt x="24" y="70"/>
                  </a:lnTo>
                  <a:lnTo>
                    <a:pt x="10" y="98"/>
                  </a:lnTo>
                  <a:lnTo>
                    <a:pt x="4" y="104"/>
                  </a:lnTo>
                  <a:lnTo>
                    <a:pt x="0" y="108"/>
                  </a:lnTo>
                  <a:lnTo>
                    <a:pt x="6" y="152"/>
                  </a:lnTo>
                  <a:lnTo>
                    <a:pt x="6" y="154"/>
                  </a:lnTo>
                  <a:lnTo>
                    <a:pt x="2" y="184"/>
                  </a:lnTo>
                  <a:lnTo>
                    <a:pt x="2" y="196"/>
                  </a:lnTo>
                  <a:lnTo>
                    <a:pt x="2" y="200"/>
                  </a:lnTo>
                  <a:lnTo>
                    <a:pt x="4" y="202"/>
                  </a:lnTo>
                  <a:lnTo>
                    <a:pt x="36" y="224"/>
                  </a:lnTo>
                  <a:lnTo>
                    <a:pt x="38" y="224"/>
                  </a:lnTo>
                  <a:lnTo>
                    <a:pt x="38" y="226"/>
                  </a:lnTo>
                  <a:lnTo>
                    <a:pt x="42" y="236"/>
                  </a:lnTo>
                  <a:lnTo>
                    <a:pt x="50" y="248"/>
                  </a:lnTo>
                  <a:lnTo>
                    <a:pt x="56" y="252"/>
                  </a:lnTo>
                  <a:lnTo>
                    <a:pt x="62" y="256"/>
                  </a:lnTo>
                  <a:lnTo>
                    <a:pt x="66" y="204"/>
                  </a:lnTo>
                  <a:lnTo>
                    <a:pt x="66" y="202"/>
                  </a:lnTo>
                  <a:lnTo>
                    <a:pt x="90" y="146"/>
                  </a:lnTo>
                  <a:lnTo>
                    <a:pt x="98" y="80"/>
                  </a:lnTo>
                  <a:lnTo>
                    <a:pt x="98" y="78"/>
                  </a:lnTo>
                  <a:lnTo>
                    <a:pt x="106" y="60"/>
                  </a:lnTo>
                  <a:lnTo>
                    <a:pt x="100" y="44"/>
                  </a:lnTo>
                  <a:lnTo>
                    <a:pt x="98" y="44"/>
                  </a:lnTo>
                  <a:lnTo>
                    <a:pt x="98" y="24"/>
                  </a:lnTo>
                  <a:lnTo>
                    <a:pt x="98" y="22"/>
                  </a:lnTo>
                  <a:lnTo>
                    <a:pt x="102" y="16"/>
                  </a:lnTo>
                  <a:lnTo>
                    <a:pt x="106" y="12"/>
                  </a:lnTo>
                  <a:lnTo>
                    <a:pt x="80" y="0"/>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sp>
          <p:nvSpPr>
            <p:cNvPr id="152" name="海南"/>
            <p:cNvSpPr/>
            <p:nvPr/>
          </p:nvSpPr>
          <p:spPr bwMode="auto">
            <a:xfrm>
              <a:off x="8426276" y="1124868"/>
              <a:ext cx="223642" cy="193290"/>
            </a:xfrm>
            <a:custGeom>
              <a:avLst/>
              <a:gdLst>
                <a:gd name="T0" fmla="*/ 2147483646 w 160"/>
                <a:gd name="T1" fmla="*/ 2147483646 h 140"/>
                <a:gd name="T2" fmla="*/ 2147483646 w 160"/>
                <a:gd name="T3" fmla="*/ 2147483646 h 140"/>
                <a:gd name="T4" fmla="*/ 2147483646 w 160"/>
                <a:gd name="T5" fmla="*/ 2147483646 h 140"/>
                <a:gd name="T6" fmla="*/ 2147483646 w 160"/>
                <a:gd name="T7" fmla="*/ 2147483646 h 140"/>
                <a:gd name="T8" fmla="*/ 2147483646 w 160"/>
                <a:gd name="T9" fmla="*/ 2147483646 h 140"/>
                <a:gd name="T10" fmla="*/ 2147483646 w 160"/>
                <a:gd name="T11" fmla="*/ 2147483646 h 140"/>
                <a:gd name="T12" fmla="*/ 2147483646 w 160"/>
                <a:gd name="T13" fmla="*/ 2147483646 h 140"/>
                <a:gd name="T14" fmla="*/ 2147483646 w 160"/>
                <a:gd name="T15" fmla="*/ 2147483646 h 140"/>
                <a:gd name="T16" fmla="*/ 2147483646 w 160"/>
                <a:gd name="T17" fmla="*/ 2147483646 h 140"/>
                <a:gd name="T18" fmla="*/ 2147483646 w 160"/>
                <a:gd name="T19" fmla="*/ 2147483646 h 140"/>
                <a:gd name="T20" fmla="*/ 2147483646 w 160"/>
                <a:gd name="T21" fmla="*/ 2147483646 h 140"/>
                <a:gd name="T22" fmla="*/ 2147483646 w 160"/>
                <a:gd name="T23" fmla="*/ 2147483646 h 140"/>
                <a:gd name="T24" fmla="*/ 2147483646 w 160"/>
                <a:gd name="T25" fmla="*/ 2147483646 h 140"/>
                <a:gd name="T26" fmla="*/ 0 w 160"/>
                <a:gd name="T27" fmla="*/ 2147483646 h 140"/>
                <a:gd name="T28" fmla="*/ 2147483646 w 160"/>
                <a:gd name="T29" fmla="*/ 2147483646 h 140"/>
                <a:gd name="T30" fmla="*/ 2147483646 w 160"/>
                <a:gd name="T31" fmla="*/ 2147483646 h 140"/>
                <a:gd name="T32" fmla="*/ 2147483646 w 160"/>
                <a:gd name="T33" fmla="*/ 2147483646 h 140"/>
                <a:gd name="T34" fmla="*/ 2147483646 w 160"/>
                <a:gd name="T35" fmla="*/ 2147483646 h 140"/>
                <a:gd name="T36" fmla="*/ 2147483646 w 160"/>
                <a:gd name="T37" fmla="*/ 2147483646 h 140"/>
                <a:gd name="T38" fmla="*/ 2147483646 w 160"/>
                <a:gd name="T39" fmla="*/ 2147483646 h 140"/>
                <a:gd name="T40" fmla="*/ 2147483646 w 160"/>
                <a:gd name="T41" fmla="*/ 2147483646 h 140"/>
                <a:gd name="T42" fmla="*/ 2147483646 w 160"/>
                <a:gd name="T43" fmla="*/ 2147483646 h 140"/>
                <a:gd name="T44" fmla="*/ 2147483646 w 160"/>
                <a:gd name="T45" fmla="*/ 2147483646 h 140"/>
                <a:gd name="T46" fmla="*/ 2147483646 w 160"/>
                <a:gd name="T47" fmla="*/ 2147483646 h 140"/>
                <a:gd name="T48" fmla="*/ 2147483646 w 160"/>
                <a:gd name="T49" fmla="*/ 2147483646 h 140"/>
                <a:gd name="T50" fmla="*/ 2147483646 w 160"/>
                <a:gd name="T51" fmla="*/ 2147483646 h 140"/>
                <a:gd name="T52" fmla="*/ 2147483646 w 160"/>
                <a:gd name="T53" fmla="*/ 2147483646 h 140"/>
                <a:gd name="T54" fmla="*/ 2147483646 w 160"/>
                <a:gd name="T55" fmla="*/ 2147483646 h 140"/>
                <a:gd name="T56" fmla="*/ 2147483646 w 160"/>
                <a:gd name="T57" fmla="*/ 2147483646 h 140"/>
                <a:gd name="T58" fmla="*/ 2147483646 w 160"/>
                <a:gd name="T59" fmla="*/ 2147483646 h 140"/>
                <a:gd name="T60" fmla="*/ 2147483646 w 160"/>
                <a:gd name="T61" fmla="*/ 2147483646 h 140"/>
                <a:gd name="T62" fmla="*/ 2147483646 w 160"/>
                <a:gd name="T63" fmla="*/ 2147483646 h 140"/>
                <a:gd name="T64" fmla="*/ 2147483646 w 160"/>
                <a:gd name="T65" fmla="*/ 2147483646 h 140"/>
                <a:gd name="T66" fmla="*/ 2147483646 w 160"/>
                <a:gd name="T67" fmla="*/ 2147483646 h 140"/>
                <a:gd name="T68" fmla="*/ 2147483646 w 160"/>
                <a:gd name="T69" fmla="*/ 2147483646 h 140"/>
                <a:gd name="T70" fmla="*/ 2147483646 w 160"/>
                <a:gd name="T71" fmla="*/ 2147483646 h 140"/>
                <a:gd name="T72" fmla="*/ 2147483646 w 160"/>
                <a:gd name="T73" fmla="*/ 2147483646 h 140"/>
                <a:gd name="T74" fmla="*/ 2147483646 w 160"/>
                <a:gd name="T75" fmla="*/ 2147483646 h 140"/>
                <a:gd name="T76" fmla="*/ 2147483646 w 160"/>
                <a:gd name="T77" fmla="*/ 2147483646 h 140"/>
                <a:gd name="T78" fmla="*/ 2147483646 w 160"/>
                <a:gd name="T79" fmla="*/ 2147483646 h 140"/>
                <a:gd name="T80" fmla="*/ 2147483646 w 160"/>
                <a:gd name="T81" fmla="*/ 2147483646 h 140"/>
                <a:gd name="T82" fmla="*/ 2147483646 w 160"/>
                <a:gd name="T83" fmla="*/ 0 h 140"/>
                <a:gd name="T84" fmla="*/ 2147483646 w 160"/>
                <a:gd name="T85" fmla="*/ 2147483646 h 140"/>
                <a:gd name="T86" fmla="*/ 2147483646 w 160"/>
                <a:gd name="T87" fmla="*/ 2147483646 h 140"/>
                <a:gd name="T88" fmla="*/ 2147483646 w 160"/>
                <a:gd name="T89" fmla="*/ 2147483646 h 140"/>
                <a:gd name="T90" fmla="*/ 2147483646 w 160"/>
                <a:gd name="T91" fmla="*/ 2147483646 h 140"/>
                <a:gd name="T92" fmla="*/ 2147483646 w 160"/>
                <a:gd name="T93" fmla="*/ 2147483646 h 140"/>
                <a:gd name="T94" fmla="*/ 2147483646 w 160"/>
                <a:gd name="T95" fmla="*/ 2147483646 h 14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60" h="140">
                  <a:moveTo>
                    <a:pt x="72" y="14"/>
                  </a:moveTo>
                  <a:lnTo>
                    <a:pt x="70" y="18"/>
                  </a:lnTo>
                  <a:lnTo>
                    <a:pt x="68" y="20"/>
                  </a:lnTo>
                  <a:lnTo>
                    <a:pt x="36" y="28"/>
                  </a:lnTo>
                  <a:lnTo>
                    <a:pt x="38" y="32"/>
                  </a:lnTo>
                  <a:lnTo>
                    <a:pt x="48" y="44"/>
                  </a:lnTo>
                  <a:lnTo>
                    <a:pt x="44" y="46"/>
                  </a:lnTo>
                  <a:lnTo>
                    <a:pt x="30" y="54"/>
                  </a:lnTo>
                  <a:lnTo>
                    <a:pt x="6" y="72"/>
                  </a:lnTo>
                  <a:lnTo>
                    <a:pt x="2" y="80"/>
                  </a:lnTo>
                  <a:lnTo>
                    <a:pt x="0" y="92"/>
                  </a:lnTo>
                  <a:lnTo>
                    <a:pt x="4" y="108"/>
                  </a:lnTo>
                  <a:lnTo>
                    <a:pt x="10" y="126"/>
                  </a:lnTo>
                  <a:lnTo>
                    <a:pt x="34" y="128"/>
                  </a:lnTo>
                  <a:lnTo>
                    <a:pt x="36" y="128"/>
                  </a:lnTo>
                  <a:lnTo>
                    <a:pt x="60" y="140"/>
                  </a:lnTo>
                  <a:lnTo>
                    <a:pt x="86" y="136"/>
                  </a:lnTo>
                  <a:lnTo>
                    <a:pt x="94" y="132"/>
                  </a:lnTo>
                  <a:lnTo>
                    <a:pt x="102" y="126"/>
                  </a:lnTo>
                  <a:lnTo>
                    <a:pt x="112" y="118"/>
                  </a:lnTo>
                  <a:lnTo>
                    <a:pt x="122" y="106"/>
                  </a:lnTo>
                  <a:lnTo>
                    <a:pt x="124" y="106"/>
                  </a:lnTo>
                  <a:lnTo>
                    <a:pt x="126" y="104"/>
                  </a:lnTo>
                  <a:lnTo>
                    <a:pt x="136" y="100"/>
                  </a:lnTo>
                  <a:lnTo>
                    <a:pt x="134" y="66"/>
                  </a:lnTo>
                  <a:lnTo>
                    <a:pt x="148" y="44"/>
                  </a:lnTo>
                  <a:lnTo>
                    <a:pt x="160" y="34"/>
                  </a:lnTo>
                  <a:lnTo>
                    <a:pt x="160" y="22"/>
                  </a:lnTo>
                  <a:lnTo>
                    <a:pt x="158" y="14"/>
                  </a:lnTo>
                  <a:lnTo>
                    <a:pt x="156" y="10"/>
                  </a:lnTo>
                  <a:lnTo>
                    <a:pt x="152" y="2"/>
                  </a:lnTo>
                  <a:lnTo>
                    <a:pt x="146" y="0"/>
                  </a:lnTo>
                  <a:lnTo>
                    <a:pt x="146" y="12"/>
                  </a:lnTo>
                  <a:lnTo>
                    <a:pt x="126" y="8"/>
                  </a:lnTo>
                  <a:lnTo>
                    <a:pt x="116" y="14"/>
                  </a:lnTo>
                  <a:lnTo>
                    <a:pt x="114" y="14"/>
                  </a:lnTo>
                  <a:lnTo>
                    <a:pt x="72" y="14"/>
                  </a:lnTo>
                  <a:close/>
                </a:path>
              </a:pathLst>
            </a:custGeom>
            <a:solidFill>
              <a:schemeClr val="bg1">
                <a:lumMod val="75000"/>
              </a:schemeClr>
            </a:solidFill>
            <a:ln w="12700">
              <a:noFill/>
              <a:prstDash val="solid"/>
              <a:round/>
            </a:ln>
          </p:spPr>
          <p:txBody>
            <a:bodyPr/>
            <a:lstStyle/>
            <a:p>
              <a:endParaRPr lang="zh-CN" altLang="en-US">
                <a:solidFill>
                  <a:srgbClr val="4384F1"/>
                </a:solidFill>
              </a:endParaRPr>
            </a:p>
          </p:txBody>
        </p:sp>
      </p:grpSp>
      <p:sp>
        <p:nvSpPr>
          <p:cNvPr id="62" name="矩形 61"/>
          <p:cNvSpPr/>
          <p:nvPr/>
        </p:nvSpPr>
        <p:spPr>
          <a:xfrm>
            <a:off x="6209665" y="2399665"/>
            <a:ext cx="4657725" cy="935990"/>
          </a:xfrm>
          <a:prstGeom prst="rect">
            <a:avLst/>
          </a:prstGeom>
          <a:solidFill>
            <a:schemeClr val="bg1"/>
          </a:solidFill>
          <a:ln>
            <a:noFill/>
          </a:ln>
          <a:effectLst>
            <a:outerShdw blurRad="190500" dist="127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6" name="文本框 45"/>
          <p:cNvSpPr txBox="1"/>
          <p:nvPr/>
        </p:nvSpPr>
        <p:spPr>
          <a:xfrm>
            <a:off x="6210300" y="2428875"/>
            <a:ext cx="4370705" cy="368300"/>
          </a:xfrm>
          <a:prstGeom prst="rect">
            <a:avLst/>
          </a:prstGeom>
          <a:noFill/>
        </p:spPr>
        <p:txBody>
          <a:bodyPr wrap="square" rtlCol="0">
            <a:spAutoFit/>
          </a:bodyPr>
          <a:lstStyle/>
          <a:p>
            <a:r>
              <a:rPr lang="en-US" altLang="zh-CN" spc="600" dirty="0">
                <a:solidFill>
                  <a:prstClr val="black">
                    <a:lumMod val="75000"/>
                    <a:lumOff val="25000"/>
                  </a:prstClr>
                </a:solidFill>
                <a:latin typeface="微软雅黑" panose="020B0503020204020204" charset="-122"/>
                <a:ea typeface="微软雅黑" panose="020B0503020204020204" charset="-122"/>
              </a:rPr>
              <a:t> </a:t>
            </a:r>
            <a:r>
              <a:rPr lang="zh-CN" altLang="en-US" spc="600" dirty="0">
                <a:solidFill>
                  <a:prstClr val="black">
                    <a:lumMod val="75000"/>
                    <a:lumOff val="25000"/>
                  </a:prstClr>
                </a:solidFill>
                <a:latin typeface="微软雅黑" panose="020B0503020204020204" charset="-122"/>
                <a:ea typeface="微软雅黑" panose="020B0503020204020204" charset="-122"/>
              </a:rPr>
              <a:t>公司总部</a:t>
            </a:r>
            <a:r>
              <a:rPr lang="en-US" altLang="zh-CN" spc="600" dirty="0">
                <a:solidFill>
                  <a:prstClr val="black">
                    <a:lumMod val="75000"/>
                    <a:lumOff val="25000"/>
                  </a:prstClr>
                </a:solidFill>
                <a:latin typeface="微软雅黑" panose="020B0503020204020204" charset="-122"/>
                <a:ea typeface="微软雅黑" panose="020B0503020204020204" charset="-122"/>
              </a:rPr>
              <a:t>——</a:t>
            </a:r>
            <a:r>
              <a:rPr lang="zh-CN" altLang="en-US" spc="600" dirty="0">
                <a:solidFill>
                  <a:prstClr val="black">
                    <a:lumMod val="75000"/>
                    <a:lumOff val="25000"/>
                  </a:prstClr>
                </a:solidFill>
                <a:latin typeface="微软雅黑" panose="020B0503020204020204" charset="-122"/>
                <a:ea typeface="微软雅黑" panose="020B0503020204020204" charset="-122"/>
              </a:rPr>
              <a:t>江苏南京</a:t>
            </a:r>
          </a:p>
        </p:txBody>
      </p:sp>
      <p:sp>
        <p:nvSpPr>
          <p:cNvPr id="56" name="矩形 55"/>
          <p:cNvSpPr/>
          <p:nvPr/>
        </p:nvSpPr>
        <p:spPr>
          <a:xfrm>
            <a:off x="6339840" y="2832735"/>
            <a:ext cx="4241165" cy="646430"/>
          </a:xfrm>
          <a:prstGeom prst="rect">
            <a:avLst/>
          </a:prstGeom>
        </p:spPr>
        <p:txBody>
          <a:bodyPr wrap="square">
            <a:noAutofit/>
          </a:bodyPr>
          <a:lstStyle/>
          <a:p>
            <a:pPr>
              <a:lnSpc>
                <a:spcPct val="120000"/>
              </a:lnSpc>
            </a:pPr>
            <a:r>
              <a:rPr lang="zh-CN" altLang="en-US" sz="1200" dirty="0">
                <a:solidFill>
                  <a:prstClr val="black">
                    <a:lumMod val="50000"/>
                    <a:lumOff val="50000"/>
                  </a:prstClr>
                </a:solidFill>
                <a:latin typeface="微软雅黑" panose="020B0503020204020204" charset="-122"/>
                <a:ea typeface="微软雅黑" panose="020B0503020204020204" charset="-122"/>
              </a:rPr>
              <a:t>南京酷灵机器人科技公司的总部和生产线均设立于江苏南京六合区，总部直管技术研发和生产</a:t>
            </a:r>
          </a:p>
        </p:txBody>
      </p:sp>
      <p:grpSp>
        <p:nvGrpSpPr>
          <p:cNvPr id="85" name="PA_组合 84"/>
          <p:cNvGrpSpPr/>
          <p:nvPr>
            <p:custDataLst>
              <p:tags r:id="rId2"/>
            </p:custDataLst>
          </p:nvPr>
        </p:nvGrpSpPr>
        <p:grpSpPr>
          <a:xfrm>
            <a:off x="5726827" y="2831005"/>
            <a:ext cx="5067010" cy="1106621"/>
            <a:chOff x="4354980" y="179633"/>
            <a:chExt cx="5067010" cy="1106621"/>
          </a:xfrm>
        </p:grpSpPr>
        <p:cxnSp>
          <p:nvCxnSpPr>
            <p:cNvPr id="4" name="直接连接符 3"/>
            <p:cNvCxnSpPr/>
            <p:nvPr/>
          </p:nvCxnSpPr>
          <p:spPr>
            <a:xfrm>
              <a:off x="4780140" y="179633"/>
              <a:ext cx="4641850" cy="8255"/>
            </a:xfrm>
            <a:prstGeom prst="line">
              <a:avLst/>
            </a:prstGeom>
            <a:ln w="9525" cap="rnd">
              <a:solidFill>
                <a:schemeClr val="accent5">
                  <a:alpha val="8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V="1">
              <a:off x="4354980" y="179634"/>
              <a:ext cx="425160" cy="1106620"/>
            </a:xfrm>
            <a:prstGeom prst="line">
              <a:avLst/>
            </a:prstGeom>
            <a:ln w="9525" cap="rnd">
              <a:solidFill>
                <a:schemeClr val="accent5"/>
              </a:solidFill>
            </a:ln>
          </p:spPr>
          <p:style>
            <a:lnRef idx="1">
              <a:schemeClr val="accent1"/>
            </a:lnRef>
            <a:fillRef idx="0">
              <a:schemeClr val="accent1"/>
            </a:fillRef>
            <a:effectRef idx="0">
              <a:schemeClr val="accent1"/>
            </a:effectRef>
            <a:fontRef idx="minor">
              <a:schemeClr val="tx1"/>
            </a:fontRef>
          </p:style>
        </p:cxnSp>
      </p:grpSp>
      <p:sp>
        <p:nvSpPr>
          <p:cNvPr id="58" name="椭圆 57"/>
          <p:cNvSpPr/>
          <p:nvPr/>
        </p:nvSpPr>
        <p:spPr>
          <a:xfrm flipV="1">
            <a:off x="5458904" y="3839264"/>
            <a:ext cx="58596" cy="58596"/>
          </a:xfrm>
          <a:prstGeom prst="ellipse">
            <a:avLst/>
          </a:prstGeom>
          <a:solidFill>
            <a:schemeClr val="bg1">
              <a:alpha val="50000"/>
            </a:schemeClr>
          </a:solidFill>
          <a:ln w="1270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0" name="椭圆 59"/>
          <p:cNvSpPr/>
          <p:nvPr/>
        </p:nvSpPr>
        <p:spPr>
          <a:xfrm flipV="1">
            <a:off x="4104169" y="4475733"/>
            <a:ext cx="95048" cy="95048"/>
          </a:xfrm>
          <a:prstGeom prst="ellipse">
            <a:avLst/>
          </a:prstGeom>
          <a:solidFill>
            <a:schemeClr val="bg1">
              <a:alpha val="50000"/>
            </a:schemeClr>
          </a:solidFill>
          <a:ln w="1270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6" name="椭圆 15"/>
          <p:cNvSpPr/>
          <p:nvPr/>
        </p:nvSpPr>
        <p:spPr>
          <a:xfrm>
            <a:off x="5494865" y="3897541"/>
            <a:ext cx="390792" cy="390792"/>
          </a:xfrm>
          <a:prstGeom prst="ellipse">
            <a:avLst/>
          </a:prstGeom>
          <a:solidFill>
            <a:schemeClr val="accent5"/>
          </a:solidFill>
          <a:ln w="1270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7" name="椭圆 56"/>
          <p:cNvSpPr/>
          <p:nvPr/>
        </p:nvSpPr>
        <p:spPr>
          <a:xfrm flipV="1">
            <a:off x="5608320" y="4056380"/>
            <a:ext cx="118745" cy="95250"/>
          </a:xfrm>
          <a:prstGeom prst="ellipse">
            <a:avLst/>
          </a:prstGeom>
          <a:solidFill>
            <a:schemeClr val="bg1">
              <a:alpha val="50000"/>
            </a:schemeClr>
          </a:solidFill>
          <a:ln w="1270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 name="矩形 4"/>
          <p:cNvSpPr/>
          <p:nvPr/>
        </p:nvSpPr>
        <p:spPr>
          <a:xfrm>
            <a:off x="975989" y="3108156"/>
            <a:ext cx="65753" cy="461665"/>
          </a:xfrm>
          <a:prstGeom prst="rect">
            <a:avLst/>
          </a:prstGeom>
          <a:gradFill>
            <a:gsLst>
              <a:gs pos="50000">
                <a:srgbClr val="1F5FBF"/>
              </a:gs>
              <a:gs pos="0">
                <a:srgbClr val="1486CB"/>
              </a:gs>
              <a:gs pos="100000">
                <a:srgbClr val="2A34B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sp>
        <p:nvSpPr>
          <p:cNvPr id="13" name="文本框 12"/>
          <p:cNvSpPr txBox="1"/>
          <p:nvPr/>
        </p:nvSpPr>
        <p:spPr>
          <a:xfrm>
            <a:off x="397340" y="3598105"/>
            <a:ext cx="1257300" cy="645160"/>
          </a:xfrm>
          <a:prstGeom prst="rect">
            <a:avLst/>
          </a:prstGeom>
          <a:noFill/>
        </p:spPr>
        <p:txBody>
          <a:bodyPr wrap="square">
            <a:spAutoFit/>
          </a:bodyPr>
          <a:lstStyle/>
          <a:p>
            <a:pPr algn="ctr"/>
            <a:r>
              <a:rPr lang="en-US" sz="1200" b="1">
                <a:solidFill>
                  <a:schemeClr val="accent1">
                    <a:lumMod val="40000"/>
                    <a:lumOff val="60000"/>
                  </a:schemeClr>
                </a:solidFill>
                <a:latin typeface="Arial" panose="020B0604020202020204"/>
                <a:ea typeface="Arial" panose="020B0604020202020204"/>
                <a:cs typeface="Arial" panose="020B0604020202020204"/>
                <a:sym typeface="Arial" panose="020B0604020202020204"/>
              </a:rPr>
              <a:t>Nanjing Cooling</a:t>
            </a:r>
            <a:endParaRPr lang="en-US" altLang="zh-CN" sz="1200" b="1" dirty="0">
              <a:solidFill>
                <a:schemeClr val="accent1">
                  <a:lumMod val="40000"/>
                  <a:lumOff val="60000"/>
                </a:schemeClr>
              </a:solidFill>
              <a:latin typeface="微软雅黑" panose="020B0503020204020204" charset="-122"/>
              <a:ea typeface="微软雅黑" panose="020B0503020204020204" charset="-122"/>
              <a:sym typeface="+mn-ea"/>
            </a:endParaRPr>
          </a:p>
          <a:p>
            <a:pPr algn="ctr"/>
            <a:endParaRPr lang="en-US" altLang="zh-CN" sz="1200" b="1" dirty="0">
              <a:solidFill>
                <a:schemeClr val="accent1">
                  <a:lumMod val="40000"/>
                  <a:lumOff val="60000"/>
                </a:schemeClr>
              </a:solidFill>
              <a:latin typeface="微软雅黑" panose="020B0503020204020204" charset="-122"/>
              <a:ea typeface="微软雅黑" panose="020B0503020204020204" charset="-122"/>
              <a:sym typeface="+mn-ea"/>
            </a:endParaRPr>
          </a:p>
        </p:txBody>
      </p:sp>
      <p:sp>
        <p:nvSpPr>
          <p:cNvPr id="7" name="文本框 6"/>
          <p:cNvSpPr txBox="1"/>
          <p:nvPr/>
        </p:nvSpPr>
        <p:spPr>
          <a:xfrm>
            <a:off x="252688" y="4209588"/>
            <a:ext cx="1576567" cy="645160"/>
          </a:xfrm>
          <a:prstGeom prst="rect">
            <a:avLst/>
          </a:prstGeom>
          <a:noFill/>
        </p:spPr>
        <p:txBody>
          <a:bodyPr wrap="square" rtlCol="0">
            <a:spAutoFit/>
          </a:bodyPr>
          <a:lstStyle/>
          <a:p>
            <a:pPr algn="ctr">
              <a:lnSpc>
                <a:spcPct val="150000"/>
              </a:lnSpc>
            </a:pPr>
            <a:r>
              <a:rPr lang="zh-CN" altLang="en-US" sz="1200" b="1" dirty="0">
                <a:solidFill>
                  <a:schemeClr val="accent1">
                    <a:lumMod val="50000"/>
                  </a:schemeClr>
                </a:solidFill>
                <a:latin typeface="微软雅黑" panose="020B0503020204020204" charset="-122"/>
                <a:ea typeface="微软雅黑" panose="020B0503020204020204" charset="-122"/>
              </a:rPr>
              <a:t>酷灵热管理</a:t>
            </a:r>
            <a:endParaRPr lang="en-US" altLang="zh-CN" sz="1200" b="1" dirty="0">
              <a:solidFill>
                <a:schemeClr val="accent1">
                  <a:lumMod val="50000"/>
                </a:schemeClr>
              </a:solidFill>
              <a:latin typeface="微软雅黑" panose="020B0503020204020204" charset="-122"/>
              <a:ea typeface="微软雅黑" panose="020B0503020204020204" charset="-122"/>
            </a:endParaRPr>
          </a:p>
          <a:p>
            <a:pPr algn="ctr">
              <a:lnSpc>
                <a:spcPct val="150000"/>
              </a:lnSpc>
            </a:pPr>
            <a:r>
              <a:rPr lang="zh-CN" altLang="en-US" sz="1200" b="1" dirty="0">
                <a:solidFill>
                  <a:schemeClr val="accent1">
                    <a:lumMod val="50000"/>
                  </a:schemeClr>
                </a:solidFill>
                <a:latin typeface="微软雅黑" panose="020B0503020204020204" charset="-122"/>
                <a:ea typeface="微软雅黑" panose="020B0503020204020204" charset="-122"/>
              </a:rPr>
              <a:t>为机器人持久赋能</a:t>
            </a:r>
          </a:p>
        </p:txBody>
      </p:sp>
      <p:sp>
        <p:nvSpPr>
          <p:cNvPr id="10" name="文本框 9"/>
          <p:cNvSpPr txBox="1"/>
          <p:nvPr/>
        </p:nvSpPr>
        <p:spPr>
          <a:xfrm>
            <a:off x="328295" y="4937760"/>
            <a:ext cx="1501140" cy="521970"/>
          </a:xfrm>
          <a:prstGeom prst="rect">
            <a:avLst/>
          </a:prstGeom>
          <a:noFill/>
        </p:spPr>
        <p:txBody>
          <a:bodyPr wrap="square">
            <a:spAutoFit/>
          </a:bodyPr>
          <a:lstStyle/>
          <a:p>
            <a:pPr algn="ctr"/>
            <a:endParaRPr lang="zh-CN" altLang="en-US" sz="1400" b="1" dirty="0">
              <a:solidFill>
                <a:schemeClr val="accent1">
                  <a:lumMod val="50000"/>
                </a:schemeClr>
              </a:solidFill>
              <a:latin typeface="华文楷体" panose="02010600040101010101" pitchFamily="2" charset="-122"/>
              <a:ea typeface="华文楷体" panose="02010600040101010101" pitchFamily="2" charset="-122"/>
            </a:endParaRPr>
          </a:p>
          <a:p>
            <a:pPr algn="ctr"/>
            <a:r>
              <a:rPr lang="zh-CN" altLang="en-US" sz="1400" b="1" dirty="0">
                <a:solidFill>
                  <a:schemeClr val="accent1">
                    <a:lumMod val="40000"/>
                    <a:lumOff val="60000"/>
                  </a:schemeClr>
                </a:solidFill>
                <a:latin typeface="华文楷体" panose="02010600040101010101" pitchFamily="2" charset="-122"/>
                <a:ea typeface="华文楷体" panose="02010600040101010101" pitchFamily="2" charset="-122"/>
                <a:sym typeface="+mn-ea"/>
              </a:rPr>
              <a:t>公司及团队介绍</a:t>
            </a:r>
          </a:p>
        </p:txBody>
      </p:sp>
      <p:sp>
        <p:nvSpPr>
          <p:cNvPr id="18" name="矩形 17"/>
          <p:cNvSpPr/>
          <p:nvPr/>
        </p:nvSpPr>
        <p:spPr>
          <a:xfrm>
            <a:off x="975302" y="5494284"/>
            <a:ext cx="65753" cy="461665"/>
          </a:xfrm>
          <a:prstGeom prst="rect">
            <a:avLst/>
          </a:prstGeom>
          <a:gradFill>
            <a:gsLst>
              <a:gs pos="50000">
                <a:srgbClr val="1F5FBF"/>
              </a:gs>
              <a:gs pos="0">
                <a:srgbClr val="1486CB"/>
              </a:gs>
              <a:gs pos="100000">
                <a:srgbClr val="2A34B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fade">
                                      <p:cBhvr>
                                        <p:cTn id="7" dur="750"/>
                                        <p:tgtEl>
                                          <p:spTgt spid="119"/>
                                        </p:tgtEl>
                                      </p:cBhvr>
                                    </p:animEffect>
                                  </p:childTnLst>
                                </p:cTn>
                              </p:par>
                              <p:par>
                                <p:cTn id="8" presetID="63" presetClass="path" presetSubtype="0" decel="50000" fill="hold" nodeType="withEffect">
                                  <p:stCondLst>
                                    <p:cond delay="0"/>
                                  </p:stCondLst>
                                  <p:childTnLst>
                                    <p:animMotion origin="layout" path="M 0.01524 -2.96296E-6 L -0.10885 -2.96296E-6 " pathEditMode="relative" rAng="0" ptsTypes="AA">
                                      <p:cBhvr>
                                        <p:cTn id="9" dur="750" spd="-100000" fill="hold"/>
                                        <p:tgtEl>
                                          <p:spTgt spid="119"/>
                                        </p:tgtEl>
                                        <p:attrNameLst>
                                          <p:attrName>ppt_x</p:attrName>
                                          <p:attrName>ppt_y</p:attrName>
                                        </p:attrNameLst>
                                      </p:cBhvr>
                                      <p:rCtr x="-6211" y="0"/>
                                    </p:animMotion>
                                  </p:childTnLst>
                                </p:cTn>
                              </p:par>
                              <p:par>
                                <p:cTn id="10" presetID="35" presetClass="path" presetSubtype="0" accel="50000" decel="50000" fill="hold" nodeType="withEffect">
                                  <p:stCondLst>
                                    <p:cond delay="750"/>
                                  </p:stCondLst>
                                  <p:childTnLst>
                                    <p:animMotion origin="layout" path="M 0.01602 -2.96296E-6 L -1.45833E-6 -2.96296E-6 " pathEditMode="relative" rAng="0" ptsTypes="AA">
                                      <p:cBhvr>
                                        <p:cTn id="11" dur="750" fill="hold"/>
                                        <p:tgtEl>
                                          <p:spTgt spid="119"/>
                                        </p:tgtEl>
                                        <p:attrNameLst>
                                          <p:attrName>ppt_x</p:attrName>
                                          <p:attrName>ppt_y</p:attrName>
                                        </p:attrNameLst>
                                      </p:cBhvr>
                                      <p:rCtr x="-807" y="0"/>
                                    </p:animMotion>
                                  </p:childTnLst>
                                </p:cTn>
                              </p:par>
                              <p:par>
                                <p:cTn id="12" presetID="10" presetClass="entr" presetSubtype="0" fill="hold" grpId="0" nodeType="withEffect">
                                  <p:stCondLst>
                                    <p:cond delay="2250"/>
                                  </p:stCondLst>
                                  <p:childTnLst>
                                    <p:set>
                                      <p:cBhvr>
                                        <p:cTn id="13" dur="1" fill="hold">
                                          <p:stCondLst>
                                            <p:cond delay="0"/>
                                          </p:stCondLst>
                                        </p:cTn>
                                        <p:tgtEl>
                                          <p:spTgt spid="57"/>
                                        </p:tgtEl>
                                        <p:attrNameLst>
                                          <p:attrName>style.visibility</p:attrName>
                                        </p:attrNameLst>
                                      </p:cBhvr>
                                      <p:to>
                                        <p:strVal val="visible"/>
                                      </p:to>
                                    </p:set>
                                    <p:animEffect transition="in" filter="fade">
                                      <p:cBhvr>
                                        <p:cTn id="14" dur="750"/>
                                        <p:tgtEl>
                                          <p:spTgt spid="57"/>
                                        </p:tgtEl>
                                      </p:cBhvr>
                                    </p:animEffect>
                                  </p:childTnLst>
                                </p:cTn>
                              </p:par>
                              <p:par>
                                <p:cTn id="15" presetID="10" presetClass="entr" presetSubtype="0" fill="hold" grpId="0" nodeType="withEffect">
                                  <p:stCondLst>
                                    <p:cond delay="2250"/>
                                  </p:stCondLst>
                                  <p:childTnLst>
                                    <p:set>
                                      <p:cBhvr>
                                        <p:cTn id="16" dur="1" fill="hold">
                                          <p:stCondLst>
                                            <p:cond delay="0"/>
                                          </p:stCondLst>
                                        </p:cTn>
                                        <p:tgtEl>
                                          <p:spTgt spid="58"/>
                                        </p:tgtEl>
                                        <p:attrNameLst>
                                          <p:attrName>style.visibility</p:attrName>
                                        </p:attrNameLst>
                                      </p:cBhvr>
                                      <p:to>
                                        <p:strVal val="visible"/>
                                      </p:to>
                                    </p:set>
                                    <p:animEffect transition="in" filter="fade">
                                      <p:cBhvr>
                                        <p:cTn id="17" dur="750"/>
                                        <p:tgtEl>
                                          <p:spTgt spid="58"/>
                                        </p:tgtEl>
                                      </p:cBhvr>
                                    </p:animEffect>
                                  </p:childTnLst>
                                </p:cTn>
                              </p:par>
                              <p:par>
                                <p:cTn id="18" presetID="10" presetClass="entr" presetSubtype="0" fill="hold" grpId="0" nodeType="withEffect">
                                  <p:stCondLst>
                                    <p:cond delay="2250"/>
                                  </p:stCondLst>
                                  <p:childTnLst>
                                    <p:set>
                                      <p:cBhvr>
                                        <p:cTn id="19" dur="1" fill="hold">
                                          <p:stCondLst>
                                            <p:cond delay="0"/>
                                          </p:stCondLst>
                                        </p:cTn>
                                        <p:tgtEl>
                                          <p:spTgt spid="60"/>
                                        </p:tgtEl>
                                        <p:attrNameLst>
                                          <p:attrName>style.visibility</p:attrName>
                                        </p:attrNameLst>
                                      </p:cBhvr>
                                      <p:to>
                                        <p:strVal val="visible"/>
                                      </p:to>
                                    </p:set>
                                    <p:animEffect transition="in" filter="fade">
                                      <p:cBhvr>
                                        <p:cTn id="20" dur="750"/>
                                        <p:tgtEl>
                                          <p:spTgt spid="60"/>
                                        </p:tgtEl>
                                      </p:cBhvr>
                                    </p:animEffect>
                                  </p:childTnLst>
                                </p:cTn>
                              </p:par>
                              <p:par>
                                <p:cTn id="21" presetID="10" presetClass="entr" presetSubtype="0" fill="hold" nodeType="withEffect">
                                  <p:stCondLst>
                                    <p:cond delay="2250"/>
                                  </p:stCondLst>
                                  <p:childTnLst>
                                    <p:set>
                                      <p:cBhvr>
                                        <p:cTn id="22" dur="1" fill="hold">
                                          <p:stCondLst>
                                            <p:cond delay="0"/>
                                          </p:stCondLst>
                                        </p:cTn>
                                        <p:tgtEl>
                                          <p:spTgt spid="85"/>
                                        </p:tgtEl>
                                        <p:attrNameLst>
                                          <p:attrName>style.visibility</p:attrName>
                                        </p:attrNameLst>
                                      </p:cBhvr>
                                      <p:to>
                                        <p:strVal val="visible"/>
                                      </p:to>
                                    </p:set>
                                    <p:animEffect transition="in" filter="fade">
                                      <p:cBhvr>
                                        <p:cTn id="23" dur="750"/>
                                        <p:tgtEl>
                                          <p:spTgt spid="85"/>
                                        </p:tgtEl>
                                      </p:cBhvr>
                                    </p:animEffect>
                                  </p:childTnLst>
                                </p:cTn>
                              </p:par>
                              <p:par>
                                <p:cTn id="24" presetID="10" presetClass="entr" presetSubtype="0" fill="hold" grpId="0" nodeType="withEffect">
                                  <p:stCondLst>
                                    <p:cond delay="2250"/>
                                  </p:stCondLst>
                                  <p:childTnLst>
                                    <p:set>
                                      <p:cBhvr>
                                        <p:cTn id="25" dur="1" fill="hold">
                                          <p:stCondLst>
                                            <p:cond delay="0"/>
                                          </p:stCondLst>
                                        </p:cTn>
                                        <p:tgtEl>
                                          <p:spTgt spid="62"/>
                                        </p:tgtEl>
                                        <p:attrNameLst>
                                          <p:attrName>style.visibility</p:attrName>
                                        </p:attrNameLst>
                                      </p:cBhvr>
                                      <p:to>
                                        <p:strVal val="visible"/>
                                      </p:to>
                                    </p:set>
                                    <p:animEffect transition="in" filter="fade">
                                      <p:cBhvr>
                                        <p:cTn id="26" dur="750"/>
                                        <p:tgtEl>
                                          <p:spTgt spid="62"/>
                                        </p:tgtEl>
                                      </p:cBhvr>
                                    </p:animEffect>
                                  </p:childTnLst>
                                </p:cTn>
                              </p:par>
                              <p:par>
                                <p:cTn id="27" presetID="22" presetClass="entr" presetSubtype="8" fill="hold" grpId="0" nodeType="withEffect">
                                  <p:stCondLst>
                                    <p:cond delay="3000"/>
                                  </p:stCondLst>
                                  <p:childTnLst>
                                    <p:set>
                                      <p:cBhvr>
                                        <p:cTn id="28" dur="1" fill="hold">
                                          <p:stCondLst>
                                            <p:cond delay="0"/>
                                          </p:stCondLst>
                                        </p:cTn>
                                        <p:tgtEl>
                                          <p:spTgt spid="46"/>
                                        </p:tgtEl>
                                        <p:attrNameLst>
                                          <p:attrName>style.visibility</p:attrName>
                                        </p:attrNameLst>
                                      </p:cBhvr>
                                      <p:to>
                                        <p:strVal val="visible"/>
                                      </p:to>
                                    </p:set>
                                    <p:animEffect transition="in" filter="wipe(left)">
                                      <p:cBhvr>
                                        <p:cTn id="29" dur="750"/>
                                        <p:tgtEl>
                                          <p:spTgt spid="46"/>
                                        </p:tgtEl>
                                      </p:cBhvr>
                                    </p:animEffect>
                                  </p:childTnLst>
                                </p:cTn>
                              </p:par>
                              <p:par>
                                <p:cTn id="30" presetID="10" presetClass="entr" presetSubtype="0" fill="hold" grpId="0" nodeType="withEffect">
                                  <p:stCondLst>
                                    <p:cond delay="3750"/>
                                  </p:stCondLst>
                                  <p:childTnLst>
                                    <p:set>
                                      <p:cBhvr>
                                        <p:cTn id="31" dur="1" fill="hold">
                                          <p:stCondLst>
                                            <p:cond delay="0"/>
                                          </p:stCondLst>
                                        </p:cTn>
                                        <p:tgtEl>
                                          <p:spTgt spid="56"/>
                                        </p:tgtEl>
                                        <p:attrNameLst>
                                          <p:attrName>style.visibility</p:attrName>
                                        </p:attrNameLst>
                                      </p:cBhvr>
                                      <p:to>
                                        <p:strVal val="visible"/>
                                      </p:to>
                                    </p:set>
                                    <p:animEffect transition="in" filter="fade">
                                      <p:cBhvr>
                                        <p:cTn id="32" dur="750"/>
                                        <p:tgtEl>
                                          <p:spTgt spid="56"/>
                                        </p:tgtEl>
                                      </p:cBhvr>
                                    </p:animEffect>
                                  </p:childTnLst>
                                </p:cTn>
                              </p:par>
                              <p:par>
                                <p:cTn id="33" presetID="53" presetClass="entr" presetSubtype="16" fill="hold" grpId="0" nodeType="withEffect">
                                  <p:stCondLst>
                                    <p:cond delay="1750"/>
                                  </p:stCondLst>
                                  <p:childTnLst>
                                    <p:set>
                                      <p:cBhvr>
                                        <p:cTn id="34" dur="1" fill="hold">
                                          <p:stCondLst>
                                            <p:cond delay="0"/>
                                          </p:stCondLst>
                                        </p:cTn>
                                        <p:tgtEl>
                                          <p:spTgt spid="16"/>
                                        </p:tgtEl>
                                        <p:attrNameLst>
                                          <p:attrName>style.visibility</p:attrName>
                                        </p:attrNameLst>
                                      </p:cBhvr>
                                      <p:to>
                                        <p:strVal val="visible"/>
                                      </p:to>
                                    </p:set>
                                    <p:anim calcmode="lin" valueType="num">
                                      <p:cBhvr>
                                        <p:cTn id="35" dur="750" fill="hold"/>
                                        <p:tgtEl>
                                          <p:spTgt spid="16"/>
                                        </p:tgtEl>
                                        <p:attrNameLst>
                                          <p:attrName>ppt_w</p:attrName>
                                        </p:attrNameLst>
                                      </p:cBhvr>
                                      <p:tavLst>
                                        <p:tav tm="0">
                                          <p:val>
                                            <p:fltVal val="0"/>
                                          </p:val>
                                        </p:tav>
                                        <p:tav tm="100000">
                                          <p:val>
                                            <p:strVal val="#ppt_w"/>
                                          </p:val>
                                        </p:tav>
                                      </p:tavLst>
                                    </p:anim>
                                    <p:anim calcmode="lin" valueType="num">
                                      <p:cBhvr>
                                        <p:cTn id="36" dur="750" fill="hold"/>
                                        <p:tgtEl>
                                          <p:spTgt spid="16"/>
                                        </p:tgtEl>
                                        <p:attrNameLst>
                                          <p:attrName>ppt_h</p:attrName>
                                        </p:attrNameLst>
                                      </p:cBhvr>
                                      <p:tavLst>
                                        <p:tav tm="0">
                                          <p:val>
                                            <p:fltVal val="0"/>
                                          </p:val>
                                        </p:tav>
                                        <p:tav tm="100000">
                                          <p:val>
                                            <p:strVal val="#ppt_h"/>
                                          </p:val>
                                        </p:tav>
                                      </p:tavLst>
                                    </p:anim>
                                    <p:animEffect transition="in" filter="fade">
                                      <p:cBhvr>
                                        <p:cTn id="37" dur="7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bldLvl="0" animBg="1"/>
      <p:bldP spid="46" grpId="0"/>
      <p:bldP spid="56" grpId="0"/>
      <p:bldP spid="58" grpId="0" bldLvl="0" animBg="1"/>
      <p:bldP spid="60" grpId="0" bldLvl="0" animBg="1"/>
      <p:bldP spid="16" grpId="0" bldLvl="0" animBg="1"/>
      <p:bldP spid="57"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6"/>
          <p:cNvPicPr>
            <a:picLocks noChangeAspect="1"/>
          </p:cNvPicPr>
          <p:nvPr/>
        </p:nvPicPr>
        <p:blipFill>
          <a:blip r:embed="rId2"/>
          <a:stretch>
            <a:fillRect/>
          </a:stretch>
        </p:blipFill>
        <p:spPr>
          <a:xfrm rot="21600000">
            <a:off x="0" y="6576693"/>
            <a:ext cx="12192000" cy="271779"/>
          </a:xfrm>
          <a:prstGeom prst="rect">
            <a:avLst/>
          </a:prstGeom>
        </p:spPr>
      </p:pic>
      <p:sp>
        <p:nvSpPr>
          <p:cNvPr id="70" name="textbox 70"/>
          <p:cNvSpPr/>
          <p:nvPr/>
        </p:nvSpPr>
        <p:spPr>
          <a:xfrm>
            <a:off x="1636628" y="455178"/>
            <a:ext cx="2599689" cy="507365"/>
          </a:xfrm>
          <a:prstGeom prst="rect">
            <a:avLst/>
          </a:prstGeom>
          <a:noFill/>
          <a:ln w="0" cap="flat">
            <a:noFill/>
            <a:prstDash val="solid"/>
            <a:miter lim="0"/>
          </a:ln>
        </p:spPr>
        <p:txBody>
          <a:bodyPr vert="horz" wrap="square" lIns="0" tIns="0" rIns="0" bIns="0"/>
          <a:lstStyle/>
          <a:p>
            <a:pPr algn="l" rtl="0" eaLnBrk="0">
              <a:lnSpc>
                <a:spcPct val="93000"/>
              </a:lnSpc>
            </a:pPr>
            <a:endParaRPr sz="1000" dirty="0">
              <a:latin typeface="微软雅黑" panose="020B0503020204020204" charset="-122"/>
              <a:ea typeface="微软雅黑" panose="020B0503020204020204" charset="-122"/>
              <a:cs typeface="微软雅黑" panose="020B0503020204020204" charset="-122"/>
            </a:endParaRPr>
          </a:p>
        </p:txBody>
      </p:sp>
      <p:sp>
        <p:nvSpPr>
          <p:cNvPr id="74" name="path 74"/>
          <p:cNvSpPr/>
          <p:nvPr/>
        </p:nvSpPr>
        <p:spPr>
          <a:xfrm>
            <a:off x="348614" y="354965"/>
            <a:ext cx="540385" cy="137794"/>
          </a:xfrm>
          <a:custGeom>
            <a:avLst/>
            <a:gdLst/>
            <a:ahLst/>
            <a:cxnLst/>
            <a:rect l="0" t="0" r="0" b="0"/>
            <a:pathLst>
              <a:path w="851" h="216">
                <a:moveTo>
                  <a:pt x="0" y="216"/>
                </a:moveTo>
                <a:lnTo>
                  <a:pt x="217" y="216"/>
                </a:lnTo>
                <a:lnTo>
                  <a:pt x="217" y="0"/>
                </a:lnTo>
                <a:lnTo>
                  <a:pt x="0" y="0"/>
                </a:lnTo>
                <a:lnTo>
                  <a:pt x="0" y="216"/>
                </a:lnTo>
                <a:close/>
              </a:path>
              <a:path w="851" h="216">
                <a:moveTo>
                  <a:pt x="317" y="216"/>
                </a:moveTo>
                <a:lnTo>
                  <a:pt x="534" y="216"/>
                </a:lnTo>
                <a:lnTo>
                  <a:pt x="534" y="0"/>
                </a:lnTo>
                <a:lnTo>
                  <a:pt x="317" y="0"/>
                </a:lnTo>
                <a:lnTo>
                  <a:pt x="317" y="216"/>
                </a:lnTo>
                <a:close/>
              </a:path>
              <a:path w="851" h="216">
                <a:moveTo>
                  <a:pt x="633" y="216"/>
                </a:moveTo>
                <a:lnTo>
                  <a:pt x="851" y="216"/>
                </a:lnTo>
                <a:lnTo>
                  <a:pt x="851" y="0"/>
                </a:lnTo>
                <a:lnTo>
                  <a:pt x="633" y="0"/>
                </a:lnTo>
                <a:lnTo>
                  <a:pt x="633"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2" name="path 82"/>
          <p:cNvSpPr/>
          <p:nvPr/>
        </p:nvSpPr>
        <p:spPr>
          <a:xfrm>
            <a:off x="348614" y="567054"/>
            <a:ext cx="339090" cy="349885"/>
          </a:xfrm>
          <a:custGeom>
            <a:avLst/>
            <a:gdLst/>
            <a:ahLst/>
            <a:cxnLst/>
            <a:rect l="0" t="0" r="0" b="0"/>
            <a:pathLst>
              <a:path w="534" h="551">
                <a:moveTo>
                  <a:pt x="0" y="217"/>
                </a:moveTo>
                <a:lnTo>
                  <a:pt x="217" y="217"/>
                </a:lnTo>
                <a:lnTo>
                  <a:pt x="217" y="0"/>
                </a:lnTo>
                <a:lnTo>
                  <a:pt x="0" y="0"/>
                </a:lnTo>
                <a:lnTo>
                  <a:pt x="0" y="217"/>
                </a:lnTo>
                <a:close/>
              </a:path>
              <a:path w="534" h="551">
                <a:moveTo>
                  <a:pt x="317" y="217"/>
                </a:moveTo>
                <a:lnTo>
                  <a:pt x="534" y="217"/>
                </a:lnTo>
                <a:lnTo>
                  <a:pt x="534" y="0"/>
                </a:lnTo>
                <a:lnTo>
                  <a:pt x="317" y="0"/>
                </a:lnTo>
                <a:lnTo>
                  <a:pt x="317" y="217"/>
                </a:lnTo>
                <a:close/>
              </a:path>
              <a:path w="534" h="551">
                <a:moveTo>
                  <a:pt x="0" y="551"/>
                </a:moveTo>
                <a:lnTo>
                  <a:pt x="217" y="551"/>
                </a:lnTo>
                <a:lnTo>
                  <a:pt x="217" y="334"/>
                </a:lnTo>
                <a:lnTo>
                  <a:pt x="0" y="334"/>
                </a:lnTo>
                <a:lnTo>
                  <a:pt x="0" y="551"/>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4" name="path 84"/>
          <p:cNvSpPr/>
          <p:nvPr/>
        </p:nvSpPr>
        <p:spPr>
          <a:xfrm>
            <a:off x="348614" y="142875"/>
            <a:ext cx="741680" cy="137794"/>
          </a:xfrm>
          <a:custGeom>
            <a:avLst/>
            <a:gdLst/>
            <a:ahLst/>
            <a:cxnLst/>
            <a:rect l="0" t="0" r="0" b="0"/>
            <a:pathLst>
              <a:path w="1168" h="216">
                <a:moveTo>
                  <a:pt x="0" y="216"/>
                </a:moveTo>
                <a:lnTo>
                  <a:pt x="217" y="216"/>
                </a:lnTo>
                <a:lnTo>
                  <a:pt x="217" y="0"/>
                </a:lnTo>
                <a:lnTo>
                  <a:pt x="0" y="0"/>
                </a:lnTo>
                <a:lnTo>
                  <a:pt x="0" y="216"/>
                </a:lnTo>
                <a:close/>
              </a:path>
              <a:path w="1168" h="216">
                <a:moveTo>
                  <a:pt x="317" y="216"/>
                </a:moveTo>
                <a:lnTo>
                  <a:pt x="534" y="216"/>
                </a:lnTo>
                <a:lnTo>
                  <a:pt x="534" y="0"/>
                </a:lnTo>
                <a:lnTo>
                  <a:pt x="317" y="0"/>
                </a:lnTo>
                <a:lnTo>
                  <a:pt x="317" y="216"/>
                </a:lnTo>
                <a:close/>
              </a:path>
              <a:path w="1168" h="216">
                <a:moveTo>
                  <a:pt x="633" y="216"/>
                </a:moveTo>
                <a:lnTo>
                  <a:pt x="851" y="216"/>
                </a:lnTo>
                <a:lnTo>
                  <a:pt x="851" y="0"/>
                </a:lnTo>
                <a:lnTo>
                  <a:pt x="633" y="0"/>
                </a:lnTo>
                <a:lnTo>
                  <a:pt x="633" y="216"/>
                </a:lnTo>
                <a:close/>
              </a:path>
              <a:path w="1168" h="216">
                <a:moveTo>
                  <a:pt x="951" y="216"/>
                </a:moveTo>
                <a:lnTo>
                  <a:pt x="1168" y="216"/>
                </a:lnTo>
                <a:lnTo>
                  <a:pt x="1168" y="0"/>
                </a:lnTo>
                <a:lnTo>
                  <a:pt x="951" y="0"/>
                </a:lnTo>
                <a:lnTo>
                  <a:pt x="951"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6" name="path 86"/>
          <p:cNvSpPr/>
          <p:nvPr/>
        </p:nvSpPr>
        <p:spPr>
          <a:xfrm>
            <a:off x="688340" y="955040"/>
            <a:ext cx="10786745" cy="76200"/>
          </a:xfrm>
          <a:custGeom>
            <a:avLst/>
            <a:gdLst/>
            <a:ahLst/>
            <a:cxnLst/>
            <a:rect l="0" t="0" r="0" b="0"/>
            <a:pathLst>
              <a:path w="15485" h="10">
                <a:moveTo>
                  <a:pt x="0" y="5"/>
                </a:moveTo>
                <a:lnTo>
                  <a:pt x="15485" y="5"/>
                </a:lnTo>
              </a:path>
            </a:pathLst>
          </a:custGeom>
          <a:noFill/>
          <a:ln w="6350" cap="flat">
            <a:solidFill>
              <a:srgbClr val="D9D9D9"/>
            </a:solidFill>
            <a:prstDash val="solid"/>
            <a:miter lim="1000000"/>
          </a:ln>
        </p:spPr>
        <p:txBody>
          <a:bodyPr rtlCol="0"/>
          <a:lstStyle/>
          <a:p>
            <a:pPr algn="ctr"/>
            <a:endParaRPr lang="zh-CN" altLang="en-US"/>
          </a:p>
        </p:txBody>
      </p:sp>
      <p:sp>
        <p:nvSpPr>
          <p:cNvPr id="88" name="rect 88"/>
          <p:cNvSpPr/>
          <p:nvPr/>
        </p:nvSpPr>
        <p:spPr>
          <a:xfrm>
            <a:off x="147320" y="56705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0" name="rect 90"/>
          <p:cNvSpPr/>
          <p:nvPr/>
        </p:nvSpPr>
        <p:spPr>
          <a:xfrm>
            <a:off x="147320" y="779145"/>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2" name="rect 92"/>
          <p:cNvSpPr/>
          <p:nvPr/>
        </p:nvSpPr>
        <p:spPr>
          <a:xfrm>
            <a:off x="147320" y="99123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4" name="rect 94"/>
          <p:cNvSpPr/>
          <p:nvPr/>
        </p:nvSpPr>
        <p:spPr>
          <a:xfrm>
            <a:off x="147320" y="14287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6" name="rect 96"/>
          <p:cNvSpPr/>
          <p:nvPr/>
        </p:nvSpPr>
        <p:spPr>
          <a:xfrm>
            <a:off x="147320" y="35496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pic>
        <p:nvPicPr>
          <p:cNvPr id="2" name="图片 1"/>
          <p:cNvPicPr>
            <a:picLocks noChangeAspect="1"/>
          </p:cNvPicPr>
          <p:nvPr/>
        </p:nvPicPr>
        <p:blipFill>
          <a:blip r:embed="rId3"/>
          <a:stretch>
            <a:fillRect/>
          </a:stretch>
        </p:blipFill>
        <p:spPr>
          <a:xfrm>
            <a:off x="10428563" y="68429"/>
            <a:ext cx="1354271" cy="781170"/>
          </a:xfrm>
          <a:prstGeom prst="rect">
            <a:avLst/>
          </a:prstGeom>
        </p:spPr>
      </p:pic>
      <p:sp>
        <p:nvSpPr>
          <p:cNvPr id="3" name="textbox 60"/>
          <p:cNvSpPr/>
          <p:nvPr/>
        </p:nvSpPr>
        <p:spPr>
          <a:xfrm>
            <a:off x="688022" y="3017728"/>
            <a:ext cx="10637203" cy="3795845"/>
          </a:xfrm>
          <a:prstGeom prst="rect">
            <a:avLst/>
          </a:prstGeom>
          <a:noFill/>
          <a:ln w="0" cap="flat">
            <a:noFill/>
            <a:prstDash val="solid"/>
            <a:miter lim="0"/>
          </a:ln>
        </p:spPr>
        <p:txBody>
          <a:bodyPr vert="horz" wrap="square" lIns="0" tIns="0" rIns="0" bIns="0"/>
          <a:lstStyle/>
          <a:p>
            <a:pPr algn="l" rtl="0" eaLnBrk="0">
              <a:lnSpc>
                <a:spcPct val="150000"/>
              </a:lnSpc>
            </a:pPr>
            <a:endParaRPr sz="100" dirty="0">
              <a:latin typeface="Arial" panose="020B0604020202020204"/>
              <a:ea typeface="Arial" panose="020B0604020202020204"/>
              <a:cs typeface="Arial" panose="020B0604020202020204"/>
            </a:endParaRPr>
          </a:p>
          <a:p>
            <a:pPr marL="17145" algn="l" rtl="0" eaLnBrk="0">
              <a:lnSpc>
                <a:spcPct val="150000"/>
              </a:lnSpc>
              <a:spcBef>
                <a:spcPts val="600"/>
              </a:spcBef>
              <a:spcAft>
                <a:spcPts val="600"/>
              </a:spcAft>
            </a:pPr>
            <a:endParaRPr lang="zh-CN" altLang="en-US" kern="0" spc="90" dirty="0">
              <a:solidFill>
                <a:srgbClr val="595959">
                  <a:alpha val="100000"/>
                </a:srgbClr>
              </a:solidFill>
              <a:latin typeface="微软雅黑" panose="020B0503020204020204" charset="-122"/>
              <a:ea typeface="微软雅黑" panose="020B0503020204020204" charset="-122"/>
              <a:cs typeface="微软雅黑" panose="020B0503020204020204" charset="-122"/>
            </a:endParaRPr>
          </a:p>
        </p:txBody>
      </p:sp>
      <p:sp>
        <p:nvSpPr>
          <p:cNvPr id="6" name="矩形 5"/>
          <p:cNvSpPr/>
          <p:nvPr/>
        </p:nvSpPr>
        <p:spPr>
          <a:xfrm>
            <a:off x="890270" y="354965"/>
            <a:ext cx="746125" cy="387985"/>
          </a:xfrm>
          <a:prstGeom prst="rect">
            <a:avLst/>
          </a:prstGeom>
          <a:noFill/>
          <a:ln>
            <a:noFill/>
          </a:ln>
        </p:spPr>
        <p:txBody>
          <a:bodyPr wrap="none" rtlCol="0" anchor="t">
            <a:noAutofit/>
          </a:bodyPr>
          <a:lstStyle/>
          <a:p>
            <a:pPr algn="ctr"/>
            <a:endParaRPr lang="en-US" altLang="zh-CN" sz="4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8" name="文本框 7"/>
          <p:cNvSpPr txBox="1"/>
          <p:nvPr/>
        </p:nvSpPr>
        <p:spPr>
          <a:xfrm>
            <a:off x="837565" y="433070"/>
            <a:ext cx="6096000" cy="521970"/>
          </a:xfrm>
          <a:prstGeom prst="rect">
            <a:avLst/>
          </a:prstGeom>
          <a:noFill/>
        </p:spPr>
        <p:txBody>
          <a:bodyPr wrap="square" rtlCol="0" anchor="t">
            <a:spAutoFit/>
          </a:bodyPr>
          <a:lstStyle/>
          <a:p>
            <a:r>
              <a:rPr lang="zh-CN" altLang="en-US" sz="2800" b="1" kern="0" noProof="0" dirty="0">
                <a:ln>
                  <a:noFill/>
                </a:ln>
                <a:solidFill>
                  <a:schemeClr val="accent1">
                    <a:lumMod val="50000"/>
                  </a:schemeClr>
                </a:solidFill>
                <a:effectLst/>
                <a:uLnTx/>
                <a:uFillTx/>
                <a:latin typeface="微软雅黑" panose="020B0503020204020204" charset="-122"/>
                <a:ea typeface="微软雅黑" panose="020B0503020204020204" charset="-122"/>
                <a:sym typeface="+mn-ea"/>
              </a:rPr>
              <a:t>团队介绍</a:t>
            </a:r>
          </a:p>
        </p:txBody>
      </p:sp>
      <p:sp>
        <p:nvSpPr>
          <p:cNvPr id="9" name="文本框 8"/>
          <p:cNvSpPr txBox="1"/>
          <p:nvPr/>
        </p:nvSpPr>
        <p:spPr>
          <a:xfrm>
            <a:off x="2402205" y="1799590"/>
            <a:ext cx="8702040" cy="3547110"/>
          </a:xfrm>
          <a:prstGeom prst="rect">
            <a:avLst/>
          </a:prstGeom>
          <a:noFill/>
        </p:spPr>
        <p:txBody>
          <a:bodyPr wrap="square" rtlCol="0" anchor="t">
            <a:noAutofit/>
          </a:bodyPr>
          <a:lstStyle/>
          <a:p>
            <a:pPr indent="0" fontAlgn="auto">
              <a:lnSpc>
                <a:spcPct val="150000"/>
              </a:lnSpc>
              <a:spcBef>
                <a:spcPts val="1900"/>
              </a:spcBef>
            </a:pPr>
            <a:r>
              <a:rPr lang="zh-CN" altLang="en-US" sz="2400" b="1" dirty="0">
                <a:solidFill>
                  <a:schemeClr val="accent1">
                    <a:lumMod val="50000"/>
                  </a:schemeClr>
                </a:solidFill>
                <a:effectLst/>
              </a:rPr>
              <a:t>我们是国内率先实现高效热管理一体化关节模组的团队，综合运用</a:t>
            </a:r>
            <a:r>
              <a:rPr lang="zh-CN" altLang="en-US" sz="2400" b="1" dirty="0">
                <a:gradFill>
                  <a:gsLst>
                    <a:gs pos="42000">
                      <a:srgbClr val="EC5763"/>
                    </a:gs>
                    <a:gs pos="0">
                      <a:srgbClr val="F28F97"/>
                    </a:gs>
                    <a:gs pos="100000">
                      <a:srgbClr val="E51E2E"/>
                    </a:gs>
                  </a:gsLst>
                  <a:lin ang="5400000" scaled="1"/>
                </a:gradFill>
                <a:effectLst/>
              </a:rPr>
              <a:t>散热微纳结构制备技术、热管理材料技术、先进制造技术</a:t>
            </a:r>
            <a:r>
              <a:rPr lang="zh-CN" altLang="en-US" sz="2400" b="1" dirty="0">
                <a:solidFill>
                  <a:schemeClr val="accent1">
                    <a:lumMod val="50000"/>
                  </a:schemeClr>
                </a:solidFill>
                <a:effectLst/>
              </a:rPr>
              <a:t>，实现热管理技术的革命性突破，解决了传统机器人长期面临的</a:t>
            </a:r>
            <a:r>
              <a:rPr lang="en-US" altLang="zh-CN" sz="2400" b="1" dirty="0">
                <a:solidFill>
                  <a:schemeClr val="accent1">
                    <a:lumMod val="50000"/>
                  </a:schemeClr>
                </a:solidFill>
                <a:effectLst/>
              </a:rPr>
              <a:t>“</a:t>
            </a:r>
            <a:r>
              <a:rPr lang="zh-CN" altLang="en-US" sz="2400" b="1" dirty="0">
                <a:solidFill>
                  <a:schemeClr val="accent1">
                    <a:lumMod val="50000"/>
                  </a:schemeClr>
                </a:solidFill>
                <a:effectLst/>
              </a:rPr>
              <a:t>性能</a:t>
            </a:r>
            <a:r>
              <a:rPr lang="en-US" altLang="zh-CN" sz="2400" b="1" dirty="0">
                <a:solidFill>
                  <a:schemeClr val="accent1">
                    <a:lumMod val="50000"/>
                  </a:schemeClr>
                </a:solidFill>
                <a:effectLst/>
              </a:rPr>
              <a:t>-</a:t>
            </a:r>
            <a:r>
              <a:rPr lang="zh-CN" altLang="en-US" sz="2400" b="1" dirty="0">
                <a:solidFill>
                  <a:schemeClr val="accent1">
                    <a:lumMod val="50000"/>
                  </a:schemeClr>
                </a:solidFill>
                <a:effectLst/>
              </a:rPr>
              <a:t>可靠性</a:t>
            </a:r>
            <a:r>
              <a:rPr lang="en-US" altLang="zh-CN" sz="2400" b="1" dirty="0">
                <a:solidFill>
                  <a:schemeClr val="accent1">
                    <a:lumMod val="50000"/>
                  </a:schemeClr>
                </a:solidFill>
                <a:effectLst/>
              </a:rPr>
              <a:t>-</a:t>
            </a:r>
            <a:r>
              <a:rPr lang="zh-CN" altLang="en-US" sz="2400" b="1" dirty="0">
                <a:solidFill>
                  <a:schemeClr val="accent1">
                    <a:lumMod val="50000"/>
                  </a:schemeClr>
                </a:solidFill>
                <a:effectLst/>
              </a:rPr>
              <a:t>续航</a:t>
            </a:r>
            <a:r>
              <a:rPr lang="en-US" altLang="zh-CN" sz="2400" b="1" dirty="0">
                <a:solidFill>
                  <a:schemeClr val="accent1">
                    <a:lumMod val="50000"/>
                  </a:schemeClr>
                </a:solidFill>
                <a:effectLst/>
              </a:rPr>
              <a:t>”</a:t>
            </a:r>
            <a:r>
              <a:rPr lang="zh-CN" altLang="en-US" sz="2400" b="1" dirty="0">
                <a:solidFill>
                  <a:schemeClr val="accent1">
                    <a:lumMod val="50000"/>
                  </a:schemeClr>
                </a:solidFill>
                <a:effectLst/>
              </a:rPr>
              <a:t>不可能三角的行业困局，实现机器人持续高动态运动，重新定义了机器人的性能边界。团队核心成员来自航空航天领域，拥有丰富的产业化经验。</a:t>
            </a:r>
          </a:p>
        </p:txBody>
      </p:sp>
      <p:sp>
        <p:nvSpPr>
          <p:cNvPr id="12" name="矩形 11"/>
          <p:cNvSpPr/>
          <p:nvPr/>
        </p:nvSpPr>
        <p:spPr>
          <a:xfrm>
            <a:off x="975989" y="3108156"/>
            <a:ext cx="65753" cy="461665"/>
          </a:xfrm>
          <a:prstGeom prst="rect">
            <a:avLst/>
          </a:prstGeom>
          <a:gradFill>
            <a:gsLst>
              <a:gs pos="50000">
                <a:srgbClr val="1F5FBF"/>
              </a:gs>
              <a:gs pos="0">
                <a:srgbClr val="1486CB"/>
              </a:gs>
              <a:gs pos="100000">
                <a:srgbClr val="2A34B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sp>
        <p:nvSpPr>
          <p:cNvPr id="13" name="文本框 12"/>
          <p:cNvSpPr txBox="1"/>
          <p:nvPr/>
        </p:nvSpPr>
        <p:spPr>
          <a:xfrm>
            <a:off x="397340" y="3598105"/>
            <a:ext cx="1257300" cy="645160"/>
          </a:xfrm>
          <a:prstGeom prst="rect">
            <a:avLst/>
          </a:prstGeom>
          <a:noFill/>
        </p:spPr>
        <p:txBody>
          <a:bodyPr wrap="square">
            <a:spAutoFit/>
          </a:bodyPr>
          <a:lstStyle/>
          <a:p>
            <a:pPr algn="ctr"/>
            <a:r>
              <a:rPr lang="en-US" sz="1200" b="1">
                <a:solidFill>
                  <a:schemeClr val="accent1">
                    <a:lumMod val="40000"/>
                    <a:lumOff val="60000"/>
                  </a:schemeClr>
                </a:solidFill>
                <a:latin typeface="Arial" panose="020B0604020202020204"/>
                <a:ea typeface="Arial" panose="020B0604020202020204"/>
                <a:cs typeface="Arial" panose="020B0604020202020204"/>
                <a:sym typeface="Arial" panose="020B0604020202020204"/>
              </a:rPr>
              <a:t>Nanjing Cooling</a:t>
            </a:r>
            <a:endParaRPr lang="en-US" altLang="zh-CN" sz="1200" b="1" dirty="0">
              <a:solidFill>
                <a:schemeClr val="accent1">
                  <a:lumMod val="40000"/>
                  <a:lumOff val="60000"/>
                </a:schemeClr>
              </a:solidFill>
              <a:latin typeface="微软雅黑" panose="020B0503020204020204" charset="-122"/>
              <a:ea typeface="微软雅黑" panose="020B0503020204020204" charset="-122"/>
              <a:sym typeface="+mn-ea"/>
            </a:endParaRPr>
          </a:p>
          <a:p>
            <a:pPr algn="ctr"/>
            <a:endParaRPr lang="en-US" altLang="zh-CN" sz="1200" b="1" dirty="0">
              <a:solidFill>
                <a:schemeClr val="accent1">
                  <a:lumMod val="40000"/>
                  <a:lumOff val="60000"/>
                </a:schemeClr>
              </a:solidFill>
              <a:latin typeface="微软雅黑" panose="020B0503020204020204" charset="-122"/>
              <a:ea typeface="微软雅黑" panose="020B0503020204020204" charset="-122"/>
              <a:sym typeface="+mn-ea"/>
            </a:endParaRPr>
          </a:p>
        </p:txBody>
      </p:sp>
      <p:sp>
        <p:nvSpPr>
          <p:cNvPr id="14" name="文本框 13"/>
          <p:cNvSpPr txBox="1"/>
          <p:nvPr/>
        </p:nvSpPr>
        <p:spPr>
          <a:xfrm>
            <a:off x="252688" y="4209588"/>
            <a:ext cx="1576567" cy="645160"/>
          </a:xfrm>
          <a:prstGeom prst="rect">
            <a:avLst/>
          </a:prstGeom>
          <a:noFill/>
        </p:spPr>
        <p:txBody>
          <a:bodyPr wrap="square" rtlCol="0">
            <a:spAutoFit/>
          </a:bodyPr>
          <a:lstStyle/>
          <a:p>
            <a:pPr algn="ctr">
              <a:lnSpc>
                <a:spcPct val="150000"/>
              </a:lnSpc>
            </a:pPr>
            <a:r>
              <a:rPr lang="zh-CN" altLang="en-US" sz="1200" b="1" dirty="0">
                <a:solidFill>
                  <a:schemeClr val="accent1">
                    <a:lumMod val="50000"/>
                  </a:schemeClr>
                </a:solidFill>
                <a:latin typeface="微软雅黑" panose="020B0503020204020204" charset="-122"/>
                <a:ea typeface="微软雅黑" panose="020B0503020204020204" charset="-122"/>
              </a:rPr>
              <a:t>酷灵热管理</a:t>
            </a:r>
            <a:endParaRPr lang="en-US" altLang="zh-CN" sz="1200" b="1" dirty="0">
              <a:solidFill>
                <a:schemeClr val="accent1">
                  <a:lumMod val="50000"/>
                </a:schemeClr>
              </a:solidFill>
              <a:latin typeface="微软雅黑" panose="020B0503020204020204" charset="-122"/>
              <a:ea typeface="微软雅黑" panose="020B0503020204020204" charset="-122"/>
            </a:endParaRPr>
          </a:p>
          <a:p>
            <a:pPr algn="ctr">
              <a:lnSpc>
                <a:spcPct val="150000"/>
              </a:lnSpc>
            </a:pPr>
            <a:r>
              <a:rPr lang="zh-CN" altLang="en-US" sz="1200" b="1" dirty="0">
                <a:solidFill>
                  <a:schemeClr val="accent1">
                    <a:lumMod val="50000"/>
                  </a:schemeClr>
                </a:solidFill>
                <a:latin typeface="微软雅黑" panose="020B0503020204020204" charset="-122"/>
                <a:ea typeface="微软雅黑" panose="020B0503020204020204" charset="-122"/>
              </a:rPr>
              <a:t>为机器人持久赋能</a:t>
            </a:r>
          </a:p>
        </p:txBody>
      </p:sp>
      <p:sp>
        <p:nvSpPr>
          <p:cNvPr id="15" name="文本框 14"/>
          <p:cNvSpPr txBox="1"/>
          <p:nvPr/>
        </p:nvSpPr>
        <p:spPr>
          <a:xfrm>
            <a:off x="328295" y="4937760"/>
            <a:ext cx="1501140" cy="521970"/>
          </a:xfrm>
          <a:prstGeom prst="rect">
            <a:avLst/>
          </a:prstGeom>
          <a:noFill/>
        </p:spPr>
        <p:txBody>
          <a:bodyPr wrap="square">
            <a:spAutoFit/>
          </a:bodyPr>
          <a:lstStyle/>
          <a:p>
            <a:pPr algn="ctr"/>
            <a:endParaRPr lang="zh-CN" altLang="en-US" sz="1400" b="1" dirty="0">
              <a:solidFill>
                <a:schemeClr val="accent1">
                  <a:lumMod val="50000"/>
                </a:schemeClr>
              </a:solidFill>
              <a:latin typeface="华文楷体" panose="02010600040101010101" pitchFamily="2" charset="-122"/>
              <a:ea typeface="华文楷体" panose="02010600040101010101" pitchFamily="2" charset="-122"/>
            </a:endParaRPr>
          </a:p>
          <a:p>
            <a:pPr algn="ctr"/>
            <a:r>
              <a:rPr lang="zh-CN" altLang="en-US" sz="1400" b="1" dirty="0">
                <a:solidFill>
                  <a:schemeClr val="accent1">
                    <a:lumMod val="40000"/>
                    <a:lumOff val="60000"/>
                  </a:schemeClr>
                </a:solidFill>
                <a:latin typeface="华文楷体" panose="02010600040101010101" pitchFamily="2" charset="-122"/>
                <a:ea typeface="华文楷体" panose="02010600040101010101" pitchFamily="2" charset="-122"/>
                <a:sym typeface="+mn-ea"/>
              </a:rPr>
              <a:t>公司及团队介绍</a:t>
            </a:r>
          </a:p>
        </p:txBody>
      </p:sp>
      <p:sp>
        <p:nvSpPr>
          <p:cNvPr id="17" name="矩形 16"/>
          <p:cNvSpPr/>
          <p:nvPr/>
        </p:nvSpPr>
        <p:spPr>
          <a:xfrm>
            <a:off x="975302" y="5494284"/>
            <a:ext cx="65753" cy="461665"/>
          </a:xfrm>
          <a:prstGeom prst="rect">
            <a:avLst/>
          </a:prstGeom>
          <a:gradFill>
            <a:gsLst>
              <a:gs pos="50000">
                <a:srgbClr val="1F5FBF"/>
              </a:gs>
              <a:gs pos="0">
                <a:srgbClr val="1486CB"/>
              </a:gs>
              <a:gs pos="100000">
                <a:srgbClr val="2A34B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extbox 62"/>
          <p:cNvSpPr/>
          <p:nvPr/>
        </p:nvSpPr>
        <p:spPr>
          <a:xfrm>
            <a:off x="6890883" y="1749748"/>
            <a:ext cx="3498811" cy="465455"/>
          </a:xfrm>
          <a:prstGeom prst="rect">
            <a:avLst/>
          </a:prstGeom>
          <a:noFill/>
          <a:ln w="0" cap="flat">
            <a:noFill/>
            <a:prstDash val="solid"/>
            <a:miter lim="0"/>
          </a:ln>
        </p:spPr>
        <p:txBody>
          <a:bodyPr vert="horz" wrap="square" lIns="0" tIns="0" rIns="0" bIns="0"/>
          <a:lstStyle/>
          <a:p>
            <a:pPr algn="l" rtl="0" eaLnBrk="0">
              <a:lnSpc>
                <a:spcPct val="69000"/>
              </a:lnSpc>
            </a:pPr>
            <a:endParaRPr sz="100" dirty="0">
              <a:latin typeface="Arial" panose="020B0604020202020204"/>
              <a:ea typeface="Arial" panose="020B0604020202020204"/>
              <a:cs typeface="Arial" panose="020B0604020202020204"/>
            </a:endParaRPr>
          </a:p>
        </p:txBody>
      </p:sp>
      <p:pic>
        <p:nvPicPr>
          <p:cNvPr id="66" name="picture 66"/>
          <p:cNvPicPr>
            <a:picLocks noChangeAspect="1"/>
          </p:cNvPicPr>
          <p:nvPr/>
        </p:nvPicPr>
        <p:blipFill>
          <a:blip r:embed="rId2"/>
          <a:stretch>
            <a:fillRect/>
          </a:stretch>
        </p:blipFill>
        <p:spPr>
          <a:xfrm rot="21600000">
            <a:off x="0" y="6576693"/>
            <a:ext cx="12192000" cy="271779"/>
          </a:xfrm>
          <a:prstGeom prst="rect">
            <a:avLst/>
          </a:prstGeom>
        </p:spPr>
      </p:pic>
      <p:sp>
        <p:nvSpPr>
          <p:cNvPr id="70" name="textbox 70"/>
          <p:cNvSpPr/>
          <p:nvPr/>
        </p:nvSpPr>
        <p:spPr>
          <a:xfrm>
            <a:off x="1636628" y="455178"/>
            <a:ext cx="2599689" cy="507365"/>
          </a:xfrm>
          <a:prstGeom prst="rect">
            <a:avLst/>
          </a:prstGeom>
          <a:noFill/>
          <a:ln w="0" cap="flat">
            <a:noFill/>
            <a:prstDash val="solid"/>
            <a:miter lim="0"/>
          </a:ln>
        </p:spPr>
        <p:txBody>
          <a:bodyPr vert="horz" wrap="square" lIns="0" tIns="0" rIns="0" bIns="0"/>
          <a:lstStyle/>
          <a:p>
            <a:pPr algn="l" rtl="0" eaLnBrk="0">
              <a:lnSpc>
                <a:spcPct val="93000"/>
              </a:lnSpc>
            </a:pPr>
            <a:endParaRPr sz="1000" dirty="0">
              <a:latin typeface="微软雅黑" panose="020B0503020204020204" charset="-122"/>
              <a:ea typeface="微软雅黑" panose="020B0503020204020204" charset="-122"/>
              <a:cs typeface="微软雅黑" panose="020B0503020204020204" charset="-122"/>
            </a:endParaRPr>
          </a:p>
        </p:txBody>
      </p:sp>
      <p:sp>
        <p:nvSpPr>
          <p:cNvPr id="74" name="path 74"/>
          <p:cNvSpPr/>
          <p:nvPr/>
        </p:nvSpPr>
        <p:spPr>
          <a:xfrm>
            <a:off x="348614" y="354965"/>
            <a:ext cx="540385" cy="137794"/>
          </a:xfrm>
          <a:custGeom>
            <a:avLst/>
            <a:gdLst/>
            <a:ahLst/>
            <a:cxnLst/>
            <a:rect l="0" t="0" r="0" b="0"/>
            <a:pathLst>
              <a:path w="851" h="216">
                <a:moveTo>
                  <a:pt x="0" y="216"/>
                </a:moveTo>
                <a:lnTo>
                  <a:pt x="217" y="216"/>
                </a:lnTo>
                <a:lnTo>
                  <a:pt x="217" y="0"/>
                </a:lnTo>
                <a:lnTo>
                  <a:pt x="0" y="0"/>
                </a:lnTo>
                <a:lnTo>
                  <a:pt x="0" y="216"/>
                </a:lnTo>
                <a:close/>
              </a:path>
              <a:path w="851" h="216">
                <a:moveTo>
                  <a:pt x="317" y="216"/>
                </a:moveTo>
                <a:lnTo>
                  <a:pt x="534" y="216"/>
                </a:lnTo>
                <a:lnTo>
                  <a:pt x="534" y="0"/>
                </a:lnTo>
                <a:lnTo>
                  <a:pt x="317" y="0"/>
                </a:lnTo>
                <a:lnTo>
                  <a:pt x="317" y="216"/>
                </a:lnTo>
                <a:close/>
              </a:path>
              <a:path w="851" h="216">
                <a:moveTo>
                  <a:pt x="633" y="216"/>
                </a:moveTo>
                <a:lnTo>
                  <a:pt x="851" y="216"/>
                </a:lnTo>
                <a:lnTo>
                  <a:pt x="851" y="0"/>
                </a:lnTo>
                <a:lnTo>
                  <a:pt x="633" y="0"/>
                </a:lnTo>
                <a:lnTo>
                  <a:pt x="633"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2" name="path 82"/>
          <p:cNvSpPr/>
          <p:nvPr/>
        </p:nvSpPr>
        <p:spPr>
          <a:xfrm>
            <a:off x="348614" y="567054"/>
            <a:ext cx="339090" cy="349885"/>
          </a:xfrm>
          <a:custGeom>
            <a:avLst/>
            <a:gdLst/>
            <a:ahLst/>
            <a:cxnLst/>
            <a:rect l="0" t="0" r="0" b="0"/>
            <a:pathLst>
              <a:path w="534" h="551">
                <a:moveTo>
                  <a:pt x="0" y="217"/>
                </a:moveTo>
                <a:lnTo>
                  <a:pt x="217" y="217"/>
                </a:lnTo>
                <a:lnTo>
                  <a:pt x="217" y="0"/>
                </a:lnTo>
                <a:lnTo>
                  <a:pt x="0" y="0"/>
                </a:lnTo>
                <a:lnTo>
                  <a:pt x="0" y="217"/>
                </a:lnTo>
                <a:close/>
              </a:path>
              <a:path w="534" h="551">
                <a:moveTo>
                  <a:pt x="317" y="217"/>
                </a:moveTo>
                <a:lnTo>
                  <a:pt x="534" y="217"/>
                </a:lnTo>
                <a:lnTo>
                  <a:pt x="534" y="0"/>
                </a:lnTo>
                <a:lnTo>
                  <a:pt x="317" y="0"/>
                </a:lnTo>
                <a:lnTo>
                  <a:pt x="317" y="217"/>
                </a:lnTo>
                <a:close/>
              </a:path>
              <a:path w="534" h="551">
                <a:moveTo>
                  <a:pt x="0" y="551"/>
                </a:moveTo>
                <a:lnTo>
                  <a:pt x="217" y="551"/>
                </a:lnTo>
                <a:lnTo>
                  <a:pt x="217" y="334"/>
                </a:lnTo>
                <a:lnTo>
                  <a:pt x="0" y="334"/>
                </a:lnTo>
                <a:lnTo>
                  <a:pt x="0" y="551"/>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4" name="path 84"/>
          <p:cNvSpPr/>
          <p:nvPr/>
        </p:nvSpPr>
        <p:spPr>
          <a:xfrm>
            <a:off x="348614" y="142875"/>
            <a:ext cx="741680" cy="137794"/>
          </a:xfrm>
          <a:custGeom>
            <a:avLst/>
            <a:gdLst/>
            <a:ahLst/>
            <a:cxnLst/>
            <a:rect l="0" t="0" r="0" b="0"/>
            <a:pathLst>
              <a:path w="1168" h="216">
                <a:moveTo>
                  <a:pt x="0" y="216"/>
                </a:moveTo>
                <a:lnTo>
                  <a:pt x="217" y="216"/>
                </a:lnTo>
                <a:lnTo>
                  <a:pt x="217" y="0"/>
                </a:lnTo>
                <a:lnTo>
                  <a:pt x="0" y="0"/>
                </a:lnTo>
                <a:lnTo>
                  <a:pt x="0" y="216"/>
                </a:lnTo>
                <a:close/>
              </a:path>
              <a:path w="1168" h="216">
                <a:moveTo>
                  <a:pt x="317" y="216"/>
                </a:moveTo>
                <a:lnTo>
                  <a:pt x="534" y="216"/>
                </a:lnTo>
                <a:lnTo>
                  <a:pt x="534" y="0"/>
                </a:lnTo>
                <a:lnTo>
                  <a:pt x="317" y="0"/>
                </a:lnTo>
                <a:lnTo>
                  <a:pt x="317" y="216"/>
                </a:lnTo>
                <a:close/>
              </a:path>
              <a:path w="1168" h="216">
                <a:moveTo>
                  <a:pt x="633" y="216"/>
                </a:moveTo>
                <a:lnTo>
                  <a:pt x="851" y="216"/>
                </a:lnTo>
                <a:lnTo>
                  <a:pt x="851" y="0"/>
                </a:lnTo>
                <a:lnTo>
                  <a:pt x="633" y="0"/>
                </a:lnTo>
                <a:lnTo>
                  <a:pt x="633" y="216"/>
                </a:lnTo>
                <a:close/>
              </a:path>
              <a:path w="1168" h="216">
                <a:moveTo>
                  <a:pt x="951" y="216"/>
                </a:moveTo>
                <a:lnTo>
                  <a:pt x="1168" y="216"/>
                </a:lnTo>
                <a:lnTo>
                  <a:pt x="1168" y="0"/>
                </a:lnTo>
                <a:lnTo>
                  <a:pt x="951" y="0"/>
                </a:lnTo>
                <a:lnTo>
                  <a:pt x="951"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6" name="path 86"/>
          <p:cNvSpPr/>
          <p:nvPr/>
        </p:nvSpPr>
        <p:spPr>
          <a:xfrm>
            <a:off x="688340" y="955040"/>
            <a:ext cx="10786745" cy="76200"/>
          </a:xfrm>
          <a:custGeom>
            <a:avLst/>
            <a:gdLst/>
            <a:ahLst/>
            <a:cxnLst/>
            <a:rect l="0" t="0" r="0" b="0"/>
            <a:pathLst>
              <a:path w="15485" h="10">
                <a:moveTo>
                  <a:pt x="0" y="5"/>
                </a:moveTo>
                <a:lnTo>
                  <a:pt x="15485" y="5"/>
                </a:lnTo>
              </a:path>
            </a:pathLst>
          </a:custGeom>
          <a:noFill/>
          <a:ln w="6350" cap="flat">
            <a:solidFill>
              <a:srgbClr val="D9D9D9"/>
            </a:solidFill>
            <a:prstDash val="solid"/>
            <a:miter lim="1000000"/>
          </a:ln>
        </p:spPr>
        <p:txBody>
          <a:bodyPr rtlCol="0"/>
          <a:lstStyle/>
          <a:p>
            <a:pPr algn="ctr"/>
            <a:endParaRPr lang="zh-CN" altLang="en-US"/>
          </a:p>
        </p:txBody>
      </p:sp>
      <p:sp>
        <p:nvSpPr>
          <p:cNvPr id="88" name="rect 88"/>
          <p:cNvSpPr/>
          <p:nvPr/>
        </p:nvSpPr>
        <p:spPr>
          <a:xfrm>
            <a:off x="147320" y="56705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0" name="rect 90"/>
          <p:cNvSpPr/>
          <p:nvPr/>
        </p:nvSpPr>
        <p:spPr>
          <a:xfrm>
            <a:off x="147320" y="779145"/>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2" name="rect 92"/>
          <p:cNvSpPr/>
          <p:nvPr/>
        </p:nvSpPr>
        <p:spPr>
          <a:xfrm>
            <a:off x="147320" y="99123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4" name="rect 94"/>
          <p:cNvSpPr/>
          <p:nvPr/>
        </p:nvSpPr>
        <p:spPr>
          <a:xfrm>
            <a:off x="147320" y="14287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6" name="rect 96"/>
          <p:cNvSpPr/>
          <p:nvPr/>
        </p:nvSpPr>
        <p:spPr>
          <a:xfrm>
            <a:off x="147320" y="35496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pic>
        <p:nvPicPr>
          <p:cNvPr id="2" name="图片 1"/>
          <p:cNvPicPr>
            <a:picLocks noChangeAspect="1"/>
          </p:cNvPicPr>
          <p:nvPr/>
        </p:nvPicPr>
        <p:blipFill>
          <a:blip r:embed="rId3"/>
          <a:stretch>
            <a:fillRect/>
          </a:stretch>
        </p:blipFill>
        <p:spPr>
          <a:xfrm>
            <a:off x="10428563" y="68429"/>
            <a:ext cx="1354271" cy="781170"/>
          </a:xfrm>
          <a:prstGeom prst="rect">
            <a:avLst/>
          </a:prstGeom>
        </p:spPr>
      </p:pic>
      <p:sp>
        <p:nvSpPr>
          <p:cNvPr id="3" name="textbox 60"/>
          <p:cNvSpPr/>
          <p:nvPr/>
        </p:nvSpPr>
        <p:spPr>
          <a:xfrm>
            <a:off x="688022" y="3017728"/>
            <a:ext cx="10637203" cy="3795845"/>
          </a:xfrm>
          <a:prstGeom prst="rect">
            <a:avLst/>
          </a:prstGeom>
          <a:noFill/>
          <a:ln w="0" cap="flat">
            <a:noFill/>
            <a:prstDash val="solid"/>
            <a:miter lim="0"/>
          </a:ln>
        </p:spPr>
        <p:txBody>
          <a:bodyPr vert="horz" wrap="square" lIns="0" tIns="0" rIns="0" bIns="0"/>
          <a:lstStyle/>
          <a:p>
            <a:pPr algn="l" rtl="0" eaLnBrk="0">
              <a:lnSpc>
                <a:spcPct val="150000"/>
              </a:lnSpc>
            </a:pPr>
            <a:endParaRPr sz="100" dirty="0">
              <a:latin typeface="Arial" panose="020B0604020202020204"/>
              <a:ea typeface="Arial" panose="020B0604020202020204"/>
              <a:cs typeface="Arial" panose="020B0604020202020204"/>
            </a:endParaRPr>
          </a:p>
          <a:p>
            <a:pPr marL="17145" algn="l" rtl="0" eaLnBrk="0">
              <a:lnSpc>
                <a:spcPct val="150000"/>
              </a:lnSpc>
              <a:spcBef>
                <a:spcPts val="600"/>
              </a:spcBef>
              <a:spcAft>
                <a:spcPts val="600"/>
              </a:spcAft>
            </a:pPr>
            <a:endParaRPr lang="zh-CN" altLang="en-US" kern="0" spc="90" dirty="0">
              <a:solidFill>
                <a:srgbClr val="595959">
                  <a:alpha val="100000"/>
                </a:srgbClr>
              </a:solidFill>
              <a:latin typeface="微软雅黑" panose="020B0503020204020204" charset="-122"/>
              <a:ea typeface="微软雅黑" panose="020B0503020204020204" charset="-122"/>
              <a:cs typeface="微软雅黑" panose="020B0503020204020204" charset="-122"/>
            </a:endParaRPr>
          </a:p>
        </p:txBody>
      </p:sp>
      <p:sp>
        <p:nvSpPr>
          <p:cNvPr id="6" name="矩形 5"/>
          <p:cNvSpPr/>
          <p:nvPr/>
        </p:nvSpPr>
        <p:spPr>
          <a:xfrm>
            <a:off x="890270" y="354965"/>
            <a:ext cx="746125" cy="387985"/>
          </a:xfrm>
          <a:prstGeom prst="rect">
            <a:avLst/>
          </a:prstGeom>
          <a:noFill/>
          <a:ln>
            <a:noFill/>
          </a:ln>
        </p:spPr>
        <p:txBody>
          <a:bodyPr wrap="none" rtlCol="0" anchor="t">
            <a:noAutofit/>
          </a:bodyPr>
          <a:lstStyle/>
          <a:p>
            <a:pPr algn="ctr"/>
            <a:endParaRPr lang="en-US" altLang="zh-CN" sz="4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8" name="文本框 7"/>
          <p:cNvSpPr txBox="1"/>
          <p:nvPr/>
        </p:nvSpPr>
        <p:spPr>
          <a:xfrm>
            <a:off x="837565" y="433070"/>
            <a:ext cx="6096000" cy="521970"/>
          </a:xfrm>
          <a:prstGeom prst="rect">
            <a:avLst/>
          </a:prstGeom>
          <a:noFill/>
        </p:spPr>
        <p:txBody>
          <a:bodyPr wrap="square" rtlCol="0" anchor="t">
            <a:spAutoFit/>
          </a:bodyPr>
          <a:lstStyle/>
          <a:p>
            <a:r>
              <a:rPr lang="zh-CN" altLang="en-US" sz="2800" b="1" kern="0" noProof="0" dirty="0">
                <a:ln>
                  <a:noFill/>
                </a:ln>
                <a:solidFill>
                  <a:schemeClr val="accent1">
                    <a:lumMod val="50000"/>
                  </a:schemeClr>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sym typeface="+mn-ea"/>
              </a:rPr>
              <a:t>公司创始人介绍</a:t>
            </a:r>
          </a:p>
        </p:txBody>
      </p:sp>
      <p:pic>
        <p:nvPicPr>
          <p:cNvPr id="12" name="图片 11"/>
          <p:cNvPicPr>
            <a:picLocks noChangeAspect="1"/>
          </p:cNvPicPr>
          <p:nvPr/>
        </p:nvPicPr>
        <p:blipFill rotWithShape="1">
          <a:blip r:embed="rId4"/>
          <a:srcRect t="10101"/>
          <a:stretch>
            <a:fillRect/>
          </a:stretch>
        </p:blipFill>
        <p:spPr>
          <a:xfrm>
            <a:off x="1211059" y="1705740"/>
            <a:ext cx="1441174" cy="1813851"/>
          </a:xfrm>
          <a:prstGeom prst="rect">
            <a:avLst/>
          </a:prstGeom>
        </p:spPr>
      </p:pic>
      <p:sp>
        <p:nvSpPr>
          <p:cNvPr id="9" name="文本框 8"/>
          <p:cNvSpPr txBox="1"/>
          <p:nvPr/>
        </p:nvSpPr>
        <p:spPr>
          <a:xfrm>
            <a:off x="1263650" y="3689350"/>
            <a:ext cx="1111885" cy="368300"/>
          </a:xfrm>
          <a:prstGeom prst="rect">
            <a:avLst/>
          </a:prstGeom>
          <a:noFill/>
        </p:spPr>
        <p:txBody>
          <a:bodyPr wrap="square" rtlCol="0" anchor="t">
            <a:spAutoFit/>
          </a:bodyPr>
          <a:lstStyle/>
          <a:p>
            <a:r>
              <a:rPr lang="en-US" altLang="zh-CN" dirty="0">
                <a:sym typeface="+mn-ea"/>
              </a:rPr>
              <a:t>   </a:t>
            </a:r>
            <a:r>
              <a:rPr lang="zh-CN" altLang="en-US" b="1" dirty="0">
                <a:solidFill>
                  <a:schemeClr val="accent1">
                    <a:lumMod val="50000"/>
                  </a:schemeClr>
                </a:solidFill>
                <a:effectLst/>
                <a:latin typeface="微软雅黑" panose="020B0503020204020204" charset="-122"/>
                <a:ea typeface="微软雅黑" panose="020B0503020204020204" charset="-122"/>
                <a:sym typeface="+mn-ea"/>
              </a:rPr>
              <a:t>袁言杰</a:t>
            </a:r>
          </a:p>
        </p:txBody>
      </p:sp>
      <p:sp>
        <p:nvSpPr>
          <p:cNvPr id="18" name="文本框 17"/>
          <p:cNvSpPr txBox="1"/>
          <p:nvPr/>
        </p:nvSpPr>
        <p:spPr>
          <a:xfrm>
            <a:off x="621030" y="4326890"/>
            <a:ext cx="2998470" cy="337185"/>
          </a:xfrm>
          <a:prstGeom prst="rect">
            <a:avLst/>
          </a:prstGeom>
          <a:noFill/>
        </p:spPr>
        <p:txBody>
          <a:bodyPr wrap="square" rtlCol="0" anchor="t">
            <a:spAutoFit/>
          </a:bodyPr>
          <a:lstStyle/>
          <a:p>
            <a:r>
              <a:rPr lang="zh-CN" altLang="en-US" sz="1600" b="1" dirty="0">
                <a:solidFill>
                  <a:schemeClr val="accent1">
                    <a:lumMod val="50000"/>
                  </a:schemeClr>
                </a:solidFill>
                <a:latin typeface="微软雅黑" panose="020B0503020204020204" charset="-122"/>
                <a:ea typeface="微软雅黑" panose="020B0503020204020204" charset="-122"/>
                <a:cs typeface="微软雅黑" panose="020B0503020204020204" charset="-122"/>
                <a:sym typeface="+mn-ea"/>
              </a:rPr>
              <a:t>创始人</a:t>
            </a:r>
            <a:r>
              <a:rPr lang="en-US" altLang="zh-CN" sz="1600" b="1" dirty="0">
                <a:solidFill>
                  <a:schemeClr val="accent1">
                    <a:lumMod val="50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1600" b="1" dirty="0">
                <a:solidFill>
                  <a:schemeClr val="accent1">
                    <a:lumMod val="50000"/>
                  </a:schemeClr>
                </a:solidFill>
                <a:latin typeface="微软雅黑" panose="020B0503020204020204" charset="-122"/>
                <a:ea typeface="微软雅黑" panose="020B0503020204020204" charset="-122"/>
                <a:cs typeface="微软雅黑" panose="020B0503020204020204" charset="-122"/>
                <a:sym typeface="+mn-ea"/>
              </a:rPr>
              <a:t>执行董事</a:t>
            </a:r>
            <a:r>
              <a:rPr lang="en-US" altLang="zh-CN" sz="1600" b="1" dirty="0">
                <a:solidFill>
                  <a:schemeClr val="accent1">
                    <a:lumMod val="50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1600" b="1" dirty="0">
                <a:solidFill>
                  <a:schemeClr val="accent1">
                    <a:lumMod val="50000"/>
                  </a:schemeClr>
                </a:solidFill>
                <a:latin typeface="微软雅黑" panose="020B0503020204020204" charset="-122"/>
                <a:ea typeface="微软雅黑" panose="020B0503020204020204" charset="-122"/>
                <a:cs typeface="微软雅黑" panose="020B0503020204020204" charset="-122"/>
                <a:sym typeface="+mn-ea"/>
              </a:rPr>
              <a:t>法定代表人</a:t>
            </a:r>
          </a:p>
        </p:txBody>
      </p:sp>
      <p:sp>
        <p:nvSpPr>
          <p:cNvPr id="23" name="文本框 22"/>
          <p:cNvSpPr txBox="1"/>
          <p:nvPr/>
        </p:nvSpPr>
        <p:spPr>
          <a:xfrm>
            <a:off x="4236085" y="1390650"/>
            <a:ext cx="7202805" cy="829945"/>
          </a:xfrm>
          <a:prstGeom prst="rect">
            <a:avLst/>
          </a:prstGeom>
          <a:noFill/>
        </p:spPr>
        <p:txBody>
          <a:bodyPr wrap="square" rtlCol="0" anchor="t">
            <a:spAutoFit/>
          </a:bodyPr>
          <a:lstStyle/>
          <a:p>
            <a:r>
              <a:rPr lang="en-US" altLang="zh-CN" sz="16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rPr>
              <a:t>                         </a:t>
            </a:r>
            <a:r>
              <a:rPr lang="zh-CN" altLang="en-US" sz="16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rPr>
              <a:t>科技部项目评审专家、国家自然科学基金项目评审专家、教育</a:t>
            </a:r>
          </a:p>
          <a:p>
            <a:r>
              <a:rPr lang="zh-CN" altLang="en-US" sz="16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rPr>
              <a:t> </a:t>
            </a:r>
            <a:r>
              <a:rPr lang="en-US" altLang="zh-CN" sz="16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rPr>
              <a:t>                        </a:t>
            </a:r>
            <a:r>
              <a:rPr lang="zh-CN" altLang="en-US" sz="16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rPr>
              <a:t>部学位中心评审专家</a:t>
            </a:r>
            <a:r>
              <a:rPr lang="zh-CN" altLang="en-US" sz="1600" b="1" dirty="0">
                <a:solidFill>
                  <a:srgbClr val="03199B"/>
                </a:solidFill>
                <a:latin typeface="微软雅黑" panose="020B0503020204020204" charset="-122"/>
                <a:ea typeface="微软雅黑" panose="020B0503020204020204" charset="-122"/>
                <a:cs typeface="Times New Roman" panose="02020603050405020304" pitchFamily="18" charset="0"/>
              </a:rPr>
              <a:t>、</a:t>
            </a:r>
            <a:r>
              <a:rPr lang="zh-CN" altLang="en-US" sz="16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rPr>
              <a:t>常州市科技局项目评审专家、中科智汇</a:t>
            </a:r>
          </a:p>
          <a:p>
            <a:r>
              <a:rPr lang="zh-CN" altLang="en-US" sz="16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rPr>
              <a:t> </a:t>
            </a:r>
            <a:r>
              <a:rPr lang="en-US" altLang="zh-CN" sz="16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rPr>
              <a:t>                        </a:t>
            </a:r>
            <a:r>
              <a:rPr lang="zh-CN" altLang="en-US" sz="16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rPr>
              <a:t>工厂项目评审专家、中国信息通信研究院项目评审专家</a:t>
            </a:r>
          </a:p>
        </p:txBody>
      </p:sp>
      <p:sp>
        <p:nvSpPr>
          <p:cNvPr id="24" name="文本框 23"/>
          <p:cNvSpPr txBox="1"/>
          <p:nvPr/>
        </p:nvSpPr>
        <p:spPr>
          <a:xfrm>
            <a:off x="3942080" y="1575435"/>
            <a:ext cx="1522095" cy="460375"/>
          </a:xfrm>
          <a:prstGeom prst="rect">
            <a:avLst/>
          </a:prstGeom>
          <a:noFill/>
        </p:spPr>
        <p:txBody>
          <a:bodyPr wrap="square" rtlCol="0" anchor="t">
            <a:spAutoFit/>
          </a:bodyPr>
          <a:lstStyle/>
          <a:p>
            <a:r>
              <a:rPr lang="zh-CN" altLang="en-US" sz="2400" b="1" dirty="0">
                <a:gradFill>
                  <a:gsLst>
                    <a:gs pos="51300">
                      <a:srgbClr val="FE5F4A"/>
                    </a:gs>
                    <a:gs pos="0">
                      <a:srgbClr val="DF0303"/>
                    </a:gs>
                    <a:gs pos="100000">
                      <a:srgbClr val="FEA06E"/>
                    </a:gs>
                  </a:gsLst>
                  <a:lin ang="5400000" scaled="1"/>
                  <a:tileRect l="-100000" t="-100000"/>
                </a:gradFill>
                <a:latin typeface="微软雅黑" panose="020B0503020204020204" charset="-122"/>
                <a:ea typeface="微软雅黑" panose="020B0503020204020204" charset="-122"/>
                <a:sym typeface="+mn-ea"/>
              </a:rPr>
              <a:t>社会职务</a:t>
            </a:r>
          </a:p>
        </p:txBody>
      </p:sp>
      <p:sp>
        <p:nvSpPr>
          <p:cNvPr id="25" name="矩形 24"/>
          <p:cNvSpPr/>
          <p:nvPr/>
        </p:nvSpPr>
        <p:spPr>
          <a:xfrm>
            <a:off x="5398077" y="1575699"/>
            <a:ext cx="65753" cy="46166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sp>
        <p:nvSpPr>
          <p:cNvPr id="26" name="文本框 25"/>
          <p:cNvSpPr txBox="1"/>
          <p:nvPr/>
        </p:nvSpPr>
        <p:spPr>
          <a:xfrm>
            <a:off x="3942080" y="2959100"/>
            <a:ext cx="1522095" cy="460375"/>
          </a:xfrm>
          <a:prstGeom prst="rect">
            <a:avLst/>
          </a:prstGeom>
          <a:noFill/>
        </p:spPr>
        <p:txBody>
          <a:bodyPr wrap="square" rtlCol="0" anchor="t">
            <a:spAutoFit/>
          </a:bodyPr>
          <a:lstStyle/>
          <a:p>
            <a:r>
              <a:rPr lang="zh-CN" altLang="en-US" sz="2400" b="1" dirty="0">
                <a:gradFill>
                  <a:gsLst>
                    <a:gs pos="51300">
                      <a:srgbClr val="FE5F4A"/>
                    </a:gs>
                    <a:gs pos="0">
                      <a:srgbClr val="DF0303"/>
                    </a:gs>
                    <a:gs pos="100000">
                      <a:srgbClr val="FEA06E"/>
                    </a:gs>
                  </a:gsLst>
                  <a:lin ang="5400000" scaled="1"/>
                  <a:tileRect l="-100000" t="-100000"/>
                </a:gradFill>
                <a:latin typeface="微软雅黑" panose="020B0503020204020204" charset="-122"/>
                <a:ea typeface="微软雅黑" panose="020B0503020204020204" charset="-122"/>
                <a:sym typeface="+mn-ea"/>
              </a:rPr>
              <a:t>教育背景</a:t>
            </a:r>
          </a:p>
        </p:txBody>
      </p:sp>
      <p:sp>
        <p:nvSpPr>
          <p:cNvPr id="27" name="矩形 26"/>
          <p:cNvSpPr/>
          <p:nvPr/>
        </p:nvSpPr>
        <p:spPr>
          <a:xfrm>
            <a:off x="5398077" y="2958729"/>
            <a:ext cx="65753" cy="46166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sp>
        <p:nvSpPr>
          <p:cNvPr id="28" name="文本框 27"/>
          <p:cNvSpPr txBox="1"/>
          <p:nvPr/>
        </p:nvSpPr>
        <p:spPr>
          <a:xfrm>
            <a:off x="4274185" y="2558415"/>
            <a:ext cx="7202805" cy="706755"/>
          </a:xfrm>
          <a:prstGeom prst="rect">
            <a:avLst/>
          </a:prstGeom>
          <a:noFill/>
        </p:spPr>
        <p:txBody>
          <a:bodyPr wrap="square" rtlCol="0" anchor="t">
            <a:spAutoFit/>
          </a:bodyPr>
          <a:lstStyle/>
          <a:p>
            <a:pPr>
              <a:lnSpc>
                <a:spcPct val="125000"/>
              </a:lnSpc>
            </a:pPr>
            <a:r>
              <a:rPr lang="en-US" altLang="zh-CN" sz="16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rPr>
              <a:t>                         2015</a:t>
            </a:r>
            <a:r>
              <a:rPr lang="en-US" altLang="zh-CN" sz="1600" b="1" kern="100" dirty="0">
                <a:solidFill>
                  <a:srgbClr val="0000FF"/>
                </a:solidFill>
                <a:latin typeface="微软雅黑" panose="020B0503020204020204" charset="-122"/>
                <a:ea typeface="微软雅黑" panose="020B0503020204020204" charset="-122"/>
                <a:cs typeface="Times New Roman" panose="02020603050405020304" pitchFamily="18" charset="0"/>
                <a:sym typeface="+mn-ea"/>
              </a:rPr>
              <a:t>-</a:t>
            </a:r>
            <a:r>
              <a:rPr lang="en-US" altLang="zh-CN" sz="16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rPr>
              <a:t>2020  </a:t>
            </a:r>
            <a:r>
              <a:rPr lang="zh-CN" altLang="en-US" sz="16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rPr>
              <a:t>天津大学 博士研究生   </a:t>
            </a:r>
            <a:endParaRPr lang="en-US" altLang="zh-CN" sz="1600" b="1" kern="1200" dirty="0">
              <a:solidFill>
                <a:srgbClr val="03199B"/>
              </a:solidFill>
              <a:latin typeface="微软雅黑" panose="020B0503020204020204" charset="-122"/>
              <a:ea typeface="微软雅黑" panose="020B0503020204020204" charset="-122"/>
              <a:cs typeface="Times New Roman" panose="02020603050405020304" pitchFamily="18" charset="0"/>
            </a:endParaRPr>
          </a:p>
          <a:p>
            <a:pPr>
              <a:lnSpc>
                <a:spcPct val="125000"/>
              </a:lnSpc>
            </a:pPr>
            <a:r>
              <a:rPr lang="en-US" altLang="zh-CN" sz="16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rPr>
              <a:t>                         </a:t>
            </a:r>
            <a:r>
              <a:rPr lang="zh-CN" altLang="en-US" sz="16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rPr>
              <a:t>导师：张大卫</a:t>
            </a:r>
            <a:r>
              <a:rPr lang="en-US" altLang="zh-CN" sz="16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16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rPr>
              <a:t>黄田教授，</a:t>
            </a:r>
            <a:r>
              <a:rPr lang="zh-CN" altLang="en-US" sz="1600" b="1" kern="100" dirty="0">
                <a:solidFill>
                  <a:srgbClr val="C00000"/>
                </a:solidFill>
                <a:latin typeface="微软雅黑" panose="020B0503020204020204" charset="-122"/>
                <a:ea typeface="微软雅黑" panose="020B0503020204020204" charset="-122"/>
                <a:cs typeface="Times New Roman" panose="02020603050405020304" pitchFamily="18" charset="0"/>
                <a:sym typeface="+mn-ea"/>
              </a:rPr>
              <a:t>长江学者，机器人领域知名专家</a:t>
            </a:r>
            <a:endParaRPr lang="zh-CN" altLang="en-US" sz="16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endParaRPr>
          </a:p>
        </p:txBody>
      </p:sp>
      <p:sp>
        <p:nvSpPr>
          <p:cNvPr id="31" name="文本框 30"/>
          <p:cNvSpPr txBox="1"/>
          <p:nvPr/>
        </p:nvSpPr>
        <p:spPr>
          <a:xfrm>
            <a:off x="5774690" y="3223895"/>
            <a:ext cx="6096000" cy="1014730"/>
          </a:xfrm>
          <a:prstGeom prst="rect">
            <a:avLst/>
          </a:prstGeom>
          <a:noFill/>
        </p:spPr>
        <p:txBody>
          <a:bodyPr wrap="square" rtlCol="0" anchor="t">
            <a:spAutoFit/>
          </a:bodyPr>
          <a:lstStyle/>
          <a:p>
            <a:pPr>
              <a:lnSpc>
                <a:spcPct val="125000"/>
              </a:lnSpc>
            </a:pPr>
            <a:r>
              <a:rPr lang="en-US" altLang="zh-CN" sz="16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rPr>
              <a:t>2016</a:t>
            </a:r>
            <a:r>
              <a:rPr lang="en-US" altLang="zh-CN" sz="1600" b="1" kern="100" dirty="0">
                <a:solidFill>
                  <a:srgbClr val="0000FF"/>
                </a:solidFill>
                <a:latin typeface="微软雅黑" panose="020B0503020204020204" charset="-122"/>
                <a:ea typeface="微软雅黑" panose="020B0503020204020204" charset="-122"/>
                <a:cs typeface="Times New Roman" panose="02020603050405020304" pitchFamily="18" charset="0"/>
                <a:sym typeface="+mn-ea"/>
              </a:rPr>
              <a:t>-</a:t>
            </a:r>
            <a:r>
              <a:rPr lang="en-US" altLang="zh-CN" sz="16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rPr>
              <a:t>2018  </a:t>
            </a:r>
            <a:r>
              <a:rPr lang="zh-CN" altLang="en-US" sz="16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rPr>
              <a:t>美国西北大学   联合培养博士研究生 （国家公派）  </a:t>
            </a:r>
            <a:endParaRPr lang="en-US" altLang="zh-CN" sz="1600" b="1" kern="1200" dirty="0">
              <a:solidFill>
                <a:srgbClr val="03199B"/>
              </a:solidFill>
              <a:latin typeface="微软雅黑" panose="020B0503020204020204" charset="-122"/>
              <a:ea typeface="微软雅黑" panose="020B0503020204020204" charset="-122"/>
              <a:cs typeface="Times New Roman" panose="02020603050405020304" pitchFamily="18" charset="0"/>
            </a:endParaRPr>
          </a:p>
          <a:p>
            <a:pPr>
              <a:lnSpc>
                <a:spcPct val="125000"/>
              </a:lnSpc>
            </a:pPr>
            <a:r>
              <a:rPr lang="zh-CN" altLang="en-US" sz="16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rPr>
              <a:t>导师：</a:t>
            </a:r>
            <a:r>
              <a:rPr lang="en-US" altLang="zh-CN" sz="16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rPr>
              <a:t>Kornel F. Ehmann</a:t>
            </a:r>
            <a:r>
              <a:rPr lang="zh-CN" altLang="en-US" sz="16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rPr>
              <a:t>教授，</a:t>
            </a:r>
            <a:r>
              <a:rPr lang="zh-CN" altLang="en-US" sz="1600" b="1" kern="100" dirty="0">
                <a:solidFill>
                  <a:srgbClr val="C00000"/>
                </a:solidFill>
                <a:latin typeface="微软雅黑" panose="020B0503020204020204" charset="-122"/>
                <a:ea typeface="微软雅黑" panose="020B0503020204020204" charset="-122"/>
                <a:cs typeface="Times New Roman" panose="02020603050405020304" pitchFamily="18" charset="0"/>
                <a:sym typeface="+mn-ea"/>
              </a:rPr>
              <a:t>国际制造工程师协会主席</a:t>
            </a:r>
            <a:r>
              <a:rPr lang="en-US" altLang="zh-CN" sz="16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16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rPr>
              <a:t> </a:t>
            </a:r>
            <a:r>
              <a:rPr lang="en-US" altLang="zh-CN" sz="16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rPr>
              <a:t>Jian Cao</a:t>
            </a:r>
            <a:r>
              <a:rPr lang="zh-CN" altLang="en-US" sz="16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rPr>
              <a:t>教授，</a:t>
            </a:r>
            <a:r>
              <a:rPr lang="en-US" altLang="zh-CN" sz="16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rPr>
              <a:t> </a:t>
            </a:r>
            <a:r>
              <a:rPr lang="zh-CN" altLang="en-US" sz="1600" b="1" kern="100" dirty="0">
                <a:solidFill>
                  <a:srgbClr val="C00000"/>
                </a:solidFill>
                <a:latin typeface="微软雅黑" panose="020B0503020204020204" charset="-122"/>
                <a:ea typeface="微软雅黑" panose="020B0503020204020204" charset="-122"/>
                <a:cs typeface="Times New Roman" panose="02020603050405020304" pitchFamily="18" charset="0"/>
                <a:sym typeface="+mn-ea"/>
              </a:rPr>
              <a:t>美国工程院院士</a:t>
            </a:r>
          </a:p>
        </p:txBody>
      </p:sp>
      <p:sp>
        <p:nvSpPr>
          <p:cNvPr id="32" name="文本框 31"/>
          <p:cNvSpPr txBox="1"/>
          <p:nvPr/>
        </p:nvSpPr>
        <p:spPr>
          <a:xfrm>
            <a:off x="3974465" y="4752975"/>
            <a:ext cx="1608455" cy="460375"/>
          </a:xfrm>
          <a:prstGeom prst="rect">
            <a:avLst/>
          </a:prstGeom>
          <a:noFill/>
        </p:spPr>
        <p:txBody>
          <a:bodyPr wrap="square" rtlCol="0" anchor="t">
            <a:spAutoFit/>
          </a:bodyPr>
          <a:lstStyle/>
          <a:p>
            <a:r>
              <a:rPr lang="zh-CN" altLang="en-US" sz="2400" b="1" dirty="0">
                <a:gradFill>
                  <a:gsLst>
                    <a:gs pos="51300">
                      <a:srgbClr val="FE5F4A"/>
                    </a:gs>
                    <a:gs pos="0">
                      <a:srgbClr val="DF0303"/>
                    </a:gs>
                    <a:gs pos="100000">
                      <a:srgbClr val="FEA06E"/>
                    </a:gs>
                  </a:gsLst>
                  <a:lin ang="5400000" scaled="1"/>
                  <a:tileRect l="-100000" t="-100000"/>
                </a:gradFill>
                <a:latin typeface="微软雅黑" panose="020B0503020204020204" charset="-122"/>
                <a:ea typeface="微软雅黑" panose="020B0503020204020204" charset="-122"/>
                <a:sym typeface="+mn-ea"/>
              </a:rPr>
              <a:t>工作经历</a:t>
            </a:r>
            <a:endParaRPr lang="zh-CN" altLang="en-US" sz="2400" b="1" dirty="0">
              <a:solidFill>
                <a:srgbClr val="C00000"/>
              </a:solidFill>
              <a:latin typeface="微软雅黑" panose="020B0503020204020204" charset="-122"/>
              <a:ea typeface="微软雅黑" panose="020B0503020204020204" charset="-122"/>
              <a:sym typeface="+mn-ea"/>
            </a:endParaRPr>
          </a:p>
        </p:txBody>
      </p:sp>
      <p:sp>
        <p:nvSpPr>
          <p:cNvPr id="33" name="矩形 32"/>
          <p:cNvSpPr/>
          <p:nvPr/>
        </p:nvSpPr>
        <p:spPr>
          <a:xfrm>
            <a:off x="5398077" y="4754509"/>
            <a:ext cx="65753" cy="46166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graphicFrame>
        <p:nvGraphicFramePr>
          <p:cNvPr id="34" name="表格 33"/>
          <p:cNvGraphicFramePr>
            <a:graphicFrameLocks noGrp="1"/>
          </p:cNvGraphicFramePr>
          <p:nvPr/>
        </p:nvGraphicFramePr>
        <p:xfrm>
          <a:off x="5643245" y="4537710"/>
          <a:ext cx="6139815" cy="625475"/>
        </p:xfrm>
        <a:graphic>
          <a:graphicData uri="http://schemas.openxmlformats.org/drawingml/2006/table">
            <a:tbl>
              <a:tblPr/>
              <a:tblGrid>
                <a:gridCol w="1407160">
                  <a:extLst>
                    <a:ext uri="{9D8B030D-6E8A-4147-A177-3AD203B41FA5}">
                      <a16:colId xmlns:a16="http://schemas.microsoft.com/office/drawing/2014/main" val="20000"/>
                    </a:ext>
                  </a:extLst>
                </a:gridCol>
                <a:gridCol w="1996440">
                  <a:extLst>
                    <a:ext uri="{9D8B030D-6E8A-4147-A177-3AD203B41FA5}">
                      <a16:colId xmlns:a16="http://schemas.microsoft.com/office/drawing/2014/main" val="20001"/>
                    </a:ext>
                  </a:extLst>
                </a:gridCol>
                <a:gridCol w="2736215">
                  <a:extLst>
                    <a:ext uri="{9D8B030D-6E8A-4147-A177-3AD203B41FA5}">
                      <a16:colId xmlns:a16="http://schemas.microsoft.com/office/drawing/2014/main" val="20002"/>
                    </a:ext>
                  </a:extLst>
                </a:gridCol>
              </a:tblGrid>
              <a:tr h="625475">
                <a:tc>
                  <a:txBody>
                    <a:bodyPr/>
                    <a:lstStyle/>
                    <a:p>
                      <a:pPr marL="342900" lvl="0" indent="-342900" algn="l">
                        <a:lnSpc>
                          <a:spcPct val="100000"/>
                        </a:lnSpc>
                        <a:spcBef>
                          <a:spcPts val="600"/>
                        </a:spcBef>
                        <a:spcAft>
                          <a:spcPts val="600"/>
                        </a:spcAft>
                        <a:buSzPts val="1200"/>
                        <a:buFont typeface="Wingdings" panose="05000000000000000000"/>
                        <a:buNone/>
                      </a:pPr>
                      <a:r>
                        <a:rPr lang="zh-CN" altLang="en-US" sz="1600" b="1" kern="1200" dirty="0">
                          <a:solidFill>
                            <a:srgbClr val="03199B"/>
                          </a:solidFill>
                          <a:latin typeface="微软雅黑" panose="020B0503020204020204" charset="-122"/>
                          <a:ea typeface="微软雅黑" panose="020B0503020204020204" charset="-122"/>
                          <a:cs typeface="Times New Roman" panose="02020603050405020304" pitchFamily="18" charset="0"/>
                        </a:rPr>
                        <a:t>  2020-至今</a:t>
                      </a:r>
                    </a:p>
                  </a:txBody>
                  <a:tcPr marL="68564" marR="68564" marT="0" marB="0" anchor="ctr">
                    <a:lnL>
                      <a:noFill/>
                    </a:lnL>
                    <a:lnR>
                      <a:noFill/>
                    </a:lnR>
                    <a:lnT>
                      <a:noFill/>
                    </a:lnT>
                    <a:lnB>
                      <a:noFill/>
                    </a:lnB>
                  </a:tcPr>
                </a:tc>
                <a:tc>
                  <a:txBody>
                    <a:bodyPr/>
                    <a:lstStyle/>
                    <a:p>
                      <a:pPr algn="l">
                        <a:lnSpc>
                          <a:spcPct val="100000"/>
                        </a:lnSpc>
                        <a:spcBef>
                          <a:spcPts val="600"/>
                        </a:spcBef>
                        <a:spcAft>
                          <a:spcPts val="600"/>
                        </a:spcAft>
                      </a:pPr>
                      <a:r>
                        <a:rPr lang="zh-CN" altLang="en-US" sz="16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rPr>
                        <a:t>南京航空航天大学</a:t>
                      </a:r>
                      <a:endParaRPr lang="zh-CN" altLang="en-US" sz="1600" b="1" kern="1200" dirty="0">
                        <a:solidFill>
                          <a:srgbClr val="03199B"/>
                        </a:solidFill>
                        <a:latin typeface="微软雅黑" panose="020B0503020204020204" charset="-122"/>
                        <a:ea typeface="微软雅黑" panose="020B0503020204020204" charset="-122"/>
                        <a:cs typeface="Times New Roman" panose="02020603050405020304" pitchFamily="18" charset="0"/>
                        <a:sym typeface="+mn-ea"/>
                      </a:endParaRPr>
                    </a:p>
                  </a:txBody>
                  <a:tcPr marL="68564" marR="68564" marT="0" marB="0" anchor="ctr">
                    <a:lnL>
                      <a:noFill/>
                    </a:lnL>
                    <a:lnR>
                      <a:noFill/>
                    </a:lnR>
                    <a:lnT>
                      <a:noFill/>
                    </a:lnT>
                    <a:lnB>
                      <a:noFill/>
                    </a:lnB>
                  </a:tcPr>
                </a:tc>
                <a:tc>
                  <a:txBody>
                    <a:bodyPr/>
                    <a:lstStyle/>
                    <a:p>
                      <a:pPr algn="l">
                        <a:lnSpc>
                          <a:spcPct val="100000"/>
                        </a:lnSpc>
                        <a:spcBef>
                          <a:spcPts val="600"/>
                        </a:spcBef>
                        <a:spcAft>
                          <a:spcPts val="600"/>
                        </a:spcAft>
                      </a:pPr>
                      <a:r>
                        <a:rPr lang="zh-CN" altLang="en-US" sz="1600" b="1" kern="100" dirty="0">
                          <a:solidFill>
                            <a:srgbClr val="C00000"/>
                          </a:solidFill>
                          <a:latin typeface="微软雅黑" panose="020B0503020204020204" charset="-122"/>
                          <a:ea typeface="微软雅黑" panose="020B0503020204020204" charset="-122"/>
                          <a:cs typeface="Times New Roman" panose="02020603050405020304" pitchFamily="18" charset="0"/>
                          <a:sym typeface="+mn-ea"/>
                        </a:rPr>
                        <a:t>副教授</a:t>
                      </a:r>
                      <a:endParaRPr lang="en-US" altLang="zh-CN" sz="1600" b="1" kern="100" dirty="0">
                        <a:solidFill>
                          <a:srgbClr val="C00000"/>
                        </a:solidFill>
                        <a:latin typeface="微软雅黑" panose="020B0503020204020204" charset="-122"/>
                        <a:ea typeface="微软雅黑" panose="020B0503020204020204" charset="-122"/>
                        <a:cs typeface="Times New Roman" panose="02020603050405020304" pitchFamily="18" charset="0"/>
                      </a:endParaRPr>
                    </a:p>
                  </a:txBody>
                  <a:tcPr marL="68564" marR="68564"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35" name="文本框 34"/>
          <p:cNvSpPr txBox="1"/>
          <p:nvPr/>
        </p:nvSpPr>
        <p:spPr>
          <a:xfrm>
            <a:off x="5721350" y="5035550"/>
            <a:ext cx="6096000" cy="337185"/>
          </a:xfrm>
          <a:prstGeom prst="rect">
            <a:avLst/>
          </a:prstGeom>
          <a:noFill/>
        </p:spPr>
        <p:txBody>
          <a:bodyPr wrap="square" rtlCol="0" anchor="t">
            <a:spAutoFit/>
          </a:bodyPr>
          <a:lstStyle/>
          <a:p>
            <a:r>
              <a:rPr lang="zh-CN" altLang="en-US" sz="16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rPr>
              <a:t>2021-2023</a:t>
            </a:r>
            <a:endParaRPr lang="en-US" altLang="zh-CN" sz="2000" b="1" dirty="0">
              <a:solidFill>
                <a:srgbClr val="03199B"/>
              </a:solidFill>
              <a:latin typeface="微软雅黑" panose="020B0503020204020204" charset="-122"/>
              <a:ea typeface="微软雅黑" panose="020B0503020204020204" charset="-122"/>
              <a:cs typeface="Times New Roman" panose="02020603050405020304" pitchFamily="18" charset="0"/>
              <a:sym typeface="+mn-ea"/>
            </a:endParaRPr>
          </a:p>
        </p:txBody>
      </p:sp>
      <p:graphicFrame>
        <p:nvGraphicFramePr>
          <p:cNvPr id="37" name="表格 36"/>
          <p:cNvGraphicFramePr>
            <a:graphicFrameLocks noGrp="1"/>
          </p:cNvGraphicFramePr>
          <p:nvPr/>
        </p:nvGraphicFramePr>
        <p:xfrm>
          <a:off x="7009078" y="4958483"/>
          <a:ext cx="2303825" cy="562210"/>
        </p:xfrm>
        <a:graphic>
          <a:graphicData uri="http://schemas.openxmlformats.org/drawingml/2006/table">
            <a:tbl>
              <a:tblPr/>
              <a:tblGrid>
                <a:gridCol w="2303825">
                  <a:extLst>
                    <a:ext uri="{9D8B030D-6E8A-4147-A177-3AD203B41FA5}">
                      <a16:colId xmlns:a16="http://schemas.microsoft.com/office/drawing/2014/main" val="20000"/>
                    </a:ext>
                  </a:extLst>
                </a:gridCol>
              </a:tblGrid>
              <a:tr h="562210">
                <a:tc>
                  <a:txBody>
                    <a:bodyPr/>
                    <a:lstStyle/>
                    <a:p>
                      <a:pPr marL="0" marR="0" lvl="0" indent="0" algn="l" defTabSz="914400" rtl="0" eaLnBrk="1" fontAlgn="auto" latinLnBrk="0" hangingPunct="1">
                        <a:lnSpc>
                          <a:spcPct val="100000"/>
                        </a:lnSpc>
                        <a:spcBef>
                          <a:spcPts val="600"/>
                        </a:spcBef>
                        <a:spcAft>
                          <a:spcPts val="600"/>
                        </a:spcAft>
                        <a:buClrTx/>
                        <a:buSzTx/>
                        <a:buFontTx/>
                        <a:buNone/>
                        <a:defRPr/>
                      </a:pPr>
                      <a:r>
                        <a:rPr lang="en-US" altLang="zh-CN" sz="1600" b="1" kern="1200" dirty="0">
                          <a:solidFill>
                            <a:srgbClr val="03199B"/>
                          </a:solidFill>
                          <a:latin typeface="微软雅黑" panose="020B0503020204020204" charset="-122"/>
                          <a:ea typeface="微软雅黑" panose="020B0503020204020204" charset="-122"/>
                          <a:cs typeface="Times New Roman" panose="02020603050405020304" pitchFamily="18" charset="0"/>
                        </a:rPr>
                        <a:t> </a:t>
                      </a:r>
                      <a:r>
                        <a:rPr lang="zh-CN" altLang="en-US" sz="1600" b="1" kern="1200" dirty="0">
                          <a:solidFill>
                            <a:srgbClr val="03199B"/>
                          </a:solidFill>
                          <a:latin typeface="微软雅黑" panose="020B0503020204020204" charset="-122"/>
                          <a:ea typeface="微软雅黑" panose="020B0503020204020204" charset="-122"/>
                          <a:cs typeface="Times New Roman" panose="02020603050405020304" pitchFamily="18" charset="0"/>
                        </a:rPr>
                        <a:t>江苏省科技镇长团</a:t>
                      </a:r>
                    </a:p>
                  </a:txBody>
                  <a:tcPr marL="68564" marR="68564"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38" name="表格 37"/>
          <p:cNvGraphicFramePr>
            <a:graphicFrameLocks noGrp="1"/>
          </p:cNvGraphicFramePr>
          <p:nvPr/>
        </p:nvGraphicFramePr>
        <p:xfrm>
          <a:off x="8862008" y="4922923"/>
          <a:ext cx="3595373" cy="562210"/>
        </p:xfrm>
        <a:graphic>
          <a:graphicData uri="http://schemas.openxmlformats.org/drawingml/2006/table">
            <a:tbl>
              <a:tblPr/>
              <a:tblGrid>
                <a:gridCol w="3595373">
                  <a:extLst>
                    <a:ext uri="{9D8B030D-6E8A-4147-A177-3AD203B41FA5}">
                      <a16:colId xmlns:a16="http://schemas.microsoft.com/office/drawing/2014/main" val="20000"/>
                    </a:ext>
                  </a:extLst>
                </a:gridCol>
              </a:tblGrid>
              <a:tr h="562210">
                <a:tc>
                  <a:txBody>
                    <a:bodyPr/>
                    <a:lstStyle/>
                    <a:p>
                      <a:pPr algn="l">
                        <a:lnSpc>
                          <a:spcPct val="100000"/>
                        </a:lnSpc>
                        <a:spcBef>
                          <a:spcPts val="600"/>
                        </a:spcBef>
                        <a:spcAft>
                          <a:spcPts val="600"/>
                        </a:spcAft>
                      </a:pPr>
                      <a:r>
                        <a:rPr lang="en-US" altLang="zh-CN" sz="1600" b="1" kern="100" dirty="0">
                          <a:solidFill>
                            <a:srgbClr val="C00000"/>
                          </a:solidFill>
                          <a:latin typeface="微软雅黑" panose="020B0503020204020204" charset="-122"/>
                          <a:ea typeface="微软雅黑" panose="020B0503020204020204" charset="-122"/>
                          <a:cs typeface="Times New Roman" panose="02020603050405020304" pitchFamily="18" charset="0"/>
                        </a:rPr>
                        <a:t>   </a:t>
                      </a:r>
                      <a:r>
                        <a:rPr lang="zh-CN" altLang="en-US" sz="1400" b="1" kern="100" dirty="0">
                          <a:solidFill>
                            <a:srgbClr val="C00000"/>
                          </a:solidFill>
                          <a:latin typeface="微软雅黑" panose="020B0503020204020204" charset="-122"/>
                          <a:ea typeface="微软雅黑" panose="020B0503020204020204" charset="-122"/>
                          <a:cs typeface="Times New Roman" panose="02020603050405020304" pitchFamily="18" charset="0"/>
                        </a:rPr>
                        <a:t>副团长</a:t>
                      </a:r>
                      <a:r>
                        <a:rPr lang="en-US" altLang="zh-CN" sz="1400" b="1" kern="100" dirty="0">
                          <a:solidFill>
                            <a:srgbClr val="C00000"/>
                          </a:solidFill>
                          <a:latin typeface="微软雅黑" panose="020B0503020204020204" charset="-122"/>
                          <a:ea typeface="微软雅黑" panose="020B0503020204020204" charset="-122"/>
                          <a:cs typeface="Times New Roman" panose="02020603050405020304" pitchFamily="18" charset="0"/>
                        </a:rPr>
                        <a:t>/</a:t>
                      </a:r>
                      <a:r>
                        <a:rPr lang="zh-CN" altLang="en-US" sz="1400" b="1" kern="100" dirty="0">
                          <a:solidFill>
                            <a:srgbClr val="C00000"/>
                          </a:solidFill>
                          <a:latin typeface="微软雅黑" panose="020B0503020204020204" charset="-122"/>
                          <a:ea typeface="微软雅黑" panose="020B0503020204020204" charset="-122"/>
                          <a:cs typeface="Times New Roman" panose="02020603050405020304" pitchFamily="18" charset="0"/>
                        </a:rPr>
                        <a:t>镇党委副书记</a:t>
                      </a:r>
                      <a:endParaRPr lang="zh-CN" sz="1400" b="1" kern="100" dirty="0">
                        <a:solidFill>
                          <a:srgbClr val="C00000"/>
                        </a:solidFill>
                        <a:latin typeface="微软雅黑" panose="020B0503020204020204" charset="-122"/>
                        <a:ea typeface="微软雅黑" panose="020B0503020204020204" charset="-122"/>
                        <a:cs typeface="Times New Roman" panose="02020603050405020304" pitchFamily="18" charset="0"/>
                      </a:endParaRPr>
                    </a:p>
                  </a:txBody>
                  <a:tcPr marL="68564" marR="68564"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p:pic>
        <p:nvPicPr>
          <p:cNvPr id="39" name="图片 38"/>
          <p:cNvPicPr>
            <a:picLocks noChangeAspect="1"/>
          </p:cNvPicPr>
          <p:nvPr/>
        </p:nvPicPr>
        <p:blipFill rotWithShape="1">
          <a:blip r:embed="rId4"/>
          <a:srcRect t="10101"/>
          <a:stretch>
            <a:fillRect/>
          </a:stretch>
        </p:blipFill>
        <p:spPr>
          <a:xfrm>
            <a:off x="1211059" y="1717805"/>
            <a:ext cx="1441174" cy="1813851"/>
          </a:xfrm>
          <a:prstGeom prst="rect">
            <a:avLst/>
          </a:prstGeom>
        </p:spPr>
      </p:pic>
      <p:sp>
        <p:nvSpPr>
          <p:cNvPr id="40" name="文本框 39"/>
          <p:cNvSpPr txBox="1"/>
          <p:nvPr/>
        </p:nvSpPr>
        <p:spPr>
          <a:xfrm>
            <a:off x="1263650" y="3701415"/>
            <a:ext cx="1111885" cy="368300"/>
          </a:xfrm>
          <a:prstGeom prst="rect">
            <a:avLst/>
          </a:prstGeom>
          <a:noFill/>
        </p:spPr>
        <p:txBody>
          <a:bodyPr wrap="square" rtlCol="0" anchor="t">
            <a:spAutoFit/>
          </a:bodyPr>
          <a:lstStyle/>
          <a:p>
            <a:r>
              <a:rPr lang="en-US" altLang="zh-CN" dirty="0">
                <a:sym typeface="+mn-ea"/>
              </a:rPr>
              <a:t>   </a:t>
            </a:r>
            <a:r>
              <a:rPr lang="zh-CN" altLang="en-US" b="1" dirty="0">
                <a:solidFill>
                  <a:schemeClr val="accent1">
                    <a:lumMod val="50000"/>
                  </a:schemeClr>
                </a:solidFill>
                <a:effectLst/>
                <a:latin typeface="微软雅黑" panose="020B0503020204020204" charset="-122"/>
                <a:ea typeface="微软雅黑" panose="020B0503020204020204" charset="-122"/>
                <a:sym typeface="+mn-ea"/>
              </a:rPr>
              <a:t>袁言杰</a:t>
            </a:r>
          </a:p>
        </p:txBody>
      </p:sp>
      <p:sp>
        <p:nvSpPr>
          <p:cNvPr id="41" name="文本框 40"/>
          <p:cNvSpPr txBox="1"/>
          <p:nvPr/>
        </p:nvSpPr>
        <p:spPr>
          <a:xfrm>
            <a:off x="621030" y="4338955"/>
            <a:ext cx="2998470" cy="337185"/>
          </a:xfrm>
          <a:prstGeom prst="rect">
            <a:avLst/>
          </a:prstGeom>
          <a:noFill/>
        </p:spPr>
        <p:txBody>
          <a:bodyPr wrap="square" rtlCol="0" anchor="t">
            <a:spAutoFit/>
          </a:bodyPr>
          <a:lstStyle/>
          <a:p>
            <a:r>
              <a:rPr lang="zh-CN" altLang="en-US" sz="1600" b="1" dirty="0">
                <a:solidFill>
                  <a:schemeClr val="accent1">
                    <a:lumMod val="50000"/>
                  </a:schemeClr>
                </a:solidFill>
                <a:effectLst/>
                <a:latin typeface="微软雅黑" panose="020B0503020204020204" charset="-122"/>
                <a:ea typeface="微软雅黑" panose="020B0503020204020204" charset="-122"/>
                <a:cs typeface="微软雅黑" panose="020B0503020204020204" charset="-122"/>
                <a:sym typeface="+mn-ea"/>
              </a:rPr>
              <a:t>创始人</a:t>
            </a:r>
            <a:r>
              <a:rPr lang="en-US" altLang="zh-CN" sz="1600" b="1" dirty="0">
                <a:solidFill>
                  <a:schemeClr val="accent1">
                    <a:lumMod val="50000"/>
                  </a:schemeClr>
                </a:solidFill>
                <a:effectLst/>
                <a:latin typeface="微软雅黑" panose="020B0503020204020204" charset="-122"/>
                <a:ea typeface="微软雅黑" panose="020B0503020204020204" charset="-122"/>
                <a:cs typeface="微软雅黑" panose="020B0503020204020204" charset="-122"/>
                <a:sym typeface="+mn-ea"/>
              </a:rPr>
              <a:t>/</a:t>
            </a:r>
            <a:r>
              <a:rPr lang="zh-CN" altLang="en-US" sz="1600" b="1" dirty="0">
                <a:solidFill>
                  <a:schemeClr val="accent1">
                    <a:lumMod val="50000"/>
                  </a:schemeClr>
                </a:solidFill>
                <a:effectLst/>
                <a:latin typeface="微软雅黑" panose="020B0503020204020204" charset="-122"/>
                <a:ea typeface="微软雅黑" panose="020B0503020204020204" charset="-122"/>
                <a:cs typeface="微软雅黑" panose="020B0503020204020204" charset="-122"/>
                <a:sym typeface="+mn-ea"/>
              </a:rPr>
              <a:t>执行董事</a:t>
            </a:r>
            <a:r>
              <a:rPr lang="en-US" altLang="zh-CN" sz="1600" b="1" dirty="0">
                <a:solidFill>
                  <a:schemeClr val="accent1">
                    <a:lumMod val="50000"/>
                  </a:schemeClr>
                </a:solidFill>
                <a:effectLst/>
                <a:latin typeface="微软雅黑" panose="020B0503020204020204" charset="-122"/>
                <a:ea typeface="微软雅黑" panose="020B0503020204020204" charset="-122"/>
                <a:cs typeface="微软雅黑" panose="020B0503020204020204" charset="-122"/>
                <a:sym typeface="+mn-ea"/>
              </a:rPr>
              <a:t>/</a:t>
            </a:r>
            <a:r>
              <a:rPr lang="zh-CN" altLang="en-US" sz="1600" b="1" dirty="0">
                <a:solidFill>
                  <a:schemeClr val="accent1">
                    <a:lumMod val="50000"/>
                  </a:schemeClr>
                </a:solidFill>
                <a:effectLst/>
                <a:latin typeface="微软雅黑" panose="020B0503020204020204" charset="-122"/>
                <a:ea typeface="微软雅黑" panose="020B0503020204020204" charset="-122"/>
                <a:cs typeface="微软雅黑" panose="020B0503020204020204" charset="-122"/>
                <a:sym typeface="+mn-ea"/>
              </a:rPr>
              <a:t>法定代表人</a:t>
            </a:r>
          </a:p>
        </p:txBody>
      </p:sp>
      <p:sp>
        <p:nvSpPr>
          <p:cNvPr id="42" name="path 72"/>
          <p:cNvSpPr/>
          <p:nvPr/>
        </p:nvSpPr>
        <p:spPr>
          <a:xfrm>
            <a:off x="11398249" y="6043294"/>
            <a:ext cx="741679" cy="774064"/>
          </a:xfrm>
          <a:custGeom>
            <a:avLst/>
            <a:gdLst/>
            <a:ahLst/>
            <a:cxnLst/>
            <a:rect l="0" t="0" r="0" b="0"/>
            <a:pathLst>
              <a:path w="1167" h="1218">
                <a:moveTo>
                  <a:pt x="950" y="1218"/>
                </a:moveTo>
                <a:lnTo>
                  <a:pt x="1167" y="1218"/>
                </a:lnTo>
                <a:lnTo>
                  <a:pt x="1167" y="1001"/>
                </a:lnTo>
                <a:lnTo>
                  <a:pt x="950" y="1001"/>
                </a:lnTo>
                <a:lnTo>
                  <a:pt x="950" y="1218"/>
                </a:lnTo>
                <a:close/>
              </a:path>
              <a:path w="1167" h="1218">
                <a:moveTo>
                  <a:pt x="634" y="1218"/>
                </a:moveTo>
                <a:lnTo>
                  <a:pt x="850" y="1218"/>
                </a:lnTo>
                <a:lnTo>
                  <a:pt x="850" y="1001"/>
                </a:lnTo>
                <a:lnTo>
                  <a:pt x="634" y="1001"/>
                </a:lnTo>
                <a:lnTo>
                  <a:pt x="634" y="1218"/>
                </a:lnTo>
                <a:close/>
              </a:path>
              <a:path w="1167" h="1218">
                <a:moveTo>
                  <a:pt x="317" y="1218"/>
                </a:moveTo>
                <a:lnTo>
                  <a:pt x="534" y="1218"/>
                </a:lnTo>
                <a:lnTo>
                  <a:pt x="534" y="1001"/>
                </a:lnTo>
                <a:lnTo>
                  <a:pt x="317" y="1001"/>
                </a:lnTo>
                <a:lnTo>
                  <a:pt x="317" y="1218"/>
                </a:lnTo>
                <a:close/>
              </a:path>
              <a:path w="1167" h="1218">
                <a:moveTo>
                  <a:pt x="0" y="1218"/>
                </a:moveTo>
                <a:lnTo>
                  <a:pt x="216" y="1218"/>
                </a:lnTo>
                <a:lnTo>
                  <a:pt x="216" y="1001"/>
                </a:lnTo>
                <a:lnTo>
                  <a:pt x="0" y="1001"/>
                </a:lnTo>
                <a:lnTo>
                  <a:pt x="0" y="1218"/>
                </a:lnTo>
                <a:close/>
              </a:path>
              <a:path w="1167" h="1218">
                <a:moveTo>
                  <a:pt x="950" y="884"/>
                </a:moveTo>
                <a:lnTo>
                  <a:pt x="1167" y="884"/>
                </a:lnTo>
                <a:lnTo>
                  <a:pt x="1167" y="667"/>
                </a:lnTo>
                <a:lnTo>
                  <a:pt x="950" y="667"/>
                </a:lnTo>
                <a:lnTo>
                  <a:pt x="950" y="884"/>
                </a:lnTo>
                <a:close/>
              </a:path>
              <a:path w="1167" h="1218">
                <a:moveTo>
                  <a:pt x="634" y="884"/>
                </a:moveTo>
                <a:lnTo>
                  <a:pt x="850" y="884"/>
                </a:lnTo>
                <a:lnTo>
                  <a:pt x="850" y="667"/>
                </a:lnTo>
                <a:lnTo>
                  <a:pt x="634" y="667"/>
                </a:lnTo>
                <a:lnTo>
                  <a:pt x="634" y="884"/>
                </a:lnTo>
                <a:close/>
              </a:path>
              <a:path w="1167" h="1218">
                <a:moveTo>
                  <a:pt x="317" y="884"/>
                </a:moveTo>
                <a:lnTo>
                  <a:pt x="534" y="884"/>
                </a:lnTo>
                <a:lnTo>
                  <a:pt x="534" y="667"/>
                </a:lnTo>
                <a:lnTo>
                  <a:pt x="317" y="667"/>
                </a:lnTo>
                <a:lnTo>
                  <a:pt x="317" y="884"/>
                </a:lnTo>
                <a:close/>
              </a:path>
              <a:path w="1167" h="1218">
                <a:moveTo>
                  <a:pt x="950" y="550"/>
                </a:moveTo>
                <a:lnTo>
                  <a:pt x="1167" y="550"/>
                </a:lnTo>
                <a:lnTo>
                  <a:pt x="1167" y="333"/>
                </a:lnTo>
                <a:lnTo>
                  <a:pt x="950" y="333"/>
                </a:lnTo>
                <a:lnTo>
                  <a:pt x="950" y="550"/>
                </a:lnTo>
                <a:close/>
              </a:path>
              <a:path w="1167" h="1218">
                <a:moveTo>
                  <a:pt x="634" y="550"/>
                </a:moveTo>
                <a:lnTo>
                  <a:pt x="850" y="550"/>
                </a:lnTo>
                <a:lnTo>
                  <a:pt x="850" y="333"/>
                </a:lnTo>
                <a:lnTo>
                  <a:pt x="634" y="333"/>
                </a:lnTo>
                <a:lnTo>
                  <a:pt x="634" y="550"/>
                </a:lnTo>
                <a:close/>
              </a:path>
              <a:path w="1167" h="1218">
                <a:moveTo>
                  <a:pt x="950" y="216"/>
                </a:moveTo>
                <a:lnTo>
                  <a:pt x="1167" y="216"/>
                </a:lnTo>
                <a:lnTo>
                  <a:pt x="1167" y="0"/>
                </a:lnTo>
                <a:lnTo>
                  <a:pt x="950" y="0"/>
                </a:lnTo>
                <a:lnTo>
                  <a:pt x="950" y="216"/>
                </a:lnTo>
                <a:close/>
              </a:path>
            </a:pathLst>
          </a:custGeom>
          <a:solidFill>
            <a:srgbClr val="F2F2F2">
              <a:alpha val="100000"/>
            </a:srgbClr>
          </a:solidFill>
          <a:ln w="0" cap="flat">
            <a:noFill/>
            <a:prstDash val="solid"/>
            <a:miter lim="0"/>
          </a:ln>
        </p:spPr>
        <p:txBody>
          <a:bodyPr rtlCol="0"/>
          <a:lstStyle/>
          <a:p>
            <a:pPr algn="ct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56"/>
          <p:cNvPicPr>
            <a:picLocks noChangeAspect="1"/>
          </p:cNvPicPr>
          <p:nvPr/>
        </p:nvPicPr>
        <p:blipFill>
          <a:blip r:embed="rId2"/>
          <a:stretch>
            <a:fillRect/>
          </a:stretch>
        </p:blipFill>
        <p:spPr>
          <a:xfrm rot="21600000">
            <a:off x="275" y="-216"/>
            <a:ext cx="12192000" cy="6857998"/>
          </a:xfrm>
          <a:prstGeom prst="rect">
            <a:avLst/>
          </a:prstGeom>
        </p:spPr>
      </p:pic>
      <p:sp>
        <p:nvSpPr>
          <p:cNvPr id="62" name="textbox 62"/>
          <p:cNvSpPr/>
          <p:nvPr/>
        </p:nvSpPr>
        <p:spPr>
          <a:xfrm>
            <a:off x="6926443" y="1466538"/>
            <a:ext cx="3498811" cy="465455"/>
          </a:xfrm>
          <a:prstGeom prst="rect">
            <a:avLst/>
          </a:prstGeom>
          <a:noFill/>
          <a:ln w="0" cap="flat">
            <a:noFill/>
            <a:prstDash val="solid"/>
            <a:miter lim="0"/>
          </a:ln>
        </p:spPr>
        <p:txBody>
          <a:bodyPr vert="horz" wrap="square" lIns="0" tIns="0" rIns="0" bIns="0"/>
          <a:lstStyle/>
          <a:p>
            <a:pPr algn="l" rtl="0" eaLnBrk="0">
              <a:lnSpc>
                <a:spcPct val="69000"/>
              </a:lnSpc>
            </a:pPr>
            <a:endParaRPr sz="100" dirty="0">
              <a:latin typeface="Arial" panose="020B0604020202020204"/>
              <a:ea typeface="Arial" panose="020B0604020202020204"/>
              <a:cs typeface="Arial" panose="020B0604020202020204"/>
            </a:endParaRPr>
          </a:p>
        </p:txBody>
      </p:sp>
      <p:pic>
        <p:nvPicPr>
          <p:cNvPr id="66" name="picture 66"/>
          <p:cNvPicPr>
            <a:picLocks noChangeAspect="1"/>
          </p:cNvPicPr>
          <p:nvPr/>
        </p:nvPicPr>
        <p:blipFill>
          <a:blip r:embed="rId3"/>
          <a:stretch>
            <a:fillRect/>
          </a:stretch>
        </p:blipFill>
        <p:spPr>
          <a:xfrm rot="21600000">
            <a:off x="0" y="6576693"/>
            <a:ext cx="12192000" cy="271779"/>
          </a:xfrm>
          <a:prstGeom prst="rect">
            <a:avLst/>
          </a:prstGeom>
        </p:spPr>
      </p:pic>
      <p:sp>
        <p:nvSpPr>
          <p:cNvPr id="70" name="textbox 70"/>
          <p:cNvSpPr/>
          <p:nvPr/>
        </p:nvSpPr>
        <p:spPr>
          <a:xfrm>
            <a:off x="3613785" y="3287395"/>
            <a:ext cx="5034280" cy="507365"/>
          </a:xfrm>
          <a:prstGeom prst="rect">
            <a:avLst/>
          </a:prstGeom>
          <a:noFill/>
          <a:ln w="0" cap="flat">
            <a:noFill/>
            <a:prstDash val="solid"/>
            <a:miter lim="0"/>
          </a:ln>
        </p:spPr>
        <p:txBody>
          <a:bodyPr vert="horz" wrap="square" lIns="0" tIns="0" rIns="0" bIns="0"/>
          <a:lstStyle/>
          <a:p>
            <a:pPr algn="l" rtl="0" eaLnBrk="0">
              <a:lnSpc>
                <a:spcPct val="93000"/>
              </a:lnSpc>
            </a:pPr>
            <a:endParaRPr sz="100" dirty="0">
              <a:latin typeface="Arial" panose="020B0604020202020204"/>
              <a:ea typeface="Arial" panose="020B0604020202020204"/>
              <a:cs typeface="Arial" panose="020B0604020202020204"/>
            </a:endParaRPr>
          </a:p>
          <a:p>
            <a:pPr algn="ctr" rtl="0" eaLnBrk="0">
              <a:lnSpc>
                <a:spcPct val="87000"/>
              </a:lnSpc>
            </a:pPr>
            <a:r>
              <a:rPr lang="en-US" altLang="zh-CN" sz="4400" b="1" dirty="0">
                <a:solidFill>
                  <a:schemeClr val="accent1">
                    <a:lumMod val="5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02/</a:t>
            </a:r>
            <a:r>
              <a:rPr lang="zh-CN" altLang="en-US" sz="4400" b="1" dirty="0">
                <a:solidFill>
                  <a:schemeClr val="accent1">
                    <a:lumMod val="5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行业痛点与机遇</a:t>
            </a:r>
            <a:endParaRPr lang="zh-CN" altLang="en-US" sz="4400" kern="0" spc="60" dirty="0">
              <a:solidFill>
                <a:schemeClr val="accent1">
                  <a:lumMod val="75000"/>
                  <a:alpha val="100000"/>
                </a:schemeClr>
              </a:solidFill>
              <a:latin typeface="微软雅黑" panose="020B0503020204020204" charset="-122"/>
              <a:ea typeface="微软雅黑" panose="020B0503020204020204" charset="-122"/>
              <a:cs typeface="微软雅黑" panose="020B0503020204020204" charset="-122"/>
            </a:endParaRPr>
          </a:p>
          <a:p>
            <a:pPr algn="r" rtl="0" eaLnBrk="0">
              <a:lnSpc>
                <a:spcPct val="87000"/>
              </a:lnSpc>
            </a:pPr>
            <a:endParaRPr lang="zh-CN" altLang="en-US" sz="4400" kern="0" spc="60" dirty="0">
              <a:solidFill>
                <a:schemeClr val="accent1">
                  <a:lumMod val="75000"/>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74" name="path 74"/>
          <p:cNvSpPr/>
          <p:nvPr/>
        </p:nvSpPr>
        <p:spPr>
          <a:xfrm>
            <a:off x="348614" y="354965"/>
            <a:ext cx="540385" cy="137794"/>
          </a:xfrm>
          <a:custGeom>
            <a:avLst/>
            <a:gdLst/>
            <a:ahLst/>
            <a:cxnLst/>
            <a:rect l="0" t="0" r="0" b="0"/>
            <a:pathLst>
              <a:path w="851" h="216">
                <a:moveTo>
                  <a:pt x="0" y="216"/>
                </a:moveTo>
                <a:lnTo>
                  <a:pt x="217" y="216"/>
                </a:lnTo>
                <a:lnTo>
                  <a:pt x="217" y="0"/>
                </a:lnTo>
                <a:lnTo>
                  <a:pt x="0" y="0"/>
                </a:lnTo>
                <a:lnTo>
                  <a:pt x="0" y="216"/>
                </a:lnTo>
                <a:close/>
              </a:path>
              <a:path w="851" h="216">
                <a:moveTo>
                  <a:pt x="317" y="216"/>
                </a:moveTo>
                <a:lnTo>
                  <a:pt x="534" y="216"/>
                </a:lnTo>
                <a:lnTo>
                  <a:pt x="534" y="0"/>
                </a:lnTo>
                <a:lnTo>
                  <a:pt x="317" y="0"/>
                </a:lnTo>
                <a:lnTo>
                  <a:pt x="317" y="216"/>
                </a:lnTo>
                <a:close/>
              </a:path>
              <a:path w="851" h="216">
                <a:moveTo>
                  <a:pt x="633" y="216"/>
                </a:moveTo>
                <a:lnTo>
                  <a:pt x="851" y="216"/>
                </a:lnTo>
                <a:lnTo>
                  <a:pt x="851" y="0"/>
                </a:lnTo>
                <a:lnTo>
                  <a:pt x="633" y="0"/>
                </a:lnTo>
                <a:lnTo>
                  <a:pt x="633"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0" name="textbox 80"/>
          <p:cNvSpPr/>
          <p:nvPr/>
        </p:nvSpPr>
        <p:spPr>
          <a:xfrm>
            <a:off x="335914" y="515264"/>
            <a:ext cx="962025" cy="41465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351790" algn="l" rtl="0" eaLnBrk="0">
              <a:lnSpc>
                <a:spcPct val="97000"/>
              </a:lnSpc>
              <a:tabLst>
                <a:tab pos="600710" algn="l"/>
              </a:tabLst>
            </a:pPr>
            <a:r>
              <a:rPr sz="24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	</a:t>
            </a:r>
            <a:r>
              <a:rPr sz="2400" b="1" kern="0" spc="-120" dirty="0">
                <a:solidFill>
                  <a:srgbClr val="FFFFFF">
                    <a:alpha val="100000"/>
                  </a:srgbClr>
                </a:solidFill>
                <a:latin typeface="微软雅黑" panose="020B0503020204020204" charset="-122"/>
                <a:ea typeface="微软雅黑" panose="020B0503020204020204" charset="-122"/>
                <a:cs typeface="微软雅黑" panose="020B0503020204020204" charset="-122"/>
              </a:rPr>
              <a:t>01</a:t>
            </a:r>
            <a:endParaRPr sz="2400" dirty="0">
              <a:latin typeface="微软雅黑" panose="020B0503020204020204" charset="-122"/>
              <a:ea typeface="微软雅黑" panose="020B0503020204020204" charset="-122"/>
              <a:cs typeface="微软雅黑" panose="020B0503020204020204" charset="-122"/>
            </a:endParaRPr>
          </a:p>
        </p:txBody>
      </p:sp>
      <p:sp>
        <p:nvSpPr>
          <p:cNvPr id="82" name="path 82"/>
          <p:cNvSpPr/>
          <p:nvPr/>
        </p:nvSpPr>
        <p:spPr>
          <a:xfrm>
            <a:off x="348614" y="567054"/>
            <a:ext cx="339090" cy="349885"/>
          </a:xfrm>
          <a:custGeom>
            <a:avLst/>
            <a:gdLst/>
            <a:ahLst/>
            <a:cxnLst/>
            <a:rect l="0" t="0" r="0" b="0"/>
            <a:pathLst>
              <a:path w="534" h="551">
                <a:moveTo>
                  <a:pt x="0" y="217"/>
                </a:moveTo>
                <a:lnTo>
                  <a:pt x="217" y="217"/>
                </a:lnTo>
                <a:lnTo>
                  <a:pt x="217" y="0"/>
                </a:lnTo>
                <a:lnTo>
                  <a:pt x="0" y="0"/>
                </a:lnTo>
                <a:lnTo>
                  <a:pt x="0" y="217"/>
                </a:lnTo>
                <a:close/>
              </a:path>
              <a:path w="534" h="551">
                <a:moveTo>
                  <a:pt x="317" y="217"/>
                </a:moveTo>
                <a:lnTo>
                  <a:pt x="534" y="217"/>
                </a:lnTo>
                <a:lnTo>
                  <a:pt x="534" y="0"/>
                </a:lnTo>
                <a:lnTo>
                  <a:pt x="317" y="0"/>
                </a:lnTo>
                <a:lnTo>
                  <a:pt x="317" y="217"/>
                </a:lnTo>
                <a:close/>
              </a:path>
              <a:path w="534" h="551">
                <a:moveTo>
                  <a:pt x="0" y="551"/>
                </a:moveTo>
                <a:lnTo>
                  <a:pt x="217" y="551"/>
                </a:lnTo>
                <a:lnTo>
                  <a:pt x="217" y="334"/>
                </a:lnTo>
                <a:lnTo>
                  <a:pt x="0" y="334"/>
                </a:lnTo>
                <a:lnTo>
                  <a:pt x="0" y="551"/>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4" name="path 84"/>
          <p:cNvSpPr/>
          <p:nvPr/>
        </p:nvSpPr>
        <p:spPr>
          <a:xfrm>
            <a:off x="348614" y="142875"/>
            <a:ext cx="741680" cy="137794"/>
          </a:xfrm>
          <a:custGeom>
            <a:avLst/>
            <a:gdLst/>
            <a:ahLst/>
            <a:cxnLst/>
            <a:rect l="0" t="0" r="0" b="0"/>
            <a:pathLst>
              <a:path w="1168" h="216">
                <a:moveTo>
                  <a:pt x="0" y="216"/>
                </a:moveTo>
                <a:lnTo>
                  <a:pt x="217" y="216"/>
                </a:lnTo>
                <a:lnTo>
                  <a:pt x="217" y="0"/>
                </a:lnTo>
                <a:lnTo>
                  <a:pt x="0" y="0"/>
                </a:lnTo>
                <a:lnTo>
                  <a:pt x="0" y="216"/>
                </a:lnTo>
                <a:close/>
              </a:path>
              <a:path w="1168" h="216">
                <a:moveTo>
                  <a:pt x="317" y="216"/>
                </a:moveTo>
                <a:lnTo>
                  <a:pt x="534" y="216"/>
                </a:lnTo>
                <a:lnTo>
                  <a:pt x="534" y="0"/>
                </a:lnTo>
                <a:lnTo>
                  <a:pt x="317" y="0"/>
                </a:lnTo>
                <a:lnTo>
                  <a:pt x="317" y="216"/>
                </a:lnTo>
                <a:close/>
              </a:path>
              <a:path w="1168" h="216">
                <a:moveTo>
                  <a:pt x="633" y="216"/>
                </a:moveTo>
                <a:lnTo>
                  <a:pt x="851" y="216"/>
                </a:lnTo>
                <a:lnTo>
                  <a:pt x="851" y="0"/>
                </a:lnTo>
                <a:lnTo>
                  <a:pt x="633" y="0"/>
                </a:lnTo>
                <a:lnTo>
                  <a:pt x="633" y="216"/>
                </a:lnTo>
                <a:close/>
              </a:path>
              <a:path w="1168" h="216">
                <a:moveTo>
                  <a:pt x="951" y="216"/>
                </a:moveTo>
                <a:lnTo>
                  <a:pt x="1168" y="216"/>
                </a:lnTo>
                <a:lnTo>
                  <a:pt x="1168" y="0"/>
                </a:lnTo>
                <a:lnTo>
                  <a:pt x="951" y="0"/>
                </a:lnTo>
                <a:lnTo>
                  <a:pt x="951"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8" name="rect 88"/>
          <p:cNvSpPr/>
          <p:nvPr/>
        </p:nvSpPr>
        <p:spPr>
          <a:xfrm>
            <a:off x="147320" y="56705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0" name="rect 90"/>
          <p:cNvSpPr/>
          <p:nvPr/>
        </p:nvSpPr>
        <p:spPr>
          <a:xfrm>
            <a:off x="147320" y="779145"/>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2" name="rect 92"/>
          <p:cNvSpPr/>
          <p:nvPr/>
        </p:nvSpPr>
        <p:spPr>
          <a:xfrm>
            <a:off x="147320" y="99123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4" name="rect 94"/>
          <p:cNvSpPr/>
          <p:nvPr/>
        </p:nvSpPr>
        <p:spPr>
          <a:xfrm>
            <a:off x="147320" y="14287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6" name="rect 96"/>
          <p:cNvSpPr/>
          <p:nvPr/>
        </p:nvSpPr>
        <p:spPr>
          <a:xfrm>
            <a:off x="147320" y="35496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pic>
        <p:nvPicPr>
          <p:cNvPr id="2" name="图片 1"/>
          <p:cNvPicPr>
            <a:picLocks noChangeAspect="1"/>
          </p:cNvPicPr>
          <p:nvPr/>
        </p:nvPicPr>
        <p:blipFill>
          <a:blip r:embed="rId4"/>
          <a:stretch>
            <a:fillRect/>
          </a:stretch>
        </p:blipFill>
        <p:spPr>
          <a:xfrm>
            <a:off x="10428563" y="68429"/>
            <a:ext cx="1354271" cy="781170"/>
          </a:xfrm>
          <a:prstGeom prst="rect">
            <a:avLst/>
          </a:prstGeom>
        </p:spPr>
      </p:pic>
      <p:sp>
        <p:nvSpPr>
          <p:cNvPr id="7" name="矩形 6"/>
          <p:cNvSpPr/>
          <p:nvPr/>
        </p:nvSpPr>
        <p:spPr>
          <a:xfrm>
            <a:off x="975989" y="2921466"/>
            <a:ext cx="65753" cy="46166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397340" y="3411415"/>
            <a:ext cx="1257300" cy="737235"/>
          </a:xfrm>
          <a:prstGeom prst="rect">
            <a:avLst/>
          </a:prstGeom>
          <a:noFill/>
        </p:spPr>
        <p:txBody>
          <a:bodyPr wrap="square">
            <a:spAutoFit/>
          </a:bodyPr>
          <a:lstStyle/>
          <a:p>
            <a:pPr algn="ctr"/>
            <a:r>
              <a:rPr lang="en-US" sz="1400" b="1">
                <a:solidFill>
                  <a:srgbClr val="FFFFFF"/>
                </a:solidFill>
                <a:latin typeface="Arial" panose="020B0604020202020204"/>
                <a:ea typeface="Arial" panose="020B0604020202020204"/>
                <a:cs typeface="Arial" panose="020B0604020202020204"/>
                <a:sym typeface="Arial" panose="020B0604020202020204"/>
              </a:rPr>
              <a:t>Nanjing Cooling</a:t>
            </a:r>
            <a:endParaRPr lang="en-US" altLang="zh-CN" sz="1400" b="1" dirty="0">
              <a:solidFill>
                <a:schemeClr val="bg1"/>
              </a:solidFill>
              <a:latin typeface="微软雅黑" panose="020B0503020204020204" charset="-122"/>
              <a:ea typeface="微软雅黑" panose="020B0503020204020204" charset="-122"/>
              <a:sym typeface="+mn-ea"/>
            </a:endParaRPr>
          </a:p>
          <a:p>
            <a:pPr algn="ctr"/>
            <a:endParaRPr lang="en-US" altLang="zh-CN" sz="1400" b="1" dirty="0">
              <a:solidFill>
                <a:schemeClr val="bg1"/>
              </a:solidFill>
              <a:latin typeface="微软雅黑" panose="020B0503020204020204" charset="-122"/>
              <a:ea typeface="微软雅黑" panose="020B0503020204020204" charset="-122"/>
              <a:sym typeface="+mn-ea"/>
            </a:endParaRPr>
          </a:p>
        </p:txBody>
      </p:sp>
      <p:sp>
        <p:nvSpPr>
          <p:cNvPr id="14" name="文本框 13"/>
          <p:cNvSpPr txBox="1"/>
          <p:nvPr/>
        </p:nvSpPr>
        <p:spPr>
          <a:xfrm>
            <a:off x="252688" y="4022898"/>
            <a:ext cx="1576567" cy="645160"/>
          </a:xfrm>
          <a:prstGeom prst="rect">
            <a:avLst/>
          </a:prstGeom>
          <a:noFill/>
        </p:spPr>
        <p:txBody>
          <a:bodyPr wrap="square" rtlCol="0">
            <a:spAutoFit/>
          </a:bodyPr>
          <a:lstStyle/>
          <a:p>
            <a:pPr algn="ctr">
              <a:lnSpc>
                <a:spcPct val="150000"/>
              </a:lnSpc>
            </a:pPr>
            <a:r>
              <a:rPr lang="zh-CN" altLang="en-US" sz="1200" b="1" dirty="0">
                <a:solidFill>
                  <a:schemeClr val="accent1">
                    <a:lumMod val="75000"/>
                  </a:schemeClr>
                </a:solidFill>
                <a:latin typeface="微软雅黑" panose="020B0503020204020204" charset="-122"/>
                <a:ea typeface="微软雅黑" panose="020B0503020204020204" charset="-122"/>
              </a:rPr>
              <a:t>酷灵热管理</a:t>
            </a:r>
            <a:endParaRPr lang="en-US" altLang="zh-CN" sz="1200" b="1" dirty="0">
              <a:solidFill>
                <a:schemeClr val="accent1">
                  <a:lumMod val="75000"/>
                </a:schemeClr>
              </a:solidFill>
              <a:latin typeface="微软雅黑" panose="020B0503020204020204" charset="-122"/>
              <a:ea typeface="微软雅黑" panose="020B0503020204020204" charset="-122"/>
            </a:endParaRPr>
          </a:p>
          <a:p>
            <a:pPr algn="ctr">
              <a:lnSpc>
                <a:spcPct val="150000"/>
              </a:lnSpc>
            </a:pPr>
            <a:r>
              <a:rPr lang="zh-CN" altLang="en-US" sz="1200" b="1" dirty="0">
                <a:solidFill>
                  <a:schemeClr val="accent1">
                    <a:lumMod val="75000"/>
                  </a:schemeClr>
                </a:solidFill>
                <a:latin typeface="微软雅黑" panose="020B0503020204020204" charset="-122"/>
                <a:ea typeface="微软雅黑" panose="020B0503020204020204" charset="-122"/>
              </a:rPr>
              <a:t>为机器人持久赋能</a:t>
            </a:r>
          </a:p>
        </p:txBody>
      </p:sp>
      <p:sp>
        <p:nvSpPr>
          <p:cNvPr id="15" name="文本框 14"/>
          <p:cNvSpPr txBox="1"/>
          <p:nvPr/>
        </p:nvSpPr>
        <p:spPr>
          <a:xfrm>
            <a:off x="252095" y="4751070"/>
            <a:ext cx="1503680" cy="614045"/>
          </a:xfrm>
          <a:prstGeom prst="rect">
            <a:avLst/>
          </a:prstGeom>
          <a:noFill/>
        </p:spPr>
        <p:txBody>
          <a:bodyPr wrap="square">
            <a:spAutoFit/>
          </a:bodyPr>
          <a:lstStyle/>
          <a:p>
            <a:pPr algn="ctr"/>
            <a:endParaRPr lang="zh-CN" altLang="en-US" sz="2000" b="1" dirty="0">
              <a:solidFill>
                <a:schemeClr val="bg1"/>
              </a:solidFill>
              <a:latin typeface="华文楷体" panose="02010600040101010101" pitchFamily="2" charset="-122"/>
              <a:ea typeface="华文楷体" panose="02010600040101010101" pitchFamily="2" charset="-122"/>
            </a:endParaRPr>
          </a:p>
          <a:p>
            <a:pPr algn="ctr"/>
            <a:r>
              <a:rPr lang="zh-CN" altLang="en-US" sz="1400" b="1" dirty="0">
                <a:solidFill>
                  <a:schemeClr val="bg1"/>
                </a:solidFill>
                <a:latin typeface="微软雅黑" panose="020B0503020204020204" charset="-122"/>
                <a:ea typeface="微软雅黑" panose="020B0503020204020204" charset="-122"/>
                <a:sym typeface="+mn-ea"/>
              </a:rPr>
              <a:t>行业痛点与机遇</a:t>
            </a:r>
          </a:p>
        </p:txBody>
      </p:sp>
      <p:sp>
        <p:nvSpPr>
          <p:cNvPr id="17" name="矩形 16"/>
          <p:cNvSpPr/>
          <p:nvPr/>
        </p:nvSpPr>
        <p:spPr>
          <a:xfrm>
            <a:off x="975937" y="5458089"/>
            <a:ext cx="65753" cy="46166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path 72"/>
          <p:cNvSpPr/>
          <p:nvPr/>
        </p:nvSpPr>
        <p:spPr>
          <a:xfrm>
            <a:off x="11398249" y="6043294"/>
            <a:ext cx="741679" cy="774064"/>
          </a:xfrm>
          <a:custGeom>
            <a:avLst/>
            <a:gdLst/>
            <a:ahLst/>
            <a:cxnLst/>
            <a:rect l="0" t="0" r="0" b="0"/>
            <a:pathLst>
              <a:path w="1167" h="1218">
                <a:moveTo>
                  <a:pt x="950" y="1218"/>
                </a:moveTo>
                <a:lnTo>
                  <a:pt x="1167" y="1218"/>
                </a:lnTo>
                <a:lnTo>
                  <a:pt x="1167" y="1001"/>
                </a:lnTo>
                <a:lnTo>
                  <a:pt x="950" y="1001"/>
                </a:lnTo>
                <a:lnTo>
                  <a:pt x="950" y="1218"/>
                </a:lnTo>
                <a:close/>
              </a:path>
              <a:path w="1167" h="1218">
                <a:moveTo>
                  <a:pt x="634" y="1218"/>
                </a:moveTo>
                <a:lnTo>
                  <a:pt x="850" y="1218"/>
                </a:lnTo>
                <a:lnTo>
                  <a:pt x="850" y="1001"/>
                </a:lnTo>
                <a:lnTo>
                  <a:pt x="634" y="1001"/>
                </a:lnTo>
                <a:lnTo>
                  <a:pt x="634" y="1218"/>
                </a:lnTo>
                <a:close/>
              </a:path>
              <a:path w="1167" h="1218">
                <a:moveTo>
                  <a:pt x="317" y="1218"/>
                </a:moveTo>
                <a:lnTo>
                  <a:pt x="534" y="1218"/>
                </a:lnTo>
                <a:lnTo>
                  <a:pt x="534" y="1001"/>
                </a:lnTo>
                <a:lnTo>
                  <a:pt x="317" y="1001"/>
                </a:lnTo>
                <a:lnTo>
                  <a:pt x="317" y="1218"/>
                </a:lnTo>
                <a:close/>
              </a:path>
              <a:path w="1167" h="1218">
                <a:moveTo>
                  <a:pt x="0" y="1218"/>
                </a:moveTo>
                <a:lnTo>
                  <a:pt x="216" y="1218"/>
                </a:lnTo>
                <a:lnTo>
                  <a:pt x="216" y="1001"/>
                </a:lnTo>
                <a:lnTo>
                  <a:pt x="0" y="1001"/>
                </a:lnTo>
                <a:lnTo>
                  <a:pt x="0" y="1218"/>
                </a:lnTo>
                <a:close/>
              </a:path>
              <a:path w="1167" h="1218">
                <a:moveTo>
                  <a:pt x="950" y="884"/>
                </a:moveTo>
                <a:lnTo>
                  <a:pt x="1167" y="884"/>
                </a:lnTo>
                <a:lnTo>
                  <a:pt x="1167" y="667"/>
                </a:lnTo>
                <a:lnTo>
                  <a:pt x="950" y="667"/>
                </a:lnTo>
                <a:lnTo>
                  <a:pt x="950" y="884"/>
                </a:lnTo>
                <a:close/>
              </a:path>
              <a:path w="1167" h="1218">
                <a:moveTo>
                  <a:pt x="634" y="884"/>
                </a:moveTo>
                <a:lnTo>
                  <a:pt x="850" y="884"/>
                </a:lnTo>
                <a:lnTo>
                  <a:pt x="850" y="667"/>
                </a:lnTo>
                <a:lnTo>
                  <a:pt x="634" y="667"/>
                </a:lnTo>
                <a:lnTo>
                  <a:pt x="634" y="884"/>
                </a:lnTo>
                <a:close/>
              </a:path>
              <a:path w="1167" h="1218">
                <a:moveTo>
                  <a:pt x="317" y="884"/>
                </a:moveTo>
                <a:lnTo>
                  <a:pt x="534" y="884"/>
                </a:lnTo>
                <a:lnTo>
                  <a:pt x="534" y="667"/>
                </a:lnTo>
                <a:lnTo>
                  <a:pt x="317" y="667"/>
                </a:lnTo>
                <a:lnTo>
                  <a:pt x="317" y="884"/>
                </a:lnTo>
                <a:close/>
              </a:path>
              <a:path w="1167" h="1218">
                <a:moveTo>
                  <a:pt x="950" y="550"/>
                </a:moveTo>
                <a:lnTo>
                  <a:pt x="1167" y="550"/>
                </a:lnTo>
                <a:lnTo>
                  <a:pt x="1167" y="333"/>
                </a:lnTo>
                <a:lnTo>
                  <a:pt x="950" y="333"/>
                </a:lnTo>
                <a:lnTo>
                  <a:pt x="950" y="550"/>
                </a:lnTo>
                <a:close/>
              </a:path>
              <a:path w="1167" h="1218">
                <a:moveTo>
                  <a:pt x="634" y="550"/>
                </a:moveTo>
                <a:lnTo>
                  <a:pt x="850" y="550"/>
                </a:lnTo>
                <a:lnTo>
                  <a:pt x="850" y="333"/>
                </a:lnTo>
                <a:lnTo>
                  <a:pt x="634" y="333"/>
                </a:lnTo>
                <a:lnTo>
                  <a:pt x="634" y="550"/>
                </a:lnTo>
                <a:close/>
              </a:path>
              <a:path w="1167" h="1218">
                <a:moveTo>
                  <a:pt x="950" y="216"/>
                </a:moveTo>
                <a:lnTo>
                  <a:pt x="1167" y="216"/>
                </a:lnTo>
                <a:lnTo>
                  <a:pt x="1167" y="0"/>
                </a:lnTo>
                <a:lnTo>
                  <a:pt x="950" y="0"/>
                </a:lnTo>
                <a:lnTo>
                  <a:pt x="950"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5" name="path 86"/>
          <p:cNvSpPr/>
          <p:nvPr/>
        </p:nvSpPr>
        <p:spPr>
          <a:xfrm>
            <a:off x="688340" y="955040"/>
            <a:ext cx="10786745" cy="76200"/>
          </a:xfrm>
          <a:custGeom>
            <a:avLst/>
            <a:gdLst/>
            <a:ahLst/>
            <a:cxnLst/>
            <a:rect l="0" t="0" r="0" b="0"/>
            <a:pathLst>
              <a:path w="15485" h="10">
                <a:moveTo>
                  <a:pt x="0" y="5"/>
                </a:moveTo>
                <a:lnTo>
                  <a:pt x="15485" y="5"/>
                </a:lnTo>
              </a:path>
            </a:pathLst>
          </a:custGeom>
          <a:noFill/>
          <a:ln w="6350" cap="flat">
            <a:solidFill>
              <a:srgbClr val="D9D9D9"/>
            </a:solidFill>
            <a:prstDash val="solid"/>
            <a:miter lim="1000000"/>
          </a:ln>
        </p:spPr>
        <p:txBody>
          <a:bodyPr rtlCol="0"/>
          <a:lstStyle/>
          <a:p>
            <a:pPr algn="ct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6"/>
          <p:cNvPicPr>
            <a:picLocks noChangeAspect="1"/>
          </p:cNvPicPr>
          <p:nvPr/>
        </p:nvPicPr>
        <p:blipFill>
          <a:blip r:embed="rId6"/>
          <a:stretch>
            <a:fillRect/>
          </a:stretch>
        </p:blipFill>
        <p:spPr>
          <a:xfrm rot="21600000">
            <a:off x="0" y="6576693"/>
            <a:ext cx="12192000" cy="271779"/>
          </a:xfrm>
          <a:prstGeom prst="rect">
            <a:avLst/>
          </a:prstGeom>
        </p:spPr>
      </p:pic>
      <p:sp>
        <p:nvSpPr>
          <p:cNvPr id="70" name="textbox 70"/>
          <p:cNvSpPr/>
          <p:nvPr/>
        </p:nvSpPr>
        <p:spPr>
          <a:xfrm>
            <a:off x="1636628" y="455178"/>
            <a:ext cx="2599689" cy="507365"/>
          </a:xfrm>
          <a:prstGeom prst="rect">
            <a:avLst/>
          </a:prstGeom>
          <a:noFill/>
          <a:ln w="0" cap="flat">
            <a:noFill/>
            <a:prstDash val="solid"/>
            <a:miter lim="0"/>
          </a:ln>
        </p:spPr>
        <p:txBody>
          <a:bodyPr vert="horz" wrap="square" lIns="0" tIns="0" rIns="0" bIns="0"/>
          <a:lstStyle/>
          <a:p>
            <a:pPr algn="l" rtl="0" eaLnBrk="0">
              <a:lnSpc>
                <a:spcPct val="93000"/>
              </a:lnSpc>
            </a:pPr>
            <a:endParaRPr sz="1000" dirty="0">
              <a:latin typeface="微软雅黑" panose="020B0503020204020204" charset="-122"/>
              <a:ea typeface="微软雅黑" panose="020B0503020204020204" charset="-122"/>
              <a:cs typeface="微软雅黑" panose="020B0503020204020204" charset="-122"/>
            </a:endParaRPr>
          </a:p>
        </p:txBody>
      </p:sp>
      <p:sp>
        <p:nvSpPr>
          <p:cNvPr id="74" name="path 74"/>
          <p:cNvSpPr/>
          <p:nvPr/>
        </p:nvSpPr>
        <p:spPr>
          <a:xfrm>
            <a:off x="348614" y="354965"/>
            <a:ext cx="540385" cy="137794"/>
          </a:xfrm>
          <a:custGeom>
            <a:avLst/>
            <a:gdLst/>
            <a:ahLst/>
            <a:cxnLst/>
            <a:rect l="0" t="0" r="0" b="0"/>
            <a:pathLst>
              <a:path w="851" h="216">
                <a:moveTo>
                  <a:pt x="0" y="216"/>
                </a:moveTo>
                <a:lnTo>
                  <a:pt x="217" y="216"/>
                </a:lnTo>
                <a:lnTo>
                  <a:pt x="217" y="0"/>
                </a:lnTo>
                <a:lnTo>
                  <a:pt x="0" y="0"/>
                </a:lnTo>
                <a:lnTo>
                  <a:pt x="0" y="216"/>
                </a:lnTo>
                <a:close/>
              </a:path>
              <a:path w="851" h="216">
                <a:moveTo>
                  <a:pt x="317" y="216"/>
                </a:moveTo>
                <a:lnTo>
                  <a:pt x="534" y="216"/>
                </a:lnTo>
                <a:lnTo>
                  <a:pt x="534" y="0"/>
                </a:lnTo>
                <a:lnTo>
                  <a:pt x="317" y="0"/>
                </a:lnTo>
                <a:lnTo>
                  <a:pt x="317" y="216"/>
                </a:lnTo>
                <a:close/>
              </a:path>
              <a:path w="851" h="216">
                <a:moveTo>
                  <a:pt x="633" y="216"/>
                </a:moveTo>
                <a:lnTo>
                  <a:pt x="851" y="216"/>
                </a:lnTo>
                <a:lnTo>
                  <a:pt x="851" y="0"/>
                </a:lnTo>
                <a:lnTo>
                  <a:pt x="633" y="0"/>
                </a:lnTo>
                <a:lnTo>
                  <a:pt x="633"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2" name="path 82"/>
          <p:cNvSpPr/>
          <p:nvPr/>
        </p:nvSpPr>
        <p:spPr>
          <a:xfrm>
            <a:off x="348614" y="567054"/>
            <a:ext cx="339090" cy="349885"/>
          </a:xfrm>
          <a:custGeom>
            <a:avLst/>
            <a:gdLst/>
            <a:ahLst/>
            <a:cxnLst/>
            <a:rect l="0" t="0" r="0" b="0"/>
            <a:pathLst>
              <a:path w="534" h="551">
                <a:moveTo>
                  <a:pt x="0" y="217"/>
                </a:moveTo>
                <a:lnTo>
                  <a:pt x="217" y="217"/>
                </a:lnTo>
                <a:lnTo>
                  <a:pt x="217" y="0"/>
                </a:lnTo>
                <a:lnTo>
                  <a:pt x="0" y="0"/>
                </a:lnTo>
                <a:lnTo>
                  <a:pt x="0" y="217"/>
                </a:lnTo>
                <a:close/>
              </a:path>
              <a:path w="534" h="551">
                <a:moveTo>
                  <a:pt x="317" y="217"/>
                </a:moveTo>
                <a:lnTo>
                  <a:pt x="534" y="217"/>
                </a:lnTo>
                <a:lnTo>
                  <a:pt x="534" y="0"/>
                </a:lnTo>
                <a:lnTo>
                  <a:pt x="317" y="0"/>
                </a:lnTo>
                <a:lnTo>
                  <a:pt x="317" y="217"/>
                </a:lnTo>
                <a:close/>
              </a:path>
              <a:path w="534" h="551">
                <a:moveTo>
                  <a:pt x="0" y="551"/>
                </a:moveTo>
                <a:lnTo>
                  <a:pt x="217" y="551"/>
                </a:lnTo>
                <a:lnTo>
                  <a:pt x="217" y="334"/>
                </a:lnTo>
                <a:lnTo>
                  <a:pt x="0" y="334"/>
                </a:lnTo>
                <a:lnTo>
                  <a:pt x="0" y="551"/>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4" name="path 84"/>
          <p:cNvSpPr/>
          <p:nvPr/>
        </p:nvSpPr>
        <p:spPr>
          <a:xfrm>
            <a:off x="348614" y="142875"/>
            <a:ext cx="741680" cy="137794"/>
          </a:xfrm>
          <a:custGeom>
            <a:avLst/>
            <a:gdLst/>
            <a:ahLst/>
            <a:cxnLst/>
            <a:rect l="0" t="0" r="0" b="0"/>
            <a:pathLst>
              <a:path w="1168" h="216">
                <a:moveTo>
                  <a:pt x="0" y="216"/>
                </a:moveTo>
                <a:lnTo>
                  <a:pt x="217" y="216"/>
                </a:lnTo>
                <a:lnTo>
                  <a:pt x="217" y="0"/>
                </a:lnTo>
                <a:lnTo>
                  <a:pt x="0" y="0"/>
                </a:lnTo>
                <a:lnTo>
                  <a:pt x="0" y="216"/>
                </a:lnTo>
                <a:close/>
              </a:path>
              <a:path w="1168" h="216">
                <a:moveTo>
                  <a:pt x="317" y="216"/>
                </a:moveTo>
                <a:lnTo>
                  <a:pt x="534" y="216"/>
                </a:lnTo>
                <a:lnTo>
                  <a:pt x="534" y="0"/>
                </a:lnTo>
                <a:lnTo>
                  <a:pt x="317" y="0"/>
                </a:lnTo>
                <a:lnTo>
                  <a:pt x="317" y="216"/>
                </a:lnTo>
                <a:close/>
              </a:path>
              <a:path w="1168" h="216">
                <a:moveTo>
                  <a:pt x="633" y="216"/>
                </a:moveTo>
                <a:lnTo>
                  <a:pt x="851" y="216"/>
                </a:lnTo>
                <a:lnTo>
                  <a:pt x="851" y="0"/>
                </a:lnTo>
                <a:lnTo>
                  <a:pt x="633" y="0"/>
                </a:lnTo>
                <a:lnTo>
                  <a:pt x="633" y="216"/>
                </a:lnTo>
                <a:close/>
              </a:path>
              <a:path w="1168" h="216">
                <a:moveTo>
                  <a:pt x="951" y="216"/>
                </a:moveTo>
                <a:lnTo>
                  <a:pt x="1168" y="216"/>
                </a:lnTo>
                <a:lnTo>
                  <a:pt x="1168" y="0"/>
                </a:lnTo>
                <a:lnTo>
                  <a:pt x="951" y="0"/>
                </a:lnTo>
                <a:lnTo>
                  <a:pt x="951"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6" name="path 86"/>
          <p:cNvSpPr/>
          <p:nvPr/>
        </p:nvSpPr>
        <p:spPr>
          <a:xfrm>
            <a:off x="688340" y="955040"/>
            <a:ext cx="10786745" cy="76200"/>
          </a:xfrm>
          <a:custGeom>
            <a:avLst/>
            <a:gdLst/>
            <a:ahLst/>
            <a:cxnLst/>
            <a:rect l="0" t="0" r="0" b="0"/>
            <a:pathLst>
              <a:path w="15485" h="10">
                <a:moveTo>
                  <a:pt x="0" y="5"/>
                </a:moveTo>
                <a:lnTo>
                  <a:pt x="15485" y="5"/>
                </a:lnTo>
              </a:path>
            </a:pathLst>
          </a:custGeom>
          <a:noFill/>
          <a:ln w="6350" cap="flat">
            <a:solidFill>
              <a:srgbClr val="D9D9D9"/>
            </a:solidFill>
            <a:prstDash val="solid"/>
            <a:miter lim="1000000"/>
          </a:ln>
        </p:spPr>
        <p:txBody>
          <a:bodyPr rtlCol="0"/>
          <a:lstStyle/>
          <a:p>
            <a:pPr algn="ctr"/>
            <a:endParaRPr lang="zh-CN" altLang="en-US"/>
          </a:p>
        </p:txBody>
      </p:sp>
      <p:sp>
        <p:nvSpPr>
          <p:cNvPr id="88" name="rect 88"/>
          <p:cNvSpPr/>
          <p:nvPr/>
        </p:nvSpPr>
        <p:spPr>
          <a:xfrm>
            <a:off x="147320" y="56705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0" name="rect 90"/>
          <p:cNvSpPr/>
          <p:nvPr/>
        </p:nvSpPr>
        <p:spPr>
          <a:xfrm>
            <a:off x="147320" y="779145"/>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2" name="rect 92"/>
          <p:cNvSpPr/>
          <p:nvPr/>
        </p:nvSpPr>
        <p:spPr>
          <a:xfrm>
            <a:off x="147320" y="99123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4" name="rect 94"/>
          <p:cNvSpPr/>
          <p:nvPr/>
        </p:nvSpPr>
        <p:spPr>
          <a:xfrm>
            <a:off x="147320" y="14287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6" name="rect 96"/>
          <p:cNvSpPr/>
          <p:nvPr/>
        </p:nvSpPr>
        <p:spPr>
          <a:xfrm>
            <a:off x="147320" y="35496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pic>
        <p:nvPicPr>
          <p:cNvPr id="2" name="图片 1"/>
          <p:cNvPicPr>
            <a:picLocks noChangeAspect="1"/>
          </p:cNvPicPr>
          <p:nvPr/>
        </p:nvPicPr>
        <p:blipFill>
          <a:blip r:embed="rId7"/>
          <a:stretch>
            <a:fillRect/>
          </a:stretch>
        </p:blipFill>
        <p:spPr>
          <a:xfrm>
            <a:off x="10428563" y="68429"/>
            <a:ext cx="1354271" cy="781170"/>
          </a:xfrm>
          <a:prstGeom prst="rect">
            <a:avLst/>
          </a:prstGeom>
        </p:spPr>
      </p:pic>
      <p:sp>
        <p:nvSpPr>
          <p:cNvPr id="3" name="textbox 60"/>
          <p:cNvSpPr/>
          <p:nvPr/>
        </p:nvSpPr>
        <p:spPr>
          <a:xfrm>
            <a:off x="688022" y="3017728"/>
            <a:ext cx="10637203" cy="3795845"/>
          </a:xfrm>
          <a:prstGeom prst="rect">
            <a:avLst/>
          </a:prstGeom>
          <a:noFill/>
          <a:ln w="0" cap="flat">
            <a:noFill/>
            <a:prstDash val="solid"/>
            <a:miter lim="0"/>
          </a:ln>
        </p:spPr>
        <p:txBody>
          <a:bodyPr vert="horz" wrap="square" lIns="0" tIns="0" rIns="0" bIns="0"/>
          <a:lstStyle/>
          <a:p>
            <a:pPr algn="l" rtl="0" eaLnBrk="0">
              <a:lnSpc>
                <a:spcPct val="150000"/>
              </a:lnSpc>
            </a:pPr>
            <a:endParaRPr sz="100" dirty="0">
              <a:latin typeface="Arial" panose="020B0604020202020204"/>
              <a:ea typeface="Arial" panose="020B0604020202020204"/>
              <a:cs typeface="Arial" panose="020B0604020202020204"/>
            </a:endParaRPr>
          </a:p>
          <a:p>
            <a:pPr marL="17145" algn="l" rtl="0" eaLnBrk="0">
              <a:lnSpc>
                <a:spcPct val="150000"/>
              </a:lnSpc>
              <a:spcBef>
                <a:spcPts val="600"/>
              </a:spcBef>
              <a:spcAft>
                <a:spcPts val="600"/>
              </a:spcAft>
            </a:pPr>
            <a:endParaRPr lang="zh-CN" altLang="en-US" kern="0" spc="90" dirty="0">
              <a:solidFill>
                <a:srgbClr val="595959">
                  <a:alpha val="100000"/>
                </a:srgbClr>
              </a:solidFill>
              <a:latin typeface="微软雅黑" panose="020B0503020204020204" charset="-122"/>
              <a:ea typeface="微软雅黑" panose="020B0503020204020204" charset="-122"/>
              <a:cs typeface="微软雅黑" panose="020B0503020204020204" charset="-122"/>
            </a:endParaRPr>
          </a:p>
        </p:txBody>
      </p:sp>
      <p:sp>
        <p:nvSpPr>
          <p:cNvPr id="6" name="矩形 5"/>
          <p:cNvSpPr/>
          <p:nvPr/>
        </p:nvSpPr>
        <p:spPr>
          <a:xfrm>
            <a:off x="890270" y="354965"/>
            <a:ext cx="746125" cy="387985"/>
          </a:xfrm>
          <a:prstGeom prst="rect">
            <a:avLst/>
          </a:prstGeom>
          <a:noFill/>
          <a:ln>
            <a:noFill/>
          </a:ln>
        </p:spPr>
        <p:txBody>
          <a:bodyPr wrap="none" rtlCol="0" anchor="t">
            <a:noAutofit/>
          </a:bodyPr>
          <a:lstStyle/>
          <a:p>
            <a:pPr algn="ctr"/>
            <a:endParaRPr lang="en-US" altLang="zh-CN" sz="4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8" name="文本框 7"/>
          <p:cNvSpPr txBox="1"/>
          <p:nvPr/>
        </p:nvSpPr>
        <p:spPr>
          <a:xfrm>
            <a:off x="837565" y="433070"/>
            <a:ext cx="6096000" cy="521970"/>
          </a:xfrm>
          <a:prstGeom prst="rect">
            <a:avLst/>
          </a:prstGeom>
          <a:noFill/>
        </p:spPr>
        <p:txBody>
          <a:bodyPr wrap="square" rtlCol="0" anchor="t">
            <a:spAutoFit/>
          </a:bodyPr>
          <a:lstStyle/>
          <a:p>
            <a:r>
              <a:rPr lang="zh-CN" altLang="en-US" sz="2800" b="1" kern="0" noProof="0" dirty="0">
                <a:ln>
                  <a:noFill/>
                </a:ln>
                <a:solidFill>
                  <a:srgbClr val="0070C0"/>
                </a:solidFill>
                <a:effectLst/>
                <a:uLnTx/>
                <a:uFillTx/>
                <a:latin typeface="微软雅黑" panose="020B0503020204020204" charset="-122"/>
                <a:ea typeface="微软雅黑" panose="020B0503020204020204" charset="-122"/>
                <a:sym typeface="+mn-ea"/>
              </a:rPr>
              <a:t>机器人关节模组市场前景</a:t>
            </a:r>
          </a:p>
        </p:txBody>
      </p:sp>
      <p:sp>
        <p:nvSpPr>
          <p:cNvPr id="72" name="path 72"/>
          <p:cNvSpPr/>
          <p:nvPr/>
        </p:nvSpPr>
        <p:spPr>
          <a:xfrm>
            <a:off x="11398249" y="6043294"/>
            <a:ext cx="741679" cy="774064"/>
          </a:xfrm>
          <a:custGeom>
            <a:avLst/>
            <a:gdLst/>
            <a:ahLst/>
            <a:cxnLst/>
            <a:rect l="0" t="0" r="0" b="0"/>
            <a:pathLst>
              <a:path w="1167" h="1218">
                <a:moveTo>
                  <a:pt x="950" y="1218"/>
                </a:moveTo>
                <a:lnTo>
                  <a:pt x="1167" y="1218"/>
                </a:lnTo>
                <a:lnTo>
                  <a:pt x="1167" y="1001"/>
                </a:lnTo>
                <a:lnTo>
                  <a:pt x="950" y="1001"/>
                </a:lnTo>
                <a:lnTo>
                  <a:pt x="950" y="1218"/>
                </a:lnTo>
                <a:close/>
              </a:path>
              <a:path w="1167" h="1218">
                <a:moveTo>
                  <a:pt x="634" y="1218"/>
                </a:moveTo>
                <a:lnTo>
                  <a:pt x="850" y="1218"/>
                </a:lnTo>
                <a:lnTo>
                  <a:pt x="850" y="1001"/>
                </a:lnTo>
                <a:lnTo>
                  <a:pt x="634" y="1001"/>
                </a:lnTo>
                <a:lnTo>
                  <a:pt x="634" y="1218"/>
                </a:lnTo>
                <a:close/>
              </a:path>
              <a:path w="1167" h="1218">
                <a:moveTo>
                  <a:pt x="317" y="1218"/>
                </a:moveTo>
                <a:lnTo>
                  <a:pt x="534" y="1218"/>
                </a:lnTo>
                <a:lnTo>
                  <a:pt x="534" y="1001"/>
                </a:lnTo>
                <a:lnTo>
                  <a:pt x="317" y="1001"/>
                </a:lnTo>
                <a:lnTo>
                  <a:pt x="317" y="1218"/>
                </a:lnTo>
                <a:close/>
              </a:path>
              <a:path w="1167" h="1218">
                <a:moveTo>
                  <a:pt x="0" y="1218"/>
                </a:moveTo>
                <a:lnTo>
                  <a:pt x="216" y="1218"/>
                </a:lnTo>
                <a:lnTo>
                  <a:pt x="216" y="1001"/>
                </a:lnTo>
                <a:lnTo>
                  <a:pt x="0" y="1001"/>
                </a:lnTo>
                <a:lnTo>
                  <a:pt x="0" y="1218"/>
                </a:lnTo>
                <a:close/>
              </a:path>
              <a:path w="1167" h="1218">
                <a:moveTo>
                  <a:pt x="950" y="884"/>
                </a:moveTo>
                <a:lnTo>
                  <a:pt x="1167" y="884"/>
                </a:lnTo>
                <a:lnTo>
                  <a:pt x="1167" y="667"/>
                </a:lnTo>
                <a:lnTo>
                  <a:pt x="950" y="667"/>
                </a:lnTo>
                <a:lnTo>
                  <a:pt x="950" y="884"/>
                </a:lnTo>
                <a:close/>
              </a:path>
              <a:path w="1167" h="1218">
                <a:moveTo>
                  <a:pt x="634" y="884"/>
                </a:moveTo>
                <a:lnTo>
                  <a:pt x="850" y="884"/>
                </a:lnTo>
                <a:lnTo>
                  <a:pt x="850" y="667"/>
                </a:lnTo>
                <a:lnTo>
                  <a:pt x="634" y="667"/>
                </a:lnTo>
                <a:lnTo>
                  <a:pt x="634" y="884"/>
                </a:lnTo>
                <a:close/>
              </a:path>
              <a:path w="1167" h="1218">
                <a:moveTo>
                  <a:pt x="317" y="884"/>
                </a:moveTo>
                <a:lnTo>
                  <a:pt x="534" y="884"/>
                </a:lnTo>
                <a:lnTo>
                  <a:pt x="534" y="667"/>
                </a:lnTo>
                <a:lnTo>
                  <a:pt x="317" y="667"/>
                </a:lnTo>
                <a:lnTo>
                  <a:pt x="317" y="884"/>
                </a:lnTo>
                <a:close/>
              </a:path>
              <a:path w="1167" h="1218">
                <a:moveTo>
                  <a:pt x="950" y="550"/>
                </a:moveTo>
                <a:lnTo>
                  <a:pt x="1167" y="550"/>
                </a:lnTo>
                <a:lnTo>
                  <a:pt x="1167" y="333"/>
                </a:lnTo>
                <a:lnTo>
                  <a:pt x="950" y="333"/>
                </a:lnTo>
                <a:lnTo>
                  <a:pt x="950" y="550"/>
                </a:lnTo>
                <a:close/>
              </a:path>
              <a:path w="1167" h="1218">
                <a:moveTo>
                  <a:pt x="634" y="550"/>
                </a:moveTo>
                <a:lnTo>
                  <a:pt x="850" y="550"/>
                </a:lnTo>
                <a:lnTo>
                  <a:pt x="850" y="333"/>
                </a:lnTo>
                <a:lnTo>
                  <a:pt x="634" y="333"/>
                </a:lnTo>
                <a:lnTo>
                  <a:pt x="634" y="550"/>
                </a:lnTo>
                <a:close/>
              </a:path>
              <a:path w="1167" h="1218">
                <a:moveTo>
                  <a:pt x="950" y="216"/>
                </a:moveTo>
                <a:lnTo>
                  <a:pt x="1167" y="216"/>
                </a:lnTo>
                <a:lnTo>
                  <a:pt x="1167" y="0"/>
                </a:lnTo>
                <a:lnTo>
                  <a:pt x="950" y="0"/>
                </a:lnTo>
                <a:lnTo>
                  <a:pt x="950" y="216"/>
                </a:lnTo>
                <a:close/>
              </a:path>
            </a:pathLst>
          </a:custGeom>
          <a:solidFill>
            <a:srgbClr val="F2F2F2">
              <a:alpha val="100000"/>
            </a:srgbClr>
          </a:solidFill>
          <a:ln w="0" cap="flat">
            <a:noFill/>
            <a:prstDash val="solid"/>
            <a:miter lim="0"/>
          </a:ln>
        </p:spPr>
        <p:txBody>
          <a:bodyPr rtlCol="0"/>
          <a:lstStyle/>
          <a:p>
            <a:pPr algn="ctr"/>
            <a:endParaRPr lang="zh-CN" altLang="en-US"/>
          </a:p>
        </p:txBody>
      </p:sp>
      <p:graphicFrame>
        <p:nvGraphicFramePr>
          <p:cNvPr id="4" name="图表 3"/>
          <p:cNvGraphicFramePr/>
          <p:nvPr>
            <p:custDataLst>
              <p:tags r:id="rId1"/>
            </p:custDataLst>
          </p:nvPr>
        </p:nvGraphicFramePr>
        <p:xfrm>
          <a:off x="1934845" y="1686560"/>
          <a:ext cx="3887470" cy="2419985"/>
        </p:xfrm>
        <a:graphic>
          <a:graphicData uri="http://schemas.openxmlformats.org/drawingml/2006/chart">
            <c:chart xmlns:c="http://schemas.openxmlformats.org/drawingml/2006/chart" xmlns:r="http://schemas.openxmlformats.org/officeDocument/2006/relationships" r:id="rId8"/>
          </a:graphicData>
        </a:graphic>
      </p:graphicFrame>
      <p:sp>
        <p:nvSpPr>
          <p:cNvPr id="5" name="任意形状 24"/>
          <p:cNvSpPr/>
          <p:nvPr>
            <p:custDataLst>
              <p:tags r:id="rId2"/>
            </p:custDataLst>
          </p:nvPr>
        </p:nvSpPr>
        <p:spPr>
          <a:xfrm rot="18876046" flipV="1">
            <a:off x="2878455" y="1818005"/>
            <a:ext cx="1680845" cy="1044575"/>
          </a:xfrm>
          <a:custGeom>
            <a:avLst/>
            <a:gdLst>
              <a:gd name="connsiteX0" fmla="*/ 4764180 w 4764180"/>
              <a:gd name="connsiteY0" fmla="*/ 558358 h 2908235"/>
              <a:gd name="connsiteX1" fmla="*/ 3595090 w 4764180"/>
              <a:gd name="connsiteY1" fmla="*/ 0 h 2908235"/>
              <a:gd name="connsiteX2" fmla="*/ 3645323 w 4764180"/>
              <a:gd name="connsiteY2" fmla="*/ 445831 h 2908235"/>
              <a:gd name="connsiteX3" fmla="*/ 49977 w 4764180"/>
              <a:gd name="connsiteY3" fmla="*/ 2732455 h 2908235"/>
              <a:gd name="connsiteX4" fmla="*/ 0 w 4764180"/>
              <a:gd name="connsiteY4" fmla="*/ 2820091 h 2908235"/>
              <a:gd name="connsiteX5" fmla="*/ 93164 w 4764180"/>
              <a:gd name="connsiteY5" fmla="*/ 2908235 h 2908235"/>
              <a:gd name="connsiteX6" fmla="*/ 182139 w 4764180"/>
              <a:gd name="connsiteY6" fmla="*/ 2794309 h 2908235"/>
              <a:gd name="connsiteX7" fmla="*/ 3710867 w 4764180"/>
              <a:gd name="connsiteY7" fmla="*/ 1027551 h 2908235"/>
              <a:gd name="connsiteX8" fmla="*/ 3761100 w 4764180"/>
              <a:gd name="connsiteY8" fmla="*/ 1473381 h 2908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64180" h="2908235">
                <a:moveTo>
                  <a:pt x="4764180" y="558358"/>
                </a:moveTo>
                <a:lnTo>
                  <a:pt x="3595090" y="0"/>
                </a:lnTo>
                <a:lnTo>
                  <a:pt x="3645323" y="445831"/>
                </a:lnTo>
                <a:cubicBezTo>
                  <a:pt x="1942794" y="848317"/>
                  <a:pt x="744345" y="1610525"/>
                  <a:pt x="49977" y="2732455"/>
                </a:cubicBezTo>
                <a:lnTo>
                  <a:pt x="0" y="2820091"/>
                </a:lnTo>
                <a:lnTo>
                  <a:pt x="93164" y="2908235"/>
                </a:lnTo>
                <a:lnTo>
                  <a:pt x="182139" y="2794309"/>
                </a:lnTo>
                <a:cubicBezTo>
                  <a:pt x="1027450" y="1777465"/>
                  <a:pt x="2203692" y="1188545"/>
                  <a:pt x="3710867" y="1027551"/>
                </a:cubicBezTo>
                <a:lnTo>
                  <a:pt x="3761100" y="1473381"/>
                </a:lnTo>
                <a:close/>
              </a:path>
            </a:pathLst>
          </a:custGeom>
          <a:gradFill flip="none" rotWithShape="1">
            <a:gsLst>
              <a:gs pos="0">
                <a:srgbClr val="0869EA">
                  <a:alpha val="28000"/>
                </a:srgbClr>
              </a:gs>
              <a:gs pos="100000">
                <a:srgbClr val="4DA7FE">
                  <a:alpha val="0"/>
                </a:srgbClr>
              </a:gs>
            </a:gsLst>
            <a:lin ang="8100000" scaled="1"/>
            <a:tileRect/>
          </a:gra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zh-CN" altLang="en-US"/>
          </a:p>
        </p:txBody>
      </p:sp>
      <p:graphicFrame>
        <p:nvGraphicFramePr>
          <p:cNvPr id="18" name="图表 17"/>
          <p:cNvGraphicFramePr/>
          <p:nvPr>
            <p:custDataLst>
              <p:tags r:id="rId3"/>
            </p:custDataLst>
          </p:nvPr>
        </p:nvGraphicFramePr>
        <p:xfrm>
          <a:off x="6582410" y="1644650"/>
          <a:ext cx="4037965" cy="2660650"/>
        </p:xfrm>
        <a:graphic>
          <a:graphicData uri="http://schemas.openxmlformats.org/drawingml/2006/chart">
            <c:chart xmlns:c="http://schemas.openxmlformats.org/drawingml/2006/chart" xmlns:r="http://schemas.openxmlformats.org/officeDocument/2006/relationships" r:id="rId9"/>
          </a:graphicData>
        </a:graphic>
      </p:graphicFrame>
      <p:sp>
        <p:nvSpPr>
          <p:cNvPr id="19" name="任意形状 24"/>
          <p:cNvSpPr/>
          <p:nvPr>
            <p:custDataLst>
              <p:tags r:id="rId4"/>
            </p:custDataLst>
          </p:nvPr>
        </p:nvSpPr>
        <p:spPr>
          <a:xfrm rot="18978418" flipV="1">
            <a:off x="7401560" y="2136775"/>
            <a:ext cx="1751330" cy="936625"/>
          </a:xfrm>
          <a:custGeom>
            <a:avLst/>
            <a:gdLst>
              <a:gd name="connsiteX0" fmla="*/ 4764180 w 4764180"/>
              <a:gd name="connsiteY0" fmla="*/ 558358 h 2908235"/>
              <a:gd name="connsiteX1" fmla="*/ 3595090 w 4764180"/>
              <a:gd name="connsiteY1" fmla="*/ 0 h 2908235"/>
              <a:gd name="connsiteX2" fmla="*/ 3645323 w 4764180"/>
              <a:gd name="connsiteY2" fmla="*/ 445831 h 2908235"/>
              <a:gd name="connsiteX3" fmla="*/ 49977 w 4764180"/>
              <a:gd name="connsiteY3" fmla="*/ 2732455 h 2908235"/>
              <a:gd name="connsiteX4" fmla="*/ 0 w 4764180"/>
              <a:gd name="connsiteY4" fmla="*/ 2820091 h 2908235"/>
              <a:gd name="connsiteX5" fmla="*/ 93164 w 4764180"/>
              <a:gd name="connsiteY5" fmla="*/ 2908235 h 2908235"/>
              <a:gd name="connsiteX6" fmla="*/ 182139 w 4764180"/>
              <a:gd name="connsiteY6" fmla="*/ 2794309 h 2908235"/>
              <a:gd name="connsiteX7" fmla="*/ 3710867 w 4764180"/>
              <a:gd name="connsiteY7" fmla="*/ 1027551 h 2908235"/>
              <a:gd name="connsiteX8" fmla="*/ 3761100 w 4764180"/>
              <a:gd name="connsiteY8" fmla="*/ 1473381 h 2908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64180" h="2908235">
                <a:moveTo>
                  <a:pt x="4764180" y="558358"/>
                </a:moveTo>
                <a:lnTo>
                  <a:pt x="3595090" y="0"/>
                </a:lnTo>
                <a:lnTo>
                  <a:pt x="3645323" y="445831"/>
                </a:lnTo>
                <a:cubicBezTo>
                  <a:pt x="1942794" y="848317"/>
                  <a:pt x="744345" y="1610525"/>
                  <a:pt x="49977" y="2732455"/>
                </a:cubicBezTo>
                <a:lnTo>
                  <a:pt x="0" y="2820091"/>
                </a:lnTo>
                <a:lnTo>
                  <a:pt x="93164" y="2908235"/>
                </a:lnTo>
                <a:lnTo>
                  <a:pt x="182139" y="2794309"/>
                </a:lnTo>
                <a:cubicBezTo>
                  <a:pt x="1027450" y="1777465"/>
                  <a:pt x="2203692" y="1188545"/>
                  <a:pt x="3710867" y="1027551"/>
                </a:cubicBezTo>
                <a:lnTo>
                  <a:pt x="3761100" y="1473381"/>
                </a:lnTo>
                <a:close/>
              </a:path>
            </a:pathLst>
          </a:custGeom>
          <a:gradFill flip="none" rotWithShape="1">
            <a:gsLst>
              <a:gs pos="0">
                <a:srgbClr val="FFC000">
                  <a:lumMod val="100000"/>
                  <a:alpha val="28000"/>
                </a:srgbClr>
              </a:gs>
              <a:gs pos="100000">
                <a:srgbClr val="FDF4B5"/>
              </a:gs>
            </a:gsLst>
            <a:lin ang="8100000" scaled="1"/>
            <a:tileRect/>
          </a:gra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zh-CN" altLang="en-US"/>
          </a:p>
        </p:txBody>
      </p:sp>
      <p:sp>
        <p:nvSpPr>
          <p:cNvPr id="7" name="矩形 6"/>
          <p:cNvSpPr/>
          <p:nvPr/>
        </p:nvSpPr>
        <p:spPr>
          <a:xfrm>
            <a:off x="970274" y="2981156"/>
            <a:ext cx="65753" cy="461665"/>
          </a:xfrm>
          <a:prstGeom prst="rect">
            <a:avLst/>
          </a:prstGeom>
          <a:gradFill>
            <a:gsLst>
              <a:gs pos="50000">
                <a:srgbClr val="1F5FBF"/>
              </a:gs>
              <a:gs pos="0">
                <a:srgbClr val="1486CB"/>
              </a:gs>
              <a:gs pos="100000">
                <a:srgbClr val="2A34B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sp>
        <p:nvSpPr>
          <p:cNvPr id="10" name="文本框 9"/>
          <p:cNvSpPr txBox="1"/>
          <p:nvPr/>
        </p:nvSpPr>
        <p:spPr>
          <a:xfrm>
            <a:off x="378925" y="3443165"/>
            <a:ext cx="1257300" cy="460375"/>
          </a:xfrm>
          <a:prstGeom prst="rect">
            <a:avLst/>
          </a:prstGeom>
          <a:noFill/>
        </p:spPr>
        <p:txBody>
          <a:bodyPr wrap="square">
            <a:spAutoFit/>
          </a:bodyPr>
          <a:lstStyle/>
          <a:p>
            <a:pPr algn="ctr"/>
            <a:r>
              <a:rPr lang="en-US" sz="1200" b="1">
                <a:solidFill>
                  <a:schemeClr val="accent1">
                    <a:lumMod val="40000"/>
                    <a:lumOff val="60000"/>
                  </a:schemeClr>
                </a:solidFill>
                <a:latin typeface="Arial" panose="020B0604020202020204"/>
                <a:ea typeface="Arial" panose="020B0604020202020204"/>
                <a:cs typeface="Arial" panose="020B0604020202020204"/>
                <a:sym typeface="Arial" panose="020B0604020202020204"/>
              </a:rPr>
              <a:t>Nanjing Cooling</a:t>
            </a:r>
            <a:endParaRPr lang="zh-CN" altLang="en-US" sz="1200" b="1" dirty="0">
              <a:solidFill>
                <a:schemeClr val="accent1">
                  <a:lumMod val="60000"/>
                  <a:lumOff val="40000"/>
                </a:schemeClr>
              </a:solidFill>
              <a:latin typeface="华文楷体" panose="02010600040101010101" pitchFamily="2" charset="-122"/>
              <a:ea typeface="华文楷体" panose="02010600040101010101" pitchFamily="2" charset="-122"/>
              <a:sym typeface="+mn-ea"/>
            </a:endParaRPr>
          </a:p>
        </p:txBody>
      </p:sp>
      <p:sp>
        <p:nvSpPr>
          <p:cNvPr id="20" name="文本框 19"/>
          <p:cNvSpPr txBox="1"/>
          <p:nvPr/>
        </p:nvSpPr>
        <p:spPr>
          <a:xfrm>
            <a:off x="246973" y="4082588"/>
            <a:ext cx="1576567" cy="645160"/>
          </a:xfrm>
          <a:prstGeom prst="rect">
            <a:avLst/>
          </a:prstGeom>
          <a:noFill/>
        </p:spPr>
        <p:txBody>
          <a:bodyPr wrap="square" rtlCol="0">
            <a:spAutoFit/>
          </a:bodyPr>
          <a:lstStyle/>
          <a:p>
            <a:pPr algn="ctr">
              <a:lnSpc>
                <a:spcPct val="150000"/>
              </a:lnSpc>
            </a:pPr>
            <a:r>
              <a:rPr lang="zh-CN" altLang="en-US" sz="1200" b="1" dirty="0">
                <a:solidFill>
                  <a:schemeClr val="accent1">
                    <a:lumMod val="50000"/>
                  </a:schemeClr>
                </a:solidFill>
                <a:latin typeface="微软雅黑" panose="020B0503020204020204" charset="-122"/>
                <a:ea typeface="微软雅黑" panose="020B0503020204020204" charset="-122"/>
              </a:rPr>
              <a:t>酷灵热管理</a:t>
            </a:r>
            <a:endParaRPr lang="en-US" altLang="zh-CN" sz="1200" b="1" dirty="0">
              <a:solidFill>
                <a:schemeClr val="accent1">
                  <a:lumMod val="50000"/>
                </a:schemeClr>
              </a:solidFill>
              <a:latin typeface="微软雅黑" panose="020B0503020204020204" charset="-122"/>
              <a:ea typeface="微软雅黑" panose="020B0503020204020204" charset="-122"/>
            </a:endParaRPr>
          </a:p>
          <a:p>
            <a:pPr algn="ctr">
              <a:lnSpc>
                <a:spcPct val="150000"/>
              </a:lnSpc>
            </a:pPr>
            <a:r>
              <a:rPr lang="zh-CN" altLang="en-US" sz="1200" b="1" dirty="0">
                <a:solidFill>
                  <a:schemeClr val="accent1">
                    <a:lumMod val="50000"/>
                  </a:schemeClr>
                </a:solidFill>
                <a:latin typeface="微软雅黑" panose="020B0503020204020204" charset="-122"/>
                <a:ea typeface="微软雅黑" panose="020B0503020204020204" charset="-122"/>
              </a:rPr>
              <a:t>为机器人持久赋能</a:t>
            </a:r>
          </a:p>
        </p:txBody>
      </p:sp>
      <p:sp>
        <p:nvSpPr>
          <p:cNvPr id="21" name="文本框 20"/>
          <p:cNvSpPr txBox="1"/>
          <p:nvPr/>
        </p:nvSpPr>
        <p:spPr>
          <a:xfrm>
            <a:off x="192405" y="4820285"/>
            <a:ext cx="1814830" cy="614045"/>
          </a:xfrm>
          <a:prstGeom prst="rect">
            <a:avLst/>
          </a:prstGeom>
          <a:noFill/>
        </p:spPr>
        <p:txBody>
          <a:bodyPr wrap="square">
            <a:spAutoFit/>
          </a:bodyPr>
          <a:lstStyle/>
          <a:p>
            <a:pPr algn="ctr"/>
            <a:endParaRPr lang="zh-CN" altLang="en-US" sz="2000" b="1" dirty="0">
              <a:solidFill>
                <a:schemeClr val="accent1">
                  <a:lumMod val="50000"/>
                </a:schemeClr>
              </a:solidFill>
              <a:latin typeface="华文楷体" panose="02010600040101010101" pitchFamily="2" charset="-122"/>
              <a:ea typeface="华文楷体" panose="02010600040101010101" pitchFamily="2" charset="-122"/>
            </a:endParaRPr>
          </a:p>
          <a:p>
            <a:pPr algn="ctr"/>
            <a:r>
              <a:rPr lang="zh-CN" altLang="en-US" sz="1400" b="1" dirty="0">
                <a:solidFill>
                  <a:schemeClr val="accent1">
                    <a:lumMod val="60000"/>
                    <a:lumOff val="40000"/>
                  </a:schemeClr>
                </a:solidFill>
                <a:latin typeface="华文楷体" panose="02010600040101010101" pitchFamily="2" charset="-122"/>
                <a:ea typeface="华文楷体" panose="02010600040101010101" pitchFamily="2" charset="-122"/>
              </a:rPr>
              <a:t>行业痛点与机遇</a:t>
            </a:r>
          </a:p>
        </p:txBody>
      </p:sp>
      <p:sp>
        <p:nvSpPr>
          <p:cNvPr id="22" name="矩形 21"/>
          <p:cNvSpPr/>
          <p:nvPr/>
        </p:nvSpPr>
        <p:spPr>
          <a:xfrm>
            <a:off x="970222" y="5434594"/>
            <a:ext cx="65753" cy="461665"/>
          </a:xfrm>
          <a:prstGeom prst="rect">
            <a:avLst/>
          </a:prstGeom>
          <a:gradFill>
            <a:gsLst>
              <a:gs pos="50000">
                <a:srgbClr val="1F5FBF"/>
              </a:gs>
              <a:gs pos="0">
                <a:srgbClr val="1486CB"/>
              </a:gs>
              <a:gs pos="100000">
                <a:srgbClr val="2A34B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sp>
        <p:nvSpPr>
          <p:cNvPr id="23" name="文本框 22"/>
          <p:cNvSpPr txBox="1"/>
          <p:nvPr/>
        </p:nvSpPr>
        <p:spPr>
          <a:xfrm>
            <a:off x="2476376" y="1317079"/>
            <a:ext cx="3206327" cy="369332"/>
          </a:xfrm>
          <a:prstGeom prst="rect">
            <a:avLst/>
          </a:prstGeom>
          <a:noFill/>
        </p:spPr>
        <p:txBody>
          <a:bodyPr wrap="none" rtlCol="0">
            <a:spAutoFit/>
          </a:bodyPr>
          <a:lstStyle/>
          <a:p>
            <a:r>
              <a:rPr lang="zh-CN" altLang="en-US" b="1" dirty="0">
                <a:latin typeface="宋体" panose="02010600030101010101" pitchFamily="2" charset="-122"/>
                <a:ea typeface="宋体" panose="02010600030101010101" pitchFamily="2" charset="-122"/>
              </a:rPr>
              <a:t>中国人形机器人市场规模预测</a:t>
            </a:r>
          </a:p>
        </p:txBody>
      </p:sp>
      <p:sp>
        <p:nvSpPr>
          <p:cNvPr id="24" name="文本框 23"/>
          <p:cNvSpPr txBox="1"/>
          <p:nvPr/>
        </p:nvSpPr>
        <p:spPr>
          <a:xfrm>
            <a:off x="7060441" y="1317714"/>
            <a:ext cx="3171190" cy="368300"/>
          </a:xfrm>
          <a:prstGeom prst="rect">
            <a:avLst/>
          </a:prstGeom>
          <a:noFill/>
        </p:spPr>
        <p:txBody>
          <a:bodyPr wrap="none" rtlCol="0">
            <a:spAutoFit/>
          </a:bodyPr>
          <a:lstStyle/>
          <a:p>
            <a:r>
              <a:rPr lang="zh-CN" altLang="en-US" b="1" dirty="0">
                <a:latin typeface="宋体" panose="02010600030101010101" pitchFamily="2" charset="-122"/>
                <a:ea typeface="宋体" panose="02010600030101010101" pitchFamily="2" charset="-122"/>
              </a:rPr>
              <a:t>中国四足机器人市场规模预测</a:t>
            </a:r>
          </a:p>
        </p:txBody>
      </p:sp>
      <p:sp>
        <p:nvSpPr>
          <p:cNvPr id="26" name="AutoShape 19"/>
          <p:cNvSpPr/>
          <p:nvPr/>
        </p:nvSpPr>
        <p:spPr>
          <a:xfrm>
            <a:off x="1997710" y="4106545"/>
            <a:ext cx="8877935" cy="1905000"/>
          </a:xfrm>
          <a:prstGeom prst="rect">
            <a:avLst/>
          </a:prstGeom>
          <a:noFill/>
          <a:ln w="12700" cap="flat" cmpd="sng">
            <a:noFill/>
            <a:prstDash val="solid"/>
            <a:round/>
          </a:ln>
        </p:spPr>
        <p:txBody>
          <a:bodyPr vert="horz" wrap="square" lIns="101600" tIns="101600" rIns="101600" bIns="101600" rtlCol="0" anchor="t" anchorCtr="0"/>
          <a:lstStyle/>
          <a:p>
            <a:pPr indent="0" algn="l">
              <a:lnSpc>
                <a:spcPct val="117000"/>
              </a:lnSpc>
            </a:pPr>
            <a:endParaRPr lang="en-US" sz="1600" b="0" i="0" u="none" strike="noStrike">
              <a:gradFill>
                <a:gsLst>
                  <a:gs pos="51300">
                    <a:srgbClr val="FE5F4A"/>
                  </a:gs>
                  <a:gs pos="0">
                    <a:srgbClr val="DF0303"/>
                  </a:gs>
                  <a:gs pos="100000">
                    <a:srgbClr val="FEA06E"/>
                  </a:gs>
                </a:gsLst>
                <a:lin ang="5400000" scaled="1"/>
              </a:gra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17000"/>
              </a:lnSpc>
            </a:pPr>
            <a:r>
              <a:rPr lang="en-US" sz="1600" b="1">
                <a:gradFill>
                  <a:gsLst>
                    <a:gs pos="51300">
                      <a:srgbClr val="FE5F4A"/>
                    </a:gs>
                    <a:gs pos="0">
                      <a:srgbClr val="DF0303"/>
                    </a:gs>
                    <a:gs pos="100000">
                      <a:srgbClr val="FEA06E"/>
                    </a:gs>
                  </a:gsLst>
                  <a:lin ang="5400000" scaled="1"/>
                </a:gradFill>
                <a:latin typeface="微软雅黑" panose="020B0503020204020204" charset="-122"/>
                <a:ea typeface="微软雅黑" panose="020B0503020204020204" charset="-122"/>
                <a:cs typeface="微软雅黑" panose="020B0503020204020204" charset="-122"/>
                <a:sym typeface="微软雅黑" panose="020B0503020204020204" charset="-122"/>
              </a:rPr>
              <a:t>2026年：人形机器人规模化量产元年</a:t>
            </a:r>
            <a:endParaRPr lang="en-US" sz="1600">
              <a:gradFill>
                <a:gsLst>
                  <a:gs pos="51300">
                    <a:srgbClr val="FE5F4A"/>
                  </a:gs>
                  <a:gs pos="0">
                    <a:srgbClr val="DF0303"/>
                  </a:gs>
                  <a:gs pos="100000">
                    <a:srgbClr val="FEA06E"/>
                  </a:gs>
                </a:gsLst>
                <a:lin ang="5400000" scaled="1"/>
              </a:gradFill>
            </a:endParaRPr>
          </a:p>
          <a:p>
            <a:pPr indent="0" algn="l">
              <a:lnSpc>
                <a:spcPct val="117000"/>
              </a:lnSpc>
            </a:pPr>
            <a:r>
              <a:rPr lang="en-US" sz="1600" b="0"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600" b="1"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rPr>
              <a:t>全球视野：</a:t>
            </a:r>
            <a:r>
              <a:rPr lang="en-US" sz="1600" b="0"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rPr>
              <a:t>IDC预测，2030年全球人形机器人出货量将达</a:t>
            </a:r>
            <a:r>
              <a:rPr lang="en-US" sz="1600" b="1" i="0" u="none" strike="noStrike">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51万台</a:t>
            </a:r>
            <a:r>
              <a:rPr lang="en-US" sz="1600" b="0"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rPr>
              <a:t>，年复合增长率(CAGR)近</a:t>
            </a:r>
            <a:r>
              <a:rPr lang="en-US" sz="1600" b="1" i="0" u="none" strike="noStrike">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95%</a:t>
            </a:r>
            <a:r>
              <a:rPr lang="en-US" sz="1600" b="0"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p>
          <a:p>
            <a:pPr indent="0" algn="l">
              <a:lnSpc>
                <a:spcPct val="117000"/>
              </a:lnSpc>
            </a:pPr>
            <a:r>
              <a:rPr lang="en-US" sz="1600" b="0"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600" b="1"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rPr>
              <a:t>中国主场：</a:t>
            </a:r>
            <a:r>
              <a:rPr lang="en-US" sz="1600" b="0"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rPr>
              <a:t>作为全球最大的机器人市场，</a:t>
            </a:r>
            <a:r>
              <a:rPr lang="en-US" sz="1600">
                <a:solidFill>
                  <a:srgbClr val="555555"/>
                </a:solidFill>
                <a:latin typeface="微软雅黑" panose="020B0503020204020204" charset="-122"/>
                <a:ea typeface="微软雅黑" panose="020B0503020204020204" charset="-122"/>
                <a:cs typeface="微软雅黑" panose="020B0503020204020204" charset="-122"/>
                <a:sym typeface="+mn-ea"/>
              </a:rPr>
              <a:t>按照格物致胜、中金企信等机构预测，到2030年，中国人形机器市场将达到380亿，四足机器人市场达360亿</a:t>
            </a:r>
            <a:r>
              <a:rPr lang="zh-CN" altLang="en-US" sz="1600">
                <a:solidFill>
                  <a:srgbClr val="555555"/>
                </a:solidFill>
                <a:latin typeface="微软雅黑" panose="020B0503020204020204" charset="-122"/>
                <a:ea typeface="微软雅黑" panose="020B0503020204020204" charset="-122"/>
                <a:cs typeface="微软雅黑" panose="020B0503020204020204" charset="-122"/>
                <a:sym typeface="+mn-ea"/>
              </a:rPr>
              <a:t>，</a:t>
            </a:r>
            <a:r>
              <a:rPr lang="en-US" sz="1600" b="1">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爆发式增长态势显著</a:t>
            </a:r>
            <a:r>
              <a:rPr lang="en-US" sz="1600">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1400" dirty="0">
              <a:latin typeface="微软雅黑" panose="020B0503020204020204" charset="-122"/>
              <a:ea typeface="微软雅黑" panose="020B0503020204020204" charset="-122"/>
              <a:sym typeface="+mn-ea"/>
            </a:endParaRPr>
          </a:p>
          <a:p>
            <a:pPr indent="0" algn="l">
              <a:lnSpc>
                <a:spcPct val="117000"/>
              </a:lnSpc>
            </a:pPr>
            <a:endParaRPr lang="zh-CN" altLang="en-US" sz="1600" b="0"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6"/>
          <p:cNvPicPr>
            <a:picLocks noChangeAspect="1"/>
          </p:cNvPicPr>
          <p:nvPr/>
        </p:nvPicPr>
        <p:blipFill>
          <a:blip r:embed="rId2"/>
          <a:stretch>
            <a:fillRect/>
          </a:stretch>
        </p:blipFill>
        <p:spPr>
          <a:xfrm rot="21600000">
            <a:off x="0" y="6576693"/>
            <a:ext cx="12192000" cy="271779"/>
          </a:xfrm>
          <a:prstGeom prst="rect">
            <a:avLst/>
          </a:prstGeom>
        </p:spPr>
      </p:pic>
      <p:sp>
        <p:nvSpPr>
          <p:cNvPr id="70" name="textbox 70"/>
          <p:cNvSpPr/>
          <p:nvPr/>
        </p:nvSpPr>
        <p:spPr>
          <a:xfrm>
            <a:off x="1636628" y="455178"/>
            <a:ext cx="2599689" cy="507365"/>
          </a:xfrm>
          <a:prstGeom prst="rect">
            <a:avLst/>
          </a:prstGeom>
          <a:noFill/>
          <a:ln w="0" cap="flat">
            <a:noFill/>
            <a:prstDash val="solid"/>
            <a:miter lim="0"/>
          </a:ln>
        </p:spPr>
        <p:txBody>
          <a:bodyPr vert="horz" wrap="square" lIns="0" tIns="0" rIns="0" bIns="0"/>
          <a:lstStyle/>
          <a:p>
            <a:pPr algn="l" rtl="0" eaLnBrk="0">
              <a:lnSpc>
                <a:spcPct val="93000"/>
              </a:lnSpc>
            </a:pPr>
            <a:endParaRPr sz="1000" dirty="0">
              <a:latin typeface="微软雅黑" panose="020B0503020204020204" charset="-122"/>
              <a:ea typeface="微软雅黑" panose="020B0503020204020204" charset="-122"/>
              <a:cs typeface="微软雅黑" panose="020B0503020204020204" charset="-122"/>
            </a:endParaRPr>
          </a:p>
        </p:txBody>
      </p:sp>
      <p:sp>
        <p:nvSpPr>
          <p:cNvPr id="74" name="path 74"/>
          <p:cNvSpPr/>
          <p:nvPr/>
        </p:nvSpPr>
        <p:spPr>
          <a:xfrm>
            <a:off x="348614" y="354965"/>
            <a:ext cx="540385" cy="137794"/>
          </a:xfrm>
          <a:custGeom>
            <a:avLst/>
            <a:gdLst/>
            <a:ahLst/>
            <a:cxnLst/>
            <a:rect l="0" t="0" r="0" b="0"/>
            <a:pathLst>
              <a:path w="851" h="216">
                <a:moveTo>
                  <a:pt x="0" y="216"/>
                </a:moveTo>
                <a:lnTo>
                  <a:pt x="217" y="216"/>
                </a:lnTo>
                <a:lnTo>
                  <a:pt x="217" y="0"/>
                </a:lnTo>
                <a:lnTo>
                  <a:pt x="0" y="0"/>
                </a:lnTo>
                <a:lnTo>
                  <a:pt x="0" y="216"/>
                </a:lnTo>
                <a:close/>
              </a:path>
              <a:path w="851" h="216">
                <a:moveTo>
                  <a:pt x="317" y="216"/>
                </a:moveTo>
                <a:lnTo>
                  <a:pt x="534" y="216"/>
                </a:lnTo>
                <a:lnTo>
                  <a:pt x="534" y="0"/>
                </a:lnTo>
                <a:lnTo>
                  <a:pt x="317" y="0"/>
                </a:lnTo>
                <a:lnTo>
                  <a:pt x="317" y="216"/>
                </a:lnTo>
                <a:close/>
              </a:path>
              <a:path w="851" h="216">
                <a:moveTo>
                  <a:pt x="633" y="216"/>
                </a:moveTo>
                <a:lnTo>
                  <a:pt x="851" y="216"/>
                </a:lnTo>
                <a:lnTo>
                  <a:pt x="851" y="0"/>
                </a:lnTo>
                <a:lnTo>
                  <a:pt x="633" y="0"/>
                </a:lnTo>
                <a:lnTo>
                  <a:pt x="633"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2" name="path 82"/>
          <p:cNvSpPr/>
          <p:nvPr/>
        </p:nvSpPr>
        <p:spPr>
          <a:xfrm>
            <a:off x="348614" y="567054"/>
            <a:ext cx="339090" cy="349885"/>
          </a:xfrm>
          <a:custGeom>
            <a:avLst/>
            <a:gdLst/>
            <a:ahLst/>
            <a:cxnLst/>
            <a:rect l="0" t="0" r="0" b="0"/>
            <a:pathLst>
              <a:path w="534" h="551">
                <a:moveTo>
                  <a:pt x="0" y="217"/>
                </a:moveTo>
                <a:lnTo>
                  <a:pt x="217" y="217"/>
                </a:lnTo>
                <a:lnTo>
                  <a:pt x="217" y="0"/>
                </a:lnTo>
                <a:lnTo>
                  <a:pt x="0" y="0"/>
                </a:lnTo>
                <a:lnTo>
                  <a:pt x="0" y="217"/>
                </a:lnTo>
                <a:close/>
              </a:path>
              <a:path w="534" h="551">
                <a:moveTo>
                  <a:pt x="317" y="217"/>
                </a:moveTo>
                <a:lnTo>
                  <a:pt x="534" y="217"/>
                </a:lnTo>
                <a:lnTo>
                  <a:pt x="534" y="0"/>
                </a:lnTo>
                <a:lnTo>
                  <a:pt x="317" y="0"/>
                </a:lnTo>
                <a:lnTo>
                  <a:pt x="317" y="217"/>
                </a:lnTo>
                <a:close/>
              </a:path>
              <a:path w="534" h="551">
                <a:moveTo>
                  <a:pt x="0" y="551"/>
                </a:moveTo>
                <a:lnTo>
                  <a:pt x="217" y="551"/>
                </a:lnTo>
                <a:lnTo>
                  <a:pt x="217" y="334"/>
                </a:lnTo>
                <a:lnTo>
                  <a:pt x="0" y="334"/>
                </a:lnTo>
                <a:lnTo>
                  <a:pt x="0" y="551"/>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4" name="path 84"/>
          <p:cNvSpPr/>
          <p:nvPr/>
        </p:nvSpPr>
        <p:spPr>
          <a:xfrm>
            <a:off x="348614" y="142875"/>
            <a:ext cx="741680" cy="137794"/>
          </a:xfrm>
          <a:custGeom>
            <a:avLst/>
            <a:gdLst/>
            <a:ahLst/>
            <a:cxnLst/>
            <a:rect l="0" t="0" r="0" b="0"/>
            <a:pathLst>
              <a:path w="1168" h="216">
                <a:moveTo>
                  <a:pt x="0" y="216"/>
                </a:moveTo>
                <a:lnTo>
                  <a:pt x="217" y="216"/>
                </a:lnTo>
                <a:lnTo>
                  <a:pt x="217" y="0"/>
                </a:lnTo>
                <a:lnTo>
                  <a:pt x="0" y="0"/>
                </a:lnTo>
                <a:lnTo>
                  <a:pt x="0" y="216"/>
                </a:lnTo>
                <a:close/>
              </a:path>
              <a:path w="1168" h="216">
                <a:moveTo>
                  <a:pt x="317" y="216"/>
                </a:moveTo>
                <a:lnTo>
                  <a:pt x="534" y="216"/>
                </a:lnTo>
                <a:lnTo>
                  <a:pt x="534" y="0"/>
                </a:lnTo>
                <a:lnTo>
                  <a:pt x="317" y="0"/>
                </a:lnTo>
                <a:lnTo>
                  <a:pt x="317" y="216"/>
                </a:lnTo>
                <a:close/>
              </a:path>
              <a:path w="1168" h="216">
                <a:moveTo>
                  <a:pt x="633" y="216"/>
                </a:moveTo>
                <a:lnTo>
                  <a:pt x="851" y="216"/>
                </a:lnTo>
                <a:lnTo>
                  <a:pt x="851" y="0"/>
                </a:lnTo>
                <a:lnTo>
                  <a:pt x="633" y="0"/>
                </a:lnTo>
                <a:lnTo>
                  <a:pt x="633" y="216"/>
                </a:lnTo>
                <a:close/>
              </a:path>
              <a:path w="1168" h="216">
                <a:moveTo>
                  <a:pt x="951" y="216"/>
                </a:moveTo>
                <a:lnTo>
                  <a:pt x="1168" y="216"/>
                </a:lnTo>
                <a:lnTo>
                  <a:pt x="1168" y="0"/>
                </a:lnTo>
                <a:lnTo>
                  <a:pt x="951" y="0"/>
                </a:lnTo>
                <a:lnTo>
                  <a:pt x="951"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6" name="path 86"/>
          <p:cNvSpPr/>
          <p:nvPr/>
        </p:nvSpPr>
        <p:spPr>
          <a:xfrm>
            <a:off x="702945" y="955040"/>
            <a:ext cx="10786745" cy="76200"/>
          </a:xfrm>
          <a:custGeom>
            <a:avLst/>
            <a:gdLst/>
            <a:ahLst/>
            <a:cxnLst/>
            <a:rect l="0" t="0" r="0" b="0"/>
            <a:pathLst>
              <a:path w="15485" h="10">
                <a:moveTo>
                  <a:pt x="0" y="5"/>
                </a:moveTo>
                <a:lnTo>
                  <a:pt x="15485" y="5"/>
                </a:lnTo>
              </a:path>
            </a:pathLst>
          </a:custGeom>
          <a:noFill/>
          <a:ln w="6350" cap="flat">
            <a:solidFill>
              <a:srgbClr val="D9D9D9"/>
            </a:solidFill>
            <a:prstDash val="solid"/>
            <a:miter lim="1000000"/>
          </a:ln>
        </p:spPr>
        <p:txBody>
          <a:bodyPr rtlCol="0"/>
          <a:lstStyle/>
          <a:p>
            <a:pPr algn="ctr"/>
            <a:endParaRPr lang="zh-CN" altLang="en-US"/>
          </a:p>
        </p:txBody>
      </p:sp>
      <p:sp>
        <p:nvSpPr>
          <p:cNvPr id="88" name="rect 88"/>
          <p:cNvSpPr/>
          <p:nvPr/>
        </p:nvSpPr>
        <p:spPr>
          <a:xfrm>
            <a:off x="147320" y="56705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0" name="rect 90"/>
          <p:cNvSpPr/>
          <p:nvPr/>
        </p:nvSpPr>
        <p:spPr>
          <a:xfrm>
            <a:off x="147320" y="779145"/>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2" name="rect 92"/>
          <p:cNvSpPr/>
          <p:nvPr/>
        </p:nvSpPr>
        <p:spPr>
          <a:xfrm>
            <a:off x="147320" y="99123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4" name="rect 94"/>
          <p:cNvSpPr/>
          <p:nvPr/>
        </p:nvSpPr>
        <p:spPr>
          <a:xfrm>
            <a:off x="147320" y="14287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6" name="rect 96"/>
          <p:cNvSpPr/>
          <p:nvPr/>
        </p:nvSpPr>
        <p:spPr>
          <a:xfrm>
            <a:off x="147320" y="35496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pic>
        <p:nvPicPr>
          <p:cNvPr id="2" name="图片 1"/>
          <p:cNvPicPr>
            <a:picLocks noChangeAspect="1"/>
          </p:cNvPicPr>
          <p:nvPr/>
        </p:nvPicPr>
        <p:blipFill>
          <a:blip r:embed="rId3"/>
          <a:stretch>
            <a:fillRect/>
          </a:stretch>
        </p:blipFill>
        <p:spPr>
          <a:xfrm>
            <a:off x="10428563" y="68429"/>
            <a:ext cx="1354271" cy="781170"/>
          </a:xfrm>
          <a:prstGeom prst="rect">
            <a:avLst/>
          </a:prstGeom>
        </p:spPr>
      </p:pic>
      <p:sp>
        <p:nvSpPr>
          <p:cNvPr id="3" name="textbox 60"/>
          <p:cNvSpPr/>
          <p:nvPr/>
        </p:nvSpPr>
        <p:spPr>
          <a:xfrm>
            <a:off x="688022" y="3017728"/>
            <a:ext cx="10637203" cy="3795845"/>
          </a:xfrm>
          <a:prstGeom prst="rect">
            <a:avLst/>
          </a:prstGeom>
          <a:noFill/>
          <a:ln w="0" cap="flat">
            <a:noFill/>
            <a:prstDash val="solid"/>
            <a:miter lim="0"/>
          </a:ln>
        </p:spPr>
        <p:txBody>
          <a:bodyPr vert="horz" wrap="square" lIns="0" tIns="0" rIns="0" bIns="0"/>
          <a:lstStyle/>
          <a:p>
            <a:pPr algn="l" rtl="0" eaLnBrk="0">
              <a:lnSpc>
                <a:spcPct val="150000"/>
              </a:lnSpc>
            </a:pPr>
            <a:endParaRPr sz="100" dirty="0">
              <a:latin typeface="Arial" panose="020B0604020202020204"/>
              <a:ea typeface="Arial" panose="020B0604020202020204"/>
              <a:cs typeface="Arial" panose="020B0604020202020204"/>
            </a:endParaRPr>
          </a:p>
          <a:p>
            <a:pPr marL="17145" algn="l" rtl="0" eaLnBrk="0">
              <a:lnSpc>
                <a:spcPct val="150000"/>
              </a:lnSpc>
              <a:spcBef>
                <a:spcPts val="600"/>
              </a:spcBef>
              <a:spcAft>
                <a:spcPts val="600"/>
              </a:spcAft>
            </a:pPr>
            <a:endParaRPr lang="zh-CN" altLang="en-US" kern="0" spc="90" dirty="0">
              <a:solidFill>
                <a:srgbClr val="595959">
                  <a:alpha val="100000"/>
                </a:srgbClr>
              </a:solidFill>
              <a:latin typeface="微软雅黑" panose="020B0503020204020204" charset="-122"/>
              <a:ea typeface="微软雅黑" panose="020B0503020204020204" charset="-122"/>
              <a:cs typeface="微软雅黑" panose="020B0503020204020204" charset="-122"/>
            </a:endParaRPr>
          </a:p>
        </p:txBody>
      </p:sp>
      <p:sp>
        <p:nvSpPr>
          <p:cNvPr id="6" name="矩形 5"/>
          <p:cNvSpPr/>
          <p:nvPr/>
        </p:nvSpPr>
        <p:spPr>
          <a:xfrm>
            <a:off x="890270" y="354965"/>
            <a:ext cx="746125" cy="387985"/>
          </a:xfrm>
          <a:prstGeom prst="rect">
            <a:avLst/>
          </a:prstGeom>
          <a:noFill/>
          <a:ln>
            <a:noFill/>
          </a:ln>
        </p:spPr>
        <p:txBody>
          <a:bodyPr wrap="none" rtlCol="0" anchor="t">
            <a:noAutofit/>
          </a:bodyPr>
          <a:lstStyle/>
          <a:p>
            <a:pPr algn="ctr"/>
            <a:endParaRPr lang="en-US" altLang="zh-CN" sz="4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8" name="文本框 7"/>
          <p:cNvSpPr txBox="1"/>
          <p:nvPr/>
        </p:nvSpPr>
        <p:spPr>
          <a:xfrm>
            <a:off x="837565" y="433070"/>
            <a:ext cx="6096000" cy="521970"/>
          </a:xfrm>
          <a:prstGeom prst="rect">
            <a:avLst/>
          </a:prstGeom>
          <a:noFill/>
        </p:spPr>
        <p:txBody>
          <a:bodyPr wrap="square" rtlCol="0" anchor="t">
            <a:spAutoFit/>
          </a:bodyPr>
          <a:lstStyle/>
          <a:p>
            <a:r>
              <a:rPr lang="zh-CN" altLang="en-US" sz="2800" b="1" kern="0" noProof="0" dirty="0">
                <a:ln>
                  <a:noFill/>
                </a:ln>
                <a:solidFill>
                  <a:srgbClr val="0070C0"/>
                </a:solidFill>
                <a:effectLst/>
                <a:uLnTx/>
                <a:uFillTx/>
                <a:latin typeface="微软雅黑" panose="020B0503020204020204" charset="-122"/>
                <a:ea typeface="微软雅黑" panose="020B0503020204020204" charset="-122"/>
                <a:sym typeface="+mn-ea"/>
              </a:rPr>
              <a:t>机器人关节模组市场前景</a:t>
            </a:r>
          </a:p>
        </p:txBody>
      </p:sp>
      <p:sp>
        <p:nvSpPr>
          <p:cNvPr id="72" name="path 72"/>
          <p:cNvSpPr/>
          <p:nvPr/>
        </p:nvSpPr>
        <p:spPr>
          <a:xfrm>
            <a:off x="11398249" y="6043294"/>
            <a:ext cx="741679" cy="774064"/>
          </a:xfrm>
          <a:custGeom>
            <a:avLst/>
            <a:gdLst/>
            <a:ahLst/>
            <a:cxnLst/>
            <a:rect l="0" t="0" r="0" b="0"/>
            <a:pathLst>
              <a:path w="1167" h="1218">
                <a:moveTo>
                  <a:pt x="950" y="1218"/>
                </a:moveTo>
                <a:lnTo>
                  <a:pt x="1167" y="1218"/>
                </a:lnTo>
                <a:lnTo>
                  <a:pt x="1167" y="1001"/>
                </a:lnTo>
                <a:lnTo>
                  <a:pt x="950" y="1001"/>
                </a:lnTo>
                <a:lnTo>
                  <a:pt x="950" y="1218"/>
                </a:lnTo>
                <a:close/>
              </a:path>
              <a:path w="1167" h="1218">
                <a:moveTo>
                  <a:pt x="634" y="1218"/>
                </a:moveTo>
                <a:lnTo>
                  <a:pt x="850" y="1218"/>
                </a:lnTo>
                <a:lnTo>
                  <a:pt x="850" y="1001"/>
                </a:lnTo>
                <a:lnTo>
                  <a:pt x="634" y="1001"/>
                </a:lnTo>
                <a:lnTo>
                  <a:pt x="634" y="1218"/>
                </a:lnTo>
                <a:close/>
              </a:path>
              <a:path w="1167" h="1218">
                <a:moveTo>
                  <a:pt x="317" y="1218"/>
                </a:moveTo>
                <a:lnTo>
                  <a:pt x="534" y="1218"/>
                </a:lnTo>
                <a:lnTo>
                  <a:pt x="534" y="1001"/>
                </a:lnTo>
                <a:lnTo>
                  <a:pt x="317" y="1001"/>
                </a:lnTo>
                <a:lnTo>
                  <a:pt x="317" y="1218"/>
                </a:lnTo>
                <a:close/>
              </a:path>
              <a:path w="1167" h="1218">
                <a:moveTo>
                  <a:pt x="0" y="1218"/>
                </a:moveTo>
                <a:lnTo>
                  <a:pt x="216" y="1218"/>
                </a:lnTo>
                <a:lnTo>
                  <a:pt x="216" y="1001"/>
                </a:lnTo>
                <a:lnTo>
                  <a:pt x="0" y="1001"/>
                </a:lnTo>
                <a:lnTo>
                  <a:pt x="0" y="1218"/>
                </a:lnTo>
                <a:close/>
              </a:path>
              <a:path w="1167" h="1218">
                <a:moveTo>
                  <a:pt x="950" y="884"/>
                </a:moveTo>
                <a:lnTo>
                  <a:pt x="1167" y="884"/>
                </a:lnTo>
                <a:lnTo>
                  <a:pt x="1167" y="667"/>
                </a:lnTo>
                <a:lnTo>
                  <a:pt x="950" y="667"/>
                </a:lnTo>
                <a:lnTo>
                  <a:pt x="950" y="884"/>
                </a:lnTo>
                <a:close/>
              </a:path>
              <a:path w="1167" h="1218">
                <a:moveTo>
                  <a:pt x="634" y="884"/>
                </a:moveTo>
                <a:lnTo>
                  <a:pt x="850" y="884"/>
                </a:lnTo>
                <a:lnTo>
                  <a:pt x="850" y="667"/>
                </a:lnTo>
                <a:lnTo>
                  <a:pt x="634" y="667"/>
                </a:lnTo>
                <a:lnTo>
                  <a:pt x="634" y="884"/>
                </a:lnTo>
                <a:close/>
              </a:path>
              <a:path w="1167" h="1218">
                <a:moveTo>
                  <a:pt x="317" y="884"/>
                </a:moveTo>
                <a:lnTo>
                  <a:pt x="534" y="884"/>
                </a:lnTo>
                <a:lnTo>
                  <a:pt x="534" y="667"/>
                </a:lnTo>
                <a:lnTo>
                  <a:pt x="317" y="667"/>
                </a:lnTo>
                <a:lnTo>
                  <a:pt x="317" y="884"/>
                </a:lnTo>
                <a:close/>
              </a:path>
              <a:path w="1167" h="1218">
                <a:moveTo>
                  <a:pt x="950" y="550"/>
                </a:moveTo>
                <a:lnTo>
                  <a:pt x="1167" y="550"/>
                </a:lnTo>
                <a:lnTo>
                  <a:pt x="1167" y="333"/>
                </a:lnTo>
                <a:lnTo>
                  <a:pt x="950" y="333"/>
                </a:lnTo>
                <a:lnTo>
                  <a:pt x="950" y="550"/>
                </a:lnTo>
                <a:close/>
              </a:path>
              <a:path w="1167" h="1218">
                <a:moveTo>
                  <a:pt x="634" y="550"/>
                </a:moveTo>
                <a:lnTo>
                  <a:pt x="850" y="550"/>
                </a:lnTo>
                <a:lnTo>
                  <a:pt x="850" y="333"/>
                </a:lnTo>
                <a:lnTo>
                  <a:pt x="634" y="333"/>
                </a:lnTo>
                <a:lnTo>
                  <a:pt x="634" y="550"/>
                </a:lnTo>
                <a:close/>
              </a:path>
              <a:path w="1167" h="1218">
                <a:moveTo>
                  <a:pt x="950" y="216"/>
                </a:moveTo>
                <a:lnTo>
                  <a:pt x="1167" y="216"/>
                </a:lnTo>
                <a:lnTo>
                  <a:pt x="1167" y="0"/>
                </a:lnTo>
                <a:lnTo>
                  <a:pt x="950" y="0"/>
                </a:lnTo>
                <a:lnTo>
                  <a:pt x="950" y="216"/>
                </a:lnTo>
                <a:close/>
              </a:path>
            </a:pathLst>
          </a:custGeom>
          <a:solidFill>
            <a:srgbClr val="F2F2F2">
              <a:alpha val="100000"/>
            </a:srgbClr>
          </a:solidFill>
          <a:ln w="0" cap="flat">
            <a:noFill/>
            <a:prstDash val="solid"/>
            <a:miter lim="0"/>
          </a:ln>
        </p:spPr>
        <p:txBody>
          <a:bodyPr rtlCol="0"/>
          <a:lstStyle/>
          <a:p>
            <a:pPr algn="ctr"/>
            <a:endParaRPr lang="zh-CN" altLang="en-US"/>
          </a:p>
        </p:txBody>
      </p:sp>
      <p:pic>
        <p:nvPicPr>
          <p:cNvPr id="11" name="图片 2" descr="C:\Users\huayi\Documents\WeChat Files\huayizhan\FileStorage\Temp\1720927771082.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0590" y="2516705"/>
            <a:ext cx="2909560" cy="29935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5" name="文本框 24"/>
          <p:cNvSpPr txBox="1"/>
          <p:nvPr/>
        </p:nvSpPr>
        <p:spPr>
          <a:xfrm>
            <a:off x="2305303" y="1589838"/>
            <a:ext cx="3840480" cy="368300"/>
          </a:xfrm>
          <a:prstGeom prst="rect">
            <a:avLst/>
          </a:prstGeom>
          <a:noFill/>
        </p:spPr>
        <p:txBody>
          <a:bodyPr wrap="none" rtlCol="0">
            <a:spAutoFit/>
          </a:bodyPr>
          <a:lstStyle/>
          <a:p>
            <a:r>
              <a:rPr lang="zh-CN" altLang="en-US" b="1" dirty="0">
                <a:solidFill>
                  <a:schemeClr val="accent1">
                    <a:lumMod val="50000"/>
                  </a:schemeClr>
                </a:solidFill>
                <a:latin typeface="微软雅黑" panose="020B0503020204020204" charset="-122"/>
                <a:ea typeface="微软雅黑" panose="020B0503020204020204" charset="-122"/>
              </a:rPr>
              <a:t>关节模组在机器人中的硬件成本占比</a:t>
            </a:r>
          </a:p>
        </p:txBody>
      </p:sp>
      <p:sp>
        <p:nvSpPr>
          <p:cNvPr id="24" name="AutoShape 24"/>
          <p:cNvSpPr/>
          <p:nvPr/>
        </p:nvSpPr>
        <p:spPr>
          <a:xfrm>
            <a:off x="6628130" y="2136775"/>
            <a:ext cx="4769485" cy="3602355"/>
          </a:xfrm>
          <a:prstGeom prst="rect">
            <a:avLst/>
          </a:prstGeom>
          <a:noFill/>
          <a:ln w="12700" cap="flat" cmpd="sng">
            <a:noFill/>
            <a:prstDash val="solid"/>
            <a:round/>
          </a:ln>
        </p:spPr>
        <p:txBody>
          <a:bodyPr vert="horz" wrap="square" lIns="101600" tIns="76200" rIns="101600" bIns="76200" rtlCol="0" anchor="t" anchorCtr="0"/>
          <a:lstStyle/>
          <a:p>
            <a:pPr indent="0" algn="l">
              <a:lnSpc>
                <a:spcPct val="108000"/>
              </a:lnSpc>
              <a:defRPr/>
            </a:pPr>
            <a:r>
              <a:rPr lang="en-US" sz="2000" b="1" i="0" u="none" strike="noStrike">
                <a:gradFill>
                  <a:gsLst>
                    <a:gs pos="51300">
                      <a:srgbClr val="FE5F4A"/>
                    </a:gs>
                    <a:gs pos="0">
                      <a:srgbClr val="DF0303"/>
                    </a:gs>
                    <a:gs pos="100000">
                      <a:srgbClr val="FEA06E"/>
                    </a:gs>
                  </a:gsLst>
                  <a:lin ang="5400000" scaled="1"/>
                </a:gra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核心结论</a:t>
            </a:r>
            <a:r>
              <a:rPr lang="zh-CN" altLang="en-US" sz="2000" b="1" i="0" u="none" strike="noStrike">
                <a:gradFill>
                  <a:gsLst>
                    <a:gs pos="51300">
                      <a:srgbClr val="FE5F4A"/>
                    </a:gs>
                    <a:gs pos="0">
                      <a:srgbClr val="DF0303"/>
                    </a:gs>
                    <a:gs pos="100000">
                      <a:srgbClr val="FEA06E"/>
                    </a:gs>
                  </a:gsLst>
                  <a:lin ang="5400000" scaled="1"/>
                </a:gra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000" b="1" i="0" u="none" strike="noStrike">
              <a:gradFill>
                <a:gsLst>
                  <a:gs pos="51300">
                    <a:srgbClr val="FE5F4A"/>
                  </a:gs>
                  <a:gs pos="0">
                    <a:srgbClr val="DF0303"/>
                  </a:gs>
                  <a:gs pos="100000">
                    <a:srgbClr val="FEA06E"/>
                  </a:gs>
                </a:gsLst>
                <a:lin ang="5400000" scaled="1"/>
              </a:gra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8000"/>
              </a:lnSpc>
              <a:defRPr/>
            </a:pPr>
            <a:endParaRPr lang="en-US" sz="1600" b="0"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8000"/>
              </a:lnSpc>
              <a:defRPr/>
            </a:pPr>
            <a:r>
              <a:rPr lang="en-US" sz="1600" b="0"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关节模组占据了机器人硬件成本的</a:t>
            </a:r>
            <a:r>
              <a:rPr lang="en-US" sz="1600" b="1" i="0" u="none" strike="noStrike">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50%以上</a:t>
            </a:r>
            <a:r>
              <a:rPr lang="en-US" sz="1600" b="0"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，是决定机器人运动性能上限与整机成本下限的核心组件。</a:t>
            </a:r>
            <a:endParaRPr lang="en-US" sz="1600"/>
          </a:p>
          <a:p>
            <a:pPr indent="0" algn="l">
              <a:lnSpc>
                <a:spcPct val="108000"/>
              </a:lnSpc>
            </a:pPr>
            <a:r>
              <a:rPr lang="en-US" sz="1600" b="0"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rPr>
              <a:t>关节模组的综合技术壁垒与市场价值在机器人产业链中处于</a:t>
            </a:r>
            <a:r>
              <a:rPr lang="zh-CN" altLang="en-US" sz="1600" b="1" i="0" u="none" strike="noStrike" dirty="0">
                <a:solidFill>
                  <a:srgbClr val="C00000"/>
                </a:solidFill>
                <a:latin typeface="微软雅黑" panose="020B0503020204020204" charset="-122"/>
                <a:ea typeface="微软雅黑" panose="020B0503020204020204" charset="-122"/>
                <a:sym typeface="微软雅黑" panose="020B0503020204020204" charset="-122"/>
              </a:rPr>
              <a:t>绝对领先地位</a:t>
            </a:r>
            <a:r>
              <a:rPr lang="en-US" sz="1600" b="0"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p>
          <a:p>
            <a:pPr indent="0" algn="l">
              <a:lnSpc>
                <a:spcPct val="108000"/>
              </a:lnSpc>
            </a:pPr>
            <a:endParaRPr lang="en-US" sz="1600" b="0"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8000"/>
              </a:lnSpc>
            </a:pPr>
            <a:r>
              <a:rPr lang="zh-CN" altLang="zh-CN" sz="1600" b="1" dirty="0">
                <a:latin typeface="微软雅黑" panose="020B0503020204020204" charset="-122"/>
                <a:ea typeface="微软雅黑" panose="020B0503020204020204" charset="-122"/>
                <a:sym typeface="+mn-ea"/>
              </a:rPr>
              <a:t>除了人形机器人</a:t>
            </a:r>
            <a:r>
              <a:rPr lang="zh-CN" altLang="en-US" sz="1600" b="1" dirty="0">
                <a:latin typeface="微软雅黑" panose="020B0503020204020204" charset="-122"/>
                <a:ea typeface="微软雅黑" panose="020B0503020204020204" charset="-122"/>
                <a:sym typeface="+mn-ea"/>
              </a:rPr>
              <a:t>和四足机器人</a:t>
            </a:r>
            <a:r>
              <a:rPr lang="zh-CN" altLang="zh-CN" sz="1600" b="1" dirty="0">
                <a:latin typeface="微软雅黑" panose="020B0503020204020204" charset="-122"/>
                <a:ea typeface="微软雅黑" panose="020B0503020204020204" charset="-122"/>
                <a:sym typeface="+mn-ea"/>
              </a:rPr>
              <a:t>，</a:t>
            </a:r>
            <a:r>
              <a:rPr lang="zh-CN" altLang="en-US" sz="1600" b="1" dirty="0">
                <a:latin typeface="微软雅黑" panose="020B0503020204020204" charset="-122"/>
                <a:ea typeface="微软雅黑" panose="020B0503020204020204" charset="-122"/>
                <a:sym typeface="+mn-ea"/>
              </a:rPr>
              <a:t>关节模组</a:t>
            </a:r>
            <a:r>
              <a:rPr lang="zh-CN" altLang="zh-CN" sz="1600" b="1" dirty="0">
                <a:latin typeface="微软雅黑" panose="020B0503020204020204" charset="-122"/>
                <a:ea typeface="微软雅黑" panose="020B0503020204020204" charset="-122"/>
                <a:sym typeface="+mn-ea"/>
              </a:rPr>
              <a:t>还</a:t>
            </a:r>
            <a:r>
              <a:rPr lang="zh-CN" altLang="en-US" sz="1600" b="1" dirty="0">
                <a:latin typeface="微软雅黑" panose="020B0503020204020204" charset="-122"/>
                <a:ea typeface="微软雅黑" panose="020B0503020204020204" charset="-122"/>
                <a:sym typeface="+mn-ea"/>
              </a:rPr>
              <a:t>可</a:t>
            </a:r>
            <a:r>
              <a:rPr lang="zh-CN" altLang="zh-CN" sz="1600" b="1" dirty="0">
                <a:latin typeface="微软雅黑" panose="020B0503020204020204" charset="-122"/>
                <a:ea typeface="微软雅黑" panose="020B0503020204020204" charset="-122"/>
                <a:sym typeface="+mn-ea"/>
              </a:rPr>
              <a:t>应用于协作机器人、无人机等各类产品</a:t>
            </a:r>
            <a:r>
              <a:rPr lang="zh-CN" altLang="en-US" sz="1600" b="1" dirty="0">
                <a:solidFill>
                  <a:srgbClr val="C00000"/>
                </a:solidFill>
                <a:latin typeface="微软雅黑" panose="020B0503020204020204" charset="-122"/>
                <a:ea typeface="微软雅黑" panose="020B0503020204020204" charset="-122"/>
                <a:sym typeface="+mn-ea"/>
              </a:rPr>
              <a:t>，预计</a:t>
            </a:r>
            <a:r>
              <a:rPr lang="en-US" altLang="zh-CN" sz="1600" b="1" dirty="0">
                <a:solidFill>
                  <a:srgbClr val="C00000"/>
                </a:solidFill>
                <a:latin typeface="微软雅黑" panose="020B0503020204020204" charset="-122"/>
                <a:ea typeface="微软雅黑" panose="020B0503020204020204" charset="-122"/>
                <a:sym typeface="+mn-ea"/>
              </a:rPr>
              <a:t>2030</a:t>
            </a:r>
            <a:r>
              <a:rPr lang="zh-CN" altLang="en-US" sz="1600" b="1" dirty="0">
                <a:solidFill>
                  <a:srgbClr val="C00000"/>
                </a:solidFill>
                <a:latin typeface="微软雅黑" panose="020B0503020204020204" charset="-122"/>
                <a:ea typeface="微软雅黑" panose="020B0503020204020204" charset="-122"/>
                <a:sym typeface="+mn-ea"/>
              </a:rPr>
              <a:t>年中国关节模组市场达</a:t>
            </a:r>
            <a:r>
              <a:rPr lang="en-US" altLang="zh-CN" sz="1600" b="1" dirty="0">
                <a:solidFill>
                  <a:srgbClr val="C00000"/>
                </a:solidFill>
                <a:latin typeface="微软雅黑" panose="020B0503020204020204" charset="-122"/>
                <a:ea typeface="微软雅黑" panose="020B0503020204020204" charset="-122"/>
                <a:sym typeface="+mn-ea"/>
              </a:rPr>
              <a:t>500</a:t>
            </a:r>
            <a:r>
              <a:rPr lang="zh-CN" altLang="en-US" sz="1600" b="1" dirty="0">
                <a:solidFill>
                  <a:srgbClr val="C00000"/>
                </a:solidFill>
                <a:latin typeface="微软雅黑" panose="020B0503020204020204" charset="-122"/>
                <a:ea typeface="微软雅黑" panose="020B0503020204020204" charset="-122"/>
                <a:sym typeface="+mn-ea"/>
              </a:rPr>
              <a:t>亿。</a:t>
            </a:r>
            <a:endParaRPr lang="en-US" altLang="zh-CN" sz="1600" b="1" dirty="0">
              <a:solidFill>
                <a:srgbClr val="C00000"/>
              </a:solidFill>
              <a:latin typeface="微软雅黑" panose="020B0503020204020204" charset="-122"/>
              <a:ea typeface="微软雅黑" panose="020B0503020204020204" charset="-122"/>
            </a:endParaRPr>
          </a:p>
          <a:p>
            <a:pPr indent="0" algn="l">
              <a:lnSpc>
                <a:spcPct val="108000"/>
              </a:lnSpc>
            </a:pPr>
            <a:endParaRPr lang="en-US" sz="1600" b="0"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矩形 8"/>
          <p:cNvSpPr/>
          <p:nvPr/>
        </p:nvSpPr>
        <p:spPr>
          <a:xfrm>
            <a:off x="970274" y="2981156"/>
            <a:ext cx="65753" cy="461665"/>
          </a:xfrm>
          <a:prstGeom prst="rect">
            <a:avLst/>
          </a:prstGeom>
          <a:gradFill>
            <a:gsLst>
              <a:gs pos="50000">
                <a:srgbClr val="1F5FBF"/>
              </a:gs>
              <a:gs pos="0">
                <a:srgbClr val="1486CB"/>
              </a:gs>
              <a:gs pos="100000">
                <a:srgbClr val="2A34B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sp>
        <p:nvSpPr>
          <p:cNvPr id="12" name="文本框 11"/>
          <p:cNvSpPr txBox="1"/>
          <p:nvPr/>
        </p:nvSpPr>
        <p:spPr>
          <a:xfrm>
            <a:off x="378925" y="3443165"/>
            <a:ext cx="1257300" cy="460375"/>
          </a:xfrm>
          <a:prstGeom prst="rect">
            <a:avLst/>
          </a:prstGeom>
          <a:noFill/>
        </p:spPr>
        <p:txBody>
          <a:bodyPr wrap="square">
            <a:spAutoFit/>
          </a:bodyPr>
          <a:lstStyle/>
          <a:p>
            <a:pPr algn="ctr"/>
            <a:r>
              <a:rPr lang="en-US" sz="1200" b="1">
                <a:solidFill>
                  <a:schemeClr val="accent1">
                    <a:lumMod val="40000"/>
                    <a:lumOff val="60000"/>
                  </a:schemeClr>
                </a:solidFill>
                <a:latin typeface="Arial" panose="020B0604020202020204"/>
                <a:ea typeface="Arial" panose="020B0604020202020204"/>
                <a:cs typeface="Arial" panose="020B0604020202020204"/>
                <a:sym typeface="Arial" panose="020B0604020202020204"/>
              </a:rPr>
              <a:t>Nanjing Cooling</a:t>
            </a:r>
            <a:endParaRPr lang="zh-CN" altLang="en-US" sz="1200" b="1" dirty="0">
              <a:solidFill>
                <a:schemeClr val="accent1">
                  <a:lumMod val="60000"/>
                  <a:lumOff val="40000"/>
                </a:schemeClr>
              </a:solidFill>
              <a:latin typeface="华文楷体" panose="02010600040101010101" pitchFamily="2" charset="-122"/>
              <a:ea typeface="华文楷体" panose="02010600040101010101" pitchFamily="2" charset="-122"/>
              <a:sym typeface="+mn-ea"/>
            </a:endParaRPr>
          </a:p>
        </p:txBody>
      </p:sp>
      <p:sp>
        <p:nvSpPr>
          <p:cNvPr id="15" name="文本框 14"/>
          <p:cNvSpPr txBox="1"/>
          <p:nvPr/>
        </p:nvSpPr>
        <p:spPr>
          <a:xfrm>
            <a:off x="246973" y="4082588"/>
            <a:ext cx="1576567" cy="645160"/>
          </a:xfrm>
          <a:prstGeom prst="rect">
            <a:avLst/>
          </a:prstGeom>
          <a:noFill/>
        </p:spPr>
        <p:txBody>
          <a:bodyPr wrap="square" rtlCol="0">
            <a:spAutoFit/>
          </a:bodyPr>
          <a:lstStyle/>
          <a:p>
            <a:pPr algn="ctr">
              <a:lnSpc>
                <a:spcPct val="150000"/>
              </a:lnSpc>
            </a:pPr>
            <a:r>
              <a:rPr lang="zh-CN" altLang="en-US" sz="1200" b="1" dirty="0">
                <a:solidFill>
                  <a:schemeClr val="accent1">
                    <a:lumMod val="50000"/>
                  </a:schemeClr>
                </a:solidFill>
                <a:latin typeface="微软雅黑" panose="020B0503020204020204" charset="-122"/>
                <a:ea typeface="微软雅黑" panose="020B0503020204020204" charset="-122"/>
              </a:rPr>
              <a:t>酷灵热管理</a:t>
            </a:r>
            <a:endParaRPr lang="en-US" altLang="zh-CN" sz="1200" b="1" dirty="0">
              <a:solidFill>
                <a:schemeClr val="accent1">
                  <a:lumMod val="50000"/>
                </a:schemeClr>
              </a:solidFill>
              <a:latin typeface="微软雅黑" panose="020B0503020204020204" charset="-122"/>
              <a:ea typeface="微软雅黑" panose="020B0503020204020204" charset="-122"/>
            </a:endParaRPr>
          </a:p>
          <a:p>
            <a:pPr algn="ctr">
              <a:lnSpc>
                <a:spcPct val="150000"/>
              </a:lnSpc>
            </a:pPr>
            <a:r>
              <a:rPr lang="zh-CN" altLang="en-US" sz="1200" b="1" dirty="0">
                <a:solidFill>
                  <a:schemeClr val="accent1">
                    <a:lumMod val="50000"/>
                  </a:schemeClr>
                </a:solidFill>
                <a:latin typeface="微软雅黑" panose="020B0503020204020204" charset="-122"/>
                <a:ea typeface="微软雅黑" panose="020B0503020204020204" charset="-122"/>
              </a:rPr>
              <a:t>为机器人持久赋能</a:t>
            </a:r>
          </a:p>
        </p:txBody>
      </p:sp>
      <p:sp>
        <p:nvSpPr>
          <p:cNvPr id="17" name="文本框 16"/>
          <p:cNvSpPr txBox="1"/>
          <p:nvPr/>
        </p:nvSpPr>
        <p:spPr>
          <a:xfrm>
            <a:off x="192405" y="4820285"/>
            <a:ext cx="1814830" cy="614045"/>
          </a:xfrm>
          <a:prstGeom prst="rect">
            <a:avLst/>
          </a:prstGeom>
          <a:noFill/>
        </p:spPr>
        <p:txBody>
          <a:bodyPr wrap="square">
            <a:spAutoFit/>
          </a:bodyPr>
          <a:lstStyle/>
          <a:p>
            <a:pPr algn="ctr"/>
            <a:endParaRPr lang="zh-CN" altLang="en-US" sz="2000" b="1" dirty="0">
              <a:solidFill>
                <a:schemeClr val="accent1">
                  <a:lumMod val="50000"/>
                </a:schemeClr>
              </a:solidFill>
              <a:latin typeface="华文楷体" panose="02010600040101010101" pitchFamily="2" charset="-122"/>
              <a:ea typeface="华文楷体" panose="02010600040101010101" pitchFamily="2" charset="-122"/>
            </a:endParaRPr>
          </a:p>
          <a:p>
            <a:pPr algn="ctr"/>
            <a:r>
              <a:rPr lang="zh-CN" altLang="en-US" sz="1400" b="1" dirty="0">
                <a:solidFill>
                  <a:schemeClr val="accent1">
                    <a:lumMod val="60000"/>
                    <a:lumOff val="40000"/>
                  </a:schemeClr>
                </a:solidFill>
                <a:latin typeface="华文楷体" panose="02010600040101010101" pitchFamily="2" charset="-122"/>
                <a:ea typeface="华文楷体" panose="02010600040101010101" pitchFamily="2" charset="-122"/>
              </a:rPr>
              <a:t>行业痛点与机遇</a:t>
            </a:r>
          </a:p>
        </p:txBody>
      </p:sp>
      <p:sp>
        <p:nvSpPr>
          <p:cNvPr id="23" name="矩形 22"/>
          <p:cNvSpPr/>
          <p:nvPr/>
        </p:nvSpPr>
        <p:spPr>
          <a:xfrm>
            <a:off x="970222" y="5434594"/>
            <a:ext cx="65753" cy="461665"/>
          </a:xfrm>
          <a:prstGeom prst="rect">
            <a:avLst/>
          </a:prstGeom>
          <a:gradFill>
            <a:gsLst>
              <a:gs pos="50000">
                <a:srgbClr val="1F5FBF"/>
              </a:gs>
              <a:gs pos="0">
                <a:srgbClr val="1486CB"/>
              </a:gs>
              <a:gs pos="100000">
                <a:srgbClr val="2A34B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6"/>
          <p:cNvPicPr>
            <a:picLocks noChangeAspect="1"/>
          </p:cNvPicPr>
          <p:nvPr/>
        </p:nvPicPr>
        <p:blipFill>
          <a:blip r:embed="rId6"/>
          <a:stretch>
            <a:fillRect/>
          </a:stretch>
        </p:blipFill>
        <p:spPr>
          <a:xfrm rot="21600000">
            <a:off x="0" y="6576693"/>
            <a:ext cx="12192000" cy="271779"/>
          </a:xfrm>
          <a:prstGeom prst="rect">
            <a:avLst/>
          </a:prstGeom>
        </p:spPr>
      </p:pic>
      <p:sp>
        <p:nvSpPr>
          <p:cNvPr id="70" name="textbox 70"/>
          <p:cNvSpPr/>
          <p:nvPr/>
        </p:nvSpPr>
        <p:spPr>
          <a:xfrm>
            <a:off x="1636628" y="455178"/>
            <a:ext cx="2599689" cy="507365"/>
          </a:xfrm>
          <a:prstGeom prst="rect">
            <a:avLst/>
          </a:prstGeom>
          <a:noFill/>
          <a:ln w="0" cap="flat">
            <a:noFill/>
            <a:prstDash val="solid"/>
            <a:miter lim="0"/>
          </a:ln>
        </p:spPr>
        <p:txBody>
          <a:bodyPr vert="horz" wrap="square" lIns="0" tIns="0" rIns="0" bIns="0"/>
          <a:lstStyle/>
          <a:p>
            <a:pPr algn="l" rtl="0" eaLnBrk="0">
              <a:lnSpc>
                <a:spcPct val="93000"/>
              </a:lnSpc>
            </a:pPr>
            <a:endParaRPr sz="1000" dirty="0">
              <a:latin typeface="微软雅黑" panose="020B0503020204020204" charset="-122"/>
              <a:ea typeface="微软雅黑" panose="020B0503020204020204" charset="-122"/>
              <a:cs typeface="微软雅黑" panose="020B0503020204020204" charset="-122"/>
            </a:endParaRPr>
          </a:p>
        </p:txBody>
      </p:sp>
      <p:sp>
        <p:nvSpPr>
          <p:cNvPr id="74" name="path 74"/>
          <p:cNvSpPr/>
          <p:nvPr/>
        </p:nvSpPr>
        <p:spPr>
          <a:xfrm>
            <a:off x="348614" y="354965"/>
            <a:ext cx="540385" cy="137794"/>
          </a:xfrm>
          <a:custGeom>
            <a:avLst/>
            <a:gdLst/>
            <a:ahLst/>
            <a:cxnLst/>
            <a:rect l="0" t="0" r="0" b="0"/>
            <a:pathLst>
              <a:path w="851" h="216">
                <a:moveTo>
                  <a:pt x="0" y="216"/>
                </a:moveTo>
                <a:lnTo>
                  <a:pt x="217" y="216"/>
                </a:lnTo>
                <a:lnTo>
                  <a:pt x="217" y="0"/>
                </a:lnTo>
                <a:lnTo>
                  <a:pt x="0" y="0"/>
                </a:lnTo>
                <a:lnTo>
                  <a:pt x="0" y="216"/>
                </a:lnTo>
                <a:close/>
              </a:path>
              <a:path w="851" h="216">
                <a:moveTo>
                  <a:pt x="317" y="216"/>
                </a:moveTo>
                <a:lnTo>
                  <a:pt x="534" y="216"/>
                </a:lnTo>
                <a:lnTo>
                  <a:pt x="534" y="0"/>
                </a:lnTo>
                <a:lnTo>
                  <a:pt x="317" y="0"/>
                </a:lnTo>
                <a:lnTo>
                  <a:pt x="317" y="216"/>
                </a:lnTo>
                <a:close/>
              </a:path>
              <a:path w="851" h="216">
                <a:moveTo>
                  <a:pt x="633" y="216"/>
                </a:moveTo>
                <a:lnTo>
                  <a:pt x="851" y="216"/>
                </a:lnTo>
                <a:lnTo>
                  <a:pt x="851" y="0"/>
                </a:lnTo>
                <a:lnTo>
                  <a:pt x="633" y="0"/>
                </a:lnTo>
                <a:lnTo>
                  <a:pt x="633"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2" name="path 82"/>
          <p:cNvSpPr/>
          <p:nvPr/>
        </p:nvSpPr>
        <p:spPr>
          <a:xfrm>
            <a:off x="348614" y="567054"/>
            <a:ext cx="339090" cy="349885"/>
          </a:xfrm>
          <a:custGeom>
            <a:avLst/>
            <a:gdLst/>
            <a:ahLst/>
            <a:cxnLst/>
            <a:rect l="0" t="0" r="0" b="0"/>
            <a:pathLst>
              <a:path w="534" h="551">
                <a:moveTo>
                  <a:pt x="0" y="217"/>
                </a:moveTo>
                <a:lnTo>
                  <a:pt x="217" y="217"/>
                </a:lnTo>
                <a:lnTo>
                  <a:pt x="217" y="0"/>
                </a:lnTo>
                <a:lnTo>
                  <a:pt x="0" y="0"/>
                </a:lnTo>
                <a:lnTo>
                  <a:pt x="0" y="217"/>
                </a:lnTo>
                <a:close/>
              </a:path>
              <a:path w="534" h="551">
                <a:moveTo>
                  <a:pt x="317" y="217"/>
                </a:moveTo>
                <a:lnTo>
                  <a:pt x="534" y="217"/>
                </a:lnTo>
                <a:lnTo>
                  <a:pt x="534" y="0"/>
                </a:lnTo>
                <a:lnTo>
                  <a:pt x="317" y="0"/>
                </a:lnTo>
                <a:lnTo>
                  <a:pt x="317" y="217"/>
                </a:lnTo>
                <a:close/>
              </a:path>
              <a:path w="534" h="551">
                <a:moveTo>
                  <a:pt x="0" y="551"/>
                </a:moveTo>
                <a:lnTo>
                  <a:pt x="217" y="551"/>
                </a:lnTo>
                <a:lnTo>
                  <a:pt x="217" y="334"/>
                </a:lnTo>
                <a:lnTo>
                  <a:pt x="0" y="334"/>
                </a:lnTo>
                <a:lnTo>
                  <a:pt x="0" y="551"/>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4" name="path 84"/>
          <p:cNvSpPr/>
          <p:nvPr/>
        </p:nvSpPr>
        <p:spPr>
          <a:xfrm>
            <a:off x="348614" y="142875"/>
            <a:ext cx="741680" cy="137794"/>
          </a:xfrm>
          <a:custGeom>
            <a:avLst/>
            <a:gdLst/>
            <a:ahLst/>
            <a:cxnLst/>
            <a:rect l="0" t="0" r="0" b="0"/>
            <a:pathLst>
              <a:path w="1168" h="216">
                <a:moveTo>
                  <a:pt x="0" y="216"/>
                </a:moveTo>
                <a:lnTo>
                  <a:pt x="217" y="216"/>
                </a:lnTo>
                <a:lnTo>
                  <a:pt x="217" y="0"/>
                </a:lnTo>
                <a:lnTo>
                  <a:pt x="0" y="0"/>
                </a:lnTo>
                <a:lnTo>
                  <a:pt x="0" y="216"/>
                </a:lnTo>
                <a:close/>
              </a:path>
              <a:path w="1168" h="216">
                <a:moveTo>
                  <a:pt x="317" y="216"/>
                </a:moveTo>
                <a:lnTo>
                  <a:pt x="534" y="216"/>
                </a:lnTo>
                <a:lnTo>
                  <a:pt x="534" y="0"/>
                </a:lnTo>
                <a:lnTo>
                  <a:pt x="317" y="0"/>
                </a:lnTo>
                <a:lnTo>
                  <a:pt x="317" y="216"/>
                </a:lnTo>
                <a:close/>
              </a:path>
              <a:path w="1168" h="216">
                <a:moveTo>
                  <a:pt x="633" y="216"/>
                </a:moveTo>
                <a:lnTo>
                  <a:pt x="851" y="216"/>
                </a:lnTo>
                <a:lnTo>
                  <a:pt x="851" y="0"/>
                </a:lnTo>
                <a:lnTo>
                  <a:pt x="633" y="0"/>
                </a:lnTo>
                <a:lnTo>
                  <a:pt x="633" y="216"/>
                </a:lnTo>
                <a:close/>
              </a:path>
              <a:path w="1168" h="216">
                <a:moveTo>
                  <a:pt x="951" y="216"/>
                </a:moveTo>
                <a:lnTo>
                  <a:pt x="1168" y="216"/>
                </a:lnTo>
                <a:lnTo>
                  <a:pt x="1168" y="0"/>
                </a:lnTo>
                <a:lnTo>
                  <a:pt x="951" y="0"/>
                </a:lnTo>
                <a:lnTo>
                  <a:pt x="951"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6" name="path 86"/>
          <p:cNvSpPr/>
          <p:nvPr/>
        </p:nvSpPr>
        <p:spPr>
          <a:xfrm>
            <a:off x="688340" y="955040"/>
            <a:ext cx="10786745" cy="76200"/>
          </a:xfrm>
          <a:custGeom>
            <a:avLst/>
            <a:gdLst/>
            <a:ahLst/>
            <a:cxnLst/>
            <a:rect l="0" t="0" r="0" b="0"/>
            <a:pathLst>
              <a:path w="15485" h="10">
                <a:moveTo>
                  <a:pt x="0" y="5"/>
                </a:moveTo>
                <a:lnTo>
                  <a:pt x="15485" y="5"/>
                </a:lnTo>
              </a:path>
            </a:pathLst>
          </a:custGeom>
          <a:noFill/>
          <a:ln w="6350" cap="flat">
            <a:solidFill>
              <a:srgbClr val="D9D9D9"/>
            </a:solidFill>
            <a:prstDash val="solid"/>
            <a:miter lim="1000000"/>
          </a:ln>
        </p:spPr>
        <p:txBody>
          <a:bodyPr rtlCol="0"/>
          <a:lstStyle/>
          <a:p>
            <a:pPr algn="ctr"/>
            <a:endParaRPr lang="zh-CN" altLang="en-US"/>
          </a:p>
        </p:txBody>
      </p:sp>
      <p:sp>
        <p:nvSpPr>
          <p:cNvPr id="88" name="rect 88"/>
          <p:cNvSpPr/>
          <p:nvPr/>
        </p:nvSpPr>
        <p:spPr>
          <a:xfrm>
            <a:off x="147320" y="56705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0" name="rect 90"/>
          <p:cNvSpPr/>
          <p:nvPr/>
        </p:nvSpPr>
        <p:spPr>
          <a:xfrm>
            <a:off x="147320" y="779145"/>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2" name="rect 92"/>
          <p:cNvSpPr/>
          <p:nvPr/>
        </p:nvSpPr>
        <p:spPr>
          <a:xfrm>
            <a:off x="147320" y="99123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4" name="rect 94"/>
          <p:cNvSpPr/>
          <p:nvPr/>
        </p:nvSpPr>
        <p:spPr>
          <a:xfrm>
            <a:off x="147320" y="14287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6" name="rect 96"/>
          <p:cNvSpPr/>
          <p:nvPr/>
        </p:nvSpPr>
        <p:spPr>
          <a:xfrm>
            <a:off x="147320" y="35496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pic>
        <p:nvPicPr>
          <p:cNvPr id="2" name="图片 1"/>
          <p:cNvPicPr>
            <a:picLocks noChangeAspect="1"/>
          </p:cNvPicPr>
          <p:nvPr/>
        </p:nvPicPr>
        <p:blipFill>
          <a:blip r:embed="rId7"/>
          <a:stretch>
            <a:fillRect/>
          </a:stretch>
        </p:blipFill>
        <p:spPr>
          <a:xfrm>
            <a:off x="10428563" y="68429"/>
            <a:ext cx="1354271" cy="781170"/>
          </a:xfrm>
          <a:prstGeom prst="rect">
            <a:avLst/>
          </a:prstGeom>
        </p:spPr>
      </p:pic>
      <p:sp>
        <p:nvSpPr>
          <p:cNvPr id="3" name="textbox 60"/>
          <p:cNvSpPr/>
          <p:nvPr/>
        </p:nvSpPr>
        <p:spPr>
          <a:xfrm>
            <a:off x="688022" y="3017728"/>
            <a:ext cx="10637203" cy="3795845"/>
          </a:xfrm>
          <a:prstGeom prst="rect">
            <a:avLst/>
          </a:prstGeom>
          <a:noFill/>
          <a:ln w="0" cap="flat">
            <a:noFill/>
            <a:prstDash val="solid"/>
            <a:miter lim="0"/>
          </a:ln>
        </p:spPr>
        <p:txBody>
          <a:bodyPr vert="horz" wrap="square" lIns="0" tIns="0" rIns="0" bIns="0"/>
          <a:lstStyle/>
          <a:p>
            <a:pPr algn="l" rtl="0" eaLnBrk="0">
              <a:lnSpc>
                <a:spcPct val="150000"/>
              </a:lnSpc>
            </a:pPr>
            <a:endParaRPr sz="100" dirty="0">
              <a:latin typeface="Arial" panose="020B0604020202020204"/>
              <a:ea typeface="Arial" panose="020B0604020202020204"/>
              <a:cs typeface="Arial" panose="020B0604020202020204"/>
            </a:endParaRPr>
          </a:p>
          <a:p>
            <a:pPr marL="17145" algn="l" rtl="0" eaLnBrk="0">
              <a:lnSpc>
                <a:spcPct val="150000"/>
              </a:lnSpc>
              <a:spcBef>
                <a:spcPts val="600"/>
              </a:spcBef>
              <a:spcAft>
                <a:spcPts val="600"/>
              </a:spcAft>
            </a:pPr>
            <a:endParaRPr lang="zh-CN" altLang="en-US" kern="0" spc="90" dirty="0">
              <a:solidFill>
                <a:srgbClr val="595959">
                  <a:alpha val="100000"/>
                </a:srgbClr>
              </a:solidFill>
              <a:latin typeface="微软雅黑" panose="020B0503020204020204" charset="-122"/>
              <a:ea typeface="微软雅黑" panose="020B0503020204020204" charset="-122"/>
              <a:cs typeface="微软雅黑" panose="020B0503020204020204" charset="-122"/>
            </a:endParaRPr>
          </a:p>
        </p:txBody>
      </p:sp>
      <p:sp>
        <p:nvSpPr>
          <p:cNvPr id="6" name="矩形 5"/>
          <p:cNvSpPr/>
          <p:nvPr/>
        </p:nvSpPr>
        <p:spPr>
          <a:xfrm>
            <a:off x="890270" y="354965"/>
            <a:ext cx="746125" cy="387985"/>
          </a:xfrm>
          <a:prstGeom prst="rect">
            <a:avLst/>
          </a:prstGeom>
          <a:noFill/>
          <a:ln>
            <a:noFill/>
          </a:ln>
        </p:spPr>
        <p:txBody>
          <a:bodyPr wrap="none" rtlCol="0" anchor="t">
            <a:noAutofit/>
          </a:bodyPr>
          <a:lstStyle/>
          <a:p>
            <a:pPr algn="ctr"/>
            <a:endParaRPr lang="en-US" altLang="zh-CN" sz="4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8" name="文本框 7"/>
          <p:cNvSpPr txBox="1"/>
          <p:nvPr/>
        </p:nvSpPr>
        <p:spPr>
          <a:xfrm>
            <a:off x="837565" y="433070"/>
            <a:ext cx="6096000" cy="521970"/>
          </a:xfrm>
          <a:prstGeom prst="rect">
            <a:avLst/>
          </a:prstGeom>
          <a:noFill/>
        </p:spPr>
        <p:txBody>
          <a:bodyPr wrap="square" rtlCol="0" anchor="t">
            <a:spAutoFit/>
          </a:bodyPr>
          <a:lstStyle/>
          <a:p>
            <a:r>
              <a:rPr lang="zh-CN" altLang="en-US" sz="2800" b="1" kern="0" noProof="0" dirty="0">
                <a:ln>
                  <a:noFill/>
                </a:ln>
                <a:solidFill>
                  <a:srgbClr val="0070C0"/>
                </a:solidFill>
                <a:effectLst/>
                <a:uLnTx/>
                <a:uFillTx/>
                <a:latin typeface="微软雅黑" panose="020B0503020204020204" charset="-122"/>
                <a:ea typeface="微软雅黑" panose="020B0503020204020204" charset="-122"/>
                <a:sym typeface="+mn-ea"/>
              </a:rPr>
              <a:t>当前机器人关节模组存在的问题</a:t>
            </a:r>
          </a:p>
        </p:txBody>
      </p:sp>
      <p:sp>
        <p:nvSpPr>
          <p:cNvPr id="72" name="path 72"/>
          <p:cNvSpPr/>
          <p:nvPr/>
        </p:nvSpPr>
        <p:spPr>
          <a:xfrm>
            <a:off x="11398249" y="6043294"/>
            <a:ext cx="741679" cy="774064"/>
          </a:xfrm>
          <a:custGeom>
            <a:avLst/>
            <a:gdLst/>
            <a:ahLst/>
            <a:cxnLst/>
            <a:rect l="0" t="0" r="0" b="0"/>
            <a:pathLst>
              <a:path w="1167" h="1218">
                <a:moveTo>
                  <a:pt x="950" y="1218"/>
                </a:moveTo>
                <a:lnTo>
                  <a:pt x="1167" y="1218"/>
                </a:lnTo>
                <a:lnTo>
                  <a:pt x="1167" y="1001"/>
                </a:lnTo>
                <a:lnTo>
                  <a:pt x="950" y="1001"/>
                </a:lnTo>
                <a:lnTo>
                  <a:pt x="950" y="1218"/>
                </a:lnTo>
                <a:close/>
              </a:path>
              <a:path w="1167" h="1218">
                <a:moveTo>
                  <a:pt x="634" y="1218"/>
                </a:moveTo>
                <a:lnTo>
                  <a:pt x="850" y="1218"/>
                </a:lnTo>
                <a:lnTo>
                  <a:pt x="850" y="1001"/>
                </a:lnTo>
                <a:lnTo>
                  <a:pt x="634" y="1001"/>
                </a:lnTo>
                <a:lnTo>
                  <a:pt x="634" y="1218"/>
                </a:lnTo>
                <a:close/>
              </a:path>
              <a:path w="1167" h="1218">
                <a:moveTo>
                  <a:pt x="317" y="1218"/>
                </a:moveTo>
                <a:lnTo>
                  <a:pt x="534" y="1218"/>
                </a:lnTo>
                <a:lnTo>
                  <a:pt x="534" y="1001"/>
                </a:lnTo>
                <a:lnTo>
                  <a:pt x="317" y="1001"/>
                </a:lnTo>
                <a:lnTo>
                  <a:pt x="317" y="1218"/>
                </a:lnTo>
                <a:close/>
              </a:path>
              <a:path w="1167" h="1218">
                <a:moveTo>
                  <a:pt x="0" y="1218"/>
                </a:moveTo>
                <a:lnTo>
                  <a:pt x="216" y="1218"/>
                </a:lnTo>
                <a:lnTo>
                  <a:pt x="216" y="1001"/>
                </a:lnTo>
                <a:lnTo>
                  <a:pt x="0" y="1001"/>
                </a:lnTo>
                <a:lnTo>
                  <a:pt x="0" y="1218"/>
                </a:lnTo>
                <a:close/>
              </a:path>
              <a:path w="1167" h="1218">
                <a:moveTo>
                  <a:pt x="950" y="884"/>
                </a:moveTo>
                <a:lnTo>
                  <a:pt x="1167" y="884"/>
                </a:lnTo>
                <a:lnTo>
                  <a:pt x="1167" y="667"/>
                </a:lnTo>
                <a:lnTo>
                  <a:pt x="950" y="667"/>
                </a:lnTo>
                <a:lnTo>
                  <a:pt x="950" y="884"/>
                </a:lnTo>
                <a:close/>
              </a:path>
              <a:path w="1167" h="1218">
                <a:moveTo>
                  <a:pt x="634" y="884"/>
                </a:moveTo>
                <a:lnTo>
                  <a:pt x="850" y="884"/>
                </a:lnTo>
                <a:lnTo>
                  <a:pt x="850" y="667"/>
                </a:lnTo>
                <a:lnTo>
                  <a:pt x="634" y="667"/>
                </a:lnTo>
                <a:lnTo>
                  <a:pt x="634" y="884"/>
                </a:lnTo>
                <a:close/>
              </a:path>
              <a:path w="1167" h="1218">
                <a:moveTo>
                  <a:pt x="317" y="884"/>
                </a:moveTo>
                <a:lnTo>
                  <a:pt x="534" y="884"/>
                </a:lnTo>
                <a:lnTo>
                  <a:pt x="534" y="667"/>
                </a:lnTo>
                <a:lnTo>
                  <a:pt x="317" y="667"/>
                </a:lnTo>
                <a:lnTo>
                  <a:pt x="317" y="884"/>
                </a:lnTo>
                <a:close/>
              </a:path>
              <a:path w="1167" h="1218">
                <a:moveTo>
                  <a:pt x="950" y="550"/>
                </a:moveTo>
                <a:lnTo>
                  <a:pt x="1167" y="550"/>
                </a:lnTo>
                <a:lnTo>
                  <a:pt x="1167" y="333"/>
                </a:lnTo>
                <a:lnTo>
                  <a:pt x="950" y="333"/>
                </a:lnTo>
                <a:lnTo>
                  <a:pt x="950" y="550"/>
                </a:lnTo>
                <a:close/>
              </a:path>
              <a:path w="1167" h="1218">
                <a:moveTo>
                  <a:pt x="634" y="550"/>
                </a:moveTo>
                <a:lnTo>
                  <a:pt x="850" y="550"/>
                </a:lnTo>
                <a:lnTo>
                  <a:pt x="850" y="333"/>
                </a:lnTo>
                <a:lnTo>
                  <a:pt x="634" y="333"/>
                </a:lnTo>
                <a:lnTo>
                  <a:pt x="634" y="550"/>
                </a:lnTo>
                <a:close/>
              </a:path>
              <a:path w="1167" h="1218">
                <a:moveTo>
                  <a:pt x="950" y="216"/>
                </a:moveTo>
                <a:lnTo>
                  <a:pt x="1167" y="216"/>
                </a:lnTo>
                <a:lnTo>
                  <a:pt x="1167" y="0"/>
                </a:lnTo>
                <a:lnTo>
                  <a:pt x="950" y="0"/>
                </a:lnTo>
                <a:lnTo>
                  <a:pt x="950"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7" name="文本框 6"/>
          <p:cNvSpPr txBox="1"/>
          <p:nvPr/>
        </p:nvSpPr>
        <p:spPr>
          <a:xfrm>
            <a:off x="1382669" y="5479276"/>
            <a:ext cx="5177806" cy="583565"/>
          </a:xfrm>
          <a:prstGeom prst="rect">
            <a:avLst/>
          </a:prstGeom>
          <a:noFill/>
        </p:spPr>
        <p:txBody>
          <a:bodyPr wrap="square">
            <a:spAutoFit/>
          </a:bodyPr>
          <a:lstStyle/>
          <a:p>
            <a:r>
              <a:rPr lang="en-US" altLang="zh-CN" sz="1600" b="1" dirty="0">
                <a:solidFill>
                  <a:srgbClr val="C00000"/>
                </a:solidFill>
                <a:latin typeface="微软雅黑" panose="020B0503020204020204" charset="-122"/>
                <a:ea typeface="微软雅黑" panose="020B0503020204020204" charset="-122"/>
              </a:rPr>
              <a:t>2026</a:t>
            </a:r>
            <a:r>
              <a:rPr lang="zh-CN" altLang="en-US" sz="1600" b="1" dirty="0">
                <a:solidFill>
                  <a:srgbClr val="C00000"/>
                </a:solidFill>
                <a:latin typeface="微软雅黑" panose="020B0503020204020204" charset="-122"/>
                <a:ea typeface="微软雅黑" panose="020B0503020204020204" charset="-122"/>
              </a:rPr>
              <a:t>年</a:t>
            </a:r>
            <a:r>
              <a:rPr lang="en-US" altLang="zh-CN" sz="1600" b="1" dirty="0">
                <a:solidFill>
                  <a:srgbClr val="C00000"/>
                </a:solidFill>
                <a:latin typeface="微软雅黑" panose="020B0503020204020204" charset="-122"/>
                <a:ea typeface="微软雅黑" panose="020B0503020204020204" charset="-122"/>
              </a:rPr>
              <a:t>4</a:t>
            </a:r>
            <a:r>
              <a:rPr lang="zh-CN" altLang="zh-CN" sz="1600" b="1" dirty="0">
                <a:solidFill>
                  <a:srgbClr val="C00000"/>
                </a:solidFill>
                <a:latin typeface="微软雅黑" panose="020B0503020204020204" charset="-122"/>
                <a:ea typeface="微软雅黑" panose="020B0503020204020204" charset="-122"/>
              </a:rPr>
              <a:t>月北京人形机器人半程马拉松现场</a:t>
            </a:r>
            <a:r>
              <a:rPr lang="zh-CN" altLang="en-US" sz="1600" b="1" dirty="0">
                <a:solidFill>
                  <a:srgbClr val="C00000"/>
                </a:solidFill>
                <a:latin typeface="微软雅黑" panose="020B0503020204020204" charset="-122"/>
                <a:ea typeface="微软雅黑" panose="020B0503020204020204" charset="-122"/>
              </a:rPr>
              <a:t>，由于</a:t>
            </a:r>
          </a:p>
          <a:p>
            <a:r>
              <a:rPr lang="zh-CN" altLang="en-US" sz="1600" b="1" dirty="0">
                <a:solidFill>
                  <a:srgbClr val="C00000"/>
                </a:solidFill>
                <a:latin typeface="微软雅黑" panose="020B0503020204020204" charset="-122"/>
                <a:ea typeface="微软雅黑" panose="020B0503020204020204" charset="-122"/>
              </a:rPr>
              <a:t>关节模组过热需要定期喷冷却液对关节电机降温。</a:t>
            </a:r>
          </a:p>
        </p:txBody>
      </p:sp>
      <p:graphicFrame>
        <p:nvGraphicFramePr>
          <p:cNvPr id="10" name="图示 9"/>
          <p:cNvGraphicFramePr>
            <a:graphicFrameLocks noChangeAspect="1"/>
          </p:cNvGraphicFramePr>
          <p:nvPr/>
        </p:nvGraphicFramePr>
        <p:xfrm>
          <a:off x="2947035" y="1694180"/>
          <a:ext cx="6118860" cy="367792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0" name="文本框 19"/>
          <p:cNvSpPr txBox="1"/>
          <p:nvPr/>
        </p:nvSpPr>
        <p:spPr>
          <a:xfrm>
            <a:off x="8309311" y="5498326"/>
            <a:ext cx="3524665" cy="646331"/>
          </a:xfrm>
          <a:prstGeom prst="rect">
            <a:avLst/>
          </a:prstGeom>
          <a:noFill/>
        </p:spPr>
        <p:txBody>
          <a:bodyPr wrap="square">
            <a:spAutoFit/>
          </a:bodyPr>
          <a:lstStyle/>
          <a:p>
            <a:r>
              <a:rPr lang="zh-CN" altLang="en-US" b="1" dirty="0">
                <a:solidFill>
                  <a:srgbClr val="C00000"/>
                </a:solidFill>
                <a:latin typeface="微软雅黑" panose="020B0503020204020204" charset="-122"/>
                <a:ea typeface="微软雅黑" panose="020B0503020204020204" charset="-122"/>
              </a:rPr>
              <a:t>力矩密度不足，机器人在搬运过程中导致重物脱落</a:t>
            </a:r>
          </a:p>
        </p:txBody>
      </p:sp>
      <p:pic>
        <p:nvPicPr>
          <p:cNvPr id="21" name="55df8c831d4604d11a7ab33e7dbef7e3_raw">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13"/>
          <a:stretch>
            <a:fillRect/>
          </a:stretch>
        </p:blipFill>
        <p:spPr>
          <a:xfrm>
            <a:off x="8581390" y="1059180"/>
            <a:ext cx="2480945" cy="4411345"/>
          </a:xfrm>
          <a:prstGeom prst="rect">
            <a:avLst/>
          </a:prstGeom>
        </p:spPr>
      </p:pic>
      <p:pic>
        <p:nvPicPr>
          <p:cNvPr id="11" name="机器人过热视频2">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14"/>
          <a:stretch>
            <a:fillRect/>
          </a:stretch>
        </p:blipFill>
        <p:spPr>
          <a:xfrm>
            <a:off x="1876425" y="1050290"/>
            <a:ext cx="2478405" cy="4410075"/>
          </a:xfrm>
          <a:prstGeom prst="rect">
            <a:avLst/>
          </a:prstGeom>
        </p:spPr>
      </p:pic>
      <p:sp>
        <p:nvSpPr>
          <p:cNvPr id="4" name="矩形 3"/>
          <p:cNvSpPr/>
          <p:nvPr/>
        </p:nvSpPr>
        <p:spPr>
          <a:xfrm>
            <a:off x="970274" y="2981156"/>
            <a:ext cx="65753" cy="461665"/>
          </a:xfrm>
          <a:prstGeom prst="rect">
            <a:avLst/>
          </a:prstGeom>
          <a:gradFill>
            <a:gsLst>
              <a:gs pos="50000">
                <a:srgbClr val="1F5FBF"/>
              </a:gs>
              <a:gs pos="0">
                <a:srgbClr val="1486CB"/>
              </a:gs>
              <a:gs pos="100000">
                <a:srgbClr val="2A34B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sp>
        <p:nvSpPr>
          <p:cNvPr id="5" name="文本框 4"/>
          <p:cNvSpPr txBox="1"/>
          <p:nvPr/>
        </p:nvSpPr>
        <p:spPr>
          <a:xfrm>
            <a:off x="378925" y="3443165"/>
            <a:ext cx="1257300" cy="460375"/>
          </a:xfrm>
          <a:prstGeom prst="rect">
            <a:avLst/>
          </a:prstGeom>
          <a:noFill/>
        </p:spPr>
        <p:txBody>
          <a:bodyPr wrap="square">
            <a:spAutoFit/>
          </a:bodyPr>
          <a:lstStyle/>
          <a:p>
            <a:pPr algn="ctr"/>
            <a:r>
              <a:rPr lang="en-US" sz="1200" b="1">
                <a:solidFill>
                  <a:schemeClr val="accent1">
                    <a:lumMod val="40000"/>
                    <a:lumOff val="60000"/>
                  </a:schemeClr>
                </a:solidFill>
                <a:latin typeface="Arial" panose="020B0604020202020204"/>
                <a:ea typeface="Arial" panose="020B0604020202020204"/>
                <a:cs typeface="Arial" panose="020B0604020202020204"/>
                <a:sym typeface="Arial" panose="020B0604020202020204"/>
              </a:rPr>
              <a:t>Nanjing Cooling</a:t>
            </a:r>
            <a:endParaRPr lang="zh-CN" altLang="en-US" sz="1200" b="1" dirty="0">
              <a:solidFill>
                <a:schemeClr val="accent1">
                  <a:lumMod val="60000"/>
                  <a:lumOff val="40000"/>
                </a:schemeClr>
              </a:solidFill>
              <a:latin typeface="华文楷体" panose="02010600040101010101" pitchFamily="2" charset="-122"/>
              <a:ea typeface="华文楷体" panose="02010600040101010101" pitchFamily="2" charset="-122"/>
              <a:sym typeface="+mn-ea"/>
            </a:endParaRPr>
          </a:p>
        </p:txBody>
      </p:sp>
      <p:sp>
        <p:nvSpPr>
          <p:cNvPr id="13" name="文本框 12"/>
          <p:cNvSpPr txBox="1"/>
          <p:nvPr/>
        </p:nvSpPr>
        <p:spPr>
          <a:xfrm>
            <a:off x="246973" y="4082588"/>
            <a:ext cx="1576567" cy="645160"/>
          </a:xfrm>
          <a:prstGeom prst="rect">
            <a:avLst/>
          </a:prstGeom>
          <a:noFill/>
        </p:spPr>
        <p:txBody>
          <a:bodyPr wrap="square" rtlCol="0">
            <a:spAutoFit/>
          </a:bodyPr>
          <a:lstStyle/>
          <a:p>
            <a:pPr algn="ctr">
              <a:lnSpc>
                <a:spcPct val="150000"/>
              </a:lnSpc>
            </a:pPr>
            <a:r>
              <a:rPr lang="zh-CN" altLang="en-US" sz="1200" b="1" dirty="0">
                <a:solidFill>
                  <a:schemeClr val="accent1">
                    <a:lumMod val="50000"/>
                  </a:schemeClr>
                </a:solidFill>
                <a:latin typeface="微软雅黑" panose="020B0503020204020204" charset="-122"/>
                <a:ea typeface="微软雅黑" panose="020B0503020204020204" charset="-122"/>
              </a:rPr>
              <a:t>酷灵热管理</a:t>
            </a:r>
            <a:endParaRPr lang="en-US" altLang="zh-CN" sz="1200" b="1" dirty="0">
              <a:solidFill>
                <a:schemeClr val="accent1">
                  <a:lumMod val="50000"/>
                </a:schemeClr>
              </a:solidFill>
              <a:latin typeface="微软雅黑" panose="020B0503020204020204" charset="-122"/>
              <a:ea typeface="微软雅黑" panose="020B0503020204020204" charset="-122"/>
            </a:endParaRPr>
          </a:p>
          <a:p>
            <a:pPr algn="ctr">
              <a:lnSpc>
                <a:spcPct val="150000"/>
              </a:lnSpc>
            </a:pPr>
            <a:r>
              <a:rPr lang="zh-CN" altLang="en-US" sz="1200" b="1" dirty="0">
                <a:solidFill>
                  <a:schemeClr val="accent1">
                    <a:lumMod val="50000"/>
                  </a:schemeClr>
                </a:solidFill>
                <a:latin typeface="微软雅黑" panose="020B0503020204020204" charset="-122"/>
                <a:ea typeface="微软雅黑" panose="020B0503020204020204" charset="-122"/>
              </a:rPr>
              <a:t>为机器人持久赋能</a:t>
            </a:r>
          </a:p>
        </p:txBody>
      </p:sp>
      <p:sp>
        <p:nvSpPr>
          <p:cNvPr id="16" name="文本框 15"/>
          <p:cNvSpPr txBox="1"/>
          <p:nvPr/>
        </p:nvSpPr>
        <p:spPr>
          <a:xfrm>
            <a:off x="192405" y="4820285"/>
            <a:ext cx="1814830" cy="614045"/>
          </a:xfrm>
          <a:prstGeom prst="rect">
            <a:avLst/>
          </a:prstGeom>
          <a:noFill/>
        </p:spPr>
        <p:txBody>
          <a:bodyPr wrap="square">
            <a:spAutoFit/>
          </a:bodyPr>
          <a:lstStyle/>
          <a:p>
            <a:pPr algn="ctr"/>
            <a:endParaRPr lang="zh-CN" altLang="en-US" sz="2000" b="1" dirty="0">
              <a:solidFill>
                <a:schemeClr val="accent1">
                  <a:lumMod val="50000"/>
                </a:schemeClr>
              </a:solidFill>
              <a:latin typeface="华文楷体" panose="02010600040101010101" pitchFamily="2" charset="-122"/>
              <a:ea typeface="华文楷体" panose="02010600040101010101" pitchFamily="2" charset="-122"/>
            </a:endParaRPr>
          </a:p>
          <a:p>
            <a:pPr algn="ctr"/>
            <a:r>
              <a:rPr lang="zh-CN" altLang="en-US" sz="1400" b="1" dirty="0">
                <a:solidFill>
                  <a:schemeClr val="accent1">
                    <a:lumMod val="60000"/>
                    <a:lumOff val="40000"/>
                  </a:schemeClr>
                </a:solidFill>
                <a:latin typeface="华文楷体" panose="02010600040101010101" pitchFamily="2" charset="-122"/>
                <a:ea typeface="华文楷体" panose="02010600040101010101" pitchFamily="2" charset="-122"/>
              </a:rPr>
              <a:t>行业痛点与机遇</a:t>
            </a:r>
          </a:p>
        </p:txBody>
      </p:sp>
      <p:sp>
        <p:nvSpPr>
          <p:cNvPr id="22" name="矩形 21"/>
          <p:cNvSpPr/>
          <p:nvPr/>
        </p:nvSpPr>
        <p:spPr>
          <a:xfrm>
            <a:off x="970222" y="5434594"/>
            <a:ext cx="65753" cy="461665"/>
          </a:xfrm>
          <a:prstGeom prst="rect">
            <a:avLst/>
          </a:prstGeom>
          <a:gradFill>
            <a:gsLst>
              <a:gs pos="50000">
                <a:srgbClr val="1F5FBF"/>
              </a:gs>
              <a:gs pos="0">
                <a:srgbClr val="1486CB"/>
              </a:gs>
              <a:gs pos="100000">
                <a:srgbClr val="2A34B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1478" fill="hold"/>
                                        <p:tgtEl>
                                          <p:spTgt spid="11"/>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27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11" restart="whenNotActive" fill="hold" evtFilter="cancelBubble" nodeType="interactiveSeq">
                <p:stCondLst>
                  <p:cond evt="onClick" delay="0">
                    <p:tgtEl>
                      <p:spTgt spid="21"/>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21"/>
                                        </p:tgtEl>
                                      </p:cBhvr>
                                    </p:cmd>
                                  </p:childTnLst>
                                </p:cTn>
                              </p:par>
                            </p:childTnLst>
                          </p:cTn>
                        </p:par>
                      </p:childTnLst>
                    </p:cTn>
                  </p:par>
                </p:childTnLst>
              </p:cTn>
              <p:nextCondLst>
                <p:cond evt="onClick" delay="0">
                  <p:tgtEl>
                    <p:spTgt spid="21"/>
                  </p:tgtEl>
                </p:cond>
              </p:nextCondLst>
            </p:seq>
            <p:video>
              <p:cMediaNode vol="80000">
                <p:cTn id="16" fill="hold" display="0">
                  <p:stCondLst>
                    <p:cond delay="indefinite"/>
                  </p:stCondLst>
                </p:cTn>
                <p:tgtEl>
                  <p:spTgt spid="21"/>
                </p:tgtEl>
              </p:cMediaNode>
            </p:video>
            <p:video>
              <p:cMediaNode vol="80000">
                <p:cTn id="17" fill="hold" display="0">
                  <p:stCondLst>
                    <p:cond delay="indefinite"/>
                  </p:stCondLst>
                </p:cTn>
                <p:tgtEl>
                  <p:spTgt spid="11"/>
                </p:tgtEl>
              </p:cMediaNode>
            </p:video>
            <p:seq concurrent="1" nextAc="seek">
              <p:cTn id="18" restart="whenNotActive" fill="hold" evtFilter="cancelBubble" nodeType="interactiveSeq">
                <p:stCondLst>
                  <p:cond evt="onClick" delay="0">
                    <p:tgtEl>
                      <p:spTgt spid="1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56"/>
          <p:cNvPicPr>
            <a:picLocks noChangeAspect="1"/>
          </p:cNvPicPr>
          <p:nvPr/>
        </p:nvPicPr>
        <p:blipFill>
          <a:blip r:embed="rId2"/>
          <a:stretch>
            <a:fillRect/>
          </a:stretch>
        </p:blipFill>
        <p:spPr>
          <a:xfrm rot="21600000">
            <a:off x="275" y="-216"/>
            <a:ext cx="12192000" cy="6857998"/>
          </a:xfrm>
          <a:prstGeom prst="rect">
            <a:avLst/>
          </a:prstGeom>
        </p:spPr>
      </p:pic>
      <p:sp>
        <p:nvSpPr>
          <p:cNvPr id="62" name="textbox 62"/>
          <p:cNvSpPr/>
          <p:nvPr/>
        </p:nvSpPr>
        <p:spPr>
          <a:xfrm>
            <a:off x="6926443" y="1466538"/>
            <a:ext cx="3498811" cy="465455"/>
          </a:xfrm>
          <a:prstGeom prst="rect">
            <a:avLst/>
          </a:prstGeom>
          <a:noFill/>
          <a:ln w="0" cap="flat">
            <a:noFill/>
            <a:prstDash val="solid"/>
            <a:miter lim="0"/>
          </a:ln>
        </p:spPr>
        <p:txBody>
          <a:bodyPr vert="horz" wrap="square" lIns="0" tIns="0" rIns="0" bIns="0"/>
          <a:lstStyle/>
          <a:p>
            <a:pPr algn="l" rtl="0" eaLnBrk="0">
              <a:lnSpc>
                <a:spcPct val="69000"/>
              </a:lnSpc>
            </a:pPr>
            <a:endParaRPr sz="100" dirty="0">
              <a:latin typeface="Arial" panose="020B0604020202020204"/>
              <a:ea typeface="Arial" panose="020B0604020202020204"/>
              <a:cs typeface="Arial" panose="020B0604020202020204"/>
            </a:endParaRPr>
          </a:p>
        </p:txBody>
      </p:sp>
      <p:pic>
        <p:nvPicPr>
          <p:cNvPr id="66" name="picture 66"/>
          <p:cNvPicPr>
            <a:picLocks noChangeAspect="1"/>
          </p:cNvPicPr>
          <p:nvPr/>
        </p:nvPicPr>
        <p:blipFill>
          <a:blip r:embed="rId3"/>
          <a:stretch>
            <a:fillRect/>
          </a:stretch>
        </p:blipFill>
        <p:spPr>
          <a:xfrm rot="21600000">
            <a:off x="0" y="6576693"/>
            <a:ext cx="12192000" cy="271779"/>
          </a:xfrm>
          <a:prstGeom prst="rect">
            <a:avLst/>
          </a:prstGeom>
        </p:spPr>
      </p:pic>
      <p:sp>
        <p:nvSpPr>
          <p:cNvPr id="70" name="textbox 70"/>
          <p:cNvSpPr/>
          <p:nvPr/>
        </p:nvSpPr>
        <p:spPr>
          <a:xfrm>
            <a:off x="3312795" y="3321685"/>
            <a:ext cx="6240780" cy="845820"/>
          </a:xfrm>
          <a:prstGeom prst="rect">
            <a:avLst/>
          </a:prstGeom>
          <a:noFill/>
          <a:ln w="0" cap="flat">
            <a:noFill/>
            <a:prstDash val="solid"/>
            <a:miter lim="0"/>
          </a:ln>
        </p:spPr>
        <p:txBody>
          <a:bodyPr vert="horz" wrap="square" lIns="0" tIns="0" rIns="0" bIns="0"/>
          <a:lstStyle/>
          <a:p>
            <a:pPr algn="l" rtl="0" eaLnBrk="0">
              <a:lnSpc>
                <a:spcPct val="93000"/>
              </a:lnSpc>
            </a:pPr>
            <a:endParaRPr sz="100" dirty="0">
              <a:latin typeface="Arial" panose="020B0604020202020204"/>
              <a:ea typeface="Arial" panose="020B0604020202020204"/>
              <a:cs typeface="Arial" panose="020B0604020202020204"/>
            </a:endParaRPr>
          </a:p>
          <a:p>
            <a:pPr algn="ctr" rtl="0" eaLnBrk="0">
              <a:lnSpc>
                <a:spcPct val="87000"/>
              </a:lnSpc>
            </a:pPr>
            <a:r>
              <a:rPr lang="en-US" altLang="zh-CN" sz="4400" b="1" dirty="0">
                <a:solidFill>
                  <a:schemeClr val="accent1">
                    <a:lumMod val="5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03/</a:t>
            </a:r>
            <a:r>
              <a:rPr lang="zh-CN" altLang="en-US" sz="4400" b="1" dirty="0">
                <a:solidFill>
                  <a:schemeClr val="accent1">
                    <a:lumMod val="5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解决方案与产品矩阵</a:t>
            </a:r>
            <a:endParaRPr lang="zh-CN" altLang="en-US" sz="4400" kern="0" spc="60" dirty="0">
              <a:solidFill>
                <a:schemeClr val="accent1">
                  <a:lumMod val="75000"/>
                  <a:alpha val="100000"/>
                </a:schemeClr>
              </a:solidFill>
              <a:latin typeface="微软雅黑" panose="020B0503020204020204" charset="-122"/>
              <a:ea typeface="微软雅黑" panose="020B0503020204020204" charset="-122"/>
              <a:cs typeface="微软雅黑" panose="020B0503020204020204" charset="-122"/>
            </a:endParaRPr>
          </a:p>
          <a:p>
            <a:pPr algn="r" rtl="0" eaLnBrk="0">
              <a:lnSpc>
                <a:spcPct val="87000"/>
              </a:lnSpc>
            </a:pPr>
            <a:endParaRPr lang="zh-CN" altLang="en-US" sz="4400" kern="0" spc="60" dirty="0">
              <a:solidFill>
                <a:schemeClr val="accent1">
                  <a:lumMod val="75000"/>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74" name="path 74"/>
          <p:cNvSpPr/>
          <p:nvPr/>
        </p:nvSpPr>
        <p:spPr>
          <a:xfrm>
            <a:off x="348614" y="354965"/>
            <a:ext cx="540385" cy="137794"/>
          </a:xfrm>
          <a:custGeom>
            <a:avLst/>
            <a:gdLst/>
            <a:ahLst/>
            <a:cxnLst/>
            <a:rect l="0" t="0" r="0" b="0"/>
            <a:pathLst>
              <a:path w="851" h="216">
                <a:moveTo>
                  <a:pt x="0" y="216"/>
                </a:moveTo>
                <a:lnTo>
                  <a:pt x="217" y="216"/>
                </a:lnTo>
                <a:lnTo>
                  <a:pt x="217" y="0"/>
                </a:lnTo>
                <a:lnTo>
                  <a:pt x="0" y="0"/>
                </a:lnTo>
                <a:lnTo>
                  <a:pt x="0" y="216"/>
                </a:lnTo>
                <a:close/>
              </a:path>
              <a:path w="851" h="216">
                <a:moveTo>
                  <a:pt x="317" y="216"/>
                </a:moveTo>
                <a:lnTo>
                  <a:pt x="534" y="216"/>
                </a:lnTo>
                <a:lnTo>
                  <a:pt x="534" y="0"/>
                </a:lnTo>
                <a:lnTo>
                  <a:pt x="317" y="0"/>
                </a:lnTo>
                <a:lnTo>
                  <a:pt x="317" y="216"/>
                </a:lnTo>
                <a:close/>
              </a:path>
              <a:path w="851" h="216">
                <a:moveTo>
                  <a:pt x="633" y="216"/>
                </a:moveTo>
                <a:lnTo>
                  <a:pt x="851" y="216"/>
                </a:lnTo>
                <a:lnTo>
                  <a:pt x="851" y="0"/>
                </a:lnTo>
                <a:lnTo>
                  <a:pt x="633" y="0"/>
                </a:lnTo>
                <a:lnTo>
                  <a:pt x="633"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0" name="textbox 80"/>
          <p:cNvSpPr/>
          <p:nvPr/>
        </p:nvSpPr>
        <p:spPr>
          <a:xfrm>
            <a:off x="335914" y="515264"/>
            <a:ext cx="962025" cy="41465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351790" algn="l" rtl="0" eaLnBrk="0">
              <a:lnSpc>
                <a:spcPct val="97000"/>
              </a:lnSpc>
              <a:tabLst>
                <a:tab pos="600710" algn="l"/>
              </a:tabLst>
            </a:pPr>
            <a:r>
              <a:rPr sz="24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	</a:t>
            </a:r>
            <a:r>
              <a:rPr sz="2400" b="1" kern="0" spc="-120" dirty="0">
                <a:solidFill>
                  <a:srgbClr val="FFFFFF">
                    <a:alpha val="100000"/>
                  </a:srgbClr>
                </a:solidFill>
                <a:latin typeface="微软雅黑" panose="020B0503020204020204" charset="-122"/>
                <a:ea typeface="微软雅黑" panose="020B0503020204020204" charset="-122"/>
                <a:cs typeface="微软雅黑" panose="020B0503020204020204" charset="-122"/>
              </a:rPr>
              <a:t>01</a:t>
            </a:r>
            <a:endParaRPr sz="2400" dirty="0">
              <a:latin typeface="微软雅黑" panose="020B0503020204020204" charset="-122"/>
              <a:ea typeface="微软雅黑" panose="020B0503020204020204" charset="-122"/>
              <a:cs typeface="微软雅黑" panose="020B0503020204020204" charset="-122"/>
            </a:endParaRPr>
          </a:p>
        </p:txBody>
      </p:sp>
      <p:sp>
        <p:nvSpPr>
          <p:cNvPr id="82" name="path 82"/>
          <p:cNvSpPr/>
          <p:nvPr/>
        </p:nvSpPr>
        <p:spPr>
          <a:xfrm>
            <a:off x="348614" y="567054"/>
            <a:ext cx="339090" cy="349885"/>
          </a:xfrm>
          <a:custGeom>
            <a:avLst/>
            <a:gdLst/>
            <a:ahLst/>
            <a:cxnLst/>
            <a:rect l="0" t="0" r="0" b="0"/>
            <a:pathLst>
              <a:path w="534" h="551">
                <a:moveTo>
                  <a:pt x="0" y="217"/>
                </a:moveTo>
                <a:lnTo>
                  <a:pt x="217" y="217"/>
                </a:lnTo>
                <a:lnTo>
                  <a:pt x="217" y="0"/>
                </a:lnTo>
                <a:lnTo>
                  <a:pt x="0" y="0"/>
                </a:lnTo>
                <a:lnTo>
                  <a:pt x="0" y="217"/>
                </a:lnTo>
                <a:close/>
              </a:path>
              <a:path w="534" h="551">
                <a:moveTo>
                  <a:pt x="317" y="217"/>
                </a:moveTo>
                <a:lnTo>
                  <a:pt x="534" y="217"/>
                </a:lnTo>
                <a:lnTo>
                  <a:pt x="534" y="0"/>
                </a:lnTo>
                <a:lnTo>
                  <a:pt x="317" y="0"/>
                </a:lnTo>
                <a:lnTo>
                  <a:pt x="317" y="217"/>
                </a:lnTo>
                <a:close/>
              </a:path>
              <a:path w="534" h="551">
                <a:moveTo>
                  <a:pt x="0" y="551"/>
                </a:moveTo>
                <a:lnTo>
                  <a:pt x="217" y="551"/>
                </a:lnTo>
                <a:lnTo>
                  <a:pt x="217" y="334"/>
                </a:lnTo>
                <a:lnTo>
                  <a:pt x="0" y="334"/>
                </a:lnTo>
                <a:lnTo>
                  <a:pt x="0" y="551"/>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4" name="path 84"/>
          <p:cNvSpPr/>
          <p:nvPr/>
        </p:nvSpPr>
        <p:spPr>
          <a:xfrm>
            <a:off x="348614" y="142875"/>
            <a:ext cx="741680" cy="137794"/>
          </a:xfrm>
          <a:custGeom>
            <a:avLst/>
            <a:gdLst/>
            <a:ahLst/>
            <a:cxnLst/>
            <a:rect l="0" t="0" r="0" b="0"/>
            <a:pathLst>
              <a:path w="1168" h="216">
                <a:moveTo>
                  <a:pt x="0" y="216"/>
                </a:moveTo>
                <a:lnTo>
                  <a:pt x="217" y="216"/>
                </a:lnTo>
                <a:lnTo>
                  <a:pt x="217" y="0"/>
                </a:lnTo>
                <a:lnTo>
                  <a:pt x="0" y="0"/>
                </a:lnTo>
                <a:lnTo>
                  <a:pt x="0" y="216"/>
                </a:lnTo>
                <a:close/>
              </a:path>
              <a:path w="1168" h="216">
                <a:moveTo>
                  <a:pt x="317" y="216"/>
                </a:moveTo>
                <a:lnTo>
                  <a:pt x="534" y="216"/>
                </a:lnTo>
                <a:lnTo>
                  <a:pt x="534" y="0"/>
                </a:lnTo>
                <a:lnTo>
                  <a:pt x="317" y="0"/>
                </a:lnTo>
                <a:lnTo>
                  <a:pt x="317" y="216"/>
                </a:lnTo>
                <a:close/>
              </a:path>
              <a:path w="1168" h="216">
                <a:moveTo>
                  <a:pt x="633" y="216"/>
                </a:moveTo>
                <a:lnTo>
                  <a:pt x="851" y="216"/>
                </a:lnTo>
                <a:lnTo>
                  <a:pt x="851" y="0"/>
                </a:lnTo>
                <a:lnTo>
                  <a:pt x="633" y="0"/>
                </a:lnTo>
                <a:lnTo>
                  <a:pt x="633" y="216"/>
                </a:lnTo>
                <a:close/>
              </a:path>
              <a:path w="1168" h="216">
                <a:moveTo>
                  <a:pt x="951" y="216"/>
                </a:moveTo>
                <a:lnTo>
                  <a:pt x="1168" y="216"/>
                </a:lnTo>
                <a:lnTo>
                  <a:pt x="1168" y="0"/>
                </a:lnTo>
                <a:lnTo>
                  <a:pt x="951" y="0"/>
                </a:lnTo>
                <a:lnTo>
                  <a:pt x="951"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8" name="rect 88"/>
          <p:cNvSpPr/>
          <p:nvPr/>
        </p:nvSpPr>
        <p:spPr>
          <a:xfrm>
            <a:off x="147320" y="56705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0" name="rect 90"/>
          <p:cNvSpPr/>
          <p:nvPr/>
        </p:nvSpPr>
        <p:spPr>
          <a:xfrm>
            <a:off x="147320" y="779145"/>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2" name="rect 92"/>
          <p:cNvSpPr/>
          <p:nvPr/>
        </p:nvSpPr>
        <p:spPr>
          <a:xfrm>
            <a:off x="147320" y="99123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4" name="rect 94"/>
          <p:cNvSpPr/>
          <p:nvPr/>
        </p:nvSpPr>
        <p:spPr>
          <a:xfrm>
            <a:off x="147320" y="14287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6" name="rect 96"/>
          <p:cNvSpPr/>
          <p:nvPr/>
        </p:nvSpPr>
        <p:spPr>
          <a:xfrm>
            <a:off x="147320" y="35496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pic>
        <p:nvPicPr>
          <p:cNvPr id="2" name="图片 1"/>
          <p:cNvPicPr>
            <a:picLocks noChangeAspect="1"/>
          </p:cNvPicPr>
          <p:nvPr/>
        </p:nvPicPr>
        <p:blipFill>
          <a:blip r:embed="rId4"/>
          <a:stretch>
            <a:fillRect/>
          </a:stretch>
        </p:blipFill>
        <p:spPr>
          <a:xfrm>
            <a:off x="10428563" y="68429"/>
            <a:ext cx="1354271" cy="781170"/>
          </a:xfrm>
          <a:prstGeom prst="rect">
            <a:avLst/>
          </a:prstGeom>
        </p:spPr>
      </p:pic>
      <p:sp>
        <p:nvSpPr>
          <p:cNvPr id="7" name="矩形 6"/>
          <p:cNvSpPr/>
          <p:nvPr/>
        </p:nvSpPr>
        <p:spPr>
          <a:xfrm>
            <a:off x="975989" y="2921466"/>
            <a:ext cx="65753" cy="46166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380195" y="3411415"/>
            <a:ext cx="1257300" cy="521970"/>
          </a:xfrm>
          <a:prstGeom prst="rect">
            <a:avLst/>
          </a:prstGeom>
          <a:noFill/>
        </p:spPr>
        <p:txBody>
          <a:bodyPr wrap="square">
            <a:spAutoFit/>
          </a:bodyPr>
          <a:lstStyle/>
          <a:p>
            <a:pPr algn="ctr"/>
            <a:r>
              <a:rPr lang="en-US" sz="1400" b="1">
                <a:solidFill>
                  <a:srgbClr val="FFFFFF"/>
                </a:solidFill>
                <a:latin typeface="Arial" panose="020B0604020202020204"/>
                <a:ea typeface="Arial" panose="020B0604020202020204"/>
                <a:cs typeface="Arial" panose="020B0604020202020204"/>
                <a:sym typeface="Arial" panose="020B0604020202020204"/>
              </a:rPr>
              <a:t>Nanjing Cooling</a:t>
            </a:r>
            <a:endParaRPr lang="zh-CN" altLang="en-US" sz="1400" b="1" dirty="0">
              <a:solidFill>
                <a:schemeClr val="bg1"/>
              </a:solidFill>
              <a:latin typeface="微软雅黑" panose="020B0503020204020204" charset="-122"/>
              <a:ea typeface="微软雅黑" panose="020B0503020204020204" charset="-122"/>
              <a:sym typeface="+mn-ea"/>
            </a:endParaRPr>
          </a:p>
        </p:txBody>
      </p:sp>
      <p:sp>
        <p:nvSpPr>
          <p:cNvPr id="14" name="文本框 13"/>
          <p:cNvSpPr txBox="1"/>
          <p:nvPr/>
        </p:nvSpPr>
        <p:spPr>
          <a:xfrm>
            <a:off x="252688" y="4022898"/>
            <a:ext cx="1576567" cy="645160"/>
          </a:xfrm>
          <a:prstGeom prst="rect">
            <a:avLst/>
          </a:prstGeom>
          <a:noFill/>
        </p:spPr>
        <p:txBody>
          <a:bodyPr wrap="square" rtlCol="0">
            <a:spAutoFit/>
          </a:bodyPr>
          <a:lstStyle/>
          <a:p>
            <a:pPr algn="ctr">
              <a:lnSpc>
                <a:spcPct val="150000"/>
              </a:lnSpc>
            </a:pPr>
            <a:r>
              <a:rPr lang="zh-CN" altLang="en-US" sz="1200" b="1" dirty="0">
                <a:solidFill>
                  <a:schemeClr val="accent1">
                    <a:lumMod val="75000"/>
                  </a:schemeClr>
                </a:solidFill>
                <a:latin typeface="微软雅黑" panose="020B0503020204020204" charset="-122"/>
                <a:ea typeface="微软雅黑" panose="020B0503020204020204" charset="-122"/>
              </a:rPr>
              <a:t>酷灵热管理</a:t>
            </a:r>
            <a:endParaRPr lang="en-US" altLang="zh-CN" sz="1200" b="1" dirty="0">
              <a:solidFill>
                <a:schemeClr val="accent1">
                  <a:lumMod val="75000"/>
                </a:schemeClr>
              </a:solidFill>
              <a:latin typeface="微软雅黑" panose="020B0503020204020204" charset="-122"/>
              <a:ea typeface="微软雅黑" panose="020B0503020204020204" charset="-122"/>
            </a:endParaRPr>
          </a:p>
          <a:p>
            <a:pPr algn="ctr">
              <a:lnSpc>
                <a:spcPct val="150000"/>
              </a:lnSpc>
            </a:pPr>
            <a:r>
              <a:rPr lang="zh-CN" altLang="en-US" sz="1200" b="1" dirty="0">
                <a:solidFill>
                  <a:schemeClr val="accent1">
                    <a:lumMod val="75000"/>
                  </a:schemeClr>
                </a:solidFill>
                <a:latin typeface="微软雅黑" panose="020B0503020204020204" charset="-122"/>
                <a:ea typeface="微软雅黑" panose="020B0503020204020204" charset="-122"/>
              </a:rPr>
              <a:t>为机器人持久赋能</a:t>
            </a:r>
          </a:p>
        </p:txBody>
      </p:sp>
      <p:sp>
        <p:nvSpPr>
          <p:cNvPr id="15" name="文本框 14"/>
          <p:cNvSpPr txBox="1"/>
          <p:nvPr/>
        </p:nvSpPr>
        <p:spPr>
          <a:xfrm>
            <a:off x="55245" y="4757420"/>
            <a:ext cx="1859280" cy="614045"/>
          </a:xfrm>
          <a:prstGeom prst="rect">
            <a:avLst/>
          </a:prstGeom>
          <a:noFill/>
        </p:spPr>
        <p:txBody>
          <a:bodyPr wrap="square">
            <a:spAutoFit/>
          </a:bodyPr>
          <a:lstStyle/>
          <a:p>
            <a:pPr algn="ctr"/>
            <a:endParaRPr lang="zh-CN" altLang="en-US" sz="2000" b="1" dirty="0">
              <a:solidFill>
                <a:schemeClr val="bg1"/>
              </a:solidFill>
              <a:latin typeface="华文楷体" panose="02010600040101010101" pitchFamily="2" charset="-122"/>
              <a:ea typeface="华文楷体" panose="02010600040101010101" pitchFamily="2" charset="-122"/>
            </a:endParaRPr>
          </a:p>
          <a:p>
            <a:pPr algn="ctr"/>
            <a:r>
              <a:rPr lang="zh-CN" altLang="en-US" sz="1400" b="1" dirty="0">
                <a:solidFill>
                  <a:schemeClr val="bg1"/>
                </a:solidFill>
                <a:latin typeface="微软雅黑" panose="020B0503020204020204" charset="-122"/>
                <a:ea typeface="微软雅黑" panose="020B0503020204020204" charset="-122"/>
                <a:sym typeface="+mn-ea"/>
              </a:rPr>
              <a:t>解决方案与产品矩阵</a:t>
            </a:r>
          </a:p>
        </p:txBody>
      </p:sp>
      <p:sp>
        <p:nvSpPr>
          <p:cNvPr id="17" name="矩形 16"/>
          <p:cNvSpPr/>
          <p:nvPr/>
        </p:nvSpPr>
        <p:spPr>
          <a:xfrm>
            <a:off x="975937" y="5458089"/>
            <a:ext cx="65753" cy="46166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path 72"/>
          <p:cNvSpPr/>
          <p:nvPr/>
        </p:nvSpPr>
        <p:spPr>
          <a:xfrm>
            <a:off x="11398249" y="6043294"/>
            <a:ext cx="741679" cy="774064"/>
          </a:xfrm>
          <a:custGeom>
            <a:avLst/>
            <a:gdLst/>
            <a:ahLst/>
            <a:cxnLst/>
            <a:rect l="0" t="0" r="0" b="0"/>
            <a:pathLst>
              <a:path w="1167" h="1218">
                <a:moveTo>
                  <a:pt x="950" y="1218"/>
                </a:moveTo>
                <a:lnTo>
                  <a:pt x="1167" y="1218"/>
                </a:lnTo>
                <a:lnTo>
                  <a:pt x="1167" y="1001"/>
                </a:lnTo>
                <a:lnTo>
                  <a:pt x="950" y="1001"/>
                </a:lnTo>
                <a:lnTo>
                  <a:pt x="950" y="1218"/>
                </a:lnTo>
                <a:close/>
              </a:path>
              <a:path w="1167" h="1218">
                <a:moveTo>
                  <a:pt x="634" y="1218"/>
                </a:moveTo>
                <a:lnTo>
                  <a:pt x="850" y="1218"/>
                </a:lnTo>
                <a:lnTo>
                  <a:pt x="850" y="1001"/>
                </a:lnTo>
                <a:lnTo>
                  <a:pt x="634" y="1001"/>
                </a:lnTo>
                <a:lnTo>
                  <a:pt x="634" y="1218"/>
                </a:lnTo>
                <a:close/>
              </a:path>
              <a:path w="1167" h="1218">
                <a:moveTo>
                  <a:pt x="317" y="1218"/>
                </a:moveTo>
                <a:lnTo>
                  <a:pt x="534" y="1218"/>
                </a:lnTo>
                <a:lnTo>
                  <a:pt x="534" y="1001"/>
                </a:lnTo>
                <a:lnTo>
                  <a:pt x="317" y="1001"/>
                </a:lnTo>
                <a:lnTo>
                  <a:pt x="317" y="1218"/>
                </a:lnTo>
                <a:close/>
              </a:path>
              <a:path w="1167" h="1218">
                <a:moveTo>
                  <a:pt x="0" y="1218"/>
                </a:moveTo>
                <a:lnTo>
                  <a:pt x="216" y="1218"/>
                </a:lnTo>
                <a:lnTo>
                  <a:pt x="216" y="1001"/>
                </a:lnTo>
                <a:lnTo>
                  <a:pt x="0" y="1001"/>
                </a:lnTo>
                <a:lnTo>
                  <a:pt x="0" y="1218"/>
                </a:lnTo>
                <a:close/>
              </a:path>
              <a:path w="1167" h="1218">
                <a:moveTo>
                  <a:pt x="950" y="884"/>
                </a:moveTo>
                <a:lnTo>
                  <a:pt x="1167" y="884"/>
                </a:lnTo>
                <a:lnTo>
                  <a:pt x="1167" y="667"/>
                </a:lnTo>
                <a:lnTo>
                  <a:pt x="950" y="667"/>
                </a:lnTo>
                <a:lnTo>
                  <a:pt x="950" y="884"/>
                </a:lnTo>
                <a:close/>
              </a:path>
              <a:path w="1167" h="1218">
                <a:moveTo>
                  <a:pt x="634" y="884"/>
                </a:moveTo>
                <a:lnTo>
                  <a:pt x="850" y="884"/>
                </a:lnTo>
                <a:lnTo>
                  <a:pt x="850" y="667"/>
                </a:lnTo>
                <a:lnTo>
                  <a:pt x="634" y="667"/>
                </a:lnTo>
                <a:lnTo>
                  <a:pt x="634" y="884"/>
                </a:lnTo>
                <a:close/>
              </a:path>
              <a:path w="1167" h="1218">
                <a:moveTo>
                  <a:pt x="317" y="884"/>
                </a:moveTo>
                <a:lnTo>
                  <a:pt x="534" y="884"/>
                </a:lnTo>
                <a:lnTo>
                  <a:pt x="534" y="667"/>
                </a:lnTo>
                <a:lnTo>
                  <a:pt x="317" y="667"/>
                </a:lnTo>
                <a:lnTo>
                  <a:pt x="317" y="884"/>
                </a:lnTo>
                <a:close/>
              </a:path>
              <a:path w="1167" h="1218">
                <a:moveTo>
                  <a:pt x="950" y="550"/>
                </a:moveTo>
                <a:lnTo>
                  <a:pt x="1167" y="550"/>
                </a:lnTo>
                <a:lnTo>
                  <a:pt x="1167" y="333"/>
                </a:lnTo>
                <a:lnTo>
                  <a:pt x="950" y="333"/>
                </a:lnTo>
                <a:lnTo>
                  <a:pt x="950" y="550"/>
                </a:lnTo>
                <a:close/>
              </a:path>
              <a:path w="1167" h="1218">
                <a:moveTo>
                  <a:pt x="634" y="550"/>
                </a:moveTo>
                <a:lnTo>
                  <a:pt x="850" y="550"/>
                </a:lnTo>
                <a:lnTo>
                  <a:pt x="850" y="333"/>
                </a:lnTo>
                <a:lnTo>
                  <a:pt x="634" y="333"/>
                </a:lnTo>
                <a:lnTo>
                  <a:pt x="634" y="550"/>
                </a:lnTo>
                <a:close/>
              </a:path>
              <a:path w="1167" h="1218">
                <a:moveTo>
                  <a:pt x="950" y="216"/>
                </a:moveTo>
                <a:lnTo>
                  <a:pt x="1167" y="216"/>
                </a:lnTo>
                <a:lnTo>
                  <a:pt x="1167" y="0"/>
                </a:lnTo>
                <a:lnTo>
                  <a:pt x="950" y="0"/>
                </a:lnTo>
                <a:lnTo>
                  <a:pt x="950"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5" name="path 86"/>
          <p:cNvSpPr/>
          <p:nvPr/>
        </p:nvSpPr>
        <p:spPr>
          <a:xfrm>
            <a:off x="688340" y="955040"/>
            <a:ext cx="10786745" cy="76200"/>
          </a:xfrm>
          <a:custGeom>
            <a:avLst/>
            <a:gdLst/>
            <a:ahLst/>
            <a:cxnLst/>
            <a:rect l="0" t="0" r="0" b="0"/>
            <a:pathLst>
              <a:path w="15485" h="10">
                <a:moveTo>
                  <a:pt x="0" y="5"/>
                </a:moveTo>
                <a:lnTo>
                  <a:pt x="15485" y="5"/>
                </a:lnTo>
              </a:path>
            </a:pathLst>
          </a:custGeom>
          <a:noFill/>
          <a:ln w="6350" cap="flat">
            <a:solidFill>
              <a:srgbClr val="D9D9D9"/>
            </a:solidFill>
            <a:prstDash val="solid"/>
            <a:miter lim="1000000"/>
          </a:ln>
        </p:spPr>
        <p:txBody>
          <a:bodyPr rtlCol="0"/>
          <a:lstStyle/>
          <a:p>
            <a:pPr algn="ct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2" name="picture 182"/>
          <p:cNvPicPr>
            <a:picLocks noChangeAspect="1"/>
          </p:cNvPicPr>
          <p:nvPr/>
        </p:nvPicPr>
        <p:blipFill>
          <a:blip r:embed="rId2"/>
          <a:stretch>
            <a:fillRect/>
          </a:stretch>
        </p:blipFill>
        <p:spPr>
          <a:xfrm rot="21600000">
            <a:off x="0" y="6576694"/>
            <a:ext cx="12192000" cy="281302"/>
          </a:xfrm>
          <a:prstGeom prst="rect">
            <a:avLst/>
          </a:prstGeom>
        </p:spPr>
      </p:pic>
      <p:sp>
        <p:nvSpPr>
          <p:cNvPr id="184" name="textbox 184"/>
          <p:cNvSpPr/>
          <p:nvPr/>
        </p:nvSpPr>
        <p:spPr>
          <a:xfrm>
            <a:off x="5135930" y="358774"/>
            <a:ext cx="4385945" cy="346075"/>
          </a:xfrm>
          <a:prstGeom prst="rect">
            <a:avLst/>
          </a:prstGeom>
          <a:noFill/>
          <a:ln w="0" cap="flat">
            <a:noFill/>
            <a:prstDash val="solid"/>
            <a:miter lim="0"/>
          </a:ln>
        </p:spPr>
        <p:txBody>
          <a:bodyPr vert="horz" wrap="square" lIns="0" tIns="0" rIns="0" bIns="0"/>
          <a:lstStyle/>
          <a:p>
            <a:pPr algn="l" rtl="0" eaLnBrk="0">
              <a:lnSpc>
                <a:spcPct val="73000"/>
              </a:lnSpc>
            </a:pPr>
            <a:endParaRPr sz="100" dirty="0">
              <a:latin typeface="Arial" panose="020B0604020202020204"/>
              <a:ea typeface="Arial" panose="020B0604020202020204"/>
              <a:cs typeface="Arial" panose="020B0604020202020204"/>
            </a:endParaRPr>
          </a:p>
          <a:p>
            <a:pPr marL="12700" algn="l" rtl="0" eaLnBrk="0">
              <a:lnSpc>
                <a:spcPct val="88000"/>
              </a:lnSpc>
            </a:pPr>
            <a:endParaRPr lang="zh-CN" altLang="en-US" sz="2400" b="1" kern="0" spc="150" dirty="0">
              <a:solidFill>
                <a:srgbClr val="2C5374">
                  <a:alpha val="100000"/>
                </a:srgbClr>
              </a:solidFill>
              <a:latin typeface="微软雅黑" panose="020B0503020204020204" charset="-122"/>
              <a:ea typeface="微软雅黑" panose="020B0503020204020204" charset="-122"/>
              <a:cs typeface="微软雅黑" panose="020B0503020204020204" charset="-122"/>
            </a:endParaRPr>
          </a:p>
          <a:p>
            <a:pPr marL="12700" algn="l" rtl="0" eaLnBrk="0">
              <a:lnSpc>
                <a:spcPct val="88000"/>
              </a:lnSpc>
            </a:pPr>
            <a:endParaRPr sz="2400" dirty="0">
              <a:latin typeface="微软雅黑" panose="020B0503020204020204" charset="-122"/>
              <a:ea typeface="微软雅黑" panose="020B0503020204020204" charset="-122"/>
              <a:cs typeface="微软雅黑" panose="020B0503020204020204" charset="-122"/>
            </a:endParaRPr>
          </a:p>
        </p:txBody>
      </p:sp>
      <p:sp>
        <p:nvSpPr>
          <p:cNvPr id="190" name="path 190"/>
          <p:cNvSpPr/>
          <p:nvPr/>
        </p:nvSpPr>
        <p:spPr>
          <a:xfrm>
            <a:off x="11291569" y="5728334"/>
            <a:ext cx="741679" cy="774064"/>
          </a:xfrm>
          <a:custGeom>
            <a:avLst/>
            <a:gdLst/>
            <a:ahLst/>
            <a:cxnLst/>
            <a:rect l="0" t="0" r="0" b="0"/>
            <a:pathLst>
              <a:path w="1167" h="1218">
                <a:moveTo>
                  <a:pt x="950" y="1218"/>
                </a:moveTo>
                <a:lnTo>
                  <a:pt x="1167" y="1218"/>
                </a:lnTo>
                <a:lnTo>
                  <a:pt x="1167" y="1001"/>
                </a:lnTo>
                <a:lnTo>
                  <a:pt x="950" y="1001"/>
                </a:lnTo>
                <a:lnTo>
                  <a:pt x="950" y="1218"/>
                </a:lnTo>
                <a:close/>
              </a:path>
              <a:path w="1167" h="1218">
                <a:moveTo>
                  <a:pt x="634" y="1218"/>
                </a:moveTo>
                <a:lnTo>
                  <a:pt x="850" y="1218"/>
                </a:lnTo>
                <a:lnTo>
                  <a:pt x="850" y="1001"/>
                </a:lnTo>
                <a:lnTo>
                  <a:pt x="634" y="1001"/>
                </a:lnTo>
                <a:lnTo>
                  <a:pt x="634" y="1218"/>
                </a:lnTo>
                <a:close/>
              </a:path>
              <a:path w="1167" h="1218">
                <a:moveTo>
                  <a:pt x="317" y="1218"/>
                </a:moveTo>
                <a:lnTo>
                  <a:pt x="534" y="1218"/>
                </a:lnTo>
                <a:lnTo>
                  <a:pt x="534" y="1001"/>
                </a:lnTo>
                <a:lnTo>
                  <a:pt x="317" y="1001"/>
                </a:lnTo>
                <a:lnTo>
                  <a:pt x="317" y="1218"/>
                </a:lnTo>
                <a:close/>
              </a:path>
              <a:path w="1167" h="1218">
                <a:moveTo>
                  <a:pt x="0" y="1218"/>
                </a:moveTo>
                <a:lnTo>
                  <a:pt x="216" y="1218"/>
                </a:lnTo>
                <a:lnTo>
                  <a:pt x="216" y="1001"/>
                </a:lnTo>
                <a:lnTo>
                  <a:pt x="0" y="1001"/>
                </a:lnTo>
                <a:lnTo>
                  <a:pt x="0" y="1218"/>
                </a:lnTo>
                <a:close/>
              </a:path>
              <a:path w="1167" h="1218">
                <a:moveTo>
                  <a:pt x="950" y="884"/>
                </a:moveTo>
                <a:lnTo>
                  <a:pt x="1167" y="884"/>
                </a:lnTo>
                <a:lnTo>
                  <a:pt x="1167" y="667"/>
                </a:lnTo>
                <a:lnTo>
                  <a:pt x="950" y="667"/>
                </a:lnTo>
                <a:lnTo>
                  <a:pt x="950" y="884"/>
                </a:lnTo>
                <a:close/>
              </a:path>
              <a:path w="1167" h="1218">
                <a:moveTo>
                  <a:pt x="634" y="884"/>
                </a:moveTo>
                <a:lnTo>
                  <a:pt x="850" y="884"/>
                </a:lnTo>
                <a:lnTo>
                  <a:pt x="850" y="667"/>
                </a:lnTo>
                <a:lnTo>
                  <a:pt x="634" y="667"/>
                </a:lnTo>
                <a:lnTo>
                  <a:pt x="634" y="884"/>
                </a:lnTo>
                <a:close/>
              </a:path>
              <a:path w="1167" h="1218">
                <a:moveTo>
                  <a:pt x="317" y="884"/>
                </a:moveTo>
                <a:lnTo>
                  <a:pt x="534" y="884"/>
                </a:lnTo>
                <a:lnTo>
                  <a:pt x="534" y="667"/>
                </a:lnTo>
                <a:lnTo>
                  <a:pt x="317" y="667"/>
                </a:lnTo>
                <a:lnTo>
                  <a:pt x="317" y="884"/>
                </a:lnTo>
                <a:close/>
              </a:path>
              <a:path w="1167" h="1218">
                <a:moveTo>
                  <a:pt x="950" y="550"/>
                </a:moveTo>
                <a:lnTo>
                  <a:pt x="1167" y="550"/>
                </a:lnTo>
                <a:lnTo>
                  <a:pt x="1167" y="333"/>
                </a:lnTo>
                <a:lnTo>
                  <a:pt x="950" y="333"/>
                </a:lnTo>
                <a:lnTo>
                  <a:pt x="950" y="550"/>
                </a:lnTo>
                <a:close/>
              </a:path>
              <a:path w="1167" h="1218">
                <a:moveTo>
                  <a:pt x="634" y="550"/>
                </a:moveTo>
                <a:lnTo>
                  <a:pt x="850" y="550"/>
                </a:lnTo>
                <a:lnTo>
                  <a:pt x="850" y="333"/>
                </a:lnTo>
                <a:lnTo>
                  <a:pt x="634" y="333"/>
                </a:lnTo>
                <a:lnTo>
                  <a:pt x="634" y="550"/>
                </a:lnTo>
                <a:close/>
              </a:path>
              <a:path w="1167" h="1218">
                <a:moveTo>
                  <a:pt x="950" y="216"/>
                </a:moveTo>
                <a:lnTo>
                  <a:pt x="1167" y="216"/>
                </a:lnTo>
                <a:lnTo>
                  <a:pt x="1167" y="0"/>
                </a:lnTo>
                <a:lnTo>
                  <a:pt x="950" y="0"/>
                </a:lnTo>
                <a:lnTo>
                  <a:pt x="950"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198" name="textbox 198"/>
          <p:cNvSpPr/>
          <p:nvPr/>
        </p:nvSpPr>
        <p:spPr>
          <a:xfrm>
            <a:off x="977429" y="553364"/>
            <a:ext cx="373379" cy="38036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ct val="97000"/>
              </a:lnSpc>
            </a:pPr>
            <a:r>
              <a:rPr sz="2400" b="1" kern="0" spc="-120" dirty="0">
                <a:solidFill>
                  <a:srgbClr val="FFFFFF">
                    <a:alpha val="100000"/>
                  </a:srgbClr>
                </a:solidFill>
                <a:latin typeface="微软雅黑" panose="020B0503020204020204" charset="-122"/>
                <a:ea typeface="微软雅黑" panose="020B0503020204020204" charset="-122"/>
                <a:cs typeface="微软雅黑" panose="020B0503020204020204" charset="-122"/>
              </a:rPr>
              <a:t>2</a:t>
            </a:r>
            <a:endParaRPr sz="2400" dirty="0">
              <a:latin typeface="微软雅黑" panose="020B0503020204020204" charset="-122"/>
              <a:ea typeface="微软雅黑" panose="020B0503020204020204" charset="-122"/>
              <a:cs typeface="微软雅黑" panose="020B0503020204020204" charset="-122"/>
            </a:endParaRPr>
          </a:p>
        </p:txBody>
      </p:sp>
      <p:sp>
        <p:nvSpPr>
          <p:cNvPr id="200" name="path 200"/>
          <p:cNvSpPr/>
          <p:nvPr/>
        </p:nvSpPr>
        <p:spPr>
          <a:xfrm>
            <a:off x="147320" y="142875"/>
            <a:ext cx="540385" cy="137794"/>
          </a:xfrm>
          <a:custGeom>
            <a:avLst/>
            <a:gdLst/>
            <a:ahLst/>
            <a:cxnLst/>
            <a:rect l="0" t="0" r="0" b="0"/>
            <a:pathLst>
              <a:path w="851" h="216">
                <a:moveTo>
                  <a:pt x="0" y="216"/>
                </a:moveTo>
                <a:lnTo>
                  <a:pt x="217" y="216"/>
                </a:lnTo>
                <a:lnTo>
                  <a:pt x="217" y="0"/>
                </a:lnTo>
                <a:lnTo>
                  <a:pt x="0" y="0"/>
                </a:lnTo>
                <a:lnTo>
                  <a:pt x="0" y="216"/>
                </a:lnTo>
                <a:close/>
              </a:path>
              <a:path w="851" h="216">
                <a:moveTo>
                  <a:pt x="316" y="216"/>
                </a:moveTo>
                <a:lnTo>
                  <a:pt x="533" y="216"/>
                </a:lnTo>
                <a:lnTo>
                  <a:pt x="533" y="0"/>
                </a:lnTo>
                <a:lnTo>
                  <a:pt x="316" y="0"/>
                </a:lnTo>
                <a:lnTo>
                  <a:pt x="316" y="216"/>
                </a:lnTo>
                <a:close/>
              </a:path>
              <a:path w="851" h="216">
                <a:moveTo>
                  <a:pt x="633" y="216"/>
                </a:moveTo>
                <a:lnTo>
                  <a:pt x="851" y="216"/>
                </a:lnTo>
                <a:lnTo>
                  <a:pt x="851" y="0"/>
                </a:lnTo>
                <a:lnTo>
                  <a:pt x="633" y="0"/>
                </a:lnTo>
                <a:lnTo>
                  <a:pt x="633"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202" name="path 202"/>
          <p:cNvSpPr/>
          <p:nvPr/>
        </p:nvSpPr>
        <p:spPr>
          <a:xfrm>
            <a:off x="147320" y="354965"/>
            <a:ext cx="540385" cy="137794"/>
          </a:xfrm>
          <a:custGeom>
            <a:avLst/>
            <a:gdLst/>
            <a:ahLst/>
            <a:cxnLst/>
            <a:rect l="0" t="0" r="0" b="0"/>
            <a:pathLst>
              <a:path w="851" h="216">
                <a:moveTo>
                  <a:pt x="0" y="216"/>
                </a:moveTo>
                <a:lnTo>
                  <a:pt x="217" y="216"/>
                </a:lnTo>
                <a:lnTo>
                  <a:pt x="217" y="0"/>
                </a:lnTo>
                <a:lnTo>
                  <a:pt x="0" y="0"/>
                </a:lnTo>
                <a:lnTo>
                  <a:pt x="0" y="216"/>
                </a:lnTo>
                <a:close/>
              </a:path>
              <a:path w="851" h="216">
                <a:moveTo>
                  <a:pt x="316" y="216"/>
                </a:moveTo>
                <a:lnTo>
                  <a:pt x="533" y="216"/>
                </a:lnTo>
                <a:lnTo>
                  <a:pt x="533" y="0"/>
                </a:lnTo>
                <a:lnTo>
                  <a:pt x="316" y="0"/>
                </a:lnTo>
                <a:lnTo>
                  <a:pt x="316" y="216"/>
                </a:lnTo>
                <a:close/>
              </a:path>
              <a:path w="851" h="216">
                <a:moveTo>
                  <a:pt x="633" y="216"/>
                </a:moveTo>
                <a:lnTo>
                  <a:pt x="851" y="216"/>
                </a:lnTo>
                <a:lnTo>
                  <a:pt x="851" y="0"/>
                </a:lnTo>
                <a:lnTo>
                  <a:pt x="633" y="0"/>
                </a:lnTo>
                <a:lnTo>
                  <a:pt x="633"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204" name="path 204"/>
          <p:cNvSpPr/>
          <p:nvPr/>
        </p:nvSpPr>
        <p:spPr>
          <a:xfrm flipV="1">
            <a:off x="687070" y="990600"/>
            <a:ext cx="10788015" cy="76835"/>
          </a:xfrm>
          <a:custGeom>
            <a:avLst/>
            <a:gdLst/>
            <a:ahLst/>
            <a:cxnLst/>
            <a:rect l="0" t="0" r="0" b="0"/>
            <a:pathLst>
              <a:path w="15485" h="10">
                <a:moveTo>
                  <a:pt x="0" y="5"/>
                </a:moveTo>
                <a:lnTo>
                  <a:pt x="15485" y="5"/>
                </a:lnTo>
              </a:path>
            </a:pathLst>
          </a:custGeom>
          <a:noFill/>
          <a:ln w="6350" cap="flat">
            <a:solidFill>
              <a:srgbClr val="D9D9D9"/>
            </a:solidFill>
            <a:prstDash val="solid"/>
            <a:miter lim="1000000"/>
          </a:ln>
        </p:spPr>
        <p:txBody>
          <a:bodyPr rtlCol="0"/>
          <a:lstStyle/>
          <a:p>
            <a:pPr algn="ctr"/>
            <a:endParaRPr lang="zh-CN" altLang="en-US"/>
          </a:p>
        </p:txBody>
      </p:sp>
      <p:sp>
        <p:nvSpPr>
          <p:cNvPr id="206" name="path 206"/>
          <p:cNvSpPr/>
          <p:nvPr/>
        </p:nvSpPr>
        <p:spPr>
          <a:xfrm>
            <a:off x="751204" y="142875"/>
            <a:ext cx="339090" cy="137794"/>
          </a:xfrm>
          <a:custGeom>
            <a:avLst/>
            <a:gdLst/>
            <a:ahLst/>
            <a:cxnLst/>
            <a:rect l="0" t="0" r="0" b="0"/>
            <a:pathLst>
              <a:path w="534" h="216">
                <a:moveTo>
                  <a:pt x="0" y="216"/>
                </a:moveTo>
                <a:lnTo>
                  <a:pt x="217" y="216"/>
                </a:lnTo>
                <a:lnTo>
                  <a:pt x="217" y="0"/>
                </a:lnTo>
                <a:lnTo>
                  <a:pt x="0" y="0"/>
                </a:lnTo>
                <a:lnTo>
                  <a:pt x="0" y="216"/>
                </a:lnTo>
                <a:close/>
              </a:path>
              <a:path w="534" h="216">
                <a:moveTo>
                  <a:pt x="317" y="216"/>
                </a:moveTo>
                <a:lnTo>
                  <a:pt x="534" y="216"/>
                </a:lnTo>
                <a:lnTo>
                  <a:pt x="534" y="0"/>
                </a:lnTo>
                <a:lnTo>
                  <a:pt x="317" y="0"/>
                </a:lnTo>
                <a:lnTo>
                  <a:pt x="317"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208" name="rect 208"/>
          <p:cNvSpPr/>
          <p:nvPr/>
        </p:nvSpPr>
        <p:spPr>
          <a:xfrm>
            <a:off x="549909" y="56705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210" name="rect 210"/>
          <p:cNvSpPr/>
          <p:nvPr/>
        </p:nvSpPr>
        <p:spPr>
          <a:xfrm>
            <a:off x="147320" y="56705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212" name="rect 212"/>
          <p:cNvSpPr/>
          <p:nvPr/>
        </p:nvSpPr>
        <p:spPr>
          <a:xfrm>
            <a:off x="348614" y="56705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214" name="rect 214"/>
          <p:cNvSpPr/>
          <p:nvPr/>
        </p:nvSpPr>
        <p:spPr>
          <a:xfrm>
            <a:off x="147320" y="779145"/>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216" name="rect 216"/>
          <p:cNvSpPr/>
          <p:nvPr/>
        </p:nvSpPr>
        <p:spPr>
          <a:xfrm>
            <a:off x="348614" y="779145"/>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218" name="rect 218"/>
          <p:cNvSpPr/>
          <p:nvPr/>
        </p:nvSpPr>
        <p:spPr>
          <a:xfrm>
            <a:off x="147320" y="99123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220" name="path 220"/>
          <p:cNvSpPr/>
          <p:nvPr/>
        </p:nvSpPr>
        <p:spPr>
          <a:xfrm>
            <a:off x="751204" y="354965"/>
            <a:ext cx="137795" cy="137794"/>
          </a:xfrm>
          <a:custGeom>
            <a:avLst/>
            <a:gdLst/>
            <a:ahLst/>
            <a:cxnLst/>
            <a:rect l="0" t="0" r="0" b="0"/>
            <a:pathLst>
              <a:path w="217" h="216">
                <a:moveTo>
                  <a:pt x="0" y="216"/>
                </a:moveTo>
                <a:lnTo>
                  <a:pt x="217" y="216"/>
                </a:lnTo>
                <a:lnTo>
                  <a:pt x="217" y="0"/>
                </a:lnTo>
                <a:lnTo>
                  <a:pt x="0" y="0"/>
                </a:lnTo>
                <a:lnTo>
                  <a:pt x="0"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153" name="灯片编号占位符 26"/>
          <p:cNvSpPr txBox="1"/>
          <p:nvPr/>
        </p:nvSpPr>
        <p:spPr>
          <a:xfrm>
            <a:off x="9051658" y="6494374"/>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9136AE8-E500-1747-9266-48E8CB052769}" type="slidenum">
              <a:rPr lang="en-GB" smtClean="0"/>
              <a:t>13</a:t>
            </a:fld>
            <a:endParaRPr lang="en-GB" dirty="0"/>
          </a:p>
        </p:txBody>
      </p:sp>
      <p:sp>
        <p:nvSpPr>
          <p:cNvPr id="154" name="矩形 69"/>
          <p:cNvSpPr>
            <a:spLocks noChangeArrowheads="1"/>
          </p:cNvSpPr>
          <p:nvPr/>
        </p:nvSpPr>
        <p:spPr bwMode="auto">
          <a:xfrm>
            <a:off x="44738" y="2354499"/>
            <a:ext cx="5475198" cy="4114965"/>
          </a:xfrm>
          <a:prstGeom prst="roundRect">
            <a:avLst>
              <a:gd name="adj" fmla="val 7084"/>
            </a:avLst>
          </a:prstGeom>
          <a:noFill/>
          <a:ln w="28575" cap="flat" cmpd="sng" algn="ctr">
            <a:solidFill>
              <a:srgbClr val="4F81BD">
                <a:shade val="50000"/>
              </a:srgbClr>
            </a:solidFill>
            <a:prstDash val="solid"/>
          </a:ln>
          <a:effectLst/>
        </p:spPr>
        <p:txBody>
          <a:bodyPr rtlCol="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40000"/>
              </a:lnSpc>
              <a:spcBef>
                <a:spcPct val="20000"/>
              </a:spcBef>
              <a:spcAft>
                <a:spcPts val="0"/>
              </a:spcAft>
              <a:buClrTx/>
              <a:buSzTx/>
              <a:buFont typeface="Wingdings" panose="05000000000000000000" pitchFamily="2" charset="2"/>
              <a:buNone/>
              <a:defRPr/>
            </a:pPr>
            <a:endParaRPr kumimoji="0" sz="1800" b="1"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55" name="文本框 154"/>
          <p:cNvSpPr txBox="1"/>
          <p:nvPr/>
        </p:nvSpPr>
        <p:spPr>
          <a:xfrm>
            <a:off x="211010" y="1128980"/>
            <a:ext cx="12000656" cy="1198880"/>
          </a:xfrm>
          <a:prstGeom prst="rect">
            <a:avLst/>
          </a:prstGeom>
          <a:noFill/>
        </p:spPr>
        <p:txBody>
          <a:bodyPr wrap="square">
            <a:spAutoFit/>
          </a:bodyPr>
          <a:lstStyle/>
          <a:p>
            <a:pPr>
              <a:lnSpc>
                <a:spcPct val="120000"/>
              </a:lnSpc>
            </a:pPr>
            <a:r>
              <a:rPr kumimoji="1" lang="zh-CN" altLang="en-US" sz="2000" b="1" dirty="0">
                <a:solidFill>
                  <a:srgbClr val="03199B"/>
                </a:solidFill>
                <a:latin typeface="微软雅黑" panose="020B0503020204020204" charset="-122"/>
                <a:ea typeface="微软雅黑" panose="020B0503020204020204" charset="-122"/>
              </a:rPr>
              <a:t>针对关节发热严重的问题，综合运用</a:t>
            </a:r>
            <a:r>
              <a:rPr lang="zh-CN" altLang="en-US" sz="2000" b="1" dirty="0">
                <a:solidFill>
                  <a:srgbClr val="FF0000"/>
                </a:solidFill>
                <a:latin typeface="微软雅黑" panose="020B0503020204020204" charset="-122"/>
                <a:ea typeface="微软雅黑" panose="020B0503020204020204" charset="-122"/>
                <a:cs typeface="Times New Roman" panose="02020603050405020304" pitchFamily="18" charset="0"/>
              </a:rPr>
              <a:t>散热微纳结构制备技术、热管理材料技术和先进制造技术</a:t>
            </a:r>
            <a:r>
              <a:rPr lang="zh-CN" altLang="en-US" sz="2000" b="1" dirty="0">
                <a:solidFill>
                  <a:srgbClr val="03199B"/>
                </a:solidFill>
                <a:latin typeface="微软雅黑" panose="020B0503020204020204" charset="-122"/>
                <a:ea typeface="微软雅黑" panose="020B0503020204020204" charset="-122"/>
                <a:cs typeface="Times New Roman" panose="02020603050405020304" pitchFamily="18" charset="0"/>
              </a:rPr>
              <a:t>，</a:t>
            </a:r>
            <a:r>
              <a:rPr kumimoji="1" lang="zh-CN" altLang="en-US" sz="2000" b="1" dirty="0">
                <a:solidFill>
                  <a:srgbClr val="03199B"/>
                </a:solidFill>
                <a:latin typeface="微软雅黑" panose="020B0503020204020204" charset="-122"/>
                <a:ea typeface="微软雅黑" panose="020B0503020204020204" charset="-122"/>
              </a:rPr>
              <a:t>实现热管理技术的革命性突破，解决了传统机器人长期面临“性能</a:t>
            </a:r>
            <a:r>
              <a:rPr kumimoji="1" lang="en-US" altLang="zh-CN" sz="2000" b="1" dirty="0">
                <a:solidFill>
                  <a:srgbClr val="03199B"/>
                </a:solidFill>
                <a:latin typeface="微软雅黑" panose="020B0503020204020204" charset="-122"/>
                <a:ea typeface="微软雅黑" panose="020B0503020204020204" charset="-122"/>
              </a:rPr>
              <a:t>-</a:t>
            </a:r>
            <a:r>
              <a:rPr kumimoji="1" lang="zh-CN" altLang="en-US" sz="2000" b="1" dirty="0">
                <a:solidFill>
                  <a:srgbClr val="03199B"/>
                </a:solidFill>
                <a:latin typeface="微软雅黑" panose="020B0503020204020204" charset="-122"/>
                <a:ea typeface="微软雅黑" panose="020B0503020204020204" charset="-122"/>
              </a:rPr>
              <a:t>可靠性</a:t>
            </a:r>
            <a:r>
              <a:rPr kumimoji="1" lang="en-US" altLang="zh-CN" sz="2000" b="1" dirty="0">
                <a:solidFill>
                  <a:srgbClr val="03199B"/>
                </a:solidFill>
                <a:latin typeface="微软雅黑" panose="020B0503020204020204" charset="-122"/>
                <a:ea typeface="微软雅黑" panose="020B0503020204020204" charset="-122"/>
              </a:rPr>
              <a:t>-</a:t>
            </a:r>
            <a:r>
              <a:rPr kumimoji="1" lang="zh-CN" altLang="en-US" sz="2000" b="1" dirty="0">
                <a:solidFill>
                  <a:srgbClr val="03199B"/>
                </a:solidFill>
                <a:latin typeface="微软雅黑" panose="020B0503020204020204" charset="-122"/>
                <a:ea typeface="微软雅黑" panose="020B0503020204020204" charset="-122"/>
              </a:rPr>
              <a:t>续航”不可能三角的行业困局，使机器人持续高动态运动成为可能。</a:t>
            </a:r>
          </a:p>
        </p:txBody>
      </p:sp>
      <p:sp>
        <p:nvSpPr>
          <p:cNvPr id="156" name="文本框 198"/>
          <p:cNvSpPr txBox="1">
            <a:spLocks noChangeArrowheads="1"/>
          </p:cNvSpPr>
          <p:nvPr/>
        </p:nvSpPr>
        <p:spPr bwMode="auto">
          <a:xfrm>
            <a:off x="884550" y="2379434"/>
            <a:ext cx="33152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r>
              <a:rPr lang="zh-CN" altLang="en-US" sz="2400" b="1" dirty="0">
                <a:solidFill>
                  <a:srgbClr val="03199B"/>
                </a:solidFill>
                <a:latin typeface="微软雅黑" panose="020B0503020204020204" charset="-122"/>
                <a:ea typeface="微软雅黑" panose="020B0503020204020204" charset="-122"/>
                <a:cs typeface="Times New Roman" panose="02020603050405020304" pitchFamily="18" charset="0"/>
              </a:rPr>
              <a:t>散热微纳结构制备技术</a:t>
            </a:r>
            <a:endParaRPr lang="en-US" altLang="zh-CN" sz="2400" b="1" dirty="0">
              <a:solidFill>
                <a:srgbClr val="03199B"/>
              </a:solidFill>
              <a:latin typeface="微软雅黑" panose="020B0503020204020204" charset="-122"/>
              <a:ea typeface="微软雅黑" panose="020B0503020204020204" charset="-122"/>
              <a:cs typeface="Times New Roman" panose="02020603050405020304" pitchFamily="18" charset="0"/>
            </a:endParaRPr>
          </a:p>
        </p:txBody>
      </p:sp>
      <p:sp>
        <p:nvSpPr>
          <p:cNvPr id="157" name="文本框 198"/>
          <p:cNvSpPr txBox="1">
            <a:spLocks noChangeArrowheads="1"/>
          </p:cNvSpPr>
          <p:nvPr/>
        </p:nvSpPr>
        <p:spPr bwMode="auto">
          <a:xfrm>
            <a:off x="9552384" y="2401692"/>
            <a:ext cx="2037299" cy="418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r>
              <a:rPr lang="zh-CN" altLang="en-US" sz="2400" b="1" dirty="0">
                <a:solidFill>
                  <a:srgbClr val="03199B"/>
                </a:solidFill>
                <a:latin typeface="微软雅黑" panose="020B0503020204020204" charset="-122"/>
                <a:ea typeface="微软雅黑" panose="020B0503020204020204" charset="-122"/>
                <a:cs typeface="Times New Roman" panose="02020603050405020304" pitchFamily="18" charset="0"/>
              </a:rPr>
              <a:t>先进制造技术</a:t>
            </a:r>
          </a:p>
        </p:txBody>
      </p:sp>
      <p:sp>
        <p:nvSpPr>
          <p:cNvPr id="158" name="文本框 198"/>
          <p:cNvSpPr txBox="1">
            <a:spLocks noChangeArrowheads="1"/>
          </p:cNvSpPr>
          <p:nvPr/>
        </p:nvSpPr>
        <p:spPr bwMode="auto">
          <a:xfrm>
            <a:off x="5774324" y="2379434"/>
            <a:ext cx="30243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r>
              <a:rPr lang="zh-CN" altLang="en-US" sz="2400" b="1" dirty="0">
                <a:solidFill>
                  <a:srgbClr val="03199B"/>
                </a:solidFill>
                <a:latin typeface="微软雅黑" panose="020B0503020204020204" charset="-122"/>
                <a:ea typeface="微软雅黑" panose="020B0503020204020204" charset="-122"/>
                <a:cs typeface="Times New Roman" panose="02020603050405020304" pitchFamily="18" charset="0"/>
              </a:rPr>
              <a:t>热管理材料技术</a:t>
            </a:r>
          </a:p>
        </p:txBody>
      </p:sp>
      <p:sp>
        <p:nvSpPr>
          <p:cNvPr id="159" name="文本框 158"/>
          <p:cNvSpPr txBox="1"/>
          <p:nvPr/>
        </p:nvSpPr>
        <p:spPr>
          <a:xfrm>
            <a:off x="801615" y="2833884"/>
            <a:ext cx="1331877" cy="236102"/>
          </a:xfrm>
          <a:prstGeom prst="rect">
            <a:avLst/>
          </a:prstGeom>
          <a:noFill/>
        </p:spPr>
        <p:txBody>
          <a:bodyPr wrap="square" rtlCol="0">
            <a:spAutoFit/>
          </a:bodyPr>
          <a:lstStyle/>
          <a:p>
            <a:pPr algn="ctr"/>
            <a:r>
              <a:rPr lang="zh-CN" altLang="en-US" sz="1600" b="1" dirty="0">
                <a:solidFill>
                  <a:srgbClr val="03199B"/>
                </a:solidFill>
                <a:latin typeface="微软雅黑" panose="020B0503020204020204" charset="-122"/>
                <a:ea typeface="微软雅黑" panose="020B0503020204020204" charset="-122"/>
              </a:rPr>
              <a:t>散热微结构</a:t>
            </a:r>
          </a:p>
        </p:txBody>
      </p:sp>
      <p:pic>
        <p:nvPicPr>
          <p:cNvPr id="160" name="图片 159"/>
          <p:cNvPicPr>
            <a:picLocks noChangeAspect="1"/>
          </p:cNvPicPr>
          <p:nvPr/>
        </p:nvPicPr>
        <p:blipFill>
          <a:blip r:embed="rId3"/>
          <a:stretch>
            <a:fillRect/>
          </a:stretch>
        </p:blipFill>
        <p:spPr>
          <a:xfrm>
            <a:off x="3144331" y="2998567"/>
            <a:ext cx="1081910" cy="1101722"/>
          </a:xfrm>
          <a:prstGeom prst="rect">
            <a:avLst/>
          </a:prstGeom>
        </p:spPr>
      </p:pic>
      <p:sp>
        <p:nvSpPr>
          <p:cNvPr id="161" name="文本框 160"/>
          <p:cNvSpPr txBox="1"/>
          <p:nvPr/>
        </p:nvSpPr>
        <p:spPr>
          <a:xfrm>
            <a:off x="3263561" y="3965427"/>
            <a:ext cx="1427852" cy="338554"/>
          </a:xfrm>
          <a:prstGeom prst="rect">
            <a:avLst/>
          </a:prstGeom>
          <a:noFill/>
        </p:spPr>
        <p:txBody>
          <a:bodyPr wrap="square" rtlCol="0">
            <a:spAutoFit/>
          </a:bodyPr>
          <a:lstStyle/>
          <a:p>
            <a:pPr algn="ctr"/>
            <a:r>
              <a:rPr lang="zh-CN" altLang="en-US" sz="1600" b="1" dirty="0">
                <a:solidFill>
                  <a:srgbClr val="03199B"/>
                </a:solidFill>
                <a:latin typeface="微软雅黑" panose="020B0503020204020204" charset="-122"/>
                <a:ea typeface="微软雅黑" panose="020B0503020204020204" charset="-122"/>
              </a:rPr>
              <a:t>加工装置</a:t>
            </a:r>
          </a:p>
        </p:txBody>
      </p:sp>
      <p:sp>
        <p:nvSpPr>
          <p:cNvPr id="162" name="箭头: 下 161"/>
          <p:cNvSpPr/>
          <p:nvPr/>
        </p:nvSpPr>
        <p:spPr>
          <a:xfrm>
            <a:off x="4160829" y="4311608"/>
            <a:ext cx="406531" cy="143654"/>
          </a:xfrm>
          <a:prstGeom prst="downArrow">
            <a:avLst/>
          </a:prstGeom>
          <a:solidFill>
            <a:srgbClr val="4F81BD"/>
          </a:solid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pic>
        <p:nvPicPr>
          <p:cNvPr id="163" name="图片 162"/>
          <p:cNvPicPr>
            <a:picLocks noChangeAspect="1"/>
          </p:cNvPicPr>
          <p:nvPr/>
        </p:nvPicPr>
        <p:blipFill rotWithShape="1">
          <a:blip r:embed="rId4"/>
          <a:srcRect l="11540" r="8525"/>
          <a:stretch>
            <a:fillRect/>
          </a:stretch>
        </p:blipFill>
        <p:spPr>
          <a:xfrm>
            <a:off x="1418312" y="4749343"/>
            <a:ext cx="919585" cy="842727"/>
          </a:xfrm>
          <a:prstGeom prst="rect">
            <a:avLst/>
          </a:prstGeom>
        </p:spPr>
      </p:pic>
      <p:pic>
        <p:nvPicPr>
          <p:cNvPr id="164" name="图片 163"/>
          <p:cNvPicPr>
            <a:picLocks noChangeAspect="1"/>
          </p:cNvPicPr>
          <p:nvPr/>
        </p:nvPicPr>
        <p:blipFill rotWithShape="1">
          <a:blip r:embed="rId5"/>
          <a:srcRect l="11540"/>
          <a:stretch>
            <a:fillRect/>
          </a:stretch>
        </p:blipFill>
        <p:spPr>
          <a:xfrm>
            <a:off x="315205" y="4729122"/>
            <a:ext cx="985029" cy="815729"/>
          </a:xfrm>
          <a:prstGeom prst="rect">
            <a:avLst/>
          </a:prstGeom>
        </p:spPr>
      </p:pic>
      <p:sp>
        <p:nvSpPr>
          <p:cNvPr id="165" name="文本框 164"/>
          <p:cNvSpPr txBox="1"/>
          <p:nvPr/>
        </p:nvSpPr>
        <p:spPr>
          <a:xfrm>
            <a:off x="458161" y="4440908"/>
            <a:ext cx="1941103" cy="338554"/>
          </a:xfrm>
          <a:prstGeom prst="rect">
            <a:avLst/>
          </a:prstGeom>
          <a:noFill/>
        </p:spPr>
        <p:txBody>
          <a:bodyPr wrap="square" rtlCol="0">
            <a:spAutoFit/>
          </a:bodyPr>
          <a:lstStyle/>
          <a:p>
            <a:pPr algn="ctr"/>
            <a:r>
              <a:rPr lang="zh-CN" altLang="en-US" sz="1600" b="1" dirty="0">
                <a:solidFill>
                  <a:srgbClr val="03199B"/>
                </a:solidFill>
                <a:latin typeface="微软雅黑" panose="020B0503020204020204" charset="-122"/>
                <a:ea typeface="微软雅黑" panose="020B0503020204020204" charset="-122"/>
              </a:rPr>
              <a:t>实验结果</a:t>
            </a:r>
          </a:p>
        </p:txBody>
      </p:sp>
      <p:pic>
        <p:nvPicPr>
          <p:cNvPr id="166" name="图片 165"/>
          <p:cNvPicPr>
            <a:picLocks noChangeAspect="1"/>
          </p:cNvPicPr>
          <p:nvPr/>
        </p:nvPicPr>
        <p:blipFill>
          <a:blip r:embed="rId6"/>
          <a:stretch>
            <a:fillRect/>
          </a:stretch>
        </p:blipFill>
        <p:spPr>
          <a:xfrm>
            <a:off x="266853" y="5516211"/>
            <a:ext cx="1041078" cy="838757"/>
          </a:xfrm>
          <a:prstGeom prst="rect">
            <a:avLst/>
          </a:prstGeom>
        </p:spPr>
      </p:pic>
      <p:pic>
        <p:nvPicPr>
          <p:cNvPr id="167" name="图片 166"/>
          <p:cNvPicPr>
            <a:picLocks noChangeAspect="1"/>
          </p:cNvPicPr>
          <p:nvPr/>
        </p:nvPicPr>
        <p:blipFill>
          <a:blip r:embed="rId7"/>
          <a:stretch>
            <a:fillRect/>
          </a:stretch>
        </p:blipFill>
        <p:spPr>
          <a:xfrm>
            <a:off x="1328679" y="5547854"/>
            <a:ext cx="1041078" cy="811066"/>
          </a:xfrm>
          <a:prstGeom prst="rect">
            <a:avLst/>
          </a:prstGeom>
        </p:spPr>
      </p:pic>
      <p:sp>
        <p:nvSpPr>
          <p:cNvPr id="168" name="文本框 167"/>
          <p:cNvSpPr txBox="1"/>
          <p:nvPr/>
        </p:nvSpPr>
        <p:spPr>
          <a:xfrm>
            <a:off x="3043085" y="4481873"/>
            <a:ext cx="2325195" cy="338554"/>
          </a:xfrm>
          <a:prstGeom prst="rect">
            <a:avLst/>
          </a:prstGeom>
          <a:noFill/>
        </p:spPr>
        <p:txBody>
          <a:bodyPr wrap="square" rtlCol="0">
            <a:spAutoFit/>
          </a:bodyPr>
          <a:lstStyle/>
          <a:p>
            <a:pPr algn="ctr"/>
            <a:r>
              <a:rPr lang="zh-CN" altLang="en-US" sz="1600" b="1" dirty="0">
                <a:solidFill>
                  <a:srgbClr val="03199B"/>
                </a:solidFill>
                <a:latin typeface="微软雅黑" panose="020B0503020204020204" charset="-122"/>
                <a:ea typeface="微软雅黑" panose="020B0503020204020204" charset="-122"/>
              </a:rPr>
              <a:t>加工原理</a:t>
            </a:r>
          </a:p>
        </p:txBody>
      </p:sp>
      <p:pic>
        <p:nvPicPr>
          <p:cNvPr id="169" name="图片 168"/>
          <p:cNvPicPr>
            <a:picLocks noChangeAspect="1"/>
          </p:cNvPicPr>
          <p:nvPr/>
        </p:nvPicPr>
        <p:blipFill>
          <a:blip r:embed="rId8"/>
          <a:stretch>
            <a:fillRect/>
          </a:stretch>
        </p:blipFill>
        <p:spPr>
          <a:xfrm>
            <a:off x="133044" y="3126082"/>
            <a:ext cx="2609060" cy="1004383"/>
          </a:xfrm>
          <a:prstGeom prst="rect">
            <a:avLst/>
          </a:prstGeom>
        </p:spPr>
      </p:pic>
      <p:pic>
        <p:nvPicPr>
          <p:cNvPr id="170" name="图片 169"/>
          <p:cNvPicPr>
            <a:picLocks noChangeAspect="1"/>
          </p:cNvPicPr>
          <p:nvPr/>
        </p:nvPicPr>
        <p:blipFill>
          <a:blip r:embed="rId9"/>
          <a:stretch>
            <a:fillRect/>
          </a:stretch>
        </p:blipFill>
        <p:spPr>
          <a:xfrm>
            <a:off x="4299968" y="3083931"/>
            <a:ext cx="1207451" cy="926886"/>
          </a:xfrm>
          <a:prstGeom prst="rect">
            <a:avLst/>
          </a:prstGeom>
        </p:spPr>
      </p:pic>
      <p:pic>
        <p:nvPicPr>
          <p:cNvPr id="171" name="图片 59"/>
          <p:cNvPicPr>
            <a:picLocks noChangeAspect="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054373" y="4883431"/>
            <a:ext cx="1465563" cy="916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3" name="图片 172"/>
          <p:cNvPicPr/>
          <p:nvPr/>
        </p:nvPicPr>
        <p:blipFill>
          <a:blip r:embed="rId11" cstate="print">
            <a:extLst>
              <a:ext uri="{28A0092B-C50C-407E-A947-70E740481C1C}">
                <a14:useLocalDpi xmlns:a14="http://schemas.microsoft.com/office/drawing/2010/main" val="0"/>
              </a:ext>
            </a:extLst>
          </a:blip>
          <a:stretch>
            <a:fillRect/>
          </a:stretch>
        </p:blipFill>
        <p:spPr>
          <a:xfrm>
            <a:off x="2985201" y="4847038"/>
            <a:ext cx="1050454" cy="818874"/>
          </a:xfrm>
          <a:prstGeom prst="rect">
            <a:avLst/>
          </a:prstGeom>
        </p:spPr>
      </p:pic>
      <p:sp>
        <p:nvSpPr>
          <p:cNvPr id="174" name="矩形 173"/>
          <p:cNvSpPr/>
          <p:nvPr/>
        </p:nvSpPr>
        <p:spPr>
          <a:xfrm>
            <a:off x="133044" y="2847671"/>
            <a:ext cx="2650588" cy="1399423"/>
          </a:xfrm>
          <a:prstGeom prst="rect">
            <a:avLst/>
          </a:prstGeom>
          <a:noFill/>
          <a:ln w="25400" cap="flat" cmpd="sng" algn="ctr">
            <a:solidFill>
              <a:srgbClr val="FF3300"/>
            </a:solidFill>
            <a:prstDash val="sysDot"/>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75" name="矩形 174"/>
          <p:cNvSpPr/>
          <p:nvPr/>
        </p:nvSpPr>
        <p:spPr>
          <a:xfrm>
            <a:off x="2945402" y="2824384"/>
            <a:ext cx="2539113" cy="1444950"/>
          </a:xfrm>
          <a:prstGeom prst="rect">
            <a:avLst/>
          </a:prstGeom>
          <a:noFill/>
          <a:ln w="25400" cap="flat" cmpd="sng" algn="ctr">
            <a:solidFill>
              <a:srgbClr val="FF3300"/>
            </a:solidFill>
            <a:prstDash val="sysDot"/>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76" name="箭头: 下 175"/>
          <p:cNvSpPr/>
          <p:nvPr/>
        </p:nvSpPr>
        <p:spPr>
          <a:xfrm rot="16200000">
            <a:off x="2661252" y="3475031"/>
            <a:ext cx="406531" cy="143654"/>
          </a:xfrm>
          <a:prstGeom prst="downArrow">
            <a:avLst/>
          </a:prstGeom>
          <a:solidFill>
            <a:srgbClr val="4F81BD"/>
          </a:solid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77" name="矩形 176"/>
          <p:cNvSpPr/>
          <p:nvPr/>
        </p:nvSpPr>
        <p:spPr>
          <a:xfrm>
            <a:off x="2942385" y="4455262"/>
            <a:ext cx="2539113" cy="1877645"/>
          </a:xfrm>
          <a:prstGeom prst="rect">
            <a:avLst/>
          </a:prstGeom>
          <a:noFill/>
          <a:ln w="25400" cap="flat" cmpd="sng" algn="ctr">
            <a:solidFill>
              <a:srgbClr val="FF3300"/>
            </a:solidFill>
            <a:prstDash val="sysDot"/>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78" name="矩形 177"/>
          <p:cNvSpPr/>
          <p:nvPr/>
        </p:nvSpPr>
        <p:spPr>
          <a:xfrm>
            <a:off x="133045" y="4455262"/>
            <a:ext cx="2591336" cy="1909881"/>
          </a:xfrm>
          <a:prstGeom prst="rect">
            <a:avLst/>
          </a:prstGeom>
          <a:noFill/>
          <a:ln w="25400" cap="flat" cmpd="sng" algn="ctr">
            <a:solidFill>
              <a:srgbClr val="FF3300"/>
            </a:solidFill>
            <a:prstDash val="sysDot"/>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79" name="箭头: 下 178"/>
          <p:cNvSpPr/>
          <p:nvPr/>
        </p:nvSpPr>
        <p:spPr>
          <a:xfrm rot="5400000">
            <a:off x="2628854" y="5264050"/>
            <a:ext cx="406531" cy="143654"/>
          </a:xfrm>
          <a:prstGeom prst="downArrow">
            <a:avLst/>
          </a:prstGeom>
          <a:solidFill>
            <a:srgbClr val="4F81BD"/>
          </a:solid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80" name="文本框 179"/>
          <p:cNvSpPr txBox="1"/>
          <p:nvPr/>
        </p:nvSpPr>
        <p:spPr>
          <a:xfrm>
            <a:off x="3204342" y="5630991"/>
            <a:ext cx="2068109" cy="738664"/>
          </a:xfrm>
          <a:prstGeom prst="rect">
            <a:avLst/>
          </a:prstGeom>
          <a:noFill/>
        </p:spPr>
        <p:txBody>
          <a:bodyPr wrap="square">
            <a:spAutoFit/>
          </a:bodyPr>
          <a:lstStyle/>
          <a:p>
            <a:r>
              <a:rPr lang="zh-CN" altLang="en-US" sz="1400" b="1" dirty="0">
                <a:solidFill>
                  <a:srgbClr val="C00000"/>
                </a:solidFill>
                <a:latin typeface="微软雅黑" panose="020B0503020204020204" charset="-122"/>
                <a:ea typeface="微软雅黑" panose="020B0503020204020204" charset="-122"/>
              </a:rPr>
              <a:t>面积：</a:t>
            </a:r>
            <a:r>
              <a:rPr lang="en-US" altLang="zh-CN" sz="1400" b="1" dirty="0">
                <a:solidFill>
                  <a:srgbClr val="C00000"/>
                </a:solidFill>
                <a:latin typeface="微软雅黑" panose="020B0503020204020204" charset="-122"/>
                <a:ea typeface="微软雅黑" panose="020B0503020204020204" charset="-122"/>
              </a:rPr>
              <a:t>1m</a:t>
            </a:r>
            <a:r>
              <a:rPr lang="en-US" altLang="zh-CN" sz="1400" b="1" baseline="30000" dirty="0">
                <a:solidFill>
                  <a:srgbClr val="C00000"/>
                </a:solidFill>
                <a:latin typeface="微软雅黑" panose="020B0503020204020204" charset="-122"/>
                <a:ea typeface="微软雅黑" panose="020B0503020204020204" charset="-122"/>
              </a:rPr>
              <a:t>2</a:t>
            </a:r>
          </a:p>
          <a:p>
            <a:r>
              <a:rPr lang="zh-CN" altLang="en-US" sz="1400" b="1" dirty="0">
                <a:solidFill>
                  <a:srgbClr val="C00000"/>
                </a:solidFill>
                <a:latin typeface="微软雅黑" panose="020B0503020204020204" charset="-122"/>
                <a:ea typeface="微软雅黑" panose="020B0503020204020204" charset="-122"/>
              </a:rPr>
              <a:t>制备</a:t>
            </a:r>
            <a:r>
              <a:rPr lang="en-US" altLang="zh-CN" sz="1400" b="1" dirty="0">
                <a:solidFill>
                  <a:srgbClr val="C00000"/>
                </a:solidFill>
                <a:latin typeface="微软雅黑" panose="020B0503020204020204" charset="-122"/>
                <a:ea typeface="微软雅黑" panose="020B0503020204020204" charset="-122"/>
              </a:rPr>
              <a:t>250</a:t>
            </a:r>
            <a:r>
              <a:rPr lang="zh-CN" altLang="en-US" sz="1400" b="1" dirty="0">
                <a:solidFill>
                  <a:srgbClr val="C00000"/>
                </a:solidFill>
                <a:latin typeface="微软雅黑" panose="020B0503020204020204" charset="-122"/>
                <a:ea typeface="微软雅黑" panose="020B0503020204020204" charset="-122"/>
              </a:rPr>
              <a:t>万个微凹坑，仅需</a:t>
            </a:r>
            <a:r>
              <a:rPr lang="en-US" altLang="zh-CN" sz="1400" b="1" dirty="0">
                <a:solidFill>
                  <a:srgbClr val="C00000"/>
                </a:solidFill>
                <a:latin typeface="微软雅黑" panose="020B0503020204020204" charset="-122"/>
                <a:ea typeface="微软雅黑" panose="020B0503020204020204" charset="-122"/>
              </a:rPr>
              <a:t>2min</a:t>
            </a:r>
            <a:endParaRPr lang="zh-CN" altLang="en-US" sz="1400" b="1" dirty="0">
              <a:solidFill>
                <a:srgbClr val="C00000"/>
              </a:solidFill>
              <a:latin typeface="微软雅黑" panose="020B0503020204020204" charset="-122"/>
              <a:ea typeface="微软雅黑" panose="020B0503020204020204" charset="-122"/>
            </a:endParaRPr>
          </a:p>
        </p:txBody>
      </p:sp>
      <p:sp>
        <p:nvSpPr>
          <p:cNvPr id="181" name="矩形 69"/>
          <p:cNvSpPr>
            <a:spLocks noChangeArrowheads="1"/>
          </p:cNvSpPr>
          <p:nvPr/>
        </p:nvSpPr>
        <p:spPr bwMode="auto">
          <a:xfrm>
            <a:off x="5616910" y="2325952"/>
            <a:ext cx="3181749" cy="4114965"/>
          </a:xfrm>
          <a:prstGeom prst="roundRect">
            <a:avLst>
              <a:gd name="adj" fmla="val 7084"/>
            </a:avLst>
          </a:prstGeom>
          <a:noFill/>
          <a:ln w="28575" cap="flat" cmpd="sng" algn="ctr">
            <a:solidFill>
              <a:srgbClr val="4F81BD">
                <a:shade val="50000"/>
              </a:srgbClr>
            </a:solidFill>
            <a:prstDash val="solid"/>
          </a:ln>
          <a:effectLst/>
        </p:spPr>
        <p:txBody>
          <a:bodyPr rtlCol="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40000"/>
              </a:lnSpc>
              <a:spcBef>
                <a:spcPct val="20000"/>
              </a:spcBef>
              <a:spcAft>
                <a:spcPts val="0"/>
              </a:spcAft>
              <a:buClrTx/>
              <a:buSzTx/>
              <a:buFont typeface="Wingdings" panose="05000000000000000000" pitchFamily="2" charset="2"/>
              <a:buNone/>
              <a:defRPr/>
            </a:pPr>
            <a:endParaRPr kumimoji="0" sz="1800" b="1"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p:txBody>
      </p:sp>
      <p:pic>
        <p:nvPicPr>
          <p:cNvPr id="183" name="图片 182"/>
          <p:cNvPicPr>
            <a:picLocks noChangeAspect="1"/>
          </p:cNvPicPr>
          <p:nvPr/>
        </p:nvPicPr>
        <p:blipFill>
          <a:blip r:embed="rId12"/>
          <a:stretch>
            <a:fillRect/>
          </a:stretch>
        </p:blipFill>
        <p:spPr>
          <a:xfrm rot="16200000">
            <a:off x="5173604" y="3689709"/>
            <a:ext cx="1938211" cy="656942"/>
          </a:xfrm>
          <a:prstGeom prst="rect">
            <a:avLst/>
          </a:prstGeom>
        </p:spPr>
      </p:pic>
      <p:pic>
        <p:nvPicPr>
          <p:cNvPr id="185" name="图片 184"/>
          <p:cNvPicPr>
            <a:picLocks noChangeAspect="1"/>
          </p:cNvPicPr>
          <p:nvPr/>
        </p:nvPicPr>
        <p:blipFill>
          <a:blip r:embed="rId13"/>
          <a:stretch>
            <a:fillRect/>
          </a:stretch>
        </p:blipFill>
        <p:spPr>
          <a:xfrm>
            <a:off x="5739077" y="5435537"/>
            <a:ext cx="2785248" cy="818780"/>
          </a:xfrm>
          <a:prstGeom prst="rect">
            <a:avLst/>
          </a:prstGeom>
        </p:spPr>
      </p:pic>
      <p:pic>
        <p:nvPicPr>
          <p:cNvPr id="187" name="Picture 7"/>
          <p:cNvPicPr>
            <a:picLocks noChangeAspect="1"/>
          </p:cNvPicPr>
          <p:nvPr/>
        </p:nvPicPr>
        <p:blipFill>
          <a:blip r:embed="rId14"/>
          <a:stretch>
            <a:fillRect/>
          </a:stretch>
        </p:blipFill>
        <p:spPr>
          <a:xfrm>
            <a:off x="6719543" y="3160394"/>
            <a:ext cx="1843198" cy="1851718"/>
          </a:xfrm>
          <a:prstGeom prst="rect">
            <a:avLst/>
          </a:prstGeom>
        </p:spPr>
      </p:pic>
      <p:sp>
        <p:nvSpPr>
          <p:cNvPr id="189" name="矩形 69"/>
          <p:cNvSpPr>
            <a:spLocks noChangeArrowheads="1"/>
          </p:cNvSpPr>
          <p:nvPr/>
        </p:nvSpPr>
        <p:spPr bwMode="auto">
          <a:xfrm>
            <a:off x="8908150" y="2325951"/>
            <a:ext cx="3181749" cy="4114965"/>
          </a:xfrm>
          <a:prstGeom prst="roundRect">
            <a:avLst>
              <a:gd name="adj" fmla="val 7084"/>
            </a:avLst>
          </a:prstGeom>
          <a:noFill/>
          <a:ln w="28575" cap="flat" cmpd="sng" algn="ctr">
            <a:solidFill>
              <a:srgbClr val="4F81BD">
                <a:shade val="50000"/>
              </a:srgbClr>
            </a:solidFill>
            <a:prstDash val="solid"/>
          </a:ln>
          <a:effectLst/>
        </p:spPr>
        <p:txBody>
          <a:bodyPr rtlCol="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40000"/>
              </a:lnSpc>
              <a:spcBef>
                <a:spcPct val="20000"/>
              </a:spcBef>
              <a:spcAft>
                <a:spcPts val="0"/>
              </a:spcAft>
              <a:buClrTx/>
              <a:buSzTx/>
              <a:buFont typeface="Wingdings" panose="05000000000000000000" pitchFamily="2" charset="2"/>
              <a:buNone/>
              <a:defRPr/>
            </a:pPr>
            <a:endParaRPr kumimoji="0" sz="1800" b="1"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p:txBody>
      </p:sp>
      <p:pic>
        <p:nvPicPr>
          <p:cNvPr id="191" name="图片 190"/>
          <p:cNvPicPr>
            <a:picLocks noChangeAspect="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9001986" y="3177278"/>
            <a:ext cx="3009233" cy="1312961"/>
          </a:xfrm>
          <a:prstGeom prst="rect">
            <a:avLst/>
          </a:prstGeom>
          <a:noFill/>
        </p:spPr>
      </p:pic>
      <p:sp>
        <p:nvSpPr>
          <p:cNvPr id="193" name="矩形 192"/>
          <p:cNvSpPr/>
          <p:nvPr/>
        </p:nvSpPr>
        <p:spPr>
          <a:xfrm>
            <a:off x="5683266" y="2869776"/>
            <a:ext cx="3017550" cy="2165031"/>
          </a:xfrm>
          <a:prstGeom prst="rect">
            <a:avLst/>
          </a:prstGeom>
          <a:noFill/>
          <a:ln w="25400" cap="flat" cmpd="sng" algn="ctr">
            <a:solidFill>
              <a:srgbClr val="FF3300"/>
            </a:solidFill>
            <a:prstDash val="sysDot"/>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5" name="文本框 194"/>
          <p:cNvSpPr txBox="1"/>
          <p:nvPr/>
        </p:nvSpPr>
        <p:spPr>
          <a:xfrm>
            <a:off x="6384168" y="2884022"/>
            <a:ext cx="1427852" cy="338554"/>
          </a:xfrm>
          <a:prstGeom prst="rect">
            <a:avLst/>
          </a:prstGeom>
          <a:noFill/>
        </p:spPr>
        <p:txBody>
          <a:bodyPr wrap="square" rtlCol="0">
            <a:spAutoFit/>
          </a:bodyPr>
          <a:lstStyle/>
          <a:p>
            <a:pPr algn="ctr"/>
            <a:r>
              <a:rPr lang="zh-CN" altLang="en-US" sz="1600" b="1" dirty="0">
                <a:solidFill>
                  <a:srgbClr val="03199B"/>
                </a:solidFill>
                <a:latin typeface="微软雅黑" panose="020B0503020204020204" charset="-122"/>
                <a:ea typeface="微软雅黑" panose="020B0503020204020204" charset="-122"/>
              </a:rPr>
              <a:t>散热材料开发</a:t>
            </a:r>
          </a:p>
        </p:txBody>
      </p:sp>
      <p:sp>
        <p:nvSpPr>
          <p:cNvPr id="197" name="矩形 196"/>
          <p:cNvSpPr/>
          <p:nvPr/>
        </p:nvSpPr>
        <p:spPr>
          <a:xfrm>
            <a:off x="5669077" y="5115683"/>
            <a:ext cx="3023089" cy="1223567"/>
          </a:xfrm>
          <a:prstGeom prst="rect">
            <a:avLst/>
          </a:prstGeom>
          <a:noFill/>
          <a:ln w="25400" cap="flat" cmpd="sng" algn="ctr">
            <a:solidFill>
              <a:srgbClr val="FF3300"/>
            </a:solidFill>
            <a:prstDash val="sysDot"/>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9" name="文本框 198"/>
          <p:cNvSpPr txBox="1"/>
          <p:nvPr/>
        </p:nvSpPr>
        <p:spPr>
          <a:xfrm>
            <a:off x="6457794" y="5119207"/>
            <a:ext cx="1427852" cy="338554"/>
          </a:xfrm>
          <a:prstGeom prst="rect">
            <a:avLst/>
          </a:prstGeom>
          <a:noFill/>
        </p:spPr>
        <p:txBody>
          <a:bodyPr wrap="square" rtlCol="0">
            <a:spAutoFit/>
          </a:bodyPr>
          <a:lstStyle/>
          <a:p>
            <a:pPr algn="ctr"/>
            <a:r>
              <a:rPr lang="zh-CN" altLang="en-US" sz="1600" b="1" dirty="0">
                <a:solidFill>
                  <a:srgbClr val="03199B"/>
                </a:solidFill>
                <a:latin typeface="微软雅黑" panose="020B0503020204020204" charset="-122"/>
                <a:ea typeface="微软雅黑" panose="020B0503020204020204" charset="-122"/>
              </a:rPr>
              <a:t>散热器件开发</a:t>
            </a:r>
          </a:p>
        </p:txBody>
      </p:sp>
      <p:sp>
        <p:nvSpPr>
          <p:cNvPr id="201" name="矩形 200"/>
          <p:cNvSpPr/>
          <p:nvPr/>
        </p:nvSpPr>
        <p:spPr>
          <a:xfrm>
            <a:off x="8995988" y="2855253"/>
            <a:ext cx="3048706" cy="1634985"/>
          </a:xfrm>
          <a:prstGeom prst="rect">
            <a:avLst/>
          </a:prstGeom>
          <a:noFill/>
          <a:ln w="25400" cap="flat" cmpd="sng" algn="ctr">
            <a:solidFill>
              <a:srgbClr val="FF3300"/>
            </a:solidFill>
            <a:prstDash val="sysDot"/>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03" name="文本框 202"/>
          <p:cNvSpPr txBox="1"/>
          <p:nvPr/>
        </p:nvSpPr>
        <p:spPr>
          <a:xfrm>
            <a:off x="9779492" y="2855254"/>
            <a:ext cx="1427852" cy="338554"/>
          </a:xfrm>
          <a:prstGeom prst="rect">
            <a:avLst/>
          </a:prstGeom>
          <a:noFill/>
        </p:spPr>
        <p:txBody>
          <a:bodyPr wrap="square" rtlCol="0">
            <a:spAutoFit/>
          </a:bodyPr>
          <a:lstStyle/>
          <a:p>
            <a:pPr algn="ctr"/>
            <a:r>
              <a:rPr lang="zh-CN" altLang="en-US" sz="1600" b="1" dirty="0">
                <a:solidFill>
                  <a:srgbClr val="03199B"/>
                </a:solidFill>
                <a:latin typeface="微软雅黑" panose="020B0503020204020204" charset="-122"/>
                <a:ea typeface="微软雅黑" panose="020B0503020204020204" charset="-122"/>
              </a:rPr>
              <a:t>系统开发</a:t>
            </a:r>
          </a:p>
        </p:txBody>
      </p:sp>
      <p:sp>
        <p:nvSpPr>
          <p:cNvPr id="205" name="矩形 204"/>
          <p:cNvSpPr/>
          <p:nvPr/>
        </p:nvSpPr>
        <p:spPr>
          <a:xfrm>
            <a:off x="8970566" y="4616238"/>
            <a:ext cx="3074127" cy="1703793"/>
          </a:xfrm>
          <a:prstGeom prst="rect">
            <a:avLst/>
          </a:prstGeom>
          <a:noFill/>
          <a:ln w="25400" cap="flat" cmpd="sng" algn="ctr">
            <a:solidFill>
              <a:srgbClr val="FF3300"/>
            </a:solidFill>
            <a:prstDash val="sysDot"/>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pic>
        <p:nvPicPr>
          <p:cNvPr id="207" name="图片 206"/>
          <p:cNvPicPr>
            <a:picLocks noChangeAspect="1"/>
          </p:cNvPicPr>
          <p:nvPr/>
        </p:nvPicPr>
        <p:blipFill>
          <a:blip r:embed="rId16"/>
          <a:stretch>
            <a:fillRect/>
          </a:stretch>
        </p:blipFill>
        <p:spPr>
          <a:xfrm>
            <a:off x="9104056" y="4944687"/>
            <a:ext cx="2824592" cy="1267031"/>
          </a:xfrm>
          <a:prstGeom prst="rect">
            <a:avLst/>
          </a:prstGeom>
        </p:spPr>
      </p:pic>
      <p:sp>
        <p:nvSpPr>
          <p:cNvPr id="2" name="文本框 1"/>
          <p:cNvSpPr txBox="1"/>
          <p:nvPr/>
        </p:nvSpPr>
        <p:spPr>
          <a:xfrm>
            <a:off x="751205" y="468630"/>
            <a:ext cx="6096000" cy="521970"/>
          </a:xfrm>
          <a:prstGeom prst="rect">
            <a:avLst/>
          </a:prstGeom>
          <a:noFill/>
        </p:spPr>
        <p:txBody>
          <a:bodyPr wrap="square" rtlCol="0" anchor="t">
            <a:spAutoFit/>
          </a:bodyPr>
          <a:lstStyle/>
          <a:p>
            <a:r>
              <a:rPr lang="zh-CN" altLang="en-US" sz="2800" b="1" kern="0" spc="150" dirty="0">
                <a:solidFill>
                  <a:srgbClr val="2C5374">
                    <a:alpha val="100000"/>
                  </a:srgbClr>
                </a:solidFill>
                <a:latin typeface="微软雅黑" panose="020B0503020204020204" charset="-122"/>
                <a:ea typeface="微软雅黑" panose="020B0503020204020204" charset="-122"/>
                <a:cs typeface="微软雅黑" panose="020B0503020204020204" charset="-122"/>
                <a:sym typeface="+mn-ea"/>
              </a:rPr>
              <a:t>核心技术壁垒</a:t>
            </a:r>
          </a:p>
        </p:txBody>
      </p:sp>
      <p:pic>
        <p:nvPicPr>
          <p:cNvPr id="3" name="图片 2"/>
          <p:cNvPicPr>
            <a:picLocks noChangeAspect="1"/>
          </p:cNvPicPr>
          <p:nvPr/>
        </p:nvPicPr>
        <p:blipFill>
          <a:blip r:embed="rId17"/>
          <a:stretch>
            <a:fillRect/>
          </a:stretch>
        </p:blipFill>
        <p:spPr>
          <a:xfrm>
            <a:off x="10428563" y="152249"/>
            <a:ext cx="1354271" cy="7811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6"/>
          <p:cNvPicPr>
            <a:picLocks noChangeAspect="1"/>
          </p:cNvPicPr>
          <p:nvPr/>
        </p:nvPicPr>
        <p:blipFill>
          <a:blip r:embed="rId2"/>
          <a:stretch>
            <a:fillRect/>
          </a:stretch>
        </p:blipFill>
        <p:spPr>
          <a:xfrm rot="21600000">
            <a:off x="0" y="6576693"/>
            <a:ext cx="12192000" cy="271779"/>
          </a:xfrm>
          <a:prstGeom prst="rect">
            <a:avLst/>
          </a:prstGeom>
        </p:spPr>
      </p:pic>
      <p:sp>
        <p:nvSpPr>
          <p:cNvPr id="70" name="textbox 70"/>
          <p:cNvSpPr/>
          <p:nvPr/>
        </p:nvSpPr>
        <p:spPr>
          <a:xfrm>
            <a:off x="1636628" y="455178"/>
            <a:ext cx="2599689" cy="507365"/>
          </a:xfrm>
          <a:prstGeom prst="rect">
            <a:avLst/>
          </a:prstGeom>
          <a:noFill/>
          <a:ln w="0" cap="flat">
            <a:noFill/>
            <a:prstDash val="solid"/>
            <a:miter lim="0"/>
          </a:ln>
        </p:spPr>
        <p:txBody>
          <a:bodyPr vert="horz" wrap="square" lIns="0" tIns="0" rIns="0" bIns="0"/>
          <a:lstStyle/>
          <a:p>
            <a:pPr algn="l" rtl="0" eaLnBrk="0">
              <a:lnSpc>
                <a:spcPct val="93000"/>
              </a:lnSpc>
            </a:pPr>
            <a:endParaRPr sz="1000" dirty="0">
              <a:latin typeface="微软雅黑" panose="020B0503020204020204" charset="-122"/>
              <a:ea typeface="微软雅黑" panose="020B0503020204020204" charset="-122"/>
              <a:cs typeface="微软雅黑" panose="020B0503020204020204" charset="-122"/>
            </a:endParaRPr>
          </a:p>
        </p:txBody>
      </p:sp>
      <p:sp>
        <p:nvSpPr>
          <p:cNvPr id="74" name="path 74"/>
          <p:cNvSpPr/>
          <p:nvPr/>
        </p:nvSpPr>
        <p:spPr>
          <a:xfrm>
            <a:off x="348614" y="354965"/>
            <a:ext cx="540385" cy="137794"/>
          </a:xfrm>
          <a:custGeom>
            <a:avLst/>
            <a:gdLst/>
            <a:ahLst/>
            <a:cxnLst/>
            <a:rect l="0" t="0" r="0" b="0"/>
            <a:pathLst>
              <a:path w="851" h="216">
                <a:moveTo>
                  <a:pt x="0" y="216"/>
                </a:moveTo>
                <a:lnTo>
                  <a:pt x="217" y="216"/>
                </a:lnTo>
                <a:lnTo>
                  <a:pt x="217" y="0"/>
                </a:lnTo>
                <a:lnTo>
                  <a:pt x="0" y="0"/>
                </a:lnTo>
                <a:lnTo>
                  <a:pt x="0" y="216"/>
                </a:lnTo>
                <a:close/>
              </a:path>
              <a:path w="851" h="216">
                <a:moveTo>
                  <a:pt x="317" y="216"/>
                </a:moveTo>
                <a:lnTo>
                  <a:pt x="534" y="216"/>
                </a:lnTo>
                <a:lnTo>
                  <a:pt x="534" y="0"/>
                </a:lnTo>
                <a:lnTo>
                  <a:pt x="317" y="0"/>
                </a:lnTo>
                <a:lnTo>
                  <a:pt x="317" y="216"/>
                </a:lnTo>
                <a:close/>
              </a:path>
              <a:path w="851" h="216">
                <a:moveTo>
                  <a:pt x="633" y="216"/>
                </a:moveTo>
                <a:lnTo>
                  <a:pt x="851" y="216"/>
                </a:lnTo>
                <a:lnTo>
                  <a:pt x="851" y="0"/>
                </a:lnTo>
                <a:lnTo>
                  <a:pt x="633" y="0"/>
                </a:lnTo>
                <a:lnTo>
                  <a:pt x="633"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2" name="path 82"/>
          <p:cNvSpPr/>
          <p:nvPr/>
        </p:nvSpPr>
        <p:spPr>
          <a:xfrm>
            <a:off x="348614" y="567054"/>
            <a:ext cx="339090" cy="349885"/>
          </a:xfrm>
          <a:custGeom>
            <a:avLst/>
            <a:gdLst/>
            <a:ahLst/>
            <a:cxnLst/>
            <a:rect l="0" t="0" r="0" b="0"/>
            <a:pathLst>
              <a:path w="534" h="551">
                <a:moveTo>
                  <a:pt x="0" y="217"/>
                </a:moveTo>
                <a:lnTo>
                  <a:pt x="217" y="217"/>
                </a:lnTo>
                <a:lnTo>
                  <a:pt x="217" y="0"/>
                </a:lnTo>
                <a:lnTo>
                  <a:pt x="0" y="0"/>
                </a:lnTo>
                <a:lnTo>
                  <a:pt x="0" y="217"/>
                </a:lnTo>
                <a:close/>
              </a:path>
              <a:path w="534" h="551">
                <a:moveTo>
                  <a:pt x="317" y="217"/>
                </a:moveTo>
                <a:lnTo>
                  <a:pt x="534" y="217"/>
                </a:lnTo>
                <a:lnTo>
                  <a:pt x="534" y="0"/>
                </a:lnTo>
                <a:lnTo>
                  <a:pt x="317" y="0"/>
                </a:lnTo>
                <a:lnTo>
                  <a:pt x="317" y="217"/>
                </a:lnTo>
                <a:close/>
              </a:path>
              <a:path w="534" h="551">
                <a:moveTo>
                  <a:pt x="0" y="551"/>
                </a:moveTo>
                <a:lnTo>
                  <a:pt x="217" y="551"/>
                </a:lnTo>
                <a:lnTo>
                  <a:pt x="217" y="334"/>
                </a:lnTo>
                <a:lnTo>
                  <a:pt x="0" y="334"/>
                </a:lnTo>
                <a:lnTo>
                  <a:pt x="0" y="551"/>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4" name="path 84"/>
          <p:cNvSpPr/>
          <p:nvPr/>
        </p:nvSpPr>
        <p:spPr>
          <a:xfrm>
            <a:off x="348614" y="142875"/>
            <a:ext cx="741680" cy="137794"/>
          </a:xfrm>
          <a:custGeom>
            <a:avLst/>
            <a:gdLst/>
            <a:ahLst/>
            <a:cxnLst/>
            <a:rect l="0" t="0" r="0" b="0"/>
            <a:pathLst>
              <a:path w="1168" h="216">
                <a:moveTo>
                  <a:pt x="0" y="216"/>
                </a:moveTo>
                <a:lnTo>
                  <a:pt x="217" y="216"/>
                </a:lnTo>
                <a:lnTo>
                  <a:pt x="217" y="0"/>
                </a:lnTo>
                <a:lnTo>
                  <a:pt x="0" y="0"/>
                </a:lnTo>
                <a:lnTo>
                  <a:pt x="0" y="216"/>
                </a:lnTo>
                <a:close/>
              </a:path>
              <a:path w="1168" h="216">
                <a:moveTo>
                  <a:pt x="317" y="216"/>
                </a:moveTo>
                <a:lnTo>
                  <a:pt x="534" y="216"/>
                </a:lnTo>
                <a:lnTo>
                  <a:pt x="534" y="0"/>
                </a:lnTo>
                <a:lnTo>
                  <a:pt x="317" y="0"/>
                </a:lnTo>
                <a:lnTo>
                  <a:pt x="317" y="216"/>
                </a:lnTo>
                <a:close/>
              </a:path>
              <a:path w="1168" h="216">
                <a:moveTo>
                  <a:pt x="633" y="216"/>
                </a:moveTo>
                <a:lnTo>
                  <a:pt x="851" y="216"/>
                </a:lnTo>
                <a:lnTo>
                  <a:pt x="851" y="0"/>
                </a:lnTo>
                <a:lnTo>
                  <a:pt x="633" y="0"/>
                </a:lnTo>
                <a:lnTo>
                  <a:pt x="633" y="216"/>
                </a:lnTo>
                <a:close/>
              </a:path>
              <a:path w="1168" h="216">
                <a:moveTo>
                  <a:pt x="951" y="216"/>
                </a:moveTo>
                <a:lnTo>
                  <a:pt x="1168" y="216"/>
                </a:lnTo>
                <a:lnTo>
                  <a:pt x="1168" y="0"/>
                </a:lnTo>
                <a:lnTo>
                  <a:pt x="951" y="0"/>
                </a:lnTo>
                <a:lnTo>
                  <a:pt x="951"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6" name="path 86"/>
          <p:cNvSpPr/>
          <p:nvPr/>
        </p:nvSpPr>
        <p:spPr>
          <a:xfrm>
            <a:off x="688340" y="955040"/>
            <a:ext cx="10786745" cy="76200"/>
          </a:xfrm>
          <a:custGeom>
            <a:avLst/>
            <a:gdLst/>
            <a:ahLst/>
            <a:cxnLst/>
            <a:rect l="0" t="0" r="0" b="0"/>
            <a:pathLst>
              <a:path w="15485" h="10">
                <a:moveTo>
                  <a:pt x="0" y="5"/>
                </a:moveTo>
                <a:lnTo>
                  <a:pt x="15485" y="5"/>
                </a:lnTo>
              </a:path>
            </a:pathLst>
          </a:custGeom>
          <a:noFill/>
          <a:ln w="6350" cap="flat">
            <a:solidFill>
              <a:srgbClr val="D9D9D9"/>
            </a:solidFill>
            <a:prstDash val="solid"/>
            <a:miter lim="1000000"/>
          </a:ln>
        </p:spPr>
        <p:txBody>
          <a:bodyPr rtlCol="0"/>
          <a:lstStyle/>
          <a:p>
            <a:pPr algn="ctr"/>
            <a:endParaRPr lang="zh-CN" altLang="en-US"/>
          </a:p>
        </p:txBody>
      </p:sp>
      <p:sp>
        <p:nvSpPr>
          <p:cNvPr id="88" name="rect 88"/>
          <p:cNvSpPr/>
          <p:nvPr/>
        </p:nvSpPr>
        <p:spPr>
          <a:xfrm>
            <a:off x="147320" y="56705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0" name="rect 90"/>
          <p:cNvSpPr/>
          <p:nvPr/>
        </p:nvSpPr>
        <p:spPr>
          <a:xfrm>
            <a:off x="147320" y="779145"/>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2" name="rect 92"/>
          <p:cNvSpPr/>
          <p:nvPr/>
        </p:nvSpPr>
        <p:spPr>
          <a:xfrm>
            <a:off x="147320" y="99123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4" name="rect 94"/>
          <p:cNvSpPr/>
          <p:nvPr/>
        </p:nvSpPr>
        <p:spPr>
          <a:xfrm>
            <a:off x="147320" y="14287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6" name="rect 96"/>
          <p:cNvSpPr/>
          <p:nvPr/>
        </p:nvSpPr>
        <p:spPr>
          <a:xfrm>
            <a:off x="147320" y="35496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pic>
        <p:nvPicPr>
          <p:cNvPr id="2" name="图片 1"/>
          <p:cNvPicPr>
            <a:picLocks noChangeAspect="1"/>
          </p:cNvPicPr>
          <p:nvPr/>
        </p:nvPicPr>
        <p:blipFill>
          <a:blip r:embed="rId3"/>
          <a:stretch>
            <a:fillRect/>
          </a:stretch>
        </p:blipFill>
        <p:spPr>
          <a:xfrm>
            <a:off x="10428563" y="68429"/>
            <a:ext cx="1354271" cy="781170"/>
          </a:xfrm>
          <a:prstGeom prst="rect">
            <a:avLst/>
          </a:prstGeom>
        </p:spPr>
      </p:pic>
      <p:sp>
        <p:nvSpPr>
          <p:cNvPr id="3" name="textbox 60"/>
          <p:cNvSpPr/>
          <p:nvPr/>
        </p:nvSpPr>
        <p:spPr>
          <a:xfrm>
            <a:off x="688022" y="3017728"/>
            <a:ext cx="10637203" cy="3795845"/>
          </a:xfrm>
          <a:prstGeom prst="rect">
            <a:avLst/>
          </a:prstGeom>
          <a:noFill/>
          <a:ln w="0" cap="flat">
            <a:noFill/>
            <a:prstDash val="solid"/>
            <a:miter lim="0"/>
          </a:ln>
        </p:spPr>
        <p:txBody>
          <a:bodyPr vert="horz" wrap="square" lIns="0" tIns="0" rIns="0" bIns="0"/>
          <a:lstStyle/>
          <a:p>
            <a:pPr algn="l" rtl="0" eaLnBrk="0">
              <a:lnSpc>
                <a:spcPct val="150000"/>
              </a:lnSpc>
            </a:pPr>
            <a:endParaRPr sz="100" dirty="0">
              <a:latin typeface="Arial" panose="020B0604020202020204"/>
              <a:ea typeface="Arial" panose="020B0604020202020204"/>
              <a:cs typeface="Arial" panose="020B0604020202020204"/>
            </a:endParaRPr>
          </a:p>
          <a:p>
            <a:pPr marL="17145" algn="l" rtl="0" eaLnBrk="0">
              <a:lnSpc>
                <a:spcPct val="150000"/>
              </a:lnSpc>
              <a:spcBef>
                <a:spcPts val="600"/>
              </a:spcBef>
              <a:spcAft>
                <a:spcPts val="600"/>
              </a:spcAft>
            </a:pPr>
            <a:endParaRPr lang="zh-CN" altLang="en-US" kern="0" spc="90" dirty="0">
              <a:solidFill>
                <a:srgbClr val="595959">
                  <a:alpha val="100000"/>
                </a:srgbClr>
              </a:solidFill>
              <a:latin typeface="微软雅黑" panose="020B0503020204020204" charset="-122"/>
              <a:ea typeface="微软雅黑" panose="020B0503020204020204" charset="-122"/>
              <a:cs typeface="微软雅黑" panose="020B0503020204020204" charset="-122"/>
            </a:endParaRPr>
          </a:p>
        </p:txBody>
      </p:sp>
      <p:sp>
        <p:nvSpPr>
          <p:cNvPr id="6" name="矩形 5"/>
          <p:cNvSpPr/>
          <p:nvPr/>
        </p:nvSpPr>
        <p:spPr>
          <a:xfrm>
            <a:off x="890270" y="354965"/>
            <a:ext cx="746125" cy="387985"/>
          </a:xfrm>
          <a:prstGeom prst="rect">
            <a:avLst/>
          </a:prstGeom>
          <a:noFill/>
          <a:ln>
            <a:noFill/>
          </a:ln>
        </p:spPr>
        <p:txBody>
          <a:bodyPr wrap="none" rtlCol="0" anchor="t">
            <a:noAutofit/>
          </a:bodyPr>
          <a:lstStyle/>
          <a:p>
            <a:pPr algn="ctr"/>
            <a:endParaRPr lang="en-US" altLang="zh-CN" sz="4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8" name="文本框 7"/>
          <p:cNvSpPr txBox="1"/>
          <p:nvPr/>
        </p:nvSpPr>
        <p:spPr>
          <a:xfrm>
            <a:off x="837565" y="433070"/>
            <a:ext cx="6096000" cy="521970"/>
          </a:xfrm>
          <a:prstGeom prst="rect">
            <a:avLst/>
          </a:prstGeom>
          <a:noFill/>
        </p:spPr>
        <p:txBody>
          <a:bodyPr wrap="square" rtlCol="0" anchor="t">
            <a:spAutoFit/>
          </a:bodyPr>
          <a:lstStyle/>
          <a:p>
            <a:r>
              <a:rPr lang="zh-CN" altLang="en-US" sz="2800" b="1" kern="0" noProof="0" dirty="0">
                <a:ln>
                  <a:noFill/>
                </a:ln>
                <a:solidFill>
                  <a:schemeClr val="accent1">
                    <a:lumMod val="50000"/>
                  </a:schemeClr>
                </a:solidFill>
                <a:effectLst/>
                <a:uLnTx/>
                <a:uFillTx/>
                <a:latin typeface="微软雅黑" panose="020B0503020204020204" charset="-122"/>
                <a:ea typeface="微软雅黑" panose="020B0503020204020204" charset="-122"/>
                <a:sym typeface="+mn-ea"/>
              </a:rPr>
              <a:t>专利成果展示</a:t>
            </a:r>
          </a:p>
        </p:txBody>
      </p:sp>
      <p:sp>
        <p:nvSpPr>
          <p:cNvPr id="72" name="path 72"/>
          <p:cNvSpPr/>
          <p:nvPr/>
        </p:nvSpPr>
        <p:spPr>
          <a:xfrm>
            <a:off x="11398249" y="6043294"/>
            <a:ext cx="741679" cy="774064"/>
          </a:xfrm>
          <a:custGeom>
            <a:avLst/>
            <a:gdLst/>
            <a:ahLst/>
            <a:cxnLst/>
            <a:rect l="0" t="0" r="0" b="0"/>
            <a:pathLst>
              <a:path w="1167" h="1218">
                <a:moveTo>
                  <a:pt x="950" y="1218"/>
                </a:moveTo>
                <a:lnTo>
                  <a:pt x="1167" y="1218"/>
                </a:lnTo>
                <a:lnTo>
                  <a:pt x="1167" y="1001"/>
                </a:lnTo>
                <a:lnTo>
                  <a:pt x="950" y="1001"/>
                </a:lnTo>
                <a:lnTo>
                  <a:pt x="950" y="1218"/>
                </a:lnTo>
                <a:close/>
              </a:path>
              <a:path w="1167" h="1218">
                <a:moveTo>
                  <a:pt x="634" y="1218"/>
                </a:moveTo>
                <a:lnTo>
                  <a:pt x="850" y="1218"/>
                </a:lnTo>
                <a:lnTo>
                  <a:pt x="850" y="1001"/>
                </a:lnTo>
                <a:lnTo>
                  <a:pt x="634" y="1001"/>
                </a:lnTo>
                <a:lnTo>
                  <a:pt x="634" y="1218"/>
                </a:lnTo>
                <a:close/>
              </a:path>
              <a:path w="1167" h="1218">
                <a:moveTo>
                  <a:pt x="317" y="1218"/>
                </a:moveTo>
                <a:lnTo>
                  <a:pt x="534" y="1218"/>
                </a:lnTo>
                <a:lnTo>
                  <a:pt x="534" y="1001"/>
                </a:lnTo>
                <a:lnTo>
                  <a:pt x="317" y="1001"/>
                </a:lnTo>
                <a:lnTo>
                  <a:pt x="317" y="1218"/>
                </a:lnTo>
                <a:close/>
              </a:path>
              <a:path w="1167" h="1218">
                <a:moveTo>
                  <a:pt x="0" y="1218"/>
                </a:moveTo>
                <a:lnTo>
                  <a:pt x="216" y="1218"/>
                </a:lnTo>
                <a:lnTo>
                  <a:pt x="216" y="1001"/>
                </a:lnTo>
                <a:lnTo>
                  <a:pt x="0" y="1001"/>
                </a:lnTo>
                <a:lnTo>
                  <a:pt x="0" y="1218"/>
                </a:lnTo>
                <a:close/>
              </a:path>
              <a:path w="1167" h="1218">
                <a:moveTo>
                  <a:pt x="950" y="884"/>
                </a:moveTo>
                <a:lnTo>
                  <a:pt x="1167" y="884"/>
                </a:lnTo>
                <a:lnTo>
                  <a:pt x="1167" y="667"/>
                </a:lnTo>
                <a:lnTo>
                  <a:pt x="950" y="667"/>
                </a:lnTo>
                <a:lnTo>
                  <a:pt x="950" y="884"/>
                </a:lnTo>
                <a:close/>
              </a:path>
              <a:path w="1167" h="1218">
                <a:moveTo>
                  <a:pt x="634" y="884"/>
                </a:moveTo>
                <a:lnTo>
                  <a:pt x="850" y="884"/>
                </a:lnTo>
                <a:lnTo>
                  <a:pt x="850" y="667"/>
                </a:lnTo>
                <a:lnTo>
                  <a:pt x="634" y="667"/>
                </a:lnTo>
                <a:lnTo>
                  <a:pt x="634" y="884"/>
                </a:lnTo>
                <a:close/>
              </a:path>
              <a:path w="1167" h="1218">
                <a:moveTo>
                  <a:pt x="317" y="884"/>
                </a:moveTo>
                <a:lnTo>
                  <a:pt x="534" y="884"/>
                </a:lnTo>
                <a:lnTo>
                  <a:pt x="534" y="667"/>
                </a:lnTo>
                <a:lnTo>
                  <a:pt x="317" y="667"/>
                </a:lnTo>
                <a:lnTo>
                  <a:pt x="317" y="884"/>
                </a:lnTo>
                <a:close/>
              </a:path>
              <a:path w="1167" h="1218">
                <a:moveTo>
                  <a:pt x="950" y="550"/>
                </a:moveTo>
                <a:lnTo>
                  <a:pt x="1167" y="550"/>
                </a:lnTo>
                <a:lnTo>
                  <a:pt x="1167" y="333"/>
                </a:lnTo>
                <a:lnTo>
                  <a:pt x="950" y="333"/>
                </a:lnTo>
                <a:lnTo>
                  <a:pt x="950" y="550"/>
                </a:lnTo>
                <a:close/>
              </a:path>
              <a:path w="1167" h="1218">
                <a:moveTo>
                  <a:pt x="634" y="550"/>
                </a:moveTo>
                <a:lnTo>
                  <a:pt x="850" y="550"/>
                </a:lnTo>
                <a:lnTo>
                  <a:pt x="850" y="333"/>
                </a:lnTo>
                <a:lnTo>
                  <a:pt x="634" y="333"/>
                </a:lnTo>
                <a:lnTo>
                  <a:pt x="634" y="550"/>
                </a:lnTo>
                <a:close/>
              </a:path>
              <a:path w="1167" h="1218">
                <a:moveTo>
                  <a:pt x="950" y="216"/>
                </a:moveTo>
                <a:lnTo>
                  <a:pt x="1167" y="216"/>
                </a:lnTo>
                <a:lnTo>
                  <a:pt x="1167" y="0"/>
                </a:lnTo>
                <a:lnTo>
                  <a:pt x="950" y="0"/>
                </a:lnTo>
                <a:lnTo>
                  <a:pt x="950"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7" name="文本框 6"/>
          <p:cNvSpPr txBox="1"/>
          <p:nvPr/>
        </p:nvSpPr>
        <p:spPr>
          <a:xfrm>
            <a:off x="2106930" y="1341120"/>
            <a:ext cx="8864600" cy="398780"/>
          </a:xfrm>
          <a:prstGeom prst="rect">
            <a:avLst/>
          </a:prstGeom>
          <a:noFill/>
        </p:spPr>
        <p:txBody>
          <a:bodyPr wrap="square" rtlCol="0" anchor="t">
            <a:spAutoFit/>
          </a:bodyPr>
          <a:lstStyle/>
          <a:p>
            <a:r>
              <a:rPr lang="en-US" altLang="zh-CN"/>
              <a:t>          </a:t>
            </a:r>
            <a:r>
              <a:rPr lang="zh-CN" altLang="en-US" sz="2000" b="1">
                <a:solidFill>
                  <a:schemeClr val="accent1">
                    <a:lumMod val="50000"/>
                  </a:schemeClr>
                </a:solidFill>
                <a:effectLst>
                  <a:outerShdw blurRad="38100" dist="38100" dir="2700000" algn="tl">
                    <a:srgbClr val="000000">
                      <a:alpha val="43137"/>
                    </a:srgbClr>
                  </a:outerShdw>
                </a:effectLst>
              </a:rPr>
              <a:t>授权国家发明专利</a:t>
            </a:r>
            <a:r>
              <a:rPr lang="en-US" altLang="zh-CN" sz="2000" b="1">
                <a:solidFill>
                  <a:schemeClr val="accent1">
                    <a:lumMod val="50000"/>
                  </a:schemeClr>
                </a:solidFill>
                <a:effectLst>
                  <a:outerShdw blurRad="38100" dist="38100" dir="2700000" algn="tl">
                    <a:srgbClr val="000000">
                      <a:alpha val="43137"/>
                    </a:srgbClr>
                  </a:outerShdw>
                </a:effectLst>
              </a:rPr>
              <a:t>14</a:t>
            </a:r>
            <a:r>
              <a:rPr lang="zh-CN" altLang="en-US" sz="2000" b="1">
                <a:solidFill>
                  <a:schemeClr val="accent1">
                    <a:lumMod val="50000"/>
                  </a:schemeClr>
                </a:solidFill>
                <a:effectLst>
                  <a:outerShdw blurRad="38100" dist="38100" dir="2700000" algn="tl">
                    <a:srgbClr val="000000">
                      <a:alpha val="43137"/>
                    </a:srgbClr>
                  </a:outerShdw>
                </a:effectLst>
              </a:rPr>
              <a:t>项，授权软件著作权</a:t>
            </a:r>
            <a:r>
              <a:rPr lang="en-US" altLang="zh-CN" sz="2000" b="1">
                <a:solidFill>
                  <a:schemeClr val="accent1">
                    <a:lumMod val="50000"/>
                  </a:schemeClr>
                </a:solidFill>
                <a:effectLst>
                  <a:outerShdw blurRad="38100" dist="38100" dir="2700000" algn="tl">
                    <a:srgbClr val="000000">
                      <a:alpha val="43137"/>
                    </a:srgbClr>
                  </a:outerShdw>
                </a:effectLst>
              </a:rPr>
              <a:t>2</a:t>
            </a:r>
            <a:r>
              <a:rPr lang="zh-CN" altLang="en-US" sz="2000" b="1">
                <a:solidFill>
                  <a:schemeClr val="accent1">
                    <a:lumMod val="50000"/>
                  </a:schemeClr>
                </a:solidFill>
                <a:effectLst>
                  <a:outerShdw blurRad="38100" dist="38100" dir="2700000" algn="tl">
                    <a:srgbClr val="000000">
                      <a:alpha val="43137"/>
                    </a:srgbClr>
                  </a:outerShdw>
                </a:effectLst>
              </a:rPr>
              <a:t>项，出版专著</a:t>
            </a:r>
            <a:r>
              <a:rPr lang="en-US" altLang="zh-CN" sz="2000" b="1">
                <a:solidFill>
                  <a:schemeClr val="accent1">
                    <a:lumMod val="50000"/>
                  </a:schemeClr>
                </a:solidFill>
                <a:effectLst>
                  <a:outerShdw blurRad="38100" dist="38100" dir="2700000" algn="tl">
                    <a:srgbClr val="000000">
                      <a:alpha val="43137"/>
                    </a:srgbClr>
                  </a:outerShdw>
                </a:effectLst>
              </a:rPr>
              <a:t>1</a:t>
            </a:r>
            <a:r>
              <a:rPr lang="zh-CN" altLang="en-US" sz="2000" b="1">
                <a:solidFill>
                  <a:schemeClr val="accent1">
                    <a:lumMod val="50000"/>
                  </a:schemeClr>
                </a:solidFill>
                <a:effectLst>
                  <a:outerShdw blurRad="38100" dist="38100" dir="2700000" algn="tl">
                    <a:srgbClr val="000000">
                      <a:alpha val="43137"/>
                    </a:srgbClr>
                  </a:outerShdw>
                </a:effectLst>
              </a:rPr>
              <a:t>本</a:t>
            </a:r>
          </a:p>
        </p:txBody>
      </p:sp>
      <p:pic>
        <p:nvPicPr>
          <p:cNvPr id="11" name="图片 10"/>
          <p:cNvPicPr>
            <a:picLocks noChangeAspect="1"/>
          </p:cNvPicPr>
          <p:nvPr/>
        </p:nvPicPr>
        <p:blipFill>
          <a:blip r:embed="rId4"/>
          <a:stretch>
            <a:fillRect/>
          </a:stretch>
        </p:blipFill>
        <p:spPr>
          <a:xfrm>
            <a:off x="1896110" y="1976120"/>
            <a:ext cx="9029700" cy="3763645"/>
          </a:xfrm>
          <a:prstGeom prst="rect">
            <a:avLst/>
          </a:prstGeom>
        </p:spPr>
      </p:pic>
      <p:sp>
        <p:nvSpPr>
          <p:cNvPr id="5" name="矩形 4"/>
          <p:cNvSpPr/>
          <p:nvPr/>
        </p:nvSpPr>
        <p:spPr>
          <a:xfrm>
            <a:off x="970274" y="2981156"/>
            <a:ext cx="65753" cy="461665"/>
          </a:xfrm>
          <a:prstGeom prst="rect">
            <a:avLst/>
          </a:prstGeom>
          <a:gradFill>
            <a:gsLst>
              <a:gs pos="50000">
                <a:srgbClr val="1F5FBF"/>
              </a:gs>
              <a:gs pos="0">
                <a:srgbClr val="1486CB"/>
              </a:gs>
              <a:gs pos="100000">
                <a:srgbClr val="2A34B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sp>
        <p:nvSpPr>
          <p:cNvPr id="13" name="文本框 12"/>
          <p:cNvSpPr txBox="1"/>
          <p:nvPr/>
        </p:nvSpPr>
        <p:spPr>
          <a:xfrm>
            <a:off x="378925" y="3443165"/>
            <a:ext cx="1257300" cy="460375"/>
          </a:xfrm>
          <a:prstGeom prst="rect">
            <a:avLst/>
          </a:prstGeom>
          <a:noFill/>
        </p:spPr>
        <p:txBody>
          <a:bodyPr wrap="square">
            <a:spAutoFit/>
          </a:bodyPr>
          <a:lstStyle/>
          <a:p>
            <a:pPr algn="ctr"/>
            <a:r>
              <a:rPr lang="en-US" sz="1200" b="1">
                <a:solidFill>
                  <a:schemeClr val="accent1">
                    <a:lumMod val="40000"/>
                    <a:lumOff val="60000"/>
                  </a:schemeClr>
                </a:solidFill>
                <a:latin typeface="Arial" panose="020B0604020202020204"/>
                <a:ea typeface="Arial" panose="020B0604020202020204"/>
                <a:cs typeface="Arial" panose="020B0604020202020204"/>
                <a:sym typeface="Arial" panose="020B0604020202020204"/>
              </a:rPr>
              <a:t>Nanjing Cooling</a:t>
            </a:r>
            <a:endParaRPr lang="zh-CN" altLang="en-US" sz="1200" b="1" dirty="0">
              <a:solidFill>
                <a:schemeClr val="accent1">
                  <a:lumMod val="60000"/>
                  <a:lumOff val="40000"/>
                </a:schemeClr>
              </a:solidFill>
              <a:latin typeface="华文楷体" panose="02010600040101010101" pitchFamily="2" charset="-122"/>
              <a:ea typeface="华文楷体" panose="02010600040101010101" pitchFamily="2" charset="-122"/>
              <a:sym typeface="+mn-ea"/>
            </a:endParaRPr>
          </a:p>
        </p:txBody>
      </p:sp>
      <p:sp>
        <p:nvSpPr>
          <p:cNvPr id="16" name="文本框 15"/>
          <p:cNvSpPr txBox="1"/>
          <p:nvPr/>
        </p:nvSpPr>
        <p:spPr>
          <a:xfrm>
            <a:off x="246973" y="4082588"/>
            <a:ext cx="1576567" cy="645160"/>
          </a:xfrm>
          <a:prstGeom prst="rect">
            <a:avLst/>
          </a:prstGeom>
          <a:noFill/>
        </p:spPr>
        <p:txBody>
          <a:bodyPr wrap="square" rtlCol="0">
            <a:spAutoFit/>
          </a:bodyPr>
          <a:lstStyle/>
          <a:p>
            <a:pPr algn="ctr">
              <a:lnSpc>
                <a:spcPct val="150000"/>
              </a:lnSpc>
            </a:pPr>
            <a:r>
              <a:rPr lang="zh-CN" altLang="en-US" sz="1200" b="1" dirty="0">
                <a:solidFill>
                  <a:schemeClr val="accent1">
                    <a:lumMod val="50000"/>
                  </a:schemeClr>
                </a:solidFill>
                <a:latin typeface="微软雅黑" panose="020B0503020204020204" charset="-122"/>
                <a:ea typeface="微软雅黑" panose="020B0503020204020204" charset="-122"/>
              </a:rPr>
              <a:t>酷灵热管理</a:t>
            </a:r>
            <a:endParaRPr lang="en-US" altLang="zh-CN" sz="1200" b="1" dirty="0">
              <a:solidFill>
                <a:schemeClr val="accent1">
                  <a:lumMod val="50000"/>
                </a:schemeClr>
              </a:solidFill>
              <a:latin typeface="微软雅黑" panose="020B0503020204020204" charset="-122"/>
              <a:ea typeface="微软雅黑" panose="020B0503020204020204" charset="-122"/>
            </a:endParaRPr>
          </a:p>
          <a:p>
            <a:pPr algn="ctr">
              <a:lnSpc>
                <a:spcPct val="150000"/>
              </a:lnSpc>
            </a:pPr>
            <a:r>
              <a:rPr lang="zh-CN" altLang="en-US" sz="1200" b="1" dirty="0">
                <a:solidFill>
                  <a:schemeClr val="accent1">
                    <a:lumMod val="50000"/>
                  </a:schemeClr>
                </a:solidFill>
                <a:latin typeface="微软雅黑" panose="020B0503020204020204" charset="-122"/>
                <a:ea typeface="微软雅黑" panose="020B0503020204020204" charset="-122"/>
              </a:rPr>
              <a:t>为机器人持久赋能</a:t>
            </a:r>
          </a:p>
        </p:txBody>
      </p:sp>
      <p:sp>
        <p:nvSpPr>
          <p:cNvPr id="18" name="文本框 17"/>
          <p:cNvSpPr txBox="1"/>
          <p:nvPr/>
        </p:nvSpPr>
        <p:spPr>
          <a:xfrm>
            <a:off x="192405" y="4820285"/>
            <a:ext cx="1814830" cy="614045"/>
          </a:xfrm>
          <a:prstGeom prst="rect">
            <a:avLst/>
          </a:prstGeom>
          <a:noFill/>
        </p:spPr>
        <p:txBody>
          <a:bodyPr wrap="square">
            <a:spAutoFit/>
          </a:bodyPr>
          <a:lstStyle/>
          <a:p>
            <a:pPr algn="ctr"/>
            <a:endParaRPr lang="zh-CN" altLang="en-US" sz="2000" b="1" dirty="0">
              <a:solidFill>
                <a:schemeClr val="accent1">
                  <a:lumMod val="50000"/>
                </a:schemeClr>
              </a:solidFill>
              <a:latin typeface="华文楷体" panose="02010600040101010101" pitchFamily="2" charset="-122"/>
              <a:ea typeface="华文楷体" panose="02010600040101010101" pitchFamily="2" charset="-122"/>
            </a:endParaRPr>
          </a:p>
          <a:p>
            <a:pPr algn="ctr"/>
            <a:r>
              <a:rPr lang="zh-CN" altLang="en-US" sz="1400" b="1" dirty="0">
                <a:solidFill>
                  <a:schemeClr val="accent1">
                    <a:lumMod val="60000"/>
                    <a:lumOff val="40000"/>
                  </a:schemeClr>
                </a:solidFill>
                <a:latin typeface="华文楷体" panose="02010600040101010101" pitchFamily="2" charset="-122"/>
                <a:ea typeface="华文楷体" panose="02010600040101010101" pitchFamily="2" charset="-122"/>
              </a:rPr>
              <a:t>解决方案与产品矩阵</a:t>
            </a:r>
          </a:p>
        </p:txBody>
      </p:sp>
      <p:sp>
        <p:nvSpPr>
          <p:cNvPr id="19" name="矩形 18"/>
          <p:cNvSpPr/>
          <p:nvPr/>
        </p:nvSpPr>
        <p:spPr>
          <a:xfrm>
            <a:off x="970222" y="5434594"/>
            <a:ext cx="65753" cy="461665"/>
          </a:xfrm>
          <a:prstGeom prst="rect">
            <a:avLst/>
          </a:prstGeom>
          <a:gradFill>
            <a:gsLst>
              <a:gs pos="50000">
                <a:srgbClr val="1F5FBF"/>
              </a:gs>
              <a:gs pos="0">
                <a:srgbClr val="1486CB"/>
              </a:gs>
              <a:gs pos="100000">
                <a:srgbClr val="2A34B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6"/>
          <p:cNvPicPr>
            <a:picLocks noChangeAspect="1"/>
          </p:cNvPicPr>
          <p:nvPr/>
        </p:nvPicPr>
        <p:blipFill>
          <a:blip r:embed="rId30"/>
          <a:stretch>
            <a:fillRect/>
          </a:stretch>
        </p:blipFill>
        <p:spPr>
          <a:xfrm rot="21600000">
            <a:off x="0" y="6576693"/>
            <a:ext cx="12192000" cy="271779"/>
          </a:xfrm>
          <a:prstGeom prst="rect">
            <a:avLst/>
          </a:prstGeom>
        </p:spPr>
      </p:pic>
      <p:sp>
        <p:nvSpPr>
          <p:cNvPr id="70" name="textbox 70"/>
          <p:cNvSpPr/>
          <p:nvPr/>
        </p:nvSpPr>
        <p:spPr>
          <a:xfrm>
            <a:off x="1636628" y="455178"/>
            <a:ext cx="2599689" cy="507365"/>
          </a:xfrm>
          <a:prstGeom prst="rect">
            <a:avLst/>
          </a:prstGeom>
          <a:noFill/>
          <a:ln w="0" cap="flat">
            <a:noFill/>
            <a:prstDash val="solid"/>
            <a:miter lim="0"/>
          </a:ln>
        </p:spPr>
        <p:txBody>
          <a:bodyPr vert="horz" wrap="square" lIns="0" tIns="0" rIns="0" bIns="0"/>
          <a:lstStyle/>
          <a:p>
            <a:pPr algn="l" rtl="0" eaLnBrk="0">
              <a:lnSpc>
                <a:spcPct val="93000"/>
              </a:lnSpc>
            </a:pPr>
            <a:endParaRPr sz="1000" dirty="0">
              <a:latin typeface="微软雅黑" panose="020B0503020204020204" charset="-122"/>
              <a:ea typeface="微软雅黑" panose="020B0503020204020204" charset="-122"/>
              <a:cs typeface="微软雅黑" panose="020B0503020204020204" charset="-122"/>
            </a:endParaRPr>
          </a:p>
        </p:txBody>
      </p:sp>
      <p:sp>
        <p:nvSpPr>
          <p:cNvPr id="74" name="path 74"/>
          <p:cNvSpPr/>
          <p:nvPr/>
        </p:nvSpPr>
        <p:spPr>
          <a:xfrm>
            <a:off x="348614" y="354965"/>
            <a:ext cx="540385" cy="137794"/>
          </a:xfrm>
          <a:custGeom>
            <a:avLst/>
            <a:gdLst/>
            <a:ahLst/>
            <a:cxnLst/>
            <a:rect l="0" t="0" r="0" b="0"/>
            <a:pathLst>
              <a:path w="851" h="216">
                <a:moveTo>
                  <a:pt x="0" y="216"/>
                </a:moveTo>
                <a:lnTo>
                  <a:pt x="217" y="216"/>
                </a:lnTo>
                <a:lnTo>
                  <a:pt x="217" y="0"/>
                </a:lnTo>
                <a:lnTo>
                  <a:pt x="0" y="0"/>
                </a:lnTo>
                <a:lnTo>
                  <a:pt x="0" y="216"/>
                </a:lnTo>
                <a:close/>
              </a:path>
              <a:path w="851" h="216">
                <a:moveTo>
                  <a:pt x="317" y="216"/>
                </a:moveTo>
                <a:lnTo>
                  <a:pt x="534" y="216"/>
                </a:lnTo>
                <a:lnTo>
                  <a:pt x="534" y="0"/>
                </a:lnTo>
                <a:lnTo>
                  <a:pt x="317" y="0"/>
                </a:lnTo>
                <a:lnTo>
                  <a:pt x="317" y="216"/>
                </a:lnTo>
                <a:close/>
              </a:path>
              <a:path w="851" h="216">
                <a:moveTo>
                  <a:pt x="633" y="216"/>
                </a:moveTo>
                <a:lnTo>
                  <a:pt x="851" y="216"/>
                </a:lnTo>
                <a:lnTo>
                  <a:pt x="851" y="0"/>
                </a:lnTo>
                <a:lnTo>
                  <a:pt x="633" y="0"/>
                </a:lnTo>
                <a:lnTo>
                  <a:pt x="633"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2" name="path 82"/>
          <p:cNvSpPr/>
          <p:nvPr/>
        </p:nvSpPr>
        <p:spPr>
          <a:xfrm>
            <a:off x="348614" y="567054"/>
            <a:ext cx="339090" cy="349885"/>
          </a:xfrm>
          <a:custGeom>
            <a:avLst/>
            <a:gdLst/>
            <a:ahLst/>
            <a:cxnLst/>
            <a:rect l="0" t="0" r="0" b="0"/>
            <a:pathLst>
              <a:path w="534" h="551">
                <a:moveTo>
                  <a:pt x="0" y="217"/>
                </a:moveTo>
                <a:lnTo>
                  <a:pt x="217" y="217"/>
                </a:lnTo>
                <a:lnTo>
                  <a:pt x="217" y="0"/>
                </a:lnTo>
                <a:lnTo>
                  <a:pt x="0" y="0"/>
                </a:lnTo>
                <a:lnTo>
                  <a:pt x="0" y="217"/>
                </a:lnTo>
                <a:close/>
              </a:path>
              <a:path w="534" h="551">
                <a:moveTo>
                  <a:pt x="317" y="217"/>
                </a:moveTo>
                <a:lnTo>
                  <a:pt x="534" y="217"/>
                </a:lnTo>
                <a:lnTo>
                  <a:pt x="534" y="0"/>
                </a:lnTo>
                <a:lnTo>
                  <a:pt x="317" y="0"/>
                </a:lnTo>
                <a:lnTo>
                  <a:pt x="317" y="217"/>
                </a:lnTo>
                <a:close/>
              </a:path>
              <a:path w="534" h="551">
                <a:moveTo>
                  <a:pt x="0" y="551"/>
                </a:moveTo>
                <a:lnTo>
                  <a:pt x="217" y="551"/>
                </a:lnTo>
                <a:lnTo>
                  <a:pt x="217" y="334"/>
                </a:lnTo>
                <a:lnTo>
                  <a:pt x="0" y="334"/>
                </a:lnTo>
                <a:lnTo>
                  <a:pt x="0" y="551"/>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4" name="path 84"/>
          <p:cNvSpPr/>
          <p:nvPr/>
        </p:nvSpPr>
        <p:spPr>
          <a:xfrm>
            <a:off x="348614" y="142875"/>
            <a:ext cx="741680" cy="137794"/>
          </a:xfrm>
          <a:custGeom>
            <a:avLst/>
            <a:gdLst/>
            <a:ahLst/>
            <a:cxnLst/>
            <a:rect l="0" t="0" r="0" b="0"/>
            <a:pathLst>
              <a:path w="1168" h="216">
                <a:moveTo>
                  <a:pt x="0" y="216"/>
                </a:moveTo>
                <a:lnTo>
                  <a:pt x="217" y="216"/>
                </a:lnTo>
                <a:lnTo>
                  <a:pt x="217" y="0"/>
                </a:lnTo>
                <a:lnTo>
                  <a:pt x="0" y="0"/>
                </a:lnTo>
                <a:lnTo>
                  <a:pt x="0" y="216"/>
                </a:lnTo>
                <a:close/>
              </a:path>
              <a:path w="1168" h="216">
                <a:moveTo>
                  <a:pt x="317" y="216"/>
                </a:moveTo>
                <a:lnTo>
                  <a:pt x="534" y="216"/>
                </a:lnTo>
                <a:lnTo>
                  <a:pt x="534" y="0"/>
                </a:lnTo>
                <a:lnTo>
                  <a:pt x="317" y="0"/>
                </a:lnTo>
                <a:lnTo>
                  <a:pt x="317" y="216"/>
                </a:lnTo>
                <a:close/>
              </a:path>
              <a:path w="1168" h="216">
                <a:moveTo>
                  <a:pt x="633" y="216"/>
                </a:moveTo>
                <a:lnTo>
                  <a:pt x="851" y="216"/>
                </a:lnTo>
                <a:lnTo>
                  <a:pt x="851" y="0"/>
                </a:lnTo>
                <a:lnTo>
                  <a:pt x="633" y="0"/>
                </a:lnTo>
                <a:lnTo>
                  <a:pt x="633" y="216"/>
                </a:lnTo>
                <a:close/>
              </a:path>
              <a:path w="1168" h="216">
                <a:moveTo>
                  <a:pt x="951" y="216"/>
                </a:moveTo>
                <a:lnTo>
                  <a:pt x="1168" y="216"/>
                </a:lnTo>
                <a:lnTo>
                  <a:pt x="1168" y="0"/>
                </a:lnTo>
                <a:lnTo>
                  <a:pt x="951" y="0"/>
                </a:lnTo>
                <a:lnTo>
                  <a:pt x="951"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6" name="path 86"/>
          <p:cNvSpPr/>
          <p:nvPr/>
        </p:nvSpPr>
        <p:spPr>
          <a:xfrm>
            <a:off x="688340" y="955040"/>
            <a:ext cx="10786745" cy="76200"/>
          </a:xfrm>
          <a:custGeom>
            <a:avLst/>
            <a:gdLst/>
            <a:ahLst/>
            <a:cxnLst/>
            <a:rect l="0" t="0" r="0" b="0"/>
            <a:pathLst>
              <a:path w="15485" h="10">
                <a:moveTo>
                  <a:pt x="0" y="5"/>
                </a:moveTo>
                <a:lnTo>
                  <a:pt x="15485" y="5"/>
                </a:lnTo>
              </a:path>
            </a:pathLst>
          </a:custGeom>
          <a:noFill/>
          <a:ln w="6350" cap="flat">
            <a:solidFill>
              <a:srgbClr val="D9D9D9"/>
            </a:solidFill>
            <a:prstDash val="solid"/>
            <a:miter lim="1000000"/>
          </a:ln>
        </p:spPr>
        <p:txBody>
          <a:bodyPr rtlCol="0"/>
          <a:lstStyle/>
          <a:p>
            <a:pPr algn="ctr"/>
            <a:endParaRPr lang="zh-CN" altLang="en-US"/>
          </a:p>
        </p:txBody>
      </p:sp>
      <p:sp>
        <p:nvSpPr>
          <p:cNvPr id="88" name="rect 88"/>
          <p:cNvSpPr/>
          <p:nvPr/>
        </p:nvSpPr>
        <p:spPr>
          <a:xfrm>
            <a:off x="147320" y="56705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0" name="rect 90"/>
          <p:cNvSpPr/>
          <p:nvPr/>
        </p:nvSpPr>
        <p:spPr>
          <a:xfrm>
            <a:off x="147320" y="779145"/>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2" name="rect 92"/>
          <p:cNvSpPr/>
          <p:nvPr/>
        </p:nvSpPr>
        <p:spPr>
          <a:xfrm>
            <a:off x="147320" y="99123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4" name="rect 94"/>
          <p:cNvSpPr/>
          <p:nvPr/>
        </p:nvSpPr>
        <p:spPr>
          <a:xfrm>
            <a:off x="147320" y="14287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6" name="rect 96"/>
          <p:cNvSpPr/>
          <p:nvPr/>
        </p:nvSpPr>
        <p:spPr>
          <a:xfrm>
            <a:off x="147320" y="35496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pic>
        <p:nvPicPr>
          <p:cNvPr id="2" name="图片 1"/>
          <p:cNvPicPr>
            <a:picLocks noChangeAspect="1"/>
          </p:cNvPicPr>
          <p:nvPr/>
        </p:nvPicPr>
        <p:blipFill>
          <a:blip r:embed="rId31"/>
          <a:stretch>
            <a:fillRect/>
          </a:stretch>
        </p:blipFill>
        <p:spPr>
          <a:xfrm>
            <a:off x="10428563" y="68429"/>
            <a:ext cx="1354271" cy="781170"/>
          </a:xfrm>
          <a:prstGeom prst="rect">
            <a:avLst/>
          </a:prstGeom>
        </p:spPr>
      </p:pic>
      <p:sp>
        <p:nvSpPr>
          <p:cNvPr id="3" name="textbox 60"/>
          <p:cNvSpPr/>
          <p:nvPr/>
        </p:nvSpPr>
        <p:spPr>
          <a:xfrm>
            <a:off x="688022" y="3017728"/>
            <a:ext cx="10637203" cy="3795845"/>
          </a:xfrm>
          <a:prstGeom prst="rect">
            <a:avLst/>
          </a:prstGeom>
          <a:noFill/>
          <a:ln w="0" cap="flat">
            <a:noFill/>
            <a:prstDash val="solid"/>
            <a:miter lim="0"/>
          </a:ln>
        </p:spPr>
        <p:txBody>
          <a:bodyPr vert="horz" wrap="square" lIns="0" tIns="0" rIns="0" bIns="0"/>
          <a:lstStyle/>
          <a:p>
            <a:pPr algn="l" rtl="0" eaLnBrk="0">
              <a:lnSpc>
                <a:spcPct val="150000"/>
              </a:lnSpc>
            </a:pPr>
            <a:endParaRPr sz="100" dirty="0">
              <a:latin typeface="Arial" panose="020B0604020202020204"/>
              <a:ea typeface="Arial" panose="020B0604020202020204"/>
              <a:cs typeface="Arial" panose="020B0604020202020204"/>
            </a:endParaRPr>
          </a:p>
          <a:p>
            <a:pPr marL="17145" algn="l" rtl="0" eaLnBrk="0">
              <a:lnSpc>
                <a:spcPct val="150000"/>
              </a:lnSpc>
              <a:spcBef>
                <a:spcPts val="600"/>
              </a:spcBef>
              <a:spcAft>
                <a:spcPts val="600"/>
              </a:spcAft>
            </a:pPr>
            <a:endParaRPr lang="zh-CN" altLang="en-US" kern="0" spc="90" dirty="0">
              <a:solidFill>
                <a:srgbClr val="595959">
                  <a:alpha val="100000"/>
                </a:srgbClr>
              </a:solidFill>
              <a:latin typeface="微软雅黑" panose="020B0503020204020204" charset="-122"/>
              <a:ea typeface="微软雅黑" panose="020B0503020204020204" charset="-122"/>
              <a:cs typeface="微软雅黑" panose="020B0503020204020204" charset="-122"/>
            </a:endParaRPr>
          </a:p>
        </p:txBody>
      </p:sp>
      <p:sp>
        <p:nvSpPr>
          <p:cNvPr id="6" name="矩形 5"/>
          <p:cNvSpPr/>
          <p:nvPr/>
        </p:nvSpPr>
        <p:spPr>
          <a:xfrm>
            <a:off x="890270" y="354965"/>
            <a:ext cx="746125" cy="387985"/>
          </a:xfrm>
          <a:prstGeom prst="rect">
            <a:avLst/>
          </a:prstGeom>
          <a:noFill/>
          <a:ln>
            <a:noFill/>
          </a:ln>
        </p:spPr>
        <p:txBody>
          <a:bodyPr wrap="none" rtlCol="0" anchor="t">
            <a:noAutofit/>
          </a:bodyPr>
          <a:lstStyle/>
          <a:p>
            <a:pPr algn="ctr"/>
            <a:endParaRPr lang="en-US" altLang="zh-CN" sz="4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8" name="文本框 7"/>
          <p:cNvSpPr txBox="1"/>
          <p:nvPr/>
        </p:nvSpPr>
        <p:spPr>
          <a:xfrm>
            <a:off x="837565" y="433070"/>
            <a:ext cx="6797675" cy="521970"/>
          </a:xfrm>
          <a:prstGeom prst="rect">
            <a:avLst/>
          </a:prstGeom>
          <a:noFill/>
        </p:spPr>
        <p:txBody>
          <a:bodyPr wrap="square" rtlCol="0" anchor="t">
            <a:spAutoFit/>
          </a:bodyPr>
          <a:lstStyle/>
          <a:p>
            <a:r>
              <a:rPr lang="zh-CN" altLang="en-US" sz="2800" b="1" kern="0" spc="150" dirty="0">
                <a:solidFill>
                  <a:srgbClr val="2C5374">
                    <a:alpha val="100000"/>
                  </a:srgbClr>
                </a:solidFill>
                <a:latin typeface="微软雅黑" panose="020B0503020204020204" charset="-122"/>
                <a:ea typeface="微软雅黑" panose="020B0503020204020204" charset="-122"/>
                <a:cs typeface="微软雅黑" panose="020B0503020204020204" charset="-122"/>
                <a:sym typeface="+mn-ea"/>
              </a:rPr>
              <a:t>提供四类热管理方案</a:t>
            </a:r>
          </a:p>
        </p:txBody>
      </p:sp>
      <p:sp>
        <p:nvSpPr>
          <p:cNvPr id="72" name="path 72"/>
          <p:cNvSpPr/>
          <p:nvPr/>
        </p:nvSpPr>
        <p:spPr>
          <a:xfrm>
            <a:off x="11398249" y="6043294"/>
            <a:ext cx="741679" cy="774064"/>
          </a:xfrm>
          <a:custGeom>
            <a:avLst/>
            <a:gdLst/>
            <a:ahLst/>
            <a:cxnLst/>
            <a:rect l="0" t="0" r="0" b="0"/>
            <a:pathLst>
              <a:path w="1167" h="1218">
                <a:moveTo>
                  <a:pt x="950" y="1218"/>
                </a:moveTo>
                <a:lnTo>
                  <a:pt x="1167" y="1218"/>
                </a:lnTo>
                <a:lnTo>
                  <a:pt x="1167" y="1001"/>
                </a:lnTo>
                <a:lnTo>
                  <a:pt x="950" y="1001"/>
                </a:lnTo>
                <a:lnTo>
                  <a:pt x="950" y="1218"/>
                </a:lnTo>
                <a:close/>
              </a:path>
              <a:path w="1167" h="1218">
                <a:moveTo>
                  <a:pt x="634" y="1218"/>
                </a:moveTo>
                <a:lnTo>
                  <a:pt x="850" y="1218"/>
                </a:lnTo>
                <a:lnTo>
                  <a:pt x="850" y="1001"/>
                </a:lnTo>
                <a:lnTo>
                  <a:pt x="634" y="1001"/>
                </a:lnTo>
                <a:lnTo>
                  <a:pt x="634" y="1218"/>
                </a:lnTo>
                <a:close/>
              </a:path>
              <a:path w="1167" h="1218">
                <a:moveTo>
                  <a:pt x="317" y="1218"/>
                </a:moveTo>
                <a:lnTo>
                  <a:pt x="534" y="1218"/>
                </a:lnTo>
                <a:lnTo>
                  <a:pt x="534" y="1001"/>
                </a:lnTo>
                <a:lnTo>
                  <a:pt x="317" y="1001"/>
                </a:lnTo>
                <a:lnTo>
                  <a:pt x="317" y="1218"/>
                </a:lnTo>
                <a:close/>
              </a:path>
              <a:path w="1167" h="1218">
                <a:moveTo>
                  <a:pt x="0" y="1218"/>
                </a:moveTo>
                <a:lnTo>
                  <a:pt x="216" y="1218"/>
                </a:lnTo>
                <a:lnTo>
                  <a:pt x="216" y="1001"/>
                </a:lnTo>
                <a:lnTo>
                  <a:pt x="0" y="1001"/>
                </a:lnTo>
                <a:lnTo>
                  <a:pt x="0" y="1218"/>
                </a:lnTo>
                <a:close/>
              </a:path>
              <a:path w="1167" h="1218">
                <a:moveTo>
                  <a:pt x="950" y="884"/>
                </a:moveTo>
                <a:lnTo>
                  <a:pt x="1167" y="884"/>
                </a:lnTo>
                <a:lnTo>
                  <a:pt x="1167" y="667"/>
                </a:lnTo>
                <a:lnTo>
                  <a:pt x="950" y="667"/>
                </a:lnTo>
                <a:lnTo>
                  <a:pt x="950" y="884"/>
                </a:lnTo>
                <a:close/>
              </a:path>
              <a:path w="1167" h="1218">
                <a:moveTo>
                  <a:pt x="634" y="884"/>
                </a:moveTo>
                <a:lnTo>
                  <a:pt x="850" y="884"/>
                </a:lnTo>
                <a:lnTo>
                  <a:pt x="850" y="667"/>
                </a:lnTo>
                <a:lnTo>
                  <a:pt x="634" y="667"/>
                </a:lnTo>
                <a:lnTo>
                  <a:pt x="634" y="884"/>
                </a:lnTo>
                <a:close/>
              </a:path>
              <a:path w="1167" h="1218">
                <a:moveTo>
                  <a:pt x="317" y="884"/>
                </a:moveTo>
                <a:lnTo>
                  <a:pt x="534" y="884"/>
                </a:lnTo>
                <a:lnTo>
                  <a:pt x="534" y="667"/>
                </a:lnTo>
                <a:lnTo>
                  <a:pt x="317" y="667"/>
                </a:lnTo>
                <a:lnTo>
                  <a:pt x="317" y="884"/>
                </a:lnTo>
                <a:close/>
              </a:path>
              <a:path w="1167" h="1218">
                <a:moveTo>
                  <a:pt x="950" y="550"/>
                </a:moveTo>
                <a:lnTo>
                  <a:pt x="1167" y="550"/>
                </a:lnTo>
                <a:lnTo>
                  <a:pt x="1167" y="333"/>
                </a:lnTo>
                <a:lnTo>
                  <a:pt x="950" y="333"/>
                </a:lnTo>
                <a:lnTo>
                  <a:pt x="950" y="550"/>
                </a:lnTo>
                <a:close/>
              </a:path>
              <a:path w="1167" h="1218">
                <a:moveTo>
                  <a:pt x="634" y="550"/>
                </a:moveTo>
                <a:lnTo>
                  <a:pt x="850" y="550"/>
                </a:lnTo>
                <a:lnTo>
                  <a:pt x="850" y="333"/>
                </a:lnTo>
                <a:lnTo>
                  <a:pt x="634" y="333"/>
                </a:lnTo>
                <a:lnTo>
                  <a:pt x="634" y="550"/>
                </a:lnTo>
                <a:close/>
              </a:path>
              <a:path w="1167" h="1218">
                <a:moveTo>
                  <a:pt x="950" y="216"/>
                </a:moveTo>
                <a:lnTo>
                  <a:pt x="1167" y="216"/>
                </a:lnTo>
                <a:lnTo>
                  <a:pt x="1167" y="0"/>
                </a:lnTo>
                <a:lnTo>
                  <a:pt x="950" y="0"/>
                </a:lnTo>
                <a:lnTo>
                  <a:pt x="950"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30" name="Rectangle 65"/>
          <p:cNvSpPr/>
          <p:nvPr>
            <p:custDataLst>
              <p:tags r:id="rId1"/>
            </p:custDataLst>
          </p:nvPr>
        </p:nvSpPr>
        <p:spPr>
          <a:xfrm>
            <a:off x="4236085" y="2840990"/>
            <a:ext cx="2118995" cy="1726565"/>
          </a:xfrm>
          <a:prstGeom prst="rect">
            <a:avLst/>
          </a:prstGeom>
        </p:spPr>
        <p:txBody>
          <a:bodyPr wrap="square">
            <a:spAutoFit/>
          </a:bodyPr>
          <a:lstStyle/>
          <a:p>
            <a:pPr algn="ctr">
              <a:lnSpc>
                <a:spcPct val="130000"/>
              </a:lnSpc>
              <a:spcBef>
                <a:spcPts val="600"/>
              </a:spcBef>
            </a:pPr>
            <a:r>
              <a:rPr lang="zh-CN" altLang="en-US" b="1" dirty="0">
                <a:gradFill>
                  <a:gsLst>
                    <a:gs pos="42000">
                      <a:srgbClr val="EC5763"/>
                    </a:gs>
                    <a:gs pos="0">
                      <a:srgbClr val="F28F97"/>
                    </a:gs>
                    <a:gs pos="100000">
                      <a:srgbClr val="E51E2E"/>
                    </a:gs>
                  </a:gsLst>
                  <a:lin ang="5400000" scaled="1"/>
                </a:gradFill>
                <a:effectLst>
                  <a:outerShdw blurRad="38100" dist="38100" dir="2700000" algn="tl">
                    <a:srgbClr val="000000">
                      <a:alpha val="43137"/>
                    </a:srgbClr>
                  </a:outerShdw>
                </a:effectLst>
                <a:latin typeface="微软雅黑" panose="020B0503020204020204" charset="-122"/>
                <a:ea typeface="微软雅黑" panose="020B0503020204020204" charset="-122"/>
              </a:rPr>
              <a:t>风冷散热关节模组</a:t>
            </a:r>
            <a:endParaRPr lang="zh-CN" altLang="en-US" sz="2000" dirty="0">
              <a:solidFill>
                <a:prstClr val="black">
                  <a:lumMod val="75000"/>
                  <a:lumOff val="25000"/>
                </a:prstClr>
              </a:solidFill>
              <a:latin typeface="微软雅黑" panose="020B0503020204020204" charset="-122"/>
              <a:ea typeface="微软雅黑" panose="020B0503020204020204" charset="-122"/>
            </a:endParaRPr>
          </a:p>
          <a:p>
            <a:pPr algn="ctr">
              <a:lnSpc>
                <a:spcPct val="130000"/>
              </a:lnSpc>
              <a:spcBef>
                <a:spcPts val="600"/>
              </a:spcBef>
            </a:pPr>
            <a:r>
              <a:rPr lang="zh-CN" altLang="en-US" sz="1200" dirty="0">
                <a:solidFill>
                  <a:prstClr val="black"/>
                </a:solidFill>
                <a:latin typeface="微软雅黑" panose="020B0503020204020204" charset="-122"/>
                <a:ea typeface="微软雅黑" panose="020B0503020204020204" charset="-122"/>
              </a:rPr>
              <a:t>相比自然散热，散热效率更高、体积重量更小、成本可控，且对环境依赖性低，降温效果显著，电机运行稳定性大幅提升。</a:t>
            </a:r>
          </a:p>
        </p:txBody>
      </p:sp>
      <p:sp>
        <p:nvSpPr>
          <p:cNvPr id="37" name="矩形 36"/>
          <p:cNvSpPr/>
          <p:nvPr/>
        </p:nvSpPr>
        <p:spPr>
          <a:xfrm>
            <a:off x="1939290" y="5046345"/>
            <a:ext cx="9156065" cy="996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lstStyle/>
          <a:p>
            <a:pPr algn="just"/>
            <a:endParaRPr lang="zh-CN" altLang="en-US" sz="1600" dirty="0">
              <a:solidFill>
                <a:prstClr val="black">
                  <a:lumMod val="50000"/>
                  <a:lumOff val="50000"/>
                </a:prstClr>
              </a:solidFill>
              <a:latin typeface="微软雅黑" panose="020B0503020204020204" charset="-122"/>
              <a:ea typeface="微软雅黑" panose="020B0503020204020204" charset="-122"/>
            </a:endParaRPr>
          </a:p>
          <a:p>
            <a:pPr algn="just"/>
            <a:r>
              <a:rPr lang="zh-CN" altLang="en-US" sz="1600" b="1" dirty="0">
                <a:solidFill>
                  <a:schemeClr val="accent1">
                    <a:lumMod val="50000"/>
                  </a:schemeClr>
                </a:solidFill>
                <a:latin typeface="微软雅黑" panose="020B0503020204020204" charset="-122"/>
                <a:ea typeface="微软雅黑" panose="020B0503020204020204" charset="-122"/>
                <a:sym typeface="+mn-ea"/>
              </a:rPr>
              <a:t>酷灵针对不同场景应用需求，</a:t>
            </a:r>
            <a:r>
              <a:rPr lang="zh-CN" altLang="en-US" sz="1600" b="1" dirty="0">
                <a:solidFill>
                  <a:schemeClr val="accent1">
                    <a:lumMod val="50000"/>
                  </a:schemeClr>
                </a:solidFill>
                <a:latin typeface="微软雅黑" panose="020B0503020204020204" charset="-122"/>
                <a:ea typeface="微软雅黑" panose="020B0503020204020204" charset="-122"/>
              </a:rPr>
              <a:t>可为客户提供</a:t>
            </a:r>
            <a:r>
              <a:rPr lang="zh-CN" altLang="en-US" sz="1600" b="1" dirty="0">
                <a:solidFill>
                  <a:schemeClr val="accent1">
                    <a:lumMod val="50000"/>
                  </a:schemeClr>
                </a:solidFill>
                <a:latin typeface="微软雅黑" panose="020B0503020204020204" charset="-122"/>
                <a:ea typeface="微软雅黑" panose="020B0503020204020204" charset="-122"/>
                <a:sym typeface="+mn-ea"/>
              </a:rPr>
              <a:t>被动、</a:t>
            </a:r>
            <a:r>
              <a:rPr lang="zh-CN" altLang="en-US" sz="1600" b="1" dirty="0">
                <a:solidFill>
                  <a:schemeClr val="accent1">
                    <a:lumMod val="50000"/>
                  </a:schemeClr>
                </a:solidFill>
                <a:latin typeface="微软雅黑" panose="020B0503020204020204" charset="-122"/>
                <a:ea typeface="微软雅黑" panose="020B0503020204020204" charset="-122"/>
              </a:rPr>
              <a:t>风冷、液冷、雾化散热四大差异化的散热关节模组，</a:t>
            </a:r>
            <a:r>
              <a:rPr lang="zh-CN" altLang="en-US" sz="1600" b="1" dirty="0">
                <a:solidFill>
                  <a:schemeClr val="accent1">
                    <a:lumMod val="50000"/>
                  </a:schemeClr>
                </a:solidFill>
                <a:latin typeface="微软雅黑" panose="020B0503020204020204" charset="-122"/>
                <a:ea typeface="微软雅黑" panose="020B0503020204020204" charset="-122"/>
                <a:sym typeface="+mn-ea"/>
              </a:rPr>
              <a:t>从成本可控到极致性能全覆盖，高效解决设备过热难题，显著提升设备寿命与运行稳定性，</a:t>
            </a:r>
            <a:r>
              <a:rPr lang="zh-CN" altLang="en-US" sz="1600" b="1" dirty="0">
                <a:gradFill>
                  <a:gsLst>
                    <a:gs pos="51300">
                      <a:srgbClr val="FE5F4A"/>
                    </a:gs>
                    <a:gs pos="0">
                      <a:srgbClr val="DF0303"/>
                    </a:gs>
                    <a:gs pos="100000">
                      <a:srgbClr val="FEA06E"/>
                    </a:gs>
                  </a:gsLst>
                  <a:lin ang="5400000" scaled="1"/>
                </a:gradFill>
                <a:latin typeface="微软雅黑" panose="020B0503020204020204" charset="-122"/>
                <a:ea typeface="微软雅黑" panose="020B0503020204020204" charset="-122"/>
                <a:sym typeface="+mn-ea"/>
              </a:rPr>
              <a:t>定向为客户解决核心痛点、降本增效</a:t>
            </a:r>
            <a:r>
              <a:rPr lang="zh-CN" altLang="en-US" sz="1600" b="1" dirty="0">
                <a:solidFill>
                  <a:schemeClr val="accent1">
                    <a:lumMod val="50000"/>
                  </a:schemeClr>
                </a:solidFill>
                <a:latin typeface="微软雅黑" panose="020B0503020204020204" charset="-122"/>
                <a:ea typeface="微软雅黑" panose="020B0503020204020204" charset="-122"/>
                <a:sym typeface="+mn-ea"/>
              </a:rPr>
              <a:t>，为客户提升市场竞争力，创造长期价值。</a:t>
            </a:r>
            <a:endParaRPr lang="zh-CN" altLang="en-US" sz="1600" b="1" dirty="0">
              <a:solidFill>
                <a:schemeClr val="accent1">
                  <a:lumMod val="50000"/>
                </a:schemeClr>
              </a:solidFill>
              <a:latin typeface="微软雅黑" panose="020B0503020204020204" charset="-122"/>
              <a:ea typeface="微软雅黑" panose="020B0503020204020204" charset="-122"/>
            </a:endParaRPr>
          </a:p>
          <a:p>
            <a:pPr algn="just"/>
            <a:endParaRPr lang="zh-CN" altLang="en-US" sz="1600" b="1" dirty="0">
              <a:solidFill>
                <a:schemeClr val="accent1">
                  <a:lumMod val="50000"/>
                </a:schemeClr>
              </a:solidFill>
              <a:latin typeface="微软雅黑" panose="020B0503020204020204" charset="-122"/>
              <a:ea typeface="微软雅黑" panose="020B0503020204020204" charset="-122"/>
            </a:endParaRPr>
          </a:p>
        </p:txBody>
      </p:sp>
      <p:sp>
        <p:nvSpPr>
          <p:cNvPr id="39" name="Rectangle 65"/>
          <p:cNvSpPr/>
          <p:nvPr>
            <p:custDataLst>
              <p:tags r:id="rId2"/>
            </p:custDataLst>
          </p:nvPr>
        </p:nvSpPr>
        <p:spPr>
          <a:xfrm>
            <a:off x="6388735" y="2840990"/>
            <a:ext cx="2195195" cy="1487170"/>
          </a:xfrm>
          <a:prstGeom prst="rect">
            <a:avLst/>
          </a:prstGeom>
        </p:spPr>
        <p:txBody>
          <a:bodyPr wrap="square">
            <a:spAutoFit/>
          </a:bodyPr>
          <a:lstStyle/>
          <a:p>
            <a:pPr algn="ctr">
              <a:lnSpc>
                <a:spcPct val="130000"/>
              </a:lnSpc>
              <a:spcBef>
                <a:spcPts val="600"/>
              </a:spcBef>
            </a:pPr>
            <a:r>
              <a:rPr lang="zh-CN" altLang="en-US" b="1" dirty="0">
                <a:gradFill>
                  <a:gsLst>
                    <a:gs pos="42000">
                      <a:srgbClr val="EC5763"/>
                    </a:gs>
                    <a:gs pos="0">
                      <a:srgbClr val="F28F97"/>
                    </a:gs>
                    <a:gs pos="100000">
                      <a:srgbClr val="E51E2E"/>
                    </a:gs>
                  </a:gsLst>
                  <a:lin ang="5400000" scaled="1"/>
                </a:gradFill>
                <a:effectLst>
                  <a:outerShdw blurRad="38100" dist="38100" dir="2700000" algn="tl">
                    <a:srgbClr val="000000">
                      <a:alpha val="43137"/>
                    </a:srgbClr>
                  </a:outerShdw>
                </a:effectLst>
                <a:latin typeface="微软雅黑" panose="020B0503020204020204" charset="-122"/>
                <a:ea typeface="微软雅黑" panose="020B0503020204020204" charset="-122"/>
              </a:rPr>
              <a:t>液冷散热关节模组</a:t>
            </a:r>
            <a:endParaRPr lang="zh-CN" altLang="en-US" sz="2000" dirty="0">
              <a:solidFill>
                <a:prstClr val="black">
                  <a:lumMod val="75000"/>
                  <a:lumOff val="25000"/>
                </a:prstClr>
              </a:solidFill>
              <a:latin typeface="微软雅黑" panose="020B0503020204020204" charset="-122"/>
              <a:ea typeface="微软雅黑" panose="020B0503020204020204" charset="-122"/>
            </a:endParaRPr>
          </a:p>
          <a:p>
            <a:pPr algn="ctr">
              <a:lnSpc>
                <a:spcPct val="130000"/>
              </a:lnSpc>
              <a:spcBef>
                <a:spcPts val="600"/>
              </a:spcBef>
            </a:pPr>
            <a:r>
              <a:rPr lang="zh-CN" altLang="en-US" sz="1200" dirty="0">
                <a:solidFill>
                  <a:prstClr val="black"/>
                </a:solidFill>
                <a:latin typeface="微软雅黑" panose="020B0503020204020204" charset="-122"/>
                <a:ea typeface="微软雅黑" panose="020B0503020204020204" charset="-122"/>
              </a:rPr>
              <a:t>液冷关节模组散热性能远超基础方案，降温幅度更大，电机运行时间成倍提升，大幅提升可靠性与持续工作能力。</a:t>
            </a:r>
          </a:p>
        </p:txBody>
      </p:sp>
      <p:sp>
        <p:nvSpPr>
          <p:cNvPr id="40" name="Rectangle 65"/>
          <p:cNvSpPr/>
          <p:nvPr>
            <p:custDataLst>
              <p:tags r:id="rId3"/>
            </p:custDataLst>
          </p:nvPr>
        </p:nvSpPr>
        <p:spPr>
          <a:xfrm>
            <a:off x="8672195" y="2840990"/>
            <a:ext cx="2324735" cy="1726565"/>
          </a:xfrm>
          <a:prstGeom prst="rect">
            <a:avLst/>
          </a:prstGeom>
        </p:spPr>
        <p:txBody>
          <a:bodyPr wrap="square">
            <a:spAutoFit/>
          </a:bodyPr>
          <a:lstStyle/>
          <a:p>
            <a:pPr algn="ctr">
              <a:lnSpc>
                <a:spcPct val="130000"/>
              </a:lnSpc>
              <a:spcBef>
                <a:spcPts val="600"/>
              </a:spcBef>
            </a:pPr>
            <a:r>
              <a:rPr lang="zh-CN" altLang="en-US" b="1" dirty="0">
                <a:gradFill>
                  <a:gsLst>
                    <a:gs pos="42000">
                      <a:srgbClr val="EC5763"/>
                    </a:gs>
                    <a:gs pos="0">
                      <a:srgbClr val="F28F97"/>
                    </a:gs>
                    <a:gs pos="100000">
                      <a:srgbClr val="E51E2E"/>
                    </a:gs>
                  </a:gsLst>
                  <a:lin ang="5400000" scaled="1"/>
                </a:gradFill>
                <a:effectLst>
                  <a:outerShdw blurRad="38100" dist="38100" dir="2700000" algn="tl">
                    <a:srgbClr val="000000">
                      <a:alpha val="43137"/>
                    </a:srgbClr>
                  </a:outerShdw>
                </a:effectLst>
                <a:latin typeface="微软雅黑" panose="020B0503020204020204" charset="-122"/>
                <a:ea typeface="微软雅黑" panose="020B0503020204020204" charset="-122"/>
              </a:rPr>
              <a:t>雾化散热关节模组</a:t>
            </a:r>
            <a:endParaRPr lang="zh-CN" altLang="en-US" sz="2000" dirty="0">
              <a:solidFill>
                <a:prstClr val="black">
                  <a:lumMod val="75000"/>
                  <a:lumOff val="25000"/>
                </a:prstClr>
              </a:solidFill>
              <a:latin typeface="微软雅黑" panose="020B0503020204020204" charset="-122"/>
              <a:ea typeface="微软雅黑" panose="020B0503020204020204" charset="-122"/>
            </a:endParaRPr>
          </a:p>
          <a:p>
            <a:pPr algn="ctr">
              <a:lnSpc>
                <a:spcPct val="130000"/>
              </a:lnSpc>
              <a:spcBef>
                <a:spcPts val="600"/>
              </a:spcBef>
            </a:pPr>
            <a:r>
              <a:rPr lang="zh-CN" altLang="en-US" sz="1200" dirty="0">
                <a:solidFill>
                  <a:prstClr val="black"/>
                </a:solidFill>
                <a:latin typeface="微软雅黑" panose="020B0503020204020204" charset="-122"/>
                <a:ea typeface="微软雅黑" panose="020B0503020204020204" charset="-122"/>
              </a:rPr>
              <a:t>雾化散热关节模组类皮肤蒸发散热，核心亮点是仿生相变散热的新颖性和低功耗潜力，可快速带走热量；相比基础方案降温和电机运行时间均有显著提升。</a:t>
            </a:r>
          </a:p>
        </p:txBody>
      </p:sp>
      <p:grpSp>
        <p:nvGrpSpPr>
          <p:cNvPr id="4" name="그룹 14"/>
          <p:cNvGrpSpPr/>
          <p:nvPr>
            <p:custDataLst>
              <p:tags r:id="rId4"/>
            </p:custDataLst>
          </p:nvPr>
        </p:nvGrpSpPr>
        <p:grpSpPr>
          <a:xfrm>
            <a:off x="2047098" y="1959583"/>
            <a:ext cx="2384701" cy="732182"/>
            <a:chOff x="2971799" y="3869537"/>
            <a:chExt cx="1079501" cy="276492"/>
          </a:xfrm>
          <a:solidFill>
            <a:schemeClr val="tx1"/>
          </a:solidFill>
          <a:effectLst/>
        </p:grpSpPr>
        <p:sp>
          <p:nvSpPr>
            <p:cNvPr id="11" name="Rectangle 5"/>
            <p:cNvSpPr>
              <a:spLocks noChangeArrowheads="1"/>
            </p:cNvSpPr>
            <p:nvPr>
              <p:custDataLst>
                <p:tags r:id="rId25"/>
              </p:custDataLst>
            </p:nvPr>
          </p:nvSpPr>
          <p:spPr bwMode="auto">
            <a:xfrm>
              <a:off x="2971799" y="4056921"/>
              <a:ext cx="863600" cy="89108"/>
            </a:xfrm>
            <a:prstGeom prst="rect">
              <a:avLst/>
            </a:prstGeom>
            <a:solidFill>
              <a:schemeClr val="accent5"/>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1219200" latinLnBrk="1">
                <a:spcAft>
                  <a:spcPts val="400"/>
                </a:spcAft>
                <a:defRPr/>
              </a:pPr>
              <a:endParaRPr lang="ko-KR" altLang="en-US" sz="1600" b="1" dirty="0">
                <a:gradFill>
                  <a:gsLst>
                    <a:gs pos="0">
                      <a:prstClr val="white"/>
                    </a:gs>
                    <a:gs pos="100000">
                      <a:prstClr val="white"/>
                    </a:gs>
                  </a:gsLst>
                  <a:lin ang="5400000" scaled="0"/>
                </a:gradFill>
                <a:latin typeface="Bebas Neue" pitchFamily="34" charset="0"/>
                <a:ea typeface="+mj-ea"/>
              </a:endParaRPr>
            </a:p>
          </p:txBody>
        </p:sp>
        <p:sp>
          <p:nvSpPr>
            <p:cNvPr id="13" name="Freeform 6"/>
            <p:cNvSpPr/>
            <p:nvPr>
              <p:custDataLst>
                <p:tags r:id="rId26"/>
              </p:custDataLst>
            </p:nvPr>
          </p:nvSpPr>
          <p:spPr bwMode="auto">
            <a:xfrm>
              <a:off x="3832587" y="3963938"/>
              <a:ext cx="215901" cy="182089"/>
            </a:xfrm>
            <a:custGeom>
              <a:avLst/>
              <a:gdLst>
                <a:gd name="T0" fmla="*/ 0 w 159"/>
                <a:gd name="T1" fmla="*/ 69 h 186"/>
                <a:gd name="T2" fmla="*/ 0 w 159"/>
                <a:gd name="T3" fmla="*/ 186 h 186"/>
                <a:gd name="T4" fmla="*/ 159 w 159"/>
                <a:gd name="T5" fmla="*/ 117 h 186"/>
                <a:gd name="T6" fmla="*/ 159 w 159"/>
                <a:gd name="T7" fmla="*/ 0 h 186"/>
                <a:gd name="T8" fmla="*/ 0 w 159"/>
                <a:gd name="T9" fmla="*/ 69 h 186"/>
                <a:gd name="connsiteX0" fmla="*/ 0 w 10000"/>
                <a:gd name="connsiteY0" fmla="*/ 3710 h 10000"/>
                <a:gd name="connsiteX1" fmla="*/ 0 w 10000"/>
                <a:gd name="connsiteY1" fmla="*/ 10000 h 10000"/>
                <a:gd name="connsiteX2" fmla="*/ 10000 w 10000"/>
                <a:gd name="connsiteY2" fmla="*/ 5163 h 10000"/>
                <a:gd name="connsiteX3" fmla="*/ 10000 w 10000"/>
                <a:gd name="connsiteY3" fmla="*/ 0 h 10000"/>
                <a:gd name="connsiteX4" fmla="*/ 0 w 10000"/>
                <a:gd name="connsiteY4" fmla="*/ 3710 h 10000"/>
                <a:gd name="connsiteX0-1" fmla="*/ 0 w 10000"/>
                <a:gd name="connsiteY0-2" fmla="*/ 3710 h 10000"/>
                <a:gd name="connsiteX1-3" fmla="*/ 0 w 10000"/>
                <a:gd name="connsiteY1-4" fmla="*/ 10000 h 10000"/>
                <a:gd name="connsiteX2-5" fmla="*/ 10000 w 10000"/>
                <a:gd name="connsiteY2-6" fmla="*/ 4648 h 10000"/>
                <a:gd name="connsiteX3-7" fmla="*/ 10000 w 10000"/>
                <a:gd name="connsiteY3-8" fmla="*/ 0 h 10000"/>
                <a:gd name="connsiteX4-9" fmla="*/ 0 w 10000"/>
                <a:gd name="connsiteY4-10" fmla="*/ 371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0" y="3710"/>
                  </a:moveTo>
                  <a:lnTo>
                    <a:pt x="0" y="10000"/>
                  </a:lnTo>
                  <a:lnTo>
                    <a:pt x="10000" y="4648"/>
                  </a:lnTo>
                  <a:lnTo>
                    <a:pt x="10000" y="0"/>
                  </a:lnTo>
                  <a:lnTo>
                    <a:pt x="0" y="3710"/>
                  </a:lnTo>
                  <a:close/>
                </a:path>
              </a:pathLst>
            </a:custGeom>
            <a:solidFill>
              <a:schemeClr val="accent5">
                <a:lumMod val="75000"/>
              </a:scheme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1219200" latinLnBrk="1">
                <a:spcAft>
                  <a:spcPts val="400"/>
                </a:spcAft>
                <a:defRPr/>
              </a:pPr>
              <a:endParaRPr lang="ko-KR" altLang="en-US" sz="1600" b="1" dirty="0">
                <a:gradFill>
                  <a:gsLst>
                    <a:gs pos="0">
                      <a:prstClr val="white"/>
                    </a:gs>
                    <a:gs pos="100000">
                      <a:prstClr val="white"/>
                    </a:gs>
                  </a:gsLst>
                  <a:lin ang="5400000" scaled="0"/>
                </a:gradFill>
                <a:latin typeface="Bebas Neue" pitchFamily="34" charset="0"/>
                <a:ea typeface="+mj-ea"/>
              </a:endParaRPr>
            </a:p>
          </p:txBody>
        </p:sp>
        <p:sp>
          <p:nvSpPr>
            <p:cNvPr id="16" name="Freeform 8"/>
            <p:cNvSpPr/>
            <p:nvPr>
              <p:custDataLst>
                <p:tags r:id="rId27"/>
              </p:custDataLst>
            </p:nvPr>
          </p:nvSpPr>
          <p:spPr bwMode="auto">
            <a:xfrm>
              <a:off x="3079419" y="3869537"/>
              <a:ext cx="112451" cy="131918"/>
            </a:xfrm>
            <a:custGeom>
              <a:avLst/>
              <a:gdLst>
                <a:gd name="T0" fmla="*/ 0 w 81"/>
                <a:gd name="T1" fmla="*/ 0 h 102"/>
                <a:gd name="T2" fmla="*/ 81 w 81"/>
                <a:gd name="T3" fmla="*/ 69 h 102"/>
                <a:gd name="T4" fmla="*/ 0 w 81"/>
                <a:gd name="T5" fmla="*/ 102 h 102"/>
                <a:gd name="T6" fmla="*/ 0 w 81"/>
                <a:gd name="T7" fmla="*/ 0 h 102"/>
                <a:gd name="connsiteX0" fmla="*/ 224 w 10224"/>
                <a:gd name="connsiteY0" fmla="*/ 0 h 10000"/>
                <a:gd name="connsiteX1" fmla="*/ 10224 w 10224"/>
                <a:gd name="connsiteY1" fmla="*/ 6765 h 10000"/>
                <a:gd name="connsiteX2" fmla="*/ 224 w 10224"/>
                <a:gd name="connsiteY2" fmla="*/ 10000 h 10000"/>
                <a:gd name="connsiteX3" fmla="*/ 0 w 10224"/>
                <a:gd name="connsiteY3" fmla="*/ 6138 h 10000"/>
                <a:gd name="connsiteX4" fmla="*/ 224 w 10224"/>
                <a:gd name="connsiteY4" fmla="*/ 0 h 10000"/>
                <a:gd name="connsiteX0-1" fmla="*/ 224 w 10224"/>
                <a:gd name="connsiteY0-2" fmla="*/ 0 h 10000"/>
                <a:gd name="connsiteX1-3" fmla="*/ 10224 w 10224"/>
                <a:gd name="connsiteY1-4" fmla="*/ 6765 h 10000"/>
                <a:gd name="connsiteX2-5" fmla="*/ 3068 w 10224"/>
                <a:gd name="connsiteY2-6" fmla="*/ 9017 h 10000"/>
                <a:gd name="connsiteX3-7" fmla="*/ 224 w 10224"/>
                <a:gd name="connsiteY3-8" fmla="*/ 10000 h 10000"/>
                <a:gd name="connsiteX4-9" fmla="*/ 0 w 10224"/>
                <a:gd name="connsiteY4-10" fmla="*/ 6138 h 10000"/>
                <a:gd name="connsiteX5" fmla="*/ 224 w 10224"/>
                <a:gd name="connsiteY5" fmla="*/ 0 h 10000"/>
                <a:gd name="connsiteX0-11" fmla="*/ 224 w 10224"/>
                <a:gd name="connsiteY0-12" fmla="*/ 0 h 9017"/>
                <a:gd name="connsiteX1-13" fmla="*/ 10224 w 10224"/>
                <a:gd name="connsiteY1-14" fmla="*/ 6765 h 9017"/>
                <a:gd name="connsiteX2-15" fmla="*/ 3068 w 10224"/>
                <a:gd name="connsiteY2-16" fmla="*/ 9017 h 9017"/>
                <a:gd name="connsiteX3-17" fmla="*/ 0 w 10224"/>
                <a:gd name="connsiteY3-18" fmla="*/ 6138 h 9017"/>
                <a:gd name="connsiteX4-19" fmla="*/ 224 w 10224"/>
                <a:gd name="connsiteY4-20" fmla="*/ 0 h 9017"/>
                <a:gd name="connsiteX0-21" fmla="*/ 219 w 10000"/>
                <a:gd name="connsiteY0-22" fmla="*/ 0 h 10563"/>
                <a:gd name="connsiteX1-23" fmla="*/ 10000 w 10000"/>
                <a:gd name="connsiteY1-24" fmla="*/ 7502 h 10563"/>
                <a:gd name="connsiteX2-25" fmla="*/ 4751 w 10000"/>
                <a:gd name="connsiteY2-26" fmla="*/ 10563 h 10563"/>
                <a:gd name="connsiteX3-27" fmla="*/ 0 w 10000"/>
                <a:gd name="connsiteY3-28" fmla="*/ 6807 h 10563"/>
                <a:gd name="connsiteX4-29" fmla="*/ 219 w 10000"/>
                <a:gd name="connsiteY4-30" fmla="*/ 0 h 1056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563">
                  <a:moveTo>
                    <a:pt x="219" y="0"/>
                  </a:moveTo>
                  <a:lnTo>
                    <a:pt x="10000" y="7502"/>
                  </a:lnTo>
                  <a:lnTo>
                    <a:pt x="4751" y="10563"/>
                  </a:lnTo>
                  <a:lnTo>
                    <a:pt x="0" y="6807"/>
                  </a:lnTo>
                  <a:lnTo>
                    <a:pt x="219" y="0"/>
                  </a:lnTo>
                  <a:close/>
                </a:path>
              </a:pathLst>
            </a:custGeom>
            <a:solidFill>
              <a:schemeClr val="accent5">
                <a:lumMod val="75000"/>
              </a:scheme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1219200" latinLnBrk="1">
                <a:spcAft>
                  <a:spcPts val="400"/>
                </a:spcAft>
                <a:defRPr/>
              </a:pPr>
              <a:endParaRPr lang="ko-KR" altLang="en-US" sz="1600" b="1" dirty="0">
                <a:gradFill>
                  <a:gsLst>
                    <a:gs pos="0">
                      <a:prstClr val="white"/>
                    </a:gs>
                    <a:gs pos="100000">
                      <a:prstClr val="white"/>
                    </a:gs>
                  </a:gsLst>
                  <a:lin ang="5400000" scaled="0"/>
                </a:gradFill>
                <a:latin typeface="Bebas Neue" pitchFamily="34" charset="0"/>
                <a:ea typeface="+mj-ea"/>
              </a:endParaRPr>
            </a:p>
          </p:txBody>
        </p:sp>
        <p:sp>
          <p:nvSpPr>
            <p:cNvPr id="31" name="Freeform 7"/>
            <p:cNvSpPr/>
            <p:nvPr>
              <p:custDataLst>
                <p:tags r:id="rId28"/>
              </p:custDataLst>
            </p:nvPr>
          </p:nvSpPr>
          <p:spPr bwMode="auto">
            <a:xfrm>
              <a:off x="2971799" y="3869537"/>
              <a:ext cx="1079501" cy="187385"/>
            </a:xfrm>
            <a:custGeom>
              <a:avLst/>
              <a:gdLst>
                <a:gd name="T0" fmla="*/ 81 w 795"/>
                <a:gd name="T1" fmla="*/ 0 h 138"/>
                <a:gd name="T2" fmla="*/ 162 w 795"/>
                <a:gd name="T3" fmla="*/ 69 h 138"/>
                <a:gd name="T4" fmla="*/ 0 w 795"/>
                <a:gd name="T5" fmla="*/ 138 h 138"/>
                <a:gd name="T6" fmla="*/ 636 w 795"/>
                <a:gd name="T7" fmla="*/ 138 h 138"/>
                <a:gd name="T8" fmla="*/ 795 w 795"/>
                <a:gd name="T9" fmla="*/ 69 h 138"/>
                <a:gd name="T10" fmla="*/ 714 w 795"/>
                <a:gd name="T11" fmla="*/ 0 h 138"/>
                <a:gd name="T12" fmla="*/ 81 w 795"/>
                <a:gd name="T13" fmla="*/ 0 h 138"/>
              </a:gdLst>
              <a:ahLst/>
              <a:cxnLst>
                <a:cxn ang="0">
                  <a:pos x="T0" y="T1"/>
                </a:cxn>
                <a:cxn ang="0">
                  <a:pos x="T2" y="T3"/>
                </a:cxn>
                <a:cxn ang="0">
                  <a:pos x="T4" y="T5"/>
                </a:cxn>
                <a:cxn ang="0">
                  <a:pos x="T6" y="T7"/>
                </a:cxn>
                <a:cxn ang="0">
                  <a:pos x="T8" y="T9"/>
                </a:cxn>
                <a:cxn ang="0">
                  <a:pos x="T10" y="T11"/>
                </a:cxn>
                <a:cxn ang="0">
                  <a:pos x="T12" y="T13"/>
                </a:cxn>
              </a:cxnLst>
              <a:rect l="0" t="0" r="r" b="b"/>
              <a:pathLst>
                <a:path w="795" h="138">
                  <a:moveTo>
                    <a:pt x="81" y="0"/>
                  </a:moveTo>
                  <a:lnTo>
                    <a:pt x="162" y="69"/>
                  </a:lnTo>
                  <a:lnTo>
                    <a:pt x="0" y="138"/>
                  </a:lnTo>
                  <a:lnTo>
                    <a:pt x="636" y="138"/>
                  </a:lnTo>
                  <a:lnTo>
                    <a:pt x="795" y="69"/>
                  </a:lnTo>
                  <a:lnTo>
                    <a:pt x="714" y="0"/>
                  </a:lnTo>
                  <a:lnTo>
                    <a:pt x="81" y="0"/>
                  </a:lnTo>
                  <a:close/>
                </a:path>
              </a:pathLst>
            </a:custGeom>
            <a:solidFill>
              <a:schemeClr val="accent5">
                <a:lumMod val="60000"/>
                <a:lumOff val="40000"/>
              </a:scheme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1219200" latinLnBrk="1">
                <a:spcAft>
                  <a:spcPts val="400"/>
                </a:spcAft>
                <a:defRPr/>
              </a:pPr>
              <a:endParaRPr lang="ko-KR" altLang="en-US" sz="1600" b="1" dirty="0">
                <a:gradFill>
                  <a:gsLst>
                    <a:gs pos="0">
                      <a:prstClr val="white"/>
                    </a:gs>
                    <a:gs pos="100000">
                      <a:prstClr val="white"/>
                    </a:gs>
                  </a:gsLst>
                  <a:lin ang="5400000" scaled="0"/>
                </a:gradFill>
                <a:latin typeface="Bebas Neue" pitchFamily="34" charset="0"/>
                <a:ea typeface="+mj-ea"/>
              </a:endParaRPr>
            </a:p>
          </p:txBody>
        </p:sp>
      </p:grpSp>
      <p:grpSp>
        <p:nvGrpSpPr>
          <p:cNvPr id="32" name="그룹 14"/>
          <p:cNvGrpSpPr/>
          <p:nvPr>
            <p:custDataLst>
              <p:tags r:id="rId5"/>
            </p:custDataLst>
          </p:nvPr>
        </p:nvGrpSpPr>
        <p:grpSpPr>
          <a:xfrm>
            <a:off x="4218056" y="1959583"/>
            <a:ext cx="2384701" cy="732182"/>
            <a:chOff x="2971799" y="3869537"/>
            <a:chExt cx="1079501" cy="276492"/>
          </a:xfrm>
          <a:solidFill>
            <a:schemeClr val="tx1"/>
          </a:solidFill>
          <a:effectLst/>
        </p:grpSpPr>
        <p:sp>
          <p:nvSpPr>
            <p:cNvPr id="36" name="Rectangle 5"/>
            <p:cNvSpPr>
              <a:spLocks noChangeArrowheads="1"/>
            </p:cNvSpPr>
            <p:nvPr>
              <p:custDataLst>
                <p:tags r:id="rId21"/>
              </p:custDataLst>
            </p:nvPr>
          </p:nvSpPr>
          <p:spPr bwMode="auto">
            <a:xfrm>
              <a:off x="2971799" y="4056921"/>
              <a:ext cx="863600" cy="89108"/>
            </a:xfrm>
            <a:prstGeom prst="rect">
              <a:avLst/>
            </a:prstGeom>
            <a:solidFill>
              <a:schemeClr val="tx1">
                <a:lumMod val="65000"/>
                <a:lumOff val="35000"/>
              </a:scheme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1219200" latinLnBrk="1">
                <a:spcAft>
                  <a:spcPts val="400"/>
                </a:spcAft>
                <a:defRPr/>
              </a:pPr>
              <a:endParaRPr lang="ko-KR" altLang="en-US" sz="1600" b="1" dirty="0">
                <a:gradFill>
                  <a:gsLst>
                    <a:gs pos="0">
                      <a:prstClr val="white"/>
                    </a:gs>
                    <a:gs pos="100000">
                      <a:prstClr val="white"/>
                    </a:gs>
                  </a:gsLst>
                  <a:lin ang="5400000" scaled="0"/>
                </a:gradFill>
                <a:latin typeface="Bebas Neue" pitchFamily="34" charset="0"/>
                <a:ea typeface="+mj-ea"/>
              </a:endParaRPr>
            </a:p>
          </p:txBody>
        </p:sp>
        <p:sp>
          <p:nvSpPr>
            <p:cNvPr id="38" name="Freeform 6"/>
            <p:cNvSpPr/>
            <p:nvPr>
              <p:custDataLst>
                <p:tags r:id="rId22"/>
              </p:custDataLst>
            </p:nvPr>
          </p:nvSpPr>
          <p:spPr bwMode="auto">
            <a:xfrm>
              <a:off x="3832587" y="3963938"/>
              <a:ext cx="215901" cy="182089"/>
            </a:xfrm>
            <a:custGeom>
              <a:avLst/>
              <a:gdLst>
                <a:gd name="T0" fmla="*/ 0 w 159"/>
                <a:gd name="T1" fmla="*/ 69 h 186"/>
                <a:gd name="T2" fmla="*/ 0 w 159"/>
                <a:gd name="T3" fmla="*/ 186 h 186"/>
                <a:gd name="T4" fmla="*/ 159 w 159"/>
                <a:gd name="T5" fmla="*/ 117 h 186"/>
                <a:gd name="T6" fmla="*/ 159 w 159"/>
                <a:gd name="T7" fmla="*/ 0 h 186"/>
                <a:gd name="T8" fmla="*/ 0 w 159"/>
                <a:gd name="T9" fmla="*/ 69 h 186"/>
                <a:gd name="connsiteX0" fmla="*/ 0 w 10000"/>
                <a:gd name="connsiteY0" fmla="*/ 3710 h 10000"/>
                <a:gd name="connsiteX1" fmla="*/ 0 w 10000"/>
                <a:gd name="connsiteY1" fmla="*/ 10000 h 10000"/>
                <a:gd name="connsiteX2" fmla="*/ 10000 w 10000"/>
                <a:gd name="connsiteY2" fmla="*/ 5163 h 10000"/>
                <a:gd name="connsiteX3" fmla="*/ 10000 w 10000"/>
                <a:gd name="connsiteY3" fmla="*/ 0 h 10000"/>
                <a:gd name="connsiteX4" fmla="*/ 0 w 10000"/>
                <a:gd name="connsiteY4" fmla="*/ 3710 h 10000"/>
                <a:gd name="connsiteX0-1" fmla="*/ 0 w 10000"/>
                <a:gd name="connsiteY0-2" fmla="*/ 3710 h 10000"/>
                <a:gd name="connsiteX1-3" fmla="*/ 0 w 10000"/>
                <a:gd name="connsiteY1-4" fmla="*/ 10000 h 10000"/>
                <a:gd name="connsiteX2-5" fmla="*/ 10000 w 10000"/>
                <a:gd name="connsiteY2-6" fmla="*/ 4648 h 10000"/>
                <a:gd name="connsiteX3-7" fmla="*/ 10000 w 10000"/>
                <a:gd name="connsiteY3-8" fmla="*/ 0 h 10000"/>
                <a:gd name="connsiteX4-9" fmla="*/ 0 w 10000"/>
                <a:gd name="connsiteY4-10" fmla="*/ 371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0" y="3710"/>
                  </a:moveTo>
                  <a:lnTo>
                    <a:pt x="0" y="10000"/>
                  </a:lnTo>
                  <a:lnTo>
                    <a:pt x="10000" y="4648"/>
                  </a:lnTo>
                  <a:lnTo>
                    <a:pt x="10000" y="0"/>
                  </a:lnTo>
                  <a:lnTo>
                    <a:pt x="0" y="3710"/>
                  </a:lnTo>
                  <a:close/>
                </a:path>
              </a:pathLst>
            </a:custGeom>
            <a:solidFill>
              <a:schemeClr val="tx1">
                <a:lumMod val="75000"/>
                <a:lumOff val="25000"/>
              </a:scheme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1219200" latinLnBrk="1">
                <a:spcAft>
                  <a:spcPts val="400"/>
                </a:spcAft>
                <a:defRPr/>
              </a:pPr>
              <a:endParaRPr lang="ko-KR" altLang="en-US" sz="1600" b="1" dirty="0">
                <a:gradFill>
                  <a:gsLst>
                    <a:gs pos="0">
                      <a:prstClr val="white"/>
                    </a:gs>
                    <a:gs pos="100000">
                      <a:prstClr val="white"/>
                    </a:gs>
                  </a:gsLst>
                  <a:lin ang="5400000" scaled="0"/>
                </a:gradFill>
                <a:latin typeface="Bebas Neue" pitchFamily="34" charset="0"/>
                <a:ea typeface="+mj-ea"/>
              </a:endParaRPr>
            </a:p>
          </p:txBody>
        </p:sp>
        <p:sp>
          <p:nvSpPr>
            <p:cNvPr id="41" name="Freeform 8"/>
            <p:cNvSpPr/>
            <p:nvPr>
              <p:custDataLst>
                <p:tags r:id="rId23"/>
              </p:custDataLst>
            </p:nvPr>
          </p:nvSpPr>
          <p:spPr bwMode="auto">
            <a:xfrm>
              <a:off x="3079419" y="3869537"/>
              <a:ext cx="112451" cy="131918"/>
            </a:xfrm>
            <a:custGeom>
              <a:avLst/>
              <a:gdLst>
                <a:gd name="T0" fmla="*/ 0 w 81"/>
                <a:gd name="T1" fmla="*/ 0 h 102"/>
                <a:gd name="T2" fmla="*/ 81 w 81"/>
                <a:gd name="T3" fmla="*/ 69 h 102"/>
                <a:gd name="T4" fmla="*/ 0 w 81"/>
                <a:gd name="T5" fmla="*/ 102 h 102"/>
                <a:gd name="T6" fmla="*/ 0 w 81"/>
                <a:gd name="T7" fmla="*/ 0 h 102"/>
                <a:gd name="connsiteX0" fmla="*/ 224 w 10224"/>
                <a:gd name="connsiteY0" fmla="*/ 0 h 10000"/>
                <a:gd name="connsiteX1" fmla="*/ 10224 w 10224"/>
                <a:gd name="connsiteY1" fmla="*/ 6765 h 10000"/>
                <a:gd name="connsiteX2" fmla="*/ 224 w 10224"/>
                <a:gd name="connsiteY2" fmla="*/ 10000 h 10000"/>
                <a:gd name="connsiteX3" fmla="*/ 0 w 10224"/>
                <a:gd name="connsiteY3" fmla="*/ 6138 h 10000"/>
                <a:gd name="connsiteX4" fmla="*/ 224 w 10224"/>
                <a:gd name="connsiteY4" fmla="*/ 0 h 10000"/>
                <a:gd name="connsiteX0-1" fmla="*/ 224 w 10224"/>
                <a:gd name="connsiteY0-2" fmla="*/ 0 h 10000"/>
                <a:gd name="connsiteX1-3" fmla="*/ 10224 w 10224"/>
                <a:gd name="connsiteY1-4" fmla="*/ 6765 h 10000"/>
                <a:gd name="connsiteX2-5" fmla="*/ 3068 w 10224"/>
                <a:gd name="connsiteY2-6" fmla="*/ 9017 h 10000"/>
                <a:gd name="connsiteX3-7" fmla="*/ 224 w 10224"/>
                <a:gd name="connsiteY3-8" fmla="*/ 10000 h 10000"/>
                <a:gd name="connsiteX4-9" fmla="*/ 0 w 10224"/>
                <a:gd name="connsiteY4-10" fmla="*/ 6138 h 10000"/>
                <a:gd name="connsiteX5" fmla="*/ 224 w 10224"/>
                <a:gd name="connsiteY5" fmla="*/ 0 h 10000"/>
                <a:gd name="connsiteX0-11" fmla="*/ 224 w 10224"/>
                <a:gd name="connsiteY0-12" fmla="*/ 0 h 9017"/>
                <a:gd name="connsiteX1-13" fmla="*/ 10224 w 10224"/>
                <a:gd name="connsiteY1-14" fmla="*/ 6765 h 9017"/>
                <a:gd name="connsiteX2-15" fmla="*/ 3068 w 10224"/>
                <a:gd name="connsiteY2-16" fmla="*/ 9017 h 9017"/>
                <a:gd name="connsiteX3-17" fmla="*/ 0 w 10224"/>
                <a:gd name="connsiteY3-18" fmla="*/ 6138 h 9017"/>
                <a:gd name="connsiteX4-19" fmla="*/ 224 w 10224"/>
                <a:gd name="connsiteY4-20" fmla="*/ 0 h 9017"/>
                <a:gd name="connsiteX0-21" fmla="*/ 219 w 10000"/>
                <a:gd name="connsiteY0-22" fmla="*/ 0 h 10563"/>
                <a:gd name="connsiteX1-23" fmla="*/ 10000 w 10000"/>
                <a:gd name="connsiteY1-24" fmla="*/ 7502 h 10563"/>
                <a:gd name="connsiteX2-25" fmla="*/ 4751 w 10000"/>
                <a:gd name="connsiteY2-26" fmla="*/ 10563 h 10563"/>
                <a:gd name="connsiteX3-27" fmla="*/ 0 w 10000"/>
                <a:gd name="connsiteY3-28" fmla="*/ 6807 h 10563"/>
                <a:gd name="connsiteX4-29" fmla="*/ 219 w 10000"/>
                <a:gd name="connsiteY4-30" fmla="*/ 0 h 1056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563">
                  <a:moveTo>
                    <a:pt x="219" y="0"/>
                  </a:moveTo>
                  <a:lnTo>
                    <a:pt x="10000" y="7502"/>
                  </a:lnTo>
                  <a:lnTo>
                    <a:pt x="4751" y="10563"/>
                  </a:lnTo>
                  <a:lnTo>
                    <a:pt x="0" y="6807"/>
                  </a:lnTo>
                  <a:lnTo>
                    <a:pt x="219" y="0"/>
                  </a:lnTo>
                  <a:close/>
                </a:path>
              </a:pathLst>
            </a:custGeom>
            <a:solidFill>
              <a:schemeClr val="tx1">
                <a:lumMod val="75000"/>
                <a:lumOff val="25000"/>
              </a:scheme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1219200" latinLnBrk="1">
                <a:spcAft>
                  <a:spcPts val="400"/>
                </a:spcAft>
                <a:defRPr/>
              </a:pPr>
              <a:endParaRPr lang="ko-KR" altLang="en-US" sz="1600" b="1" dirty="0">
                <a:gradFill>
                  <a:gsLst>
                    <a:gs pos="0">
                      <a:prstClr val="white"/>
                    </a:gs>
                    <a:gs pos="100000">
                      <a:prstClr val="white"/>
                    </a:gs>
                  </a:gsLst>
                  <a:lin ang="5400000" scaled="0"/>
                </a:gradFill>
                <a:latin typeface="Bebas Neue" pitchFamily="34" charset="0"/>
                <a:ea typeface="+mj-ea"/>
              </a:endParaRPr>
            </a:p>
          </p:txBody>
        </p:sp>
        <p:sp>
          <p:nvSpPr>
            <p:cNvPr id="42" name="Freeform 7"/>
            <p:cNvSpPr/>
            <p:nvPr>
              <p:custDataLst>
                <p:tags r:id="rId24"/>
              </p:custDataLst>
            </p:nvPr>
          </p:nvSpPr>
          <p:spPr bwMode="auto">
            <a:xfrm>
              <a:off x="2971799" y="3869537"/>
              <a:ext cx="1079501" cy="187385"/>
            </a:xfrm>
            <a:custGeom>
              <a:avLst/>
              <a:gdLst>
                <a:gd name="T0" fmla="*/ 81 w 795"/>
                <a:gd name="T1" fmla="*/ 0 h 138"/>
                <a:gd name="T2" fmla="*/ 162 w 795"/>
                <a:gd name="T3" fmla="*/ 69 h 138"/>
                <a:gd name="T4" fmla="*/ 0 w 795"/>
                <a:gd name="T5" fmla="*/ 138 h 138"/>
                <a:gd name="T6" fmla="*/ 636 w 795"/>
                <a:gd name="T7" fmla="*/ 138 h 138"/>
                <a:gd name="T8" fmla="*/ 795 w 795"/>
                <a:gd name="T9" fmla="*/ 69 h 138"/>
                <a:gd name="T10" fmla="*/ 714 w 795"/>
                <a:gd name="T11" fmla="*/ 0 h 138"/>
                <a:gd name="T12" fmla="*/ 81 w 795"/>
                <a:gd name="T13" fmla="*/ 0 h 138"/>
              </a:gdLst>
              <a:ahLst/>
              <a:cxnLst>
                <a:cxn ang="0">
                  <a:pos x="T0" y="T1"/>
                </a:cxn>
                <a:cxn ang="0">
                  <a:pos x="T2" y="T3"/>
                </a:cxn>
                <a:cxn ang="0">
                  <a:pos x="T4" y="T5"/>
                </a:cxn>
                <a:cxn ang="0">
                  <a:pos x="T6" y="T7"/>
                </a:cxn>
                <a:cxn ang="0">
                  <a:pos x="T8" y="T9"/>
                </a:cxn>
                <a:cxn ang="0">
                  <a:pos x="T10" y="T11"/>
                </a:cxn>
                <a:cxn ang="0">
                  <a:pos x="T12" y="T13"/>
                </a:cxn>
              </a:cxnLst>
              <a:rect l="0" t="0" r="r" b="b"/>
              <a:pathLst>
                <a:path w="795" h="138">
                  <a:moveTo>
                    <a:pt x="81" y="0"/>
                  </a:moveTo>
                  <a:lnTo>
                    <a:pt x="162" y="69"/>
                  </a:lnTo>
                  <a:lnTo>
                    <a:pt x="0" y="138"/>
                  </a:lnTo>
                  <a:lnTo>
                    <a:pt x="636" y="138"/>
                  </a:lnTo>
                  <a:lnTo>
                    <a:pt x="795" y="69"/>
                  </a:lnTo>
                  <a:lnTo>
                    <a:pt x="714" y="0"/>
                  </a:lnTo>
                  <a:lnTo>
                    <a:pt x="81" y="0"/>
                  </a:lnTo>
                  <a:close/>
                </a:path>
              </a:pathLst>
            </a:custGeom>
            <a:solidFill>
              <a:schemeClr val="tx1">
                <a:lumMod val="50000"/>
                <a:lumOff val="50000"/>
              </a:scheme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1219200" latinLnBrk="1">
                <a:spcAft>
                  <a:spcPts val="400"/>
                </a:spcAft>
                <a:defRPr/>
              </a:pPr>
              <a:endParaRPr lang="ko-KR" altLang="en-US" sz="1600" b="1" dirty="0">
                <a:gradFill>
                  <a:gsLst>
                    <a:gs pos="0">
                      <a:prstClr val="white"/>
                    </a:gs>
                    <a:gs pos="100000">
                      <a:prstClr val="white"/>
                    </a:gs>
                  </a:gsLst>
                  <a:lin ang="5400000" scaled="0"/>
                </a:gradFill>
                <a:latin typeface="Bebas Neue" pitchFamily="34" charset="0"/>
                <a:ea typeface="+mj-ea"/>
              </a:endParaRPr>
            </a:p>
          </p:txBody>
        </p:sp>
      </p:grpSp>
      <p:grpSp>
        <p:nvGrpSpPr>
          <p:cNvPr id="43" name="그룹 14"/>
          <p:cNvGrpSpPr/>
          <p:nvPr>
            <p:custDataLst>
              <p:tags r:id="rId6"/>
            </p:custDataLst>
          </p:nvPr>
        </p:nvGrpSpPr>
        <p:grpSpPr>
          <a:xfrm>
            <a:off x="6389014" y="1959583"/>
            <a:ext cx="2384701" cy="732182"/>
            <a:chOff x="2971799" y="3869537"/>
            <a:chExt cx="1079501" cy="276492"/>
          </a:xfrm>
          <a:solidFill>
            <a:schemeClr val="tx1"/>
          </a:solidFill>
          <a:effectLst/>
        </p:grpSpPr>
        <p:sp>
          <p:nvSpPr>
            <p:cNvPr id="44" name="Rectangle 5"/>
            <p:cNvSpPr>
              <a:spLocks noChangeArrowheads="1"/>
            </p:cNvSpPr>
            <p:nvPr>
              <p:custDataLst>
                <p:tags r:id="rId17"/>
              </p:custDataLst>
            </p:nvPr>
          </p:nvSpPr>
          <p:spPr bwMode="auto">
            <a:xfrm>
              <a:off x="2971799" y="4056921"/>
              <a:ext cx="863600" cy="89108"/>
            </a:xfrm>
            <a:prstGeom prst="rect">
              <a:avLst/>
            </a:prstGeom>
            <a:solidFill>
              <a:schemeClr val="accent5">
                <a:lumMod val="75000"/>
              </a:scheme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1219200" latinLnBrk="1">
                <a:spcAft>
                  <a:spcPts val="400"/>
                </a:spcAft>
                <a:defRPr/>
              </a:pPr>
              <a:endParaRPr lang="ko-KR" altLang="en-US" sz="1600" b="1" dirty="0">
                <a:gradFill>
                  <a:gsLst>
                    <a:gs pos="0">
                      <a:prstClr val="white"/>
                    </a:gs>
                    <a:gs pos="100000">
                      <a:prstClr val="white"/>
                    </a:gs>
                  </a:gsLst>
                  <a:lin ang="5400000" scaled="0"/>
                </a:gradFill>
                <a:latin typeface="Bebas Neue" pitchFamily="34" charset="0"/>
                <a:ea typeface="+mj-ea"/>
              </a:endParaRPr>
            </a:p>
          </p:txBody>
        </p:sp>
        <p:sp>
          <p:nvSpPr>
            <p:cNvPr id="45" name="Freeform 6"/>
            <p:cNvSpPr/>
            <p:nvPr>
              <p:custDataLst>
                <p:tags r:id="rId18"/>
              </p:custDataLst>
            </p:nvPr>
          </p:nvSpPr>
          <p:spPr bwMode="auto">
            <a:xfrm>
              <a:off x="3832587" y="3963938"/>
              <a:ext cx="215901" cy="182089"/>
            </a:xfrm>
            <a:custGeom>
              <a:avLst/>
              <a:gdLst>
                <a:gd name="T0" fmla="*/ 0 w 159"/>
                <a:gd name="T1" fmla="*/ 69 h 186"/>
                <a:gd name="T2" fmla="*/ 0 w 159"/>
                <a:gd name="T3" fmla="*/ 186 h 186"/>
                <a:gd name="T4" fmla="*/ 159 w 159"/>
                <a:gd name="T5" fmla="*/ 117 h 186"/>
                <a:gd name="T6" fmla="*/ 159 w 159"/>
                <a:gd name="T7" fmla="*/ 0 h 186"/>
                <a:gd name="T8" fmla="*/ 0 w 159"/>
                <a:gd name="T9" fmla="*/ 69 h 186"/>
                <a:gd name="connsiteX0" fmla="*/ 0 w 10000"/>
                <a:gd name="connsiteY0" fmla="*/ 3710 h 10000"/>
                <a:gd name="connsiteX1" fmla="*/ 0 w 10000"/>
                <a:gd name="connsiteY1" fmla="*/ 10000 h 10000"/>
                <a:gd name="connsiteX2" fmla="*/ 10000 w 10000"/>
                <a:gd name="connsiteY2" fmla="*/ 5163 h 10000"/>
                <a:gd name="connsiteX3" fmla="*/ 10000 w 10000"/>
                <a:gd name="connsiteY3" fmla="*/ 0 h 10000"/>
                <a:gd name="connsiteX4" fmla="*/ 0 w 10000"/>
                <a:gd name="connsiteY4" fmla="*/ 3710 h 10000"/>
                <a:gd name="connsiteX0-1" fmla="*/ 0 w 10000"/>
                <a:gd name="connsiteY0-2" fmla="*/ 3710 h 10000"/>
                <a:gd name="connsiteX1-3" fmla="*/ 0 w 10000"/>
                <a:gd name="connsiteY1-4" fmla="*/ 10000 h 10000"/>
                <a:gd name="connsiteX2-5" fmla="*/ 10000 w 10000"/>
                <a:gd name="connsiteY2-6" fmla="*/ 4648 h 10000"/>
                <a:gd name="connsiteX3-7" fmla="*/ 10000 w 10000"/>
                <a:gd name="connsiteY3-8" fmla="*/ 0 h 10000"/>
                <a:gd name="connsiteX4-9" fmla="*/ 0 w 10000"/>
                <a:gd name="connsiteY4-10" fmla="*/ 371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0" y="3710"/>
                  </a:moveTo>
                  <a:lnTo>
                    <a:pt x="0" y="10000"/>
                  </a:lnTo>
                  <a:lnTo>
                    <a:pt x="10000" y="4648"/>
                  </a:lnTo>
                  <a:lnTo>
                    <a:pt x="10000" y="0"/>
                  </a:lnTo>
                  <a:lnTo>
                    <a:pt x="0" y="3710"/>
                  </a:lnTo>
                  <a:close/>
                </a:path>
              </a:pathLst>
            </a:custGeom>
            <a:solidFill>
              <a:schemeClr val="accent5">
                <a:lumMod val="50000"/>
              </a:scheme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1219200" latinLnBrk="1">
                <a:spcAft>
                  <a:spcPts val="400"/>
                </a:spcAft>
                <a:defRPr/>
              </a:pPr>
              <a:endParaRPr lang="ko-KR" altLang="en-US" sz="1600" b="1" dirty="0">
                <a:gradFill>
                  <a:gsLst>
                    <a:gs pos="0">
                      <a:prstClr val="white"/>
                    </a:gs>
                    <a:gs pos="100000">
                      <a:prstClr val="white"/>
                    </a:gs>
                  </a:gsLst>
                  <a:lin ang="5400000" scaled="0"/>
                </a:gradFill>
                <a:latin typeface="Bebas Neue" pitchFamily="34" charset="0"/>
                <a:ea typeface="+mj-ea"/>
              </a:endParaRPr>
            </a:p>
          </p:txBody>
        </p:sp>
        <p:sp>
          <p:nvSpPr>
            <p:cNvPr id="46" name="Freeform 8"/>
            <p:cNvSpPr/>
            <p:nvPr>
              <p:custDataLst>
                <p:tags r:id="rId19"/>
              </p:custDataLst>
            </p:nvPr>
          </p:nvSpPr>
          <p:spPr bwMode="auto">
            <a:xfrm>
              <a:off x="3079419" y="3869537"/>
              <a:ext cx="112451" cy="131918"/>
            </a:xfrm>
            <a:custGeom>
              <a:avLst/>
              <a:gdLst>
                <a:gd name="T0" fmla="*/ 0 w 81"/>
                <a:gd name="T1" fmla="*/ 0 h 102"/>
                <a:gd name="T2" fmla="*/ 81 w 81"/>
                <a:gd name="T3" fmla="*/ 69 h 102"/>
                <a:gd name="T4" fmla="*/ 0 w 81"/>
                <a:gd name="T5" fmla="*/ 102 h 102"/>
                <a:gd name="T6" fmla="*/ 0 w 81"/>
                <a:gd name="T7" fmla="*/ 0 h 102"/>
                <a:gd name="connsiteX0" fmla="*/ 224 w 10224"/>
                <a:gd name="connsiteY0" fmla="*/ 0 h 10000"/>
                <a:gd name="connsiteX1" fmla="*/ 10224 w 10224"/>
                <a:gd name="connsiteY1" fmla="*/ 6765 h 10000"/>
                <a:gd name="connsiteX2" fmla="*/ 224 w 10224"/>
                <a:gd name="connsiteY2" fmla="*/ 10000 h 10000"/>
                <a:gd name="connsiteX3" fmla="*/ 0 w 10224"/>
                <a:gd name="connsiteY3" fmla="*/ 6138 h 10000"/>
                <a:gd name="connsiteX4" fmla="*/ 224 w 10224"/>
                <a:gd name="connsiteY4" fmla="*/ 0 h 10000"/>
                <a:gd name="connsiteX0-1" fmla="*/ 224 w 10224"/>
                <a:gd name="connsiteY0-2" fmla="*/ 0 h 10000"/>
                <a:gd name="connsiteX1-3" fmla="*/ 10224 w 10224"/>
                <a:gd name="connsiteY1-4" fmla="*/ 6765 h 10000"/>
                <a:gd name="connsiteX2-5" fmla="*/ 3068 w 10224"/>
                <a:gd name="connsiteY2-6" fmla="*/ 9017 h 10000"/>
                <a:gd name="connsiteX3-7" fmla="*/ 224 w 10224"/>
                <a:gd name="connsiteY3-8" fmla="*/ 10000 h 10000"/>
                <a:gd name="connsiteX4-9" fmla="*/ 0 w 10224"/>
                <a:gd name="connsiteY4-10" fmla="*/ 6138 h 10000"/>
                <a:gd name="connsiteX5" fmla="*/ 224 w 10224"/>
                <a:gd name="connsiteY5" fmla="*/ 0 h 10000"/>
                <a:gd name="connsiteX0-11" fmla="*/ 224 w 10224"/>
                <a:gd name="connsiteY0-12" fmla="*/ 0 h 9017"/>
                <a:gd name="connsiteX1-13" fmla="*/ 10224 w 10224"/>
                <a:gd name="connsiteY1-14" fmla="*/ 6765 h 9017"/>
                <a:gd name="connsiteX2-15" fmla="*/ 3068 w 10224"/>
                <a:gd name="connsiteY2-16" fmla="*/ 9017 h 9017"/>
                <a:gd name="connsiteX3-17" fmla="*/ 0 w 10224"/>
                <a:gd name="connsiteY3-18" fmla="*/ 6138 h 9017"/>
                <a:gd name="connsiteX4-19" fmla="*/ 224 w 10224"/>
                <a:gd name="connsiteY4-20" fmla="*/ 0 h 9017"/>
                <a:gd name="connsiteX0-21" fmla="*/ 219 w 10000"/>
                <a:gd name="connsiteY0-22" fmla="*/ 0 h 10563"/>
                <a:gd name="connsiteX1-23" fmla="*/ 10000 w 10000"/>
                <a:gd name="connsiteY1-24" fmla="*/ 7502 h 10563"/>
                <a:gd name="connsiteX2-25" fmla="*/ 4751 w 10000"/>
                <a:gd name="connsiteY2-26" fmla="*/ 10563 h 10563"/>
                <a:gd name="connsiteX3-27" fmla="*/ 0 w 10000"/>
                <a:gd name="connsiteY3-28" fmla="*/ 6807 h 10563"/>
                <a:gd name="connsiteX4-29" fmla="*/ 219 w 10000"/>
                <a:gd name="connsiteY4-30" fmla="*/ 0 h 1056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563">
                  <a:moveTo>
                    <a:pt x="219" y="0"/>
                  </a:moveTo>
                  <a:lnTo>
                    <a:pt x="10000" y="7502"/>
                  </a:lnTo>
                  <a:lnTo>
                    <a:pt x="4751" y="10563"/>
                  </a:lnTo>
                  <a:lnTo>
                    <a:pt x="0" y="6807"/>
                  </a:lnTo>
                  <a:lnTo>
                    <a:pt x="219" y="0"/>
                  </a:lnTo>
                  <a:close/>
                </a:path>
              </a:pathLst>
            </a:custGeom>
            <a:solidFill>
              <a:schemeClr val="accent5">
                <a:lumMod val="50000"/>
              </a:scheme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1219200" latinLnBrk="1">
                <a:spcAft>
                  <a:spcPts val="400"/>
                </a:spcAft>
                <a:defRPr/>
              </a:pPr>
              <a:endParaRPr lang="ko-KR" altLang="en-US" sz="1600" b="1" dirty="0">
                <a:gradFill>
                  <a:gsLst>
                    <a:gs pos="0">
                      <a:prstClr val="white"/>
                    </a:gs>
                    <a:gs pos="100000">
                      <a:prstClr val="white"/>
                    </a:gs>
                  </a:gsLst>
                  <a:lin ang="5400000" scaled="0"/>
                </a:gradFill>
                <a:latin typeface="Bebas Neue" pitchFamily="34" charset="0"/>
                <a:ea typeface="+mj-ea"/>
              </a:endParaRPr>
            </a:p>
          </p:txBody>
        </p:sp>
        <p:sp>
          <p:nvSpPr>
            <p:cNvPr id="47" name="Freeform 7"/>
            <p:cNvSpPr/>
            <p:nvPr>
              <p:custDataLst>
                <p:tags r:id="rId20"/>
              </p:custDataLst>
            </p:nvPr>
          </p:nvSpPr>
          <p:spPr bwMode="auto">
            <a:xfrm>
              <a:off x="2971799" y="3869537"/>
              <a:ext cx="1079501" cy="187385"/>
            </a:xfrm>
            <a:custGeom>
              <a:avLst/>
              <a:gdLst>
                <a:gd name="T0" fmla="*/ 81 w 795"/>
                <a:gd name="T1" fmla="*/ 0 h 138"/>
                <a:gd name="T2" fmla="*/ 162 w 795"/>
                <a:gd name="T3" fmla="*/ 69 h 138"/>
                <a:gd name="T4" fmla="*/ 0 w 795"/>
                <a:gd name="T5" fmla="*/ 138 h 138"/>
                <a:gd name="T6" fmla="*/ 636 w 795"/>
                <a:gd name="T7" fmla="*/ 138 h 138"/>
                <a:gd name="T8" fmla="*/ 795 w 795"/>
                <a:gd name="T9" fmla="*/ 69 h 138"/>
                <a:gd name="T10" fmla="*/ 714 w 795"/>
                <a:gd name="T11" fmla="*/ 0 h 138"/>
                <a:gd name="T12" fmla="*/ 81 w 795"/>
                <a:gd name="T13" fmla="*/ 0 h 138"/>
              </a:gdLst>
              <a:ahLst/>
              <a:cxnLst>
                <a:cxn ang="0">
                  <a:pos x="T0" y="T1"/>
                </a:cxn>
                <a:cxn ang="0">
                  <a:pos x="T2" y="T3"/>
                </a:cxn>
                <a:cxn ang="0">
                  <a:pos x="T4" y="T5"/>
                </a:cxn>
                <a:cxn ang="0">
                  <a:pos x="T6" y="T7"/>
                </a:cxn>
                <a:cxn ang="0">
                  <a:pos x="T8" y="T9"/>
                </a:cxn>
                <a:cxn ang="0">
                  <a:pos x="T10" y="T11"/>
                </a:cxn>
                <a:cxn ang="0">
                  <a:pos x="T12" y="T13"/>
                </a:cxn>
              </a:cxnLst>
              <a:rect l="0" t="0" r="r" b="b"/>
              <a:pathLst>
                <a:path w="795" h="138">
                  <a:moveTo>
                    <a:pt x="81" y="0"/>
                  </a:moveTo>
                  <a:lnTo>
                    <a:pt x="162" y="69"/>
                  </a:lnTo>
                  <a:lnTo>
                    <a:pt x="0" y="138"/>
                  </a:lnTo>
                  <a:lnTo>
                    <a:pt x="636" y="138"/>
                  </a:lnTo>
                  <a:lnTo>
                    <a:pt x="795" y="69"/>
                  </a:lnTo>
                  <a:lnTo>
                    <a:pt x="714" y="0"/>
                  </a:lnTo>
                  <a:lnTo>
                    <a:pt x="81" y="0"/>
                  </a:lnTo>
                  <a:close/>
                </a:path>
              </a:pathLst>
            </a:custGeom>
            <a:solidFill>
              <a:schemeClr val="accent5"/>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1219200" latinLnBrk="1">
                <a:spcAft>
                  <a:spcPts val="400"/>
                </a:spcAft>
                <a:defRPr/>
              </a:pPr>
              <a:endParaRPr lang="ko-KR" altLang="en-US" sz="1600" b="1" dirty="0">
                <a:gradFill>
                  <a:gsLst>
                    <a:gs pos="0">
                      <a:prstClr val="white"/>
                    </a:gs>
                    <a:gs pos="100000">
                      <a:prstClr val="white"/>
                    </a:gs>
                  </a:gsLst>
                  <a:lin ang="5400000" scaled="0"/>
                </a:gradFill>
                <a:latin typeface="Bebas Neue" pitchFamily="34" charset="0"/>
                <a:ea typeface="+mj-ea"/>
              </a:endParaRPr>
            </a:p>
          </p:txBody>
        </p:sp>
      </p:grpSp>
      <p:grpSp>
        <p:nvGrpSpPr>
          <p:cNvPr id="48" name="그룹 14"/>
          <p:cNvGrpSpPr/>
          <p:nvPr>
            <p:custDataLst>
              <p:tags r:id="rId7"/>
            </p:custDataLst>
          </p:nvPr>
        </p:nvGrpSpPr>
        <p:grpSpPr>
          <a:xfrm>
            <a:off x="8559971" y="1959583"/>
            <a:ext cx="2384701" cy="732182"/>
            <a:chOff x="2971799" y="3869537"/>
            <a:chExt cx="1079501" cy="276492"/>
          </a:xfrm>
          <a:solidFill>
            <a:schemeClr val="tx1"/>
          </a:solidFill>
          <a:effectLst/>
        </p:grpSpPr>
        <p:sp>
          <p:nvSpPr>
            <p:cNvPr id="49" name="Rectangle 5"/>
            <p:cNvSpPr>
              <a:spLocks noChangeArrowheads="1"/>
            </p:cNvSpPr>
            <p:nvPr>
              <p:custDataLst>
                <p:tags r:id="rId13"/>
              </p:custDataLst>
            </p:nvPr>
          </p:nvSpPr>
          <p:spPr bwMode="auto">
            <a:xfrm>
              <a:off x="2971799" y="4056921"/>
              <a:ext cx="863600" cy="89108"/>
            </a:xfrm>
            <a:prstGeom prst="rect">
              <a:avLst/>
            </a:prstGeom>
            <a:solidFill>
              <a:schemeClr val="tx1">
                <a:lumMod val="50000"/>
                <a:lumOff val="50000"/>
              </a:scheme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1219200" latinLnBrk="1">
                <a:spcAft>
                  <a:spcPts val="400"/>
                </a:spcAft>
                <a:defRPr/>
              </a:pPr>
              <a:endParaRPr lang="ko-KR" altLang="en-US" sz="1600" b="1" dirty="0">
                <a:gradFill>
                  <a:gsLst>
                    <a:gs pos="0">
                      <a:prstClr val="white"/>
                    </a:gs>
                    <a:gs pos="100000">
                      <a:prstClr val="white"/>
                    </a:gs>
                  </a:gsLst>
                  <a:lin ang="5400000" scaled="0"/>
                </a:gradFill>
                <a:latin typeface="Bebas Neue" pitchFamily="34" charset="0"/>
                <a:ea typeface="+mj-ea"/>
              </a:endParaRPr>
            </a:p>
          </p:txBody>
        </p:sp>
        <p:sp>
          <p:nvSpPr>
            <p:cNvPr id="50" name="Freeform 6"/>
            <p:cNvSpPr/>
            <p:nvPr>
              <p:custDataLst>
                <p:tags r:id="rId14"/>
              </p:custDataLst>
            </p:nvPr>
          </p:nvSpPr>
          <p:spPr bwMode="auto">
            <a:xfrm>
              <a:off x="3832587" y="3963938"/>
              <a:ext cx="215901" cy="182089"/>
            </a:xfrm>
            <a:custGeom>
              <a:avLst/>
              <a:gdLst>
                <a:gd name="T0" fmla="*/ 0 w 159"/>
                <a:gd name="T1" fmla="*/ 69 h 186"/>
                <a:gd name="T2" fmla="*/ 0 w 159"/>
                <a:gd name="T3" fmla="*/ 186 h 186"/>
                <a:gd name="T4" fmla="*/ 159 w 159"/>
                <a:gd name="T5" fmla="*/ 117 h 186"/>
                <a:gd name="T6" fmla="*/ 159 w 159"/>
                <a:gd name="T7" fmla="*/ 0 h 186"/>
                <a:gd name="T8" fmla="*/ 0 w 159"/>
                <a:gd name="T9" fmla="*/ 69 h 186"/>
                <a:gd name="connsiteX0" fmla="*/ 0 w 10000"/>
                <a:gd name="connsiteY0" fmla="*/ 3710 h 10000"/>
                <a:gd name="connsiteX1" fmla="*/ 0 w 10000"/>
                <a:gd name="connsiteY1" fmla="*/ 10000 h 10000"/>
                <a:gd name="connsiteX2" fmla="*/ 10000 w 10000"/>
                <a:gd name="connsiteY2" fmla="*/ 5163 h 10000"/>
                <a:gd name="connsiteX3" fmla="*/ 10000 w 10000"/>
                <a:gd name="connsiteY3" fmla="*/ 0 h 10000"/>
                <a:gd name="connsiteX4" fmla="*/ 0 w 10000"/>
                <a:gd name="connsiteY4" fmla="*/ 3710 h 10000"/>
                <a:gd name="connsiteX0-1" fmla="*/ 0 w 10000"/>
                <a:gd name="connsiteY0-2" fmla="*/ 3710 h 10000"/>
                <a:gd name="connsiteX1-3" fmla="*/ 0 w 10000"/>
                <a:gd name="connsiteY1-4" fmla="*/ 10000 h 10000"/>
                <a:gd name="connsiteX2-5" fmla="*/ 10000 w 10000"/>
                <a:gd name="connsiteY2-6" fmla="*/ 4648 h 10000"/>
                <a:gd name="connsiteX3-7" fmla="*/ 10000 w 10000"/>
                <a:gd name="connsiteY3-8" fmla="*/ 0 h 10000"/>
                <a:gd name="connsiteX4-9" fmla="*/ 0 w 10000"/>
                <a:gd name="connsiteY4-10" fmla="*/ 371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0" y="3710"/>
                  </a:moveTo>
                  <a:lnTo>
                    <a:pt x="0" y="10000"/>
                  </a:lnTo>
                  <a:lnTo>
                    <a:pt x="10000" y="4648"/>
                  </a:lnTo>
                  <a:lnTo>
                    <a:pt x="10000" y="0"/>
                  </a:lnTo>
                  <a:lnTo>
                    <a:pt x="0" y="3710"/>
                  </a:lnTo>
                  <a:close/>
                </a:path>
              </a:pathLst>
            </a:custGeom>
            <a:solidFill>
              <a:schemeClr val="tx1">
                <a:lumMod val="65000"/>
                <a:lumOff val="35000"/>
              </a:scheme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1219200" latinLnBrk="1">
                <a:spcAft>
                  <a:spcPts val="400"/>
                </a:spcAft>
                <a:defRPr/>
              </a:pPr>
              <a:endParaRPr lang="ko-KR" altLang="en-US" sz="1600" b="1" dirty="0">
                <a:gradFill>
                  <a:gsLst>
                    <a:gs pos="0">
                      <a:prstClr val="white"/>
                    </a:gs>
                    <a:gs pos="100000">
                      <a:prstClr val="white"/>
                    </a:gs>
                  </a:gsLst>
                  <a:lin ang="5400000" scaled="0"/>
                </a:gradFill>
                <a:latin typeface="Bebas Neue" pitchFamily="34" charset="0"/>
                <a:ea typeface="+mj-ea"/>
              </a:endParaRPr>
            </a:p>
          </p:txBody>
        </p:sp>
        <p:sp>
          <p:nvSpPr>
            <p:cNvPr id="51" name="Freeform 8"/>
            <p:cNvSpPr/>
            <p:nvPr>
              <p:custDataLst>
                <p:tags r:id="rId15"/>
              </p:custDataLst>
            </p:nvPr>
          </p:nvSpPr>
          <p:spPr bwMode="auto">
            <a:xfrm>
              <a:off x="3079419" y="3869537"/>
              <a:ext cx="112451" cy="131918"/>
            </a:xfrm>
            <a:custGeom>
              <a:avLst/>
              <a:gdLst>
                <a:gd name="T0" fmla="*/ 0 w 81"/>
                <a:gd name="T1" fmla="*/ 0 h 102"/>
                <a:gd name="T2" fmla="*/ 81 w 81"/>
                <a:gd name="T3" fmla="*/ 69 h 102"/>
                <a:gd name="T4" fmla="*/ 0 w 81"/>
                <a:gd name="T5" fmla="*/ 102 h 102"/>
                <a:gd name="T6" fmla="*/ 0 w 81"/>
                <a:gd name="T7" fmla="*/ 0 h 102"/>
                <a:gd name="connsiteX0" fmla="*/ 224 w 10224"/>
                <a:gd name="connsiteY0" fmla="*/ 0 h 10000"/>
                <a:gd name="connsiteX1" fmla="*/ 10224 w 10224"/>
                <a:gd name="connsiteY1" fmla="*/ 6765 h 10000"/>
                <a:gd name="connsiteX2" fmla="*/ 224 w 10224"/>
                <a:gd name="connsiteY2" fmla="*/ 10000 h 10000"/>
                <a:gd name="connsiteX3" fmla="*/ 0 w 10224"/>
                <a:gd name="connsiteY3" fmla="*/ 6138 h 10000"/>
                <a:gd name="connsiteX4" fmla="*/ 224 w 10224"/>
                <a:gd name="connsiteY4" fmla="*/ 0 h 10000"/>
                <a:gd name="connsiteX0-1" fmla="*/ 224 w 10224"/>
                <a:gd name="connsiteY0-2" fmla="*/ 0 h 10000"/>
                <a:gd name="connsiteX1-3" fmla="*/ 10224 w 10224"/>
                <a:gd name="connsiteY1-4" fmla="*/ 6765 h 10000"/>
                <a:gd name="connsiteX2-5" fmla="*/ 3068 w 10224"/>
                <a:gd name="connsiteY2-6" fmla="*/ 9017 h 10000"/>
                <a:gd name="connsiteX3-7" fmla="*/ 224 w 10224"/>
                <a:gd name="connsiteY3-8" fmla="*/ 10000 h 10000"/>
                <a:gd name="connsiteX4-9" fmla="*/ 0 w 10224"/>
                <a:gd name="connsiteY4-10" fmla="*/ 6138 h 10000"/>
                <a:gd name="connsiteX5" fmla="*/ 224 w 10224"/>
                <a:gd name="connsiteY5" fmla="*/ 0 h 10000"/>
                <a:gd name="connsiteX0-11" fmla="*/ 224 w 10224"/>
                <a:gd name="connsiteY0-12" fmla="*/ 0 h 9017"/>
                <a:gd name="connsiteX1-13" fmla="*/ 10224 w 10224"/>
                <a:gd name="connsiteY1-14" fmla="*/ 6765 h 9017"/>
                <a:gd name="connsiteX2-15" fmla="*/ 3068 w 10224"/>
                <a:gd name="connsiteY2-16" fmla="*/ 9017 h 9017"/>
                <a:gd name="connsiteX3-17" fmla="*/ 0 w 10224"/>
                <a:gd name="connsiteY3-18" fmla="*/ 6138 h 9017"/>
                <a:gd name="connsiteX4-19" fmla="*/ 224 w 10224"/>
                <a:gd name="connsiteY4-20" fmla="*/ 0 h 9017"/>
                <a:gd name="connsiteX0-21" fmla="*/ 219 w 10000"/>
                <a:gd name="connsiteY0-22" fmla="*/ 0 h 10563"/>
                <a:gd name="connsiteX1-23" fmla="*/ 10000 w 10000"/>
                <a:gd name="connsiteY1-24" fmla="*/ 7502 h 10563"/>
                <a:gd name="connsiteX2-25" fmla="*/ 4751 w 10000"/>
                <a:gd name="connsiteY2-26" fmla="*/ 10563 h 10563"/>
                <a:gd name="connsiteX3-27" fmla="*/ 0 w 10000"/>
                <a:gd name="connsiteY3-28" fmla="*/ 6807 h 10563"/>
                <a:gd name="connsiteX4-29" fmla="*/ 219 w 10000"/>
                <a:gd name="connsiteY4-30" fmla="*/ 0 h 1056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563">
                  <a:moveTo>
                    <a:pt x="219" y="0"/>
                  </a:moveTo>
                  <a:lnTo>
                    <a:pt x="10000" y="7502"/>
                  </a:lnTo>
                  <a:lnTo>
                    <a:pt x="4751" y="10563"/>
                  </a:lnTo>
                  <a:lnTo>
                    <a:pt x="0" y="6807"/>
                  </a:lnTo>
                  <a:lnTo>
                    <a:pt x="219" y="0"/>
                  </a:lnTo>
                  <a:close/>
                </a:path>
              </a:pathLst>
            </a:custGeom>
            <a:solidFill>
              <a:schemeClr val="tx1">
                <a:lumMod val="65000"/>
                <a:lumOff val="35000"/>
              </a:scheme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1219200" latinLnBrk="1">
                <a:spcAft>
                  <a:spcPts val="400"/>
                </a:spcAft>
                <a:defRPr/>
              </a:pPr>
              <a:endParaRPr lang="ko-KR" altLang="en-US" sz="1600" b="1" dirty="0">
                <a:gradFill>
                  <a:gsLst>
                    <a:gs pos="0">
                      <a:prstClr val="white"/>
                    </a:gs>
                    <a:gs pos="100000">
                      <a:prstClr val="white"/>
                    </a:gs>
                  </a:gsLst>
                  <a:lin ang="5400000" scaled="0"/>
                </a:gradFill>
                <a:latin typeface="Bebas Neue" pitchFamily="34" charset="0"/>
                <a:ea typeface="+mj-ea"/>
              </a:endParaRPr>
            </a:p>
          </p:txBody>
        </p:sp>
        <p:sp>
          <p:nvSpPr>
            <p:cNvPr id="52" name="Freeform 7"/>
            <p:cNvSpPr/>
            <p:nvPr>
              <p:custDataLst>
                <p:tags r:id="rId16"/>
              </p:custDataLst>
            </p:nvPr>
          </p:nvSpPr>
          <p:spPr bwMode="auto">
            <a:xfrm>
              <a:off x="2971799" y="3869537"/>
              <a:ext cx="1079501" cy="187385"/>
            </a:xfrm>
            <a:custGeom>
              <a:avLst/>
              <a:gdLst>
                <a:gd name="T0" fmla="*/ 81 w 795"/>
                <a:gd name="T1" fmla="*/ 0 h 138"/>
                <a:gd name="T2" fmla="*/ 162 w 795"/>
                <a:gd name="T3" fmla="*/ 69 h 138"/>
                <a:gd name="T4" fmla="*/ 0 w 795"/>
                <a:gd name="T5" fmla="*/ 138 h 138"/>
                <a:gd name="T6" fmla="*/ 636 w 795"/>
                <a:gd name="T7" fmla="*/ 138 h 138"/>
                <a:gd name="T8" fmla="*/ 795 w 795"/>
                <a:gd name="T9" fmla="*/ 69 h 138"/>
                <a:gd name="T10" fmla="*/ 714 w 795"/>
                <a:gd name="T11" fmla="*/ 0 h 138"/>
                <a:gd name="T12" fmla="*/ 81 w 795"/>
                <a:gd name="T13" fmla="*/ 0 h 138"/>
              </a:gdLst>
              <a:ahLst/>
              <a:cxnLst>
                <a:cxn ang="0">
                  <a:pos x="T0" y="T1"/>
                </a:cxn>
                <a:cxn ang="0">
                  <a:pos x="T2" y="T3"/>
                </a:cxn>
                <a:cxn ang="0">
                  <a:pos x="T4" y="T5"/>
                </a:cxn>
                <a:cxn ang="0">
                  <a:pos x="T6" y="T7"/>
                </a:cxn>
                <a:cxn ang="0">
                  <a:pos x="T8" y="T9"/>
                </a:cxn>
                <a:cxn ang="0">
                  <a:pos x="T10" y="T11"/>
                </a:cxn>
                <a:cxn ang="0">
                  <a:pos x="T12" y="T13"/>
                </a:cxn>
              </a:cxnLst>
              <a:rect l="0" t="0" r="r" b="b"/>
              <a:pathLst>
                <a:path w="795" h="138">
                  <a:moveTo>
                    <a:pt x="81" y="0"/>
                  </a:moveTo>
                  <a:lnTo>
                    <a:pt x="162" y="69"/>
                  </a:lnTo>
                  <a:lnTo>
                    <a:pt x="0" y="138"/>
                  </a:lnTo>
                  <a:lnTo>
                    <a:pt x="636" y="138"/>
                  </a:lnTo>
                  <a:lnTo>
                    <a:pt x="795" y="69"/>
                  </a:lnTo>
                  <a:lnTo>
                    <a:pt x="714" y="0"/>
                  </a:lnTo>
                  <a:lnTo>
                    <a:pt x="81" y="0"/>
                  </a:lnTo>
                  <a:close/>
                </a:path>
              </a:pathLst>
            </a:custGeom>
            <a:solidFill>
              <a:schemeClr val="bg1">
                <a:lumMod val="65000"/>
              </a:scheme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1219200" latinLnBrk="1">
                <a:spcAft>
                  <a:spcPts val="400"/>
                </a:spcAft>
                <a:defRPr/>
              </a:pPr>
              <a:endParaRPr lang="ko-KR" altLang="en-US" sz="1600" b="1" dirty="0">
                <a:gradFill>
                  <a:gsLst>
                    <a:gs pos="0">
                      <a:prstClr val="white"/>
                    </a:gs>
                    <a:gs pos="100000">
                      <a:prstClr val="white"/>
                    </a:gs>
                  </a:gsLst>
                  <a:lin ang="5400000" scaled="0"/>
                </a:gradFill>
                <a:latin typeface="Bebas Neue" pitchFamily="34" charset="0"/>
                <a:ea typeface="+mj-ea"/>
              </a:endParaRPr>
            </a:p>
          </p:txBody>
        </p:sp>
      </p:grpSp>
      <p:sp>
        <p:nvSpPr>
          <p:cNvPr id="53" name="矩形 52"/>
          <p:cNvSpPr/>
          <p:nvPr>
            <p:custDataLst>
              <p:tags r:id="rId8"/>
            </p:custDataLst>
          </p:nvPr>
        </p:nvSpPr>
        <p:spPr>
          <a:xfrm>
            <a:off x="2454348" y="1709488"/>
            <a:ext cx="1692910" cy="583565"/>
          </a:xfrm>
          <a:prstGeom prst="rect">
            <a:avLst/>
          </a:prstGeom>
        </p:spPr>
        <p:txBody>
          <a:bodyPr wrap="none">
            <a:spAutoFit/>
            <a:scene3d>
              <a:camera prst="obliqueTopRight"/>
              <a:lightRig rig="threePt" dir="t">
                <a:rot lat="0" lon="0" rev="2700000"/>
              </a:lightRig>
            </a:scene3d>
            <a:sp3d extrusionH="50800">
              <a:bevelT w="0" h="0"/>
              <a:bevelB w="0" h="0"/>
              <a:extrusionClr>
                <a:schemeClr val="bg1"/>
              </a:extrusionClr>
            </a:sp3d>
          </a:bodyPr>
          <a:lstStyle/>
          <a:p>
            <a:pPr algn="ctr">
              <a:spcBef>
                <a:spcPts val="600"/>
              </a:spcBef>
            </a:pPr>
            <a:r>
              <a:rPr lang="en-US" altLang="zh-CN" sz="3200" b="1" spc="300" dirty="0">
                <a:ln w="6350" cap="rnd">
                  <a:noFill/>
                  <a:prstDash val="solid"/>
                </a:ln>
                <a:solidFill>
                  <a:prstClr val="white"/>
                </a:solidFill>
                <a:effectLst>
                  <a:outerShdw blurRad="127000" dist="114300" dir="15000000" sy="30000" kx="-1800000" algn="bl" rotWithShape="0">
                    <a:prstClr val="black">
                      <a:alpha val="30000"/>
                    </a:prstClr>
                  </a:outerShdw>
                  <a:reflection blurRad="6350" stA="40000" endPos="45500" dist="12700" dir="5400000" sy="-100000" algn="bl" rotWithShape="0"/>
                </a:effectLst>
                <a:latin typeface="Impact" panose="020B0806030902050204" pitchFamily="34" charset="0"/>
                <a:ea typeface="微软雅黑" panose="020B0503020204020204" charset="-122"/>
              </a:rPr>
              <a:t>PLAN 01</a:t>
            </a:r>
          </a:p>
        </p:txBody>
      </p:sp>
      <p:sp>
        <p:nvSpPr>
          <p:cNvPr id="54" name="矩形 53"/>
          <p:cNvSpPr/>
          <p:nvPr>
            <p:custDataLst>
              <p:tags r:id="rId9"/>
            </p:custDataLst>
          </p:nvPr>
        </p:nvSpPr>
        <p:spPr>
          <a:xfrm>
            <a:off x="4600394" y="1709488"/>
            <a:ext cx="1741805" cy="583565"/>
          </a:xfrm>
          <a:prstGeom prst="rect">
            <a:avLst/>
          </a:prstGeom>
        </p:spPr>
        <p:txBody>
          <a:bodyPr wrap="none">
            <a:spAutoFit/>
            <a:scene3d>
              <a:camera prst="obliqueTopRight"/>
              <a:lightRig rig="threePt" dir="t">
                <a:rot lat="0" lon="0" rev="2700000"/>
              </a:lightRig>
            </a:scene3d>
            <a:sp3d extrusionH="50800">
              <a:bevelT w="0" h="0"/>
              <a:bevelB w="0" h="0"/>
              <a:extrusionClr>
                <a:schemeClr val="bg1"/>
              </a:extrusionClr>
            </a:sp3d>
          </a:bodyPr>
          <a:lstStyle/>
          <a:p>
            <a:pPr algn="ctr">
              <a:spcBef>
                <a:spcPts val="600"/>
              </a:spcBef>
            </a:pPr>
            <a:r>
              <a:rPr lang="en-US" altLang="zh-CN" sz="3200" b="1" spc="300" dirty="0">
                <a:ln w="6350" cap="rnd">
                  <a:noFill/>
                  <a:prstDash val="solid"/>
                </a:ln>
                <a:solidFill>
                  <a:prstClr val="white"/>
                </a:solidFill>
                <a:effectLst>
                  <a:outerShdw blurRad="127000" dist="114300" dir="15000000" sy="30000" kx="-1800000" algn="bl" rotWithShape="0">
                    <a:prstClr val="black">
                      <a:alpha val="30000"/>
                    </a:prstClr>
                  </a:outerShdw>
                  <a:reflection blurRad="6350" stA="40000" endPos="45500" dist="12700" dir="5400000" sy="-100000" algn="bl" rotWithShape="0"/>
                </a:effectLst>
                <a:latin typeface="Impact" panose="020B0806030902050204" pitchFamily="34" charset="0"/>
                <a:ea typeface="微软雅黑" panose="020B0503020204020204" charset="-122"/>
              </a:rPr>
              <a:t>PLAN 02</a:t>
            </a:r>
          </a:p>
        </p:txBody>
      </p:sp>
      <p:sp>
        <p:nvSpPr>
          <p:cNvPr id="55" name="矩形 54"/>
          <p:cNvSpPr/>
          <p:nvPr>
            <p:custDataLst>
              <p:tags r:id="rId10"/>
            </p:custDataLst>
          </p:nvPr>
        </p:nvSpPr>
        <p:spPr>
          <a:xfrm>
            <a:off x="6764894" y="1709488"/>
            <a:ext cx="1753235" cy="583565"/>
          </a:xfrm>
          <a:prstGeom prst="rect">
            <a:avLst/>
          </a:prstGeom>
        </p:spPr>
        <p:txBody>
          <a:bodyPr wrap="none">
            <a:spAutoFit/>
            <a:scene3d>
              <a:camera prst="obliqueTopRight"/>
              <a:lightRig rig="threePt" dir="t">
                <a:rot lat="0" lon="0" rev="2700000"/>
              </a:lightRig>
            </a:scene3d>
            <a:sp3d extrusionH="50800">
              <a:bevelT w="0" h="0"/>
              <a:bevelB w="0" h="0"/>
              <a:extrusionClr>
                <a:schemeClr val="bg1"/>
              </a:extrusionClr>
            </a:sp3d>
          </a:bodyPr>
          <a:lstStyle/>
          <a:p>
            <a:pPr algn="ctr">
              <a:spcBef>
                <a:spcPts val="600"/>
              </a:spcBef>
            </a:pPr>
            <a:r>
              <a:rPr lang="en-US" altLang="zh-CN" sz="3200" b="1" spc="300" dirty="0">
                <a:ln w="6350" cap="rnd">
                  <a:noFill/>
                  <a:prstDash val="solid"/>
                </a:ln>
                <a:solidFill>
                  <a:prstClr val="white"/>
                </a:solidFill>
                <a:effectLst>
                  <a:outerShdw blurRad="127000" dist="114300" dir="15000000" sy="30000" kx="-1800000" algn="bl" rotWithShape="0">
                    <a:prstClr val="black">
                      <a:alpha val="30000"/>
                    </a:prstClr>
                  </a:outerShdw>
                  <a:reflection blurRad="6350" stA="40000" endPos="45500" dist="12700" dir="5400000" sy="-100000" algn="bl" rotWithShape="0"/>
                </a:effectLst>
                <a:latin typeface="Impact" panose="020B0806030902050204" pitchFamily="34" charset="0"/>
                <a:ea typeface="微软雅黑" panose="020B0503020204020204" charset="-122"/>
              </a:rPr>
              <a:t>PLAN 03</a:t>
            </a:r>
          </a:p>
        </p:txBody>
      </p:sp>
      <p:sp>
        <p:nvSpPr>
          <p:cNvPr id="56" name="矩形 55"/>
          <p:cNvSpPr/>
          <p:nvPr>
            <p:custDataLst>
              <p:tags r:id="rId11"/>
            </p:custDataLst>
          </p:nvPr>
        </p:nvSpPr>
        <p:spPr>
          <a:xfrm>
            <a:off x="8963422" y="1709488"/>
            <a:ext cx="1741170" cy="583565"/>
          </a:xfrm>
          <a:prstGeom prst="rect">
            <a:avLst/>
          </a:prstGeom>
        </p:spPr>
        <p:txBody>
          <a:bodyPr wrap="none">
            <a:spAutoFit/>
            <a:scene3d>
              <a:camera prst="obliqueTopRight"/>
              <a:lightRig rig="threePt" dir="t">
                <a:rot lat="0" lon="0" rev="2700000"/>
              </a:lightRig>
            </a:scene3d>
            <a:sp3d extrusionH="50800">
              <a:bevelT w="0" h="0"/>
              <a:bevelB w="0" h="0"/>
              <a:extrusionClr>
                <a:schemeClr val="bg1"/>
              </a:extrusionClr>
            </a:sp3d>
          </a:bodyPr>
          <a:lstStyle/>
          <a:p>
            <a:pPr algn="ctr">
              <a:spcBef>
                <a:spcPts val="600"/>
              </a:spcBef>
            </a:pPr>
            <a:r>
              <a:rPr lang="en-US" altLang="zh-CN" sz="3200" b="1" spc="300" dirty="0">
                <a:ln w="6350" cap="rnd">
                  <a:noFill/>
                  <a:prstDash val="solid"/>
                </a:ln>
                <a:solidFill>
                  <a:prstClr val="white"/>
                </a:solidFill>
                <a:effectLst>
                  <a:outerShdw blurRad="127000" dist="114300" dir="15000000" sy="30000" kx="-1800000" algn="bl" rotWithShape="0">
                    <a:prstClr val="black">
                      <a:alpha val="30000"/>
                    </a:prstClr>
                  </a:outerShdw>
                  <a:reflection blurRad="6350" stA="40000" endPos="45500" dist="12700" dir="5400000" sy="-100000" algn="bl" rotWithShape="0"/>
                </a:effectLst>
                <a:latin typeface="Impact" panose="020B0806030902050204" pitchFamily="34" charset="0"/>
                <a:ea typeface="微软雅黑" panose="020B0503020204020204" charset="-122"/>
              </a:rPr>
              <a:t>PLAN 04</a:t>
            </a:r>
          </a:p>
        </p:txBody>
      </p:sp>
      <p:sp>
        <p:nvSpPr>
          <p:cNvPr id="57" name="Rectangle 65"/>
          <p:cNvSpPr/>
          <p:nvPr>
            <p:custDataLst>
              <p:tags r:id="rId12"/>
            </p:custDataLst>
          </p:nvPr>
        </p:nvSpPr>
        <p:spPr>
          <a:xfrm>
            <a:off x="1981835" y="2840990"/>
            <a:ext cx="2236470" cy="1726565"/>
          </a:xfrm>
          <a:prstGeom prst="rect">
            <a:avLst/>
          </a:prstGeom>
        </p:spPr>
        <p:txBody>
          <a:bodyPr wrap="square">
            <a:spAutoFit/>
          </a:bodyPr>
          <a:lstStyle/>
          <a:p>
            <a:pPr algn="ctr">
              <a:lnSpc>
                <a:spcPct val="130000"/>
              </a:lnSpc>
              <a:spcBef>
                <a:spcPts val="600"/>
              </a:spcBef>
            </a:pPr>
            <a:r>
              <a:rPr lang="zh-CN" altLang="en-US" b="1" dirty="0">
                <a:gradFill>
                  <a:gsLst>
                    <a:gs pos="42000">
                      <a:srgbClr val="EC5763"/>
                    </a:gs>
                    <a:gs pos="0">
                      <a:srgbClr val="F28F97"/>
                    </a:gs>
                    <a:gs pos="100000">
                      <a:srgbClr val="E51E2E"/>
                    </a:gs>
                  </a:gsLst>
                  <a:lin ang="5400000" scaled="1"/>
                </a:gradFill>
                <a:effectLst>
                  <a:outerShdw blurRad="38100" dist="38100" dir="2700000" algn="tl">
                    <a:srgbClr val="000000">
                      <a:alpha val="43137"/>
                    </a:srgbClr>
                  </a:outerShdw>
                </a:effectLst>
                <a:latin typeface="微软雅黑" panose="020B0503020204020204" charset="-122"/>
                <a:ea typeface="微软雅黑" panose="020B0503020204020204" charset="-122"/>
              </a:rPr>
              <a:t>被动散热关节模组</a:t>
            </a:r>
            <a:endParaRPr lang="zh-CN" altLang="en-US" sz="2000" dirty="0">
              <a:solidFill>
                <a:prstClr val="black">
                  <a:lumMod val="75000"/>
                  <a:lumOff val="25000"/>
                </a:prstClr>
              </a:solidFill>
              <a:latin typeface="微软雅黑" panose="020B0503020204020204" charset="-122"/>
              <a:ea typeface="微软雅黑" panose="020B0503020204020204" charset="-122"/>
            </a:endParaRPr>
          </a:p>
          <a:p>
            <a:pPr algn="ctr">
              <a:lnSpc>
                <a:spcPct val="130000"/>
              </a:lnSpc>
              <a:spcBef>
                <a:spcPts val="600"/>
              </a:spcBef>
            </a:pPr>
            <a:r>
              <a:rPr lang="zh-CN" altLang="en-US" sz="1200" dirty="0">
                <a:solidFill>
                  <a:prstClr val="black"/>
                </a:solidFill>
                <a:latin typeface="微软雅黑" panose="020B0503020204020204" charset="-122"/>
                <a:ea typeface="微软雅黑" panose="020B0503020204020204" charset="-122"/>
              </a:rPr>
              <a:t>相变导热</a:t>
            </a:r>
            <a:r>
              <a:rPr lang="en-US" altLang="zh-CN" sz="1200" dirty="0">
                <a:solidFill>
                  <a:prstClr val="black"/>
                </a:solidFill>
                <a:latin typeface="微软雅黑" panose="020B0503020204020204" charset="-122"/>
                <a:ea typeface="微软雅黑" panose="020B0503020204020204" charset="-122"/>
              </a:rPr>
              <a:t>+</a:t>
            </a:r>
            <a:r>
              <a:rPr lang="zh-CN" altLang="en-US" sz="1200" dirty="0">
                <a:solidFill>
                  <a:prstClr val="black"/>
                </a:solidFill>
                <a:latin typeface="微软雅黑" panose="020B0503020204020204" charset="-122"/>
                <a:ea typeface="微软雅黑" panose="020B0503020204020204" charset="-122"/>
              </a:rPr>
              <a:t>微纳散热双核心技术，突破传统自然散热瓶颈，实测高负载下绕组降温</a:t>
            </a:r>
            <a:r>
              <a:rPr lang="en-US" altLang="zh-CN" sz="1200" dirty="0">
                <a:solidFill>
                  <a:prstClr val="black"/>
                </a:solidFill>
                <a:latin typeface="微软雅黑" panose="020B0503020204020204" charset="-122"/>
                <a:ea typeface="微软雅黑" panose="020B0503020204020204" charset="-122"/>
              </a:rPr>
              <a:t>33.7%</a:t>
            </a:r>
            <a:r>
              <a:rPr lang="zh-CN" altLang="en-US" sz="1200" dirty="0">
                <a:solidFill>
                  <a:prstClr val="black"/>
                </a:solidFill>
                <a:latin typeface="微软雅黑" panose="020B0503020204020204" charset="-122"/>
                <a:ea typeface="微软雅黑" panose="020B0503020204020204" charset="-122"/>
              </a:rPr>
              <a:t>，无额外能耗，实现高功率密度关节模组的高效被动散热。</a:t>
            </a:r>
          </a:p>
        </p:txBody>
      </p:sp>
      <p:sp>
        <p:nvSpPr>
          <p:cNvPr id="20" name="矩形 19"/>
          <p:cNvSpPr/>
          <p:nvPr/>
        </p:nvSpPr>
        <p:spPr>
          <a:xfrm>
            <a:off x="970274" y="2981156"/>
            <a:ext cx="65753" cy="461665"/>
          </a:xfrm>
          <a:prstGeom prst="rect">
            <a:avLst/>
          </a:prstGeom>
          <a:gradFill>
            <a:gsLst>
              <a:gs pos="50000">
                <a:srgbClr val="1F5FBF"/>
              </a:gs>
              <a:gs pos="0">
                <a:srgbClr val="1486CB"/>
              </a:gs>
              <a:gs pos="100000">
                <a:srgbClr val="2A34B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sp>
        <p:nvSpPr>
          <p:cNvPr id="21" name="文本框 20"/>
          <p:cNvSpPr txBox="1"/>
          <p:nvPr/>
        </p:nvSpPr>
        <p:spPr>
          <a:xfrm>
            <a:off x="378925" y="3443165"/>
            <a:ext cx="1257300" cy="460375"/>
          </a:xfrm>
          <a:prstGeom prst="rect">
            <a:avLst/>
          </a:prstGeom>
          <a:noFill/>
        </p:spPr>
        <p:txBody>
          <a:bodyPr wrap="square">
            <a:spAutoFit/>
          </a:bodyPr>
          <a:lstStyle/>
          <a:p>
            <a:pPr algn="ctr"/>
            <a:r>
              <a:rPr lang="en-US" sz="1200" b="1">
                <a:solidFill>
                  <a:schemeClr val="accent1">
                    <a:lumMod val="40000"/>
                    <a:lumOff val="60000"/>
                  </a:schemeClr>
                </a:solidFill>
                <a:latin typeface="Arial" panose="020B0604020202020204"/>
                <a:ea typeface="Arial" panose="020B0604020202020204"/>
                <a:cs typeface="Arial" panose="020B0604020202020204"/>
                <a:sym typeface="Arial" panose="020B0604020202020204"/>
              </a:rPr>
              <a:t>Nanjing Cooling</a:t>
            </a:r>
            <a:endParaRPr lang="zh-CN" altLang="en-US" sz="1200" b="1" dirty="0">
              <a:solidFill>
                <a:schemeClr val="accent1">
                  <a:lumMod val="60000"/>
                  <a:lumOff val="40000"/>
                </a:schemeClr>
              </a:solidFill>
              <a:latin typeface="华文楷体" panose="02010600040101010101" pitchFamily="2" charset="-122"/>
              <a:ea typeface="华文楷体" panose="02010600040101010101" pitchFamily="2" charset="-122"/>
              <a:sym typeface="+mn-ea"/>
            </a:endParaRPr>
          </a:p>
        </p:txBody>
      </p:sp>
      <p:sp>
        <p:nvSpPr>
          <p:cNvPr id="23" name="文本框 22"/>
          <p:cNvSpPr txBox="1"/>
          <p:nvPr/>
        </p:nvSpPr>
        <p:spPr>
          <a:xfrm>
            <a:off x="246973" y="4082588"/>
            <a:ext cx="1576567" cy="645160"/>
          </a:xfrm>
          <a:prstGeom prst="rect">
            <a:avLst/>
          </a:prstGeom>
          <a:noFill/>
        </p:spPr>
        <p:txBody>
          <a:bodyPr wrap="square" rtlCol="0">
            <a:spAutoFit/>
          </a:bodyPr>
          <a:lstStyle/>
          <a:p>
            <a:pPr algn="ctr">
              <a:lnSpc>
                <a:spcPct val="150000"/>
              </a:lnSpc>
            </a:pPr>
            <a:r>
              <a:rPr lang="zh-CN" altLang="en-US" sz="1200" b="1" dirty="0">
                <a:solidFill>
                  <a:schemeClr val="accent1">
                    <a:lumMod val="50000"/>
                  </a:schemeClr>
                </a:solidFill>
                <a:latin typeface="微软雅黑" panose="020B0503020204020204" charset="-122"/>
                <a:ea typeface="微软雅黑" panose="020B0503020204020204" charset="-122"/>
              </a:rPr>
              <a:t>酷灵热管理</a:t>
            </a:r>
            <a:endParaRPr lang="en-US" altLang="zh-CN" sz="1200" b="1" dirty="0">
              <a:solidFill>
                <a:schemeClr val="accent1">
                  <a:lumMod val="50000"/>
                </a:schemeClr>
              </a:solidFill>
              <a:latin typeface="微软雅黑" panose="020B0503020204020204" charset="-122"/>
              <a:ea typeface="微软雅黑" panose="020B0503020204020204" charset="-122"/>
            </a:endParaRPr>
          </a:p>
          <a:p>
            <a:pPr algn="ctr">
              <a:lnSpc>
                <a:spcPct val="150000"/>
              </a:lnSpc>
            </a:pPr>
            <a:r>
              <a:rPr lang="zh-CN" altLang="en-US" sz="1200" b="1" dirty="0">
                <a:solidFill>
                  <a:schemeClr val="accent1">
                    <a:lumMod val="50000"/>
                  </a:schemeClr>
                </a:solidFill>
                <a:latin typeface="微软雅黑" panose="020B0503020204020204" charset="-122"/>
                <a:ea typeface="微软雅黑" panose="020B0503020204020204" charset="-122"/>
              </a:rPr>
              <a:t>为机器人持久赋能</a:t>
            </a:r>
          </a:p>
        </p:txBody>
      </p:sp>
      <p:sp>
        <p:nvSpPr>
          <p:cNvPr id="24" name="文本框 23"/>
          <p:cNvSpPr txBox="1"/>
          <p:nvPr/>
        </p:nvSpPr>
        <p:spPr>
          <a:xfrm>
            <a:off x="192405" y="4820285"/>
            <a:ext cx="1814830" cy="614045"/>
          </a:xfrm>
          <a:prstGeom prst="rect">
            <a:avLst/>
          </a:prstGeom>
          <a:noFill/>
        </p:spPr>
        <p:txBody>
          <a:bodyPr wrap="square">
            <a:spAutoFit/>
          </a:bodyPr>
          <a:lstStyle/>
          <a:p>
            <a:pPr algn="ctr"/>
            <a:endParaRPr lang="zh-CN" altLang="en-US" sz="2000" b="1" dirty="0">
              <a:solidFill>
                <a:schemeClr val="accent1">
                  <a:lumMod val="50000"/>
                </a:schemeClr>
              </a:solidFill>
              <a:latin typeface="华文楷体" panose="02010600040101010101" pitchFamily="2" charset="-122"/>
              <a:ea typeface="华文楷体" panose="02010600040101010101" pitchFamily="2" charset="-122"/>
            </a:endParaRPr>
          </a:p>
          <a:p>
            <a:pPr algn="ctr"/>
            <a:r>
              <a:rPr lang="zh-CN" altLang="en-US" sz="1400" b="1" dirty="0">
                <a:solidFill>
                  <a:schemeClr val="accent1">
                    <a:lumMod val="60000"/>
                    <a:lumOff val="40000"/>
                  </a:schemeClr>
                </a:solidFill>
                <a:latin typeface="华文楷体" panose="02010600040101010101" pitchFamily="2" charset="-122"/>
                <a:ea typeface="华文楷体" panose="02010600040101010101" pitchFamily="2" charset="-122"/>
              </a:rPr>
              <a:t>解决方案与产品矩阵</a:t>
            </a:r>
          </a:p>
        </p:txBody>
      </p:sp>
      <p:sp>
        <p:nvSpPr>
          <p:cNvPr id="25" name="矩形 24"/>
          <p:cNvSpPr/>
          <p:nvPr/>
        </p:nvSpPr>
        <p:spPr>
          <a:xfrm>
            <a:off x="970222" y="5434594"/>
            <a:ext cx="65753" cy="461665"/>
          </a:xfrm>
          <a:prstGeom prst="rect">
            <a:avLst/>
          </a:prstGeom>
          <a:gradFill>
            <a:gsLst>
              <a:gs pos="50000">
                <a:srgbClr val="1F5FBF"/>
              </a:gs>
              <a:gs pos="0">
                <a:srgbClr val="1486CB"/>
              </a:gs>
              <a:gs pos="100000">
                <a:srgbClr val="2A34B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6"/>
          <p:cNvPicPr>
            <a:picLocks noChangeAspect="1"/>
          </p:cNvPicPr>
          <p:nvPr/>
        </p:nvPicPr>
        <p:blipFill>
          <a:blip r:embed="rId2"/>
          <a:stretch>
            <a:fillRect/>
          </a:stretch>
        </p:blipFill>
        <p:spPr>
          <a:xfrm rot="21600000">
            <a:off x="0" y="6576693"/>
            <a:ext cx="12192000" cy="271779"/>
          </a:xfrm>
          <a:prstGeom prst="rect">
            <a:avLst/>
          </a:prstGeom>
        </p:spPr>
      </p:pic>
      <p:sp>
        <p:nvSpPr>
          <p:cNvPr id="70" name="textbox 70"/>
          <p:cNvSpPr/>
          <p:nvPr/>
        </p:nvSpPr>
        <p:spPr>
          <a:xfrm>
            <a:off x="1636628" y="455178"/>
            <a:ext cx="2599689" cy="507365"/>
          </a:xfrm>
          <a:prstGeom prst="rect">
            <a:avLst/>
          </a:prstGeom>
          <a:noFill/>
          <a:ln w="0" cap="flat">
            <a:noFill/>
            <a:prstDash val="solid"/>
            <a:miter lim="0"/>
          </a:ln>
        </p:spPr>
        <p:txBody>
          <a:bodyPr vert="horz" wrap="square" lIns="0" tIns="0" rIns="0" bIns="0"/>
          <a:lstStyle/>
          <a:p>
            <a:pPr algn="l" rtl="0" eaLnBrk="0">
              <a:lnSpc>
                <a:spcPct val="93000"/>
              </a:lnSpc>
            </a:pPr>
            <a:endParaRPr sz="1000" dirty="0">
              <a:latin typeface="微软雅黑" panose="020B0503020204020204" charset="-122"/>
              <a:ea typeface="微软雅黑" panose="020B0503020204020204" charset="-122"/>
              <a:cs typeface="微软雅黑" panose="020B0503020204020204" charset="-122"/>
            </a:endParaRPr>
          </a:p>
        </p:txBody>
      </p:sp>
      <p:sp>
        <p:nvSpPr>
          <p:cNvPr id="74" name="path 74"/>
          <p:cNvSpPr/>
          <p:nvPr/>
        </p:nvSpPr>
        <p:spPr>
          <a:xfrm>
            <a:off x="348614" y="354965"/>
            <a:ext cx="540385" cy="137794"/>
          </a:xfrm>
          <a:custGeom>
            <a:avLst/>
            <a:gdLst/>
            <a:ahLst/>
            <a:cxnLst/>
            <a:rect l="0" t="0" r="0" b="0"/>
            <a:pathLst>
              <a:path w="851" h="216">
                <a:moveTo>
                  <a:pt x="0" y="216"/>
                </a:moveTo>
                <a:lnTo>
                  <a:pt x="217" y="216"/>
                </a:lnTo>
                <a:lnTo>
                  <a:pt x="217" y="0"/>
                </a:lnTo>
                <a:lnTo>
                  <a:pt x="0" y="0"/>
                </a:lnTo>
                <a:lnTo>
                  <a:pt x="0" y="216"/>
                </a:lnTo>
                <a:close/>
              </a:path>
              <a:path w="851" h="216">
                <a:moveTo>
                  <a:pt x="317" y="216"/>
                </a:moveTo>
                <a:lnTo>
                  <a:pt x="534" y="216"/>
                </a:lnTo>
                <a:lnTo>
                  <a:pt x="534" y="0"/>
                </a:lnTo>
                <a:lnTo>
                  <a:pt x="317" y="0"/>
                </a:lnTo>
                <a:lnTo>
                  <a:pt x="317" y="216"/>
                </a:lnTo>
                <a:close/>
              </a:path>
              <a:path w="851" h="216">
                <a:moveTo>
                  <a:pt x="633" y="216"/>
                </a:moveTo>
                <a:lnTo>
                  <a:pt x="851" y="216"/>
                </a:lnTo>
                <a:lnTo>
                  <a:pt x="851" y="0"/>
                </a:lnTo>
                <a:lnTo>
                  <a:pt x="633" y="0"/>
                </a:lnTo>
                <a:lnTo>
                  <a:pt x="633"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2" name="path 82"/>
          <p:cNvSpPr/>
          <p:nvPr/>
        </p:nvSpPr>
        <p:spPr>
          <a:xfrm>
            <a:off x="348614" y="567054"/>
            <a:ext cx="339090" cy="349885"/>
          </a:xfrm>
          <a:custGeom>
            <a:avLst/>
            <a:gdLst/>
            <a:ahLst/>
            <a:cxnLst/>
            <a:rect l="0" t="0" r="0" b="0"/>
            <a:pathLst>
              <a:path w="534" h="551">
                <a:moveTo>
                  <a:pt x="0" y="217"/>
                </a:moveTo>
                <a:lnTo>
                  <a:pt x="217" y="217"/>
                </a:lnTo>
                <a:lnTo>
                  <a:pt x="217" y="0"/>
                </a:lnTo>
                <a:lnTo>
                  <a:pt x="0" y="0"/>
                </a:lnTo>
                <a:lnTo>
                  <a:pt x="0" y="217"/>
                </a:lnTo>
                <a:close/>
              </a:path>
              <a:path w="534" h="551">
                <a:moveTo>
                  <a:pt x="317" y="217"/>
                </a:moveTo>
                <a:lnTo>
                  <a:pt x="534" y="217"/>
                </a:lnTo>
                <a:lnTo>
                  <a:pt x="534" y="0"/>
                </a:lnTo>
                <a:lnTo>
                  <a:pt x="317" y="0"/>
                </a:lnTo>
                <a:lnTo>
                  <a:pt x="317" y="217"/>
                </a:lnTo>
                <a:close/>
              </a:path>
              <a:path w="534" h="551">
                <a:moveTo>
                  <a:pt x="0" y="551"/>
                </a:moveTo>
                <a:lnTo>
                  <a:pt x="217" y="551"/>
                </a:lnTo>
                <a:lnTo>
                  <a:pt x="217" y="334"/>
                </a:lnTo>
                <a:lnTo>
                  <a:pt x="0" y="334"/>
                </a:lnTo>
                <a:lnTo>
                  <a:pt x="0" y="551"/>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4" name="path 84"/>
          <p:cNvSpPr/>
          <p:nvPr/>
        </p:nvSpPr>
        <p:spPr>
          <a:xfrm>
            <a:off x="348614" y="142875"/>
            <a:ext cx="741680" cy="137794"/>
          </a:xfrm>
          <a:custGeom>
            <a:avLst/>
            <a:gdLst/>
            <a:ahLst/>
            <a:cxnLst/>
            <a:rect l="0" t="0" r="0" b="0"/>
            <a:pathLst>
              <a:path w="1168" h="216">
                <a:moveTo>
                  <a:pt x="0" y="216"/>
                </a:moveTo>
                <a:lnTo>
                  <a:pt x="217" y="216"/>
                </a:lnTo>
                <a:lnTo>
                  <a:pt x="217" y="0"/>
                </a:lnTo>
                <a:lnTo>
                  <a:pt x="0" y="0"/>
                </a:lnTo>
                <a:lnTo>
                  <a:pt x="0" y="216"/>
                </a:lnTo>
                <a:close/>
              </a:path>
              <a:path w="1168" h="216">
                <a:moveTo>
                  <a:pt x="317" y="216"/>
                </a:moveTo>
                <a:lnTo>
                  <a:pt x="534" y="216"/>
                </a:lnTo>
                <a:lnTo>
                  <a:pt x="534" y="0"/>
                </a:lnTo>
                <a:lnTo>
                  <a:pt x="317" y="0"/>
                </a:lnTo>
                <a:lnTo>
                  <a:pt x="317" y="216"/>
                </a:lnTo>
                <a:close/>
              </a:path>
              <a:path w="1168" h="216">
                <a:moveTo>
                  <a:pt x="633" y="216"/>
                </a:moveTo>
                <a:lnTo>
                  <a:pt x="851" y="216"/>
                </a:lnTo>
                <a:lnTo>
                  <a:pt x="851" y="0"/>
                </a:lnTo>
                <a:lnTo>
                  <a:pt x="633" y="0"/>
                </a:lnTo>
                <a:lnTo>
                  <a:pt x="633" y="216"/>
                </a:lnTo>
                <a:close/>
              </a:path>
              <a:path w="1168" h="216">
                <a:moveTo>
                  <a:pt x="951" y="216"/>
                </a:moveTo>
                <a:lnTo>
                  <a:pt x="1168" y="216"/>
                </a:lnTo>
                <a:lnTo>
                  <a:pt x="1168" y="0"/>
                </a:lnTo>
                <a:lnTo>
                  <a:pt x="951" y="0"/>
                </a:lnTo>
                <a:lnTo>
                  <a:pt x="951"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6" name="path 86"/>
          <p:cNvSpPr/>
          <p:nvPr/>
        </p:nvSpPr>
        <p:spPr>
          <a:xfrm>
            <a:off x="688340" y="955040"/>
            <a:ext cx="10786745" cy="76200"/>
          </a:xfrm>
          <a:custGeom>
            <a:avLst/>
            <a:gdLst/>
            <a:ahLst/>
            <a:cxnLst/>
            <a:rect l="0" t="0" r="0" b="0"/>
            <a:pathLst>
              <a:path w="15485" h="10">
                <a:moveTo>
                  <a:pt x="0" y="5"/>
                </a:moveTo>
                <a:lnTo>
                  <a:pt x="15485" y="5"/>
                </a:lnTo>
              </a:path>
            </a:pathLst>
          </a:custGeom>
          <a:noFill/>
          <a:ln w="6350" cap="flat">
            <a:solidFill>
              <a:srgbClr val="D9D9D9"/>
            </a:solidFill>
            <a:prstDash val="solid"/>
            <a:miter lim="1000000"/>
          </a:ln>
        </p:spPr>
        <p:txBody>
          <a:bodyPr rtlCol="0"/>
          <a:lstStyle/>
          <a:p>
            <a:pPr algn="ctr"/>
            <a:endParaRPr lang="zh-CN" altLang="en-US"/>
          </a:p>
        </p:txBody>
      </p:sp>
      <p:sp>
        <p:nvSpPr>
          <p:cNvPr id="88" name="rect 88"/>
          <p:cNvSpPr/>
          <p:nvPr/>
        </p:nvSpPr>
        <p:spPr>
          <a:xfrm>
            <a:off x="147320" y="56705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0" name="rect 90"/>
          <p:cNvSpPr/>
          <p:nvPr/>
        </p:nvSpPr>
        <p:spPr>
          <a:xfrm>
            <a:off x="147320" y="779145"/>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2" name="rect 92"/>
          <p:cNvSpPr/>
          <p:nvPr/>
        </p:nvSpPr>
        <p:spPr>
          <a:xfrm>
            <a:off x="147320" y="99123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4" name="rect 94"/>
          <p:cNvSpPr/>
          <p:nvPr/>
        </p:nvSpPr>
        <p:spPr>
          <a:xfrm>
            <a:off x="147320" y="14287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6" name="rect 96"/>
          <p:cNvSpPr/>
          <p:nvPr/>
        </p:nvSpPr>
        <p:spPr>
          <a:xfrm>
            <a:off x="147320" y="35496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pic>
        <p:nvPicPr>
          <p:cNvPr id="2" name="图片 1"/>
          <p:cNvPicPr>
            <a:picLocks noChangeAspect="1"/>
          </p:cNvPicPr>
          <p:nvPr/>
        </p:nvPicPr>
        <p:blipFill>
          <a:blip r:embed="rId3"/>
          <a:stretch>
            <a:fillRect/>
          </a:stretch>
        </p:blipFill>
        <p:spPr>
          <a:xfrm>
            <a:off x="10428563" y="68429"/>
            <a:ext cx="1354271" cy="781170"/>
          </a:xfrm>
          <a:prstGeom prst="rect">
            <a:avLst/>
          </a:prstGeom>
        </p:spPr>
      </p:pic>
      <p:sp>
        <p:nvSpPr>
          <p:cNvPr id="3" name="textbox 60"/>
          <p:cNvSpPr/>
          <p:nvPr/>
        </p:nvSpPr>
        <p:spPr>
          <a:xfrm>
            <a:off x="688022" y="3017728"/>
            <a:ext cx="10637203" cy="3795845"/>
          </a:xfrm>
          <a:prstGeom prst="rect">
            <a:avLst/>
          </a:prstGeom>
          <a:noFill/>
          <a:ln w="0" cap="flat">
            <a:noFill/>
            <a:prstDash val="solid"/>
            <a:miter lim="0"/>
          </a:ln>
        </p:spPr>
        <p:txBody>
          <a:bodyPr vert="horz" wrap="square" lIns="0" tIns="0" rIns="0" bIns="0"/>
          <a:lstStyle/>
          <a:p>
            <a:pPr algn="l" rtl="0" eaLnBrk="0">
              <a:lnSpc>
                <a:spcPct val="150000"/>
              </a:lnSpc>
            </a:pPr>
            <a:endParaRPr sz="100" dirty="0">
              <a:latin typeface="Arial" panose="020B0604020202020204"/>
              <a:ea typeface="Arial" panose="020B0604020202020204"/>
              <a:cs typeface="Arial" panose="020B0604020202020204"/>
            </a:endParaRPr>
          </a:p>
          <a:p>
            <a:pPr marL="17145" algn="l" rtl="0" eaLnBrk="0">
              <a:lnSpc>
                <a:spcPct val="150000"/>
              </a:lnSpc>
              <a:spcBef>
                <a:spcPts val="600"/>
              </a:spcBef>
              <a:spcAft>
                <a:spcPts val="600"/>
              </a:spcAft>
            </a:pPr>
            <a:endParaRPr lang="zh-CN" altLang="en-US" kern="0" spc="90" dirty="0">
              <a:solidFill>
                <a:srgbClr val="595959">
                  <a:alpha val="100000"/>
                </a:srgbClr>
              </a:solidFill>
              <a:latin typeface="微软雅黑" panose="020B0503020204020204" charset="-122"/>
              <a:ea typeface="微软雅黑" panose="020B0503020204020204" charset="-122"/>
              <a:cs typeface="微软雅黑" panose="020B0503020204020204" charset="-122"/>
            </a:endParaRPr>
          </a:p>
        </p:txBody>
      </p:sp>
      <p:sp>
        <p:nvSpPr>
          <p:cNvPr id="6" name="矩形 5"/>
          <p:cNvSpPr/>
          <p:nvPr/>
        </p:nvSpPr>
        <p:spPr>
          <a:xfrm>
            <a:off x="890270" y="354965"/>
            <a:ext cx="746125" cy="387985"/>
          </a:xfrm>
          <a:prstGeom prst="rect">
            <a:avLst/>
          </a:prstGeom>
          <a:noFill/>
          <a:ln>
            <a:noFill/>
          </a:ln>
        </p:spPr>
        <p:txBody>
          <a:bodyPr wrap="none" rtlCol="0" anchor="t">
            <a:noAutofit/>
          </a:bodyPr>
          <a:lstStyle/>
          <a:p>
            <a:pPr algn="ctr"/>
            <a:endParaRPr lang="en-US" altLang="zh-CN" sz="4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8" name="文本框 7"/>
          <p:cNvSpPr txBox="1"/>
          <p:nvPr/>
        </p:nvSpPr>
        <p:spPr>
          <a:xfrm>
            <a:off x="837565" y="433070"/>
            <a:ext cx="6797675" cy="521970"/>
          </a:xfrm>
          <a:prstGeom prst="rect">
            <a:avLst/>
          </a:prstGeom>
          <a:noFill/>
        </p:spPr>
        <p:txBody>
          <a:bodyPr wrap="square" rtlCol="0" anchor="t">
            <a:spAutoFit/>
          </a:bodyPr>
          <a:lstStyle/>
          <a:p>
            <a:r>
              <a:rPr lang="zh-CN" altLang="en-US" sz="2800" b="1" dirty="0">
                <a:solidFill>
                  <a:schemeClr val="accent1">
                    <a:lumMod val="75000"/>
                  </a:schemeClr>
                </a:solidFill>
                <a:effectLst/>
                <a:latin typeface="微软雅黑" panose="020B0503020204020204" charset="-122"/>
                <a:ea typeface="微软雅黑" panose="020B0503020204020204" charset="-122"/>
                <a:sym typeface="+mn-ea"/>
              </a:rPr>
              <a:t>被动散热关节模组</a:t>
            </a:r>
            <a:endParaRPr lang="zh-CN" altLang="en-US" sz="2800" b="1" kern="0" spc="150" dirty="0">
              <a:solidFill>
                <a:schemeClr val="accent1">
                  <a:lumMod val="75000"/>
                </a:schemeClr>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72" name="path 72"/>
          <p:cNvSpPr/>
          <p:nvPr/>
        </p:nvSpPr>
        <p:spPr>
          <a:xfrm>
            <a:off x="11398249" y="6043294"/>
            <a:ext cx="741679" cy="774064"/>
          </a:xfrm>
          <a:custGeom>
            <a:avLst/>
            <a:gdLst/>
            <a:ahLst/>
            <a:cxnLst/>
            <a:rect l="0" t="0" r="0" b="0"/>
            <a:pathLst>
              <a:path w="1167" h="1218">
                <a:moveTo>
                  <a:pt x="950" y="1218"/>
                </a:moveTo>
                <a:lnTo>
                  <a:pt x="1167" y="1218"/>
                </a:lnTo>
                <a:lnTo>
                  <a:pt x="1167" y="1001"/>
                </a:lnTo>
                <a:lnTo>
                  <a:pt x="950" y="1001"/>
                </a:lnTo>
                <a:lnTo>
                  <a:pt x="950" y="1218"/>
                </a:lnTo>
                <a:close/>
              </a:path>
              <a:path w="1167" h="1218">
                <a:moveTo>
                  <a:pt x="634" y="1218"/>
                </a:moveTo>
                <a:lnTo>
                  <a:pt x="850" y="1218"/>
                </a:lnTo>
                <a:lnTo>
                  <a:pt x="850" y="1001"/>
                </a:lnTo>
                <a:lnTo>
                  <a:pt x="634" y="1001"/>
                </a:lnTo>
                <a:lnTo>
                  <a:pt x="634" y="1218"/>
                </a:lnTo>
                <a:close/>
              </a:path>
              <a:path w="1167" h="1218">
                <a:moveTo>
                  <a:pt x="317" y="1218"/>
                </a:moveTo>
                <a:lnTo>
                  <a:pt x="534" y="1218"/>
                </a:lnTo>
                <a:lnTo>
                  <a:pt x="534" y="1001"/>
                </a:lnTo>
                <a:lnTo>
                  <a:pt x="317" y="1001"/>
                </a:lnTo>
                <a:lnTo>
                  <a:pt x="317" y="1218"/>
                </a:lnTo>
                <a:close/>
              </a:path>
              <a:path w="1167" h="1218">
                <a:moveTo>
                  <a:pt x="0" y="1218"/>
                </a:moveTo>
                <a:lnTo>
                  <a:pt x="216" y="1218"/>
                </a:lnTo>
                <a:lnTo>
                  <a:pt x="216" y="1001"/>
                </a:lnTo>
                <a:lnTo>
                  <a:pt x="0" y="1001"/>
                </a:lnTo>
                <a:lnTo>
                  <a:pt x="0" y="1218"/>
                </a:lnTo>
                <a:close/>
              </a:path>
              <a:path w="1167" h="1218">
                <a:moveTo>
                  <a:pt x="950" y="884"/>
                </a:moveTo>
                <a:lnTo>
                  <a:pt x="1167" y="884"/>
                </a:lnTo>
                <a:lnTo>
                  <a:pt x="1167" y="667"/>
                </a:lnTo>
                <a:lnTo>
                  <a:pt x="950" y="667"/>
                </a:lnTo>
                <a:lnTo>
                  <a:pt x="950" y="884"/>
                </a:lnTo>
                <a:close/>
              </a:path>
              <a:path w="1167" h="1218">
                <a:moveTo>
                  <a:pt x="634" y="884"/>
                </a:moveTo>
                <a:lnTo>
                  <a:pt x="850" y="884"/>
                </a:lnTo>
                <a:lnTo>
                  <a:pt x="850" y="667"/>
                </a:lnTo>
                <a:lnTo>
                  <a:pt x="634" y="667"/>
                </a:lnTo>
                <a:lnTo>
                  <a:pt x="634" y="884"/>
                </a:lnTo>
                <a:close/>
              </a:path>
              <a:path w="1167" h="1218">
                <a:moveTo>
                  <a:pt x="317" y="884"/>
                </a:moveTo>
                <a:lnTo>
                  <a:pt x="534" y="884"/>
                </a:lnTo>
                <a:lnTo>
                  <a:pt x="534" y="667"/>
                </a:lnTo>
                <a:lnTo>
                  <a:pt x="317" y="667"/>
                </a:lnTo>
                <a:lnTo>
                  <a:pt x="317" y="884"/>
                </a:lnTo>
                <a:close/>
              </a:path>
              <a:path w="1167" h="1218">
                <a:moveTo>
                  <a:pt x="950" y="550"/>
                </a:moveTo>
                <a:lnTo>
                  <a:pt x="1167" y="550"/>
                </a:lnTo>
                <a:lnTo>
                  <a:pt x="1167" y="333"/>
                </a:lnTo>
                <a:lnTo>
                  <a:pt x="950" y="333"/>
                </a:lnTo>
                <a:lnTo>
                  <a:pt x="950" y="550"/>
                </a:lnTo>
                <a:close/>
              </a:path>
              <a:path w="1167" h="1218">
                <a:moveTo>
                  <a:pt x="634" y="550"/>
                </a:moveTo>
                <a:lnTo>
                  <a:pt x="850" y="550"/>
                </a:lnTo>
                <a:lnTo>
                  <a:pt x="850" y="333"/>
                </a:lnTo>
                <a:lnTo>
                  <a:pt x="634" y="333"/>
                </a:lnTo>
                <a:lnTo>
                  <a:pt x="634" y="550"/>
                </a:lnTo>
                <a:close/>
              </a:path>
              <a:path w="1167" h="1218">
                <a:moveTo>
                  <a:pt x="950" y="216"/>
                </a:moveTo>
                <a:lnTo>
                  <a:pt x="1167" y="216"/>
                </a:lnTo>
                <a:lnTo>
                  <a:pt x="1167" y="0"/>
                </a:lnTo>
                <a:lnTo>
                  <a:pt x="950" y="0"/>
                </a:lnTo>
                <a:lnTo>
                  <a:pt x="950"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5" name="文本框 4"/>
          <p:cNvSpPr txBox="1"/>
          <p:nvPr/>
        </p:nvSpPr>
        <p:spPr>
          <a:xfrm>
            <a:off x="1829435" y="1195705"/>
            <a:ext cx="9954260" cy="645160"/>
          </a:xfrm>
          <a:prstGeom prst="rect">
            <a:avLst/>
          </a:prstGeom>
          <a:noFill/>
        </p:spPr>
        <p:txBody>
          <a:bodyPr wrap="square" rtlCol="0" anchor="t">
            <a:spAutoFit/>
          </a:bodyPr>
          <a:lstStyle/>
          <a:p>
            <a:r>
              <a:rPr lang="zh-CN" altLang="en-US"/>
              <a:t>在设定</a:t>
            </a:r>
            <a:r>
              <a:rPr lang="en-US" altLang="zh-CN"/>
              <a:t>125r/min</a:t>
            </a:r>
            <a:r>
              <a:rPr lang="zh-CN" altLang="en-US"/>
              <a:t>转速下</a:t>
            </a:r>
            <a:r>
              <a:rPr lang="en-US" altLang="zh-CN"/>
              <a:t>:</a:t>
            </a:r>
            <a:r>
              <a:rPr lang="zh-CN" altLang="en-US"/>
              <a:t>扭矩</a:t>
            </a:r>
            <a:r>
              <a:rPr lang="en-US" altLang="zh-CN"/>
              <a:t>48N.m</a:t>
            </a:r>
            <a:r>
              <a:rPr lang="zh-CN" altLang="en-US"/>
              <a:t>时，被动散热下绕组温度显著降低，绕组温度较基础方案降低</a:t>
            </a:r>
            <a:r>
              <a:rPr lang="en-US" altLang="zh-CN"/>
              <a:t>36.8</a:t>
            </a:r>
            <a:r>
              <a:rPr lang="en-US" altLang="en-US"/>
              <a:t>°</a:t>
            </a:r>
            <a:r>
              <a:rPr lang="en-US" altLang="zh-CN"/>
              <a:t>C</a:t>
            </a:r>
            <a:r>
              <a:rPr lang="zh-CN" altLang="en-US"/>
              <a:t>，降低程度达</a:t>
            </a:r>
            <a:r>
              <a:rPr lang="en-US" altLang="zh-CN"/>
              <a:t>33.7%</a:t>
            </a:r>
            <a:r>
              <a:rPr lang="zh-CN" altLang="en-US"/>
              <a:t>。</a:t>
            </a:r>
          </a:p>
        </p:txBody>
      </p:sp>
      <p:pic>
        <p:nvPicPr>
          <p:cNvPr id="7" name="图片 6"/>
          <p:cNvPicPr>
            <a:picLocks noChangeAspect="1"/>
          </p:cNvPicPr>
          <p:nvPr/>
        </p:nvPicPr>
        <p:blipFill>
          <a:blip r:embed="rId4"/>
          <a:stretch>
            <a:fillRect/>
          </a:stretch>
        </p:blipFill>
        <p:spPr>
          <a:xfrm>
            <a:off x="1829435" y="2081530"/>
            <a:ext cx="2931795" cy="4114165"/>
          </a:xfrm>
          <a:prstGeom prst="rect">
            <a:avLst/>
          </a:prstGeom>
        </p:spPr>
      </p:pic>
      <p:pic>
        <p:nvPicPr>
          <p:cNvPr id="10" name="图片 9"/>
          <p:cNvPicPr>
            <a:picLocks noChangeAspect="1"/>
          </p:cNvPicPr>
          <p:nvPr/>
        </p:nvPicPr>
        <p:blipFill>
          <a:blip r:embed="rId5"/>
          <a:stretch>
            <a:fillRect/>
          </a:stretch>
        </p:blipFill>
        <p:spPr>
          <a:xfrm>
            <a:off x="4514215" y="1943735"/>
            <a:ext cx="3716655" cy="4389755"/>
          </a:xfrm>
          <a:prstGeom prst="rect">
            <a:avLst/>
          </a:prstGeom>
        </p:spPr>
      </p:pic>
      <p:pic>
        <p:nvPicPr>
          <p:cNvPr id="18" name="图片 17"/>
          <p:cNvPicPr>
            <a:picLocks noChangeAspect="1"/>
          </p:cNvPicPr>
          <p:nvPr/>
        </p:nvPicPr>
        <p:blipFill>
          <a:blip r:embed="rId6"/>
          <a:stretch>
            <a:fillRect/>
          </a:stretch>
        </p:blipFill>
        <p:spPr>
          <a:xfrm>
            <a:off x="8044815" y="1922780"/>
            <a:ext cx="3573145" cy="4572000"/>
          </a:xfrm>
          <a:prstGeom prst="rect">
            <a:avLst/>
          </a:prstGeom>
        </p:spPr>
      </p:pic>
      <p:sp>
        <p:nvSpPr>
          <p:cNvPr id="24" name="矩形 23"/>
          <p:cNvSpPr/>
          <p:nvPr/>
        </p:nvSpPr>
        <p:spPr>
          <a:xfrm>
            <a:off x="970274" y="2981156"/>
            <a:ext cx="65753" cy="461665"/>
          </a:xfrm>
          <a:prstGeom prst="rect">
            <a:avLst/>
          </a:prstGeom>
          <a:gradFill>
            <a:gsLst>
              <a:gs pos="50000">
                <a:srgbClr val="1F5FBF"/>
              </a:gs>
              <a:gs pos="0">
                <a:srgbClr val="1486CB"/>
              </a:gs>
              <a:gs pos="100000">
                <a:srgbClr val="2A34B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sp>
        <p:nvSpPr>
          <p:cNvPr id="25" name="文本框 24"/>
          <p:cNvSpPr txBox="1"/>
          <p:nvPr/>
        </p:nvSpPr>
        <p:spPr>
          <a:xfrm>
            <a:off x="378925" y="3443165"/>
            <a:ext cx="1257300" cy="460375"/>
          </a:xfrm>
          <a:prstGeom prst="rect">
            <a:avLst/>
          </a:prstGeom>
          <a:noFill/>
        </p:spPr>
        <p:txBody>
          <a:bodyPr wrap="square">
            <a:spAutoFit/>
          </a:bodyPr>
          <a:lstStyle/>
          <a:p>
            <a:pPr algn="ctr"/>
            <a:r>
              <a:rPr lang="en-US" sz="1200" b="1">
                <a:solidFill>
                  <a:schemeClr val="accent1">
                    <a:lumMod val="40000"/>
                    <a:lumOff val="60000"/>
                  </a:schemeClr>
                </a:solidFill>
                <a:latin typeface="Arial" panose="020B0604020202020204"/>
                <a:ea typeface="Arial" panose="020B0604020202020204"/>
                <a:cs typeface="Arial" panose="020B0604020202020204"/>
                <a:sym typeface="Arial" panose="020B0604020202020204"/>
              </a:rPr>
              <a:t>Nanjing Cooling</a:t>
            </a:r>
            <a:endParaRPr lang="zh-CN" altLang="en-US" sz="1200" b="1" dirty="0">
              <a:solidFill>
                <a:schemeClr val="accent1">
                  <a:lumMod val="60000"/>
                  <a:lumOff val="40000"/>
                </a:schemeClr>
              </a:solidFill>
              <a:latin typeface="华文楷体" panose="02010600040101010101" pitchFamily="2" charset="-122"/>
              <a:ea typeface="华文楷体" panose="02010600040101010101" pitchFamily="2" charset="-122"/>
              <a:sym typeface="+mn-ea"/>
            </a:endParaRPr>
          </a:p>
        </p:txBody>
      </p:sp>
      <p:sp>
        <p:nvSpPr>
          <p:cNvPr id="26" name="文本框 25"/>
          <p:cNvSpPr txBox="1"/>
          <p:nvPr/>
        </p:nvSpPr>
        <p:spPr>
          <a:xfrm>
            <a:off x="246973" y="4082588"/>
            <a:ext cx="1576567" cy="645160"/>
          </a:xfrm>
          <a:prstGeom prst="rect">
            <a:avLst/>
          </a:prstGeom>
          <a:noFill/>
        </p:spPr>
        <p:txBody>
          <a:bodyPr wrap="square" rtlCol="0">
            <a:spAutoFit/>
          </a:bodyPr>
          <a:lstStyle/>
          <a:p>
            <a:pPr algn="ctr">
              <a:lnSpc>
                <a:spcPct val="150000"/>
              </a:lnSpc>
            </a:pPr>
            <a:r>
              <a:rPr lang="zh-CN" altLang="en-US" sz="1200" b="1" dirty="0">
                <a:solidFill>
                  <a:schemeClr val="accent1">
                    <a:lumMod val="50000"/>
                  </a:schemeClr>
                </a:solidFill>
                <a:latin typeface="微软雅黑" panose="020B0503020204020204" charset="-122"/>
                <a:ea typeface="微软雅黑" panose="020B0503020204020204" charset="-122"/>
              </a:rPr>
              <a:t>酷灵热管理</a:t>
            </a:r>
            <a:endParaRPr lang="en-US" altLang="zh-CN" sz="1200" b="1" dirty="0">
              <a:solidFill>
                <a:schemeClr val="accent1">
                  <a:lumMod val="50000"/>
                </a:schemeClr>
              </a:solidFill>
              <a:latin typeface="微软雅黑" panose="020B0503020204020204" charset="-122"/>
              <a:ea typeface="微软雅黑" panose="020B0503020204020204" charset="-122"/>
            </a:endParaRPr>
          </a:p>
          <a:p>
            <a:pPr algn="ctr">
              <a:lnSpc>
                <a:spcPct val="150000"/>
              </a:lnSpc>
            </a:pPr>
            <a:r>
              <a:rPr lang="zh-CN" altLang="en-US" sz="1200" b="1" dirty="0">
                <a:solidFill>
                  <a:schemeClr val="accent1">
                    <a:lumMod val="50000"/>
                  </a:schemeClr>
                </a:solidFill>
                <a:latin typeface="微软雅黑" panose="020B0503020204020204" charset="-122"/>
                <a:ea typeface="微软雅黑" panose="020B0503020204020204" charset="-122"/>
              </a:rPr>
              <a:t>为机器人持久赋能</a:t>
            </a:r>
          </a:p>
        </p:txBody>
      </p:sp>
      <p:sp>
        <p:nvSpPr>
          <p:cNvPr id="27" name="文本框 26"/>
          <p:cNvSpPr txBox="1"/>
          <p:nvPr/>
        </p:nvSpPr>
        <p:spPr>
          <a:xfrm>
            <a:off x="192405" y="4820285"/>
            <a:ext cx="1814830" cy="614045"/>
          </a:xfrm>
          <a:prstGeom prst="rect">
            <a:avLst/>
          </a:prstGeom>
          <a:noFill/>
        </p:spPr>
        <p:txBody>
          <a:bodyPr wrap="square">
            <a:spAutoFit/>
          </a:bodyPr>
          <a:lstStyle/>
          <a:p>
            <a:pPr algn="ctr"/>
            <a:endParaRPr lang="zh-CN" altLang="en-US" sz="2000" b="1" dirty="0">
              <a:solidFill>
                <a:schemeClr val="accent1">
                  <a:lumMod val="50000"/>
                </a:schemeClr>
              </a:solidFill>
              <a:latin typeface="华文楷体" panose="02010600040101010101" pitchFamily="2" charset="-122"/>
              <a:ea typeface="华文楷体" panose="02010600040101010101" pitchFamily="2" charset="-122"/>
            </a:endParaRPr>
          </a:p>
          <a:p>
            <a:pPr algn="ctr"/>
            <a:r>
              <a:rPr lang="zh-CN" altLang="en-US" sz="1400" b="1" dirty="0">
                <a:solidFill>
                  <a:schemeClr val="accent1">
                    <a:lumMod val="60000"/>
                    <a:lumOff val="40000"/>
                  </a:schemeClr>
                </a:solidFill>
                <a:latin typeface="华文楷体" panose="02010600040101010101" pitchFamily="2" charset="-122"/>
                <a:ea typeface="华文楷体" panose="02010600040101010101" pitchFamily="2" charset="-122"/>
              </a:rPr>
              <a:t>解决方案与产品矩阵</a:t>
            </a:r>
          </a:p>
        </p:txBody>
      </p:sp>
      <p:sp>
        <p:nvSpPr>
          <p:cNvPr id="28" name="矩形 27"/>
          <p:cNvSpPr/>
          <p:nvPr/>
        </p:nvSpPr>
        <p:spPr>
          <a:xfrm>
            <a:off x="970222" y="5434594"/>
            <a:ext cx="65753" cy="461665"/>
          </a:xfrm>
          <a:prstGeom prst="rect">
            <a:avLst/>
          </a:prstGeom>
          <a:gradFill>
            <a:gsLst>
              <a:gs pos="50000">
                <a:srgbClr val="1F5FBF"/>
              </a:gs>
              <a:gs pos="0">
                <a:srgbClr val="1486CB"/>
              </a:gs>
              <a:gs pos="100000">
                <a:srgbClr val="2A34B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6"/>
          <p:cNvPicPr>
            <a:picLocks noChangeAspect="1"/>
          </p:cNvPicPr>
          <p:nvPr/>
        </p:nvPicPr>
        <p:blipFill>
          <a:blip r:embed="rId2"/>
          <a:stretch>
            <a:fillRect/>
          </a:stretch>
        </p:blipFill>
        <p:spPr>
          <a:xfrm rot="21600000">
            <a:off x="0" y="6576693"/>
            <a:ext cx="12192000" cy="271779"/>
          </a:xfrm>
          <a:prstGeom prst="rect">
            <a:avLst/>
          </a:prstGeom>
        </p:spPr>
      </p:pic>
      <p:sp>
        <p:nvSpPr>
          <p:cNvPr id="70" name="textbox 70"/>
          <p:cNvSpPr/>
          <p:nvPr/>
        </p:nvSpPr>
        <p:spPr>
          <a:xfrm>
            <a:off x="1636628" y="455178"/>
            <a:ext cx="2599689" cy="507365"/>
          </a:xfrm>
          <a:prstGeom prst="rect">
            <a:avLst/>
          </a:prstGeom>
          <a:noFill/>
          <a:ln w="0" cap="flat">
            <a:noFill/>
            <a:prstDash val="solid"/>
            <a:miter lim="0"/>
          </a:ln>
        </p:spPr>
        <p:txBody>
          <a:bodyPr vert="horz" wrap="square" lIns="0" tIns="0" rIns="0" bIns="0"/>
          <a:lstStyle/>
          <a:p>
            <a:pPr algn="l" rtl="0" eaLnBrk="0">
              <a:lnSpc>
                <a:spcPct val="93000"/>
              </a:lnSpc>
            </a:pPr>
            <a:endParaRPr sz="1000" dirty="0">
              <a:latin typeface="微软雅黑" panose="020B0503020204020204" charset="-122"/>
              <a:ea typeface="微软雅黑" panose="020B0503020204020204" charset="-122"/>
              <a:cs typeface="微软雅黑" panose="020B0503020204020204" charset="-122"/>
            </a:endParaRPr>
          </a:p>
        </p:txBody>
      </p:sp>
      <p:sp>
        <p:nvSpPr>
          <p:cNvPr id="74" name="path 74"/>
          <p:cNvSpPr/>
          <p:nvPr/>
        </p:nvSpPr>
        <p:spPr>
          <a:xfrm>
            <a:off x="348614" y="354965"/>
            <a:ext cx="540385" cy="137794"/>
          </a:xfrm>
          <a:custGeom>
            <a:avLst/>
            <a:gdLst/>
            <a:ahLst/>
            <a:cxnLst/>
            <a:rect l="0" t="0" r="0" b="0"/>
            <a:pathLst>
              <a:path w="851" h="216">
                <a:moveTo>
                  <a:pt x="0" y="216"/>
                </a:moveTo>
                <a:lnTo>
                  <a:pt x="217" y="216"/>
                </a:lnTo>
                <a:lnTo>
                  <a:pt x="217" y="0"/>
                </a:lnTo>
                <a:lnTo>
                  <a:pt x="0" y="0"/>
                </a:lnTo>
                <a:lnTo>
                  <a:pt x="0" y="216"/>
                </a:lnTo>
                <a:close/>
              </a:path>
              <a:path w="851" h="216">
                <a:moveTo>
                  <a:pt x="317" y="216"/>
                </a:moveTo>
                <a:lnTo>
                  <a:pt x="534" y="216"/>
                </a:lnTo>
                <a:lnTo>
                  <a:pt x="534" y="0"/>
                </a:lnTo>
                <a:lnTo>
                  <a:pt x="317" y="0"/>
                </a:lnTo>
                <a:lnTo>
                  <a:pt x="317" y="216"/>
                </a:lnTo>
                <a:close/>
              </a:path>
              <a:path w="851" h="216">
                <a:moveTo>
                  <a:pt x="633" y="216"/>
                </a:moveTo>
                <a:lnTo>
                  <a:pt x="851" y="216"/>
                </a:lnTo>
                <a:lnTo>
                  <a:pt x="851" y="0"/>
                </a:lnTo>
                <a:lnTo>
                  <a:pt x="633" y="0"/>
                </a:lnTo>
                <a:lnTo>
                  <a:pt x="633"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2" name="path 82"/>
          <p:cNvSpPr/>
          <p:nvPr/>
        </p:nvSpPr>
        <p:spPr>
          <a:xfrm>
            <a:off x="348614" y="567054"/>
            <a:ext cx="339090" cy="349885"/>
          </a:xfrm>
          <a:custGeom>
            <a:avLst/>
            <a:gdLst/>
            <a:ahLst/>
            <a:cxnLst/>
            <a:rect l="0" t="0" r="0" b="0"/>
            <a:pathLst>
              <a:path w="534" h="551">
                <a:moveTo>
                  <a:pt x="0" y="217"/>
                </a:moveTo>
                <a:lnTo>
                  <a:pt x="217" y="217"/>
                </a:lnTo>
                <a:lnTo>
                  <a:pt x="217" y="0"/>
                </a:lnTo>
                <a:lnTo>
                  <a:pt x="0" y="0"/>
                </a:lnTo>
                <a:lnTo>
                  <a:pt x="0" y="217"/>
                </a:lnTo>
                <a:close/>
              </a:path>
              <a:path w="534" h="551">
                <a:moveTo>
                  <a:pt x="317" y="217"/>
                </a:moveTo>
                <a:lnTo>
                  <a:pt x="534" y="217"/>
                </a:lnTo>
                <a:lnTo>
                  <a:pt x="534" y="0"/>
                </a:lnTo>
                <a:lnTo>
                  <a:pt x="317" y="0"/>
                </a:lnTo>
                <a:lnTo>
                  <a:pt x="317" y="217"/>
                </a:lnTo>
                <a:close/>
              </a:path>
              <a:path w="534" h="551">
                <a:moveTo>
                  <a:pt x="0" y="551"/>
                </a:moveTo>
                <a:lnTo>
                  <a:pt x="217" y="551"/>
                </a:lnTo>
                <a:lnTo>
                  <a:pt x="217" y="334"/>
                </a:lnTo>
                <a:lnTo>
                  <a:pt x="0" y="334"/>
                </a:lnTo>
                <a:lnTo>
                  <a:pt x="0" y="551"/>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4" name="path 84"/>
          <p:cNvSpPr/>
          <p:nvPr/>
        </p:nvSpPr>
        <p:spPr>
          <a:xfrm>
            <a:off x="348614" y="142875"/>
            <a:ext cx="741680" cy="137794"/>
          </a:xfrm>
          <a:custGeom>
            <a:avLst/>
            <a:gdLst/>
            <a:ahLst/>
            <a:cxnLst/>
            <a:rect l="0" t="0" r="0" b="0"/>
            <a:pathLst>
              <a:path w="1168" h="216">
                <a:moveTo>
                  <a:pt x="0" y="216"/>
                </a:moveTo>
                <a:lnTo>
                  <a:pt x="217" y="216"/>
                </a:lnTo>
                <a:lnTo>
                  <a:pt x="217" y="0"/>
                </a:lnTo>
                <a:lnTo>
                  <a:pt x="0" y="0"/>
                </a:lnTo>
                <a:lnTo>
                  <a:pt x="0" y="216"/>
                </a:lnTo>
                <a:close/>
              </a:path>
              <a:path w="1168" h="216">
                <a:moveTo>
                  <a:pt x="317" y="216"/>
                </a:moveTo>
                <a:lnTo>
                  <a:pt x="534" y="216"/>
                </a:lnTo>
                <a:lnTo>
                  <a:pt x="534" y="0"/>
                </a:lnTo>
                <a:lnTo>
                  <a:pt x="317" y="0"/>
                </a:lnTo>
                <a:lnTo>
                  <a:pt x="317" y="216"/>
                </a:lnTo>
                <a:close/>
              </a:path>
              <a:path w="1168" h="216">
                <a:moveTo>
                  <a:pt x="633" y="216"/>
                </a:moveTo>
                <a:lnTo>
                  <a:pt x="851" y="216"/>
                </a:lnTo>
                <a:lnTo>
                  <a:pt x="851" y="0"/>
                </a:lnTo>
                <a:lnTo>
                  <a:pt x="633" y="0"/>
                </a:lnTo>
                <a:lnTo>
                  <a:pt x="633" y="216"/>
                </a:lnTo>
                <a:close/>
              </a:path>
              <a:path w="1168" h="216">
                <a:moveTo>
                  <a:pt x="951" y="216"/>
                </a:moveTo>
                <a:lnTo>
                  <a:pt x="1168" y="216"/>
                </a:lnTo>
                <a:lnTo>
                  <a:pt x="1168" y="0"/>
                </a:lnTo>
                <a:lnTo>
                  <a:pt x="951" y="0"/>
                </a:lnTo>
                <a:lnTo>
                  <a:pt x="951"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6" name="path 86"/>
          <p:cNvSpPr/>
          <p:nvPr/>
        </p:nvSpPr>
        <p:spPr>
          <a:xfrm>
            <a:off x="688340" y="955040"/>
            <a:ext cx="10786745" cy="76200"/>
          </a:xfrm>
          <a:custGeom>
            <a:avLst/>
            <a:gdLst/>
            <a:ahLst/>
            <a:cxnLst/>
            <a:rect l="0" t="0" r="0" b="0"/>
            <a:pathLst>
              <a:path w="15485" h="10">
                <a:moveTo>
                  <a:pt x="0" y="5"/>
                </a:moveTo>
                <a:lnTo>
                  <a:pt x="15485" y="5"/>
                </a:lnTo>
              </a:path>
            </a:pathLst>
          </a:custGeom>
          <a:noFill/>
          <a:ln w="6350" cap="flat">
            <a:solidFill>
              <a:srgbClr val="D9D9D9"/>
            </a:solidFill>
            <a:prstDash val="solid"/>
            <a:miter lim="1000000"/>
          </a:ln>
        </p:spPr>
        <p:txBody>
          <a:bodyPr rtlCol="0"/>
          <a:lstStyle/>
          <a:p>
            <a:pPr algn="ctr"/>
            <a:endParaRPr lang="zh-CN" altLang="en-US"/>
          </a:p>
        </p:txBody>
      </p:sp>
      <p:sp>
        <p:nvSpPr>
          <p:cNvPr id="88" name="rect 88"/>
          <p:cNvSpPr/>
          <p:nvPr/>
        </p:nvSpPr>
        <p:spPr>
          <a:xfrm>
            <a:off x="147320" y="56705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0" name="rect 90"/>
          <p:cNvSpPr/>
          <p:nvPr/>
        </p:nvSpPr>
        <p:spPr>
          <a:xfrm>
            <a:off x="147320" y="779145"/>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2" name="rect 92"/>
          <p:cNvSpPr/>
          <p:nvPr/>
        </p:nvSpPr>
        <p:spPr>
          <a:xfrm>
            <a:off x="147320" y="99123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4" name="rect 94"/>
          <p:cNvSpPr/>
          <p:nvPr/>
        </p:nvSpPr>
        <p:spPr>
          <a:xfrm>
            <a:off x="147320" y="14287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6" name="rect 96"/>
          <p:cNvSpPr/>
          <p:nvPr/>
        </p:nvSpPr>
        <p:spPr>
          <a:xfrm>
            <a:off x="147320" y="35496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pic>
        <p:nvPicPr>
          <p:cNvPr id="2" name="图片 1"/>
          <p:cNvPicPr>
            <a:picLocks noChangeAspect="1"/>
          </p:cNvPicPr>
          <p:nvPr/>
        </p:nvPicPr>
        <p:blipFill>
          <a:blip r:embed="rId3"/>
          <a:stretch>
            <a:fillRect/>
          </a:stretch>
        </p:blipFill>
        <p:spPr>
          <a:xfrm>
            <a:off x="10428563" y="68429"/>
            <a:ext cx="1354271" cy="781170"/>
          </a:xfrm>
          <a:prstGeom prst="rect">
            <a:avLst/>
          </a:prstGeom>
        </p:spPr>
      </p:pic>
      <p:sp>
        <p:nvSpPr>
          <p:cNvPr id="3" name="textbox 60"/>
          <p:cNvSpPr/>
          <p:nvPr/>
        </p:nvSpPr>
        <p:spPr>
          <a:xfrm>
            <a:off x="688022" y="3017728"/>
            <a:ext cx="10637203" cy="3795845"/>
          </a:xfrm>
          <a:prstGeom prst="rect">
            <a:avLst/>
          </a:prstGeom>
          <a:noFill/>
          <a:ln w="0" cap="flat">
            <a:noFill/>
            <a:prstDash val="solid"/>
            <a:miter lim="0"/>
          </a:ln>
        </p:spPr>
        <p:txBody>
          <a:bodyPr vert="horz" wrap="square" lIns="0" tIns="0" rIns="0" bIns="0"/>
          <a:lstStyle/>
          <a:p>
            <a:pPr algn="l" rtl="0" eaLnBrk="0">
              <a:lnSpc>
                <a:spcPct val="150000"/>
              </a:lnSpc>
            </a:pPr>
            <a:endParaRPr sz="100" dirty="0">
              <a:latin typeface="Arial" panose="020B0604020202020204"/>
              <a:ea typeface="Arial" panose="020B0604020202020204"/>
              <a:cs typeface="Arial" panose="020B0604020202020204"/>
            </a:endParaRPr>
          </a:p>
          <a:p>
            <a:pPr marL="17145" algn="l" rtl="0" eaLnBrk="0">
              <a:lnSpc>
                <a:spcPct val="150000"/>
              </a:lnSpc>
              <a:spcBef>
                <a:spcPts val="600"/>
              </a:spcBef>
              <a:spcAft>
                <a:spcPts val="600"/>
              </a:spcAft>
            </a:pPr>
            <a:endParaRPr lang="zh-CN" altLang="en-US" kern="0" spc="90" dirty="0">
              <a:solidFill>
                <a:srgbClr val="595959">
                  <a:alpha val="100000"/>
                </a:srgbClr>
              </a:solidFill>
              <a:latin typeface="微软雅黑" panose="020B0503020204020204" charset="-122"/>
              <a:ea typeface="微软雅黑" panose="020B0503020204020204" charset="-122"/>
              <a:cs typeface="微软雅黑" panose="020B0503020204020204" charset="-122"/>
            </a:endParaRPr>
          </a:p>
        </p:txBody>
      </p:sp>
      <p:sp>
        <p:nvSpPr>
          <p:cNvPr id="6" name="矩形 5"/>
          <p:cNvSpPr/>
          <p:nvPr/>
        </p:nvSpPr>
        <p:spPr>
          <a:xfrm>
            <a:off x="890270" y="354965"/>
            <a:ext cx="746125" cy="387985"/>
          </a:xfrm>
          <a:prstGeom prst="rect">
            <a:avLst/>
          </a:prstGeom>
          <a:noFill/>
          <a:ln>
            <a:noFill/>
          </a:ln>
        </p:spPr>
        <p:txBody>
          <a:bodyPr wrap="none" rtlCol="0" anchor="t">
            <a:noAutofit/>
          </a:bodyPr>
          <a:lstStyle/>
          <a:p>
            <a:pPr algn="ctr"/>
            <a:endParaRPr lang="en-US" altLang="zh-CN" sz="4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8" name="文本框 7"/>
          <p:cNvSpPr txBox="1"/>
          <p:nvPr/>
        </p:nvSpPr>
        <p:spPr>
          <a:xfrm>
            <a:off x="837565" y="433070"/>
            <a:ext cx="6797675" cy="521970"/>
          </a:xfrm>
          <a:prstGeom prst="rect">
            <a:avLst/>
          </a:prstGeom>
          <a:noFill/>
        </p:spPr>
        <p:txBody>
          <a:bodyPr wrap="square" rtlCol="0" anchor="t">
            <a:spAutoFit/>
          </a:bodyPr>
          <a:lstStyle/>
          <a:p>
            <a:r>
              <a:rPr lang="zh-CN" altLang="en-US" sz="2800" b="1" dirty="0">
                <a:solidFill>
                  <a:schemeClr val="accent1">
                    <a:lumMod val="75000"/>
                  </a:schemeClr>
                </a:solidFill>
                <a:effectLst/>
                <a:latin typeface="微软雅黑" panose="020B0503020204020204" charset="-122"/>
                <a:ea typeface="微软雅黑" panose="020B0503020204020204" charset="-122"/>
                <a:sym typeface="+mn-ea"/>
              </a:rPr>
              <a:t>风冷散热关节模组</a:t>
            </a:r>
          </a:p>
        </p:txBody>
      </p:sp>
      <p:sp>
        <p:nvSpPr>
          <p:cNvPr id="72" name="path 72"/>
          <p:cNvSpPr/>
          <p:nvPr/>
        </p:nvSpPr>
        <p:spPr>
          <a:xfrm>
            <a:off x="11398249" y="6043294"/>
            <a:ext cx="741679" cy="774064"/>
          </a:xfrm>
          <a:custGeom>
            <a:avLst/>
            <a:gdLst/>
            <a:ahLst/>
            <a:cxnLst/>
            <a:rect l="0" t="0" r="0" b="0"/>
            <a:pathLst>
              <a:path w="1167" h="1218">
                <a:moveTo>
                  <a:pt x="950" y="1218"/>
                </a:moveTo>
                <a:lnTo>
                  <a:pt x="1167" y="1218"/>
                </a:lnTo>
                <a:lnTo>
                  <a:pt x="1167" y="1001"/>
                </a:lnTo>
                <a:lnTo>
                  <a:pt x="950" y="1001"/>
                </a:lnTo>
                <a:lnTo>
                  <a:pt x="950" y="1218"/>
                </a:lnTo>
                <a:close/>
              </a:path>
              <a:path w="1167" h="1218">
                <a:moveTo>
                  <a:pt x="634" y="1218"/>
                </a:moveTo>
                <a:lnTo>
                  <a:pt x="850" y="1218"/>
                </a:lnTo>
                <a:lnTo>
                  <a:pt x="850" y="1001"/>
                </a:lnTo>
                <a:lnTo>
                  <a:pt x="634" y="1001"/>
                </a:lnTo>
                <a:lnTo>
                  <a:pt x="634" y="1218"/>
                </a:lnTo>
                <a:close/>
              </a:path>
              <a:path w="1167" h="1218">
                <a:moveTo>
                  <a:pt x="317" y="1218"/>
                </a:moveTo>
                <a:lnTo>
                  <a:pt x="534" y="1218"/>
                </a:lnTo>
                <a:lnTo>
                  <a:pt x="534" y="1001"/>
                </a:lnTo>
                <a:lnTo>
                  <a:pt x="317" y="1001"/>
                </a:lnTo>
                <a:lnTo>
                  <a:pt x="317" y="1218"/>
                </a:lnTo>
                <a:close/>
              </a:path>
              <a:path w="1167" h="1218">
                <a:moveTo>
                  <a:pt x="0" y="1218"/>
                </a:moveTo>
                <a:lnTo>
                  <a:pt x="216" y="1218"/>
                </a:lnTo>
                <a:lnTo>
                  <a:pt x="216" y="1001"/>
                </a:lnTo>
                <a:lnTo>
                  <a:pt x="0" y="1001"/>
                </a:lnTo>
                <a:lnTo>
                  <a:pt x="0" y="1218"/>
                </a:lnTo>
                <a:close/>
              </a:path>
              <a:path w="1167" h="1218">
                <a:moveTo>
                  <a:pt x="950" y="884"/>
                </a:moveTo>
                <a:lnTo>
                  <a:pt x="1167" y="884"/>
                </a:lnTo>
                <a:lnTo>
                  <a:pt x="1167" y="667"/>
                </a:lnTo>
                <a:lnTo>
                  <a:pt x="950" y="667"/>
                </a:lnTo>
                <a:lnTo>
                  <a:pt x="950" y="884"/>
                </a:lnTo>
                <a:close/>
              </a:path>
              <a:path w="1167" h="1218">
                <a:moveTo>
                  <a:pt x="634" y="884"/>
                </a:moveTo>
                <a:lnTo>
                  <a:pt x="850" y="884"/>
                </a:lnTo>
                <a:lnTo>
                  <a:pt x="850" y="667"/>
                </a:lnTo>
                <a:lnTo>
                  <a:pt x="634" y="667"/>
                </a:lnTo>
                <a:lnTo>
                  <a:pt x="634" y="884"/>
                </a:lnTo>
                <a:close/>
              </a:path>
              <a:path w="1167" h="1218">
                <a:moveTo>
                  <a:pt x="317" y="884"/>
                </a:moveTo>
                <a:lnTo>
                  <a:pt x="534" y="884"/>
                </a:lnTo>
                <a:lnTo>
                  <a:pt x="534" y="667"/>
                </a:lnTo>
                <a:lnTo>
                  <a:pt x="317" y="667"/>
                </a:lnTo>
                <a:lnTo>
                  <a:pt x="317" y="884"/>
                </a:lnTo>
                <a:close/>
              </a:path>
              <a:path w="1167" h="1218">
                <a:moveTo>
                  <a:pt x="950" y="550"/>
                </a:moveTo>
                <a:lnTo>
                  <a:pt x="1167" y="550"/>
                </a:lnTo>
                <a:lnTo>
                  <a:pt x="1167" y="333"/>
                </a:lnTo>
                <a:lnTo>
                  <a:pt x="950" y="333"/>
                </a:lnTo>
                <a:lnTo>
                  <a:pt x="950" y="550"/>
                </a:lnTo>
                <a:close/>
              </a:path>
              <a:path w="1167" h="1218">
                <a:moveTo>
                  <a:pt x="634" y="550"/>
                </a:moveTo>
                <a:lnTo>
                  <a:pt x="850" y="550"/>
                </a:lnTo>
                <a:lnTo>
                  <a:pt x="850" y="333"/>
                </a:lnTo>
                <a:lnTo>
                  <a:pt x="634" y="333"/>
                </a:lnTo>
                <a:lnTo>
                  <a:pt x="634" y="550"/>
                </a:lnTo>
                <a:close/>
              </a:path>
              <a:path w="1167" h="1218">
                <a:moveTo>
                  <a:pt x="950" y="216"/>
                </a:moveTo>
                <a:lnTo>
                  <a:pt x="1167" y="216"/>
                </a:lnTo>
                <a:lnTo>
                  <a:pt x="1167" y="0"/>
                </a:lnTo>
                <a:lnTo>
                  <a:pt x="950" y="0"/>
                </a:lnTo>
                <a:lnTo>
                  <a:pt x="950"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7" name="文本框 6"/>
          <p:cNvSpPr txBox="1"/>
          <p:nvPr/>
        </p:nvSpPr>
        <p:spPr>
          <a:xfrm>
            <a:off x="1802130" y="1178560"/>
            <a:ext cx="9300845" cy="645160"/>
          </a:xfrm>
          <a:prstGeom prst="rect">
            <a:avLst/>
          </a:prstGeom>
          <a:noFill/>
        </p:spPr>
        <p:txBody>
          <a:bodyPr wrap="square" rtlCol="0" anchor="t">
            <a:spAutoFit/>
          </a:bodyPr>
          <a:lstStyle/>
          <a:p>
            <a:r>
              <a:rPr lang="zh-CN" altLang="en-US"/>
              <a:t>在设定</a:t>
            </a:r>
            <a:r>
              <a:rPr lang="en-US" altLang="zh-CN"/>
              <a:t>125r/min</a:t>
            </a:r>
            <a:r>
              <a:rPr lang="zh-CN" altLang="en-US"/>
              <a:t>转速下</a:t>
            </a:r>
            <a:r>
              <a:rPr lang="en-US" altLang="zh-CN"/>
              <a:t>:</a:t>
            </a:r>
            <a:r>
              <a:rPr lang="zh-CN" altLang="en-US"/>
              <a:t>扭矩</a:t>
            </a:r>
            <a:r>
              <a:rPr lang="en-US" altLang="zh-CN"/>
              <a:t>48Nm</a:t>
            </a:r>
            <a:r>
              <a:rPr lang="zh-CN" altLang="en-US"/>
              <a:t>时，风冷散热下绕组温度较基础方案降低</a:t>
            </a:r>
            <a:r>
              <a:rPr lang="en-US" altLang="zh-CN"/>
              <a:t>19.9</a:t>
            </a:r>
            <a:r>
              <a:rPr lang="en-US" altLang="en-US"/>
              <a:t>°</a:t>
            </a:r>
            <a:r>
              <a:rPr lang="en-US" altLang="zh-CN"/>
              <a:t>C</a:t>
            </a:r>
            <a:r>
              <a:rPr lang="zh-CN" altLang="en-US"/>
              <a:t>，降低程度</a:t>
            </a:r>
            <a:r>
              <a:rPr lang="en-US" altLang="zh-CN"/>
              <a:t>18.2%</a:t>
            </a:r>
            <a:r>
              <a:rPr lang="zh-CN" altLang="en-US"/>
              <a:t>。扭矩</a:t>
            </a:r>
            <a:r>
              <a:rPr lang="en-US" altLang="zh-CN"/>
              <a:t>18Nm</a:t>
            </a:r>
            <a:r>
              <a:rPr lang="zh-CN" altLang="en-US"/>
              <a:t>时，电机运转时间显著增长，稳定运转时间的提升率为</a:t>
            </a:r>
            <a:r>
              <a:rPr lang="en-US" altLang="zh-CN"/>
              <a:t>100%</a:t>
            </a:r>
            <a:r>
              <a:rPr lang="zh-CN" altLang="en-US"/>
              <a:t>。</a:t>
            </a:r>
          </a:p>
        </p:txBody>
      </p:sp>
      <p:pic>
        <p:nvPicPr>
          <p:cNvPr id="9" name="图片 8"/>
          <p:cNvPicPr>
            <a:picLocks noChangeAspect="1"/>
          </p:cNvPicPr>
          <p:nvPr/>
        </p:nvPicPr>
        <p:blipFill>
          <a:blip r:embed="rId4"/>
          <a:stretch>
            <a:fillRect/>
          </a:stretch>
        </p:blipFill>
        <p:spPr>
          <a:xfrm>
            <a:off x="1636395" y="2117090"/>
            <a:ext cx="3152140" cy="3926205"/>
          </a:xfrm>
          <a:prstGeom prst="rect">
            <a:avLst/>
          </a:prstGeom>
        </p:spPr>
      </p:pic>
      <p:pic>
        <p:nvPicPr>
          <p:cNvPr id="10" name="图片 9"/>
          <p:cNvPicPr>
            <a:picLocks noChangeAspect="1"/>
          </p:cNvPicPr>
          <p:nvPr/>
        </p:nvPicPr>
        <p:blipFill>
          <a:blip r:embed="rId5"/>
          <a:stretch>
            <a:fillRect/>
          </a:stretch>
        </p:blipFill>
        <p:spPr>
          <a:xfrm>
            <a:off x="4707255" y="1971040"/>
            <a:ext cx="2984500" cy="3825875"/>
          </a:xfrm>
          <a:prstGeom prst="rect">
            <a:avLst/>
          </a:prstGeom>
        </p:spPr>
      </p:pic>
      <p:pic>
        <p:nvPicPr>
          <p:cNvPr id="11" name="图片 10"/>
          <p:cNvPicPr>
            <a:picLocks noChangeAspect="1"/>
          </p:cNvPicPr>
          <p:nvPr/>
        </p:nvPicPr>
        <p:blipFill>
          <a:blip r:embed="rId6"/>
          <a:stretch>
            <a:fillRect/>
          </a:stretch>
        </p:blipFill>
        <p:spPr>
          <a:xfrm>
            <a:off x="7528560" y="1971040"/>
            <a:ext cx="3402330" cy="4206240"/>
          </a:xfrm>
          <a:prstGeom prst="rect">
            <a:avLst/>
          </a:prstGeom>
        </p:spPr>
      </p:pic>
      <p:sp>
        <p:nvSpPr>
          <p:cNvPr id="12" name="矩形 11"/>
          <p:cNvSpPr/>
          <p:nvPr/>
        </p:nvSpPr>
        <p:spPr>
          <a:xfrm>
            <a:off x="970274" y="2981156"/>
            <a:ext cx="65753" cy="461665"/>
          </a:xfrm>
          <a:prstGeom prst="rect">
            <a:avLst/>
          </a:prstGeom>
          <a:gradFill>
            <a:gsLst>
              <a:gs pos="50000">
                <a:srgbClr val="1F5FBF"/>
              </a:gs>
              <a:gs pos="0">
                <a:srgbClr val="1486CB"/>
              </a:gs>
              <a:gs pos="100000">
                <a:srgbClr val="2A34B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sp>
        <p:nvSpPr>
          <p:cNvPr id="13" name="文本框 12"/>
          <p:cNvSpPr txBox="1"/>
          <p:nvPr/>
        </p:nvSpPr>
        <p:spPr>
          <a:xfrm>
            <a:off x="378925" y="3443165"/>
            <a:ext cx="1257300" cy="460375"/>
          </a:xfrm>
          <a:prstGeom prst="rect">
            <a:avLst/>
          </a:prstGeom>
          <a:noFill/>
        </p:spPr>
        <p:txBody>
          <a:bodyPr wrap="square">
            <a:spAutoFit/>
          </a:bodyPr>
          <a:lstStyle/>
          <a:p>
            <a:pPr algn="ctr"/>
            <a:r>
              <a:rPr lang="en-US" sz="1200" b="1">
                <a:solidFill>
                  <a:schemeClr val="accent1">
                    <a:lumMod val="40000"/>
                    <a:lumOff val="60000"/>
                  </a:schemeClr>
                </a:solidFill>
                <a:latin typeface="Arial" panose="020B0604020202020204"/>
                <a:ea typeface="Arial" panose="020B0604020202020204"/>
                <a:cs typeface="Arial" panose="020B0604020202020204"/>
                <a:sym typeface="Arial" panose="020B0604020202020204"/>
              </a:rPr>
              <a:t>Nanjing Cooling</a:t>
            </a:r>
            <a:endParaRPr lang="zh-CN" altLang="en-US" sz="1200" b="1" dirty="0">
              <a:solidFill>
                <a:schemeClr val="accent1">
                  <a:lumMod val="60000"/>
                  <a:lumOff val="40000"/>
                </a:schemeClr>
              </a:solidFill>
              <a:latin typeface="华文楷体" panose="02010600040101010101" pitchFamily="2" charset="-122"/>
              <a:ea typeface="华文楷体" panose="02010600040101010101" pitchFamily="2" charset="-122"/>
              <a:sym typeface="+mn-ea"/>
            </a:endParaRPr>
          </a:p>
        </p:txBody>
      </p:sp>
      <p:sp>
        <p:nvSpPr>
          <p:cNvPr id="16" name="文本框 15"/>
          <p:cNvSpPr txBox="1"/>
          <p:nvPr/>
        </p:nvSpPr>
        <p:spPr>
          <a:xfrm>
            <a:off x="246973" y="4082588"/>
            <a:ext cx="1576567" cy="645160"/>
          </a:xfrm>
          <a:prstGeom prst="rect">
            <a:avLst/>
          </a:prstGeom>
          <a:noFill/>
        </p:spPr>
        <p:txBody>
          <a:bodyPr wrap="square" rtlCol="0">
            <a:spAutoFit/>
          </a:bodyPr>
          <a:lstStyle/>
          <a:p>
            <a:pPr algn="ctr">
              <a:lnSpc>
                <a:spcPct val="150000"/>
              </a:lnSpc>
            </a:pPr>
            <a:r>
              <a:rPr lang="zh-CN" altLang="en-US" sz="1200" b="1" dirty="0">
                <a:solidFill>
                  <a:schemeClr val="accent1">
                    <a:lumMod val="50000"/>
                  </a:schemeClr>
                </a:solidFill>
                <a:latin typeface="微软雅黑" panose="020B0503020204020204" charset="-122"/>
                <a:ea typeface="微软雅黑" panose="020B0503020204020204" charset="-122"/>
              </a:rPr>
              <a:t>酷灵热管理</a:t>
            </a:r>
            <a:endParaRPr lang="en-US" altLang="zh-CN" sz="1200" b="1" dirty="0">
              <a:solidFill>
                <a:schemeClr val="accent1">
                  <a:lumMod val="50000"/>
                </a:schemeClr>
              </a:solidFill>
              <a:latin typeface="微软雅黑" panose="020B0503020204020204" charset="-122"/>
              <a:ea typeface="微软雅黑" panose="020B0503020204020204" charset="-122"/>
            </a:endParaRPr>
          </a:p>
          <a:p>
            <a:pPr algn="ctr">
              <a:lnSpc>
                <a:spcPct val="150000"/>
              </a:lnSpc>
            </a:pPr>
            <a:r>
              <a:rPr lang="zh-CN" altLang="en-US" sz="1200" b="1" dirty="0">
                <a:solidFill>
                  <a:schemeClr val="accent1">
                    <a:lumMod val="50000"/>
                  </a:schemeClr>
                </a:solidFill>
                <a:latin typeface="微软雅黑" panose="020B0503020204020204" charset="-122"/>
                <a:ea typeface="微软雅黑" panose="020B0503020204020204" charset="-122"/>
              </a:rPr>
              <a:t>为机器人持久赋能</a:t>
            </a:r>
          </a:p>
        </p:txBody>
      </p:sp>
      <p:sp>
        <p:nvSpPr>
          <p:cNvPr id="18" name="文本框 17"/>
          <p:cNvSpPr txBox="1"/>
          <p:nvPr/>
        </p:nvSpPr>
        <p:spPr>
          <a:xfrm>
            <a:off x="192405" y="4820285"/>
            <a:ext cx="1814830" cy="614045"/>
          </a:xfrm>
          <a:prstGeom prst="rect">
            <a:avLst/>
          </a:prstGeom>
          <a:noFill/>
        </p:spPr>
        <p:txBody>
          <a:bodyPr wrap="square">
            <a:spAutoFit/>
          </a:bodyPr>
          <a:lstStyle/>
          <a:p>
            <a:pPr algn="ctr"/>
            <a:endParaRPr lang="zh-CN" altLang="en-US" sz="2000" b="1" dirty="0">
              <a:solidFill>
                <a:schemeClr val="accent1">
                  <a:lumMod val="50000"/>
                </a:schemeClr>
              </a:solidFill>
              <a:latin typeface="华文楷体" panose="02010600040101010101" pitchFamily="2" charset="-122"/>
              <a:ea typeface="华文楷体" panose="02010600040101010101" pitchFamily="2" charset="-122"/>
            </a:endParaRPr>
          </a:p>
          <a:p>
            <a:pPr algn="ctr"/>
            <a:r>
              <a:rPr lang="zh-CN" altLang="en-US" sz="1400" b="1" dirty="0">
                <a:solidFill>
                  <a:schemeClr val="accent1">
                    <a:lumMod val="60000"/>
                    <a:lumOff val="40000"/>
                  </a:schemeClr>
                </a:solidFill>
                <a:latin typeface="华文楷体" panose="02010600040101010101" pitchFamily="2" charset="-122"/>
                <a:ea typeface="华文楷体" panose="02010600040101010101" pitchFamily="2" charset="-122"/>
              </a:rPr>
              <a:t>解决方案与产品矩阵</a:t>
            </a:r>
          </a:p>
        </p:txBody>
      </p:sp>
      <p:sp>
        <p:nvSpPr>
          <p:cNvPr id="19" name="矩形 18"/>
          <p:cNvSpPr/>
          <p:nvPr/>
        </p:nvSpPr>
        <p:spPr>
          <a:xfrm>
            <a:off x="970222" y="5434594"/>
            <a:ext cx="65753" cy="461665"/>
          </a:xfrm>
          <a:prstGeom prst="rect">
            <a:avLst/>
          </a:prstGeom>
          <a:gradFill>
            <a:gsLst>
              <a:gs pos="50000">
                <a:srgbClr val="1F5FBF"/>
              </a:gs>
              <a:gs pos="0">
                <a:srgbClr val="1486CB"/>
              </a:gs>
              <a:gs pos="100000">
                <a:srgbClr val="2A34B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6"/>
          <p:cNvPicPr>
            <a:picLocks noChangeAspect="1"/>
          </p:cNvPicPr>
          <p:nvPr/>
        </p:nvPicPr>
        <p:blipFill>
          <a:blip r:embed="rId2"/>
          <a:stretch>
            <a:fillRect/>
          </a:stretch>
        </p:blipFill>
        <p:spPr>
          <a:xfrm rot="21600000">
            <a:off x="0" y="6576693"/>
            <a:ext cx="12192000" cy="271779"/>
          </a:xfrm>
          <a:prstGeom prst="rect">
            <a:avLst/>
          </a:prstGeom>
        </p:spPr>
      </p:pic>
      <p:sp>
        <p:nvSpPr>
          <p:cNvPr id="70" name="textbox 70"/>
          <p:cNvSpPr/>
          <p:nvPr/>
        </p:nvSpPr>
        <p:spPr>
          <a:xfrm>
            <a:off x="1636628" y="455178"/>
            <a:ext cx="2599689" cy="507365"/>
          </a:xfrm>
          <a:prstGeom prst="rect">
            <a:avLst/>
          </a:prstGeom>
          <a:noFill/>
          <a:ln w="0" cap="flat">
            <a:noFill/>
            <a:prstDash val="solid"/>
            <a:miter lim="0"/>
          </a:ln>
        </p:spPr>
        <p:txBody>
          <a:bodyPr vert="horz" wrap="square" lIns="0" tIns="0" rIns="0" bIns="0"/>
          <a:lstStyle/>
          <a:p>
            <a:pPr algn="l" rtl="0" eaLnBrk="0">
              <a:lnSpc>
                <a:spcPct val="93000"/>
              </a:lnSpc>
            </a:pPr>
            <a:endParaRPr sz="1000" dirty="0">
              <a:latin typeface="微软雅黑" panose="020B0503020204020204" charset="-122"/>
              <a:ea typeface="微软雅黑" panose="020B0503020204020204" charset="-122"/>
              <a:cs typeface="微软雅黑" panose="020B0503020204020204" charset="-122"/>
            </a:endParaRPr>
          </a:p>
        </p:txBody>
      </p:sp>
      <p:sp>
        <p:nvSpPr>
          <p:cNvPr id="74" name="path 74"/>
          <p:cNvSpPr/>
          <p:nvPr/>
        </p:nvSpPr>
        <p:spPr>
          <a:xfrm>
            <a:off x="348614" y="354965"/>
            <a:ext cx="540385" cy="137794"/>
          </a:xfrm>
          <a:custGeom>
            <a:avLst/>
            <a:gdLst/>
            <a:ahLst/>
            <a:cxnLst/>
            <a:rect l="0" t="0" r="0" b="0"/>
            <a:pathLst>
              <a:path w="851" h="216">
                <a:moveTo>
                  <a:pt x="0" y="216"/>
                </a:moveTo>
                <a:lnTo>
                  <a:pt x="217" y="216"/>
                </a:lnTo>
                <a:lnTo>
                  <a:pt x="217" y="0"/>
                </a:lnTo>
                <a:lnTo>
                  <a:pt x="0" y="0"/>
                </a:lnTo>
                <a:lnTo>
                  <a:pt x="0" y="216"/>
                </a:lnTo>
                <a:close/>
              </a:path>
              <a:path w="851" h="216">
                <a:moveTo>
                  <a:pt x="317" y="216"/>
                </a:moveTo>
                <a:lnTo>
                  <a:pt x="534" y="216"/>
                </a:lnTo>
                <a:lnTo>
                  <a:pt x="534" y="0"/>
                </a:lnTo>
                <a:lnTo>
                  <a:pt x="317" y="0"/>
                </a:lnTo>
                <a:lnTo>
                  <a:pt x="317" y="216"/>
                </a:lnTo>
                <a:close/>
              </a:path>
              <a:path w="851" h="216">
                <a:moveTo>
                  <a:pt x="633" y="216"/>
                </a:moveTo>
                <a:lnTo>
                  <a:pt x="851" y="216"/>
                </a:lnTo>
                <a:lnTo>
                  <a:pt x="851" y="0"/>
                </a:lnTo>
                <a:lnTo>
                  <a:pt x="633" y="0"/>
                </a:lnTo>
                <a:lnTo>
                  <a:pt x="633"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2" name="path 82"/>
          <p:cNvSpPr/>
          <p:nvPr/>
        </p:nvSpPr>
        <p:spPr>
          <a:xfrm>
            <a:off x="348614" y="567054"/>
            <a:ext cx="339090" cy="349885"/>
          </a:xfrm>
          <a:custGeom>
            <a:avLst/>
            <a:gdLst/>
            <a:ahLst/>
            <a:cxnLst/>
            <a:rect l="0" t="0" r="0" b="0"/>
            <a:pathLst>
              <a:path w="534" h="551">
                <a:moveTo>
                  <a:pt x="0" y="217"/>
                </a:moveTo>
                <a:lnTo>
                  <a:pt x="217" y="217"/>
                </a:lnTo>
                <a:lnTo>
                  <a:pt x="217" y="0"/>
                </a:lnTo>
                <a:lnTo>
                  <a:pt x="0" y="0"/>
                </a:lnTo>
                <a:lnTo>
                  <a:pt x="0" y="217"/>
                </a:lnTo>
                <a:close/>
              </a:path>
              <a:path w="534" h="551">
                <a:moveTo>
                  <a:pt x="317" y="217"/>
                </a:moveTo>
                <a:lnTo>
                  <a:pt x="534" y="217"/>
                </a:lnTo>
                <a:lnTo>
                  <a:pt x="534" y="0"/>
                </a:lnTo>
                <a:lnTo>
                  <a:pt x="317" y="0"/>
                </a:lnTo>
                <a:lnTo>
                  <a:pt x="317" y="217"/>
                </a:lnTo>
                <a:close/>
              </a:path>
              <a:path w="534" h="551">
                <a:moveTo>
                  <a:pt x="0" y="551"/>
                </a:moveTo>
                <a:lnTo>
                  <a:pt x="217" y="551"/>
                </a:lnTo>
                <a:lnTo>
                  <a:pt x="217" y="334"/>
                </a:lnTo>
                <a:lnTo>
                  <a:pt x="0" y="334"/>
                </a:lnTo>
                <a:lnTo>
                  <a:pt x="0" y="551"/>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4" name="path 84"/>
          <p:cNvSpPr/>
          <p:nvPr/>
        </p:nvSpPr>
        <p:spPr>
          <a:xfrm>
            <a:off x="348614" y="142875"/>
            <a:ext cx="741680" cy="137794"/>
          </a:xfrm>
          <a:custGeom>
            <a:avLst/>
            <a:gdLst/>
            <a:ahLst/>
            <a:cxnLst/>
            <a:rect l="0" t="0" r="0" b="0"/>
            <a:pathLst>
              <a:path w="1168" h="216">
                <a:moveTo>
                  <a:pt x="0" y="216"/>
                </a:moveTo>
                <a:lnTo>
                  <a:pt x="217" y="216"/>
                </a:lnTo>
                <a:lnTo>
                  <a:pt x="217" y="0"/>
                </a:lnTo>
                <a:lnTo>
                  <a:pt x="0" y="0"/>
                </a:lnTo>
                <a:lnTo>
                  <a:pt x="0" y="216"/>
                </a:lnTo>
                <a:close/>
              </a:path>
              <a:path w="1168" h="216">
                <a:moveTo>
                  <a:pt x="317" y="216"/>
                </a:moveTo>
                <a:lnTo>
                  <a:pt x="534" y="216"/>
                </a:lnTo>
                <a:lnTo>
                  <a:pt x="534" y="0"/>
                </a:lnTo>
                <a:lnTo>
                  <a:pt x="317" y="0"/>
                </a:lnTo>
                <a:lnTo>
                  <a:pt x="317" y="216"/>
                </a:lnTo>
                <a:close/>
              </a:path>
              <a:path w="1168" h="216">
                <a:moveTo>
                  <a:pt x="633" y="216"/>
                </a:moveTo>
                <a:lnTo>
                  <a:pt x="851" y="216"/>
                </a:lnTo>
                <a:lnTo>
                  <a:pt x="851" y="0"/>
                </a:lnTo>
                <a:lnTo>
                  <a:pt x="633" y="0"/>
                </a:lnTo>
                <a:lnTo>
                  <a:pt x="633" y="216"/>
                </a:lnTo>
                <a:close/>
              </a:path>
              <a:path w="1168" h="216">
                <a:moveTo>
                  <a:pt x="951" y="216"/>
                </a:moveTo>
                <a:lnTo>
                  <a:pt x="1168" y="216"/>
                </a:lnTo>
                <a:lnTo>
                  <a:pt x="1168" y="0"/>
                </a:lnTo>
                <a:lnTo>
                  <a:pt x="951" y="0"/>
                </a:lnTo>
                <a:lnTo>
                  <a:pt x="951"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6" name="path 86"/>
          <p:cNvSpPr/>
          <p:nvPr/>
        </p:nvSpPr>
        <p:spPr>
          <a:xfrm>
            <a:off x="688340" y="955040"/>
            <a:ext cx="10786745" cy="76200"/>
          </a:xfrm>
          <a:custGeom>
            <a:avLst/>
            <a:gdLst/>
            <a:ahLst/>
            <a:cxnLst/>
            <a:rect l="0" t="0" r="0" b="0"/>
            <a:pathLst>
              <a:path w="15485" h="10">
                <a:moveTo>
                  <a:pt x="0" y="5"/>
                </a:moveTo>
                <a:lnTo>
                  <a:pt x="15485" y="5"/>
                </a:lnTo>
              </a:path>
            </a:pathLst>
          </a:custGeom>
          <a:noFill/>
          <a:ln w="6350" cap="flat">
            <a:solidFill>
              <a:srgbClr val="D9D9D9"/>
            </a:solidFill>
            <a:prstDash val="solid"/>
            <a:miter lim="1000000"/>
          </a:ln>
        </p:spPr>
        <p:txBody>
          <a:bodyPr rtlCol="0"/>
          <a:lstStyle/>
          <a:p>
            <a:pPr algn="ctr"/>
            <a:endParaRPr lang="zh-CN" altLang="en-US"/>
          </a:p>
        </p:txBody>
      </p:sp>
      <p:sp>
        <p:nvSpPr>
          <p:cNvPr id="88" name="rect 88"/>
          <p:cNvSpPr/>
          <p:nvPr/>
        </p:nvSpPr>
        <p:spPr>
          <a:xfrm>
            <a:off x="147320" y="56705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0" name="rect 90"/>
          <p:cNvSpPr/>
          <p:nvPr/>
        </p:nvSpPr>
        <p:spPr>
          <a:xfrm>
            <a:off x="147320" y="779145"/>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2" name="rect 92"/>
          <p:cNvSpPr/>
          <p:nvPr/>
        </p:nvSpPr>
        <p:spPr>
          <a:xfrm>
            <a:off x="147320" y="99123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4" name="rect 94"/>
          <p:cNvSpPr/>
          <p:nvPr/>
        </p:nvSpPr>
        <p:spPr>
          <a:xfrm>
            <a:off x="147320" y="14287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6" name="rect 96"/>
          <p:cNvSpPr/>
          <p:nvPr/>
        </p:nvSpPr>
        <p:spPr>
          <a:xfrm>
            <a:off x="147320" y="35496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pic>
        <p:nvPicPr>
          <p:cNvPr id="2" name="图片 1"/>
          <p:cNvPicPr>
            <a:picLocks noChangeAspect="1"/>
          </p:cNvPicPr>
          <p:nvPr/>
        </p:nvPicPr>
        <p:blipFill>
          <a:blip r:embed="rId3"/>
          <a:stretch>
            <a:fillRect/>
          </a:stretch>
        </p:blipFill>
        <p:spPr>
          <a:xfrm>
            <a:off x="10428563" y="68429"/>
            <a:ext cx="1354271" cy="781170"/>
          </a:xfrm>
          <a:prstGeom prst="rect">
            <a:avLst/>
          </a:prstGeom>
        </p:spPr>
      </p:pic>
      <p:sp>
        <p:nvSpPr>
          <p:cNvPr id="3" name="textbox 60"/>
          <p:cNvSpPr/>
          <p:nvPr/>
        </p:nvSpPr>
        <p:spPr>
          <a:xfrm>
            <a:off x="688022" y="3017728"/>
            <a:ext cx="10637203" cy="3795845"/>
          </a:xfrm>
          <a:prstGeom prst="rect">
            <a:avLst/>
          </a:prstGeom>
          <a:noFill/>
          <a:ln w="0" cap="flat">
            <a:noFill/>
            <a:prstDash val="solid"/>
            <a:miter lim="0"/>
          </a:ln>
        </p:spPr>
        <p:txBody>
          <a:bodyPr vert="horz" wrap="square" lIns="0" tIns="0" rIns="0" bIns="0"/>
          <a:lstStyle/>
          <a:p>
            <a:pPr algn="l" rtl="0" eaLnBrk="0">
              <a:lnSpc>
                <a:spcPct val="150000"/>
              </a:lnSpc>
            </a:pPr>
            <a:endParaRPr sz="100" dirty="0">
              <a:latin typeface="Arial" panose="020B0604020202020204"/>
              <a:ea typeface="Arial" panose="020B0604020202020204"/>
              <a:cs typeface="Arial" panose="020B0604020202020204"/>
            </a:endParaRPr>
          </a:p>
          <a:p>
            <a:pPr marL="17145" algn="l" rtl="0" eaLnBrk="0">
              <a:lnSpc>
                <a:spcPct val="150000"/>
              </a:lnSpc>
              <a:spcBef>
                <a:spcPts val="600"/>
              </a:spcBef>
              <a:spcAft>
                <a:spcPts val="600"/>
              </a:spcAft>
            </a:pPr>
            <a:endParaRPr lang="zh-CN" altLang="en-US" kern="0" spc="90" dirty="0">
              <a:solidFill>
                <a:srgbClr val="595959">
                  <a:alpha val="100000"/>
                </a:srgbClr>
              </a:solidFill>
              <a:latin typeface="微软雅黑" panose="020B0503020204020204" charset="-122"/>
              <a:ea typeface="微软雅黑" panose="020B0503020204020204" charset="-122"/>
              <a:cs typeface="微软雅黑" panose="020B0503020204020204" charset="-122"/>
            </a:endParaRPr>
          </a:p>
        </p:txBody>
      </p:sp>
      <p:sp>
        <p:nvSpPr>
          <p:cNvPr id="6" name="矩形 5"/>
          <p:cNvSpPr/>
          <p:nvPr/>
        </p:nvSpPr>
        <p:spPr>
          <a:xfrm>
            <a:off x="890270" y="354965"/>
            <a:ext cx="746125" cy="387985"/>
          </a:xfrm>
          <a:prstGeom prst="rect">
            <a:avLst/>
          </a:prstGeom>
          <a:noFill/>
          <a:ln>
            <a:noFill/>
          </a:ln>
        </p:spPr>
        <p:txBody>
          <a:bodyPr wrap="none" rtlCol="0" anchor="t">
            <a:noAutofit/>
          </a:bodyPr>
          <a:lstStyle/>
          <a:p>
            <a:pPr algn="ctr"/>
            <a:endParaRPr lang="en-US" altLang="zh-CN" sz="4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8" name="文本框 7"/>
          <p:cNvSpPr txBox="1"/>
          <p:nvPr/>
        </p:nvSpPr>
        <p:spPr>
          <a:xfrm>
            <a:off x="837565" y="433070"/>
            <a:ext cx="6797675" cy="521970"/>
          </a:xfrm>
          <a:prstGeom prst="rect">
            <a:avLst/>
          </a:prstGeom>
          <a:noFill/>
        </p:spPr>
        <p:txBody>
          <a:bodyPr wrap="square" rtlCol="0" anchor="t">
            <a:spAutoFit/>
          </a:bodyPr>
          <a:lstStyle/>
          <a:p>
            <a:r>
              <a:rPr lang="zh-CN" altLang="en-US" sz="2800" b="1" dirty="0">
                <a:solidFill>
                  <a:schemeClr val="accent1">
                    <a:lumMod val="75000"/>
                  </a:schemeClr>
                </a:solidFill>
                <a:effectLst/>
                <a:latin typeface="微软雅黑" panose="020B0503020204020204" charset="-122"/>
                <a:ea typeface="微软雅黑" panose="020B0503020204020204" charset="-122"/>
                <a:sym typeface="+mn-ea"/>
              </a:rPr>
              <a:t>液冷散热关节模组</a:t>
            </a:r>
          </a:p>
        </p:txBody>
      </p:sp>
      <p:sp>
        <p:nvSpPr>
          <p:cNvPr id="72" name="path 72"/>
          <p:cNvSpPr/>
          <p:nvPr/>
        </p:nvSpPr>
        <p:spPr>
          <a:xfrm>
            <a:off x="11398249" y="6043294"/>
            <a:ext cx="741679" cy="774064"/>
          </a:xfrm>
          <a:custGeom>
            <a:avLst/>
            <a:gdLst/>
            <a:ahLst/>
            <a:cxnLst/>
            <a:rect l="0" t="0" r="0" b="0"/>
            <a:pathLst>
              <a:path w="1167" h="1218">
                <a:moveTo>
                  <a:pt x="950" y="1218"/>
                </a:moveTo>
                <a:lnTo>
                  <a:pt x="1167" y="1218"/>
                </a:lnTo>
                <a:lnTo>
                  <a:pt x="1167" y="1001"/>
                </a:lnTo>
                <a:lnTo>
                  <a:pt x="950" y="1001"/>
                </a:lnTo>
                <a:lnTo>
                  <a:pt x="950" y="1218"/>
                </a:lnTo>
                <a:close/>
              </a:path>
              <a:path w="1167" h="1218">
                <a:moveTo>
                  <a:pt x="634" y="1218"/>
                </a:moveTo>
                <a:lnTo>
                  <a:pt x="850" y="1218"/>
                </a:lnTo>
                <a:lnTo>
                  <a:pt x="850" y="1001"/>
                </a:lnTo>
                <a:lnTo>
                  <a:pt x="634" y="1001"/>
                </a:lnTo>
                <a:lnTo>
                  <a:pt x="634" y="1218"/>
                </a:lnTo>
                <a:close/>
              </a:path>
              <a:path w="1167" h="1218">
                <a:moveTo>
                  <a:pt x="317" y="1218"/>
                </a:moveTo>
                <a:lnTo>
                  <a:pt x="534" y="1218"/>
                </a:lnTo>
                <a:lnTo>
                  <a:pt x="534" y="1001"/>
                </a:lnTo>
                <a:lnTo>
                  <a:pt x="317" y="1001"/>
                </a:lnTo>
                <a:lnTo>
                  <a:pt x="317" y="1218"/>
                </a:lnTo>
                <a:close/>
              </a:path>
              <a:path w="1167" h="1218">
                <a:moveTo>
                  <a:pt x="0" y="1218"/>
                </a:moveTo>
                <a:lnTo>
                  <a:pt x="216" y="1218"/>
                </a:lnTo>
                <a:lnTo>
                  <a:pt x="216" y="1001"/>
                </a:lnTo>
                <a:lnTo>
                  <a:pt x="0" y="1001"/>
                </a:lnTo>
                <a:lnTo>
                  <a:pt x="0" y="1218"/>
                </a:lnTo>
                <a:close/>
              </a:path>
              <a:path w="1167" h="1218">
                <a:moveTo>
                  <a:pt x="950" y="884"/>
                </a:moveTo>
                <a:lnTo>
                  <a:pt x="1167" y="884"/>
                </a:lnTo>
                <a:lnTo>
                  <a:pt x="1167" y="667"/>
                </a:lnTo>
                <a:lnTo>
                  <a:pt x="950" y="667"/>
                </a:lnTo>
                <a:lnTo>
                  <a:pt x="950" y="884"/>
                </a:lnTo>
                <a:close/>
              </a:path>
              <a:path w="1167" h="1218">
                <a:moveTo>
                  <a:pt x="634" y="884"/>
                </a:moveTo>
                <a:lnTo>
                  <a:pt x="850" y="884"/>
                </a:lnTo>
                <a:lnTo>
                  <a:pt x="850" y="667"/>
                </a:lnTo>
                <a:lnTo>
                  <a:pt x="634" y="667"/>
                </a:lnTo>
                <a:lnTo>
                  <a:pt x="634" y="884"/>
                </a:lnTo>
                <a:close/>
              </a:path>
              <a:path w="1167" h="1218">
                <a:moveTo>
                  <a:pt x="317" y="884"/>
                </a:moveTo>
                <a:lnTo>
                  <a:pt x="534" y="884"/>
                </a:lnTo>
                <a:lnTo>
                  <a:pt x="534" y="667"/>
                </a:lnTo>
                <a:lnTo>
                  <a:pt x="317" y="667"/>
                </a:lnTo>
                <a:lnTo>
                  <a:pt x="317" y="884"/>
                </a:lnTo>
                <a:close/>
              </a:path>
              <a:path w="1167" h="1218">
                <a:moveTo>
                  <a:pt x="950" y="550"/>
                </a:moveTo>
                <a:lnTo>
                  <a:pt x="1167" y="550"/>
                </a:lnTo>
                <a:lnTo>
                  <a:pt x="1167" y="333"/>
                </a:lnTo>
                <a:lnTo>
                  <a:pt x="950" y="333"/>
                </a:lnTo>
                <a:lnTo>
                  <a:pt x="950" y="550"/>
                </a:lnTo>
                <a:close/>
              </a:path>
              <a:path w="1167" h="1218">
                <a:moveTo>
                  <a:pt x="634" y="550"/>
                </a:moveTo>
                <a:lnTo>
                  <a:pt x="850" y="550"/>
                </a:lnTo>
                <a:lnTo>
                  <a:pt x="850" y="333"/>
                </a:lnTo>
                <a:lnTo>
                  <a:pt x="634" y="333"/>
                </a:lnTo>
                <a:lnTo>
                  <a:pt x="634" y="550"/>
                </a:lnTo>
                <a:close/>
              </a:path>
              <a:path w="1167" h="1218">
                <a:moveTo>
                  <a:pt x="950" y="216"/>
                </a:moveTo>
                <a:lnTo>
                  <a:pt x="1167" y="216"/>
                </a:lnTo>
                <a:lnTo>
                  <a:pt x="1167" y="0"/>
                </a:lnTo>
                <a:lnTo>
                  <a:pt x="950" y="0"/>
                </a:lnTo>
                <a:lnTo>
                  <a:pt x="950"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5" name="文本框 4"/>
          <p:cNvSpPr txBox="1"/>
          <p:nvPr/>
        </p:nvSpPr>
        <p:spPr>
          <a:xfrm>
            <a:off x="1677035" y="1216660"/>
            <a:ext cx="9797415" cy="922020"/>
          </a:xfrm>
          <a:prstGeom prst="rect">
            <a:avLst/>
          </a:prstGeom>
          <a:noFill/>
        </p:spPr>
        <p:txBody>
          <a:bodyPr wrap="square" rtlCol="0" anchor="t">
            <a:spAutoFit/>
          </a:bodyPr>
          <a:lstStyle/>
          <a:p>
            <a:r>
              <a:rPr lang="zh-CN" altLang="en-US"/>
              <a:t>在设定</a:t>
            </a:r>
            <a:r>
              <a:rPr lang="en-US" altLang="zh-CN"/>
              <a:t>125r/min</a:t>
            </a:r>
            <a:r>
              <a:rPr lang="zh-CN" altLang="en-US"/>
              <a:t>转速下</a:t>
            </a:r>
            <a:r>
              <a:rPr lang="en-US" altLang="zh-CN"/>
              <a:t>:</a:t>
            </a:r>
            <a:r>
              <a:rPr lang="zh-CN" altLang="en-US"/>
              <a:t>液冷方案展现出极强散热能力</a:t>
            </a:r>
            <a:r>
              <a:rPr lang="en-US" altLang="zh-CN"/>
              <a:t>:</a:t>
            </a:r>
            <a:r>
              <a:rPr lang="zh-CN" altLang="en-US"/>
              <a:t>扭矩</a:t>
            </a:r>
            <a:r>
              <a:rPr lang="en-US" altLang="zh-CN"/>
              <a:t>18N·m</a:t>
            </a:r>
            <a:r>
              <a:rPr lang="zh-CN" altLang="en-US"/>
              <a:t>时，液冷散热下绕组温度和外壳温度显著低于基础方案，绕组温度较基础方案降低</a:t>
            </a:r>
            <a:r>
              <a:rPr lang="en-US" altLang="zh-CN"/>
              <a:t>39.5</a:t>
            </a:r>
            <a:r>
              <a:rPr lang="en-US" altLang="en-US"/>
              <a:t>°</a:t>
            </a:r>
            <a:r>
              <a:rPr lang="en-US" altLang="zh-CN"/>
              <a:t>C</a:t>
            </a:r>
            <a:r>
              <a:rPr lang="zh-CN" altLang="en-US"/>
              <a:t>，降低程度接近</a:t>
            </a:r>
            <a:r>
              <a:rPr lang="en-US" altLang="zh-CN"/>
              <a:t>44.4%</a:t>
            </a:r>
            <a:r>
              <a:rPr lang="zh-CN" altLang="en-US"/>
              <a:t>，外壳温度降低</a:t>
            </a:r>
            <a:r>
              <a:rPr lang="en-US" altLang="zh-CN"/>
              <a:t>40.7</a:t>
            </a:r>
            <a:r>
              <a:rPr lang="en-US" altLang="en-US"/>
              <a:t>°</a:t>
            </a:r>
            <a:r>
              <a:rPr lang="en-US" altLang="zh-CN"/>
              <a:t>C</a:t>
            </a:r>
            <a:r>
              <a:rPr lang="zh-CN" altLang="en-US"/>
              <a:t>，降低程度达</a:t>
            </a:r>
            <a:r>
              <a:rPr lang="en-US" altLang="zh-CN"/>
              <a:t>53.5%</a:t>
            </a:r>
            <a:r>
              <a:rPr lang="zh-CN" altLang="en-US"/>
              <a:t>，电机运转时间显著增长，运转时间的提升率接近</a:t>
            </a:r>
            <a:r>
              <a:rPr lang="en-US" altLang="zh-CN"/>
              <a:t>81.0%</a:t>
            </a:r>
            <a:r>
              <a:rPr lang="zh-CN" altLang="en-US"/>
              <a:t>。</a:t>
            </a:r>
          </a:p>
        </p:txBody>
      </p:sp>
      <p:pic>
        <p:nvPicPr>
          <p:cNvPr id="7" name="图片 6"/>
          <p:cNvPicPr>
            <a:picLocks noChangeAspect="1"/>
          </p:cNvPicPr>
          <p:nvPr/>
        </p:nvPicPr>
        <p:blipFill>
          <a:blip r:embed="rId4"/>
          <a:stretch>
            <a:fillRect/>
          </a:stretch>
        </p:blipFill>
        <p:spPr>
          <a:xfrm>
            <a:off x="1722120" y="2220595"/>
            <a:ext cx="2791460" cy="3961130"/>
          </a:xfrm>
          <a:prstGeom prst="rect">
            <a:avLst/>
          </a:prstGeom>
        </p:spPr>
      </p:pic>
      <p:pic>
        <p:nvPicPr>
          <p:cNvPr id="9" name="图片 8"/>
          <p:cNvPicPr>
            <a:picLocks noChangeAspect="1"/>
          </p:cNvPicPr>
          <p:nvPr/>
        </p:nvPicPr>
        <p:blipFill>
          <a:blip r:embed="rId5"/>
          <a:stretch>
            <a:fillRect/>
          </a:stretch>
        </p:blipFill>
        <p:spPr>
          <a:xfrm>
            <a:off x="4571365" y="2298700"/>
            <a:ext cx="3342640" cy="3813175"/>
          </a:xfrm>
          <a:prstGeom prst="rect">
            <a:avLst/>
          </a:prstGeom>
        </p:spPr>
      </p:pic>
      <p:pic>
        <p:nvPicPr>
          <p:cNvPr id="10" name="图片 9"/>
          <p:cNvPicPr>
            <a:picLocks noChangeAspect="1"/>
          </p:cNvPicPr>
          <p:nvPr/>
        </p:nvPicPr>
        <p:blipFill>
          <a:blip r:embed="rId6"/>
          <a:stretch>
            <a:fillRect/>
          </a:stretch>
        </p:blipFill>
        <p:spPr>
          <a:xfrm>
            <a:off x="7723505" y="2138680"/>
            <a:ext cx="3750945" cy="4229100"/>
          </a:xfrm>
          <a:prstGeom prst="rect">
            <a:avLst/>
          </a:prstGeom>
        </p:spPr>
      </p:pic>
      <p:sp>
        <p:nvSpPr>
          <p:cNvPr id="11" name="矩形 10"/>
          <p:cNvSpPr/>
          <p:nvPr/>
        </p:nvSpPr>
        <p:spPr>
          <a:xfrm>
            <a:off x="970274" y="2981156"/>
            <a:ext cx="65753" cy="461665"/>
          </a:xfrm>
          <a:prstGeom prst="rect">
            <a:avLst/>
          </a:prstGeom>
          <a:gradFill>
            <a:gsLst>
              <a:gs pos="50000">
                <a:srgbClr val="1F5FBF"/>
              </a:gs>
              <a:gs pos="0">
                <a:srgbClr val="1486CB"/>
              </a:gs>
              <a:gs pos="100000">
                <a:srgbClr val="2A34B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sp>
        <p:nvSpPr>
          <p:cNvPr id="13" name="文本框 12"/>
          <p:cNvSpPr txBox="1"/>
          <p:nvPr/>
        </p:nvSpPr>
        <p:spPr>
          <a:xfrm>
            <a:off x="378925" y="3443165"/>
            <a:ext cx="1257300" cy="460375"/>
          </a:xfrm>
          <a:prstGeom prst="rect">
            <a:avLst/>
          </a:prstGeom>
          <a:noFill/>
        </p:spPr>
        <p:txBody>
          <a:bodyPr wrap="square">
            <a:spAutoFit/>
          </a:bodyPr>
          <a:lstStyle/>
          <a:p>
            <a:pPr algn="ctr"/>
            <a:r>
              <a:rPr lang="en-US" sz="1200" b="1">
                <a:solidFill>
                  <a:schemeClr val="accent1">
                    <a:lumMod val="40000"/>
                    <a:lumOff val="60000"/>
                  </a:schemeClr>
                </a:solidFill>
                <a:latin typeface="Arial" panose="020B0604020202020204"/>
                <a:ea typeface="Arial" panose="020B0604020202020204"/>
                <a:cs typeface="Arial" panose="020B0604020202020204"/>
                <a:sym typeface="Arial" panose="020B0604020202020204"/>
              </a:rPr>
              <a:t>Nanjing Cooling</a:t>
            </a:r>
            <a:endParaRPr lang="zh-CN" altLang="en-US" sz="1200" b="1" dirty="0">
              <a:solidFill>
                <a:schemeClr val="accent1">
                  <a:lumMod val="60000"/>
                  <a:lumOff val="40000"/>
                </a:schemeClr>
              </a:solidFill>
              <a:latin typeface="华文楷体" panose="02010600040101010101" pitchFamily="2" charset="-122"/>
              <a:ea typeface="华文楷体" panose="02010600040101010101" pitchFamily="2" charset="-122"/>
              <a:sym typeface="+mn-ea"/>
            </a:endParaRPr>
          </a:p>
        </p:txBody>
      </p:sp>
      <p:sp>
        <p:nvSpPr>
          <p:cNvPr id="16" name="文本框 15"/>
          <p:cNvSpPr txBox="1"/>
          <p:nvPr/>
        </p:nvSpPr>
        <p:spPr>
          <a:xfrm>
            <a:off x="246973" y="4082588"/>
            <a:ext cx="1576567" cy="645160"/>
          </a:xfrm>
          <a:prstGeom prst="rect">
            <a:avLst/>
          </a:prstGeom>
          <a:noFill/>
        </p:spPr>
        <p:txBody>
          <a:bodyPr wrap="square" rtlCol="0">
            <a:spAutoFit/>
          </a:bodyPr>
          <a:lstStyle/>
          <a:p>
            <a:pPr algn="ctr">
              <a:lnSpc>
                <a:spcPct val="150000"/>
              </a:lnSpc>
            </a:pPr>
            <a:r>
              <a:rPr lang="zh-CN" altLang="en-US" sz="1200" b="1" dirty="0">
                <a:solidFill>
                  <a:schemeClr val="accent1">
                    <a:lumMod val="50000"/>
                  </a:schemeClr>
                </a:solidFill>
                <a:latin typeface="微软雅黑" panose="020B0503020204020204" charset="-122"/>
                <a:ea typeface="微软雅黑" panose="020B0503020204020204" charset="-122"/>
              </a:rPr>
              <a:t>酷灵热管理</a:t>
            </a:r>
            <a:endParaRPr lang="en-US" altLang="zh-CN" sz="1200" b="1" dirty="0">
              <a:solidFill>
                <a:schemeClr val="accent1">
                  <a:lumMod val="50000"/>
                </a:schemeClr>
              </a:solidFill>
              <a:latin typeface="微软雅黑" panose="020B0503020204020204" charset="-122"/>
              <a:ea typeface="微软雅黑" panose="020B0503020204020204" charset="-122"/>
            </a:endParaRPr>
          </a:p>
          <a:p>
            <a:pPr algn="ctr">
              <a:lnSpc>
                <a:spcPct val="150000"/>
              </a:lnSpc>
            </a:pPr>
            <a:r>
              <a:rPr lang="zh-CN" altLang="en-US" sz="1200" b="1" dirty="0">
                <a:solidFill>
                  <a:schemeClr val="accent1">
                    <a:lumMod val="50000"/>
                  </a:schemeClr>
                </a:solidFill>
                <a:latin typeface="微软雅黑" panose="020B0503020204020204" charset="-122"/>
                <a:ea typeface="微软雅黑" panose="020B0503020204020204" charset="-122"/>
              </a:rPr>
              <a:t>为机器人持久赋能</a:t>
            </a:r>
          </a:p>
        </p:txBody>
      </p:sp>
      <p:sp>
        <p:nvSpPr>
          <p:cNvPr id="18" name="文本框 17"/>
          <p:cNvSpPr txBox="1"/>
          <p:nvPr/>
        </p:nvSpPr>
        <p:spPr>
          <a:xfrm>
            <a:off x="192405" y="4820285"/>
            <a:ext cx="1814830" cy="614045"/>
          </a:xfrm>
          <a:prstGeom prst="rect">
            <a:avLst/>
          </a:prstGeom>
          <a:noFill/>
        </p:spPr>
        <p:txBody>
          <a:bodyPr wrap="square">
            <a:spAutoFit/>
          </a:bodyPr>
          <a:lstStyle/>
          <a:p>
            <a:pPr algn="ctr"/>
            <a:endParaRPr lang="zh-CN" altLang="en-US" sz="2000" b="1" dirty="0">
              <a:solidFill>
                <a:schemeClr val="accent1">
                  <a:lumMod val="50000"/>
                </a:schemeClr>
              </a:solidFill>
              <a:latin typeface="华文楷体" panose="02010600040101010101" pitchFamily="2" charset="-122"/>
              <a:ea typeface="华文楷体" panose="02010600040101010101" pitchFamily="2" charset="-122"/>
            </a:endParaRPr>
          </a:p>
          <a:p>
            <a:pPr algn="ctr"/>
            <a:r>
              <a:rPr lang="zh-CN" altLang="en-US" sz="1400" b="1" dirty="0">
                <a:solidFill>
                  <a:schemeClr val="accent1">
                    <a:lumMod val="60000"/>
                    <a:lumOff val="40000"/>
                  </a:schemeClr>
                </a:solidFill>
                <a:latin typeface="华文楷体" panose="02010600040101010101" pitchFamily="2" charset="-122"/>
                <a:ea typeface="华文楷体" panose="02010600040101010101" pitchFamily="2" charset="-122"/>
              </a:rPr>
              <a:t>解决方案与产品矩阵</a:t>
            </a:r>
          </a:p>
        </p:txBody>
      </p:sp>
      <p:sp>
        <p:nvSpPr>
          <p:cNvPr id="19" name="矩形 18"/>
          <p:cNvSpPr/>
          <p:nvPr/>
        </p:nvSpPr>
        <p:spPr>
          <a:xfrm>
            <a:off x="970222" y="5434594"/>
            <a:ext cx="65753" cy="461665"/>
          </a:xfrm>
          <a:prstGeom prst="rect">
            <a:avLst/>
          </a:prstGeom>
          <a:gradFill>
            <a:gsLst>
              <a:gs pos="50000">
                <a:srgbClr val="1F5FBF"/>
              </a:gs>
              <a:gs pos="0">
                <a:srgbClr val="1486CB"/>
              </a:gs>
              <a:gs pos="100000">
                <a:srgbClr val="2A34B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6"/>
          <p:cNvPicPr>
            <a:picLocks noChangeAspect="1"/>
          </p:cNvPicPr>
          <p:nvPr/>
        </p:nvPicPr>
        <p:blipFill>
          <a:blip r:embed="rId2"/>
          <a:stretch>
            <a:fillRect/>
          </a:stretch>
        </p:blipFill>
        <p:spPr>
          <a:xfrm rot="21600000">
            <a:off x="0" y="6576693"/>
            <a:ext cx="12192000" cy="271779"/>
          </a:xfrm>
          <a:prstGeom prst="rect">
            <a:avLst/>
          </a:prstGeom>
        </p:spPr>
      </p:pic>
      <p:sp>
        <p:nvSpPr>
          <p:cNvPr id="70" name="textbox 70"/>
          <p:cNvSpPr/>
          <p:nvPr/>
        </p:nvSpPr>
        <p:spPr>
          <a:xfrm>
            <a:off x="1636628" y="455178"/>
            <a:ext cx="2599689" cy="507365"/>
          </a:xfrm>
          <a:prstGeom prst="rect">
            <a:avLst/>
          </a:prstGeom>
          <a:noFill/>
          <a:ln w="0" cap="flat">
            <a:noFill/>
            <a:prstDash val="solid"/>
            <a:miter lim="0"/>
          </a:ln>
        </p:spPr>
        <p:txBody>
          <a:bodyPr vert="horz" wrap="square" lIns="0" tIns="0" rIns="0" bIns="0"/>
          <a:lstStyle/>
          <a:p>
            <a:pPr algn="l" rtl="0" eaLnBrk="0">
              <a:lnSpc>
                <a:spcPct val="93000"/>
              </a:lnSpc>
            </a:pPr>
            <a:endParaRPr sz="1000" dirty="0">
              <a:latin typeface="微软雅黑" panose="020B0503020204020204" charset="-122"/>
              <a:ea typeface="微软雅黑" panose="020B0503020204020204" charset="-122"/>
              <a:cs typeface="微软雅黑" panose="020B0503020204020204" charset="-122"/>
            </a:endParaRPr>
          </a:p>
        </p:txBody>
      </p:sp>
      <p:sp>
        <p:nvSpPr>
          <p:cNvPr id="74" name="path 74"/>
          <p:cNvSpPr/>
          <p:nvPr/>
        </p:nvSpPr>
        <p:spPr>
          <a:xfrm>
            <a:off x="348614" y="354965"/>
            <a:ext cx="540385" cy="137794"/>
          </a:xfrm>
          <a:custGeom>
            <a:avLst/>
            <a:gdLst/>
            <a:ahLst/>
            <a:cxnLst/>
            <a:rect l="0" t="0" r="0" b="0"/>
            <a:pathLst>
              <a:path w="851" h="216">
                <a:moveTo>
                  <a:pt x="0" y="216"/>
                </a:moveTo>
                <a:lnTo>
                  <a:pt x="217" y="216"/>
                </a:lnTo>
                <a:lnTo>
                  <a:pt x="217" y="0"/>
                </a:lnTo>
                <a:lnTo>
                  <a:pt x="0" y="0"/>
                </a:lnTo>
                <a:lnTo>
                  <a:pt x="0" y="216"/>
                </a:lnTo>
                <a:close/>
              </a:path>
              <a:path w="851" h="216">
                <a:moveTo>
                  <a:pt x="317" y="216"/>
                </a:moveTo>
                <a:lnTo>
                  <a:pt x="534" y="216"/>
                </a:lnTo>
                <a:lnTo>
                  <a:pt x="534" y="0"/>
                </a:lnTo>
                <a:lnTo>
                  <a:pt x="317" y="0"/>
                </a:lnTo>
                <a:lnTo>
                  <a:pt x="317" y="216"/>
                </a:lnTo>
                <a:close/>
              </a:path>
              <a:path w="851" h="216">
                <a:moveTo>
                  <a:pt x="633" y="216"/>
                </a:moveTo>
                <a:lnTo>
                  <a:pt x="851" y="216"/>
                </a:lnTo>
                <a:lnTo>
                  <a:pt x="851" y="0"/>
                </a:lnTo>
                <a:lnTo>
                  <a:pt x="633" y="0"/>
                </a:lnTo>
                <a:lnTo>
                  <a:pt x="633"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2" name="path 82"/>
          <p:cNvSpPr/>
          <p:nvPr/>
        </p:nvSpPr>
        <p:spPr>
          <a:xfrm>
            <a:off x="348614" y="567054"/>
            <a:ext cx="339090" cy="349885"/>
          </a:xfrm>
          <a:custGeom>
            <a:avLst/>
            <a:gdLst/>
            <a:ahLst/>
            <a:cxnLst/>
            <a:rect l="0" t="0" r="0" b="0"/>
            <a:pathLst>
              <a:path w="534" h="551">
                <a:moveTo>
                  <a:pt x="0" y="217"/>
                </a:moveTo>
                <a:lnTo>
                  <a:pt x="217" y="217"/>
                </a:lnTo>
                <a:lnTo>
                  <a:pt x="217" y="0"/>
                </a:lnTo>
                <a:lnTo>
                  <a:pt x="0" y="0"/>
                </a:lnTo>
                <a:lnTo>
                  <a:pt x="0" y="217"/>
                </a:lnTo>
                <a:close/>
              </a:path>
              <a:path w="534" h="551">
                <a:moveTo>
                  <a:pt x="317" y="217"/>
                </a:moveTo>
                <a:lnTo>
                  <a:pt x="534" y="217"/>
                </a:lnTo>
                <a:lnTo>
                  <a:pt x="534" y="0"/>
                </a:lnTo>
                <a:lnTo>
                  <a:pt x="317" y="0"/>
                </a:lnTo>
                <a:lnTo>
                  <a:pt x="317" y="217"/>
                </a:lnTo>
                <a:close/>
              </a:path>
              <a:path w="534" h="551">
                <a:moveTo>
                  <a:pt x="0" y="551"/>
                </a:moveTo>
                <a:lnTo>
                  <a:pt x="217" y="551"/>
                </a:lnTo>
                <a:lnTo>
                  <a:pt x="217" y="334"/>
                </a:lnTo>
                <a:lnTo>
                  <a:pt x="0" y="334"/>
                </a:lnTo>
                <a:lnTo>
                  <a:pt x="0" y="551"/>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4" name="path 84"/>
          <p:cNvSpPr/>
          <p:nvPr/>
        </p:nvSpPr>
        <p:spPr>
          <a:xfrm>
            <a:off x="348614" y="142875"/>
            <a:ext cx="741680" cy="137794"/>
          </a:xfrm>
          <a:custGeom>
            <a:avLst/>
            <a:gdLst/>
            <a:ahLst/>
            <a:cxnLst/>
            <a:rect l="0" t="0" r="0" b="0"/>
            <a:pathLst>
              <a:path w="1168" h="216">
                <a:moveTo>
                  <a:pt x="0" y="216"/>
                </a:moveTo>
                <a:lnTo>
                  <a:pt x="217" y="216"/>
                </a:lnTo>
                <a:lnTo>
                  <a:pt x="217" y="0"/>
                </a:lnTo>
                <a:lnTo>
                  <a:pt x="0" y="0"/>
                </a:lnTo>
                <a:lnTo>
                  <a:pt x="0" y="216"/>
                </a:lnTo>
                <a:close/>
              </a:path>
              <a:path w="1168" h="216">
                <a:moveTo>
                  <a:pt x="317" y="216"/>
                </a:moveTo>
                <a:lnTo>
                  <a:pt x="534" y="216"/>
                </a:lnTo>
                <a:lnTo>
                  <a:pt x="534" y="0"/>
                </a:lnTo>
                <a:lnTo>
                  <a:pt x="317" y="0"/>
                </a:lnTo>
                <a:lnTo>
                  <a:pt x="317" y="216"/>
                </a:lnTo>
                <a:close/>
              </a:path>
              <a:path w="1168" h="216">
                <a:moveTo>
                  <a:pt x="633" y="216"/>
                </a:moveTo>
                <a:lnTo>
                  <a:pt x="851" y="216"/>
                </a:lnTo>
                <a:lnTo>
                  <a:pt x="851" y="0"/>
                </a:lnTo>
                <a:lnTo>
                  <a:pt x="633" y="0"/>
                </a:lnTo>
                <a:lnTo>
                  <a:pt x="633" y="216"/>
                </a:lnTo>
                <a:close/>
              </a:path>
              <a:path w="1168" h="216">
                <a:moveTo>
                  <a:pt x="951" y="216"/>
                </a:moveTo>
                <a:lnTo>
                  <a:pt x="1168" y="216"/>
                </a:lnTo>
                <a:lnTo>
                  <a:pt x="1168" y="0"/>
                </a:lnTo>
                <a:lnTo>
                  <a:pt x="951" y="0"/>
                </a:lnTo>
                <a:lnTo>
                  <a:pt x="951"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6" name="path 86"/>
          <p:cNvSpPr/>
          <p:nvPr/>
        </p:nvSpPr>
        <p:spPr>
          <a:xfrm>
            <a:off x="688340" y="955040"/>
            <a:ext cx="10786745" cy="76200"/>
          </a:xfrm>
          <a:custGeom>
            <a:avLst/>
            <a:gdLst/>
            <a:ahLst/>
            <a:cxnLst/>
            <a:rect l="0" t="0" r="0" b="0"/>
            <a:pathLst>
              <a:path w="15485" h="10">
                <a:moveTo>
                  <a:pt x="0" y="5"/>
                </a:moveTo>
                <a:lnTo>
                  <a:pt x="15485" y="5"/>
                </a:lnTo>
              </a:path>
            </a:pathLst>
          </a:custGeom>
          <a:noFill/>
          <a:ln w="6350" cap="flat">
            <a:solidFill>
              <a:srgbClr val="D9D9D9"/>
            </a:solidFill>
            <a:prstDash val="solid"/>
            <a:miter lim="1000000"/>
          </a:ln>
        </p:spPr>
        <p:txBody>
          <a:bodyPr rtlCol="0"/>
          <a:lstStyle/>
          <a:p>
            <a:pPr algn="ctr"/>
            <a:endParaRPr lang="zh-CN" altLang="en-US"/>
          </a:p>
        </p:txBody>
      </p:sp>
      <p:sp>
        <p:nvSpPr>
          <p:cNvPr id="88" name="rect 88"/>
          <p:cNvSpPr/>
          <p:nvPr/>
        </p:nvSpPr>
        <p:spPr>
          <a:xfrm>
            <a:off x="147320" y="56705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0" name="rect 90"/>
          <p:cNvSpPr/>
          <p:nvPr/>
        </p:nvSpPr>
        <p:spPr>
          <a:xfrm>
            <a:off x="147320" y="779145"/>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2" name="rect 92"/>
          <p:cNvSpPr/>
          <p:nvPr/>
        </p:nvSpPr>
        <p:spPr>
          <a:xfrm>
            <a:off x="147320" y="99123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4" name="rect 94"/>
          <p:cNvSpPr/>
          <p:nvPr/>
        </p:nvSpPr>
        <p:spPr>
          <a:xfrm>
            <a:off x="147320" y="14287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6" name="rect 96"/>
          <p:cNvSpPr/>
          <p:nvPr/>
        </p:nvSpPr>
        <p:spPr>
          <a:xfrm>
            <a:off x="147320" y="35496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pic>
        <p:nvPicPr>
          <p:cNvPr id="2" name="图片 1"/>
          <p:cNvPicPr>
            <a:picLocks noChangeAspect="1"/>
          </p:cNvPicPr>
          <p:nvPr/>
        </p:nvPicPr>
        <p:blipFill>
          <a:blip r:embed="rId3"/>
          <a:stretch>
            <a:fillRect/>
          </a:stretch>
        </p:blipFill>
        <p:spPr>
          <a:xfrm>
            <a:off x="10428563" y="68429"/>
            <a:ext cx="1354271" cy="781170"/>
          </a:xfrm>
          <a:prstGeom prst="rect">
            <a:avLst/>
          </a:prstGeom>
        </p:spPr>
      </p:pic>
      <p:sp>
        <p:nvSpPr>
          <p:cNvPr id="3" name="textbox 60"/>
          <p:cNvSpPr/>
          <p:nvPr/>
        </p:nvSpPr>
        <p:spPr>
          <a:xfrm>
            <a:off x="688022" y="3017728"/>
            <a:ext cx="10637203" cy="3795845"/>
          </a:xfrm>
          <a:prstGeom prst="rect">
            <a:avLst/>
          </a:prstGeom>
          <a:noFill/>
          <a:ln w="0" cap="flat">
            <a:noFill/>
            <a:prstDash val="solid"/>
            <a:miter lim="0"/>
          </a:ln>
        </p:spPr>
        <p:txBody>
          <a:bodyPr vert="horz" wrap="square" lIns="0" tIns="0" rIns="0" bIns="0"/>
          <a:lstStyle/>
          <a:p>
            <a:pPr algn="l" rtl="0" eaLnBrk="0">
              <a:lnSpc>
                <a:spcPct val="150000"/>
              </a:lnSpc>
            </a:pPr>
            <a:endParaRPr sz="100" dirty="0">
              <a:latin typeface="Arial" panose="020B0604020202020204"/>
              <a:ea typeface="Arial" panose="020B0604020202020204"/>
              <a:cs typeface="Arial" panose="020B0604020202020204"/>
            </a:endParaRPr>
          </a:p>
          <a:p>
            <a:pPr marL="17145" algn="l" rtl="0" eaLnBrk="0">
              <a:lnSpc>
                <a:spcPct val="150000"/>
              </a:lnSpc>
              <a:spcBef>
                <a:spcPts val="600"/>
              </a:spcBef>
              <a:spcAft>
                <a:spcPts val="600"/>
              </a:spcAft>
            </a:pPr>
            <a:endParaRPr lang="zh-CN" altLang="en-US" kern="0" spc="90" dirty="0">
              <a:solidFill>
                <a:srgbClr val="595959">
                  <a:alpha val="100000"/>
                </a:srgbClr>
              </a:solidFill>
              <a:latin typeface="微软雅黑" panose="020B0503020204020204" charset="-122"/>
              <a:ea typeface="微软雅黑" panose="020B0503020204020204" charset="-122"/>
              <a:cs typeface="微软雅黑" panose="020B0503020204020204" charset="-122"/>
            </a:endParaRPr>
          </a:p>
        </p:txBody>
      </p:sp>
      <p:sp>
        <p:nvSpPr>
          <p:cNvPr id="6" name="矩形 5"/>
          <p:cNvSpPr/>
          <p:nvPr/>
        </p:nvSpPr>
        <p:spPr>
          <a:xfrm>
            <a:off x="890270" y="354965"/>
            <a:ext cx="746125" cy="387985"/>
          </a:xfrm>
          <a:prstGeom prst="rect">
            <a:avLst/>
          </a:prstGeom>
          <a:noFill/>
          <a:ln>
            <a:noFill/>
          </a:ln>
        </p:spPr>
        <p:txBody>
          <a:bodyPr wrap="none" rtlCol="0" anchor="t">
            <a:noAutofit/>
          </a:bodyPr>
          <a:lstStyle/>
          <a:p>
            <a:pPr algn="ctr"/>
            <a:endParaRPr lang="en-US" altLang="zh-CN" sz="4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8" name="文本框 7"/>
          <p:cNvSpPr txBox="1"/>
          <p:nvPr/>
        </p:nvSpPr>
        <p:spPr>
          <a:xfrm>
            <a:off x="837565" y="433070"/>
            <a:ext cx="6797675" cy="521970"/>
          </a:xfrm>
          <a:prstGeom prst="rect">
            <a:avLst/>
          </a:prstGeom>
          <a:noFill/>
        </p:spPr>
        <p:txBody>
          <a:bodyPr wrap="square" rtlCol="0" anchor="t">
            <a:spAutoFit/>
          </a:bodyPr>
          <a:lstStyle/>
          <a:p>
            <a:r>
              <a:rPr lang="en-US" altLang="zh-CN" sz="2800" b="1" dirty="0">
                <a:solidFill>
                  <a:schemeClr val="accent1">
                    <a:lumMod val="75000"/>
                  </a:schemeClr>
                </a:solidFill>
                <a:effectLst/>
                <a:latin typeface="微软雅黑" panose="020B0503020204020204" charset="-122"/>
                <a:ea typeface="微软雅黑" panose="020B0503020204020204" charset="-122"/>
                <a:sym typeface="+mn-ea"/>
              </a:rPr>
              <a:t>ZS</a:t>
            </a:r>
            <a:r>
              <a:rPr lang="zh-CN" altLang="en-US" sz="2800" b="1" dirty="0">
                <a:solidFill>
                  <a:schemeClr val="accent1">
                    <a:lumMod val="75000"/>
                  </a:schemeClr>
                </a:solidFill>
                <a:effectLst/>
                <a:latin typeface="微软雅黑" panose="020B0503020204020204" charset="-122"/>
                <a:ea typeface="微软雅黑" panose="020B0503020204020204" charset="-122"/>
                <a:sym typeface="+mn-ea"/>
              </a:rPr>
              <a:t>液冷散热关节模组</a:t>
            </a:r>
          </a:p>
        </p:txBody>
      </p:sp>
      <p:sp>
        <p:nvSpPr>
          <p:cNvPr id="72" name="path 72"/>
          <p:cNvSpPr/>
          <p:nvPr/>
        </p:nvSpPr>
        <p:spPr>
          <a:xfrm>
            <a:off x="11398249" y="6043294"/>
            <a:ext cx="741679" cy="774064"/>
          </a:xfrm>
          <a:custGeom>
            <a:avLst/>
            <a:gdLst/>
            <a:ahLst/>
            <a:cxnLst/>
            <a:rect l="0" t="0" r="0" b="0"/>
            <a:pathLst>
              <a:path w="1167" h="1218">
                <a:moveTo>
                  <a:pt x="950" y="1218"/>
                </a:moveTo>
                <a:lnTo>
                  <a:pt x="1167" y="1218"/>
                </a:lnTo>
                <a:lnTo>
                  <a:pt x="1167" y="1001"/>
                </a:lnTo>
                <a:lnTo>
                  <a:pt x="950" y="1001"/>
                </a:lnTo>
                <a:lnTo>
                  <a:pt x="950" y="1218"/>
                </a:lnTo>
                <a:close/>
              </a:path>
              <a:path w="1167" h="1218">
                <a:moveTo>
                  <a:pt x="634" y="1218"/>
                </a:moveTo>
                <a:lnTo>
                  <a:pt x="850" y="1218"/>
                </a:lnTo>
                <a:lnTo>
                  <a:pt x="850" y="1001"/>
                </a:lnTo>
                <a:lnTo>
                  <a:pt x="634" y="1001"/>
                </a:lnTo>
                <a:lnTo>
                  <a:pt x="634" y="1218"/>
                </a:lnTo>
                <a:close/>
              </a:path>
              <a:path w="1167" h="1218">
                <a:moveTo>
                  <a:pt x="317" y="1218"/>
                </a:moveTo>
                <a:lnTo>
                  <a:pt x="534" y="1218"/>
                </a:lnTo>
                <a:lnTo>
                  <a:pt x="534" y="1001"/>
                </a:lnTo>
                <a:lnTo>
                  <a:pt x="317" y="1001"/>
                </a:lnTo>
                <a:lnTo>
                  <a:pt x="317" y="1218"/>
                </a:lnTo>
                <a:close/>
              </a:path>
              <a:path w="1167" h="1218">
                <a:moveTo>
                  <a:pt x="0" y="1218"/>
                </a:moveTo>
                <a:lnTo>
                  <a:pt x="216" y="1218"/>
                </a:lnTo>
                <a:lnTo>
                  <a:pt x="216" y="1001"/>
                </a:lnTo>
                <a:lnTo>
                  <a:pt x="0" y="1001"/>
                </a:lnTo>
                <a:lnTo>
                  <a:pt x="0" y="1218"/>
                </a:lnTo>
                <a:close/>
              </a:path>
              <a:path w="1167" h="1218">
                <a:moveTo>
                  <a:pt x="950" y="884"/>
                </a:moveTo>
                <a:lnTo>
                  <a:pt x="1167" y="884"/>
                </a:lnTo>
                <a:lnTo>
                  <a:pt x="1167" y="667"/>
                </a:lnTo>
                <a:lnTo>
                  <a:pt x="950" y="667"/>
                </a:lnTo>
                <a:lnTo>
                  <a:pt x="950" y="884"/>
                </a:lnTo>
                <a:close/>
              </a:path>
              <a:path w="1167" h="1218">
                <a:moveTo>
                  <a:pt x="634" y="884"/>
                </a:moveTo>
                <a:lnTo>
                  <a:pt x="850" y="884"/>
                </a:lnTo>
                <a:lnTo>
                  <a:pt x="850" y="667"/>
                </a:lnTo>
                <a:lnTo>
                  <a:pt x="634" y="667"/>
                </a:lnTo>
                <a:lnTo>
                  <a:pt x="634" y="884"/>
                </a:lnTo>
                <a:close/>
              </a:path>
              <a:path w="1167" h="1218">
                <a:moveTo>
                  <a:pt x="317" y="884"/>
                </a:moveTo>
                <a:lnTo>
                  <a:pt x="534" y="884"/>
                </a:lnTo>
                <a:lnTo>
                  <a:pt x="534" y="667"/>
                </a:lnTo>
                <a:lnTo>
                  <a:pt x="317" y="667"/>
                </a:lnTo>
                <a:lnTo>
                  <a:pt x="317" y="884"/>
                </a:lnTo>
                <a:close/>
              </a:path>
              <a:path w="1167" h="1218">
                <a:moveTo>
                  <a:pt x="950" y="550"/>
                </a:moveTo>
                <a:lnTo>
                  <a:pt x="1167" y="550"/>
                </a:lnTo>
                <a:lnTo>
                  <a:pt x="1167" y="333"/>
                </a:lnTo>
                <a:lnTo>
                  <a:pt x="950" y="333"/>
                </a:lnTo>
                <a:lnTo>
                  <a:pt x="950" y="550"/>
                </a:lnTo>
                <a:close/>
              </a:path>
              <a:path w="1167" h="1218">
                <a:moveTo>
                  <a:pt x="634" y="550"/>
                </a:moveTo>
                <a:lnTo>
                  <a:pt x="850" y="550"/>
                </a:lnTo>
                <a:lnTo>
                  <a:pt x="850" y="333"/>
                </a:lnTo>
                <a:lnTo>
                  <a:pt x="634" y="333"/>
                </a:lnTo>
                <a:lnTo>
                  <a:pt x="634" y="550"/>
                </a:lnTo>
                <a:close/>
              </a:path>
              <a:path w="1167" h="1218">
                <a:moveTo>
                  <a:pt x="950" y="216"/>
                </a:moveTo>
                <a:lnTo>
                  <a:pt x="1167" y="216"/>
                </a:lnTo>
                <a:lnTo>
                  <a:pt x="1167" y="0"/>
                </a:lnTo>
                <a:lnTo>
                  <a:pt x="950" y="0"/>
                </a:lnTo>
                <a:lnTo>
                  <a:pt x="950"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5" name="文本框 4"/>
          <p:cNvSpPr txBox="1"/>
          <p:nvPr/>
        </p:nvSpPr>
        <p:spPr>
          <a:xfrm>
            <a:off x="1677035" y="1216660"/>
            <a:ext cx="9797415" cy="1198880"/>
          </a:xfrm>
          <a:prstGeom prst="rect">
            <a:avLst/>
          </a:prstGeom>
          <a:noFill/>
        </p:spPr>
        <p:txBody>
          <a:bodyPr wrap="square" rtlCol="0" anchor="t">
            <a:spAutoFit/>
          </a:bodyPr>
          <a:lstStyle/>
          <a:p>
            <a:r>
              <a:rPr lang="zh-CN" altLang="en-US"/>
              <a:t>在设定</a:t>
            </a:r>
            <a:r>
              <a:rPr lang="en-US" altLang="zh-CN"/>
              <a:t>145r/min</a:t>
            </a:r>
            <a:r>
              <a:rPr lang="zh-CN" altLang="en-US"/>
              <a:t>转速下</a:t>
            </a:r>
            <a:r>
              <a:rPr lang="en-US" altLang="zh-CN"/>
              <a:t>:</a:t>
            </a:r>
            <a:r>
              <a:rPr lang="zh-CN" altLang="en-US"/>
              <a:t>扭矩</a:t>
            </a:r>
            <a:r>
              <a:rPr lang="en-US" altLang="zh-CN"/>
              <a:t>43N*m</a:t>
            </a:r>
            <a:r>
              <a:rPr lang="zh-CN" altLang="en-US"/>
              <a:t>时，液冷散热下绕组温度较基础方案降低</a:t>
            </a:r>
            <a:r>
              <a:rPr lang="en-US" altLang="zh-CN"/>
              <a:t>16.0</a:t>
            </a:r>
            <a:r>
              <a:rPr lang="en-US" altLang="en-US"/>
              <a:t>°</a:t>
            </a:r>
            <a:r>
              <a:rPr lang="en-US" altLang="zh-CN"/>
              <a:t>C</a:t>
            </a:r>
            <a:r>
              <a:rPr lang="zh-CN" altLang="en-US"/>
              <a:t>，降低程度</a:t>
            </a:r>
            <a:r>
              <a:rPr lang="en-US" altLang="zh-CN"/>
              <a:t>16.1%</a:t>
            </a:r>
            <a:r>
              <a:rPr lang="zh-CN" altLang="en-US"/>
              <a:t>，外壳温度较基础方案降低</a:t>
            </a:r>
            <a:r>
              <a:rPr lang="en-US" altLang="zh-CN"/>
              <a:t>14.9</a:t>
            </a:r>
            <a:r>
              <a:rPr lang="en-US" altLang="en-US"/>
              <a:t>°</a:t>
            </a:r>
            <a:r>
              <a:rPr lang="en-US" altLang="zh-CN"/>
              <a:t>C</a:t>
            </a:r>
            <a:r>
              <a:rPr lang="zh-CN" altLang="en-US"/>
              <a:t>，降低程度</a:t>
            </a:r>
            <a:r>
              <a:rPr lang="en-US" altLang="zh-CN"/>
              <a:t>19.7%</a:t>
            </a:r>
            <a:r>
              <a:rPr lang="zh-CN" altLang="en-US"/>
              <a:t>，电机运转时间显著增长，基础方案电机仅能持续运转</a:t>
            </a:r>
            <a:r>
              <a:rPr lang="en-US" altLang="zh-CN"/>
              <a:t>8min</a:t>
            </a:r>
            <a:r>
              <a:rPr lang="zh-CN" altLang="en-US"/>
              <a:t>，而液冷散热方案电机持续运转时间达</a:t>
            </a:r>
            <a:r>
              <a:rPr lang="en-US" altLang="zh-CN"/>
              <a:t>34min</a:t>
            </a:r>
            <a:r>
              <a:rPr lang="zh-CN" altLang="en-US"/>
              <a:t>，运转时间的提升率高达</a:t>
            </a:r>
            <a:r>
              <a:rPr lang="en-US" altLang="zh-CN"/>
              <a:t>325.0%.</a:t>
            </a:r>
          </a:p>
        </p:txBody>
      </p:sp>
      <p:pic>
        <p:nvPicPr>
          <p:cNvPr id="4" name="图片 3"/>
          <p:cNvPicPr>
            <a:picLocks noChangeAspect="1"/>
          </p:cNvPicPr>
          <p:nvPr/>
        </p:nvPicPr>
        <p:blipFill>
          <a:blip r:embed="rId4"/>
          <a:stretch>
            <a:fillRect/>
          </a:stretch>
        </p:blipFill>
        <p:spPr>
          <a:xfrm>
            <a:off x="1636395" y="2458085"/>
            <a:ext cx="2732405" cy="3794125"/>
          </a:xfrm>
          <a:prstGeom prst="rect">
            <a:avLst/>
          </a:prstGeom>
        </p:spPr>
      </p:pic>
      <p:pic>
        <p:nvPicPr>
          <p:cNvPr id="11" name="图片 10"/>
          <p:cNvPicPr>
            <a:picLocks noChangeAspect="1"/>
          </p:cNvPicPr>
          <p:nvPr/>
        </p:nvPicPr>
        <p:blipFill>
          <a:blip r:embed="rId5"/>
          <a:stretch>
            <a:fillRect/>
          </a:stretch>
        </p:blipFill>
        <p:spPr>
          <a:xfrm>
            <a:off x="4429760" y="2415540"/>
            <a:ext cx="3313430" cy="3836670"/>
          </a:xfrm>
          <a:prstGeom prst="rect">
            <a:avLst/>
          </a:prstGeom>
        </p:spPr>
      </p:pic>
      <p:pic>
        <p:nvPicPr>
          <p:cNvPr id="12" name="图片 11"/>
          <p:cNvPicPr>
            <a:picLocks noChangeAspect="1"/>
          </p:cNvPicPr>
          <p:nvPr/>
        </p:nvPicPr>
        <p:blipFill>
          <a:blip r:embed="rId6"/>
          <a:stretch>
            <a:fillRect/>
          </a:stretch>
        </p:blipFill>
        <p:spPr>
          <a:xfrm>
            <a:off x="7583170" y="2283460"/>
            <a:ext cx="3332480" cy="3981450"/>
          </a:xfrm>
          <a:prstGeom prst="rect">
            <a:avLst/>
          </a:prstGeom>
        </p:spPr>
      </p:pic>
      <p:sp>
        <p:nvSpPr>
          <p:cNvPr id="13" name="矩形 12"/>
          <p:cNvSpPr/>
          <p:nvPr/>
        </p:nvSpPr>
        <p:spPr>
          <a:xfrm>
            <a:off x="970274" y="2981156"/>
            <a:ext cx="65753" cy="461665"/>
          </a:xfrm>
          <a:prstGeom prst="rect">
            <a:avLst/>
          </a:prstGeom>
          <a:gradFill>
            <a:gsLst>
              <a:gs pos="50000">
                <a:srgbClr val="1F5FBF"/>
              </a:gs>
              <a:gs pos="0">
                <a:srgbClr val="1486CB"/>
              </a:gs>
              <a:gs pos="100000">
                <a:srgbClr val="2A34B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sp>
        <p:nvSpPr>
          <p:cNvPr id="14" name="文本框 13"/>
          <p:cNvSpPr txBox="1"/>
          <p:nvPr/>
        </p:nvSpPr>
        <p:spPr>
          <a:xfrm>
            <a:off x="378925" y="3443165"/>
            <a:ext cx="1257300" cy="460375"/>
          </a:xfrm>
          <a:prstGeom prst="rect">
            <a:avLst/>
          </a:prstGeom>
          <a:noFill/>
        </p:spPr>
        <p:txBody>
          <a:bodyPr wrap="square">
            <a:spAutoFit/>
          </a:bodyPr>
          <a:lstStyle/>
          <a:p>
            <a:pPr algn="ctr"/>
            <a:r>
              <a:rPr lang="en-US" sz="1200" b="1">
                <a:solidFill>
                  <a:schemeClr val="accent1">
                    <a:lumMod val="40000"/>
                    <a:lumOff val="60000"/>
                  </a:schemeClr>
                </a:solidFill>
                <a:latin typeface="Arial" panose="020B0604020202020204"/>
                <a:ea typeface="Arial" panose="020B0604020202020204"/>
                <a:cs typeface="Arial" panose="020B0604020202020204"/>
                <a:sym typeface="Arial" panose="020B0604020202020204"/>
              </a:rPr>
              <a:t>Nanjing Cooling</a:t>
            </a:r>
            <a:endParaRPr lang="zh-CN" altLang="en-US" sz="1200" b="1" dirty="0">
              <a:solidFill>
                <a:schemeClr val="accent1">
                  <a:lumMod val="60000"/>
                  <a:lumOff val="40000"/>
                </a:schemeClr>
              </a:solidFill>
              <a:latin typeface="华文楷体" panose="02010600040101010101" pitchFamily="2" charset="-122"/>
              <a:ea typeface="华文楷体" panose="02010600040101010101" pitchFamily="2" charset="-122"/>
              <a:sym typeface="+mn-ea"/>
            </a:endParaRPr>
          </a:p>
        </p:txBody>
      </p:sp>
      <p:sp>
        <p:nvSpPr>
          <p:cNvPr id="16" name="文本框 15"/>
          <p:cNvSpPr txBox="1"/>
          <p:nvPr/>
        </p:nvSpPr>
        <p:spPr>
          <a:xfrm>
            <a:off x="246973" y="4082588"/>
            <a:ext cx="1576567" cy="645160"/>
          </a:xfrm>
          <a:prstGeom prst="rect">
            <a:avLst/>
          </a:prstGeom>
          <a:noFill/>
        </p:spPr>
        <p:txBody>
          <a:bodyPr wrap="square" rtlCol="0">
            <a:spAutoFit/>
          </a:bodyPr>
          <a:lstStyle/>
          <a:p>
            <a:pPr algn="ctr">
              <a:lnSpc>
                <a:spcPct val="150000"/>
              </a:lnSpc>
            </a:pPr>
            <a:r>
              <a:rPr lang="zh-CN" altLang="en-US" sz="1200" b="1" dirty="0">
                <a:solidFill>
                  <a:schemeClr val="accent1">
                    <a:lumMod val="50000"/>
                  </a:schemeClr>
                </a:solidFill>
                <a:latin typeface="微软雅黑" panose="020B0503020204020204" charset="-122"/>
                <a:ea typeface="微软雅黑" panose="020B0503020204020204" charset="-122"/>
              </a:rPr>
              <a:t>酷灵热管理</a:t>
            </a:r>
            <a:endParaRPr lang="en-US" altLang="zh-CN" sz="1200" b="1" dirty="0">
              <a:solidFill>
                <a:schemeClr val="accent1">
                  <a:lumMod val="50000"/>
                </a:schemeClr>
              </a:solidFill>
              <a:latin typeface="微软雅黑" panose="020B0503020204020204" charset="-122"/>
              <a:ea typeface="微软雅黑" panose="020B0503020204020204" charset="-122"/>
            </a:endParaRPr>
          </a:p>
          <a:p>
            <a:pPr algn="ctr">
              <a:lnSpc>
                <a:spcPct val="150000"/>
              </a:lnSpc>
            </a:pPr>
            <a:r>
              <a:rPr lang="zh-CN" altLang="en-US" sz="1200" b="1" dirty="0">
                <a:solidFill>
                  <a:schemeClr val="accent1">
                    <a:lumMod val="50000"/>
                  </a:schemeClr>
                </a:solidFill>
                <a:latin typeface="微软雅黑" panose="020B0503020204020204" charset="-122"/>
                <a:ea typeface="微软雅黑" panose="020B0503020204020204" charset="-122"/>
              </a:rPr>
              <a:t>为机器人持久赋能</a:t>
            </a:r>
          </a:p>
        </p:txBody>
      </p:sp>
      <p:sp>
        <p:nvSpPr>
          <p:cNvPr id="18" name="文本框 17"/>
          <p:cNvSpPr txBox="1"/>
          <p:nvPr/>
        </p:nvSpPr>
        <p:spPr>
          <a:xfrm>
            <a:off x="192405" y="4820285"/>
            <a:ext cx="1814830" cy="614045"/>
          </a:xfrm>
          <a:prstGeom prst="rect">
            <a:avLst/>
          </a:prstGeom>
          <a:noFill/>
        </p:spPr>
        <p:txBody>
          <a:bodyPr wrap="square">
            <a:spAutoFit/>
          </a:bodyPr>
          <a:lstStyle/>
          <a:p>
            <a:pPr algn="ctr"/>
            <a:endParaRPr lang="zh-CN" altLang="en-US" sz="2000" b="1" dirty="0">
              <a:solidFill>
                <a:schemeClr val="accent1">
                  <a:lumMod val="50000"/>
                </a:schemeClr>
              </a:solidFill>
              <a:latin typeface="华文楷体" panose="02010600040101010101" pitchFamily="2" charset="-122"/>
              <a:ea typeface="华文楷体" panose="02010600040101010101" pitchFamily="2" charset="-122"/>
            </a:endParaRPr>
          </a:p>
          <a:p>
            <a:pPr algn="ctr"/>
            <a:r>
              <a:rPr lang="zh-CN" altLang="en-US" sz="1400" b="1" dirty="0">
                <a:solidFill>
                  <a:schemeClr val="accent1">
                    <a:lumMod val="60000"/>
                    <a:lumOff val="40000"/>
                  </a:schemeClr>
                </a:solidFill>
                <a:latin typeface="华文楷体" panose="02010600040101010101" pitchFamily="2" charset="-122"/>
                <a:ea typeface="华文楷体" panose="02010600040101010101" pitchFamily="2" charset="-122"/>
              </a:rPr>
              <a:t>解决方案与产品矩阵</a:t>
            </a:r>
          </a:p>
        </p:txBody>
      </p:sp>
      <p:sp>
        <p:nvSpPr>
          <p:cNvPr id="19" name="矩形 18"/>
          <p:cNvSpPr/>
          <p:nvPr/>
        </p:nvSpPr>
        <p:spPr>
          <a:xfrm>
            <a:off x="970222" y="5434594"/>
            <a:ext cx="65753" cy="461665"/>
          </a:xfrm>
          <a:prstGeom prst="rect">
            <a:avLst/>
          </a:prstGeom>
          <a:gradFill>
            <a:gsLst>
              <a:gs pos="50000">
                <a:srgbClr val="1F5FBF"/>
              </a:gs>
              <a:gs pos="0">
                <a:srgbClr val="1486CB"/>
              </a:gs>
              <a:gs pos="100000">
                <a:srgbClr val="2A34B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6"/>
          <p:cNvPicPr>
            <a:picLocks noChangeAspect="1"/>
          </p:cNvPicPr>
          <p:nvPr/>
        </p:nvPicPr>
        <p:blipFill>
          <a:blip r:embed="rId2"/>
          <a:stretch>
            <a:fillRect/>
          </a:stretch>
        </p:blipFill>
        <p:spPr>
          <a:xfrm rot="21600000">
            <a:off x="0" y="6576693"/>
            <a:ext cx="12192000" cy="271779"/>
          </a:xfrm>
          <a:prstGeom prst="rect">
            <a:avLst/>
          </a:prstGeom>
        </p:spPr>
      </p:pic>
      <p:sp>
        <p:nvSpPr>
          <p:cNvPr id="70" name="textbox 70"/>
          <p:cNvSpPr/>
          <p:nvPr/>
        </p:nvSpPr>
        <p:spPr>
          <a:xfrm>
            <a:off x="1636628" y="455178"/>
            <a:ext cx="2599689" cy="507365"/>
          </a:xfrm>
          <a:prstGeom prst="rect">
            <a:avLst/>
          </a:prstGeom>
          <a:noFill/>
          <a:ln w="0" cap="flat">
            <a:noFill/>
            <a:prstDash val="solid"/>
            <a:miter lim="0"/>
          </a:ln>
        </p:spPr>
        <p:txBody>
          <a:bodyPr vert="horz" wrap="square" lIns="0" tIns="0" rIns="0" bIns="0"/>
          <a:lstStyle/>
          <a:p>
            <a:pPr algn="l" rtl="0" eaLnBrk="0">
              <a:lnSpc>
                <a:spcPct val="93000"/>
              </a:lnSpc>
            </a:pPr>
            <a:endParaRPr sz="1000" dirty="0">
              <a:latin typeface="微软雅黑" panose="020B0503020204020204" charset="-122"/>
              <a:ea typeface="微软雅黑" panose="020B0503020204020204" charset="-122"/>
              <a:cs typeface="微软雅黑" panose="020B0503020204020204" charset="-122"/>
            </a:endParaRPr>
          </a:p>
        </p:txBody>
      </p:sp>
      <p:sp>
        <p:nvSpPr>
          <p:cNvPr id="74" name="path 74"/>
          <p:cNvSpPr/>
          <p:nvPr/>
        </p:nvSpPr>
        <p:spPr>
          <a:xfrm>
            <a:off x="348614" y="354965"/>
            <a:ext cx="540385" cy="137794"/>
          </a:xfrm>
          <a:custGeom>
            <a:avLst/>
            <a:gdLst/>
            <a:ahLst/>
            <a:cxnLst/>
            <a:rect l="0" t="0" r="0" b="0"/>
            <a:pathLst>
              <a:path w="851" h="216">
                <a:moveTo>
                  <a:pt x="0" y="216"/>
                </a:moveTo>
                <a:lnTo>
                  <a:pt x="217" y="216"/>
                </a:lnTo>
                <a:lnTo>
                  <a:pt x="217" y="0"/>
                </a:lnTo>
                <a:lnTo>
                  <a:pt x="0" y="0"/>
                </a:lnTo>
                <a:lnTo>
                  <a:pt x="0" y="216"/>
                </a:lnTo>
                <a:close/>
              </a:path>
              <a:path w="851" h="216">
                <a:moveTo>
                  <a:pt x="317" y="216"/>
                </a:moveTo>
                <a:lnTo>
                  <a:pt x="534" y="216"/>
                </a:lnTo>
                <a:lnTo>
                  <a:pt x="534" y="0"/>
                </a:lnTo>
                <a:lnTo>
                  <a:pt x="317" y="0"/>
                </a:lnTo>
                <a:lnTo>
                  <a:pt x="317" y="216"/>
                </a:lnTo>
                <a:close/>
              </a:path>
              <a:path w="851" h="216">
                <a:moveTo>
                  <a:pt x="633" y="216"/>
                </a:moveTo>
                <a:lnTo>
                  <a:pt x="851" y="216"/>
                </a:lnTo>
                <a:lnTo>
                  <a:pt x="851" y="0"/>
                </a:lnTo>
                <a:lnTo>
                  <a:pt x="633" y="0"/>
                </a:lnTo>
                <a:lnTo>
                  <a:pt x="633"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2" name="path 82"/>
          <p:cNvSpPr/>
          <p:nvPr/>
        </p:nvSpPr>
        <p:spPr>
          <a:xfrm>
            <a:off x="348614" y="567054"/>
            <a:ext cx="339090" cy="349885"/>
          </a:xfrm>
          <a:custGeom>
            <a:avLst/>
            <a:gdLst/>
            <a:ahLst/>
            <a:cxnLst/>
            <a:rect l="0" t="0" r="0" b="0"/>
            <a:pathLst>
              <a:path w="534" h="551">
                <a:moveTo>
                  <a:pt x="0" y="217"/>
                </a:moveTo>
                <a:lnTo>
                  <a:pt x="217" y="217"/>
                </a:lnTo>
                <a:lnTo>
                  <a:pt x="217" y="0"/>
                </a:lnTo>
                <a:lnTo>
                  <a:pt x="0" y="0"/>
                </a:lnTo>
                <a:lnTo>
                  <a:pt x="0" y="217"/>
                </a:lnTo>
                <a:close/>
              </a:path>
              <a:path w="534" h="551">
                <a:moveTo>
                  <a:pt x="317" y="217"/>
                </a:moveTo>
                <a:lnTo>
                  <a:pt x="534" y="217"/>
                </a:lnTo>
                <a:lnTo>
                  <a:pt x="534" y="0"/>
                </a:lnTo>
                <a:lnTo>
                  <a:pt x="317" y="0"/>
                </a:lnTo>
                <a:lnTo>
                  <a:pt x="317" y="217"/>
                </a:lnTo>
                <a:close/>
              </a:path>
              <a:path w="534" h="551">
                <a:moveTo>
                  <a:pt x="0" y="551"/>
                </a:moveTo>
                <a:lnTo>
                  <a:pt x="217" y="551"/>
                </a:lnTo>
                <a:lnTo>
                  <a:pt x="217" y="334"/>
                </a:lnTo>
                <a:lnTo>
                  <a:pt x="0" y="334"/>
                </a:lnTo>
                <a:lnTo>
                  <a:pt x="0" y="551"/>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4" name="path 84"/>
          <p:cNvSpPr/>
          <p:nvPr/>
        </p:nvSpPr>
        <p:spPr>
          <a:xfrm>
            <a:off x="348614" y="142875"/>
            <a:ext cx="741680" cy="137794"/>
          </a:xfrm>
          <a:custGeom>
            <a:avLst/>
            <a:gdLst/>
            <a:ahLst/>
            <a:cxnLst/>
            <a:rect l="0" t="0" r="0" b="0"/>
            <a:pathLst>
              <a:path w="1168" h="216">
                <a:moveTo>
                  <a:pt x="0" y="216"/>
                </a:moveTo>
                <a:lnTo>
                  <a:pt x="217" y="216"/>
                </a:lnTo>
                <a:lnTo>
                  <a:pt x="217" y="0"/>
                </a:lnTo>
                <a:lnTo>
                  <a:pt x="0" y="0"/>
                </a:lnTo>
                <a:lnTo>
                  <a:pt x="0" y="216"/>
                </a:lnTo>
                <a:close/>
              </a:path>
              <a:path w="1168" h="216">
                <a:moveTo>
                  <a:pt x="317" y="216"/>
                </a:moveTo>
                <a:lnTo>
                  <a:pt x="534" y="216"/>
                </a:lnTo>
                <a:lnTo>
                  <a:pt x="534" y="0"/>
                </a:lnTo>
                <a:lnTo>
                  <a:pt x="317" y="0"/>
                </a:lnTo>
                <a:lnTo>
                  <a:pt x="317" y="216"/>
                </a:lnTo>
                <a:close/>
              </a:path>
              <a:path w="1168" h="216">
                <a:moveTo>
                  <a:pt x="633" y="216"/>
                </a:moveTo>
                <a:lnTo>
                  <a:pt x="851" y="216"/>
                </a:lnTo>
                <a:lnTo>
                  <a:pt x="851" y="0"/>
                </a:lnTo>
                <a:lnTo>
                  <a:pt x="633" y="0"/>
                </a:lnTo>
                <a:lnTo>
                  <a:pt x="633" y="216"/>
                </a:lnTo>
                <a:close/>
              </a:path>
              <a:path w="1168" h="216">
                <a:moveTo>
                  <a:pt x="951" y="216"/>
                </a:moveTo>
                <a:lnTo>
                  <a:pt x="1168" y="216"/>
                </a:lnTo>
                <a:lnTo>
                  <a:pt x="1168" y="0"/>
                </a:lnTo>
                <a:lnTo>
                  <a:pt x="951" y="0"/>
                </a:lnTo>
                <a:lnTo>
                  <a:pt x="951"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6" name="path 86"/>
          <p:cNvSpPr/>
          <p:nvPr/>
        </p:nvSpPr>
        <p:spPr>
          <a:xfrm>
            <a:off x="688340" y="955040"/>
            <a:ext cx="10786745" cy="76200"/>
          </a:xfrm>
          <a:custGeom>
            <a:avLst/>
            <a:gdLst/>
            <a:ahLst/>
            <a:cxnLst/>
            <a:rect l="0" t="0" r="0" b="0"/>
            <a:pathLst>
              <a:path w="15485" h="10">
                <a:moveTo>
                  <a:pt x="0" y="5"/>
                </a:moveTo>
                <a:lnTo>
                  <a:pt x="15485" y="5"/>
                </a:lnTo>
              </a:path>
            </a:pathLst>
          </a:custGeom>
          <a:noFill/>
          <a:ln w="6350" cap="flat">
            <a:solidFill>
              <a:srgbClr val="D9D9D9"/>
            </a:solidFill>
            <a:prstDash val="solid"/>
            <a:miter lim="1000000"/>
          </a:ln>
        </p:spPr>
        <p:txBody>
          <a:bodyPr rtlCol="0"/>
          <a:lstStyle/>
          <a:p>
            <a:pPr algn="ctr"/>
            <a:endParaRPr lang="zh-CN" altLang="en-US"/>
          </a:p>
        </p:txBody>
      </p:sp>
      <p:sp>
        <p:nvSpPr>
          <p:cNvPr id="88" name="rect 88"/>
          <p:cNvSpPr/>
          <p:nvPr/>
        </p:nvSpPr>
        <p:spPr>
          <a:xfrm>
            <a:off x="147320" y="56705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0" name="rect 90"/>
          <p:cNvSpPr/>
          <p:nvPr/>
        </p:nvSpPr>
        <p:spPr>
          <a:xfrm>
            <a:off x="147320" y="779145"/>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2" name="rect 92"/>
          <p:cNvSpPr/>
          <p:nvPr/>
        </p:nvSpPr>
        <p:spPr>
          <a:xfrm>
            <a:off x="147320" y="99123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4" name="rect 94"/>
          <p:cNvSpPr/>
          <p:nvPr/>
        </p:nvSpPr>
        <p:spPr>
          <a:xfrm>
            <a:off x="147320" y="14287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6" name="rect 96"/>
          <p:cNvSpPr/>
          <p:nvPr/>
        </p:nvSpPr>
        <p:spPr>
          <a:xfrm>
            <a:off x="147320" y="35496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pic>
        <p:nvPicPr>
          <p:cNvPr id="2" name="图片 1"/>
          <p:cNvPicPr>
            <a:picLocks noChangeAspect="1"/>
          </p:cNvPicPr>
          <p:nvPr/>
        </p:nvPicPr>
        <p:blipFill>
          <a:blip r:embed="rId3"/>
          <a:stretch>
            <a:fillRect/>
          </a:stretch>
        </p:blipFill>
        <p:spPr>
          <a:xfrm>
            <a:off x="10428563" y="68429"/>
            <a:ext cx="1354271" cy="781170"/>
          </a:xfrm>
          <a:prstGeom prst="rect">
            <a:avLst/>
          </a:prstGeom>
        </p:spPr>
      </p:pic>
      <p:sp>
        <p:nvSpPr>
          <p:cNvPr id="3" name="textbox 60"/>
          <p:cNvSpPr/>
          <p:nvPr/>
        </p:nvSpPr>
        <p:spPr>
          <a:xfrm>
            <a:off x="688022" y="3017728"/>
            <a:ext cx="10637203" cy="3795845"/>
          </a:xfrm>
          <a:prstGeom prst="rect">
            <a:avLst/>
          </a:prstGeom>
          <a:noFill/>
          <a:ln w="0" cap="flat">
            <a:noFill/>
            <a:prstDash val="solid"/>
            <a:miter lim="0"/>
          </a:ln>
        </p:spPr>
        <p:txBody>
          <a:bodyPr vert="horz" wrap="square" lIns="0" tIns="0" rIns="0" bIns="0"/>
          <a:lstStyle/>
          <a:p>
            <a:pPr algn="l" rtl="0" eaLnBrk="0">
              <a:lnSpc>
                <a:spcPct val="150000"/>
              </a:lnSpc>
            </a:pPr>
            <a:endParaRPr sz="100" dirty="0">
              <a:latin typeface="Arial" panose="020B0604020202020204"/>
              <a:ea typeface="Arial" panose="020B0604020202020204"/>
              <a:cs typeface="Arial" panose="020B0604020202020204"/>
            </a:endParaRPr>
          </a:p>
          <a:p>
            <a:pPr marL="17145" algn="l" rtl="0" eaLnBrk="0">
              <a:lnSpc>
                <a:spcPct val="150000"/>
              </a:lnSpc>
              <a:spcBef>
                <a:spcPts val="600"/>
              </a:spcBef>
              <a:spcAft>
                <a:spcPts val="600"/>
              </a:spcAft>
            </a:pPr>
            <a:endParaRPr lang="zh-CN" altLang="en-US" kern="0" spc="90" dirty="0">
              <a:solidFill>
                <a:srgbClr val="595959">
                  <a:alpha val="100000"/>
                </a:srgbClr>
              </a:solidFill>
              <a:latin typeface="微软雅黑" panose="020B0503020204020204" charset="-122"/>
              <a:ea typeface="微软雅黑" panose="020B0503020204020204" charset="-122"/>
              <a:cs typeface="微软雅黑" panose="020B0503020204020204" charset="-122"/>
            </a:endParaRPr>
          </a:p>
        </p:txBody>
      </p:sp>
      <p:sp>
        <p:nvSpPr>
          <p:cNvPr id="6" name="矩形 5"/>
          <p:cNvSpPr/>
          <p:nvPr/>
        </p:nvSpPr>
        <p:spPr>
          <a:xfrm>
            <a:off x="890270" y="354965"/>
            <a:ext cx="746125" cy="387985"/>
          </a:xfrm>
          <a:prstGeom prst="rect">
            <a:avLst/>
          </a:prstGeom>
          <a:noFill/>
          <a:ln>
            <a:noFill/>
          </a:ln>
        </p:spPr>
        <p:txBody>
          <a:bodyPr wrap="none" rtlCol="0" anchor="t">
            <a:noAutofit/>
          </a:bodyPr>
          <a:lstStyle/>
          <a:p>
            <a:pPr algn="ctr"/>
            <a:endParaRPr lang="en-US" altLang="zh-CN" sz="4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8" name="文本框 7"/>
          <p:cNvSpPr txBox="1"/>
          <p:nvPr/>
        </p:nvSpPr>
        <p:spPr>
          <a:xfrm>
            <a:off x="837565" y="433070"/>
            <a:ext cx="6797675" cy="521970"/>
          </a:xfrm>
          <a:prstGeom prst="rect">
            <a:avLst/>
          </a:prstGeom>
          <a:noFill/>
        </p:spPr>
        <p:txBody>
          <a:bodyPr wrap="square" rtlCol="0" anchor="t">
            <a:spAutoFit/>
          </a:bodyPr>
          <a:lstStyle/>
          <a:p>
            <a:r>
              <a:rPr lang="zh-CN" altLang="en-US" sz="2800" b="1" dirty="0">
                <a:solidFill>
                  <a:schemeClr val="accent1">
                    <a:lumMod val="75000"/>
                  </a:schemeClr>
                </a:solidFill>
                <a:effectLst/>
                <a:latin typeface="微软雅黑" panose="020B0503020204020204" charset="-122"/>
                <a:ea typeface="微软雅黑" panose="020B0503020204020204" charset="-122"/>
                <a:sym typeface="+mn-ea"/>
              </a:rPr>
              <a:t>雾化散热关节模组</a:t>
            </a:r>
          </a:p>
        </p:txBody>
      </p:sp>
      <p:sp>
        <p:nvSpPr>
          <p:cNvPr id="72" name="path 72"/>
          <p:cNvSpPr/>
          <p:nvPr/>
        </p:nvSpPr>
        <p:spPr>
          <a:xfrm>
            <a:off x="11398249" y="6043294"/>
            <a:ext cx="741679" cy="774064"/>
          </a:xfrm>
          <a:custGeom>
            <a:avLst/>
            <a:gdLst/>
            <a:ahLst/>
            <a:cxnLst/>
            <a:rect l="0" t="0" r="0" b="0"/>
            <a:pathLst>
              <a:path w="1167" h="1218">
                <a:moveTo>
                  <a:pt x="950" y="1218"/>
                </a:moveTo>
                <a:lnTo>
                  <a:pt x="1167" y="1218"/>
                </a:lnTo>
                <a:lnTo>
                  <a:pt x="1167" y="1001"/>
                </a:lnTo>
                <a:lnTo>
                  <a:pt x="950" y="1001"/>
                </a:lnTo>
                <a:lnTo>
                  <a:pt x="950" y="1218"/>
                </a:lnTo>
                <a:close/>
              </a:path>
              <a:path w="1167" h="1218">
                <a:moveTo>
                  <a:pt x="634" y="1218"/>
                </a:moveTo>
                <a:lnTo>
                  <a:pt x="850" y="1218"/>
                </a:lnTo>
                <a:lnTo>
                  <a:pt x="850" y="1001"/>
                </a:lnTo>
                <a:lnTo>
                  <a:pt x="634" y="1001"/>
                </a:lnTo>
                <a:lnTo>
                  <a:pt x="634" y="1218"/>
                </a:lnTo>
                <a:close/>
              </a:path>
              <a:path w="1167" h="1218">
                <a:moveTo>
                  <a:pt x="317" y="1218"/>
                </a:moveTo>
                <a:lnTo>
                  <a:pt x="534" y="1218"/>
                </a:lnTo>
                <a:lnTo>
                  <a:pt x="534" y="1001"/>
                </a:lnTo>
                <a:lnTo>
                  <a:pt x="317" y="1001"/>
                </a:lnTo>
                <a:lnTo>
                  <a:pt x="317" y="1218"/>
                </a:lnTo>
                <a:close/>
              </a:path>
              <a:path w="1167" h="1218">
                <a:moveTo>
                  <a:pt x="0" y="1218"/>
                </a:moveTo>
                <a:lnTo>
                  <a:pt x="216" y="1218"/>
                </a:lnTo>
                <a:lnTo>
                  <a:pt x="216" y="1001"/>
                </a:lnTo>
                <a:lnTo>
                  <a:pt x="0" y="1001"/>
                </a:lnTo>
                <a:lnTo>
                  <a:pt x="0" y="1218"/>
                </a:lnTo>
                <a:close/>
              </a:path>
              <a:path w="1167" h="1218">
                <a:moveTo>
                  <a:pt x="950" y="884"/>
                </a:moveTo>
                <a:lnTo>
                  <a:pt x="1167" y="884"/>
                </a:lnTo>
                <a:lnTo>
                  <a:pt x="1167" y="667"/>
                </a:lnTo>
                <a:lnTo>
                  <a:pt x="950" y="667"/>
                </a:lnTo>
                <a:lnTo>
                  <a:pt x="950" y="884"/>
                </a:lnTo>
                <a:close/>
              </a:path>
              <a:path w="1167" h="1218">
                <a:moveTo>
                  <a:pt x="634" y="884"/>
                </a:moveTo>
                <a:lnTo>
                  <a:pt x="850" y="884"/>
                </a:lnTo>
                <a:lnTo>
                  <a:pt x="850" y="667"/>
                </a:lnTo>
                <a:lnTo>
                  <a:pt x="634" y="667"/>
                </a:lnTo>
                <a:lnTo>
                  <a:pt x="634" y="884"/>
                </a:lnTo>
                <a:close/>
              </a:path>
              <a:path w="1167" h="1218">
                <a:moveTo>
                  <a:pt x="317" y="884"/>
                </a:moveTo>
                <a:lnTo>
                  <a:pt x="534" y="884"/>
                </a:lnTo>
                <a:lnTo>
                  <a:pt x="534" y="667"/>
                </a:lnTo>
                <a:lnTo>
                  <a:pt x="317" y="667"/>
                </a:lnTo>
                <a:lnTo>
                  <a:pt x="317" y="884"/>
                </a:lnTo>
                <a:close/>
              </a:path>
              <a:path w="1167" h="1218">
                <a:moveTo>
                  <a:pt x="950" y="550"/>
                </a:moveTo>
                <a:lnTo>
                  <a:pt x="1167" y="550"/>
                </a:lnTo>
                <a:lnTo>
                  <a:pt x="1167" y="333"/>
                </a:lnTo>
                <a:lnTo>
                  <a:pt x="950" y="333"/>
                </a:lnTo>
                <a:lnTo>
                  <a:pt x="950" y="550"/>
                </a:lnTo>
                <a:close/>
              </a:path>
              <a:path w="1167" h="1218">
                <a:moveTo>
                  <a:pt x="634" y="550"/>
                </a:moveTo>
                <a:lnTo>
                  <a:pt x="850" y="550"/>
                </a:lnTo>
                <a:lnTo>
                  <a:pt x="850" y="333"/>
                </a:lnTo>
                <a:lnTo>
                  <a:pt x="634" y="333"/>
                </a:lnTo>
                <a:lnTo>
                  <a:pt x="634" y="550"/>
                </a:lnTo>
                <a:close/>
              </a:path>
              <a:path w="1167" h="1218">
                <a:moveTo>
                  <a:pt x="950" y="216"/>
                </a:moveTo>
                <a:lnTo>
                  <a:pt x="1167" y="216"/>
                </a:lnTo>
                <a:lnTo>
                  <a:pt x="1167" y="0"/>
                </a:lnTo>
                <a:lnTo>
                  <a:pt x="950" y="0"/>
                </a:lnTo>
                <a:lnTo>
                  <a:pt x="950"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5" name="文本框 4"/>
          <p:cNvSpPr txBox="1"/>
          <p:nvPr/>
        </p:nvSpPr>
        <p:spPr>
          <a:xfrm>
            <a:off x="1677035" y="1216660"/>
            <a:ext cx="9797415" cy="922020"/>
          </a:xfrm>
          <a:prstGeom prst="rect">
            <a:avLst/>
          </a:prstGeom>
          <a:noFill/>
        </p:spPr>
        <p:txBody>
          <a:bodyPr wrap="square" rtlCol="0" anchor="t">
            <a:spAutoFit/>
          </a:bodyPr>
          <a:lstStyle/>
          <a:p>
            <a:r>
              <a:rPr lang="zh-CN" altLang="en-US"/>
              <a:t>在设定</a:t>
            </a:r>
            <a:r>
              <a:rPr lang="en-US" altLang="zh-CN"/>
              <a:t>125r/min</a:t>
            </a:r>
            <a:r>
              <a:rPr lang="zh-CN" altLang="en-US"/>
              <a:t>转速下</a:t>
            </a:r>
            <a:r>
              <a:rPr lang="en-US" altLang="zh-CN"/>
              <a:t>:</a:t>
            </a:r>
            <a:r>
              <a:rPr lang="zh-CN" altLang="en-US"/>
              <a:t>扭矩</a:t>
            </a:r>
            <a:r>
              <a:rPr lang="en-US" altLang="zh-CN"/>
              <a:t>18N*m</a:t>
            </a:r>
            <a:r>
              <a:rPr lang="zh-CN" altLang="en-US"/>
              <a:t>时，雾化散热下绕组温度和外壳温度明显低于基础方案，绕组温度较基础方案降低</a:t>
            </a:r>
            <a:r>
              <a:rPr lang="en-US" altLang="zh-CN"/>
              <a:t>10.0</a:t>
            </a:r>
            <a:r>
              <a:rPr lang="en-US" altLang="en-US"/>
              <a:t>°</a:t>
            </a:r>
            <a:r>
              <a:rPr lang="en-US" altLang="zh-CN"/>
              <a:t>C</a:t>
            </a:r>
            <a:r>
              <a:rPr lang="zh-CN" altLang="en-US"/>
              <a:t>，降低程度</a:t>
            </a:r>
            <a:r>
              <a:rPr lang="en-US" altLang="zh-CN"/>
              <a:t>11.2%</a:t>
            </a:r>
            <a:r>
              <a:rPr lang="zh-CN" altLang="en-US"/>
              <a:t>，外壳温度降低</a:t>
            </a:r>
            <a:r>
              <a:rPr lang="en-US" altLang="zh-CN"/>
              <a:t>10.5</a:t>
            </a:r>
            <a:r>
              <a:rPr lang="en-US" altLang="en-US"/>
              <a:t>°</a:t>
            </a:r>
            <a:r>
              <a:rPr lang="en-US" altLang="zh-CN"/>
              <a:t>C</a:t>
            </a:r>
            <a:r>
              <a:rPr lang="zh-CN" altLang="en-US"/>
              <a:t>，降低程度</a:t>
            </a:r>
            <a:r>
              <a:rPr lang="en-US" altLang="zh-CN"/>
              <a:t>13.8%</a:t>
            </a:r>
            <a:r>
              <a:rPr lang="zh-CN" altLang="en-US"/>
              <a:t>，电机运转时间显著增长，运转时间的提升率为</a:t>
            </a:r>
            <a:r>
              <a:rPr lang="en-US" altLang="zh-CN"/>
              <a:t>100%</a:t>
            </a:r>
            <a:r>
              <a:rPr lang="zh-CN" altLang="en-US"/>
              <a:t>。</a:t>
            </a:r>
          </a:p>
        </p:txBody>
      </p:sp>
      <p:pic>
        <p:nvPicPr>
          <p:cNvPr id="7" name="图片 6"/>
          <p:cNvPicPr>
            <a:picLocks noChangeAspect="1"/>
          </p:cNvPicPr>
          <p:nvPr/>
        </p:nvPicPr>
        <p:blipFill>
          <a:blip r:embed="rId4"/>
          <a:stretch>
            <a:fillRect/>
          </a:stretch>
        </p:blipFill>
        <p:spPr>
          <a:xfrm>
            <a:off x="2167255" y="2282825"/>
            <a:ext cx="2860675" cy="4006850"/>
          </a:xfrm>
          <a:prstGeom prst="rect">
            <a:avLst/>
          </a:prstGeom>
        </p:spPr>
      </p:pic>
      <p:pic>
        <p:nvPicPr>
          <p:cNvPr id="9" name="图片 8"/>
          <p:cNvPicPr>
            <a:picLocks noChangeAspect="1"/>
          </p:cNvPicPr>
          <p:nvPr/>
        </p:nvPicPr>
        <p:blipFill>
          <a:blip r:embed="rId5"/>
          <a:stretch>
            <a:fillRect/>
          </a:stretch>
        </p:blipFill>
        <p:spPr>
          <a:xfrm>
            <a:off x="5126355" y="2206625"/>
            <a:ext cx="3355340" cy="4004945"/>
          </a:xfrm>
          <a:prstGeom prst="rect">
            <a:avLst/>
          </a:prstGeom>
        </p:spPr>
      </p:pic>
      <p:pic>
        <p:nvPicPr>
          <p:cNvPr id="10" name="图片 9"/>
          <p:cNvPicPr>
            <a:picLocks noChangeAspect="1"/>
          </p:cNvPicPr>
          <p:nvPr/>
        </p:nvPicPr>
        <p:blipFill>
          <a:blip r:embed="rId6"/>
          <a:stretch>
            <a:fillRect/>
          </a:stretch>
        </p:blipFill>
        <p:spPr>
          <a:xfrm>
            <a:off x="8400415" y="2138680"/>
            <a:ext cx="3263900" cy="4150995"/>
          </a:xfrm>
          <a:prstGeom prst="rect">
            <a:avLst/>
          </a:prstGeom>
        </p:spPr>
      </p:pic>
      <p:sp>
        <p:nvSpPr>
          <p:cNvPr id="13" name="矩形 12"/>
          <p:cNvSpPr/>
          <p:nvPr/>
        </p:nvSpPr>
        <p:spPr>
          <a:xfrm>
            <a:off x="970274" y="2981156"/>
            <a:ext cx="65753" cy="461665"/>
          </a:xfrm>
          <a:prstGeom prst="rect">
            <a:avLst/>
          </a:prstGeom>
          <a:gradFill>
            <a:gsLst>
              <a:gs pos="50000">
                <a:srgbClr val="1F5FBF"/>
              </a:gs>
              <a:gs pos="0">
                <a:srgbClr val="1486CB"/>
              </a:gs>
              <a:gs pos="100000">
                <a:srgbClr val="2A34B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sp>
        <p:nvSpPr>
          <p:cNvPr id="14" name="文本框 13"/>
          <p:cNvSpPr txBox="1"/>
          <p:nvPr/>
        </p:nvSpPr>
        <p:spPr>
          <a:xfrm>
            <a:off x="378925" y="3443165"/>
            <a:ext cx="1257300" cy="460375"/>
          </a:xfrm>
          <a:prstGeom prst="rect">
            <a:avLst/>
          </a:prstGeom>
          <a:noFill/>
        </p:spPr>
        <p:txBody>
          <a:bodyPr wrap="square">
            <a:spAutoFit/>
          </a:bodyPr>
          <a:lstStyle/>
          <a:p>
            <a:pPr algn="ctr"/>
            <a:r>
              <a:rPr lang="en-US" sz="1200" b="1">
                <a:solidFill>
                  <a:schemeClr val="accent1">
                    <a:lumMod val="40000"/>
                    <a:lumOff val="60000"/>
                  </a:schemeClr>
                </a:solidFill>
                <a:latin typeface="Arial" panose="020B0604020202020204"/>
                <a:ea typeface="Arial" panose="020B0604020202020204"/>
                <a:cs typeface="Arial" panose="020B0604020202020204"/>
                <a:sym typeface="Arial" panose="020B0604020202020204"/>
              </a:rPr>
              <a:t>Nanjing Cooling</a:t>
            </a:r>
            <a:endParaRPr lang="zh-CN" altLang="en-US" sz="1200" b="1" dirty="0">
              <a:solidFill>
                <a:schemeClr val="accent1">
                  <a:lumMod val="60000"/>
                  <a:lumOff val="40000"/>
                </a:schemeClr>
              </a:solidFill>
              <a:latin typeface="华文楷体" panose="02010600040101010101" pitchFamily="2" charset="-122"/>
              <a:ea typeface="华文楷体" panose="02010600040101010101" pitchFamily="2" charset="-122"/>
              <a:sym typeface="+mn-ea"/>
            </a:endParaRPr>
          </a:p>
        </p:txBody>
      </p:sp>
      <p:sp>
        <p:nvSpPr>
          <p:cNvPr id="16" name="文本框 15"/>
          <p:cNvSpPr txBox="1"/>
          <p:nvPr/>
        </p:nvSpPr>
        <p:spPr>
          <a:xfrm>
            <a:off x="246973" y="4082588"/>
            <a:ext cx="1576567" cy="645160"/>
          </a:xfrm>
          <a:prstGeom prst="rect">
            <a:avLst/>
          </a:prstGeom>
          <a:noFill/>
        </p:spPr>
        <p:txBody>
          <a:bodyPr wrap="square" rtlCol="0">
            <a:spAutoFit/>
          </a:bodyPr>
          <a:lstStyle/>
          <a:p>
            <a:pPr algn="ctr">
              <a:lnSpc>
                <a:spcPct val="150000"/>
              </a:lnSpc>
            </a:pPr>
            <a:r>
              <a:rPr lang="zh-CN" altLang="en-US" sz="1200" b="1" dirty="0">
                <a:solidFill>
                  <a:schemeClr val="accent1">
                    <a:lumMod val="50000"/>
                  </a:schemeClr>
                </a:solidFill>
                <a:latin typeface="微软雅黑" panose="020B0503020204020204" charset="-122"/>
                <a:ea typeface="微软雅黑" panose="020B0503020204020204" charset="-122"/>
              </a:rPr>
              <a:t>酷灵热管理</a:t>
            </a:r>
            <a:endParaRPr lang="en-US" altLang="zh-CN" sz="1200" b="1" dirty="0">
              <a:solidFill>
                <a:schemeClr val="accent1">
                  <a:lumMod val="50000"/>
                </a:schemeClr>
              </a:solidFill>
              <a:latin typeface="微软雅黑" panose="020B0503020204020204" charset="-122"/>
              <a:ea typeface="微软雅黑" panose="020B0503020204020204" charset="-122"/>
            </a:endParaRPr>
          </a:p>
          <a:p>
            <a:pPr algn="ctr">
              <a:lnSpc>
                <a:spcPct val="150000"/>
              </a:lnSpc>
            </a:pPr>
            <a:r>
              <a:rPr lang="zh-CN" altLang="en-US" sz="1200" b="1" dirty="0">
                <a:solidFill>
                  <a:schemeClr val="accent1">
                    <a:lumMod val="50000"/>
                  </a:schemeClr>
                </a:solidFill>
                <a:latin typeface="微软雅黑" panose="020B0503020204020204" charset="-122"/>
                <a:ea typeface="微软雅黑" panose="020B0503020204020204" charset="-122"/>
              </a:rPr>
              <a:t>为机器人持久赋能</a:t>
            </a:r>
          </a:p>
        </p:txBody>
      </p:sp>
      <p:sp>
        <p:nvSpPr>
          <p:cNvPr id="18" name="文本框 17"/>
          <p:cNvSpPr txBox="1"/>
          <p:nvPr/>
        </p:nvSpPr>
        <p:spPr>
          <a:xfrm>
            <a:off x="192405" y="4820285"/>
            <a:ext cx="1814830" cy="614045"/>
          </a:xfrm>
          <a:prstGeom prst="rect">
            <a:avLst/>
          </a:prstGeom>
          <a:noFill/>
        </p:spPr>
        <p:txBody>
          <a:bodyPr wrap="square">
            <a:spAutoFit/>
          </a:bodyPr>
          <a:lstStyle/>
          <a:p>
            <a:pPr algn="ctr"/>
            <a:endParaRPr lang="zh-CN" altLang="en-US" sz="2000" b="1" dirty="0">
              <a:solidFill>
                <a:schemeClr val="accent1">
                  <a:lumMod val="50000"/>
                </a:schemeClr>
              </a:solidFill>
              <a:latin typeface="华文楷体" panose="02010600040101010101" pitchFamily="2" charset="-122"/>
              <a:ea typeface="华文楷体" panose="02010600040101010101" pitchFamily="2" charset="-122"/>
            </a:endParaRPr>
          </a:p>
          <a:p>
            <a:pPr algn="ctr"/>
            <a:r>
              <a:rPr lang="zh-CN" altLang="en-US" sz="1400" b="1" dirty="0">
                <a:solidFill>
                  <a:schemeClr val="accent1">
                    <a:lumMod val="60000"/>
                    <a:lumOff val="40000"/>
                  </a:schemeClr>
                </a:solidFill>
                <a:latin typeface="华文楷体" panose="02010600040101010101" pitchFamily="2" charset="-122"/>
                <a:ea typeface="华文楷体" panose="02010600040101010101" pitchFamily="2" charset="-122"/>
              </a:rPr>
              <a:t>解决方案与产品矩阵</a:t>
            </a:r>
          </a:p>
        </p:txBody>
      </p:sp>
      <p:sp>
        <p:nvSpPr>
          <p:cNvPr id="19" name="矩形 18"/>
          <p:cNvSpPr/>
          <p:nvPr/>
        </p:nvSpPr>
        <p:spPr>
          <a:xfrm>
            <a:off x="970222" y="5434594"/>
            <a:ext cx="65753" cy="461665"/>
          </a:xfrm>
          <a:prstGeom prst="rect">
            <a:avLst/>
          </a:prstGeom>
          <a:gradFill>
            <a:gsLst>
              <a:gs pos="50000">
                <a:srgbClr val="1F5FBF"/>
              </a:gs>
              <a:gs pos="0">
                <a:srgbClr val="1486CB"/>
              </a:gs>
              <a:gs pos="100000">
                <a:srgbClr val="2A34B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56"/>
          <p:cNvPicPr>
            <a:picLocks noChangeAspect="1"/>
          </p:cNvPicPr>
          <p:nvPr/>
        </p:nvPicPr>
        <p:blipFill>
          <a:blip r:embed="rId2"/>
          <a:stretch>
            <a:fillRect/>
          </a:stretch>
        </p:blipFill>
        <p:spPr>
          <a:xfrm rot="21600000">
            <a:off x="275" y="-216"/>
            <a:ext cx="12192000" cy="6857998"/>
          </a:xfrm>
          <a:prstGeom prst="rect">
            <a:avLst/>
          </a:prstGeom>
        </p:spPr>
      </p:pic>
      <p:sp>
        <p:nvSpPr>
          <p:cNvPr id="62" name="textbox 62"/>
          <p:cNvSpPr/>
          <p:nvPr/>
        </p:nvSpPr>
        <p:spPr>
          <a:xfrm>
            <a:off x="6926443" y="1466538"/>
            <a:ext cx="3498811" cy="465455"/>
          </a:xfrm>
          <a:prstGeom prst="rect">
            <a:avLst/>
          </a:prstGeom>
          <a:noFill/>
          <a:ln w="0" cap="flat">
            <a:noFill/>
            <a:prstDash val="solid"/>
            <a:miter lim="0"/>
          </a:ln>
        </p:spPr>
        <p:txBody>
          <a:bodyPr vert="horz" wrap="square" lIns="0" tIns="0" rIns="0" bIns="0"/>
          <a:lstStyle/>
          <a:p>
            <a:pPr algn="l" rtl="0" eaLnBrk="0">
              <a:lnSpc>
                <a:spcPct val="69000"/>
              </a:lnSpc>
            </a:pPr>
            <a:endParaRPr sz="100" dirty="0">
              <a:latin typeface="Arial" panose="020B0604020202020204"/>
              <a:ea typeface="Arial" panose="020B0604020202020204"/>
              <a:cs typeface="Arial" panose="020B0604020202020204"/>
            </a:endParaRPr>
          </a:p>
        </p:txBody>
      </p:sp>
      <p:pic>
        <p:nvPicPr>
          <p:cNvPr id="66" name="picture 66"/>
          <p:cNvPicPr>
            <a:picLocks noChangeAspect="1"/>
          </p:cNvPicPr>
          <p:nvPr/>
        </p:nvPicPr>
        <p:blipFill>
          <a:blip r:embed="rId3"/>
          <a:stretch>
            <a:fillRect/>
          </a:stretch>
        </p:blipFill>
        <p:spPr>
          <a:xfrm rot="21600000">
            <a:off x="0" y="6576693"/>
            <a:ext cx="12192000" cy="271779"/>
          </a:xfrm>
          <a:prstGeom prst="rect">
            <a:avLst/>
          </a:prstGeom>
        </p:spPr>
      </p:pic>
      <p:sp>
        <p:nvSpPr>
          <p:cNvPr id="70" name="textbox 70"/>
          <p:cNvSpPr/>
          <p:nvPr/>
        </p:nvSpPr>
        <p:spPr>
          <a:xfrm>
            <a:off x="3474085" y="3411220"/>
            <a:ext cx="5709285" cy="507365"/>
          </a:xfrm>
          <a:prstGeom prst="rect">
            <a:avLst/>
          </a:prstGeom>
          <a:noFill/>
          <a:ln w="0" cap="flat">
            <a:noFill/>
            <a:prstDash val="solid"/>
            <a:miter lim="0"/>
          </a:ln>
        </p:spPr>
        <p:txBody>
          <a:bodyPr vert="horz" wrap="square" lIns="0" tIns="0" rIns="0" bIns="0"/>
          <a:lstStyle/>
          <a:p>
            <a:pPr algn="l" rtl="0" eaLnBrk="0">
              <a:lnSpc>
                <a:spcPct val="93000"/>
              </a:lnSpc>
            </a:pPr>
            <a:endParaRPr sz="100" dirty="0">
              <a:latin typeface="Arial" panose="020B0604020202020204"/>
              <a:ea typeface="Arial" panose="020B0604020202020204"/>
              <a:cs typeface="Arial" panose="020B0604020202020204"/>
            </a:endParaRPr>
          </a:p>
          <a:p>
            <a:pPr algn="ctr" rtl="0" eaLnBrk="0">
              <a:lnSpc>
                <a:spcPct val="87000"/>
              </a:lnSpc>
            </a:pPr>
            <a:r>
              <a:rPr lang="en-US" altLang="zh-CN" sz="4400" b="1" dirty="0">
                <a:solidFill>
                  <a:schemeClr val="accent1">
                    <a:lumMod val="5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04/</a:t>
            </a:r>
            <a:r>
              <a:rPr lang="zh-CN" altLang="en-US" sz="4400" b="1" dirty="0">
                <a:solidFill>
                  <a:schemeClr val="accent1">
                    <a:lumMod val="5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商业化进程与规划</a:t>
            </a:r>
            <a:endParaRPr lang="zh-CN" altLang="en-US" sz="4400" kern="0" spc="60" dirty="0">
              <a:solidFill>
                <a:schemeClr val="accent1">
                  <a:lumMod val="75000"/>
                  <a:alpha val="100000"/>
                </a:schemeClr>
              </a:solidFill>
              <a:latin typeface="微软雅黑" panose="020B0503020204020204" charset="-122"/>
              <a:ea typeface="微软雅黑" panose="020B0503020204020204" charset="-122"/>
              <a:cs typeface="微软雅黑" panose="020B0503020204020204" charset="-122"/>
            </a:endParaRPr>
          </a:p>
          <a:p>
            <a:pPr algn="r" rtl="0" eaLnBrk="0">
              <a:lnSpc>
                <a:spcPct val="87000"/>
              </a:lnSpc>
            </a:pPr>
            <a:endParaRPr lang="zh-CN" altLang="en-US" sz="4400" kern="0" spc="60" dirty="0">
              <a:solidFill>
                <a:schemeClr val="accent1">
                  <a:lumMod val="75000"/>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74" name="path 74"/>
          <p:cNvSpPr/>
          <p:nvPr/>
        </p:nvSpPr>
        <p:spPr>
          <a:xfrm>
            <a:off x="348614" y="354965"/>
            <a:ext cx="540385" cy="137794"/>
          </a:xfrm>
          <a:custGeom>
            <a:avLst/>
            <a:gdLst/>
            <a:ahLst/>
            <a:cxnLst/>
            <a:rect l="0" t="0" r="0" b="0"/>
            <a:pathLst>
              <a:path w="851" h="216">
                <a:moveTo>
                  <a:pt x="0" y="216"/>
                </a:moveTo>
                <a:lnTo>
                  <a:pt x="217" y="216"/>
                </a:lnTo>
                <a:lnTo>
                  <a:pt x="217" y="0"/>
                </a:lnTo>
                <a:lnTo>
                  <a:pt x="0" y="0"/>
                </a:lnTo>
                <a:lnTo>
                  <a:pt x="0" y="216"/>
                </a:lnTo>
                <a:close/>
              </a:path>
              <a:path w="851" h="216">
                <a:moveTo>
                  <a:pt x="317" y="216"/>
                </a:moveTo>
                <a:lnTo>
                  <a:pt x="534" y="216"/>
                </a:lnTo>
                <a:lnTo>
                  <a:pt x="534" y="0"/>
                </a:lnTo>
                <a:lnTo>
                  <a:pt x="317" y="0"/>
                </a:lnTo>
                <a:lnTo>
                  <a:pt x="317" y="216"/>
                </a:lnTo>
                <a:close/>
              </a:path>
              <a:path w="851" h="216">
                <a:moveTo>
                  <a:pt x="633" y="216"/>
                </a:moveTo>
                <a:lnTo>
                  <a:pt x="851" y="216"/>
                </a:lnTo>
                <a:lnTo>
                  <a:pt x="851" y="0"/>
                </a:lnTo>
                <a:lnTo>
                  <a:pt x="633" y="0"/>
                </a:lnTo>
                <a:lnTo>
                  <a:pt x="633"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0" name="textbox 80"/>
          <p:cNvSpPr/>
          <p:nvPr/>
        </p:nvSpPr>
        <p:spPr>
          <a:xfrm>
            <a:off x="335914" y="515264"/>
            <a:ext cx="962025" cy="41465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351790" algn="l" rtl="0" eaLnBrk="0">
              <a:lnSpc>
                <a:spcPct val="97000"/>
              </a:lnSpc>
              <a:tabLst>
                <a:tab pos="600710" algn="l"/>
              </a:tabLst>
            </a:pPr>
            <a:r>
              <a:rPr sz="24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	</a:t>
            </a:r>
            <a:r>
              <a:rPr sz="2400" b="1" kern="0" spc="-120" dirty="0">
                <a:solidFill>
                  <a:srgbClr val="FFFFFF">
                    <a:alpha val="100000"/>
                  </a:srgbClr>
                </a:solidFill>
                <a:latin typeface="微软雅黑" panose="020B0503020204020204" charset="-122"/>
                <a:ea typeface="微软雅黑" panose="020B0503020204020204" charset="-122"/>
                <a:cs typeface="微软雅黑" panose="020B0503020204020204" charset="-122"/>
              </a:rPr>
              <a:t>01</a:t>
            </a:r>
            <a:endParaRPr sz="2400" dirty="0">
              <a:latin typeface="微软雅黑" panose="020B0503020204020204" charset="-122"/>
              <a:ea typeface="微软雅黑" panose="020B0503020204020204" charset="-122"/>
              <a:cs typeface="微软雅黑" panose="020B0503020204020204" charset="-122"/>
            </a:endParaRPr>
          </a:p>
        </p:txBody>
      </p:sp>
      <p:sp>
        <p:nvSpPr>
          <p:cNvPr id="82" name="path 82"/>
          <p:cNvSpPr/>
          <p:nvPr/>
        </p:nvSpPr>
        <p:spPr>
          <a:xfrm>
            <a:off x="348614" y="567054"/>
            <a:ext cx="339090" cy="349885"/>
          </a:xfrm>
          <a:custGeom>
            <a:avLst/>
            <a:gdLst/>
            <a:ahLst/>
            <a:cxnLst/>
            <a:rect l="0" t="0" r="0" b="0"/>
            <a:pathLst>
              <a:path w="534" h="551">
                <a:moveTo>
                  <a:pt x="0" y="217"/>
                </a:moveTo>
                <a:lnTo>
                  <a:pt x="217" y="217"/>
                </a:lnTo>
                <a:lnTo>
                  <a:pt x="217" y="0"/>
                </a:lnTo>
                <a:lnTo>
                  <a:pt x="0" y="0"/>
                </a:lnTo>
                <a:lnTo>
                  <a:pt x="0" y="217"/>
                </a:lnTo>
                <a:close/>
              </a:path>
              <a:path w="534" h="551">
                <a:moveTo>
                  <a:pt x="317" y="217"/>
                </a:moveTo>
                <a:lnTo>
                  <a:pt x="534" y="217"/>
                </a:lnTo>
                <a:lnTo>
                  <a:pt x="534" y="0"/>
                </a:lnTo>
                <a:lnTo>
                  <a:pt x="317" y="0"/>
                </a:lnTo>
                <a:lnTo>
                  <a:pt x="317" y="217"/>
                </a:lnTo>
                <a:close/>
              </a:path>
              <a:path w="534" h="551">
                <a:moveTo>
                  <a:pt x="0" y="551"/>
                </a:moveTo>
                <a:lnTo>
                  <a:pt x="217" y="551"/>
                </a:lnTo>
                <a:lnTo>
                  <a:pt x="217" y="334"/>
                </a:lnTo>
                <a:lnTo>
                  <a:pt x="0" y="334"/>
                </a:lnTo>
                <a:lnTo>
                  <a:pt x="0" y="551"/>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4" name="path 84"/>
          <p:cNvSpPr/>
          <p:nvPr/>
        </p:nvSpPr>
        <p:spPr>
          <a:xfrm>
            <a:off x="348614" y="142875"/>
            <a:ext cx="741680" cy="137794"/>
          </a:xfrm>
          <a:custGeom>
            <a:avLst/>
            <a:gdLst/>
            <a:ahLst/>
            <a:cxnLst/>
            <a:rect l="0" t="0" r="0" b="0"/>
            <a:pathLst>
              <a:path w="1168" h="216">
                <a:moveTo>
                  <a:pt x="0" y="216"/>
                </a:moveTo>
                <a:lnTo>
                  <a:pt x="217" y="216"/>
                </a:lnTo>
                <a:lnTo>
                  <a:pt x="217" y="0"/>
                </a:lnTo>
                <a:lnTo>
                  <a:pt x="0" y="0"/>
                </a:lnTo>
                <a:lnTo>
                  <a:pt x="0" y="216"/>
                </a:lnTo>
                <a:close/>
              </a:path>
              <a:path w="1168" h="216">
                <a:moveTo>
                  <a:pt x="317" y="216"/>
                </a:moveTo>
                <a:lnTo>
                  <a:pt x="534" y="216"/>
                </a:lnTo>
                <a:lnTo>
                  <a:pt x="534" y="0"/>
                </a:lnTo>
                <a:lnTo>
                  <a:pt x="317" y="0"/>
                </a:lnTo>
                <a:lnTo>
                  <a:pt x="317" y="216"/>
                </a:lnTo>
                <a:close/>
              </a:path>
              <a:path w="1168" h="216">
                <a:moveTo>
                  <a:pt x="633" y="216"/>
                </a:moveTo>
                <a:lnTo>
                  <a:pt x="851" y="216"/>
                </a:lnTo>
                <a:lnTo>
                  <a:pt x="851" y="0"/>
                </a:lnTo>
                <a:lnTo>
                  <a:pt x="633" y="0"/>
                </a:lnTo>
                <a:lnTo>
                  <a:pt x="633" y="216"/>
                </a:lnTo>
                <a:close/>
              </a:path>
              <a:path w="1168" h="216">
                <a:moveTo>
                  <a:pt x="951" y="216"/>
                </a:moveTo>
                <a:lnTo>
                  <a:pt x="1168" y="216"/>
                </a:lnTo>
                <a:lnTo>
                  <a:pt x="1168" y="0"/>
                </a:lnTo>
                <a:lnTo>
                  <a:pt x="951" y="0"/>
                </a:lnTo>
                <a:lnTo>
                  <a:pt x="951"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8" name="rect 88"/>
          <p:cNvSpPr/>
          <p:nvPr/>
        </p:nvSpPr>
        <p:spPr>
          <a:xfrm>
            <a:off x="147320" y="56705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0" name="rect 90"/>
          <p:cNvSpPr/>
          <p:nvPr/>
        </p:nvSpPr>
        <p:spPr>
          <a:xfrm>
            <a:off x="147320" y="779145"/>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2" name="rect 92"/>
          <p:cNvSpPr/>
          <p:nvPr/>
        </p:nvSpPr>
        <p:spPr>
          <a:xfrm>
            <a:off x="147320" y="99123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4" name="rect 94"/>
          <p:cNvSpPr/>
          <p:nvPr/>
        </p:nvSpPr>
        <p:spPr>
          <a:xfrm>
            <a:off x="147320" y="14287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6" name="rect 96"/>
          <p:cNvSpPr/>
          <p:nvPr/>
        </p:nvSpPr>
        <p:spPr>
          <a:xfrm>
            <a:off x="147320" y="35496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pic>
        <p:nvPicPr>
          <p:cNvPr id="2" name="图片 1"/>
          <p:cNvPicPr>
            <a:picLocks noChangeAspect="1"/>
          </p:cNvPicPr>
          <p:nvPr/>
        </p:nvPicPr>
        <p:blipFill>
          <a:blip r:embed="rId4"/>
          <a:stretch>
            <a:fillRect/>
          </a:stretch>
        </p:blipFill>
        <p:spPr>
          <a:xfrm>
            <a:off x="10428563" y="68429"/>
            <a:ext cx="1354271" cy="781170"/>
          </a:xfrm>
          <a:prstGeom prst="rect">
            <a:avLst/>
          </a:prstGeom>
        </p:spPr>
      </p:pic>
      <p:sp>
        <p:nvSpPr>
          <p:cNvPr id="7" name="矩形 6"/>
          <p:cNvSpPr/>
          <p:nvPr/>
        </p:nvSpPr>
        <p:spPr>
          <a:xfrm>
            <a:off x="975989" y="2921466"/>
            <a:ext cx="65753" cy="46166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397340" y="3411415"/>
            <a:ext cx="1257300" cy="645160"/>
          </a:xfrm>
          <a:prstGeom prst="rect">
            <a:avLst/>
          </a:prstGeom>
          <a:noFill/>
        </p:spPr>
        <p:txBody>
          <a:bodyPr wrap="square">
            <a:spAutoFit/>
          </a:bodyPr>
          <a:lstStyle/>
          <a:p>
            <a:pPr algn="ctr"/>
            <a:r>
              <a:rPr lang="en-US" sz="1200" b="1">
                <a:solidFill>
                  <a:schemeClr val="bg1"/>
                </a:solidFill>
                <a:latin typeface="Arial" panose="020B0604020202020204"/>
                <a:ea typeface="Arial" panose="020B0604020202020204"/>
                <a:cs typeface="Arial" panose="020B0604020202020204"/>
                <a:sym typeface="Arial" panose="020B0604020202020204"/>
              </a:rPr>
              <a:t>Nanjing Cooling</a:t>
            </a:r>
            <a:endParaRPr lang="zh-CN" altLang="en-US" sz="1200" b="1" dirty="0">
              <a:solidFill>
                <a:schemeClr val="bg1"/>
              </a:solidFill>
              <a:latin typeface="华文楷体" panose="02010600040101010101" pitchFamily="2" charset="-122"/>
              <a:ea typeface="华文楷体" panose="02010600040101010101" pitchFamily="2" charset="-122"/>
              <a:sym typeface="+mn-ea"/>
            </a:endParaRPr>
          </a:p>
          <a:p>
            <a:pPr algn="ctr"/>
            <a:endParaRPr lang="zh-CN" altLang="en-US" sz="1200" b="1" dirty="0">
              <a:solidFill>
                <a:schemeClr val="bg1"/>
              </a:solidFill>
              <a:latin typeface="华文楷体" panose="02010600040101010101" pitchFamily="2" charset="-122"/>
              <a:ea typeface="华文楷体" panose="02010600040101010101" pitchFamily="2" charset="-122"/>
              <a:sym typeface="+mn-ea"/>
            </a:endParaRPr>
          </a:p>
        </p:txBody>
      </p:sp>
      <p:sp>
        <p:nvSpPr>
          <p:cNvPr id="14" name="文本框 13"/>
          <p:cNvSpPr txBox="1"/>
          <p:nvPr/>
        </p:nvSpPr>
        <p:spPr>
          <a:xfrm>
            <a:off x="252688" y="4022898"/>
            <a:ext cx="1576567" cy="645160"/>
          </a:xfrm>
          <a:prstGeom prst="rect">
            <a:avLst/>
          </a:prstGeom>
          <a:noFill/>
        </p:spPr>
        <p:txBody>
          <a:bodyPr wrap="square" rtlCol="0">
            <a:spAutoFit/>
          </a:bodyPr>
          <a:lstStyle/>
          <a:p>
            <a:pPr algn="ctr">
              <a:lnSpc>
                <a:spcPct val="150000"/>
              </a:lnSpc>
            </a:pPr>
            <a:r>
              <a:rPr lang="zh-CN" altLang="en-US" sz="1200" b="1" dirty="0">
                <a:solidFill>
                  <a:schemeClr val="accent1">
                    <a:lumMod val="75000"/>
                  </a:schemeClr>
                </a:solidFill>
                <a:latin typeface="微软雅黑" panose="020B0503020204020204" charset="-122"/>
                <a:ea typeface="微软雅黑" panose="020B0503020204020204" charset="-122"/>
              </a:rPr>
              <a:t>酷灵热管理</a:t>
            </a:r>
            <a:endParaRPr lang="en-US" altLang="zh-CN" sz="1200" b="1" dirty="0">
              <a:solidFill>
                <a:schemeClr val="accent1">
                  <a:lumMod val="75000"/>
                </a:schemeClr>
              </a:solidFill>
              <a:latin typeface="微软雅黑" panose="020B0503020204020204" charset="-122"/>
              <a:ea typeface="微软雅黑" panose="020B0503020204020204" charset="-122"/>
            </a:endParaRPr>
          </a:p>
          <a:p>
            <a:pPr algn="ctr">
              <a:lnSpc>
                <a:spcPct val="150000"/>
              </a:lnSpc>
            </a:pPr>
            <a:r>
              <a:rPr lang="zh-CN" altLang="en-US" sz="1200" b="1" dirty="0">
                <a:solidFill>
                  <a:schemeClr val="accent1">
                    <a:lumMod val="75000"/>
                  </a:schemeClr>
                </a:solidFill>
                <a:latin typeface="微软雅黑" panose="020B0503020204020204" charset="-122"/>
                <a:ea typeface="微软雅黑" panose="020B0503020204020204" charset="-122"/>
              </a:rPr>
              <a:t>为机器人持久赋能</a:t>
            </a:r>
          </a:p>
        </p:txBody>
      </p:sp>
      <p:sp>
        <p:nvSpPr>
          <p:cNvPr id="15" name="文本框 14"/>
          <p:cNvSpPr txBox="1"/>
          <p:nvPr/>
        </p:nvSpPr>
        <p:spPr>
          <a:xfrm>
            <a:off x="147320" y="4751070"/>
            <a:ext cx="1608455" cy="583565"/>
          </a:xfrm>
          <a:prstGeom prst="rect">
            <a:avLst/>
          </a:prstGeom>
          <a:noFill/>
        </p:spPr>
        <p:txBody>
          <a:bodyPr wrap="square">
            <a:spAutoFit/>
          </a:bodyPr>
          <a:lstStyle/>
          <a:p>
            <a:pPr algn="ctr"/>
            <a:endParaRPr lang="zh-CN" altLang="en-US" sz="2000" b="1" dirty="0">
              <a:solidFill>
                <a:schemeClr val="bg1"/>
              </a:solidFill>
              <a:latin typeface="华文楷体" panose="02010600040101010101" pitchFamily="2" charset="-122"/>
              <a:ea typeface="华文楷体" panose="02010600040101010101" pitchFamily="2" charset="-122"/>
            </a:endParaRPr>
          </a:p>
          <a:p>
            <a:pPr algn="ctr"/>
            <a:r>
              <a:rPr lang="en-US" altLang="zh-CN" sz="1200" b="1" dirty="0">
                <a:solidFill>
                  <a:schemeClr val="bg1"/>
                </a:solidFill>
                <a:latin typeface="微软雅黑" panose="020B0503020204020204" charset="-122"/>
                <a:ea typeface="微软雅黑" panose="020B0503020204020204" charset="-122"/>
                <a:sym typeface="+mn-ea"/>
              </a:rPr>
              <a:t> </a:t>
            </a:r>
            <a:r>
              <a:rPr lang="zh-CN" altLang="en-US" sz="1200" b="1" dirty="0">
                <a:solidFill>
                  <a:schemeClr val="bg1"/>
                </a:solidFill>
                <a:latin typeface="微软雅黑" panose="020B0503020204020204" charset="-122"/>
                <a:ea typeface="微软雅黑" panose="020B0503020204020204" charset="-122"/>
                <a:sym typeface="+mn-ea"/>
              </a:rPr>
              <a:t>商业化进程与规划</a:t>
            </a:r>
          </a:p>
        </p:txBody>
      </p:sp>
      <p:sp>
        <p:nvSpPr>
          <p:cNvPr id="17" name="矩形 16"/>
          <p:cNvSpPr/>
          <p:nvPr/>
        </p:nvSpPr>
        <p:spPr>
          <a:xfrm>
            <a:off x="975302" y="5392049"/>
            <a:ext cx="65753" cy="46166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path 72"/>
          <p:cNvSpPr/>
          <p:nvPr/>
        </p:nvSpPr>
        <p:spPr>
          <a:xfrm>
            <a:off x="11398249" y="6043294"/>
            <a:ext cx="741679" cy="774064"/>
          </a:xfrm>
          <a:custGeom>
            <a:avLst/>
            <a:gdLst/>
            <a:ahLst/>
            <a:cxnLst/>
            <a:rect l="0" t="0" r="0" b="0"/>
            <a:pathLst>
              <a:path w="1167" h="1218">
                <a:moveTo>
                  <a:pt x="950" y="1218"/>
                </a:moveTo>
                <a:lnTo>
                  <a:pt x="1167" y="1218"/>
                </a:lnTo>
                <a:lnTo>
                  <a:pt x="1167" y="1001"/>
                </a:lnTo>
                <a:lnTo>
                  <a:pt x="950" y="1001"/>
                </a:lnTo>
                <a:lnTo>
                  <a:pt x="950" y="1218"/>
                </a:lnTo>
                <a:close/>
              </a:path>
              <a:path w="1167" h="1218">
                <a:moveTo>
                  <a:pt x="634" y="1218"/>
                </a:moveTo>
                <a:lnTo>
                  <a:pt x="850" y="1218"/>
                </a:lnTo>
                <a:lnTo>
                  <a:pt x="850" y="1001"/>
                </a:lnTo>
                <a:lnTo>
                  <a:pt x="634" y="1001"/>
                </a:lnTo>
                <a:lnTo>
                  <a:pt x="634" y="1218"/>
                </a:lnTo>
                <a:close/>
              </a:path>
              <a:path w="1167" h="1218">
                <a:moveTo>
                  <a:pt x="317" y="1218"/>
                </a:moveTo>
                <a:lnTo>
                  <a:pt x="534" y="1218"/>
                </a:lnTo>
                <a:lnTo>
                  <a:pt x="534" y="1001"/>
                </a:lnTo>
                <a:lnTo>
                  <a:pt x="317" y="1001"/>
                </a:lnTo>
                <a:lnTo>
                  <a:pt x="317" y="1218"/>
                </a:lnTo>
                <a:close/>
              </a:path>
              <a:path w="1167" h="1218">
                <a:moveTo>
                  <a:pt x="0" y="1218"/>
                </a:moveTo>
                <a:lnTo>
                  <a:pt x="216" y="1218"/>
                </a:lnTo>
                <a:lnTo>
                  <a:pt x="216" y="1001"/>
                </a:lnTo>
                <a:lnTo>
                  <a:pt x="0" y="1001"/>
                </a:lnTo>
                <a:lnTo>
                  <a:pt x="0" y="1218"/>
                </a:lnTo>
                <a:close/>
              </a:path>
              <a:path w="1167" h="1218">
                <a:moveTo>
                  <a:pt x="950" y="884"/>
                </a:moveTo>
                <a:lnTo>
                  <a:pt x="1167" y="884"/>
                </a:lnTo>
                <a:lnTo>
                  <a:pt x="1167" y="667"/>
                </a:lnTo>
                <a:lnTo>
                  <a:pt x="950" y="667"/>
                </a:lnTo>
                <a:lnTo>
                  <a:pt x="950" y="884"/>
                </a:lnTo>
                <a:close/>
              </a:path>
              <a:path w="1167" h="1218">
                <a:moveTo>
                  <a:pt x="634" y="884"/>
                </a:moveTo>
                <a:lnTo>
                  <a:pt x="850" y="884"/>
                </a:lnTo>
                <a:lnTo>
                  <a:pt x="850" y="667"/>
                </a:lnTo>
                <a:lnTo>
                  <a:pt x="634" y="667"/>
                </a:lnTo>
                <a:lnTo>
                  <a:pt x="634" y="884"/>
                </a:lnTo>
                <a:close/>
              </a:path>
              <a:path w="1167" h="1218">
                <a:moveTo>
                  <a:pt x="317" y="884"/>
                </a:moveTo>
                <a:lnTo>
                  <a:pt x="534" y="884"/>
                </a:lnTo>
                <a:lnTo>
                  <a:pt x="534" y="667"/>
                </a:lnTo>
                <a:lnTo>
                  <a:pt x="317" y="667"/>
                </a:lnTo>
                <a:lnTo>
                  <a:pt x="317" y="884"/>
                </a:lnTo>
                <a:close/>
              </a:path>
              <a:path w="1167" h="1218">
                <a:moveTo>
                  <a:pt x="950" y="550"/>
                </a:moveTo>
                <a:lnTo>
                  <a:pt x="1167" y="550"/>
                </a:lnTo>
                <a:lnTo>
                  <a:pt x="1167" y="333"/>
                </a:lnTo>
                <a:lnTo>
                  <a:pt x="950" y="333"/>
                </a:lnTo>
                <a:lnTo>
                  <a:pt x="950" y="550"/>
                </a:lnTo>
                <a:close/>
              </a:path>
              <a:path w="1167" h="1218">
                <a:moveTo>
                  <a:pt x="634" y="550"/>
                </a:moveTo>
                <a:lnTo>
                  <a:pt x="850" y="550"/>
                </a:lnTo>
                <a:lnTo>
                  <a:pt x="850" y="333"/>
                </a:lnTo>
                <a:lnTo>
                  <a:pt x="634" y="333"/>
                </a:lnTo>
                <a:lnTo>
                  <a:pt x="634" y="550"/>
                </a:lnTo>
                <a:close/>
              </a:path>
              <a:path w="1167" h="1218">
                <a:moveTo>
                  <a:pt x="950" y="216"/>
                </a:moveTo>
                <a:lnTo>
                  <a:pt x="1167" y="216"/>
                </a:lnTo>
                <a:lnTo>
                  <a:pt x="1167" y="0"/>
                </a:lnTo>
                <a:lnTo>
                  <a:pt x="950" y="0"/>
                </a:lnTo>
                <a:lnTo>
                  <a:pt x="950"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5" name="path 86"/>
          <p:cNvSpPr/>
          <p:nvPr/>
        </p:nvSpPr>
        <p:spPr>
          <a:xfrm>
            <a:off x="688340" y="955040"/>
            <a:ext cx="10786745" cy="76200"/>
          </a:xfrm>
          <a:custGeom>
            <a:avLst/>
            <a:gdLst/>
            <a:ahLst/>
            <a:cxnLst/>
            <a:rect l="0" t="0" r="0" b="0"/>
            <a:pathLst>
              <a:path w="15485" h="10">
                <a:moveTo>
                  <a:pt x="0" y="5"/>
                </a:moveTo>
                <a:lnTo>
                  <a:pt x="15485" y="5"/>
                </a:lnTo>
              </a:path>
            </a:pathLst>
          </a:custGeom>
          <a:noFill/>
          <a:ln w="6350" cap="flat">
            <a:solidFill>
              <a:srgbClr val="D9D9D9"/>
            </a:solidFill>
            <a:prstDash val="solid"/>
            <a:miter lim="1000000"/>
          </a:ln>
        </p:spPr>
        <p:txBody>
          <a:bodyPr rtlCol="0"/>
          <a:lstStyle/>
          <a:p>
            <a:pPr algn="ct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6"/>
          <p:cNvPicPr>
            <a:picLocks noChangeAspect="1"/>
          </p:cNvPicPr>
          <p:nvPr/>
        </p:nvPicPr>
        <p:blipFill>
          <a:blip r:embed="rId6"/>
          <a:stretch>
            <a:fillRect/>
          </a:stretch>
        </p:blipFill>
        <p:spPr>
          <a:xfrm rot="21600000">
            <a:off x="0" y="6576693"/>
            <a:ext cx="12192000" cy="271779"/>
          </a:xfrm>
          <a:prstGeom prst="rect">
            <a:avLst/>
          </a:prstGeom>
        </p:spPr>
      </p:pic>
      <p:sp>
        <p:nvSpPr>
          <p:cNvPr id="70" name="textbox 70"/>
          <p:cNvSpPr/>
          <p:nvPr/>
        </p:nvSpPr>
        <p:spPr>
          <a:xfrm>
            <a:off x="1636628" y="455178"/>
            <a:ext cx="2599689" cy="507365"/>
          </a:xfrm>
          <a:prstGeom prst="rect">
            <a:avLst/>
          </a:prstGeom>
          <a:noFill/>
          <a:ln w="0" cap="flat">
            <a:noFill/>
            <a:prstDash val="solid"/>
            <a:miter lim="0"/>
          </a:ln>
        </p:spPr>
        <p:txBody>
          <a:bodyPr vert="horz" wrap="square" lIns="0" tIns="0" rIns="0" bIns="0"/>
          <a:lstStyle/>
          <a:p>
            <a:pPr algn="l" rtl="0" eaLnBrk="0">
              <a:lnSpc>
                <a:spcPct val="93000"/>
              </a:lnSpc>
            </a:pPr>
            <a:endParaRPr sz="1000" dirty="0">
              <a:latin typeface="微软雅黑" panose="020B0503020204020204" charset="-122"/>
              <a:ea typeface="微软雅黑" panose="020B0503020204020204" charset="-122"/>
              <a:cs typeface="微软雅黑" panose="020B0503020204020204" charset="-122"/>
            </a:endParaRPr>
          </a:p>
        </p:txBody>
      </p:sp>
      <p:sp>
        <p:nvSpPr>
          <p:cNvPr id="74" name="path 74"/>
          <p:cNvSpPr/>
          <p:nvPr/>
        </p:nvSpPr>
        <p:spPr>
          <a:xfrm>
            <a:off x="348614" y="354965"/>
            <a:ext cx="540385" cy="137794"/>
          </a:xfrm>
          <a:custGeom>
            <a:avLst/>
            <a:gdLst/>
            <a:ahLst/>
            <a:cxnLst/>
            <a:rect l="0" t="0" r="0" b="0"/>
            <a:pathLst>
              <a:path w="851" h="216">
                <a:moveTo>
                  <a:pt x="0" y="216"/>
                </a:moveTo>
                <a:lnTo>
                  <a:pt x="217" y="216"/>
                </a:lnTo>
                <a:lnTo>
                  <a:pt x="217" y="0"/>
                </a:lnTo>
                <a:lnTo>
                  <a:pt x="0" y="0"/>
                </a:lnTo>
                <a:lnTo>
                  <a:pt x="0" y="216"/>
                </a:lnTo>
                <a:close/>
              </a:path>
              <a:path w="851" h="216">
                <a:moveTo>
                  <a:pt x="317" y="216"/>
                </a:moveTo>
                <a:lnTo>
                  <a:pt x="534" y="216"/>
                </a:lnTo>
                <a:lnTo>
                  <a:pt x="534" y="0"/>
                </a:lnTo>
                <a:lnTo>
                  <a:pt x="317" y="0"/>
                </a:lnTo>
                <a:lnTo>
                  <a:pt x="317" y="216"/>
                </a:lnTo>
                <a:close/>
              </a:path>
              <a:path w="851" h="216">
                <a:moveTo>
                  <a:pt x="633" y="216"/>
                </a:moveTo>
                <a:lnTo>
                  <a:pt x="851" y="216"/>
                </a:lnTo>
                <a:lnTo>
                  <a:pt x="851" y="0"/>
                </a:lnTo>
                <a:lnTo>
                  <a:pt x="633" y="0"/>
                </a:lnTo>
                <a:lnTo>
                  <a:pt x="633"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2" name="path 82"/>
          <p:cNvSpPr/>
          <p:nvPr/>
        </p:nvSpPr>
        <p:spPr>
          <a:xfrm>
            <a:off x="348614" y="567054"/>
            <a:ext cx="339090" cy="349885"/>
          </a:xfrm>
          <a:custGeom>
            <a:avLst/>
            <a:gdLst/>
            <a:ahLst/>
            <a:cxnLst/>
            <a:rect l="0" t="0" r="0" b="0"/>
            <a:pathLst>
              <a:path w="534" h="551">
                <a:moveTo>
                  <a:pt x="0" y="217"/>
                </a:moveTo>
                <a:lnTo>
                  <a:pt x="217" y="217"/>
                </a:lnTo>
                <a:lnTo>
                  <a:pt x="217" y="0"/>
                </a:lnTo>
                <a:lnTo>
                  <a:pt x="0" y="0"/>
                </a:lnTo>
                <a:lnTo>
                  <a:pt x="0" y="217"/>
                </a:lnTo>
                <a:close/>
              </a:path>
              <a:path w="534" h="551">
                <a:moveTo>
                  <a:pt x="317" y="217"/>
                </a:moveTo>
                <a:lnTo>
                  <a:pt x="534" y="217"/>
                </a:lnTo>
                <a:lnTo>
                  <a:pt x="534" y="0"/>
                </a:lnTo>
                <a:lnTo>
                  <a:pt x="317" y="0"/>
                </a:lnTo>
                <a:lnTo>
                  <a:pt x="317" y="217"/>
                </a:lnTo>
                <a:close/>
              </a:path>
              <a:path w="534" h="551">
                <a:moveTo>
                  <a:pt x="0" y="551"/>
                </a:moveTo>
                <a:lnTo>
                  <a:pt x="217" y="551"/>
                </a:lnTo>
                <a:lnTo>
                  <a:pt x="217" y="334"/>
                </a:lnTo>
                <a:lnTo>
                  <a:pt x="0" y="334"/>
                </a:lnTo>
                <a:lnTo>
                  <a:pt x="0" y="551"/>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4" name="path 84"/>
          <p:cNvSpPr/>
          <p:nvPr/>
        </p:nvSpPr>
        <p:spPr>
          <a:xfrm>
            <a:off x="348614" y="142875"/>
            <a:ext cx="741680" cy="137794"/>
          </a:xfrm>
          <a:custGeom>
            <a:avLst/>
            <a:gdLst/>
            <a:ahLst/>
            <a:cxnLst/>
            <a:rect l="0" t="0" r="0" b="0"/>
            <a:pathLst>
              <a:path w="1168" h="216">
                <a:moveTo>
                  <a:pt x="0" y="216"/>
                </a:moveTo>
                <a:lnTo>
                  <a:pt x="217" y="216"/>
                </a:lnTo>
                <a:lnTo>
                  <a:pt x="217" y="0"/>
                </a:lnTo>
                <a:lnTo>
                  <a:pt x="0" y="0"/>
                </a:lnTo>
                <a:lnTo>
                  <a:pt x="0" y="216"/>
                </a:lnTo>
                <a:close/>
              </a:path>
              <a:path w="1168" h="216">
                <a:moveTo>
                  <a:pt x="317" y="216"/>
                </a:moveTo>
                <a:lnTo>
                  <a:pt x="534" y="216"/>
                </a:lnTo>
                <a:lnTo>
                  <a:pt x="534" y="0"/>
                </a:lnTo>
                <a:lnTo>
                  <a:pt x="317" y="0"/>
                </a:lnTo>
                <a:lnTo>
                  <a:pt x="317" y="216"/>
                </a:lnTo>
                <a:close/>
              </a:path>
              <a:path w="1168" h="216">
                <a:moveTo>
                  <a:pt x="633" y="216"/>
                </a:moveTo>
                <a:lnTo>
                  <a:pt x="851" y="216"/>
                </a:lnTo>
                <a:lnTo>
                  <a:pt x="851" y="0"/>
                </a:lnTo>
                <a:lnTo>
                  <a:pt x="633" y="0"/>
                </a:lnTo>
                <a:lnTo>
                  <a:pt x="633" y="216"/>
                </a:lnTo>
                <a:close/>
              </a:path>
              <a:path w="1168" h="216">
                <a:moveTo>
                  <a:pt x="951" y="216"/>
                </a:moveTo>
                <a:lnTo>
                  <a:pt x="1168" y="216"/>
                </a:lnTo>
                <a:lnTo>
                  <a:pt x="1168" y="0"/>
                </a:lnTo>
                <a:lnTo>
                  <a:pt x="951" y="0"/>
                </a:lnTo>
                <a:lnTo>
                  <a:pt x="951"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6" name="path 86"/>
          <p:cNvSpPr/>
          <p:nvPr/>
        </p:nvSpPr>
        <p:spPr>
          <a:xfrm>
            <a:off x="688340" y="955040"/>
            <a:ext cx="10786745" cy="76200"/>
          </a:xfrm>
          <a:custGeom>
            <a:avLst/>
            <a:gdLst/>
            <a:ahLst/>
            <a:cxnLst/>
            <a:rect l="0" t="0" r="0" b="0"/>
            <a:pathLst>
              <a:path w="15485" h="10">
                <a:moveTo>
                  <a:pt x="0" y="5"/>
                </a:moveTo>
                <a:lnTo>
                  <a:pt x="15485" y="5"/>
                </a:lnTo>
              </a:path>
            </a:pathLst>
          </a:custGeom>
          <a:noFill/>
          <a:ln w="6350" cap="flat">
            <a:solidFill>
              <a:srgbClr val="D9D9D9"/>
            </a:solidFill>
            <a:prstDash val="solid"/>
            <a:miter lim="1000000"/>
          </a:ln>
        </p:spPr>
        <p:txBody>
          <a:bodyPr rtlCol="0"/>
          <a:lstStyle/>
          <a:p>
            <a:pPr algn="ctr"/>
            <a:endParaRPr lang="zh-CN" altLang="en-US"/>
          </a:p>
        </p:txBody>
      </p:sp>
      <p:sp>
        <p:nvSpPr>
          <p:cNvPr id="88" name="rect 88"/>
          <p:cNvSpPr/>
          <p:nvPr/>
        </p:nvSpPr>
        <p:spPr>
          <a:xfrm>
            <a:off x="147320" y="56705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0" name="rect 90"/>
          <p:cNvSpPr/>
          <p:nvPr/>
        </p:nvSpPr>
        <p:spPr>
          <a:xfrm>
            <a:off x="147320" y="779145"/>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2" name="rect 92"/>
          <p:cNvSpPr/>
          <p:nvPr/>
        </p:nvSpPr>
        <p:spPr>
          <a:xfrm>
            <a:off x="147320" y="99123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4" name="rect 94"/>
          <p:cNvSpPr/>
          <p:nvPr/>
        </p:nvSpPr>
        <p:spPr>
          <a:xfrm>
            <a:off x="147320" y="14287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6" name="rect 96"/>
          <p:cNvSpPr/>
          <p:nvPr/>
        </p:nvSpPr>
        <p:spPr>
          <a:xfrm>
            <a:off x="147320" y="35496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pic>
        <p:nvPicPr>
          <p:cNvPr id="2" name="图片 1"/>
          <p:cNvPicPr>
            <a:picLocks noChangeAspect="1"/>
          </p:cNvPicPr>
          <p:nvPr/>
        </p:nvPicPr>
        <p:blipFill>
          <a:blip r:embed="rId7"/>
          <a:stretch>
            <a:fillRect/>
          </a:stretch>
        </p:blipFill>
        <p:spPr>
          <a:xfrm>
            <a:off x="10428563" y="68429"/>
            <a:ext cx="1354271" cy="781170"/>
          </a:xfrm>
          <a:prstGeom prst="rect">
            <a:avLst/>
          </a:prstGeom>
        </p:spPr>
      </p:pic>
      <p:sp>
        <p:nvSpPr>
          <p:cNvPr id="3" name="textbox 60"/>
          <p:cNvSpPr/>
          <p:nvPr/>
        </p:nvSpPr>
        <p:spPr>
          <a:xfrm>
            <a:off x="688022" y="3017728"/>
            <a:ext cx="10637203" cy="3795845"/>
          </a:xfrm>
          <a:prstGeom prst="rect">
            <a:avLst/>
          </a:prstGeom>
          <a:noFill/>
          <a:ln w="0" cap="flat">
            <a:noFill/>
            <a:prstDash val="solid"/>
            <a:miter lim="0"/>
          </a:ln>
        </p:spPr>
        <p:txBody>
          <a:bodyPr vert="horz" wrap="square" lIns="0" tIns="0" rIns="0" bIns="0"/>
          <a:lstStyle/>
          <a:p>
            <a:pPr algn="l" rtl="0" eaLnBrk="0">
              <a:lnSpc>
                <a:spcPct val="150000"/>
              </a:lnSpc>
            </a:pPr>
            <a:endParaRPr sz="100" dirty="0">
              <a:latin typeface="Arial" panose="020B0604020202020204"/>
              <a:ea typeface="Arial" panose="020B0604020202020204"/>
              <a:cs typeface="Arial" panose="020B0604020202020204"/>
            </a:endParaRPr>
          </a:p>
          <a:p>
            <a:pPr marL="17145" algn="l" rtl="0" eaLnBrk="0">
              <a:lnSpc>
                <a:spcPct val="150000"/>
              </a:lnSpc>
              <a:spcBef>
                <a:spcPts val="600"/>
              </a:spcBef>
              <a:spcAft>
                <a:spcPts val="600"/>
              </a:spcAft>
            </a:pPr>
            <a:endParaRPr lang="zh-CN" altLang="en-US" kern="0" spc="90" dirty="0">
              <a:solidFill>
                <a:srgbClr val="595959">
                  <a:alpha val="100000"/>
                </a:srgbClr>
              </a:solidFill>
              <a:latin typeface="微软雅黑" panose="020B0503020204020204" charset="-122"/>
              <a:ea typeface="微软雅黑" panose="020B0503020204020204" charset="-122"/>
              <a:cs typeface="微软雅黑" panose="020B0503020204020204" charset="-122"/>
            </a:endParaRPr>
          </a:p>
        </p:txBody>
      </p:sp>
      <p:sp>
        <p:nvSpPr>
          <p:cNvPr id="6" name="矩形 5"/>
          <p:cNvSpPr/>
          <p:nvPr/>
        </p:nvSpPr>
        <p:spPr>
          <a:xfrm>
            <a:off x="890270" y="354965"/>
            <a:ext cx="746125" cy="387985"/>
          </a:xfrm>
          <a:prstGeom prst="rect">
            <a:avLst/>
          </a:prstGeom>
          <a:noFill/>
          <a:ln>
            <a:noFill/>
          </a:ln>
        </p:spPr>
        <p:txBody>
          <a:bodyPr wrap="none" rtlCol="0" anchor="t">
            <a:noAutofit/>
          </a:bodyPr>
          <a:lstStyle/>
          <a:p>
            <a:pPr algn="ctr"/>
            <a:endParaRPr lang="en-US" altLang="zh-CN" sz="4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8" name="文本框 7"/>
          <p:cNvSpPr txBox="1"/>
          <p:nvPr/>
        </p:nvSpPr>
        <p:spPr>
          <a:xfrm>
            <a:off x="837565" y="433070"/>
            <a:ext cx="6797675" cy="521970"/>
          </a:xfrm>
          <a:prstGeom prst="rect">
            <a:avLst/>
          </a:prstGeom>
          <a:noFill/>
        </p:spPr>
        <p:txBody>
          <a:bodyPr wrap="square" rtlCol="0" anchor="t">
            <a:spAutoFit/>
          </a:bodyPr>
          <a:lstStyle/>
          <a:p>
            <a:r>
              <a:rPr lang="zh-CN" altLang="en-US" sz="2800" b="1" kern="0" spc="150" dirty="0">
                <a:solidFill>
                  <a:srgbClr val="2C5374">
                    <a:alpha val="100000"/>
                  </a:srgbClr>
                </a:solidFill>
                <a:latin typeface="微软雅黑" panose="020B0503020204020204" charset="-122"/>
                <a:ea typeface="微软雅黑" panose="020B0503020204020204" charset="-122"/>
                <a:cs typeface="微软雅黑" panose="020B0503020204020204" charset="-122"/>
                <a:sym typeface="+mn-ea"/>
              </a:rPr>
              <a:t>业务市场领域聚焦</a:t>
            </a:r>
          </a:p>
        </p:txBody>
      </p:sp>
      <p:sp>
        <p:nvSpPr>
          <p:cNvPr id="72" name="path 72"/>
          <p:cNvSpPr/>
          <p:nvPr/>
        </p:nvSpPr>
        <p:spPr>
          <a:xfrm>
            <a:off x="11398249" y="6043294"/>
            <a:ext cx="741679" cy="774064"/>
          </a:xfrm>
          <a:custGeom>
            <a:avLst/>
            <a:gdLst/>
            <a:ahLst/>
            <a:cxnLst/>
            <a:rect l="0" t="0" r="0" b="0"/>
            <a:pathLst>
              <a:path w="1167" h="1218">
                <a:moveTo>
                  <a:pt x="950" y="1218"/>
                </a:moveTo>
                <a:lnTo>
                  <a:pt x="1167" y="1218"/>
                </a:lnTo>
                <a:lnTo>
                  <a:pt x="1167" y="1001"/>
                </a:lnTo>
                <a:lnTo>
                  <a:pt x="950" y="1001"/>
                </a:lnTo>
                <a:lnTo>
                  <a:pt x="950" y="1218"/>
                </a:lnTo>
                <a:close/>
              </a:path>
              <a:path w="1167" h="1218">
                <a:moveTo>
                  <a:pt x="634" y="1218"/>
                </a:moveTo>
                <a:lnTo>
                  <a:pt x="850" y="1218"/>
                </a:lnTo>
                <a:lnTo>
                  <a:pt x="850" y="1001"/>
                </a:lnTo>
                <a:lnTo>
                  <a:pt x="634" y="1001"/>
                </a:lnTo>
                <a:lnTo>
                  <a:pt x="634" y="1218"/>
                </a:lnTo>
                <a:close/>
              </a:path>
              <a:path w="1167" h="1218">
                <a:moveTo>
                  <a:pt x="317" y="1218"/>
                </a:moveTo>
                <a:lnTo>
                  <a:pt x="534" y="1218"/>
                </a:lnTo>
                <a:lnTo>
                  <a:pt x="534" y="1001"/>
                </a:lnTo>
                <a:lnTo>
                  <a:pt x="317" y="1001"/>
                </a:lnTo>
                <a:lnTo>
                  <a:pt x="317" y="1218"/>
                </a:lnTo>
                <a:close/>
              </a:path>
              <a:path w="1167" h="1218">
                <a:moveTo>
                  <a:pt x="0" y="1218"/>
                </a:moveTo>
                <a:lnTo>
                  <a:pt x="216" y="1218"/>
                </a:lnTo>
                <a:lnTo>
                  <a:pt x="216" y="1001"/>
                </a:lnTo>
                <a:lnTo>
                  <a:pt x="0" y="1001"/>
                </a:lnTo>
                <a:lnTo>
                  <a:pt x="0" y="1218"/>
                </a:lnTo>
                <a:close/>
              </a:path>
              <a:path w="1167" h="1218">
                <a:moveTo>
                  <a:pt x="950" y="884"/>
                </a:moveTo>
                <a:lnTo>
                  <a:pt x="1167" y="884"/>
                </a:lnTo>
                <a:lnTo>
                  <a:pt x="1167" y="667"/>
                </a:lnTo>
                <a:lnTo>
                  <a:pt x="950" y="667"/>
                </a:lnTo>
                <a:lnTo>
                  <a:pt x="950" y="884"/>
                </a:lnTo>
                <a:close/>
              </a:path>
              <a:path w="1167" h="1218">
                <a:moveTo>
                  <a:pt x="634" y="884"/>
                </a:moveTo>
                <a:lnTo>
                  <a:pt x="850" y="884"/>
                </a:lnTo>
                <a:lnTo>
                  <a:pt x="850" y="667"/>
                </a:lnTo>
                <a:lnTo>
                  <a:pt x="634" y="667"/>
                </a:lnTo>
                <a:lnTo>
                  <a:pt x="634" y="884"/>
                </a:lnTo>
                <a:close/>
              </a:path>
              <a:path w="1167" h="1218">
                <a:moveTo>
                  <a:pt x="317" y="884"/>
                </a:moveTo>
                <a:lnTo>
                  <a:pt x="534" y="884"/>
                </a:lnTo>
                <a:lnTo>
                  <a:pt x="534" y="667"/>
                </a:lnTo>
                <a:lnTo>
                  <a:pt x="317" y="667"/>
                </a:lnTo>
                <a:lnTo>
                  <a:pt x="317" y="884"/>
                </a:lnTo>
                <a:close/>
              </a:path>
              <a:path w="1167" h="1218">
                <a:moveTo>
                  <a:pt x="950" y="550"/>
                </a:moveTo>
                <a:lnTo>
                  <a:pt x="1167" y="550"/>
                </a:lnTo>
                <a:lnTo>
                  <a:pt x="1167" y="333"/>
                </a:lnTo>
                <a:lnTo>
                  <a:pt x="950" y="333"/>
                </a:lnTo>
                <a:lnTo>
                  <a:pt x="950" y="550"/>
                </a:lnTo>
                <a:close/>
              </a:path>
              <a:path w="1167" h="1218">
                <a:moveTo>
                  <a:pt x="634" y="550"/>
                </a:moveTo>
                <a:lnTo>
                  <a:pt x="850" y="550"/>
                </a:lnTo>
                <a:lnTo>
                  <a:pt x="850" y="333"/>
                </a:lnTo>
                <a:lnTo>
                  <a:pt x="634" y="333"/>
                </a:lnTo>
                <a:lnTo>
                  <a:pt x="634" y="550"/>
                </a:lnTo>
                <a:close/>
              </a:path>
              <a:path w="1167" h="1218">
                <a:moveTo>
                  <a:pt x="950" y="216"/>
                </a:moveTo>
                <a:lnTo>
                  <a:pt x="1167" y="216"/>
                </a:lnTo>
                <a:lnTo>
                  <a:pt x="1167" y="0"/>
                </a:lnTo>
                <a:lnTo>
                  <a:pt x="950" y="0"/>
                </a:lnTo>
                <a:lnTo>
                  <a:pt x="950"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11" name="MH_Other_1"/>
          <p:cNvSpPr/>
          <p:nvPr>
            <p:custDataLst>
              <p:tags r:id="rId1"/>
            </p:custDataLst>
          </p:nvPr>
        </p:nvSpPr>
        <p:spPr>
          <a:xfrm>
            <a:off x="1148080" y="1724660"/>
            <a:ext cx="4422140" cy="2603500"/>
          </a:xfrm>
          <a:prstGeom prst="rect">
            <a:avLst/>
          </a:prstGeom>
          <a:solidFill>
            <a:srgbClr val="EEEEEE"/>
          </a:solidFill>
          <a:ln w="9525">
            <a:solidFill>
              <a:srgbClr val="E0E0E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2400">
              <a:solidFill>
                <a:prstClr val="white"/>
              </a:solidFill>
            </a:endParaRPr>
          </a:p>
        </p:txBody>
      </p:sp>
      <p:sp>
        <p:nvSpPr>
          <p:cNvPr id="16" name="MH_Text_1"/>
          <p:cNvSpPr txBox="1">
            <a:spLocks noChangeArrowheads="1"/>
          </p:cNvSpPr>
          <p:nvPr>
            <p:custDataLst>
              <p:tags r:id="rId2"/>
            </p:custDataLst>
          </p:nvPr>
        </p:nvSpPr>
        <p:spPr bwMode="auto">
          <a:xfrm>
            <a:off x="6768465" y="4443095"/>
            <a:ext cx="4765040" cy="1858010"/>
          </a:xfrm>
          <a:prstGeom prst="rect">
            <a:avLst/>
          </a:prstGeom>
          <a:solidFill>
            <a:schemeClr val="bg1"/>
          </a:solidFill>
          <a:ln w="9525">
            <a:noFill/>
            <a:miter lim="800000"/>
          </a:ln>
          <a:effectLst>
            <a:outerShdw blurRad="190500" dist="127000" dir="2700000" algn="tl" rotWithShape="0">
              <a:prstClr val="black">
                <a:alpha val="30000"/>
              </a:prstClr>
            </a:outerShdw>
          </a:effectLst>
        </p:spPr>
        <p:txBody>
          <a:bodyPr wrap="square" lIns="180000" tIns="67952" rIns="180000" bIns="67952">
            <a:noAutofit/>
          </a:bodyPr>
          <a:lstStyle>
            <a:defPPr>
              <a:defRPr lang="en-US"/>
            </a:defPPr>
            <a:lvl1pPr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a:lstStyle>
          <a:p>
            <a:pPr algn="just">
              <a:lnSpc>
                <a:spcPct val="150000"/>
              </a:lnSpc>
              <a:defRPr/>
            </a:pPr>
            <a:r>
              <a:rPr lang="zh-CN" altLang="en-US" sz="1400" b="1" dirty="0">
                <a:gradFill>
                  <a:gsLst>
                    <a:gs pos="42000">
                      <a:srgbClr val="EC5763"/>
                    </a:gs>
                    <a:gs pos="0">
                      <a:srgbClr val="F28F97"/>
                    </a:gs>
                    <a:gs pos="100000">
                      <a:srgbClr val="E51E2E"/>
                    </a:gs>
                  </a:gsLst>
                  <a:lin ang="5400000" scaled="1"/>
                </a:gra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Noto Sans SC" panose="020B0200000000000000" charset="-122"/>
              </a:rPr>
              <a:t>重载无人机：</a:t>
            </a:r>
            <a:r>
              <a:rPr lang="en-US" sz="140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对动力系统的功率密度与散热技术要求苛刻，技术壁垒高，</a:t>
            </a:r>
            <a:r>
              <a:rPr lang="en-US" sz="1400" b="1">
                <a:solidFill>
                  <a:schemeClr val="tx2">
                    <a:lumMod val="5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是高利润细分市场</a:t>
            </a:r>
            <a:r>
              <a:rPr lang="en-US" sz="140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lgn="just">
              <a:lnSpc>
                <a:spcPct val="150000"/>
              </a:lnSpc>
              <a:defRPr/>
            </a:pPr>
            <a:r>
              <a:rPr lang="zh-CN" altLang="en-US" sz="1400" b="1" dirty="0">
                <a:gradFill>
                  <a:gsLst>
                    <a:gs pos="42000">
                      <a:srgbClr val="EC5763"/>
                    </a:gs>
                    <a:gs pos="0">
                      <a:srgbClr val="F28F97"/>
                    </a:gs>
                    <a:gs pos="100000">
                      <a:srgbClr val="E51E2E"/>
                    </a:gs>
                  </a:gsLst>
                  <a:lin ang="5400000" scaled="1"/>
                </a:gra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Noto Sans SC" panose="020B0200000000000000" charset="-122"/>
              </a:rPr>
              <a:t>服务内容：</a:t>
            </a:r>
            <a:r>
              <a:rPr lang="zh-CN" altLang="en-US" sz="1400" b="1" dirty="0">
                <a:solidFill>
                  <a:schemeClr val="accent1">
                    <a:lumMod val="50000"/>
                  </a:schemeClr>
                </a:solidFill>
                <a:latin typeface="微软雅黑" panose="020B0503020204020204" charset="-122"/>
                <a:ea typeface="微软雅黑" panose="020B0503020204020204" charset="-122"/>
                <a:cs typeface="+mn-ea"/>
                <a:sym typeface="+mn-lt"/>
              </a:rPr>
              <a:t>面向物流运输、应急救援、工业巡检等场景，提供高负载、长续航的重载无人机热管理解决方案。</a:t>
            </a:r>
          </a:p>
        </p:txBody>
      </p:sp>
      <p:sp>
        <p:nvSpPr>
          <p:cNvPr id="32" name="MH_Other_1"/>
          <p:cNvSpPr/>
          <p:nvPr>
            <p:custDataLst>
              <p:tags r:id="rId3"/>
            </p:custDataLst>
          </p:nvPr>
        </p:nvSpPr>
        <p:spPr>
          <a:xfrm>
            <a:off x="6903085" y="1724660"/>
            <a:ext cx="4422140" cy="2603500"/>
          </a:xfrm>
          <a:prstGeom prst="rect">
            <a:avLst/>
          </a:prstGeom>
          <a:solidFill>
            <a:srgbClr val="EEEEEE"/>
          </a:solidFill>
          <a:ln w="9525">
            <a:solidFill>
              <a:srgbClr val="E0E0E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2400">
              <a:solidFill>
                <a:prstClr val="white"/>
              </a:solidFill>
            </a:endParaRPr>
          </a:p>
        </p:txBody>
      </p:sp>
      <p:sp>
        <p:nvSpPr>
          <p:cNvPr id="38" name="MH_Text_1"/>
          <p:cNvSpPr txBox="1">
            <a:spLocks noChangeArrowheads="1"/>
          </p:cNvSpPr>
          <p:nvPr>
            <p:custDataLst>
              <p:tags r:id="rId4"/>
            </p:custDataLst>
          </p:nvPr>
        </p:nvSpPr>
        <p:spPr bwMode="auto">
          <a:xfrm>
            <a:off x="451485" y="4483100"/>
            <a:ext cx="5644515" cy="1873885"/>
          </a:xfrm>
          <a:prstGeom prst="rect">
            <a:avLst/>
          </a:prstGeom>
          <a:solidFill>
            <a:schemeClr val="bg1"/>
          </a:solidFill>
          <a:ln w="9525">
            <a:noFill/>
            <a:miter lim="800000"/>
          </a:ln>
          <a:effectLst>
            <a:outerShdw blurRad="190500" dist="127000" dir="2700000" algn="tl" rotWithShape="0">
              <a:prstClr val="black">
                <a:alpha val="30000"/>
              </a:prstClr>
            </a:outerShdw>
          </a:effectLst>
        </p:spPr>
        <p:txBody>
          <a:bodyPr wrap="square" lIns="180000" tIns="67952" rIns="180000" bIns="67952">
            <a:noAutofit/>
          </a:bodyPr>
          <a:lstStyle>
            <a:defPPr>
              <a:defRPr lang="en-US"/>
            </a:defPPr>
            <a:lvl1pPr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a:lstStyle>
          <a:p>
            <a:pPr indent="0" algn="just">
              <a:lnSpc>
                <a:spcPct val="117000"/>
              </a:lnSpc>
              <a:defRPr/>
            </a:pPr>
            <a:r>
              <a:rPr lang="zh-CN" altLang="en-US" sz="1400" b="1" dirty="0">
                <a:gradFill>
                  <a:gsLst>
                    <a:gs pos="42000">
                      <a:srgbClr val="EC5763"/>
                    </a:gs>
                    <a:gs pos="0">
                      <a:srgbClr val="F28F97"/>
                    </a:gs>
                    <a:gs pos="100000">
                      <a:srgbClr val="E51E2E"/>
                    </a:gs>
                  </a:gsLst>
                  <a:lin ang="5400000" scaled="1"/>
                </a:gra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Noto Sans SC" panose="020B0200000000000000" charset="-122"/>
              </a:rPr>
              <a:t>市场规模：</a:t>
            </a:r>
            <a:r>
              <a:rPr lang="en-US" sz="140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预计到2030年仅人形机器人关节模组市场规模将达到</a:t>
            </a:r>
            <a:r>
              <a:rPr lang="en-US" sz="1400" b="1">
                <a:solidFill>
                  <a:schemeClr val="tx2">
                    <a:lumMod val="5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50亿—250亿元</a:t>
            </a:r>
            <a:r>
              <a:rPr lang="en-US" sz="140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，潜力巨大。</a:t>
            </a:r>
            <a:endParaRPr lang="en-US" sz="1400"/>
          </a:p>
          <a:p>
            <a:pPr indent="0" algn="just">
              <a:lnSpc>
                <a:spcPct val="117000"/>
              </a:lnSpc>
            </a:pPr>
            <a:r>
              <a:rPr lang="zh-CN" altLang="en-US" sz="1400" b="1" dirty="0">
                <a:gradFill>
                  <a:gsLst>
                    <a:gs pos="42000">
                      <a:srgbClr val="EC5763"/>
                    </a:gs>
                    <a:gs pos="0">
                      <a:srgbClr val="F28F97"/>
                    </a:gs>
                    <a:gs pos="100000">
                      <a:srgbClr val="E51E2E"/>
                    </a:gs>
                  </a:gsLst>
                  <a:lin ang="5400000" scaled="1"/>
                </a:gra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Noto Sans SC" panose="020B0200000000000000" charset="-122"/>
              </a:rPr>
              <a:t>单机价值量：</a:t>
            </a:r>
            <a:r>
              <a:rPr lang="en-US" sz="140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一台人形机器人需搭载</a:t>
            </a:r>
            <a:r>
              <a:rPr lang="en-US" sz="1400" b="1">
                <a:solidFill>
                  <a:schemeClr val="tx2">
                    <a:lumMod val="5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15-40个</a:t>
            </a:r>
            <a:r>
              <a:rPr lang="en-US" sz="140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关节模组，单台对核心零部件需求极高。</a:t>
            </a:r>
          </a:p>
          <a:p>
            <a:pPr indent="0" algn="just">
              <a:lnSpc>
                <a:spcPct val="117000"/>
              </a:lnSpc>
            </a:pPr>
            <a:r>
              <a:rPr lang="zh-CN" altLang="en-US" sz="1400" b="1" dirty="0">
                <a:gradFill>
                  <a:gsLst>
                    <a:gs pos="42000">
                      <a:srgbClr val="EC5763"/>
                    </a:gs>
                    <a:gs pos="0">
                      <a:srgbClr val="F28F97"/>
                    </a:gs>
                    <a:gs pos="100000">
                      <a:srgbClr val="E51E2E"/>
                    </a:gs>
                  </a:gsLst>
                  <a:lin ang="5400000" scaled="1"/>
                </a:gra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Noto Sans SC" panose="020B0200000000000000" charset="-122"/>
              </a:rPr>
              <a:t>服务内容：</a:t>
            </a:r>
            <a:r>
              <a:rPr lang="zh-CN" altLang="en-US" sz="1400" b="1" dirty="0">
                <a:solidFill>
                  <a:schemeClr val="accent1">
                    <a:lumMod val="50000"/>
                  </a:schemeClr>
                </a:solidFill>
                <a:latin typeface="微软雅黑" panose="020B0503020204020204" charset="-122"/>
                <a:ea typeface="微软雅黑" panose="020B0503020204020204" charset="-122"/>
                <a:cs typeface="+mn-ea"/>
                <a:sym typeface="+mn-lt"/>
              </a:rPr>
              <a:t>为高动态、多关节驱动的人形/四足机器人提供关节模组、电池与电控系统的精准温控方案，支撑机器人长时间、高强度作业。</a:t>
            </a:r>
            <a:endPar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lgn="just">
              <a:lnSpc>
                <a:spcPct val="150000"/>
              </a:lnSpc>
              <a:buClrTx/>
              <a:buSzTx/>
              <a:buFontTx/>
              <a:defRPr/>
            </a:pPr>
            <a:endParaRPr lang="zh-CN" altLang="en-US" sz="1400" b="1" dirty="0">
              <a:solidFill>
                <a:schemeClr val="accent1">
                  <a:lumMod val="50000"/>
                </a:schemeClr>
              </a:solidFill>
              <a:latin typeface="微软雅黑" panose="020B0503020204020204" charset="-122"/>
              <a:ea typeface="微软雅黑" panose="020B0503020204020204" charset="-122"/>
              <a:cs typeface="+mn-ea"/>
              <a:sym typeface="+mn-lt"/>
            </a:endParaRPr>
          </a:p>
          <a:p>
            <a:pPr algn="just">
              <a:lnSpc>
                <a:spcPct val="150000"/>
              </a:lnSpc>
              <a:buClrTx/>
              <a:buSzTx/>
              <a:buFontTx/>
              <a:defRPr/>
            </a:pPr>
            <a:endParaRPr lang="zh-CN" altLang="en-US" sz="1400" b="1" dirty="0">
              <a:solidFill>
                <a:schemeClr val="accent1">
                  <a:lumMod val="50000"/>
                </a:schemeClr>
              </a:solidFill>
              <a:latin typeface="微软雅黑" panose="020B0503020204020204" charset="-122"/>
              <a:ea typeface="微软雅黑" panose="020B0503020204020204" charset="-122"/>
              <a:cs typeface="+mn-ea"/>
              <a:sym typeface="+mn-lt"/>
            </a:endParaRPr>
          </a:p>
        </p:txBody>
      </p:sp>
      <p:pic>
        <p:nvPicPr>
          <p:cNvPr id="41" name="图片 40"/>
          <p:cNvPicPr>
            <a:picLocks noChangeAspect="1"/>
          </p:cNvPicPr>
          <p:nvPr/>
        </p:nvPicPr>
        <p:blipFill>
          <a:blip r:embed="rId8"/>
          <a:stretch>
            <a:fillRect/>
          </a:stretch>
        </p:blipFill>
        <p:spPr>
          <a:xfrm>
            <a:off x="7249160" y="1988820"/>
            <a:ext cx="3689985" cy="2075180"/>
          </a:xfrm>
          <a:prstGeom prst="rect">
            <a:avLst/>
          </a:prstGeom>
        </p:spPr>
      </p:pic>
      <p:sp>
        <p:nvSpPr>
          <p:cNvPr id="43" name="文本框 42"/>
          <p:cNvSpPr txBox="1"/>
          <p:nvPr/>
        </p:nvSpPr>
        <p:spPr>
          <a:xfrm>
            <a:off x="7988300" y="1098550"/>
            <a:ext cx="2509520" cy="460375"/>
          </a:xfrm>
          <a:prstGeom prst="rect">
            <a:avLst/>
          </a:prstGeom>
          <a:noFill/>
        </p:spPr>
        <p:txBody>
          <a:bodyPr wrap="square" rtlCol="0" anchor="t">
            <a:spAutoFit/>
          </a:bodyPr>
          <a:lstStyle/>
          <a:p>
            <a:r>
              <a:rPr lang="zh-CN" altLang="en-US" sz="2400" b="1" dirty="0">
                <a:gradFill>
                  <a:gsLst>
                    <a:gs pos="42000">
                      <a:srgbClr val="EC5763"/>
                    </a:gs>
                    <a:gs pos="0">
                      <a:srgbClr val="F28F97"/>
                    </a:gs>
                    <a:gs pos="100000">
                      <a:srgbClr val="E51E2E"/>
                    </a:gs>
                  </a:gsLst>
                  <a:lin ang="5400000" scaled="1"/>
                </a:gra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重载无人机方向</a:t>
            </a:r>
          </a:p>
        </p:txBody>
      </p:sp>
      <p:sp>
        <p:nvSpPr>
          <p:cNvPr id="44" name="文本框 43"/>
          <p:cNvSpPr txBox="1"/>
          <p:nvPr/>
        </p:nvSpPr>
        <p:spPr>
          <a:xfrm>
            <a:off x="1913255" y="1109345"/>
            <a:ext cx="3656965" cy="460375"/>
          </a:xfrm>
          <a:prstGeom prst="rect">
            <a:avLst/>
          </a:prstGeom>
          <a:noFill/>
        </p:spPr>
        <p:txBody>
          <a:bodyPr wrap="square" rtlCol="0" anchor="t">
            <a:spAutoFit/>
          </a:bodyPr>
          <a:lstStyle/>
          <a:p>
            <a:r>
              <a:rPr lang="zh-CN" altLang="en-US" sz="2400" b="1" dirty="0">
                <a:gradFill>
                  <a:gsLst>
                    <a:gs pos="42000">
                      <a:srgbClr val="EC5763"/>
                    </a:gs>
                    <a:gs pos="0">
                      <a:srgbClr val="F28F97"/>
                    </a:gs>
                    <a:gs pos="100000">
                      <a:srgbClr val="E51E2E"/>
                    </a:gs>
                  </a:gsLst>
                  <a:lin ang="5400000" scaled="1"/>
                </a:gra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人形、四足机器人方向</a:t>
            </a:r>
          </a:p>
        </p:txBody>
      </p:sp>
      <p:pic>
        <p:nvPicPr>
          <p:cNvPr id="5" name="图片 4"/>
          <p:cNvPicPr>
            <a:picLocks noChangeAspect="1"/>
          </p:cNvPicPr>
          <p:nvPr/>
        </p:nvPicPr>
        <p:blipFill>
          <a:blip r:embed="rId9"/>
          <a:stretch>
            <a:fillRect/>
          </a:stretch>
        </p:blipFill>
        <p:spPr>
          <a:xfrm>
            <a:off x="1600835" y="1988820"/>
            <a:ext cx="3654425" cy="211010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4" name="picture 274"/>
          <p:cNvPicPr>
            <a:picLocks noChangeAspect="1"/>
          </p:cNvPicPr>
          <p:nvPr/>
        </p:nvPicPr>
        <p:blipFill>
          <a:blip r:embed="rId2"/>
          <a:stretch>
            <a:fillRect/>
          </a:stretch>
        </p:blipFill>
        <p:spPr>
          <a:xfrm>
            <a:off x="8763635" y="4489450"/>
            <a:ext cx="936625" cy="1484630"/>
          </a:xfrm>
          <a:prstGeom prst="rect">
            <a:avLst/>
          </a:prstGeom>
        </p:spPr>
      </p:pic>
      <p:pic>
        <p:nvPicPr>
          <p:cNvPr id="66" name="picture 66"/>
          <p:cNvPicPr>
            <a:picLocks noChangeAspect="1"/>
          </p:cNvPicPr>
          <p:nvPr/>
        </p:nvPicPr>
        <p:blipFill>
          <a:blip r:embed="rId3"/>
          <a:stretch>
            <a:fillRect/>
          </a:stretch>
        </p:blipFill>
        <p:spPr>
          <a:xfrm rot="21600000">
            <a:off x="0" y="6576693"/>
            <a:ext cx="12192000" cy="271779"/>
          </a:xfrm>
          <a:prstGeom prst="rect">
            <a:avLst/>
          </a:prstGeom>
        </p:spPr>
      </p:pic>
      <p:sp>
        <p:nvSpPr>
          <p:cNvPr id="70" name="textbox 70"/>
          <p:cNvSpPr/>
          <p:nvPr/>
        </p:nvSpPr>
        <p:spPr>
          <a:xfrm>
            <a:off x="1636628" y="455178"/>
            <a:ext cx="2599689" cy="507365"/>
          </a:xfrm>
          <a:prstGeom prst="rect">
            <a:avLst/>
          </a:prstGeom>
          <a:noFill/>
          <a:ln w="0" cap="flat">
            <a:noFill/>
            <a:prstDash val="solid"/>
            <a:miter lim="0"/>
          </a:ln>
        </p:spPr>
        <p:txBody>
          <a:bodyPr vert="horz" wrap="square" lIns="0" tIns="0" rIns="0" bIns="0"/>
          <a:lstStyle/>
          <a:p>
            <a:pPr algn="l" rtl="0" eaLnBrk="0">
              <a:lnSpc>
                <a:spcPct val="93000"/>
              </a:lnSpc>
            </a:pPr>
            <a:endParaRPr sz="1000" dirty="0">
              <a:latin typeface="微软雅黑" panose="020B0503020204020204" charset="-122"/>
              <a:ea typeface="微软雅黑" panose="020B0503020204020204" charset="-122"/>
              <a:cs typeface="微软雅黑" panose="020B0503020204020204" charset="-122"/>
            </a:endParaRPr>
          </a:p>
        </p:txBody>
      </p:sp>
      <p:sp>
        <p:nvSpPr>
          <p:cNvPr id="74" name="path 74"/>
          <p:cNvSpPr/>
          <p:nvPr/>
        </p:nvSpPr>
        <p:spPr>
          <a:xfrm>
            <a:off x="348614" y="354965"/>
            <a:ext cx="540385" cy="137794"/>
          </a:xfrm>
          <a:custGeom>
            <a:avLst/>
            <a:gdLst/>
            <a:ahLst/>
            <a:cxnLst/>
            <a:rect l="0" t="0" r="0" b="0"/>
            <a:pathLst>
              <a:path w="851" h="216">
                <a:moveTo>
                  <a:pt x="0" y="216"/>
                </a:moveTo>
                <a:lnTo>
                  <a:pt x="217" y="216"/>
                </a:lnTo>
                <a:lnTo>
                  <a:pt x="217" y="0"/>
                </a:lnTo>
                <a:lnTo>
                  <a:pt x="0" y="0"/>
                </a:lnTo>
                <a:lnTo>
                  <a:pt x="0" y="216"/>
                </a:lnTo>
                <a:close/>
              </a:path>
              <a:path w="851" h="216">
                <a:moveTo>
                  <a:pt x="317" y="216"/>
                </a:moveTo>
                <a:lnTo>
                  <a:pt x="534" y="216"/>
                </a:lnTo>
                <a:lnTo>
                  <a:pt x="534" y="0"/>
                </a:lnTo>
                <a:lnTo>
                  <a:pt x="317" y="0"/>
                </a:lnTo>
                <a:lnTo>
                  <a:pt x="317" y="216"/>
                </a:lnTo>
                <a:close/>
              </a:path>
              <a:path w="851" h="216">
                <a:moveTo>
                  <a:pt x="633" y="216"/>
                </a:moveTo>
                <a:lnTo>
                  <a:pt x="851" y="216"/>
                </a:lnTo>
                <a:lnTo>
                  <a:pt x="851" y="0"/>
                </a:lnTo>
                <a:lnTo>
                  <a:pt x="633" y="0"/>
                </a:lnTo>
                <a:lnTo>
                  <a:pt x="633"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2" name="path 82"/>
          <p:cNvSpPr/>
          <p:nvPr/>
        </p:nvSpPr>
        <p:spPr>
          <a:xfrm>
            <a:off x="348614" y="567054"/>
            <a:ext cx="339090" cy="349885"/>
          </a:xfrm>
          <a:custGeom>
            <a:avLst/>
            <a:gdLst/>
            <a:ahLst/>
            <a:cxnLst/>
            <a:rect l="0" t="0" r="0" b="0"/>
            <a:pathLst>
              <a:path w="534" h="551">
                <a:moveTo>
                  <a:pt x="0" y="217"/>
                </a:moveTo>
                <a:lnTo>
                  <a:pt x="217" y="217"/>
                </a:lnTo>
                <a:lnTo>
                  <a:pt x="217" y="0"/>
                </a:lnTo>
                <a:lnTo>
                  <a:pt x="0" y="0"/>
                </a:lnTo>
                <a:lnTo>
                  <a:pt x="0" y="217"/>
                </a:lnTo>
                <a:close/>
              </a:path>
              <a:path w="534" h="551">
                <a:moveTo>
                  <a:pt x="317" y="217"/>
                </a:moveTo>
                <a:lnTo>
                  <a:pt x="534" y="217"/>
                </a:lnTo>
                <a:lnTo>
                  <a:pt x="534" y="0"/>
                </a:lnTo>
                <a:lnTo>
                  <a:pt x="317" y="0"/>
                </a:lnTo>
                <a:lnTo>
                  <a:pt x="317" y="217"/>
                </a:lnTo>
                <a:close/>
              </a:path>
              <a:path w="534" h="551">
                <a:moveTo>
                  <a:pt x="0" y="551"/>
                </a:moveTo>
                <a:lnTo>
                  <a:pt x="217" y="551"/>
                </a:lnTo>
                <a:lnTo>
                  <a:pt x="217" y="334"/>
                </a:lnTo>
                <a:lnTo>
                  <a:pt x="0" y="334"/>
                </a:lnTo>
                <a:lnTo>
                  <a:pt x="0" y="551"/>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4" name="path 84"/>
          <p:cNvSpPr/>
          <p:nvPr/>
        </p:nvSpPr>
        <p:spPr>
          <a:xfrm>
            <a:off x="348614" y="142875"/>
            <a:ext cx="741680" cy="137794"/>
          </a:xfrm>
          <a:custGeom>
            <a:avLst/>
            <a:gdLst/>
            <a:ahLst/>
            <a:cxnLst/>
            <a:rect l="0" t="0" r="0" b="0"/>
            <a:pathLst>
              <a:path w="1168" h="216">
                <a:moveTo>
                  <a:pt x="0" y="216"/>
                </a:moveTo>
                <a:lnTo>
                  <a:pt x="217" y="216"/>
                </a:lnTo>
                <a:lnTo>
                  <a:pt x="217" y="0"/>
                </a:lnTo>
                <a:lnTo>
                  <a:pt x="0" y="0"/>
                </a:lnTo>
                <a:lnTo>
                  <a:pt x="0" y="216"/>
                </a:lnTo>
                <a:close/>
              </a:path>
              <a:path w="1168" h="216">
                <a:moveTo>
                  <a:pt x="317" y="216"/>
                </a:moveTo>
                <a:lnTo>
                  <a:pt x="534" y="216"/>
                </a:lnTo>
                <a:lnTo>
                  <a:pt x="534" y="0"/>
                </a:lnTo>
                <a:lnTo>
                  <a:pt x="317" y="0"/>
                </a:lnTo>
                <a:lnTo>
                  <a:pt x="317" y="216"/>
                </a:lnTo>
                <a:close/>
              </a:path>
              <a:path w="1168" h="216">
                <a:moveTo>
                  <a:pt x="633" y="216"/>
                </a:moveTo>
                <a:lnTo>
                  <a:pt x="851" y="216"/>
                </a:lnTo>
                <a:lnTo>
                  <a:pt x="851" y="0"/>
                </a:lnTo>
                <a:lnTo>
                  <a:pt x="633" y="0"/>
                </a:lnTo>
                <a:lnTo>
                  <a:pt x="633" y="216"/>
                </a:lnTo>
                <a:close/>
              </a:path>
              <a:path w="1168" h="216">
                <a:moveTo>
                  <a:pt x="951" y="216"/>
                </a:moveTo>
                <a:lnTo>
                  <a:pt x="1168" y="216"/>
                </a:lnTo>
                <a:lnTo>
                  <a:pt x="1168" y="0"/>
                </a:lnTo>
                <a:lnTo>
                  <a:pt x="951" y="0"/>
                </a:lnTo>
                <a:lnTo>
                  <a:pt x="951"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6" name="path 86"/>
          <p:cNvSpPr/>
          <p:nvPr/>
        </p:nvSpPr>
        <p:spPr>
          <a:xfrm>
            <a:off x="688340" y="955040"/>
            <a:ext cx="10786745" cy="76200"/>
          </a:xfrm>
          <a:custGeom>
            <a:avLst/>
            <a:gdLst/>
            <a:ahLst/>
            <a:cxnLst/>
            <a:rect l="0" t="0" r="0" b="0"/>
            <a:pathLst>
              <a:path w="15485" h="10">
                <a:moveTo>
                  <a:pt x="0" y="5"/>
                </a:moveTo>
                <a:lnTo>
                  <a:pt x="15485" y="5"/>
                </a:lnTo>
              </a:path>
            </a:pathLst>
          </a:custGeom>
          <a:noFill/>
          <a:ln w="6350" cap="flat">
            <a:solidFill>
              <a:srgbClr val="D9D9D9"/>
            </a:solidFill>
            <a:prstDash val="solid"/>
            <a:miter lim="1000000"/>
          </a:ln>
        </p:spPr>
        <p:txBody>
          <a:bodyPr rtlCol="0"/>
          <a:lstStyle/>
          <a:p>
            <a:pPr algn="ctr"/>
            <a:endParaRPr lang="zh-CN" altLang="en-US"/>
          </a:p>
        </p:txBody>
      </p:sp>
      <p:sp>
        <p:nvSpPr>
          <p:cNvPr id="88" name="rect 88"/>
          <p:cNvSpPr/>
          <p:nvPr/>
        </p:nvSpPr>
        <p:spPr>
          <a:xfrm>
            <a:off x="147320" y="56705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0" name="rect 90"/>
          <p:cNvSpPr/>
          <p:nvPr/>
        </p:nvSpPr>
        <p:spPr>
          <a:xfrm>
            <a:off x="147320" y="779145"/>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2" name="rect 92"/>
          <p:cNvSpPr/>
          <p:nvPr/>
        </p:nvSpPr>
        <p:spPr>
          <a:xfrm>
            <a:off x="147320" y="99123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4" name="rect 94"/>
          <p:cNvSpPr/>
          <p:nvPr/>
        </p:nvSpPr>
        <p:spPr>
          <a:xfrm>
            <a:off x="147320" y="14287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6" name="rect 96"/>
          <p:cNvSpPr/>
          <p:nvPr/>
        </p:nvSpPr>
        <p:spPr>
          <a:xfrm>
            <a:off x="147320" y="35496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pic>
        <p:nvPicPr>
          <p:cNvPr id="2" name="图片 1"/>
          <p:cNvPicPr>
            <a:picLocks noChangeAspect="1"/>
          </p:cNvPicPr>
          <p:nvPr/>
        </p:nvPicPr>
        <p:blipFill>
          <a:blip r:embed="rId4"/>
          <a:stretch>
            <a:fillRect/>
          </a:stretch>
        </p:blipFill>
        <p:spPr>
          <a:xfrm>
            <a:off x="10428563" y="68429"/>
            <a:ext cx="1354271" cy="781170"/>
          </a:xfrm>
          <a:prstGeom prst="rect">
            <a:avLst/>
          </a:prstGeom>
        </p:spPr>
      </p:pic>
      <p:sp>
        <p:nvSpPr>
          <p:cNvPr id="3" name="textbox 60"/>
          <p:cNvSpPr/>
          <p:nvPr/>
        </p:nvSpPr>
        <p:spPr>
          <a:xfrm>
            <a:off x="688022" y="3017728"/>
            <a:ext cx="10637203" cy="3795845"/>
          </a:xfrm>
          <a:prstGeom prst="rect">
            <a:avLst/>
          </a:prstGeom>
          <a:noFill/>
          <a:ln w="0" cap="flat">
            <a:noFill/>
            <a:prstDash val="solid"/>
            <a:miter lim="0"/>
          </a:ln>
        </p:spPr>
        <p:txBody>
          <a:bodyPr vert="horz" wrap="square" lIns="0" tIns="0" rIns="0" bIns="0"/>
          <a:lstStyle/>
          <a:p>
            <a:pPr algn="l" rtl="0" eaLnBrk="0">
              <a:lnSpc>
                <a:spcPct val="150000"/>
              </a:lnSpc>
            </a:pPr>
            <a:endParaRPr sz="100" dirty="0">
              <a:latin typeface="Arial" panose="020B0604020202020204"/>
              <a:ea typeface="Arial" panose="020B0604020202020204"/>
              <a:cs typeface="Arial" panose="020B0604020202020204"/>
            </a:endParaRPr>
          </a:p>
          <a:p>
            <a:pPr marL="17145" algn="l" rtl="0" eaLnBrk="0">
              <a:lnSpc>
                <a:spcPct val="150000"/>
              </a:lnSpc>
              <a:spcBef>
                <a:spcPts val="600"/>
              </a:spcBef>
              <a:spcAft>
                <a:spcPts val="600"/>
              </a:spcAft>
            </a:pPr>
            <a:endParaRPr lang="zh-CN" altLang="en-US" kern="0" spc="90" dirty="0">
              <a:solidFill>
                <a:srgbClr val="595959">
                  <a:alpha val="100000"/>
                </a:srgbClr>
              </a:solidFill>
              <a:latin typeface="微软雅黑" panose="020B0503020204020204" charset="-122"/>
              <a:ea typeface="微软雅黑" panose="020B0503020204020204" charset="-122"/>
              <a:cs typeface="微软雅黑" panose="020B0503020204020204" charset="-122"/>
            </a:endParaRPr>
          </a:p>
        </p:txBody>
      </p:sp>
      <p:sp>
        <p:nvSpPr>
          <p:cNvPr id="6" name="矩形 5"/>
          <p:cNvSpPr/>
          <p:nvPr/>
        </p:nvSpPr>
        <p:spPr>
          <a:xfrm>
            <a:off x="890270" y="354965"/>
            <a:ext cx="746125" cy="387985"/>
          </a:xfrm>
          <a:prstGeom prst="rect">
            <a:avLst/>
          </a:prstGeom>
          <a:noFill/>
          <a:ln>
            <a:noFill/>
          </a:ln>
        </p:spPr>
        <p:txBody>
          <a:bodyPr wrap="none" rtlCol="0" anchor="t">
            <a:noAutofit/>
          </a:bodyPr>
          <a:lstStyle/>
          <a:p>
            <a:pPr algn="ctr"/>
            <a:endParaRPr lang="en-US" altLang="zh-CN" sz="4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8" name="文本框 7"/>
          <p:cNvSpPr txBox="1"/>
          <p:nvPr/>
        </p:nvSpPr>
        <p:spPr>
          <a:xfrm>
            <a:off x="837565" y="433070"/>
            <a:ext cx="6797675" cy="521970"/>
          </a:xfrm>
          <a:prstGeom prst="rect">
            <a:avLst/>
          </a:prstGeom>
          <a:noFill/>
        </p:spPr>
        <p:txBody>
          <a:bodyPr wrap="square" rtlCol="0" anchor="t">
            <a:spAutoFit/>
          </a:bodyPr>
          <a:lstStyle/>
          <a:p>
            <a:r>
              <a:rPr lang="zh-CN" altLang="en-US" sz="2800" b="1" kern="0" spc="150" dirty="0">
                <a:solidFill>
                  <a:srgbClr val="2C5374">
                    <a:alpha val="100000"/>
                  </a:srgbClr>
                </a:solidFill>
                <a:latin typeface="微软雅黑" panose="020B0503020204020204" charset="-122"/>
                <a:ea typeface="微软雅黑" panose="020B0503020204020204" charset="-122"/>
                <a:cs typeface="微软雅黑" panose="020B0503020204020204" charset="-122"/>
                <a:sym typeface="+mn-ea"/>
              </a:rPr>
              <a:t>产品方向聚焦</a:t>
            </a:r>
          </a:p>
        </p:txBody>
      </p:sp>
      <p:sp>
        <p:nvSpPr>
          <p:cNvPr id="72" name="path 72"/>
          <p:cNvSpPr/>
          <p:nvPr/>
        </p:nvSpPr>
        <p:spPr>
          <a:xfrm>
            <a:off x="11398249" y="6043294"/>
            <a:ext cx="741679" cy="774064"/>
          </a:xfrm>
          <a:custGeom>
            <a:avLst/>
            <a:gdLst/>
            <a:ahLst/>
            <a:cxnLst/>
            <a:rect l="0" t="0" r="0" b="0"/>
            <a:pathLst>
              <a:path w="1167" h="1218">
                <a:moveTo>
                  <a:pt x="950" y="1218"/>
                </a:moveTo>
                <a:lnTo>
                  <a:pt x="1167" y="1218"/>
                </a:lnTo>
                <a:lnTo>
                  <a:pt x="1167" y="1001"/>
                </a:lnTo>
                <a:lnTo>
                  <a:pt x="950" y="1001"/>
                </a:lnTo>
                <a:lnTo>
                  <a:pt x="950" y="1218"/>
                </a:lnTo>
                <a:close/>
              </a:path>
              <a:path w="1167" h="1218">
                <a:moveTo>
                  <a:pt x="634" y="1218"/>
                </a:moveTo>
                <a:lnTo>
                  <a:pt x="850" y="1218"/>
                </a:lnTo>
                <a:lnTo>
                  <a:pt x="850" y="1001"/>
                </a:lnTo>
                <a:lnTo>
                  <a:pt x="634" y="1001"/>
                </a:lnTo>
                <a:lnTo>
                  <a:pt x="634" y="1218"/>
                </a:lnTo>
                <a:close/>
              </a:path>
              <a:path w="1167" h="1218">
                <a:moveTo>
                  <a:pt x="317" y="1218"/>
                </a:moveTo>
                <a:lnTo>
                  <a:pt x="534" y="1218"/>
                </a:lnTo>
                <a:lnTo>
                  <a:pt x="534" y="1001"/>
                </a:lnTo>
                <a:lnTo>
                  <a:pt x="317" y="1001"/>
                </a:lnTo>
                <a:lnTo>
                  <a:pt x="317" y="1218"/>
                </a:lnTo>
                <a:close/>
              </a:path>
              <a:path w="1167" h="1218">
                <a:moveTo>
                  <a:pt x="0" y="1218"/>
                </a:moveTo>
                <a:lnTo>
                  <a:pt x="216" y="1218"/>
                </a:lnTo>
                <a:lnTo>
                  <a:pt x="216" y="1001"/>
                </a:lnTo>
                <a:lnTo>
                  <a:pt x="0" y="1001"/>
                </a:lnTo>
                <a:lnTo>
                  <a:pt x="0" y="1218"/>
                </a:lnTo>
                <a:close/>
              </a:path>
              <a:path w="1167" h="1218">
                <a:moveTo>
                  <a:pt x="950" y="884"/>
                </a:moveTo>
                <a:lnTo>
                  <a:pt x="1167" y="884"/>
                </a:lnTo>
                <a:lnTo>
                  <a:pt x="1167" y="667"/>
                </a:lnTo>
                <a:lnTo>
                  <a:pt x="950" y="667"/>
                </a:lnTo>
                <a:lnTo>
                  <a:pt x="950" y="884"/>
                </a:lnTo>
                <a:close/>
              </a:path>
              <a:path w="1167" h="1218">
                <a:moveTo>
                  <a:pt x="634" y="884"/>
                </a:moveTo>
                <a:lnTo>
                  <a:pt x="850" y="884"/>
                </a:lnTo>
                <a:lnTo>
                  <a:pt x="850" y="667"/>
                </a:lnTo>
                <a:lnTo>
                  <a:pt x="634" y="667"/>
                </a:lnTo>
                <a:lnTo>
                  <a:pt x="634" y="884"/>
                </a:lnTo>
                <a:close/>
              </a:path>
              <a:path w="1167" h="1218">
                <a:moveTo>
                  <a:pt x="317" y="884"/>
                </a:moveTo>
                <a:lnTo>
                  <a:pt x="534" y="884"/>
                </a:lnTo>
                <a:lnTo>
                  <a:pt x="534" y="667"/>
                </a:lnTo>
                <a:lnTo>
                  <a:pt x="317" y="667"/>
                </a:lnTo>
                <a:lnTo>
                  <a:pt x="317" y="884"/>
                </a:lnTo>
                <a:close/>
              </a:path>
              <a:path w="1167" h="1218">
                <a:moveTo>
                  <a:pt x="950" y="550"/>
                </a:moveTo>
                <a:lnTo>
                  <a:pt x="1167" y="550"/>
                </a:lnTo>
                <a:lnTo>
                  <a:pt x="1167" y="333"/>
                </a:lnTo>
                <a:lnTo>
                  <a:pt x="950" y="333"/>
                </a:lnTo>
                <a:lnTo>
                  <a:pt x="950" y="550"/>
                </a:lnTo>
                <a:close/>
              </a:path>
              <a:path w="1167" h="1218">
                <a:moveTo>
                  <a:pt x="634" y="550"/>
                </a:moveTo>
                <a:lnTo>
                  <a:pt x="850" y="550"/>
                </a:lnTo>
                <a:lnTo>
                  <a:pt x="850" y="333"/>
                </a:lnTo>
                <a:lnTo>
                  <a:pt x="634" y="333"/>
                </a:lnTo>
                <a:lnTo>
                  <a:pt x="634" y="550"/>
                </a:lnTo>
                <a:close/>
              </a:path>
              <a:path w="1167" h="1218">
                <a:moveTo>
                  <a:pt x="950" y="216"/>
                </a:moveTo>
                <a:lnTo>
                  <a:pt x="1167" y="216"/>
                </a:lnTo>
                <a:lnTo>
                  <a:pt x="1167" y="0"/>
                </a:lnTo>
                <a:lnTo>
                  <a:pt x="950" y="0"/>
                </a:lnTo>
                <a:lnTo>
                  <a:pt x="950"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270" name="textbox 270"/>
          <p:cNvSpPr/>
          <p:nvPr/>
        </p:nvSpPr>
        <p:spPr>
          <a:xfrm>
            <a:off x="1934210" y="2234565"/>
            <a:ext cx="2301875" cy="2930525"/>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a:ea typeface="Arial" panose="020B0604020202020204"/>
              <a:cs typeface="Arial" panose="020B0604020202020204"/>
            </a:endParaRPr>
          </a:p>
          <a:p>
            <a:pPr marL="20955" algn="l" rtl="0" eaLnBrk="0">
              <a:lnSpc>
                <a:spcPct val="150000"/>
              </a:lnSpc>
            </a:pPr>
            <a:r>
              <a:rPr lang="en-US" sz="2000" b="1" kern="0" spc="260" dirty="0">
                <a:solidFill>
                  <a:srgbClr val="2C5374">
                    <a:alpha val="100000"/>
                  </a:srgbClr>
                </a:solidFill>
                <a:latin typeface="微软雅黑" panose="020B0503020204020204" charset="-122"/>
                <a:ea typeface="微软雅黑" panose="020B0503020204020204" charset="-122"/>
                <a:cs typeface="微软雅黑" panose="020B0503020204020204" charset="-122"/>
              </a:rPr>
              <a:t> </a:t>
            </a:r>
            <a:endParaRPr lang="en-US" altLang="zh-CN" sz="1600" b="1" kern="0" spc="170" dirty="0">
              <a:solidFill>
                <a:srgbClr val="2C5374">
                  <a:alpha val="100000"/>
                </a:srgbClr>
              </a:solidFill>
              <a:latin typeface="微软雅黑" panose="020B0503020204020204" charset="-122"/>
              <a:ea typeface="微软雅黑" panose="020B0503020204020204" charset="-122"/>
              <a:cs typeface="微软雅黑" panose="020B0503020204020204" charset="-122"/>
            </a:endParaRPr>
          </a:p>
          <a:p>
            <a:pPr marL="20955" algn="l" rtl="0" eaLnBrk="0">
              <a:lnSpc>
                <a:spcPct val="150000"/>
              </a:lnSpc>
            </a:pPr>
            <a:endParaRPr sz="1600" dirty="0">
              <a:latin typeface="Arial" panose="020B0604020202020204"/>
              <a:ea typeface="Arial" panose="020B0604020202020204"/>
              <a:cs typeface="Arial" panose="020B0604020202020204"/>
            </a:endParaRPr>
          </a:p>
          <a:p>
            <a:pPr marL="29210" algn="l" rtl="0" eaLnBrk="0">
              <a:lnSpc>
                <a:spcPct val="88000"/>
              </a:lnSpc>
              <a:spcBef>
                <a:spcPts val="605"/>
              </a:spcBef>
            </a:pPr>
            <a:r>
              <a:rPr sz="1600" kern="0" spc="-100" dirty="0">
                <a:solidFill>
                  <a:srgbClr val="2C5374">
                    <a:alpha val="100000"/>
                  </a:srgbClr>
                </a:solidFill>
                <a:latin typeface="Wingdings" panose="05000000000000000000"/>
                <a:ea typeface="Wingdings" panose="05000000000000000000"/>
                <a:cs typeface="Wingdings" panose="05000000000000000000"/>
              </a:rPr>
              <a:t>u</a:t>
            </a:r>
            <a:r>
              <a:rPr sz="1600" kern="0" spc="-1100" dirty="0">
                <a:solidFill>
                  <a:srgbClr val="2C5374">
                    <a:alpha val="100000"/>
                  </a:srgbClr>
                </a:solidFill>
                <a:latin typeface="Wingdings" panose="05000000000000000000"/>
                <a:ea typeface="Wingdings" panose="05000000000000000000"/>
                <a:cs typeface="Wingdings" panose="05000000000000000000"/>
              </a:rPr>
              <a:t> </a:t>
            </a:r>
            <a:r>
              <a:rPr lang="zh-CN" altLang="en-US" sz="1600" b="1" kern="0" spc="-90" dirty="0">
                <a:solidFill>
                  <a:srgbClr val="2C5374">
                    <a:alpha val="100000"/>
                  </a:srgbClr>
                </a:solidFill>
                <a:latin typeface="微软雅黑" panose="020B0503020204020204" charset="-122"/>
                <a:ea typeface="微软雅黑" panose="020B0503020204020204" charset="-122"/>
              </a:rPr>
              <a:t>高效热管理技术</a:t>
            </a:r>
            <a:endParaRPr sz="1600" b="1" kern="0" spc="-90" dirty="0">
              <a:solidFill>
                <a:srgbClr val="2C5374">
                  <a:alpha val="100000"/>
                </a:srgbClr>
              </a:solidFill>
              <a:latin typeface="微软雅黑" panose="020B0503020204020204" charset="-122"/>
              <a:ea typeface="微软雅黑" panose="020B0503020204020204" charset="-122"/>
            </a:endParaRPr>
          </a:p>
          <a:p>
            <a:pPr marL="29210" algn="l" rtl="0" eaLnBrk="0">
              <a:lnSpc>
                <a:spcPct val="88000"/>
              </a:lnSpc>
              <a:spcBef>
                <a:spcPts val="1490"/>
              </a:spcBef>
            </a:pPr>
            <a:r>
              <a:rPr sz="1600" kern="0" spc="-90" dirty="0">
                <a:solidFill>
                  <a:srgbClr val="2C5374">
                    <a:alpha val="100000"/>
                  </a:srgbClr>
                </a:solidFill>
                <a:latin typeface="Wingdings" panose="05000000000000000000"/>
                <a:ea typeface="Wingdings" panose="05000000000000000000"/>
                <a:cs typeface="Wingdings" panose="05000000000000000000"/>
              </a:rPr>
              <a:t>u</a:t>
            </a:r>
            <a:r>
              <a:rPr sz="1600" kern="0" spc="-1100" dirty="0">
                <a:solidFill>
                  <a:srgbClr val="2C5374">
                    <a:alpha val="100000"/>
                  </a:srgbClr>
                </a:solidFill>
                <a:latin typeface="Wingdings" panose="05000000000000000000"/>
                <a:ea typeface="Wingdings" panose="05000000000000000000"/>
                <a:cs typeface="Wingdings" panose="05000000000000000000"/>
              </a:rPr>
              <a:t> </a:t>
            </a:r>
            <a:r>
              <a:rPr lang="zh-CN" altLang="en-US" sz="1600" b="1" kern="0" spc="-90" dirty="0">
                <a:solidFill>
                  <a:srgbClr val="2C5374">
                    <a:alpha val="100000"/>
                  </a:srgbClr>
                </a:solidFill>
                <a:latin typeface="微软雅黑" panose="020B0503020204020204" charset="-122"/>
                <a:ea typeface="微软雅黑" panose="020B0503020204020204" charset="-122"/>
                <a:cs typeface="Wingdings" panose="05000000000000000000"/>
              </a:rPr>
              <a:t>高力矩密度电机技术</a:t>
            </a:r>
            <a:endParaRPr lang="zh-CN" altLang="en-US" sz="1600" b="1" dirty="0">
              <a:latin typeface="微软雅黑" panose="020B0503020204020204" charset="-122"/>
              <a:ea typeface="微软雅黑" panose="020B0503020204020204" charset="-122"/>
              <a:cs typeface="微软雅黑" panose="020B0503020204020204" charset="-122"/>
            </a:endParaRPr>
          </a:p>
          <a:p>
            <a:pPr marL="29210" algn="l" rtl="0" eaLnBrk="0">
              <a:lnSpc>
                <a:spcPct val="88000"/>
              </a:lnSpc>
              <a:spcBef>
                <a:spcPts val="1490"/>
              </a:spcBef>
            </a:pPr>
            <a:r>
              <a:rPr lang="en-US" altLang="zh-CN" sz="1600" kern="0" spc="-10" dirty="0">
                <a:solidFill>
                  <a:srgbClr val="2C5374">
                    <a:alpha val="100000"/>
                  </a:srgbClr>
                </a:solidFill>
                <a:latin typeface="Wingdings" panose="05000000000000000000"/>
                <a:ea typeface="Wingdings" panose="05000000000000000000"/>
                <a:cs typeface="Wingdings" panose="05000000000000000000"/>
              </a:rPr>
              <a:t>u</a:t>
            </a:r>
            <a:r>
              <a:rPr lang="zh-CN" altLang="en-US" sz="1600" b="1" kern="0" spc="-10" dirty="0">
                <a:solidFill>
                  <a:srgbClr val="2C5374">
                    <a:alpha val="100000"/>
                  </a:srgbClr>
                </a:solidFill>
                <a:latin typeface="微软雅黑" panose="020B0503020204020204" charset="-122"/>
                <a:ea typeface="微软雅黑" panose="020B0503020204020204" charset="-122"/>
                <a:cs typeface="Wingdings" panose="05000000000000000000"/>
              </a:rPr>
              <a:t> 具身智能</a:t>
            </a:r>
            <a:r>
              <a:rPr lang="zh-CN" altLang="en-US" sz="1600" b="1" kern="0" spc="-10" dirty="0">
                <a:solidFill>
                  <a:srgbClr val="2C5374">
                    <a:alpha val="100000"/>
                  </a:srgbClr>
                </a:solidFill>
                <a:latin typeface="微软雅黑" panose="020B0503020204020204" charset="-122"/>
                <a:ea typeface="微软雅黑" panose="020B0503020204020204" charset="-122"/>
                <a:cs typeface="微软雅黑" panose="020B0503020204020204" charset="-122"/>
              </a:rPr>
              <a:t>算</a:t>
            </a:r>
            <a:r>
              <a:rPr lang="zh-CN" altLang="en-US" sz="1600" b="1" kern="0" spc="-20" dirty="0">
                <a:solidFill>
                  <a:srgbClr val="2C5374">
                    <a:alpha val="100000"/>
                  </a:srgbClr>
                </a:solidFill>
                <a:latin typeface="微软雅黑" panose="020B0503020204020204" charset="-122"/>
                <a:ea typeface="微软雅黑" panose="020B0503020204020204" charset="-122"/>
                <a:cs typeface="微软雅黑" panose="020B0503020204020204" charset="-122"/>
              </a:rPr>
              <a:t>法</a:t>
            </a:r>
            <a:endParaRPr lang="zh-CN" altLang="en-US" sz="1600" dirty="0">
              <a:latin typeface="微软雅黑" panose="020B0503020204020204" charset="-122"/>
              <a:ea typeface="微软雅黑" panose="020B0503020204020204" charset="-122"/>
              <a:cs typeface="微软雅黑" panose="020B0503020204020204" charset="-122"/>
            </a:endParaRPr>
          </a:p>
        </p:txBody>
      </p:sp>
      <p:sp>
        <p:nvSpPr>
          <p:cNvPr id="278" name="textbox 278"/>
          <p:cNvSpPr/>
          <p:nvPr/>
        </p:nvSpPr>
        <p:spPr>
          <a:xfrm>
            <a:off x="5053965" y="1189355"/>
            <a:ext cx="1318260" cy="2653665"/>
          </a:xfrm>
          <a:prstGeom prst="rect">
            <a:avLst/>
          </a:prstGeom>
          <a:noFill/>
          <a:ln w="0" cap="flat">
            <a:noFill/>
            <a:prstDash val="solid"/>
            <a:miter lim="0"/>
          </a:ln>
        </p:spPr>
        <p:txBody>
          <a:bodyPr vert="horz" wrap="square" lIns="0" tIns="0" rIns="0" bIns="0"/>
          <a:lstStyle/>
          <a:p>
            <a:pPr algn="l" rtl="0" eaLnBrk="0">
              <a:lnSpc>
                <a:spcPct val="78000"/>
              </a:lnSpc>
            </a:pPr>
            <a:endParaRPr dirty="0">
              <a:latin typeface="Arial" panose="020B0604020202020204"/>
              <a:ea typeface="Arial" panose="020B0604020202020204"/>
              <a:cs typeface="Arial" panose="020B0604020202020204"/>
            </a:endParaRPr>
          </a:p>
          <a:p>
            <a:pPr marL="12700" algn="ctr" rtl="0" eaLnBrk="0">
              <a:lnSpc>
                <a:spcPct val="88000"/>
              </a:lnSpc>
            </a:pPr>
            <a:r>
              <a:rPr sz="1600" b="1" kern="0" spc="220" dirty="0">
                <a:solidFill>
                  <a:srgbClr val="2C5374">
                    <a:alpha val="100000"/>
                  </a:srgbClr>
                </a:solidFill>
                <a:latin typeface="微软雅黑" panose="020B0503020204020204" charset="-122"/>
                <a:ea typeface="微软雅黑" panose="020B0503020204020204" charset="-122"/>
                <a:cs typeface="微软雅黑" panose="020B0503020204020204" charset="-122"/>
              </a:rPr>
              <a:t>高力矩密</a:t>
            </a:r>
            <a:endParaRPr sz="1600" dirty="0">
              <a:latin typeface="微软雅黑" panose="020B0503020204020204" charset="-122"/>
              <a:ea typeface="微软雅黑" panose="020B0503020204020204" charset="-122"/>
              <a:cs typeface="微软雅黑" panose="020B0503020204020204" charset="-122"/>
            </a:endParaRPr>
          </a:p>
          <a:p>
            <a:pPr marL="156845" algn="ctr" rtl="0" eaLnBrk="0">
              <a:lnSpc>
                <a:spcPct val="87000"/>
              </a:lnSpc>
              <a:spcBef>
                <a:spcPts val="785"/>
              </a:spcBef>
            </a:pPr>
            <a:r>
              <a:rPr sz="1600" b="1" kern="0" spc="170" dirty="0">
                <a:solidFill>
                  <a:srgbClr val="2C5374">
                    <a:alpha val="100000"/>
                  </a:srgbClr>
                </a:solidFill>
                <a:latin typeface="微软雅黑" panose="020B0503020204020204" charset="-122"/>
                <a:ea typeface="微软雅黑" panose="020B0503020204020204" charset="-122"/>
                <a:cs typeface="微软雅黑" panose="020B0503020204020204" charset="-122"/>
              </a:rPr>
              <a:t>度电机</a:t>
            </a:r>
            <a:endParaRPr sz="1600" dirty="0">
              <a:latin typeface="微软雅黑" panose="020B0503020204020204" charset="-122"/>
              <a:ea typeface="微软雅黑" panose="020B0503020204020204" charset="-122"/>
              <a:cs typeface="微软雅黑" panose="020B0503020204020204" charset="-122"/>
            </a:endParaRPr>
          </a:p>
          <a:p>
            <a:pPr algn="l" rtl="0" eaLnBrk="0">
              <a:lnSpc>
                <a:spcPct val="118000"/>
              </a:lnSpc>
            </a:pPr>
            <a:endParaRPr sz="1600" dirty="0">
              <a:latin typeface="Arial" panose="020B0604020202020204"/>
              <a:ea typeface="Arial" panose="020B0604020202020204"/>
              <a:cs typeface="Arial" panose="020B0604020202020204"/>
            </a:endParaRPr>
          </a:p>
          <a:p>
            <a:pPr algn="l" rtl="0" eaLnBrk="0">
              <a:lnSpc>
                <a:spcPct val="118000"/>
              </a:lnSpc>
            </a:pPr>
            <a:endParaRPr sz="1600" dirty="0">
              <a:latin typeface="Arial" panose="020B0604020202020204"/>
              <a:ea typeface="Arial" panose="020B0604020202020204"/>
              <a:cs typeface="Arial" panose="020B0604020202020204"/>
            </a:endParaRPr>
          </a:p>
          <a:p>
            <a:pPr algn="l" rtl="0" eaLnBrk="0">
              <a:lnSpc>
                <a:spcPct val="119000"/>
              </a:lnSpc>
            </a:pPr>
            <a:endParaRPr sz="1600" dirty="0">
              <a:latin typeface="Arial" panose="020B0604020202020204"/>
              <a:ea typeface="Arial" panose="020B0604020202020204"/>
              <a:cs typeface="Arial" panose="020B0604020202020204"/>
            </a:endParaRPr>
          </a:p>
          <a:p>
            <a:pPr marL="148590" algn="ctr" rtl="0" eaLnBrk="0">
              <a:lnSpc>
                <a:spcPct val="83000"/>
              </a:lnSpc>
              <a:spcBef>
                <a:spcPts val="605"/>
              </a:spcBef>
            </a:pPr>
            <a:r>
              <a:rPr lang="zh-CN" altLang="en-US" sz="1600" b="1" kern="0" spc="20" dirty="0">
                <a:solidFill>
                  <a:srgbClr val="2C5374">
                    <a:alpha val="100000"/>
                  </a:srgbClr>
                </a:solidFill>
                <a:latin typeface="微软雅黑" panose="020B0503020204020204" charset="-122"/>
                <a:ea typeface="微软雅黑" panose="020B0503020204020204" charset="-122"/>
                <a:cs typeface="微软雅黑" panose="020B0503020204020204" charset="-122"/>
              </a:rPr>
              <a:t>高效热管理</a:t>
            </a:r>
            <a:endParaRPr lang="en-US" altLang="zh-CN" sz="1600" b="1" kern="0" spc="20" dirty="0">
              <a:solidFill>
                <a:srgbClr val="2C5374">
                  <a:alpha val="100000"/>
                </a:srgbClr>
              </a:solidFill>
              <a:latin typeface="微软雅黑" panose="020B0503020204020204" charset="-122"/>
              <a:ea typeface="微软雅黑" panose="020B0503020204020204" charset="-122"/>
              <a:cs typeface="微软雅黑" panose="020B0503020204020204" charset="-122"/>
            </a:endParaRPr>
          </a:p>
          <a:p>
            <a:pPr marL="148590" algn="ctr" rtl="0" eaLnBrk="0">
              <a:lnSpc>
                <a:spcPct val="83000"/>
              </a:lnSpc>
              <a:spcBef>
                <a:spcPts val="605"/>
              </a:spcBef>
            </a:pPr>
            <a:r>
              <a:rPr lang="zh-CN" altLang="en-US" sz="1600" b="1" kern="0" spc="20" dirty="0">
                <a:solidFill>
                  <a:srgbClr val="2C5374">
                    <a:alpha val="100000"/>
                  </a:srgbClr>
                </a:solidFill>
                <a:latin typeface="微软雅黑" panose="020B0503020204020204" charset="-122"/>
                <a:ea typeface="微软雅黑" panose="020B0503020204020204" charset="-122"/>
                <a:cs typeface="微软雅黑" panose="020B0503020204020204" charset="-122"/>
              </a:rPr>
              <a:t>关节</a:t>
            </a:r>
            <a:r>
              <a:rPr sz="1600" b="1" kern="0" spc="130" dirty="0" err="1">
                <a:solidFill>
                  <a:srgbClr val="2C5374">
                    <a:alpha val="100000"/>
                  </a:srgbClr>
                </a:solidFill>
                <a:latin typeface="微软雅黑" panose="020B0503020204020204" charset="-122"/>
                <a:ea typeface="微软雅黑" panose="020B0503020204020204" charset="-122"/>
                <a:cs typeface="微软雅黑" panose="020B0503020204020204" charset="-122"/>
              </a:rPr>
              <a:t>模组</a:t>
            </a:r>
            <a:endParaRPr sz="1600" dirty="0">
              <a:latin typeface="微软雅黑" panose="020B0503020204020204" charset="-122"/>
              <a:ea typeface="微软雅黑" panose="020B0503020204020204" charset="-122"/>
              <a:cs typeface="微软雅黑" panose="020B0503020204020204" charset="-122"/>
            </a:endParaRPr>
          </a:p>
        </p:txBody>
      </p:sp>
      <p:pic>
        <p:nvPicPr>
          <p:cNvPr id="280" name="picture 280"/>
          <p:cNvPicPr>
            <a:picLocks noChangeAspect="1"/>
          </p:cNvPicPr>
          <p:nvPr/>
        </p:nvPicPr>
        <p:blipFill>
          <a:blip r:embed="rId5"/>
          <a:stretch>
            <a:fillRect/>
          </a:stretch>
        </p:blipFill>
        <p:spPr>
          <a:xfrm rot="21600000">
            <a:off x="10692765" y="4511040"/>
            <a:ext cx="1119505" cy="850265"/>
          </a:xfrm>
          <a:prstGeom prst="rect">
            <a:avLst/>
          </a:prstGeom>
        </p:spPr>
      </p:pic>
      <p:pic>
        <p:nvPicPr>
          <p:cNvPr id="286" name="picture 286"/>
          <p:cNvPicPr>
            <a:picLocks noChangeAspect="1"/>
          </p:cNvPicPr>
          <p:nvPr/>
        </p:nvPicPr>
        <p:blipFill>
          <a:blip r:embed="rId6"/>
          <a:stretch>
            <a:fillRect/>
          </a:stretch>
        </p:blipFill>
        <p:spPr>
          <a:xfrm rot="21600000">
            <a:off x="6503035" y="4449445"/>
            <a:ext cx="855345" cy="784860"/>
          </a:xfrm>
          <a:prstGeom prst="rect">
            <a:avLst/>
          </a:prstGeom>
        </p:spPr>
      </p:pic>
      <p:pic>
        <p:nvPicPr>
          <p:cNvPr id="290" name="picture 290"/>
          <p:cNvPicPr>
            <a:picLocks noChangeAspect="1"/>
          </p:cNvPicPr>
          <p:nvPr/>
        </p:nvPicPr>
        <p:blipFill>
          <a:blip r:embed="rId7"/>
          <a:stretch>
            <a:fillRect/>
          </a:stretch>
        </p:blipFill>
        <p:spPr>
          <a:xfrm rot="21600000">
            <a:off x="8580755" y="1124585"/>
            <a:ext cx="899795" cy="726440"/>
          </a:xfrm>
          <a:prstGeom prst="rect">
            <a:avLst/>
          </a:prstGeom>
        </p:spPr>
      </p:pic>
      <p:pic>
        <p:nvPicPr>
          <p:cNvPr id="292" name="picture 292"/>
          <p:cNvPicPr>
            <a:picLocks noChangeAspect="1"/>
          </p:cNvPicPr>
          <p:nvPr/>
        </p:nvPicPr>
        <p:blipFill>
          <a:blip r:embed="rId8"/>
          <a:stretch>
            <a:fillRect/>
          </a:stretch>
        </p:blipFill>
        <p:spPr>
          <a:xfrm rot="21600000">
            <a:off x="6520180" y="2835275"/>
            <a:ext cx="1062990" cy="603250"/>
          </a:xfrm>
          <a:prstGeom prst="rect">
            <a:avLst/>
          </a:prstGeom>
        </p:spPr>
      </p:pic>
      <p:pic>
        <p:nvPicPr>
          <p:cNvPr id="294" name="picture 294"/>
          <p:cNvPicPr>
            <a:picLocks noChangeAspect="1"/>
          </p:cNvPicPr>
          <p:nvPr/>
        </p:nvPicPr>
        <p:blipFill>
          <a:blip r:embed="rId9"/>
          <a:stretch>
            <a:fillRect/>
          </a:stretch>
        </p:blipFill>
        <p:spPr>
          <a:xfrm rot="21600000">
            <a:off x="10754360" y="2800985"/>
            <a:ext cx="746760" cy="723900"/>
          </a:xfrm>
          <a:prstGeom prst="rect">
            <a:avLst/>
          </a:prstGeom>
        </p:spPr>
      </p:pic>
      <p:pic>
        <p:nvPicPr>
          <p:cNvPr id="296" name="picture 296"/>
          <p:cNvPicPr>
            <a:picLocks noChangeAspect="1"/>
          </p:cNvPicPr>
          <p:nvPr/>
        </p:nvPicPr>
        <p:blipFill>
          <a:blip r:embed="rId10"/>
          <a:stretch>
            <a:fillRect/>
          </a:stretch>
        </p:blipFill>
        <p:spPr>
          <a:xfrm rot="21600000">
            <a:off x="8678545" y="2813685"/>
            <a:ext cx="716915" cy="711200"/>
          </a:xfrm>
          <a:prstGeom prst="rect">
            <a:avLst/>
          </a:prstGeom>
        </p:spPr>
      </p:pic>
      <p:pic>
        <p:nvPicPr>
          <p:cNvPr id="298" name="picture 298"/>
          <p:cNvPicPr>
            <a:picLocks noChangeAspect="1"/>
          </p:cNvPicPr>
          <p:nvPr/>
        </p:nvPicPr>
        <p:blipFill>
          <a:blip r:embed="rId11"/>
          <a:stretch>
            <a:fillRect/>
          </a:stretch>
        </p:blipFill>
        <p:spPr>
          <a:xfrm rot="21600000">
            <a:off x="3959730" y="3276905"/>
            <a:ext cx="1037073" cy="769175"/>
          </a:xfrm>
          <a:prstGeom prst="rect">
            <a:avLst/>
          </a:prstGeom>
        </p:spPr>
      </p:pic>
      <p:sp>
        <p:nvSpPr>
          <p:cNvPr id="304" name="textbox 304"/>
          <p:cNvSpPr/>
          <p:nvPr/>
        </p:nvSpPr>
        <p:spPr>
          <a:xfrm>
            <a:off x="10874375" y="5671185"/>
            <a:ext cx="937895" cy="304165"/>
          </a:xfrm>
          <a:prstGeom prst="rect">
            <a:avLst/>
          </a:prstGeom>
          <a:solidFill>
            <a:srgbClr val="0142AA">
              <a:alpha val="100000"/>
            </a:srgbClr>
          </a:solidFill>
          <a:ln w="0" cap="flat">
            <a:noFill/>
            <a:prstDash val="solid"/>
            <a:miter lim="0"/>
          </a:ln>
        </p:spPr>
        <p:txBody>
          <a:bodyPr vert="horz" wrap="square" lIns="0" tIns="0" rIns="0" bIns="0"/>
          <a:lstStyle/>
          <a:p>
            <a:pPr algn="ctr" rtl="0" eaLnBrk="0">
              <a:lnSpc>
                <a:spcPct val="101000"/>
              </a:lnSpc>
            </a:pPr>
            <a:r>
              <a:rPr sz="1400" kern="0" spc="-20" dirty="0">
                <a:solidFill>
                  <a:srgbClr val="FFFFFF">
                    <a:alpha val="100000"/>
                  </a:srgbClr>
                </a:solidFill>
                <a:latin typeface="微软雅黑" panose="020B0503020204020204" charset="-122"/>
                <a:ea typeface="微软雅黑" panose="020B0503020204020204" charset="-122"/>
                <a:cs typeface="微软雅黑" panose="020B0503020204020204" charset="-122"/>
              </a:rPr>
              <a:t>无人机</a:t>
            </a:r>
          </a:p>
        </p:txBody>
      </p:sp>
      <p:sp>
        <p:nvSpPr>
          <p:cNvPr id="306" name="textbox 306"/>
          <p:cNvSpPr/>
          <p:nvPr/>
        </p:nvSpPr>
        <p:spPr>
          <a:xfrm>
            <a:off x="5326380" y="4751070"/>
            <a:ext cx="995680" cy="742315"/>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a:ea typeface="Arial" panose="020B0604020202020204"/>
              <a:cs typeface="Arial" panose="020B0604020202020204"/>
            </a:endParaRPr>
          </a:p>
          <a:p>
            <a:pPr marL="12700" algn="l" rtl="0" eaLnBrk="0">
              <a:lnSpc>
                <a:spcPct val="83000"/>
              </a:lnSpc>
            </a:pPr>
            <a:r>
              <a:rPr sz="1600" b="1" kern="0" spc="130" dirty="0">
                <a:solidFill>
                  <a:srgbClr val="2C5374">
                    <a:alpha val="100000"/>
                  </a:srgbClr>
                </a:solidFill>
                <a:latin typeface="微软雅黑" panose="020B0503020204020204" charset="-122"/>
                <a:ea typeface="微软雅黑" panose="020B0503020204020204" charset="-122"/>
                <a:cs typeface="微软雅黑" panose="020B0503020204020204" charset="-122"/>
              </a:rPr>
              <a:t>场景</a:t>
            </a:r>
            <a:r>
              <a:rPr sz="1600" b="1" kern="0" spc="110" dirty="0">
                <a:solidFill>
                  <a:srgbClr val="2C5374">
                    <a:alpha val="100000"/>
                  </a:srgbClr>
                </a:solidFill>
                <a:latin typeface="微软雅黑" panose="020B0503020204020204" charset="-122"/>
                <a:ea typeface="微软雅黑" panose="020B0503020204020204" charset="-122"/>
                <a:cs typeface="微软雅黑" panose="020B0503020204020204" charset="-122"/>
              </a:rPr>
              <a:t>应用</a:t>
            </a:r>
            <a:endParaRPr sz="1600" dirty="0">
              <a:latin typeface="微软雅黑" panose="020B0503020204020204" charset="-122"/>
              <a:ea typeface="微软雅黑" panose="020B0503020204020204" charset="-122"/>
              <a:cs typeface="微软雅黑" panose="020B0503020204020204" charset="-122"/>
            </a:endParaRPr>
          </a:p>
        </p:txBody>
      </p:sp>
      <p:sp>
        <p:nvSpPr>
          <p:cNvPr id="318" name="path 318"/>
          <p:cNvSpPr/>
          <p:nvPr/>
        </p:nvSpPr>
        <p:spPr>
          <a:xfrm flipV="1">
            <a:off x="6908800" y="1877060"/>
            <a:ext cx="4592320" cy="88900"/>
          </a:xfrm>
          <a:custGeom>
            <a:avLst/>
            <a:gdLst/>
            <a:ahLst/>
            <a:cxnLst/>
            <a:rect l="0" t="0" r="0" b="0"/>
            <a:pathLst>
              <a:path w="6838" h="102">
                <a:moveTo>
                  <a:pt x="6838" y="55"/>
                </a:moveTo>
                <a:lnTo>
                  <a:pt x="0" y="47"/>
                </a:lnTo>
              </a:path>
            </a:pathLst>
          </a:custGeom>
          <a:noFill/>
          <a:ln w="60325" cap="flat">
            <a:solidFill>
              <a:srgbClr val="6096E6"/>
            </a:solidFill>
            <a:prstDash val="solid"/>
            <a:miter lim="1000000"/>
          </a:ln>
        </p:spPr>
        <p:txBody>
          <a:bodyPr rtlCol="0"/>
          <a:lstStyle/>
          <a:p>
            <a:pPr algn="ctr"/>
            <a:endParaRPr lang="zh-CN" altLang="en-US"/>
          </a:p>
        </p:txBody>
      </p:sp>
      <p:pic>
        <p:nvPicPr>
          <p:cNvPr id="5" name="picture 328"/>
          <p:cNvPicPr>
            <a:picLocks noChangeAspect="1"/>
          </p:cNvPicPr>
          <p:nvPr/>
        </p:nvPicPr>
        <p:blipFill>
          <a:blip r:embed="rId12"/>
          <a:stretch>
            <a:fillRect/>
          </a:stretch>
        </p:blipFill>
        <p:spPr>
          <a:xfrm rot="21600000">
            <a:off x="6908752" y="2046555"/>
            <a:ext cx="284371" cy="417927"/>
          </a:xfrm>
          <a:prstGeom prst="rect">
            <a:avLst/>
          </a:prstGeom>
        </p:spPr>
      </p:pic>
      <p:pic>
        <p:nvPicPr>
          <p:cNvPr id="7" name="picture 328"/>
          <p:cNvPicPr>
            <a:picLocks noChangeAspect="1"/>
          </p:cNvPicPr>
          <p:nvPr/>
        </p:nvPicPr>
        <p:blipFill>
          <a:blip r:embed="rId12"/>
          <a:stretch>
            <a:fillRect/>
          </a:stretch>
        </p:blipFill>
        <p:spPr>
          <a:xfrm rot="21600000">
            <a:off x="8930592" y="2046555"/>
            <a:ext cx="284371" cy="417927"/>
          </a:xfrm>
          <a:prstGeom prst="rect">
            <a:avLst/>
          </a:prstGeom>
        </p:spPr>
      </p:pic>
      <p:pic>
        <p:nvPicPr>
          <p:cNvPr id="10" name="picture 328"/>
          <p:cNvPicPr>
            <a:picLocks noChangeAspect="1"/>
          </p:cNvPicPr>
          <p:nvPr/>
        </p:nvPicPr>
        <p:blipFill>
          <a:blip r:embed="rId12"/>
          <a:stretch>
            <a:fillRect/>
          </a:stretch>
        </p:blipFill>
        <p:spPr>
          <a:xfrm rot="21600000">
            <a:off x="10985452" y="2046555"/>
            <a:ext cx="284371" cy="417927"/>
          </a:xfrm>
          <a:prstGeom prst="rect">
            <a:avLst/>
          </a:prstGeom>
        </p:spPr>
      </p:pic>
      <p:pic>
        <p:nvPicPr>
          <p:cNvPr id="13" name="picture 328"/>
          <p:cNvPicPr>
            <a:picLocks noChangeAspect="1"/>
          </p:cNvPicPr>
          <p:nvPr/>
        </p:nvPicPr>
        <p:blipFill>
          <a:blip r:embed="rId12"/>
          <a:stretch>
            <a:fillRect/>
          </a:stretch>
        </p:blipFill>
        <p:spPr>
          <a:xfrm rot="21600000">
            <a:off x="10985452" y="3722320"/>
            <a:ext cx="284371" cy="417927"/>
          </a:xfrm>
          <a:prstGeom prst="rect">
            <a:avLst/>
          </a:prstGeom>
        </p:spPr>
      </p:pic>
      <p:pic>
        <p:nvPicPr>
          <p:cNvPr id="18" name="picture 328"/>
          <p:cNvPicPr>
            <a:picLocks noChangeAspect="1"/>
          </p:cNvPicPr>
          <p:nvPr/>
        </p:nvPicPr>
        <p:blipFill>
          <a:blip r:embed="rId12"/>
          <a:stretch>
            <a:fillRect/>
          </a:stretch>
        </p:blipFill>
        <p:spPr>
          <a:xfrm rot="21600000">
            <a:off x="8930592" y="3722320"/>
            <a:ext cx="284371" cy="417927"/>
          </a:xfrm>
          <a:prstGeom prst="rect">
            <a:avLst/>
          </a:prstGeom>
        </p:spPr>
      </p:pic>
      <p:pic>
        <p:nvPicPr>
          <p:cNvPr id="19" name="picture 328"/>
          <p:cNvPicPr>
            <a:picLocks noChangeAspect="1"/>
          </p:cNvPicPr>
          <p:nvPr/>
        </p:nvPicPr>
        <p:blipFill>
          <a:blip r:embed="rId12"/>
          <a:stretch>
            <a:fillRect/>
          </a:stretch>
        </p:blipFill>
        <p:spPr>
          <a:xfrm rot="21600000">
            <a:off x="6908752" y="3722320"/>
            <a:ext cx="284371" cy="417927"/>
          </a:xfrm>
          <a:prstGeom prst="rect">
            <a:avLst/>
          </a:prstGeom>
        </p:spPr>
      </p:pic>
      <p:sp>
        <p:nvSpPr>
          <p:cNvPr id="22" name="textbox 304"/>
          <p:cNvSpPr/>
          <p:nvPr/>
        </p:nvSpPr>
        <p:spPr>
          <a:xfrm>
            <a:off x="6520180" y="5671820"/>
            <a:ext cx="937895" cy="304165"/>
          </a:xfrm>
          <a:prstGeom prst="rect">
            <a:avLst/>
          </a:prstGeom>
          <a:solidFill>
            <a:srgbClr val="0142AA">
              <a:alpha val="100000"/>
            </a:srgbClr>
          </a:solidFill>
          <a:ln w="0" cap="flat">
            <a:noFill/>
            <a:prstDash val="solid"/>
            <a:miter lim="0"/>
          </a:ln>
        </p:spPr>
        <p:txBody>
          <a:bodyPr vert="horz" wrap="square" lIns="0" tIns="0" rIns="0" bIns="0"/>
          <a:lstStyle/>
          <a:p>
            <a:pPr algn="ctr" rtl="0" eaLnBrk="0">
              <a:lnSpc>
                <a:spcPct val="101000"/>
              </a:lnSpc>
            </a:pPr>
            <a:r>
              <a:rPr lang="zh-CN" sz="1400" kern="0" spc="-20" dirty="0">
                <a:solidFill>
                  <a:srgbClr val="FFFFFF">
                    <a:alpha val="100000"/>
                  </a:srgbClr>
                </a:solidFill>
                <a:latin typeface="微软雅黑" panose="020B0503020204020204" charset="-122"/>
                <a:ea typeface="微软雅黑" panose="020B0503020204020204" charset="-122"/>
                <a:cs typeface="微软雅黑" panose="020B0503020204020204" charset="-122"/>
              </a:rPr>
              <a:t>四足机器人</a:t>
            </a:r>
          </a:p>
        </p:txBody>
      </p:sp>
      <p:sp>
        <p:nvSpPr>
          <p:cNvPr id="29" name="textbox 304"/>
          <p:cNvSpPr/>
          <p:nvPr/>
        </p:nvSpPr>
        <p:spPr>
          <a:xfrm>
            <a:off x="8763635" y="5671820"/>
            <a:ext cx="937895" cy="304165"/>
          </a:xfrm>
          <a:prstGeom prst="rect">
            <a:avLst/>
          </a:prstGeom>
          <a:solidFill>
            <a:srgbClr val="0142AA">
              <a:alpha val="100000"/>
            </a:srgbClr>
          </a:solidFill>
          <a:ln w="0" cap="flat">
            <a:noFill/>
            <a:prstDash val="solid"/>
            <a:miter lim="0"/>
          </a:ln>
        </p:spPr>
        <p:txBody>
          <a:bodyPr vert="horz" wrap="square" lIns="0" tIns="0" rIns="0" bIns="0"/>
          <a:lstStyle/>
          <a:p>
            <a:pPr algn="ctr" rtl="0" eaLnBrk="0">
              <a:lnSpc>
                <a:spcPct val="101000"/>
              </a:lnSpc>
            </a:pPr>
            <a:r>
              <a:rPr lang="zh-CN" sz="1400" kern="0" spc="-20" dirty="0">
                <a:solidFill>
                  <a:srgbClr val="FFFFFF">
                    <a:alpha val="100000"/>
                  </a:srgbClr>
                </a:solidFill>
                <a:latin typeface="微软雅黑" panose="020B0503020204020204" charset="-122"/>
                <a:ea typeface="微软雅黑" panose="020B0503020204020204" charset="-122"/>
                <a:cs typeface="微软雅黑" panose="020B0503020204020204" charset="-122"/>
              </a:rPr>
              <a:t>人形机器人</a:t>
            </a:r>
          </a:p>
        </p:txBody>
      </p:sp>
      <p:sp>
        <p:nvSpPr>
          <p:cNvPr id="11" name="矩形 10"/>
          <p:cNvSpPr/>
          <p:nvPr/>
        </p:nvSpPr>
        <p:spPr>
          <a:xfrm>
            <a:off x="970274" y="2981156"/>
            <a:ext cx="65753" cy="461665"/>
          </a:xfrm>
          <a:prstGeom prst="rect">
            <a:avLst/>
          </a:prstGeom>
          <a:gradFill>
            <a:gsLst>
              <a:gs pos="50000">
                <a:srgbClr val="1F5FBF"/>
              </a:gs>
              <a:gs pos="0">
                <a:srgbClr val="1486CB"/>
              </a:gs>
              <a:gs pos="100000">
                <a:srgbClr val="2A34B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sp>
        <p:nvSpPr>
          <p:cNvPr id="16" name="文本框 15"/>
          <p:cNvSpPr txBox="1"/>
          <p:nvPr/>
        </p:nvSpPr>
        <p:spPr>
          <a:xfrm>
            <a:off x="378925" y="3443165"/>
            <a:ext cx="1257300" cy="460375"/>
          </a:xfrm>
          <a:prstGeom prst="rect">
            <a:avLst/>
          </a:prstGeom>
          <a:noFill/>
        </p:spPr>
        <p:txBody>
          <a:bodyPr wrap="square">
            <a:spAutoFit/>
          </a:bodyPr>
          <a:lstStyle/>
          <a:p>
            <a:pPr algn="ctr"/>
            <a:r>
              <a:rPr lang="en-US" sz="1200" b="1">
                <a:solidFill>
                  <a:schemeClr val="accent1">
                    <a:lumMod val="40000"/>
                    <a:lumOff val="60000"/>
                  </a:schemeClr>
                </a:solidFill>
                <a:latin typeface="Arial" panose="020B0604020202020204"/>
                <a:ea typeface="Arial" panose="020B0604020202020204"/>
                <a:cs typeface="Arial" panose="020B0604020202020204"/>
                <a:sym typeface="Arial" panose="020B0604020202020204"/>
              </a:rPr>
              <a:t>Nanjing Cooling</a:t>
            </a:r>
            <a:endParaRPr lang="zh-CN" altLang="en-US" sz="1200" b="1" dirty="0">
              <a:solidFill>
                <a:schemeClr val="accent1">
                  <a:lumMod val="60000"/>
                  <a:lumOff val="40000"/>
                </a:schemeClr>
              </a:solidFill>
              <a:latin typeface="华文楷体" panose="02010600040101010101" pitchFamily="2" charset="-122"/>
              <a:ea typeface="华文楷体" panose="02010600040101010101" pitchFamily="2" charset="-122"/>
              <a:sym typeface="+mn-ea"/>
            </a:endParaRPr>
          </a:p>
        </p:txBody>
      </p:sp>
      <p:sp>
        <p:nvSpPr>
          <p:cNvPr id="20" name="文本框 19"/>
          <p:cNvSpPr txBox="1"/>
          <p:nvPr/>
        </p:nvSpPr>
        <p:spPr>
          <a:xfrm>
            <a:off x="246973" y="4082588"/>
            <a:ext cx="1576567" cy="645160"/>
          </a:xfrm>
          <a:prstGeom prst="rect">
            <a:avLst/>
          </a:prstGeom>
          <a:noFill/>
        </p:spPr>
        <p:txBody>
          <a:bodyPr wrap="square" rtlCol="0">
            <a:spAutoFit/>
          </a:bodyPr>
          <a:lstStyle/>
          <a:p>
            <a:pPr algn="ctr">
              <a:lnSpc>
                <a:spcPct val="150000"/>
              </a:lnSpc>
            </a:pPr>
            <a:r>
              <a:rPr lang="zh-CN" altLang="en-US" sz="1200" b="1" dirty="0">
                <a:solidFill>
                  <a:schemeClr val="accent1">
                    <a:lumMod val="50000"/>
                  </a:schemeClr>
                </a:solidFill>
                <a:latin typeface="微软雅黑" panose="020B0503020204020204" charset="-122"/>
                <a:ea typeface="微软雅黑" panose="020B0503020204020204" charset="-122"/>
              </a:rPr>
              <a:t>酷灵热管理</a:t>
            </a:r>
            <a:endParaRPr lang="en-US" altLang="zh-CN" sz="1200" b="1" dirty="0">
              <a:solidFill>
                <a:schemeClr val="accent1">
                  <a:lumMod val="50000"/>
                </a:schemeClr>
              </a:solidFill>
              <a:latin typeface="微软雅黑" panose="020B0503020204020204" charset="-122"/>
              <a:ea typeface="微软雅黑" panose="020B0503020204020204" charset="-122"/>
            </a:endParaRPr>
          </a:p>
          <a:p>
            <a:pPr algn="ctr">
              <a:lnSpc>
                <a:spcPct val="150000"/>
              </a:lnSpc>
            </a:pPr>
            <a:r>
              <a:rPr lang="zh-CN" altLang="en-US" sz="1200" b="1" dirty="0">
                <a:solidFill>
                  <a:schemeClr val="accent1">
                    <a:lumMod val="50000"/>
                  </a:schemeClr>
                </a:solidFill>
                <a:latin typeface="微软雅黑" panose="020B0503020204020204" charset="-122"/>
                <a:ea typeface="微软雅黑" panose="020B0503020204020204" charset="-122"/>
              </a:rPr>
              <a:t>为机器人持久赋能</a:t>
            </a:r>
          </a:p>
        </p:txBody>
      </p:sp>
      <p:sp>
        <p:nvSpPr>
          <p:cNvPr id="21" name="文本框 20"/>
          <p:cNvSpPr txBox="1"/>
          <p:nvPr/>
        </p:nvSpPr>
        <p:spPr>
          <a:xfrm>
            <a:off x="192405" y="4820285"/>
            <a:ext cx="1814830" cy="614045"/>
          </a:xfrm>
          <a:prstGeom prst="rect">
            <a:avLst/>
          </a:prstGeom>
          <a:noFill/>
        </p:spPr>
        <p:txBody>
          <a:bodyPr wrap="square">
            <a:spAutoFit/>
          </a:bodyPr>
          <a:lstStyle/>
          <a:p>
            <a:pPr algn="ctr"/>
            <a:endParaRPr lang="zh-CN" altLang="en-US" sz="2000" b="1" dirty="0">
              <a:solidFill>
                <a:schemeClr val="accent1">
                  <a:lumMod val="50000"/>
                </a:schemeClr>
              </a:solidFill>
              <a:latin typeface="华文楷体" panose="02010600040101010101" pitchFamily="2" charset="-122"/>
              <a:ea typeface="华文楷体" panose="02010600040101010101" pitchFamily="2" charset="-122"/>
            </a:endParaRPr>
          </a:p>
          <a:p>
            <a:pPr algn="ctr"/>
            <a:r>
              <a:rPr lang="zh-CN" altLang="en-US" sz="1400" b="1" dirty="0">
                <a:solidFill>
                  <a:schemeClr val="accent1">
                    <a:lumMod val="60000"/>
                    <a:lumOff val="40000"/>
                  </a:schemeClr>
                </a:solidFill>
                <a:latin typeface="华文楷体" panose="02010600040101010101" pitchFamily="2" charset="-122"/>
                <a:ea typeface="华文楷体" panose="02010600040101010101" pitchFamily="2" charset="-122"/>
              </a:rPr>
              <a:t>商业化进程与规划</a:t>
            </a:r>
          </a:p>
        </p:txBody>
      </p:sp>
      <p:sp>
        <p:nvSpPr>
          <p:cNvPr id="23" name="矩形 22"/>
          <p:cNvSpPr/>
          <p:nvPr/>
        </p:nvSpPr>
        <p:spPr>
          <a:xfrm>
            <a:off x="970222" y="5434594"/>
            <a:ext cx="65753" cy="461665"/>
          </a:xfrm>
          <a:prstGeom prst="rect">
            <a:avLst/>
          </a:prstGeom>
          <a:gradFill>
            <a:gsLst>
              <a:gs pos="50000">
                <a:srgbClr val="1F5FBF"/>
              </a:gs>
              <a:gs pos="0">
                <a:srgbClr val="1486CB"/>
              </a:gs>
              <a:gs pos="100000">
                <a:srgbClr val="2A34B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172"/>
          <p:cNvPicPr>
            <a:picLocks noChangeAspect="1"/>
          </p:cNvPicPr>
          <p:nvPr/>
        </p:nvPicPr>
        <p:blipFill>
          <a:blip r:embed="rId3"/>
          <a:stretch>
            <a:fillRect/>
          </a:stretch>
        </p:blipFill>
        <p:spPr>
          <a:xfrm rot="21600000">
            <a:off x="0" y="-16626"/>
            <a:ext cx="12192000" cy="6857998"/>
          </a:xfrm>
          <a:prstGeom prst="rect">
            <a:avLst/>
          </a:prstGeom>
        </p:spPr>
      </p:pic>
      <p:pic>
        <p:nvPicPr>
          <p:cNvPr id="182" name="picture 182"/>
          <p:cNvPicPr>
            <a:picLocks noChangeAspect="1"/>
          </p:cNvPicPr>
          <p:nvPr/>
        </p:nvPicPr>
        <p:blipFill>
          <a:blip r:embed="rId4"/>
          <a:stretch>
            <a:fillRect/>
          </a:stretch>
        </p:blipFill>
        <p:spPr>
          <a:xfrm rot="21600000">
            <a:off x="0" y="6576694"/>
            <a:ext cx="12192000" cy="281302"/>
          </a:xfrm>
          <a:prstGeom prst="rect">
            <a:avLst/>
          </a:prstGeom>
        </p:spPr>
      </p:pic>
      <p:sp>
        <p:nvSpPr>
          <p:cNvPr id="184" name="textbox 184"/>
          <p:cNvSpPr/>
          <p:nvPr/>
        </p:nvSpPr>
        <p:spPr>
          <a:xfrm>
            <a:off x="952686" y="503706"/>
            <a:ext cx="4385945" cy="346075"/>
          </a:xfrm>
          <a:prstGeom prst="rect">
            <a:avLst/>
          </a:prstGeom>
          <a:noFill/>
          <a:ln w="0" cap="flat">
            <a:noFill/>
            <a:prstDash val="solid"/>
            <a:miter lim="0"/>
          </a:ln>
        </p:spPr>
        <p:txBody>
          <a:bodyPr vert="horz" wrap="square" lIns="0" tIns="0" rIns="0" bIns="0"/>
          <a:lstStyle/>
          <a:p>
            <a:pPr algn="l" rtl="0" eaLnBrk="0">
              <a:lnSpc>
                <a:spcPct val="73000"/>
              </a:lnSpc>
            </a:pPr>
            <a:endParaRPr sz="100" dirty="0">
              <a:latin typeface="Arial" panose="020B0604020202020204"/>
              <a:ea typeface="Arial" panose="020B0604020202020204"/>
              <a:cs typeface="Arial" panose="020B0604020202020204"/>
            </a:endParaRPr>
          </a:p>
          <a:p>
            <a:pPr marL="12700" algn="l" rtl="0" eaLnBrk="0">
              <a:lnSpc>
                <a:spcPct val="88000"/>
              </a:lnSpc>
            </a:pPr>
            <a:r>
              <a:rPr lang="zh-CN" altLang="en-US" sz="2400" b="1" kern="0" spc="150" dirty="0">
                <a:solidFill>
                  <a:srgbClr val="2C5374">
                    <a:alpha val="100000"/>
                  </a:srgbClr>
                </a:solidFill>
                <a:latin typeface="微软雅黑" panose="020B0503020204020204" charset="-122"/>
                <a:ea typeface="微软雅黑" panose="020B0503020204020204" charset="-122"/>
                <a:cs typeface="微软雅黑" panose="020B0503020204020204" charset="-122"/>
              </a:rPr>
              <a:t>高效热管理一体化关节模组</a:t>
            </a:r>
          </a:p>
          <a:p>
            <a:pPr marL="12700" algn="l" rtl="0" eaLnBrk="0">
              <a:lnSpc>
                <a:spcPct val="88000"/>
              </a:lnSpc>
            </a:pPr>
            <a:endParaRPr sz="2400" dirty="0">
              <a:latin typeface="微软雅黑" panose="020B0503020204020204" charset="-122"/>
              <a:ea typeface="微软雅黑" panose="020B0503020204020204" charset="-122"/>
              <a:cs typeface="微软雅黑" panose="020B0503020204020204" charset="-122"/>
            </a:endParaRPr>
          </a:p>
        </p:txBody>
      </p:sp>
      <p:sp>
        <p:nvSpPr>
          <p:cNvPr id="190" name="path 190"/>
          <p:cNvSpPr/>
          <p:nvPr/>
        </p:nvSpPr>
        <p:spPr>
          <a:xfrm>
            <a:off x="11291569" y="5728334"/>
            <a:ext cx="741679" cy="774064"/>
          </a:xfrm>
          <a:custGeom>
            <a:avLst/>
            <a:gdLst/>
            <a:ahLst/>
            <a:cxnLst/>
            <a:rect l="0" t="0" r="0" b="0"/>
            <a:pathLst>
              <a:path w="1167" h="1218">
                <a:moveTo>
                  <a:pt x="950" y="1218"/>
                </a:moveTo>
                <a:lnTo>
                  <a:pt x="1167" y="1218"/>
                </a:lnTo>
                <a:lnTo>
                  <a:pt x="1167" y="1001"/>
                </a:lnTo>
                <a:lnTo>
                  <a:pt x="950" y="1001"/>
                </a:lnTo>
                <a:lnTo>
                  <a:pt x="950" y="1218"/>
                </a:lnTo>
                <a:close/>
              </a:path>
              <a:path w="1167" h="1218">
                <a:moveTo>
                  <a:pt x="634" y="1218"/>
                </a:moveTo>
                <a:lnTo>
                  <a:pt x="850" y="1218"/>
                </a:lnTo>
                <a:lnTo>
                  <a:pt x="850" y="1001"/>
                </a:lnTo>
                <a:lnTo>
                  <a:pt x="634" y="1001"/>
                </a:lnTo>
                <a:lnTo>
                  <a:pt x="634" y="1218"/>
                </a:lnTo>
                <a:close/>
              </a:path>
              <a:path w="1167" h="1218">
                <a:moveTo>
                  <a:pt x="317" y="1218"/>
                </a:moveTo>
                <a:lnTo>
                  <a:pt x="534" y="1218"/>
                </a:lnTo>
                <a:lnTo>
                  <a:pt x="534" y="1001"/>
                </a:lnTo>
                <a:lnTo>
                  <a:pt x="317" y="1001"/>
                </a:lnTo>
                <a:lnTo>
                  <a:pt x="317" y="1218"/>
                </a:lnTo>
                <a:close/>
              </a:path>
              <a:path w="1167" h="1218">
                <a:moveTo>
                  <a:pt x="0" y="1218"/>
                </a:moveTo>
                <a:lnTo>
                  <a:pt x="216" y="1218"/>
                </a:lnTo>
                <a:lnTo>
                  <a:pt x="216" y="1001"/>
                </a:lnTo>
                <a:lnTo>
                  <a:pt x="0" y="1001"/>
                </a:lnTo>
                <a:lnTo>
                  <a:pt x="0" y="1218"/>
                </a:lnTo>
                <a:close/>
              </a:path>
              <a:path w="1167" h="1218">
                <a:moveTo>
                  <a:pt x="950" y="884"/>
                </a:moveTo>
                <a:lnTo>
                  <a:pt x="1167" y="884"/>
                </a:lnTo>
                <a:lnTo>
                  <a:pt x="1167" y="667"/>
                </a:lnTo>
                <a:lnTo>
                  <a:pt x="950" y="667"/>
                </a:lnTo>
                <a:lnTo>
                  <a:pt x="950" y="884"/>
                </a:lnTo>
                <a:close/>
              </a:path>
              <a:path w="1167" h="1218">
                <a:moveTo>
                  <a:pt x="634" y="884"/>
                </a:moveTo>
                <a:lnTo>
                  <a:pt x="850" y="884"/>
                </a:lnTo>
                <a:lnTo>
                  <a:pt x="850" y="667"/>
                </a:lnTo>
                <a:lnTo>
                  <a:pt x="634" y="667"/>
                </a:lnTo>
                <a:lnTo>
                  <a:pt x="634" y="884"/>
                </a:lnTo>
                <a:close/>
              </a:path>
              <a:path w="1167" h="1218">
                <a:moveTo>
                  <a:pt x="317" y="884"/>
                </a:moveTo>
                <a:lnTo>
                  <a:pt x="534" y="884"/>
                </a:lnTo>
                <a:lnTo>
                  <a:pt x="534" y="667"/>
                </a:lnTo>
                <a:lnTo>
                  <a:pt x="317" y="667"/>
                </a:lnTo>
                <a:lnTo>
                  <a:pt x="317" y="884"/>
                </a:lnTo>
                <a:close/>
              </a:path>
              <a:path w="1167" h="1218">
                <a:moveTo>
                  <a:pt x="950" y="550"/>
                </a:moveTo>
                <a:lnTo>
                  <a:pt x="1167" y="550"/>
                </a:lnTo>
                <a:lnTo>
                  <a:pt x="1167" y="333"/>
                </a:lnTo>
                <a:lnTo>
                  <a:pt x="950" y="333"/>
                </a:lnTo>
                <a:lnTo>
                  <a:pt x="950" y="550"/>
                </a:lnTo>
                <a:close/>
              </a:path>
              <a:path w="1167" h="1218">
                <a:moveTo>
                  <a:pt x="634" y="550"/>
                </a:moveTo>
                <a:lnTo>
                  <a:pt x="850" y="550"/>
                </a:lnTo>
                <a:lnTo>
                  <a:pt x="850" y="333"/>
                </a:lnTo>
                <a:lnTo>
                  <a:pt x="634" y="333"/>
                </a:lnTo>
                <a:lnTo>
                  <a:pt x="634" y="550"/>
                </a:lnTo>
                <a:close/>
              </a:path>
              <a:path w="1167" h="1218">
                <a:moveTo>
                  <a:pt x="950" y="216"/>
                </a:moveTo>
                <a:lnTo>
                  <a:pt x="1167" y="216"/>
                </a:lnTo>
                <a:lnTo>
                  <a:pt x="1167" y="0"/>
                </a:lnTo>
                <a:lnTo>
                  <a:pt x="950" y="0"/>
                </a:lnTo>
                <a:lnTo>
                  <a:pt x="950" y="216"/>
                </a:lnTo>
                <a:close/>
              </a:path>
            </a:pathLst>
          </a:custGeom>
          <a:solidFill>
            <a:srgbClr val="F2F2F2">
              <a:alpha val="100000"/>
            </a:srgbClr>
          </a:solidFill>
          <a:ln w="0" cap="flat">
            <a:noFill/>
            <a:prstDash val="solid"/>
            <a:miter lim="0"/>
          </a:ln>
        </p:spPr>
        <p:txBody>
          <a:bodyPr rtlCol="0"/>
          <a:lstStyle/>
          <a:p>
            <a:pPr algn="ctr"/>
            <a:endParaRPr lang="zh-CN" altLang="en-US"/>
          </a:p>
        </p:txBody>
      </p:sp>
      <p:pic>
        <p:nvPicPr>
          <p:cNvPr id="192" name="picture 192"/>
          <p:cNvPicPr>
            <a:picLocks noChangeAspect="1"/>
          </p:cNvPicPr>
          <p:nvPr/>
        </p:nvPicPr>
        <p:blipFill>
          <a:blip r:embed="rId5"/>
          <a:stretch>
            <a:fillRect/>
          </a:stretch>
        </p:blipFill>
        <p:spPr>
          <a:xfrm rot="21600000">
            <a:off x="4943820" y="846454"/>
            <a:ext cx="3964939" cy="86995"/>
          </a:xfrm>
          <a:prstGeom prst="rect">
            <a:avLst/>
          </a:prstGeom>
        </p:spPr>
      </p:pic>
      <p:sp>
        <p:nvSpPr>
          <p:cNvPr id="200" name="path 200"/>
          <p:cNvSpPr/>
          <p:nvPr/>
        </p:nvSpPr>
        <p:spPr>
          <a:xfrm>
            <a:off x="147320" y="142875"/>
            <a:ext cx="540385" cy="137794"/>
          </a:xfrm>
          <a:custGeom>
            <a:avLst/>
            <a:gdLst/>
            <a:ahLst/>
            <a:cxnLst/>
            <a:rect l="0" t="0" r="0" b="0"/>
            <a:pathLst>
              <a:path w="851" h="216">
                <a:moveTo>
                  <a:pt x="0" y="216"/>
                </a:moveTo>
                <a:lnTo>
                  <a:pt x="217" y="216"/>
                </a:lnTo>
                <a:lnTo>
                  <a:pt x="217" y="0"/>
                </a:lnTo>
                <a:lnTo>
                  <a:pt x="0" y="0"/>
                </a:lnTo>
                <a:lnTo>
                  <a:pt x="0" y="216"/>
                </a:lnTo>
                <a:close/>
              </a:path>
              <a:path w="851" h="216">
                <a:moveTo>
                  <a:pt x="316" y="216"/>
                </a:moveTo>
                <a:lnTo>
                  <a:pt x="533" y="216"/>
                </a:lnTo>
                <a:lnTo>
                  <a:pt x="533" y="0"/>
                </a:lnTo>
                <a:lnTo>
                  <a:pt x="316" y="0"/>
                </a:lnTo>
                <a:lnTo>
                  <a:pt x="316" y="216"/>
                </a:lnTo>
                <a:close/>
              </a:path>
              <a:path w="851" h="216">
                <a:moveTo>
                  <a:pt x="633" y="216"/>
                </a:moveTo>
                <a:lnTo>
                  <a:pt x="851" y="216"/>
                </a:lnTo>
                <a:lnTo>
                  <a:pt x="851" y="0"/>
                </a:lnTo>
                <a:lnTo>
                  <a:pt x="633" y="0"/>
                </a:lnTo>
                <a:lnTo>
                  <a:pt x="633"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202" name="path 202"/>
          <p:cNvSpPr/>
          <p:nvPr/>
        </p:nvSpPr>
        <p:spPr>
          <a:xfrm>
            <a:off x="147320" y="354965"/>
            <a:ext cx="540385" cy="137794"/>
          </a:xfrm>
          <a:custGeom>
            <a:avLst/>
            <a:gdLst/>
            <a:ahLst/>
            <a:cxnLst/>
            <a:rect l="0" t="0" r="0" b="0"/>
            <a:pathLst>
              <a:path w="851" h="216">
                <a:moveTo>
                  <a:pt x="0" y="216"/>
                </a:moveTo>
                <a:lnTo>
                  <a:pt x="217" y="216"/>
                </a:lnTo>
                <a:lnTo>
                  <a:pt x="217" y="0"/>
                </a:lnTo>
                <a:lnTo>
                  <a:pt x="0" y="0"/>
                </a:lnTo>
                <a:lnTo>
                  <a:pt x="0" y="216"/>
                </a:lnTo>
                <a:close/>
              </a:path>
              <a:path w="851" h="216">
                <a:moveTo>
                  <a:pt x="316" y="216"/>
                </a:moveTo>
                <a:lnTo>
                  <a:pt x="533" y="216"/>
                </a:lnTo>
                <a:lnTo>
                  <a:pt x="533" y="0"/>
                </a:lnTo>
                <a:lnTo>
                  <a:pt x="316" y="0"/>
                </a:lnTo>
                <a:lnTo>
                  <a:pt x="316" y="216"/>
                </a:lnTo>
                <a:close/>
              </a:path>
              <a:path w="851" h="216">
                <a:moveTo>
                  <a:pt x="633" y="216"/>
                </a:moveTo>
                <a:lnTo>
                  <a:pt x="851" y="216"/>
                </a:lnTo>
                <a:lnTo>
                  <a:pt x="851" y="0"/>
                </a:lnTo>
                <a:lnTo>
                  <a:pt x="633" y="0"/>
                </a:lnTo>
                <a:lnTo>
                  <a:pt x="633"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204" name="path 204"/>
          <p:cNvSpPr/>
          <p:nvPr/>
        </p:nvSpPr>
        <p:spPr>
          <a:xfrm>
            <a:off x="687070" y="955040"/>
            <a:ext cx="10788015" cy="76200"/>
          </a:xfrm>
          <a:custGeom>
            <a:avLst/>
            <a:gdLst/>
            <a:ahLst/>
            <a:cxnLst/>
            <a:rect l="0" t="0" r="0" b="0"/>
            <a:pathLst>
              <a:path w="15485" h="10">
                <a:moveTo>
                  <a:pt x="0" y="5"/>
                </a:moveTo>
                <a:lnTo>
                  <a:pt x="15485" y="5"/>
                </a:lnTo>
              </a:path>
            </a:pathLst>
          </a:custGeom>
          <a:noFill/>
          <a:ln w="6350" cap="flat">
            <a:solidFill>
              <a:srgbClr val="D9D9D9"/>
            </a:solidFill>
            <a:prstDash val="solid"/>
            <a:miter lim="1000000"/>
          </a:ln>
        </p:spPr>
        <p:txBody>
          <a:bodyPr rtlCol="0"/>
          <a:lstStyle/>
          <a:p>
            <a:pPr algn="ctr"/>
            <a:endParaRPr lang="zh-CN" altLang="en-US"/>
          </a:p>
        </p:txBody>
      </p:sp>
      <p:sp>
        <p:nvSpPr>
          <p:cNvPr id="206" name="path 206"/>
          <p:cNvSpPr/>
          <p:nvPr/>
        </p:nvSpPr>
        <p:spPr>
          <a:xfrm>
            <a:off x="751204" y="142875"/>
            <a:ext cx="339090" cy="137794"/>
          </a:xfrm>
          <a:custGeom>
            <a:avLst/>
            <a:gdLst/>
            <a:ahLst/>
            <a:cxnLst/>
            <a:rect l="0" t="0" r="0" b="0"/>
            <a:pathLst>
              <a:path w="534" h="216">
                <a:moveTo>
                  <a:pt x="0" y="216"/>
                </a:moveTo>
                <a:lnTo>
                  <a:pt x="217" y="216"/>
                </a:lnTo>
                <a:lnTo>
                  <a:pt x="217" y="0"/>
                </a:lnTo>
                <a:lnTo>
                  <a:pt x="0" y="0"/>
                </a:lnTo>
                <a:lnTo>
                  <a:pt x="0" y="216"/>
                </a:lnTo>
                <a:close/>
              </a:path>
              <a:path w="534" h="216">
                <a:moveTo>
                  <a:pt x="317" y="216"/>
                </a:moveTo>
                <a:lnTo>
                  <a:pt x="534" y="216"/>
                </a:lnTo>
                <a:lnTo>
                  <a:pt x="534" y="0"/>
                </a:lnTo>
                <a:lnTo>
                  <a:pt x="317" y="0"/>
                </a:lnTo>
                <a:lnTo>
                  <a:pt x="317"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208" name="rect 208"/>
          <p:cNvSpPr/>
          <p:nvPr/>
        </p:nvSpPr>
        <p:spPr>
          <a:xfrm>
            <a:off x="549909" y="56705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210" name="rect 210"/>
          <p:cNvSpPr/>
          <p:nvPr/>
        </p:nvSpPr>
        <p:spPr>
          <a:xfrm>
            <a:off x="147320" y="56705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212" name="rect 212"/>
          <p:cNvSpPr/>
          <p:nvPr/>
        </p:nvSpPr>
        <p:spPr>
          <a:xfrm>
            <a:off x="348614" y="56705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214" name="rect 214"/>
          <p:cNvSpPr/>
          <p:nvPr/>
        </p:nvSpPr>
        <p:spPr>
          <a:xfrm>
            <a:off x="147320" y="779145"/>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216" name="rect 216"/>
          <p:cNvSpPr/>
          <p:nvPr/>
        </p:nvSpPr>
        <p:spPr>
          <a:xfrm>
            <a:off x="348614" y="779145"/>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218" name="rect 218"/>
          <p:cNvSpPr/>
          <p:nvPr/>
        </p:nvSpPr>
        <p:spPr>
          <a:xfrm>
            <a:off x="147320" y="99123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220" name="path 220"/>
          <p:cNvSpPr/>
          <p:nvPr/>
        </p:nvSpPr>
        <p:spPr>
          <a:xfrm>
            <a:off x="751204" y="354965"/>
            <a:ext cx="137795" cy="137794"/>
          </a:xfrm>
          <a:custGeom>
            <a:avLst/>
            <a:gdLst/>
            <a:ahLst/>
            <a:cxnLst/>
            <a:rect l="0" t="0" r="0" b="0"/>
            <a:pathLst>
              <a:path w="217" h="216">
                <a:moveTo>
                  <a:pt x="0" y="216"/>
                </a:moveTo>
                <a:lnTo>
                  <a:pt x="217" y="216"/>
                </a:lnTo>
                <a:lnTo>
                  <a:pt x="217" y="0"/>
                </a:lnTo>
                <a:lnTo>
                  <a:pt x="0" y="0"/>
                </a:lnTo>
                <a:lnTo>
                  <a:pt x="0" y="216"/>
                </a:lnTo>
                <a:close/>
              </a:path>
            </a:pathLst>
          </a:custGeom>
          <a:solidFill>
            <a:srgbClr val="F2F2F2">
              <a:alpha val="100000"/>
            </a:srgbClr>
          </a:solidFill>
          <a:ln w="0" cap="flat">
            <a:noFill/>
            <a:prstDash val="solid"/>
            <a:miter lim="0"/>
          </a:ln>
        </p:spPr>
        <p:txBody>
          <a:bodyPr rtlCol="0"/>
          <a:lstStyle/>
          <a:p>
            <a:pPr algn="ctr"/>
            <a:endParaRPr lang="zh-CN" altLang="en-US"/>
          </a:p>
        </p:txBody>
      </p:sp>
      <p:pic>
        <p:nvPicPr>
          <p:cNvPr id="21" name="图片 20" descr="图片包含 机械, 桌子, 关, 蓝色&#10;&#10;AI 生成的内容可能不正确。"/>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266045" y="5300980"/>
            <a:ext cx="1326515" cy="1320165"/>
          </a:xfrm>
          <a:prstGeom prst="rect">
            <a:avLst/>
          </a:prstGeom>
        </p:spPr>
      </p:pic>
      <p:pic>
        <p:nvPicPr>
          <p:cNvPr id="2" name="图片 1"/>
          <p:cNvPicPr>
            <a:picLocks noChangeAspect="1"/>
          </p:cNvPicPr>
          <p:nvPr/>
        </p:nvPicPr>
        <p:blipFill>
          <a:blip r:embed="rId7"/>
          <a:stretch>
            <a:fillRect/>
          </a:stretch>
        </p:blipFill>
        <p:spPr>
          <a:xfrm>
            <a:off x="10428563" y="68429"/>
            <a:ext cx="1354271" cy="781170"/>
          </a:xfrm>
          <a:prstGeom prst="rect">
            <a:avLst/>
          </a:prstGeom>
        </p:spPr>
      </p:pic>
      <p:sp>
        <p:nvSpPr>
          <p:cNvPr id="4" name="文本框 3"/>
          <p:cNvSpPr txBox="1"/>
          <p:nvPr/>
        </p:nvSpPr>
        <p:spPr>
          <a:xfrm>
            <a:off x="2567940" y="1330643"/>
            <a:ext cx="5080000" cy="460375"/>
          </a:xfrm>
          <a:prstGeom prst="rect">
            <a:avLst/>
          </a:prstGeom>
        </p:spPr>
        <p:txBody>
          <a:bodyPr>
            <a:spAutoFit/>
          </a:bodyPr>
          <a:lstStyle/>
          <a:p>
            <a:pPr defTabSz="266700"/>
            <a:r>
              <a:rPr lang="zh-CN" altLang="en-US" sz="2400" b="1">
                <a:gradFill>
                  <a:gsLst>
                    <a:gs pos="51300">
                      <a:srgbClr val="FE5F4A"/>
                    </a:gs>
                    <a:gs pos="0">
                      <a:srgbClr val="DF0303"/>
                    </a:gs>
                    <a:gs pos="100000">
                      <a:srgbClr val="FEA06E"/>
                    </a:gs>
                  </a:gsLst>
                  <a:lin ang="5400000" scaled="1"/>
                </a:gradFill>
                <a:effectLst>
                  <a:outerShdw blurRad="38100" dist="38100" dir="2700000" algn="tl">
                    <a:srgbClr val="000000">
                      <a:alpha val="43137"/>
                    </a:srgbClr>
                  </a:outerShdw>
                </a:effectLst>
                <a:latin typeface="微软雅黑" panose="020B0503020204020204" charset="-122"/>
                <a:ea typeface="微软雅黑" panose="020B0503020204020204" charset="-122"/>
              </a:rPr>
              <a:t>行星一体化关节</a:t>
            </a:r>
          </a:p>
        </p:txBody>
      </p:sp>
      <p:sp>
        <p:nvSpPr>
          <p:cNvPr id="5" name="文本框 4"/>
          <p:cNvSpPr txBox="1"/>
          <p:nvPr/>
        </p:nvSpPr>
        <p:spPr>
          <a:xfrm>
            <a:off x="7683500" y="1330960"/>
            <a:ext cx="3492500" cy="460375"/>
          </a:xfrm>
          <a:prstGeom prst="rect">
            <a:avLst/>
          </a:prstGeom>
        </p:spPr>
        <p:txBody>
          <a:bodyPr wrap="square">
            <a:spAutoFit/>
          </a:bodyPr>
          <a:lstStyle/>
          <a:p>
            <a:pPr defTabSz="266700"/>
            <a:r>
              <a:rPr lang="zh-CN" altLang="en-US" sz="2400" b="1">
                <a:gradFill>
                  <a:gsLst>
                    <a:gs pos="51300">
                      <a:srgbClr val="FE5F4A"/>
                    </a:gs>
                    <a:gs pos="0">
                      <a:srgbClr val="DF0303"/>
                    </a:gs>
                    <a:gs pos="100000">
                      <a:srgbClr val="FEA06E"/>
                    </a:gs>
                  </a:gsLst>
                  <a:lin ang="5400000" scaled="1"/>
                </a:gradFill>
                <a:effectLst>
                  <a:outerShdw blurRad="38100" dist="38100" dir="2700000" algn="tl">
                    <a:srgbClr val="000000">
                      <a:alpha val="43137"/>
                    </a:srgbClr>
                  </a:outerShdw>
                </a:effectLst>
                <a:latin typeface="微软雅黑" panose="020B0503020204020204" charset="-122"/>
                <a:ea typeface="微软雅黑" panose="020B0503020204020204" charset="-122"/>
              </a:rPr>
              <a:t>谐波一体化关节</a:t>
            </a:r>
          </a:p>
        </p:txBody>
      </p:sp>
      <p:graphicFrame>
        <p:nvGraphicFramePr>
          <p:cNvPr id="6" name="表格 5"/>
          <p:cNvGraphicFramePr/>
          <p:nvPr/>
        </p:nvGraphicFramePr>
        <p:xfrm>
          <a:off x="6315710" y="1906905"/>
          <a:ext cx="5159375" cy="3511550"/>
        </p:xfrm>
        <a:graphic>
          <a:graphicData uri="http://schemas.openxmlformats.org/drawingml/2006/table">
            <a:tbl>
              <a:tblPr/>
              <a:tblGrid>
                <a:gridCol w="1631950">
                  <a:extLst>
                    <a:ext uri="{9D8B030D-6E8A-4147-A177-3AD203B41FA5}">
                      <a16:colId xmlns:a16="http://schemas.microsoft.com/office/drawing/2014/main" val="20000"/>
                    </a:ext>
                  </a:extLst>
                </a:gridCol>
                <a:gridCol w="1118235">
                  <a:extLst>
                    <a:ext uri="{9D8B030D-6E8A-4147-A177-3AD203B41FA5}">
                      <a16:colId xmlns:a16="http://schemas.microsoft.com/office/drawing/2014/main" val="20001"/>
                    </a:ext>
                  </a:extLst>
                </a:gridCol>
                <a:gridCol w="1204595">
                  <a:extLst>
                    <a:ext uri="{9D8B030D-6E8A-4147-A177-3AD203B41FA5}">
                      <a16:colId xmlns:a16="http://schemas.microsoft.com/office/drawing/2014/main" val="20002"/>
                    </a:ext>
                  </a:extLst>
                </a:gridCol>
                <a:gridCol w="1204595">
                  <a:extLst>
                    <a:ext uri="{9D8B030D-6E8A-4147-A177-3AD203B41FA5}">
                      <a16:colId xmlns:a16="http://schemas.microsoft.com/office/drawing/2014/main" val="20003"/>
                    </a:ext>
                  </a:extLst>
                </a:gridCol>
              </a:tblGrid>
              <a:tr h="561975">
                <a:tc>
                  <a:txBody>
                    <a:bodyPr/>
                    <a:lstStyle/>
                    <a:p>
                      <a:pPr marL="85725" indent="0" algn="ctr">
                        <a:spcBef>
                          <a:spcPct val="0"/>
                        </a:spcBef>
                        <a:spcAft>
                          <a:spcPct val="0"/>
                        </a:spcAft>
                      </a:pPr>
                      <a:r>
                        <a:rPr lang="zh-CN" sz="1600" b="1">
                          <a:solidFill>
                            <a:schemeClr val="accent1">
                              <a:lumMod val="50000"/>
                            </a:schemeClr>
                          </a:solidFill>
                          <a:effectLst>
                            <a:outerShdw blurRad="38100" dist="38100" dir="2700000" algn="tl">
                              <a:srgbClr val="000000">
                                <a:alpha val="43137"/>
                              </a:srgbClr>
                            </a:outerShdw>
                          </a:effectLst>
                          <a:latin typeface="微软雅黑 Light" panose="020B0502040204020203" charset="-122"/>
                          <a:ea typeface="微软雅黑 Light" panose="020B0502040204020203" charset="-122"/>
                        </a:rPr>
                        <a:t>型号</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D6DCE4"/>
                    </a:solidFill>
                  </a:tcPr>
                </a:tc>
                <a:tc>
                  <a:txBody>
                    <a:bodyPr/>
                    <a:lstStyle/>
                    <a:p>
                      <a:pPr marL="85725" indent="0" algn="ctr">
                        <a:spcBef>
                          <a:spcPct val="0"/>
                        </a:spcBef>
                        <a:spcAft>
                          <a:spcPct val="0"/>
                        </a:spcAft>
                      </a:pPr>
                      <a:r>
                        <a:rPr lang="en-US" altLang="zh-CN" sz="1600" b="1">
                          <a:latin typeface="Times New Roman" panose="02020603050405020304"/>
                          <a:ea typeface="Times New Roman" panose="02020603050405020304"/>
                        </a:rPr>
                        <a:t>CL-H-</a:t>
                      </a:r>
                      <a:r>
                        <a:rPr lang="en-US" altLang="zh-CN" sz="1600" b="1">
                          <a:latin typeface="Times New Roman" panose="02020603050405020304"/>
                          <a:ea typeface="微软雅黑 Light" panose="020B0502040204020203" charset="-122"/>
                        </a:rPr>
                        <a:t>0</a:t>
                      </a:r>
                      <a:r>
                        <a:rPr lang="en-US" altLang="zh-CN" sz="1600" b="1">
                          <a:latin typeface="Times New Roman" panose="02020603050405020304"/>
                          <a:ea typeface="Times New Roman" panose="02020603050405020304"/>
                        </a:rPr>
                        <a:t>60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D6DCE4"/>
                    </a:solidFill>
                  </a:tcPr>
                </a:tc>
                <a:tc>
                  <a:txBody>
                    <a:bodyPr/>
                    <a:lstStyle/>
                    <a:p>
                      <a:pPr marL="85725" indent="0" algn="ctr">
                        <a:spcBef>
                          <a:spcPct val="0"/>
                        </a:spcBef>
                        <a:spcAft>
                          <a:spcPct val="0"/>
                        </a:spcAft>
                      </a:pPr>
                      <a:r>
                        <a:rPr lang="en-US" altLang="zh-CN" sz="1600" b="1">
                          <a:latin typeface="Times New Roman" panose="02020603050405020304"/>
                          <a:ea typeface="Times New Roman" panose="02020603050405020304"/>
                        </a:rPr>
                        <a:t>CL-H-100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D6DCE4"/>
                    </a:solidFill>
                  </a:tcPr>
                </a:tc>
                <a:tc>
                  <a:txBody>
                    <a:bodyPr/>
                    <a:lstStyle/>
                    <a:p>
                      <a:pPr marL="85725" indent="0" algn="ctr">
                        <a:spcBef>
                          <a:spcPct val="0"/>
                        </a:spcBef>
                        <a:spcAft>
                          <a:spcPct val="0"/>
                        </a:spcAft>
                      </a:pPr>
                      <a:r>
                        <a:rPr lang="en-US" altLang="zh-CN" sz="1600" b="1">
                          <a:latin typeface="Times New Roman" panose="02020603050405020304"/>
                          <a:ea typeface="Times New Roman" panose="02020603050405020304"/>
                        </a:rPr>
                        <a:t>CL-H-300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D6DCE4"/>
                    </a:solidFill>
                  </a:tcPr>
                </a:tc>
                <a:extLst>
                  <a:ext uri="{0D108BD9-81ED-4DB2-BD59-A6C34878D82A}">
                    <a16:rowId xmlns:a16="http://schemas.microsoft.com/office/drawing/2014/main" val="10000"/>
                  </a:ext>
                </a:extLst>
              </a:tr>
              <a:tr h="491490">
                <a:tc>
                  <a:txBody>
                    <a:bodyPr/>
                    <a:lstStyle/>
                    <a:p>
                      <a:pPr marL="85725" indent="0" algn="ctr">
                        <a:spcBef>
                          <a:spcPct val="0"/>
                        </a:spcBef>
                        <a:spcAft>
                          <a:spcPct val="0"/>
                        </a:spcAft>
                      </a:pPr>
                      <a:r>
                        <a:rPr lang="zh-CN" sz="1400" b="1">
                          <a:effectLst>
                            <a:outerShdw blurRad="38100" dist="38100" dir="2700000" algn="tl">
                              <a:srgbClr val="000000">
                                <a:alpha val="43137"/>
                              </a:srgbClr>
                            </a:outerShdw>
                          </a:effectLst>
                          <a:latin typeface="微软雅黑 Light" panose="020B0502040204020203" charset="-122"/>
                          <a:ea typeface="微软雅黑 Light" panose="020B0502040204020203" charset="-122"/>
                        </a:rPr>
                        <a:t>外径（</a:t>
                      </a:r>
                      <a:r>
                        <a:rPr lang="en-US" altLang="zh-CN" sz="1400" b="1">
                          <a:effectLst>
                            <a:outerShdw blurRad="38100" dist="38100" dir="2700000" algn="tl">
                              <a:srgbClr val="000000">
                                <a:alpha val="43137"/>
                              </a:srgbClr>
                            </a:outerShdw>
                          </a:effectLst>
                          <a:latin typeface="Times New Roman" panose="02020603050405020304"/>
                          <a:ea typeface="微软雅黑 Light" panose="020B0502040204020203" charset="-122"/>
                        </a:rPr>
                        <a:t>mm</a:t>
                      </a:r>
                      <a:r>
                        <a:rPr lang="zh-CN" sz="1400" b="1">
                          <a:effectLst>
                            <a:outerShdw blurRad="38100" dist="38100" dir="2700000" algn="tl">
                              <a:srgbClr val="000000">
                                <a:alpha val="43137"/>
                              </a:srgbClr>
                            </a:outerShdw>
                          </a:effectLst>
                          <a:latin typeface="微软雅黑 Light" panose="020B0502040204020203" charset="-122"/>
                          <a:ea typeface="微软雅黑 Light" panose="020B0502040204020203" charset="-122"/>
                        </a:rPr>
                        <a:t>）</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5725" indent="0" algn="ctr">
                        <a:spcBef>
                          <a:spcPct val="0"/>
                        </a:spcBef>
                        <a:spcAft>
                          <a:spcPct val="0"/>
                        </a:spcAft>
                      </a:pPr>
                      <a:r>
                        <a:rPr lang="en-US" altLang="zh-CN" sz="1600">
                          <a:latin typeface="Times New Roman" panose="02020603050405020304"/>
                          <a:ea typeface="Times New Roman" panose="02020603050405020304"/>
                        </a:rPr>
                        <a:t>78</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5725" indent="0" algn="ctr">
                        <a:spcBef>
                          <a:spcPct val="0"/>
                        </a:spcBef>
                        <a:spcAft>
                          <a:spcPct val="0"/>
                        </a:spcAft>
                      </a:pPr>
                      <a:r>
                        <a:rPr lang="en-US" altLang="zh-CN" sz="1600">
                          <a:latin typeface="Times New Roman" panose="02020603050405020304"/>
                          <a:ea typeface="Times New Roman" panose="02020603050405020304"/>
                        </a:rPr>
                        <a:t>80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5725" indent="0" algn="ctr">
                        <a:spcBef>
                          <a:spcPct val="0"/>
                        </a:spcBef>
                        <a:spcAft>
                          <a:spcPct val="0"/>
                        </a:spcAft>
                      </a:pPr>
                      <a:r>
                        <a:rPr lang="en-US" altLang="zh-CN" sz="1600">
                          <a:latin typeface="Times New Roman" panose="02020603050405020304"/>
                          <a:ea typeface="Times New Roman" panose="02020603050405020304"/>
                        </a:rPr>
                        <a:t>130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1"/>
                  </a:ext>
                </a:extLst>
              </a:tr>
              <a:tr h="491490">
                <a:tc>
                  <a:txBody>
                    <a:bodyPr/>
                    <a:lstStyle/>
                    <a:p>
                      <a:pPr marL="85725" indent="0" algn="ctr">
                        <a:spcBef>
                          <a:spcPct val="0"/>
                        </a:spcBef>
                        <a:spcAft>
                          <a:spcPct val="0"/>
                        </a:spcAft>
                      </a:pPr>
                      <a:r>
                        <a:rPr lang="zh-CN" sz="1400" b="1">
                          <a:effectLst>
                            <a:outerShdw blurRad="38100" dist="38100" dir="2700000" algn="tl">
                              <a:srgbClr val="000000">
                                <a:alpha val="43137"/>
                              </a:srgbClr>
                            </a:outerShdw>
                          </a:effectLst>
                          <a:latin typeface="微软雅黑 Light" panose="020B0502040204020203" charset="-122"/>
                          <a:ea typeface="微软雅黑 Light" panose="020B0502040204020203" charset="-122"/>
                        </a:rPr>
                        <a:t>高度（</a:t>
                      </a:r>
                      <a:r>
                        <a:rPr lang="en-US" altLang="zh-CN" sz="1400" b="1">
                          <a:effectLst>
                            <a:outerShdw blurRad="38100" dist="38100" dir="2700000" algn="tl">
                              <a:srgbClr val="000000">
                                <a:alpha val="43137"/>
                              </a:srgbClr>
                            </a:outerShdw>
                          </a:effectLst>
                          <a:latin typeface="Times New Roman" panose="02020603050405020304"/>
                          <a:ea typeface="微软雅黑 Light" panose="020B0502040204020203" charset="-122"/>
                        </a:rPr>
                        <a:t>mm</a:t>
                      </a:r>
                      <a:r>
                        <a:rPr lang="zh-CN" sz="1400" b="1">
                          <a:effectLst>
                            <a:outerShdw blurRad="38100" dist="38100" dir="2700000" algn="tl">
                              <a:srgbClr val="000000">
                                <a:alpha val="43137"/>
                              </a:srgbClr>
                            </a:outerShdw>
                          </a:effectLst>
                          <a:latin typeface="微软雅黑 Light" panose="020B0502040204020203" charset="-122"/>
                          <a:ea typeface="微软雅黑 Light" panose="020B0502040204020203" charset="-122"/>
                        </a:rPr>
                        <a:t>）</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5725" indent="0" algn="ctr">
                        <a:spcBef>
                          <a:spcPct val="0"/>
                        </a:spcBef>
                        <a:spcAft>
                          <a:spcPct val="0"/>
                        </a:spcAft>
                      </a:pPr>
                      <a:r>
                        <a:rPr lang="en-US" altLang="zh-CN" sz="1600">
                          <a:latin typeface="Times New Roman" panose="02020603050405020304"/>
                          <a:ea typeface="Times New Roman" panose="02020603050405020304"/>
                        </a:rPr>
                        <a:t>76</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5725" indent="0" algn="ctr">
                        <a:spcBef>
                          <a:spcPct val="0"/>
                        </a:spcBef>
                        <a:spcAft>
                          <a:spcPct val="0"/>
                        </a:spcAft>
                      </a:pPr>
                      <a:r>
                        <a:rPr lang="en-US" altLang="zh-CN" sz="1600">
                          <a:latin typeface="Times New Roman" panose="02020603050405020304"/>
                          <a:ea typeface="Times New Roman" panose="02020603050405020304"/>
                        </a:rPr>
                        <a:t>130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5725" indent="0" algn="ctr">
                        <a:spcBef>
                          <a:spcPct val="0"/>
                        </a:spcBef>
                        <a:spcAft>
                          <a:spcPct val="0"/>
                        </a:spcAft>
                      </a:pPr>
                      <a:r>
                        <a:rPr lang="en-US" altLang="zh-CN" sz="1600">
                          <a:latin typeface="Times New Roman" panose="02020603050405020304"/>
                          <a:ea typeface="Times New Roman" panose="02020603050405020304"/>
                        </a:rPr>
                        <a:t>105</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2"/>
                  </a:ext>
                </a:extLst>
              </a:tr>
              <a:tr h="491490">
                <a:tc>
                  <a:txBody>
                    <a:bodyPr/>
                    <a:lstStyle/>
                    <a:p>
                      <a:pPr marL="85725" indent="0" algn="ctr">
                        <a:spcBef>
                          <a:spcPct val="0"/>
                        </a:spcBef>
                        <a:spcAft>
                          <a:spcPct val="0"/>
                        </a:spcAft>
                      </a:pPr>
                      <a:r>
                        <a:rPr lang="zh-CN" sz="1400" b="1">
                          <a:effectLst>
                            <a:outerShdw blurRad="38100" dist="38100" dir="2700000" algn="tl">
                              <a:srgbClr val="000000">
                                <a:alpha val="43137"/>
                              </a:srgbClr>
                            </a:outerShdw>
                          </a:effectLst>
                          <a:latin typeface="微软雅黑 Light" panose="020B0502040204020203" charset="-122"/>
                          <a:ea typeface="微软雅黑 Light" panose="020B0502040204020203" charset="-122"/>
                        </a:rPr>
                        <a:t>额定电压</a:t>
                      </a:r>
                      <a:r>
                        <a:rPr lang="en-US" altLang="zh-CN" sz="1400" b="1">
                          <a:effectLst>
                            <a:outerShdw blurRad="38100" dist="38100" dir="2700000" algn="tl">
                              <a:srgbClr val="000000">
                                <a:alpha val="43137"/>
                              </a:srgbClr>
                            </a:outerShdw>
                          </a:effectLst>
                          <a:latin typeface="Times New Roman" panose="02020603050405020304"/>
                          <a:ea typeface="微软雅黑 Light" panose="020B0502040204020203" charset="-122"/>
                        </a:rPr>
                        <a:t>(V)</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5725" indent="0" algn="ctr">
                        <a:spcBef>
                          <a:spcPct val="0"/>
                        </a:spcBef>
                        <a:spcAft>
                          <a:spcPct val="0"/>
                        </a:spcAft>
                      </a:pPr>
                      <a:r>
                        <a:rPr lang="en-US" altLang="zh-CN" sz="1600">
                          <a:latin typeface="Times New Roman" panose="02020603050405020304"/>
                          <a:ea typeface="Times New Roman" panose="02020603050405020304"/>
                        </a:rPr>
                        <a:t>48</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5725" indent="0" algn="ctr">
                        <a:spcBef>
                          <a:spcPct val="0"/>
                        </a:spcBef>
                        <a:spcAft>
                          <a:spcPct val="0"/>
                        </a:spcAft>
                      </a:pPr>
                      <a:r>
                        <a:rPr lang="en-US" altLang="zh-CN" sz="1600">
                          <a:latin typeface="Times New Roman" panose="02020603050405020304"/>
                          <a:ea typeface="Times New Roman" panose="02020603050405020304"/>
                        </a:rPr>
                        <a:t>48</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5725" indent="0" algn="ctr">
                        <a:spcBef>
                          <a:spcPct val="0"/>
                        </a:spcBef>
                        <a:spcAft>
                          <a:spcPct val="0"/>
                        </a:spcAft>
                      </a:pPr>
                      <a:r>
                        <a:rPr lang="en-US" altLang="zh-CN" sz="1600">
                          <a:latin typeface="Times New Roman" panose="02020603050405020304"/>
                          <a:ea typeface="Times New Roman" panose="02020603050405020304"/>
                        </a:rPr>
                        <a:t>72</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3"/>
                  </a:ext>
                </a:extLst>
              </a:tr>
              <a:tr h="492125">
                <a:tc>
                  <a:txBody>
                    <a:bodyPr/>
                    <a:lstStyle/>
                    <a:p>
                      <a:pPr marL="85725" indent="0" algn="ctr">
                        <a:spcBef>
                          <a:spcPct val="0"/>
                        </a:spcBef>
                        <a:spcAft>
                          <a:spcPct val="0"/>
                        </a:spcAft>
                      </a:pPr>
                      <a:r>
                        <a:rPr lang="zh-CN" sz="1400" b="1">
                          <a:effectLst>
                            <a:outerShdw blurRad="38100" dist="38100" dir="2700000" algn="tl">
                              <a:srgbClr val="000000">
                                <a:alpha val="43137"/>
                              </a:srgbClr>
                            </a:outerShdw>
                          </a:effectLst>
                          <a:latin typeface="微软雅黑 Light" panose="020B0502040204020203" charset="-122"/>
                          <a:ea typeface="微软雅黑 Light" panose="020B0502040204020203" charset="-122"/>
                        </a:rPr>
                        <a:t>额定扭矩（</a:t>
                      </a:r>
                      <a:r>
                        <a:rPr lang="en-US" altLang="zh-CN" sz="1400" b="1">
                          <a:effectLst>
                            <a:outerShdw blurRad="38100" dist="38100" dir="2700000" algn="tl">
                              <a:srgbClr val="000000">
                                <a:alpha val="43137"/>
                              </a:srgbClr>
                            </a:outerShdw>
                          </a:effectLst>
                          <a:latin typeface="Times New Roman" panose="02020603050405020304"/>
                          <a:ea typeface="微软雅黑 Light" panose="020B0502040204020203" charset="-122"/>
                        </a:rPr>
                        <a:t>Nm</a:t>
                      </a:r>
                      <a:r>
                        <a:rPr lang="zh-CN" sz="1400" b="1">
                          <a:effectLst>
                            <a:outerShdw blurRad="38100" dist="38100" dir="2700000" algn="tl">
                              <a:srgbClr val="000000">
                                <a:alpha val="43137"/>
                              </a:srgbClr>
                            </a:outerShdw>
                          </a:effectLst>
                          <a:latin typeface="微软雅黑 Light" panose="020B0502040204020203" charset="-122"/>
                          <a:ea typeface="微软雅黑 Light" panose="020B0502040204020203" charset="-122"/>
                        </a:rPr>
                        <a:t>）</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5725" indent="0" algn="ctr">
                        <a:spcBef>
                          <a:spcPct val="0"/>
                        </a:spcBef>
                        <a:spcAft>
                          <a:spcPct val="0"/>
                        </a:spcAft>
                      </a:pPr>
                      <a:r>
                        <a:rPr lang="en-US" altLang="zh-CN" sz="1600">
                          <a:latin typeface="Times New Roman" panose="02020603050405020304"/>
                          <a:ea typeface="Times New Roman" panose="02020603050405020304"/>
                        </a:rPr>
                        <a:t>30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5725" indent="0" algn="ctr">
                        <a:spcBef>
                          <a:spcPct val="0"/>
                        </a:spcBef>
                        <a:spcAft>
                          <a:spcPct val="0"/>
                        </a:spcAft>
                      </a:pPr>
                      <a:r>
                        <a:rPr lang="en-US" altLang="zh-CN" sz="1600">
                          <a:latin typeface="Times New Roman" panose="02020603050405020304"/>
                          <a:ea typeface="Times New Roman" panose="02020603050405020304"/>
                        </a:rPr>
                        <a:t>30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5725" indent="0" algn="ctr">
                        <a:spcBef>
                          <a:spcPct val="0"/>
                        </a:spcBef>
                        <a:spcAft>
                          <a:spcPct val="0"/>
                        </a:spcAft>
                      </a:pPr>
                      <a:r>
                        <a:rPr lang="en-US" altLang="zh-CN" sz="1600" dirty="0">
                          <a:latin typeface="Times New Roman" panose="02020603050405020304"/>
                          <a:ea typeface="Times New Roman" panose="02020603050405020304"/>
                        </a:rPr>
                        <a:t>110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4"/>
                  </a:ext>
                </a:extLst>
              </a:tr>
              <a:tr h="491490">
                <a:tc>
                  <a:txBody>
                    <a:bodyPr/>
                    <a:lstStyle/>
                    <a:p>
                      <a:pPr marL="85725" indent="0" algn="ctr">
                        <a:spcBef>
                          <a:spcPct val="0"/>
                        </a:spcBef>
                        <a:spcAft>
                          <a:spcPct val="0"/>
                        </a:spcAft>
                      </a:pPr>
                      <a:r>
                        <a:rPr lang="zh-CN" sz="1400" b="1">
                          <a:effectLst>
                            <a:outerShdw blurRad="38100" dist="38100" dir="2700000" algn="tl">
                              <a:srgbClr val="000000">
                                <a:alpha val="43137"/>
                              </a:srgbClr>
                            </a:outerShdw>
                          </a:effectLst>
                          <a:latin typeface="微软雅黑 Light" panose="020B0502040204020203" charset="-122"/>
                          <a:ea typeface="微软雅黑 Light" panose="020B0502040204020203" charset="-122"/>
                        </a:rPr>
                        <a:t>峰值扭矩（</a:t>
                      </a:r>
                      <a:r>
                        <a:rPr lang="en-US" altLang="zh-CN" sz="1400" b="1">
                          <a:effectLst>
                            <a:outerShdw blurRad="38100" dist="38100" dir="2700000" algn="tl">
                              <a:srgbClr val="000000">
                                <a:alpha val="43137"/>
                              </a:srgbClr>
                            </a:outerShdw>
                          </a:effectLst>
                          <a:latin typeface="Times New Roman" panose="02020603050405020304"/>
                          <a:ea typeface="微软雅黑 Light" panose="020B0502040204020203" charset="-122"/>
                        </a:rPr>
                        <a:t>Nm</a:t>
                      </a:r>
                      <a:r>
                        <a:rPr lang="zh-CN" sz="1400" b="1">
                          <a:effectLst>
                            <a:outerShdw blurRad="38100" dist="38100" dir="2700000" algn="tl">
                              <a:srgbClr val="000000">
                                <a:alpha val="43137"/>
                              </a:srgbClr>
                            </a:outerShdw>
                          </a:effectLst>
                          <a:latin typeface="微软雅黑 Light" panose="020B0502040204020203" charset="-122"/>
                          <a:ea typeface="微软雅黑 Light" panose="020B0502040204020203" charset="-122"/>
                        </a:rPr>
                        <a:t>）</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5725" indent="0" algn="ctr">
                        <a:spcBef>
                          <a:spcPct val="0"/>
                        </a:spcBef>
                        <a:spcAft>
                          <a:spcPct val="0"/>
                        </a:spcAft>
                      </a:pPr>
                      <a:r>
                        <a:rPr lang="en-US" altLang="zh-CN" sz="1600">
                          <a:latin typeface="Times New Roman" panose="02020603050405020304"/>
                          <a:ea typeface="Times New Roman" panose="02020603050405020304"/>
                        </a:rPr>
                        <a:t>60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5725" indent="0" algn="ctr">
                        <a:spcBef>
                          <a:spcPct val="0"/>
                        </a:spcBef>
                        <a:spcAft>
                          <a:spcPct val="0"/>
                        </a:spcAft>
                      </a:pPr>
                      <a:r>
                        <a:rPr lang="en-US" altLang="zh-CN" sz="1600">
                          <a:latin typeface="Times New Roman" panose="02020603050405020304"/>
                          <a:ea typeface="Times New Roman" panose="02020603050405020304"/>
                        </a:rPr>
                        <a:t>100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5725" indent="0" algn="ctr">
                        <a:spcBef>
                          <a:spcPct val="0"/>
                        </a:spcBef>
                        <a:spcAft>
                          <a:spcPct val="0"/>
                        </a:spcAft>
                      </a:pPr>
                      <a:r>
                        <a:rPr lang="en-US" altLang="zh-CN" sz="1600">
                          <a:latin typeface="Times New Roman" panose="02020603050405020304"/>
                          <a:ea typeface="Times New Roman" panose="02020603050405020304"/>
                        </a:rPr>
                        <a:t>300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5"/>
                  </a:ext>
                </a:extLst>
              </a:tr>
              <a:tr h="491490">
                <a:tc>
                  <a:txBody>
                    <a:bodyPr/>
                    <a:lstStyle/>
                    <a:p>
                      <a:pPr marL="85725" indent="0" algn="ctr">
                        <a:spcBef>
                          <a:spcPct val="0"/>
                        </a:spcBef>
                        <a:spcAft>
                          <a:spcPct val="0"/>
                        </a:spcAft>
                      </a:pPr>
                      <a:r>
                        <a:rPr lang="zh-CN" sz="1400" b="1">
                          <a:effectLst>
                            <a:outerShdw blurRad="38100" dist="38100" dir="2700000" algn="tl">
                              <a:srgbClr val="000000">
                                <a:alpha val="43137"/>
                              </a:srgbClr>
                            </a:outerShdw>
                          </a:effectLst>
                          <a:latin typeface="微软雅黑 Light" panose="020B0502040204020203" charset="-122"/>
                          <a:ea typeface="微软雅黑 Light" panose="020B0502040204020203" charset="-122"/>
                        </a:rPr>
                        <a:t>重量（</a:t>
                      </a:r>
                      <a:r>
                        <a:rPr lang="en-US" altLang="zh-CN" sz="1400" b="1">
                          <a:effectLst>
                            <a:outerShdw blurRad="38100" dist="38100" dir="2700000" algn="tl">
                              <a:srgbClr val="000000">
                                <a:alpha val="43137"/>
                              </a:srgbClr>
                            </a:outerShdw>
                          </a:effectLst>
                          <a:latin typeface="Times New Roman" panose="02020603050405020304"/>
                          <a:ea typeface="微软雅黑 Light" panose="020B0502040204020203" charset="-122"/>
                        </a:rPr>
                        <a:t>g</a:t>
                      </a:r>
                      <a:r>
                        <a:rPr lang="zh-CN" sz="1400" b="1">
                          <a:effectLst>
                            <a:outerShdw blurRad="38100" dist="38100" dir="2700000" algn="tl">
                              <a:srgbClr val="000000">
                                <a:alpha val="43137"/>
                              </a:srgbClr>
                            </a:outerShdw>
                          </a:effectLst>
                          <a:latin typeface="微软雅黑 Light" panose="020B0502040204020203" charset="-122"/>
                          <a:ea typeface="微软雅黑 Light" panose="020B0502040204020203" charset="-122"/>
                        </a:rPr>
                        <a:t>）</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5725" indent="0" algn="ctr">
                        <a:spcBef>
                          <a:spcPct val="0"/>
                        </a:spcBef>
                        <a:spcAft>
                          <a:spcPct val="0"/>
                        </a:spcAft>
                      </a:pPr>
                      <a:r>
                        <a:rPr lang="en-US" altLang="zh-CN" sz="1600">
                          <a:latin typeface="Times New Roman" panose="02020603050405020304"/>
                          <a:ea typeface="Times New Roman" panose="02020603050405020304"/>
                        </a:rPr>
                        <a:t>960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5725" indent="0" algn="ctr">
                        <a:spcBef>
                          <a:spcPct val="0"/>
                        </a:spcBef>
                        <a:spcAft>
                          <a:spcPct val="0"/>
                        </a:spcAft>
                      </a:pPr>
                      <a:r>
                        <a:rPr lang="en-US" altLang="zh-CN" sz="1600">
                          <a:latin typeface="Times New Roman" panose="02020603050405020304"/>
                          <a:ea typeface="Times New Roman" panose="02020603050405020304"/>
                        </a:rPr>
                        <a:t>1800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5725" indent="0" algn="ctr">
                        <a:spcBef>
                          <a:spcPct val="0"/>
                        </a:spcBef>
                        <a:spcAft>
                          <a:spcPct val="0"/>
                        </a:spcAft>
                      </a:pPr>
                      <a:r>
                        <a:rPr lang="en-US" altLang="zh-CN" sz="1600" dirty="0">
                          <a:latin typeface="Times New Roman" panose="02020603050405020304"/>
                          <a:ea typeface="Times New Roman" panose="02020603050405020304"/>
                        </a:rPr>
                        <a:t>3000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6"/>
                  </a:ext>
                </a:extLst>
              </a:tr>
            </a:tbl>
          </a:graphicData>
        </a:graphic>
      </p:graphicFrame>
      <p:graphicFrame>
        <p:nvGraphicFramePr>
          <p:cNvPr id="3" name="表格 2"/>
          <p:cNvGraphicFramePr/>
          <p:nvPr>
            <p:custDataLst>
              <p:tags r:id="rId1"/>
            </p:custDataLst>
          </p:nvPr>
        </p:nvGraphicFramePr>
        <p:xfrm>
          <a:off x="486410" y="1906905"/>
          <a:ext cx="5650230" cy="3511550"/>
        </p:xfrm>
        <a:graphic>
          <a:graphicData uri="http://schemas.openxmlformats.org/drawingml/2006/table">
            <a:tbl>
              <a:tblPr/>
              <a:tblGrid>
                <a:gridCol w="1448435">
                  <a:extLst>
                    <a:ext uri="{9D8B030D-6E8A-4147-A177-3AD203B41FA5}">
                      <a16:colId xmlns:a16="http://schemas.microsoft.com/office/drawing/2014/main" val="20000"/>
                    </a:ext>
                  </a:extLst>
                </a:gridCol>
                <a:gridCol w="993775">
                  <a:extLst>
                    <a:ext uri="{9D8B030D-6E8A-4147-A177-3AD203B41FA5}">
                      <a16:colId xmlns:a16="http://schemas.microsoft.com/office/drawing/2014/main" val="20001"/>
                    </a:ext>
                  </a:extLst>
                </a:gridCol>
                <a:gridCol w="1068705">
                  <a:extLst>
                    <a:ext uri="{9D8B030D-6E8A-4147-A177-3AD203B41FA5}">
                      <a16:colId xmlns:a16="http://schemas.microsoft.com/office/drawing/2014/main" val="20002"/>
                    </a:ext>
                  </a:extLst>
                </a:gridCol>
                <a:gridCol w="1069975">
                  <a:extLst>
                    <a:ext uri="{9D8B030D-6E8A-4147-A177-3AD203B41FA5}">
                      <a16:colId xmlns:a16="http://schemas.microsoft.com/office/drawing/2014/main" val="20003"/>
                    </a:ext>
                  </a:extLst>
                </a:gridCol>
                <a:gridCol w="1069340">
                  <a:extLst>
                    <a:ext uri="{9D8B030D-6E8A-4147-A177-3AD203B41FA5}">
                      <a16:colId xmlns:a16="http://schemas.microsoft.com/office/drawing/2014/main" val="20004"/>
                    </a:ext>
                  </a:extLst>
                </a:gridCol>
              </a:tblGrid>
              <a:tr h="561975">
                <a:tc>
                  <a:txBody>
                    <a:bodyPr/>
                    <a:lstStyle/>
                    <a:p>
                      <a:pPr marL="0" indent="0" algn="ctr">
                        <a:spcBef>
                          <a:spcPct val="0"/>
                        </a:spcBef>
                        <a:spcAft>
                          <a:spcPct val="0"/>
                        </a:spcAft>
                      </a:pPr>
                      <a:r>
                        <a:rPr lang="zh-CN" sz="1600" b="1">
                          <a:effectLst>
                            <a:outerShdw blurRad="38100" dist="38100" dir="2700000" algn="tl">
                              <a:srgbClr val="000000">
                                <a:alpha val="43137"/>
                              </a:srgbClr>
                            </a:outerShdw>
                          </a:effectLst>
                          <a:latin typeface="微软雅黑 Light" panose="020B0502040204020203" charset="-122"/>
                          <a:ea typeface="微软雅黑 Light" panose="020B0502040204020203" charset="-122"/>
                        </a:rPr>
                        <a:t>型号</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D6DCE4"/>
                    </a:solidFill>
                  </a:tcPr>
                </a:tc>
                <a:tc>
                  <a:txBody>
                    <a:bodyPr/>
                    <a:lstStyle/>
                    <a:p>
                      <a:pPr marL="0" indent="0" algn="ctr">
                        <a:spcBef>
                          <a:spcPct val="0"/>
                        </a:spcBef>
                        <a:spcAft>
                          <a:spcPct val="0"/>
                        </a:spcAft>
                      </a:pPr>
                      <a:r>
                        <a:rPr lang="en-US" altLang="zh-CN" sz="1600" b="1">
                          <a:latin typeface="Times New Roman" panose="02020603050405020304"/>
                          <a:ea typeface="Times New Roman" panose="02020603050405020304"/>
                        </a:rPr>
                        <a:t>CL-P-</a:t>
                      </a:r>
                      <a:r>
                        <a:rPr lang="en-US" altLang="zh-CN" sz="1600" b="1">
                          <a:latin typeface="Times New Roman" panose="02020603050405020304"/>
                          <a:ea typeface="微软雅黑 Light" panose="020B0502040204020203" charset="-122"/>
                        </a:rPr>
                        <a:t>036</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D6DCE4"/>
                    </a:solidFill>
                  </a:tcPr>
                </a:tc>
                <a:tc>
                  <a:txBody>
                    <a:bodyPr/>
                    <a:lstStyle/>
                    <a:p>
                      <a:pPr marL="0" indent="0" algn="ctr">
                        <a:spcBef>
                          <a:spcPct val="0"/>
                        </a:spcBef>
                        <a:spcAft>
                          <a:spcPct val="0"/>
                        </a:spcAft>
                      </a:pPr>
                      <a:r>
                        <a:rPr lang="en-US" altLang="zh-CN" sz="1600" b="1">
                          <a:latin typeface="Times New Roman" panose="02020603050405020304"/>
                          <a:ea typeface="Times New Roman" panose="02020603050405020304"/>
                        </a:rPr>
                        <a:t>CL-P-</a:t>
                      </a:r>
                      <a:r>
                        <a:rPr lang="en-US" altLang="zh-CN" sz="1600" b="1">
                          <a:latin typeface="Times New Roman" panose="02020603050405020304"/>
                          <a:ea typeface="微软雅黑 Light" panose="020B0502040204020203" charset="-122"/>
                        </a:rPr>
                        <a:t>048</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D6DCE4"/>
                    </a:solidFill>
                  </a:tcPr>
                </a:tc>
                <a:tc>
                  <a:txBody>
                    <a:bodyPr/>
                    <a:lstStyle/>
                    <a:p>
                      <a:pPr marL="0" indent="0" algn="ctr">
                        <a:spcBef>
                          <a:spcPct val="0"/>
                        </a:spcBef>
                        <a:spcAft>
                          <a:spcPct val="0"/>
                        </a:spcAft>
                      </a:pPr>
                      <a:r>
                        <a:rPr lang="en-US" altLang="zh-CN" sz="1600" b="1">
                          <a:latin typeface="Times New Roman" panose="02020603050405020304"/>
                          <a:ea typeface="Times New Roman" panose="02020603050405020304"/>
                        </a:rPr>
                        <a:t>CL-P-</a:t>
                      </a:r>
                      <a:r>
                        <a:rPr lang="en-US" altLang="zh-CN" sz="1600" b="1">
                          <a:latin typeface="Times New Roman" panose="02020603050405020304"/>
                          <a:ea typeface="微软雅黑 Light" panose="020B0502040204020203" charset="-122"/>
                        </a:rPr>
                        <a:t>1</a:t>
                      </a:r>
                      <a:r>
                        <a:rPr lang="en-US" altLang="zh-CN" sz="1600" b="1">
                          <a:latin typeface="Times New Roman" panose="02020603050405020304"/>
                          <a:ea typeface="Times New Roman" panose="02020603050405020304"/>
                        </a:rPr>
                        <a:t>45</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D6DCE4"/>
                    </a:solidFill>
                  </a:tcPr>
                </a:tc>
                <a:tc>
                  <a:txBody>
                    <a:bodyPr/>
                    <a:lstStyle/>
                    <a:p>
                      <a:pPr marL="0" indent="0" algn="ctr">
                        <a:spcBef>
                          <a:spcPct val="0"/>
                        </a:spcBef>
                        <a:spcAft>
                          <a:spcPct val="0"/>
                        </a:spcAft>
                      </a:pPr>
                      <a:r>
                        <a:rPr lang="en-US" altLang="zh-CN" sz="1600" b="1">
                          <a:latin typeface="Times New Roman" panose="02020603050405020304"/>
                          <a:ea typeface="Times New Roman" panose="02020603050405020304"/>
                        </a:rPr>
                        <a:t>CL-P-32</a:t>
                      </a:r>
                      <a:r>
                        <a:rPr lang="en-US" altLang="zh-CN" sz="1600" b="1">
                          <a:latin typeface="Times New Roman" panose="02020603050405020304"/>
                          <a:ea typeface="微软雅黑 Light" panose="020B0502040204020203" charset="-122"/>
                        </a:rPr>
                        <a:t>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D6DCE4"/>
                    </a:solidFill>
                  </a:tcPr>
                </a:tc>
                <a:extLst>
                  <a:ext uri="{0D108BD9-81ED-4DB2-BD59-A6C34878D82A}">
                    <a16:rowId xmlns:a16="http://schemas.microsoft.com/office/drawing/2014/main" val="10000"/>
                  </a:ext>
                </a:extLst>
              </a:tr>
              <a:tr h="491490">
                <a:tc>
                  <a:txBody>
                    <a:bodyPr/>
                    <a:lstStyle/>
                    <a:p>
                      <a:pPr marL="0" indent="0" algn="ctr">
                        <a:spcBef>
                          <a:spcPct val="0"/>
                        </a:spcBef>
                        <a:spcAft>
                          <a:spcPct val="0"/>
                        </a:spcAft>
                      </a:pPr>
                      <a:r>
                        <a:rPr lang="zh-CN" sz="1400" b="1">
                          <a:effectLst>
                            <a:outerShdw blurRad="38100" dist="38100" dir="2700000" algn="tl">
                              <a:srgbClr val="000000">
                                <a:alpha val="43137"/>
                              </a:srgbClr>
                            </a:outerShdw>
                          </a:effectLst>
                          <a:latin typeface="微软雅黑 Light" panose="020B0502040204020203" charset="-122"/>
                          <a:ea typeface="微软雅黑 Light" panose="020B0502040204020203" charset="-122"/>
                        </a:rPr>
                        <a:t>外径（</a:t>
                      </a:r>
                      <a:r>
                        <a:rPr lang="en-US" altLang="zh-CN" sz="1400" b="1">
                          <a:effectLst>
                            <a:outerShdw blurRad="38100" dist="38100" dir="2700000" algn="tl">
                              <a:srgbClr val="000000">
                                <a:alpha val="43137"/>
                              </a:srgbClr>
                            </a:outerShdw>
                          </a:effectLst>
                          <a:latin typeface="Times New Roman" panose="02020603050405020304"/>
                          <a:ea typeface="微软雅黑 Light" panose="020B0502040204020203" charset="-122"/>
                        </a:rPr>
                        <a:t>mm</a:t>
                      </a:r>
                      <a:r>
                        <a:rPr lang="zh-CN" sz="1400" b="1">
                          <a:effectLst>
                            <a:outerShdw blurRad="38100" dist="38100" dir="2700000" algn="tl">
                              <a:srgbClr val="000000">
                                <a:alpha val="43137"/>
                              </a:srgbClr>
                            </a:outerShdw>
                          </a:effectLst>
                          <a:latin typeface="微软雅黑 Light" panose="020B0502040204020203" charset="-122"/>
                          <a:ea typeface="微软雅黑 Light" panose="020B0502040204020203" charset="-122"/>
                        </a:rPr>
                        <a:t>）</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600">
                          <a:latin typeface="Times New Roman" panose="02020603050405020304"/>
                          <a:ea typeface="Times New Roman" panose="02020603050405020304"/>
                        </a:rPr>
                        <a:t>56</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600">
                          <a:latin typeface="Times New Roman" panose="02020603050405020304"/>
                          <a:ea typeface="微软雅黑 Light" panose="020B0502040204020203" charset="-122"/>
                        </a:rPr>
                        <a:t>65</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600">
                          <a:latin typeface="Times New Roman" panose="02020603050405020304"/>
                          <a:ea typeface="微软雅黑 Light" panose="020B0502040204020203" charset="-122"/>
                        </a:rPr>
                        <a:t>8</a:t>
                      </a:r>
                      <a:r>
                        <a:rPr lang="en-US" altLang="zh-CN" sz="1600">
                          <a:latin typeface="Times New Roman" panose="02020603050405020304"/>
                          <a:ea typeface="Times New Roman" panose="02020603050405020304"/>
                        </a:rPr>
                        <a:t>9</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600">
                          <a:latin typeface="Times New Roman" panose="02020603050405020304"/>
                          <a:ea typeface="Times New Roman" panose="02020603050405020304"/>
                        </a:rPr>
                        <a:t>125</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1"/>
                  </a:ext>
                </a:extLst>
              </a:tr>
              <a:tr h="490855">
                <a:tc>
                  <a:txBody>
                    <a:bodyPr/>
                    <a:lstStyle/>
                    <a:p>
                      <a:pPr marL="0" indent="0" algn="ctr">
                        <a:spcBef>
                          <a:spcPct val="0"/>
                        </a:spcBef>
                        <a:spcAft>
                          <a:spcPct val="0"/>
                        </a:spcAft>
                      </a:pPr>
                      <a:r>
                        <a:rPr lang="zh-CN" sz="1400" b="1">
                          <a:effectLst>
                            <a:outerShdw blurRad="38100" dist="38100" dir="2700000" algn="tl">
                              <a:srgbClr val="000000">
                                <a:alpha val="43137"/>
                              </a:srgbClr>
                            </a:outerShdw>
                          </a:effectLst>
                          <a:latin typeface="微软雅黑 Light" panose="020B0502040204020203" charset="-122"/>
                          <a:ea typeface="微软雅黑 Light" panose="020B0502040204020203" charset="-122"/>
                        </a:rPr>
                        <a:t>高度（</a:t>
                      </a:r>
                      <a:r>
                        <a:rPr lang="en-US" altLang="zh-CN" sz="1400" b="1">
                          <a:effectLst>
                            <a:outerShdw blurRad="38100" dist="38100" dir="2700000" algn="tl">
                              <a:srgbClr val="000000">
                                <a:alpha val="43137"/>
                              </a:srgbClr>
                            </a:outerShdw>
                          </a:effectLst>
                          <a:latin typeface="Times New Roman" panose="02020603050405020304"/>
                          <a:ea typeface="微软雅黑 Light" panose="020B0502040204020203" charset="-122"/>
                        </a:rPr>
                        <a:t>mm</a:t>
                      </a:r>
                      <a:r>
                        <a:rPr lang="zh-CN" sz="1400" b="1">
                          <a:effectLst>
                            <a:outerShdw blurRad="38100" dist="38100" dir="2700000" algn="tl">
                              <a:srgbClr val="000000">
                                <a:alpha val="43137"/>
                              </a:srgbClr>
                            </a:outerShdw>
                          </a:effectLst>
                          <a:latin typeface="微软雅黑 Light" panose="020B0502040204020203" charset="-122"/>
                          <a:ea typeface="微软雅黑 Light" panose="020B0502040204020203" charset="-122"/>
                        </a:rPr>
                        <a:t>）</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600">
                          <a:latin typeface="Times New Roman" panose="02020603050405020304"/>
                          <a:ea typeface="Times New Roman" panose="02020603050405020304"/>
                        </a:rPr>
                        <a:t>6</a:t>
                      </a:r>
                      <a:r>
                        <a:rPr lang="en-US" altLang="zh-CN" sz="1600">
                          <a:latin typeface="Times New Roman" panose="02020603050405020304"/>
                          <a:ea typeface="微软雅黑 Light" panose="020B0502040204020203" charset="-122"/>
                        </a:rPr>
                        <a:t>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600">
                          <a:latin typeface="Times New Roman" panose="02020603050405020304"/>
                          <a:ea typeface="微软雅黑 Light" panose="020B0502040204020203" charset="-122"/>
                        </a:rPr>
                        <a:t>62</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600">
                          <a:latin typeface="Times New Roman" panose="02020603050405020304"/>
                          <a:ea typeface="微软雅黑 Light" panose="020B0502040204020203" charset="-122"/>
                        </a:rPr>
                        <a:t>6</a:t>
                      </a:r>
                      <a:r>
                        <a:rPr lang="en-US" altLang="zh-CN" sz="1600">
                          <a:latin typeface="Times New Roman" panose="02020603050405020304"/>
                          <a:ea typeface="Times New Roman" panose="02020603050405020304"/>
                        </a:rPr>
                        <a:t>3</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600">
                          <a:latin typeface="Times New Roman" panose="02020603050405020304"/>
                          <a:ea typeface="Times New Roman" panose="02020603050405020304"/>
                        </a:rPr>
                        <a:t>85</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2"/>
                  </a:ext>
                </a:extLst>
              </a:tr>
              <a:tr h="492760">
                <a:tc>
                  <a:txBody>
                    <a:bodyPr/>
                    <a:lstStyle/>
                    <a:p>
                      <a:pPr marL="0" indent="0" algn="ctr">
                        <a:spcBef>
                          <a:spcPct val="0"/>
                        </a:spcBef>
                        <a:spcAft>
                          <a:spcPct val="0"/>
                        </a:spcAft>
                      </a:pPr>
                      <a:r>
                        <a:rPr lang="zh-CN" sz="1400" b="1">
                          <a:effectLst>
                            <a:outerShdw blurRad="38100" dist="38100" dir="2700000" algn="tl">
                              <a:srgbClr val="000000">
                                <a:alpha val="43137"/>
                              </a:srgbClr>
                            </a:outerShdw>
                          </a:effectLst>
                          <a:latin typeface="微软雅黑 Light" panose="020B0502040204020203" charset="-122"/>
                          <a:ea typeface="微软雅黑 Light" panose="020B0502040204020203" charset="-122"/>
                        </a:rPr>
                        <a:t>额定电压</a:t>
                      </a:r>
                      <a:r>
                        <a:rPr lang="en-US" altLang="zh-CN" sz="1400" b="1">
                          <a:effectLst>
                            <a:outerShdw blurRad="38100" dist="38100" dir="2700000" algn="tl">
                              <a:srgbClr val="000000">
                                <a:alpha val="43137"/>
                              </a:srgbClr>
                            </a:outerShdw>
                          </a:effectLst>
                          <a:latin typeface="Times New Roman" panose="02020603050405020304"/>
                          <a:ea typeface="微软雅黑 Light" panose="020B0502040204020203" charset="-122"/>
                        </a:rPr>
                        <a:t>(V)</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600">
                          <a:latin typeface="Times New Roman" panose="02020603050405020304"/>
                          <a:ea typeface="Times New Roman" panose="02020603050405020304"/>
                        </a:rPr>
                        <a:t>48</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600">
                          <a:latin typeface="Times New Roman" panose="02020603050405020304"/>
                          <a:ea typeface="Times New Roman" panose="02020603050405020304"/>
                        </a:rPr>
                        <a:t>36</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600">
                          <a:latin typeface="Times New Roman" panose="02020603050405020304"/>
                          <a:ea typeface="Times New Roman" panose="02020603050405020304"/>
                        </a:rPr>
                        <a:t>48</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600">
                          <a:latin typeface="Times New Roman" panose="02020603050405020304"/>
                          <a:ea typeface="Times New Roman" panose="02020603050405020304"/>
                        </a:rPr>
                        <a:t>48</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3"/>
                  </a:ext>
                </a:extLst>
              </a:tr>
              <a:tr h="490855">
                <a:tc>
                  <a:txBody>
                    <a:bodyPr/>
                    <a:lstStyle/>
                    <a:p>
                      <a:pPr marL="0" indent="0" algn="ctr">
                        <a:spcBef>
                          <a:spcPct val="0"/>
                        </a:spcBef>
                        <a:spcAft>
                          <a:spcPct val="0"/>
                        </a:spcAft>
                      </a:pPr>
                      <a:r>
                        <a:rPr lang="zh-CN" sz="1400" b="1">
                          <a:solidFill>
                            <a:schemeClr val="tx1">
                              <a:lumMod val="95000"/>
                              <a:lumOff val="5000"/>
                            </a:schemeClr>
                          </a:solidFill>
                          <a:effectLst>
                            <a:outerShdw blurRad="38100" dist="38100" dir="2700000" algn="tl">
                              <a:srgbClr val="000000">
                                <a:alpha val="43137"/>
                              </a:srgbClr>
                            </a:outerShdw>
                          </a:effectLst>
                          <a:latin typeface="微软雅黑 Light" panose="020B0502040204020203" charset="-122"/>
                          <a:ea typeface="微软雅黑 Light" panose="020B0502040204020203" charset="-122"/>
                        </a:rPr>
                        <a:t>额定扭矩（</a:t>
                      </a:r>
                      <a:r>
                        <a:rPr lang="en-US" altLang="zh-CN" sz="1400" b="1">
                          <a:solidFill>
                            <a:schemeClr val="tx1">
                              <a:lumMod val="95000"/>
                              <a:lumOff val="5000"/>
                            </a:schemeClr>
                          </a:solidFill>
                          <a:effectLst>
                            <a:outerShdw blurRad="38100" dist="38100" dir="2700000" algn="tl">
                              <a:srgbClr val="000000">
                                <a:alpha val="43137"/>
                              </a:srgbClr>
                            </a:outerShdw>
                          </a:effectLst>
                          <a:latin typeface="Times New Roman" panose="02020603050405020304"/>
                          <a:ea typeface="微软雅黑 Light" panose="020B0502040204020203" charset="-122"/>
                        </a:rPr>
                        <a:t>Nm</a:t>
                      </a:r>
                      <a:r>
                        <a:rPr lang="zh-CN" sz="1400" b="1">
                          <a:solidFill>
                            <a:schemeClr val="tx1">
                              <a:lumMod val="95000"/>
                              <a:lumOff val="5000"/>
                            </a:schemeClr>
                          </a:solidFill>
                          <a:effectLst>
                            <a:outerShdw blurRad="38100" dist="38100" dir="2700000" algn="tl">
                              <a:srgbClr val="000000">
                                <a:alpha val="43137"/>
                              </a:srgbClr>
                            </a:outerShdw>
                          </a:effectLst>
                          <a:latin typeface="微软雅黑 Light" panose="020B0502040204020203" charset="-122"/>
                          <a:ea typeface="微软雅黑 Light" panose="020B0502040204020203" charset="-122"/>
                        </a:rPr>
                        <a:t>）</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600">
                          <a:latin typeface="Times New Roman" panose="02020603050405020304"/>
                          <a:ea typeface="微软雅黑 Light" panose="020B0502040204020203" charset="-122"/>
                        </a:rPr>
                        <a:t>1</a:t>
                      </a:r>
                      <a:r>
                        <a:rPr lang="en-US" altLang="zh-CN" sz="1600">
                          <a:latin typeface="Times New Roman" panose="02020603050405020304"/>
                          <a:ea typeface="Times New Roman" panose="02020603050405020304"/>
                        </a:rPr>
                        <a:t>2</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600">
                          <a:latin typeface="Times New Roman" panose="02020603050405020304"/>
                          <a:ea typeface="微软雅黑 Light" panose="020B0502040204020203" charset="-122"/>
                        </a:rPr>
                        <a:t>11</a:t>
                      </a:r>
                      <a:r>
                        <a:rPr lang="en-US" altLang="zh-CN" sz="1600">
                          <a:latin typeface="Times New Roman" panose="02020603050405020304"/>
                          <a:ea typeface="Times New Roman" panose="02020603050405020304"/>
                        </a:rPr>
                        <a:t>.5</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600">
                          <a:latin typeface="Times New Roman" panose="02020603050405020304"/>
                          <a:ea typeface="Times New Roman" panose="02020603050405020304"/>
                        </a:rPr>
                        <a:t>45</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600">
                          <a:latin typeface="Times New Roman" panose="02020603050405020304"/>
                          <a:ea typeface="Times New Roman" panose="02020603050405020304"/>
                        </a:rPr>
                        <a:t>120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4"/>
                  </a:ext>
                </a:extLst>
              </a:tr>
              <a:tr h="493395">
                <a:tc>
                  <a:txBody>
                    <a:bodyPr/>
                    <a:lstStyle/>
                    <a:p>
                      <a:pPr marL="0" indent="0" algn="ctr">
                        <a:spcBef>
                          <a:spcPct val="0"/>
                        </a:spcBef>
                        <a:spcAft>
                          <a:spcPct val="0"/>
                        </a:spcAft>
                      </a:pPr>
                      <a:r>
                        <a:rPr lang="zh-CN" sz="1400" b="1">
                          <a:solidFill>
                            <a:schemeClr val="tx1">
                              <a:lumMod val="95000"/>
                              <a:lumOff val="5000"/>
                            </a:schemeClr>
                          </a:solidFill>
                          <a:effectLst>
                            <a:outerShdw blurRad="38100" dist="38100" dir="2700000" algn="tl">
                              <a:srgbClr val="000000">
                                <a:alpha val="43137"/>
                              </a:srgbClr>
                            </a:outerShdw>
                          </a:effectLst>
                          <a:latin typeface="微软雅黑 Light" panose="020B0502040204020203" charset="-122"/>
                          <a:ea typeface="微软雅黑 Light" panose="020B0502040204020203" charset="-122"/>
                        </a:rPr>
                        <a:t>峰值扭矩（</a:t>
                      </a:r>
                      <a:r>
                        <a:rPr lang="en-US" altLang="zh-CN" sz="1400" b="1">
                          <a:solidFill>
                            <a:schemeClr val="tx1">
                              <a:lumMod val="95000"/>
                              <a:lumOff val="5000"/>
                            </a:schemeClr>
                          </a:solidFill>
                          <a:effectLst>
                            <a:outerShdw blurRad="38100" dist="38100" dir="2700000" algn="tl">
                              <a:srgbClr val="000000">
                                <a:alpha val="43137"/>
                              </a:srgbClr>
                            </a:outerShdw>
                          </a:effectLst>
                          <a:latin typeface="Times New Roman" panose="02020603050405020304"/>
                          <a:ea typeface="微软雅黑 Light" panose="020B0502040204020203" charset="-122"/>
                        </a:rPr>
                        <a:t>Nm</a:t>
                      </a:r>
                      <a:r>
                        <a:rPr lang="zh-CN" sz="1400" b="1">
                          <a:solidFill>
                            <a:schemeClr val="tx1">
                              <a:lumMod val="95000"/>
                              <a:lumOff val="5000"/>
                            </a:schemeClr>
                          </a:solidFill>
                          <a:effectLst>
                            <a:outerShdw blurRad="38100" dist="38100" dir="2700000" algn="tl">
                              <a:srgbClr val="000000">
                                <a:alpha val="43137"/>
                              </a:srgbClr>
                            </a:outerShdw>
                          </a:effectLst>
                          <a:latin typeface="微软雅黑 Light" panose="020B0502040204020203" charset="-122"/>
                          <a:ea typeface="微软雅黑 Light" panose="020B0502040204020203" charset="-122"/>
                        </a:rPr>
                        <a:t>）</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600">
                          <a:latin typeface="Times New Roman" panose="02020603050405020304"/>
                          <a:ea typeface="微软雅黑 Light" panose="020B0502040204020203" charset="-122"/>
                        </a:rPr>
                        <a:t>36</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600">
                          <a:latin typeface="Times New Roman" panose="02020603050405020304"/>
                          <a:ea typeface="微软雅黑 Light" panose="020B0502040204020203" charset="-122"/>
                        </a:rPr>
                        <a:t>48</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600">
                          <a:latin typeface="Times New Roman" panose="02020603050405020304"/>
                          <a:ea typeface="Times New Roman" panose="02020603050405020304"/>
                        </a:rPr>
                        <a:t>145</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600">
                          <a:latin typeface="Times New Roman" panose="02020603050405020304"/>
                          <a:ea typeface="Times New Roman" panose="02020603050405020304"/>
                        </a:rPr>
                        <a:t>320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5"/>
                  </a:ext>
                </a:extLst>
              </a:tr>
              <a:tr h="490220">
                <a:tc>
                  <a:txBody>
                    <a:bodyPr/>
                    <a:lstStyle/>
                    <a:p>
                      <a:pPr marL="0" indent="0" algn="ctr">
                        <a:spcBef>
                          <a:spcPct val="0"/>
                        </a:spcBef>
                        <a:spcAft>
                          <a:spcPct val="0"/>
                        </a:spcAft>
                      </a:pPr>
                      <a:r>
                        <a:rPr lang="zh-CN" sz="1400" b="1">
                          <a:solidFill>
                            <a:schemeClr val="tx1">
                              <a:lumMod val="95000"/>
                              <a:lumOff val="5000"/>
                            </a:schemeClr>
                          </a:solidFill>
                          <a:effectLst>
                            <a:outerShdw blurRad="38100" dist="38100" dir="2700000" algn="tl">
                              <a:srgbClr val="000000">
                                <a:alpha val="43137"/>
                              </a:srgbClr>
                            </a:outerShdw>
                          </a:effectLst>
                          <a:latin typeface="微软雅黑 Light" panose="020B0502040204020203" charset="-122"/>
                          <a:ea typeface="微软雅黑 Light" panose="020B0502040204020203" charset="-122"/>
                        </a:rPr>
                        <a:t>重量（g）</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600">
                          <a:latin typeface="Times New Roman" panose="02020603050405020304"/>
                          <a:ea typeface="Times New Roman" panose="02020603050405020304"/>
                        </a:rPr>
                        <a:t>380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600">
                          <a:latin typeface="Times New Roman" panose="02020603050405020304"/>
                          <a:ea typeface="微软雅黑 Light" panose="020B0502040204020203" charset="-122"/>
                        </a:rPr>
                        <a:t>5</a:t>
                      </a:r>
                      <a:r>
                        <a:rPr lang="en-US" altLang="zh-CN" sz="1600">
                          <a:latin typeface="Times New Roman" panose="02020603050405020304"/>
                          <a:ea typeface="Times New Roman" panose="02020603050405020304"/>
                        </a:rPr>
                        <a:t>60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600">
                          <a:latin typeface="Times New Roman" panose="02020603050405020304"/>
                          <a:ea typeface="Times New Roman" panose="02020603050405020304"/>
                        </a:rPr>
                        <a:t>833</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600" dirty="0">
                          <a:latin typeface="Times New Roman" panose="02020603050405020304"/>
                          <a:ea typeface="Times New Roman" panose="02020603050405020304"/>
                        </a:rPr>
                        <a:t>2200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6"/>
          <p:cNvPicPr>
            <a:picLocks noChangeAspect="1"/>
          </p:cNvPicPr>
          <p:nvPr/>
        </p:nvPicPr>
        <p:blipFill>
          <a:blip r:embed="rId2"/>
          <a:stretch>
            <a:fillRect/>
          </a:stretch>
        </p:blipFill>
        <p:spPr>
          <a:xfrm rot="21600000">
            <a:off x="0" y="6576693"/>
            <a:ext cx="12192000" cy="271779"/>
          </a:xfrm>
          <a:prstGeom prst="rect">
            <a:avLst/>
          </a:prstGeom>
        </p:spPr>
      </p:pic>
      <p:sp>
        <p:nvSpPr>
          <p:cNvPr id="70" name="textbox 70"/>
          <p:cNvSpPr/>
          <p:nvPr/>
        </p:nvSpPr>
        <p:spPr>
          <a:xfrm>
            <a:off x="1636628" y="455178"/>
            <a:ext cx="2599689" cy="507365"/>
          </a:xfrm>
          <a:prstGeom prst="rect">
            <a:avLst/>
          </a:prstGeom>
          <a:noFill/>
          <a:ln w="0" cap="flat">
            <a:noFill/>
            <a:prstDash val="solid"/>
            <a:miter lim="0"/>
          </a:ln>
        </p:spPr>
        <p:txBody>
          <a:bodyPr vert="horz" wrap="square" lIns="0" tIns="0" rIns="0" bIns="0"/>
          <a:lstStyle/>
          <a:p>
            <a:pPr algn="l" rtl="0" eaLnBrk="0">
              <a:lnSpc>
                <a:spcPct val="93000"/>
              </a:lnSpc>
            </a:pPr>
            <a:endParaRPr sz="1000" dirty="0">
              <a:latin typeface="微软雅黑" panose="020B0503020204020204" charset="-122"/>
              <a:ea typeface="微软雅黑" panose="020B0503020204020204" charset="-122"/>
              <a:cs typeface="微软雅黑" panose="020B0503020204020204" charset="-122"/>
            </a:endParaRPr>
          </a:p>
        </p:txBody>
      </p:sp>
      <p:sp>
        <p:nvSpPr>
          <p:cNvPr id="74" name="path 74"/>
          <p:cNvSpPr/>
          <p:nvPr/>
        </p:nvSpPr>
        <p:spPr>
          <a:xfrm>
            <a:off x="348614" y="354965"/>
            <a:ext cx="540385" cy="137794"/>
          </a:xfrm>
          <a:custGeom>
            <a:avLst/>
            <a:gdLst/>
            <a:ahLst/>
            <a:cxnLst/>
            <a:rect l="0" t="0" r="0" b="0"/>
            <a:pathLst>
              <a:path w="851" h="216">
                <a:moveTo>
                  <a:pt x="0" y="216"/>
                </a:moveTo>
                <a:lnTo>
                  <a:pt x="217" y="216"/>
                </a:lnTo>
                <a:lnTo>
                  <a:pt x="217" y="0"/>
                </a:lnTo>
                <a:lnTo>
                  <a:pt x="0" y="0"/>
                </a:lnTo>
                <a:lnTo>
                  <a:pt x="0" y="216"/>
                </a:lnTo>
                <a:close/>
              </a:path>
              <a:path w="851" h="216">
                <a:moveTo>
                  <a:pt x="317" y="216"/>
                </a:moveTo>
                <a:lnTo>
                  <a:pt x="534" y="216"/>
                </a:lnTo>
                <a:lnTo>
                  <a:pt x="534" y="0"/>
                </a:lnTo>
                <a:lnTo>
                  <a:pt x="317" y="0"/>
                </a:lnTo>
                <a:lnTo>
                  <a:pt x="317" y="216"/>
                </a:lnTo>
                <a:close/>
              </a:path>
              <a:path w="851" h="216">
                <a:moveTo>
                  <a:pt x="633" y="216"/>
                </a:moveTo>
                <a:lnTo>
                  <a:pt x="851" y="216"/>
                </a:lnTo>
                <a:lnTo>
                  <a:pt x="851" y="0"/>
                </a:lnTo>
                <a:lnTo>
                  <a:pt x="633" y="0"/>
                </a:lnTo>
                <a:lnTo>
                  <a:pt x="633"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2" name="path 82"/>
          <p:cNvSpPr/>
          <p:nvPr/>
        </p:nvSpPr>
        <p:spPr>
          <a:xfrm>
            <a:off x="348614" y="567054"/>
            <a:ext cx="339090" cy="349885"/>
          </a:xfrm>
          <a:custGeom>
            <a:avLst/>
            <a:gdLst/>
            <a:ahLst/>
            <a:cxnLst/>
            <a:rect l="0" t="0" r="0" b="0"/>
            <a:pathLst>
              <a:path w="534" h="551">
                <a:moveTo>
                  <a:pt x="0" y="217"/>
                </a:moveTo>
                <a:lnTo>
                  <a:pt x="217" y="217"/>
                </a:lnTo>
                <a:lnTo>
                  <a:pt x="217" y="0"/>
                </a:lnTo>
                <a:lnTo>
                  <a:pt x="0" y="0"/>
                </a:lnTo>
                <a:lnTo>
                  <a:pt x="0" y="217"/>
                </a:lnTo>
                <a:close/>
              </a:path>
              <a:path w="534" h="551">
                <a:moveTo>
                  <a:pt x="317" y="217"/>
                </a:moveTo>
                <a:lnTo>
                  <a:pt x="534" y="217"/>
                </a:lnTo>
                <a:lnTo>
                  <a:pt x="534" y="0"/>
                </a:lnTo>
                <a:lnTo>
                  <a:pt x="317" y="0"/>
                </a:lnTo>
                <a:lnTo>
                  <a:pt x="317" y="217"/>
                </a:lnTo>
                <a:close/>
              </a:path>
              <a:path w="534" h="551">
                <a:moveTo>
                  <a:pt x="0" y="551"/>
                </a:moveTo>
                <a:lnTo>
                  <a:pt x="217" y="551"/>
                </a:lnTo>
                <a:lnTo>
                  <a:pt x="217" y="334"/>
                </a:lnTo>
                <a:lnTo>
                  <a:pt x="0" y="334"/>
                </a:lnTo>
                <a:lnTo>
                  <a:pt x="0" y="551"/>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4" name="path 84"/>
          <p:cNvSpPr/>
          <p:nvPr/>
        </p:nvSpPr>
        <p:spPr>
          <a:xfrm>
            <a:off x="348614" y="142875"/>
            <a:ext cx="741680" cy="137794"/>
          </a:xfrm>
          <a:custGeom>
            <a:avLst/>
            <a:gdLst/>
            <a:ahLst/>
            <a:cxnLst/>
            <a:rect l="0" t="0" r="0" b="0"/>
            <a:pathLst>
              <a:path w="1168" h="216">
                <a:moveTo>
                  <a:pt x="0" y="216"/>
                </a:moveTo>
                <a:lnTo>
                  <a:pt x="217" y="216"/>
                </a:lnTo>
                <a:lnTo>
                  <a:pt x="217" y="0"/>
                </a:lnTo>
                <a:lnTo>
                  <a:pt x="0" y="0"/>
                </a:lnTo>
                <a:lnTo>
                  <a:pt x="0" y="216"/>
                </a:lnTo>
                <a:close/>
              </a:path>
              <a:path w="1168" h="216">
                <a:moveTo>
                  <a:pt x="317" y="216"/>
                </a:moveTo>
                <a:lnTo>
                  <a:pt x="534" y="216"/>
                </a:lnTo>
                <a:lnTo>
                  <a:pt x="534" y="0"/>
                </a:lnTo>
                <a:lnTo>
                  <a:pt x="317" y="0"/>
                </a:lnTo>
                <a:lnTo>
                  <a:pt x="317" y="216"/>
                </a:lnTo>
                <a:close/>
              </a:path>
              <a:path w="1168" h="216">
                <a:moveTo>
                  <a:pt x="633" y="216"/>
                </a:moveTo>
                <a:lnTo>
                  <a:pt x="851" y="216"/>
                </a:lnTo>
                <a:lnTo>
                  <a:pt x="851" y="0"/>
                </a:lnTo>
                <a:lnTo>
                  <a:pt x="633" y="0"/>
                </a:lnTo>
                <a:lnTo>
                  <a:pt x="633" y="216"/>
                </a:lnTo>
                <a:close/>
              </a:path>
              <a:path w="1168" h="216">
                <a:moveTo>
                  <a:pt x="951" y="216"/>
                </a:moveTo>
                <a:lnTo>
                  <a:pt x="1168" y="216"/>
                </a:lnTo>
                <a:lnTo>
                  <a:pt x="1168" y="0"/>
                </a:lnTo>
                <a:lnTo>
                  <a:pt x="951" y="0"/>
                </a:lnTo>
                <a:lnTo>
                  <a:pt x="951"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6" name="path 86"/>
          <p:cNvSpPr/>
          <p:nvPr/>
        </p:nvSpPr>
        <p:spPr>
          <a:xfrm>
            <a:off x="688340" y="955040"/>
            <a:ext cx="10786745" cy="76200"/>
          </a:xfrm>
          <a:custGeom>
            <a:avLst/>
            <a:gdLst/>
            <a:ahLst/>
            <a:cxnLst/>
            <a:rect l="0" t="0" r="0" b="0"/>
            <a:pathLst>
              <a:path w="15485" h="10">
                <a:moveTo>
                  <a:pt x="0" y="5"/>
                </a:moveTo>
                <a:lnTo>
                  <a:pt x="15485" y="5"/>
                </a:lnTo>
              </a:path>
            </a:pathLst>
          </a:custGeom>
          <a:noFill/>
          <a:ln w="6350" cap="flat">
            <a:solidFill>
              <a:srgbClr val="D9D9D9"/>
            </a:solidFill>
            <a:prstDash val="solid"/>
            <a:miter lim="1000000"/>
          </a:ln>
        </p:spPr>
        <p:txBody>
          <a:bodyPr rtlCol="0"/>
          <a:lstStyle/>
          <a:p>
            <a:pPr algn="ctr"/>
            <a:endParaRPr lang="zh-CN" altLang="en-US"/>
          </a:p>
        </p:txBody>
      </p:sp>
      <p:sp>
        <p:nvSpPr>
          <p:cNvPr id="88" name="rect 88"/>
          <p:cNvSpPr/>
          <p:nvPr/>
        </p:nvSpPr>
        <p:spPr>
          <a:xfrm>
            <a:off x="147320" y="56705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0" name="rect 90"/>
          <p:cNvSpPr/>
          <p:nvPr/>
        </p:nvSpPr>
        <p:spPr>
          <a:xfrm>
            <a:off x="147320" y="779145"/>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2" name="rect 92"/>
          <p:cNvSpPr/>
          <p:nvPr/>
        </p:nvSpPr>
        <p:spPr>
          <a:xfrm>
            <a:off x="147320" y="99123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4" name="rect 94"/>
          <p:cNvSpPr/>
          <p:nvPr/>
        </p:nvSpPr>
        <p:spPr>
          <a:xfrm>
            <a:off x="147320" y="14287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6" name="rect 96"/>
          <p:cNvSpPr/>
          <p:nvPr/>
        </p:nvSpPr>
        <p:spPr>
          <a:xfrm>
            <a:off x="147320" y="35496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pic>
        <p:nvPicPr>
          <p:cNvPr id="2" name="图片 1"/>
          <p:cNvPicPr>
            <a:picLocks noChangeAspect="1"/>
          </p:cNvPicPr>
          <p:nvPr/>
        </p:nvPicPr>
        <p:blipFill>
          <a:blip r:embed="rId3"/>
          <a:stretch>
            <a:fillRect/>
          </a:stretch>
        </p:blipFill>
        <p:spPr>
          <a:xfrm>
            <a:off x="10428563" y="68429"/>
            <a:ext cx="1354271" cy="781170"/>
          </a:xfrm>
          <a:prstGeom prst="rect">
            <a:avLst/>
          </a:prstGeom>
        </p:spPr>
      </p:pic>
      <p:sp>
        <p:nvSpPr>
          <p:cNvPr id="3" name="textbox 60"/>
          <p:cNvSpPr/>
          <p:nvPr/>
        </p:nvSpPr>
        <p:spPr>
          <a:xfrm>
            <a:off x="688022" y="3017728"/>
            <a:ext cx="10637203" cy="3795845"/>
          </a:xfrm>
          <a:prstGeom prst="rect">
            <a:avLst/>
          </a:prstGeom>
          <a:noFill/>
          <a:ln w="0" cap="flat">
            <a:noFill/>
            <a:prstDash val="solid"/>
            <a:miter lim="0"/>
          </a:ln>
        </p:spPr>
        <p:txBody>
          <a:bodyPr vert="horz" wrap="square" lIns="0" tIns="0" rIns="0" bIns="0"/>
          <a:lstStyle/>
          <a:p>
            <a:pPr algn="l" rtl="0" eaLnBrk="0">
              <a:lnSpc>
                <a:spcPct val="150000"/>
              </a:lnSpc>
            </a:pPr>
            <a:endParaRPr sz="100" dirty="0">
              <a:latin typeface="Arial" panose="020B0604020202020204"/>
              <a:ea typeface="Arial" panose="020B0604020202020204"/>
              <a:cs typeface="Arial" panose="020B0604020202020204"/>
            </a:endParaRPr>
          </a:p>
          <a:p>
            <a:pPr marL="17145" algn="l" rtl="0" eaLnBrk="0">
              <a:lnSpc>
                <a:spcPct val="150000"/>
              </a:lnSpc>
              <a:spcBef>
                <a:spcPts val="600"/>
              </a:spcBef>
              <a:spcAft>
                <a:spcPts val="600"/>
              </a:spcAft>
            </a:pPr>
            <a:endParaRPr lang="zh-CN" altLang="en-US" kern="0" spc="90" dirty="0">
              <a:solidFill>
                <a:srgbClr val="595959">
                  <a:alpha val="100000"/>
                </a:srgbClr>
              </a:solidFill>
              <a:latin typeface="微软雅黑" panose="020B0503020204020204" charset="-122"/>
              <a:ea typeface="微软雅黑" panose="020B0503020204020204" charset="-122"/>
              <a:cs typeface="微软雅黑" panose="020B0503020204020204" charset="-122"/>
            </a:endParaRPr>
          </a:p>
        </p:txBody>
      </p:sp>
      <p:sp>
        <p:nvSpPr>
          <p:cNvPr id="6" name="矩形 5"/>
          <p:cNvSpPr/>
          <p:nvPr/>
        </p:nvSpPr>
        <p:spPr>
          <a:xfrm>
            <a:off x="890270" y="354965"/>
            <a:ext cx="746125" cy="387985"/>
          </a:xfrm>
          <a:prstGeom prst="rect">
            <a:avLst/>
          </a:prstGeom>
          <a:noFill/>
          <a:ln>
            <a:noFill/>
          </a:ln>
        </p:spPr>
        <p:txBody>
          <a:bodyPr wrap="none" rtlCol="0" anchor="t">
            <a:noAutofit/>
          </a:bodyPr>
          <a:lstStyle/>
          <a:p>
            <a:pPr algn="ctr"/>
            <a:endParaRPr lang="en-US" altLang="zh-CN" sz="4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8" name="文本框 7"/>
          <p:cNvSpPr txBox="1"/>
          <p:nvPr/>
        </p:nvSpPr>
        <p:spPr>
          <a:xfrm>
            <a:off x="837565" y="433070"/>
            <a:ext cx="6096000" cy="521970"/>
          </a:xfrm>
          <a:prstGeom prst="rect">
            <a:avLst/>
          </a:prstGeom>
          <a:noFill/>
        </p:spPr>
        <p:txBody>
          <a:bodyPr wrap="square" rtlCol="0" anchor="t">
            <a:spAutoFit/>
          </a:bodyPr>
          <a:lstStyle/>
          <a:p>
            <a:r>
              <a:rPr lang="zh-CN" altLang="en-US" sz="2800" b="1" kern="0" noProof="0" dirty="0">
                <a:ln>
                  <a:noFill/>
                </a:ln>
                <a:solidFill>
                  <a:schemeClr val="accent1">
                    <a:lumMod val="50000"/>
                  </a:schemeClr>
                </a:solidFill>
                <a:effectLst/>
                <a:uLnTx/>
                <a:uFillTx/>
                <a:latin typeface="微软雅黑" panose="020B0503020204020204" charset="-122"/>
                <a:ea typeface="微软雅黑" panose="020B0503020204020204" charset="-122"/>
                <a:sym typeface="+mn-ea"/>
              </a:rPr>
              <a:t>应用推广</a:t>
            </a:r>
          </a:p>
        </p:txBody>
      </p:sp>
      <p:sp>
        <p:nvSpPr>
          <p:cNvPr id="72" name="path 72"/>
          <p:cNvSpPr/>
          <p:nvPr/>
        </p:nvSpPr>
        <p:spPr>
          <a:xfrm>
            <a:off x="11398249" y="6043294"/>
            <a:ext cx="741679" cy="774064"/>
          </a:xfrm>
          <a:custGeom>
            <a:avLst/>
            <a:gdLst/>
            <a:ahLst/>
            <a:cxnLst/>
            <a:rect l="0" t="0" r="0" b="0"/>
            <a:pathLst>
              <a:path w="1167" h="1218">
                <a:moveTo>
                  <a:pt x="950" y="1218"/>
                </a:moveTo>
                <a:lnTo>
                  <a:pt x="1167" y="1218"/>
                </a:lnTo>
                <a:lnTo>
                  <a:pt x="1167" y="1001"/>
                </a:lnTo>
                <a:lnTo>
                  <a:pt x="950" y="1001"/>
                </a:lnTo>
                <a:lnTo>
                  <a:pt x="950" y="1218"/>
                </a:lnTo>
                <a:close/>
              </a:path>
              <a:path w="1167" h="1218">
                <a:moveTo>
                  <a:pt x="634" y="1218"/>
                </a:moveTo>
                <a:lnTo>
                  <a:pt x="850" y="1218"/>
                </a:lnTo>
                <a:lnTo>
                  <a:pt x="850" y="1001"/>
                </a:lnTo>
                <a:lnTo>
                  <a:pt x="634" y="1001"/>
                </a:lnTo>
                <a:lnTo>
                  <a:pt x="634" y="1218"/>
                </a:lnTo>
                <a:close/>
              </a:path>
              <a:path w="1167" h="1218">
                <a:moveTo>
                  <a:pt x="317" y="1218"/>
                </a:moveTo>
                <a:lnTo>
                  <a:pt x="534" y="1218"/>
                </a:lnTo>
                <a:lnTo>
                  <a:pt x="534" y="1001"/>
                </a:lnTo>
                <a:lnTo>
                  <a:pt x="317" y="1001"/>
                </a:lnTo>
                <a:lnTo>
                  <a:pt x="317" y="1218"/>
                </a:lnTo>
                <a:close/>
              </a:path>
              <a:path w="1167" h="1218">
                <a:moveTo>
                  <a:pt x="0" y="1218"/>
                </a:moveTo>
                <a:lnTo>
                  <a:pt x="216" y="1218"/>
                </a:lnTo>
                <a:lnTo>
                  <a:pt x="216" y="1001"/>
                </a:lnTo>
                <a:lnTo>
                  <a:pt x="0" y="1001"/>
                </a:lnTo>
                <a:lnTo>
                  <a:pt x="0" y="1218"/>
                </a:lnTo>
                <a:close/>
              </a:path>
              <a:path w="1167" h="1218">
                <a:moveTo>
                  <a:pt x="950" y="884"/>
                </a:moveTo>
                <a:lnTo>
                  <a:pt x="1167" y="884"/>
                </a:lnTo>
                <a:lnTo>
                  <a:pt x="1167" y="667"/>
                </a:lnTo>
                <a:lnTo>
                  <a:pt x="950" y="667"/>
                </a:lnTo>
                <a:lnTo>
                  <a:pt x="950" y="884"/>
                </a:lnTo>
                <a:close/>
              </a:path>
              <a:path w="1167" h="1218">
                <a:moveTo>
                  <a:pt x="634" y="884"/>
                </a:moveTo>
                <a:lnTo>
                  <a:pt x="850" y="884"/>
                </a:lnTo>
                <a:lnTo>
                  <a:pt x="850" y="667"/>
                </a:lnTo>
                <a:lnTo>
                  <a:pt x="634" y="667"/>
                </a:lnTo>
                <a:lnTo>
                  <a:pt x="634" y="884"/>
                </a:lnTo>
                <a:close/>
              </a:path>
              <a:path w="1167" h="1218">
                <a:moveTo>
                  <a:pt x="317" y="884"/>
                </a:moveTo>
                <a:lnTo>
                  <a:pt x="534" y="884"/>
                </a:lnTo>
                <a:lnTo>
                  <a:pt x="534" y="667"/>
                </a:lnTo>
                <a:lnTo>
                  <a:pt x="317" y="667"/>
                </a:lnTo>
                <a:lnTo>
                  <a:pt x="317" y="884"/>
                </a:lnTo>
                <a:close/>
              </a:path>
              <a:path w="1167" h="1218">
                <a:moveTo>
                  <a:pt x="950" y="550"/>
                </a:moveTo>
                <a:lnTo>
                  <a:pt x="1167" y="550"/>
                </a:lnTo>
                <a:lnTo>
                  <a:pt x="1167" y="333"/>
                </a:lnTo>
                <a:lnTo>
                  <a:pt x="950" y="333"/>
                </a:lnTo>
                <a:lnTo>
                  <a:pt x="950" y="550"/>
                </a:lnTo>
                <a:close/>
              </a:path>
              <a:path w="1167" h="1218">
                <a:moveTo>
                  <a:pt x="634" y="550"/>
                </a:moveTo>
                <a:lnTo>
                  <a:pt x="850" y="550"/>
                </a:lnTo>
                <a:lnTo>
                  <a:pt x="850" y="333"/>
                </a:lnTo>
                <a:lnTo>
                  <a:pt x="634" y="333"/>
                </a:lnTo>
                <a:lnTo>
                  <a:pt x="634" y="550"/>
                </a:lnTo>
                <a:close/>
              </a:path>
              <a:path w="1167" h="1218">
                <a:moveTo>
                  <a:pt x="950" y="216"/>
                </a:moveTo>
                <a:lnTo>
                  <a:pt x="1167" y="216"/>
                </a:lnTo>
                <a:lnTo>
                  <a:pt x="1167" y="0"/>
                </a:lnTo>
                <a:lnTo>
                  <a:pt x="950" y="0"/>
                </a:lnTo>
                <a:lnTo>
                  <a:pt x="950"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4" name="文本框 3"/>
          <p:cNvSpPr txBox="1"/>
          <p:nvPr/>
        </p:nvSpPr>
        <p:spPr>
          <a:xfrm>
            <a:off x="2068830" y="1253490"/>
            <a:ext cx="9390380" cy="1445260"/>
          </a:xfrm>
          <a:prstGeom prst="rect">
            <a:avLst/>
          </a:prstGeom>
          <a:noFill/>
        </p:spPr>
        <p:txBody>
          <a:bodyPr wrap="square" rtlCol="0" anchor="t">
            <a:spAutoFit/>
          </a:bodyPr>
          <a:lstStyle/>
          <a:p>
            <a:r>
              <a:rPr lang="zh-CN" altLang="en-US" sz="2400" b="1" dirty="0">
                <a:solidFill>
                  <a:schemeClr val="accent1">
                    <a:lumMod val="5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技术即战力</a:t>
            </a:r>
            <a:r>
              <a:rPr lang="en-US" altLang="zh-CN" sz="2400" b="1" dirty="0">
                <a:solidFill>
                  <a:schemeClr val="accent1">
                    <a:lumMod val="5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a:t>
            </a:r>
            <a:r>
              <a:rPr lang="zh-CN" altLang="en-US" sz="2400" b="1" dirty="0">
                <a:solidFill>
                  <a:schemeClr val="accent1">
                    <a:lumMod val="5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国企单位与上市公司合作的双重认证</a:t>
            </a:r>
          </a:p>
          <a:p>
            <a:endParaRPr lang="en-US" altLang="zh-CN" sz="1600" dirty="0">
              <a:sym typeface="+mn-ea"/>
            </a:endParaRPr>
          </a:p>
          <a:p>
            <a:r>
              <a:rPr lang="zh-CN" altLang="en-US" sz="1600" dirty="0">
                <a:sym typeface="+mn-ea"/>
              </a:rPr>
              <a:t>依托核心团队深厚的学术积淀与产业资源，公司成立伊始即突破技术转化瓶颈。目前已分别与国家级科研机构及一家上市公司达成战略合作，意共同推进高效热管理与精密关节技术在机器人关节与重载无人机领域的落地应用。</a:t>
            </a:r>
          </a:p>
        </p:txBody>
      </p:sp>
      <p:sp>
        <p:nvSpPr>
          <p:cNvPr id="5" name="文本框 4"/>
          <p:cNvSpPr txBox="1"/>
          <p:nvPr/>
        </p:nvSpPr>
        <p:spPr>
          <a:xfrm>
            <a:off x="4052570" y="5973445"/>
            <a:ext cx="6096000" cy="368300"/>
          </a:xfrm>
          <a:prstGeom prst="rect">
            <a:avLst/>
          </a:prstGeom>
          <a:noFill/>
        </p:spPr>
        <p:txBody>
          <a:bodyPr wrap="square" rtlCol="0" anchor="t">
            <a:spAutoFit/>
          </a:bodyPr>
          <a:lstStyle/>
          <a:p>
            <a:r>
              <a:rPr lang="zh-CN" altLang="en-US" b="1">
                <a:gradFill>
                  <a:gsLst>
                    <a:gs pos="51300">
                      <a:srgbClr val="FE5F4A"/>
                    </a:gs>
                    <a:gs pos="0">
                      <a:srgbClr val="DF0303"/>
                    </a:gs>
                    <a:gs pos="100000">
                      <a:srgbClr val="FEA06E"/>
                    </a:gs>
                  </a:gsLst>
                  <a:lin ang="5400000" scaled="1"/>
                </a:gradFill>
                <a:latin typeface="微软雅黑" panose="020B0503020204020204" charset="-122"/>
                <a:ea typeface="微软雅黑" panose="020B0503020204020204" charset="-122"/>
                <a:cs typeface="微软雅黑" panose="020B0503020204020204" charset="-122"/>
                <a:sym typeface="+mn-ea"/>
              </a:rPr>
              <a:t>团队的顶尖技术与高效执行力，将快速打开市场局面</a:t>
            </a:r>
          </a:p>
        </p:txBody>
      </p:sp>
      <p:pic>
        <p:nvPicPr>
          <p:cNvPr id="7" name="图片 6"/>
          <p:cNvPicPr>
            <a:picLocks noChangeAspect="1"/>
          </p:cNvPicPr>
          <p:nvPr/>
        </p:nvPicPr>
        <p:blipFill>
          <a:blip r:embed="rId4"/>
          <a:stretch>
            <a:fillRect/>
          </a:stretch>
        </p:blipFill>
        <p:spPr>
          <a:xfrm>
            <a:off x="6786245" y="2777490"/>
            <a:ext cx="2600960" cy="2469515"/>
          </a:xfrm>
          <a:prstGeom prst="rect">
            <a:avLst/>
          </a:prstGeom>
        </p:spPr>
      </p:pic>
      <p:pic>
        <p:nvPicPr>
          <p:cNvPr id="10" name="图片 9"/>
          <p:cNvPicPr>
            <a:picLocks noChangeAspect="1"/>
          </p:cNvPicPr>
          <p:nvPr/>
        </p:nvPicPr>
        <p:blipFill>
          <a:blip r:embed="rId5"/>
          <a:stretch>
            <a:fillRect/>
          </a:stretch>
        </p:blipFill>
        <p:spPr>
          <a:xfrm>
            <a:off x="9142730" y="2921635"/>
            <a:ext cx="2008505" cy="2198370"/>
          </a:xfrm>
          <a:prstGeom prst="rect">
            <a:avLst/>
          </a:prstGeom>
        </p:spPr>
      </p:pic>
      <p:sp>
        <p:nvSpPr>
          <p:cNvPr id="13" name="文本框 12"/>
          <p:cNvSpPr txBox="1"/>
          <p:nvPr/>
        </p:nvSpPr>
        <p:spPr>
          <a:xfrm>
            <a:off x="2178050" y="5281930"/>
            <a:ext cx="3154045" cy="276999"/>
          </a:xfrm>
          <a:prstGeom prst="rect">
            <a:avLst/>
          </a:prstGeom>
          <a:noFill/>
        </p:spPr>
        <p:txBody>
          <a:bodyPr wrap="square" rtlCol="0" anchor="t">
            <a:spAutoFit/>
          </a:bodyPr>
          <a:lstStyle/>
          <a:p>
            <a:r>
              <a:rPr lang="zh-CN" altLang="en-US" sz="1200" dirty="0"/>
              <a:t>酷灵与五视天下签订合作的框架协议</a:t>
            </a:r>
          </a:p>
        </p:txBody>
      </p:sp>
      <p:sp>
        <p:nvSpPr>
          <p:cNvPr id="16" name="文本框 15"/>
          <p:cNvSpPr txBox="1"/>
          <p:nvPr/>
        </p:nvSpPr>
        <p:spPr>
          <a:xfrm>
            <a:off x="6933565" y="5374005"/>
            <a:ext cx="4084955" cy="460375"/>
          </a:xfrm>
          <a:prstGeom prst="rect">
            <a:avLst/>
          </a:prstGeom>
          <a:noFill/>
        </p:spPr>
        <p:txBody>
          <a:bodyPr wrap="square" rtlCol="0" anchor="t">
            <a:spAutoFit/>
          </a:bodyPr>
          <a:lstStyle/>
          <a:p>
            <a:r>
              <a:rPr lang="zh-CN" altLang="en-US" sz="1200" dirty="0"/>
              <a:t>酷灵与四川华丰科技签订热管理系统技术合作的框架协议</a:t>
            </a:r>
            <a:r>
              <a:rPr lang="zh-CN" sz="1200" dirty="0">
                <a:ea typeface="宋体" panose="02010600030101010101" pitchFamily="2" charset="-122"/>
              </a:rPr>
              <a:t>，协同华丰以重载无人机为核心，共同布局低空领域场</a:t>
            </a:r>
          </a:p>
        </p:txBody>
      </p:sp>
      <p:sp>
        <p:nvSpPr>
          <p:cNvPr id="18" name="矩形 17"/>
          <p:cNvSpPr/>
          <p:nvPr/>
        </p:nvSpPr>
        <p:spPr>
          <a:xfrm>
            <a:off x="970274" y="2981156"/>
            <a:ext cx="65753" cy="461665"/>
          </a:xfrm>
          <a:prstGeom prst="rect">
            <a:avLst/>
          </a:prstGeom>
          <a:gradFill>
            <a:gsLst>
              <a:gs pos="50000">
                <a:srgbClr val="1F5FBF"/>
              </a:gs>
              <a:gs pos="0">
                <a:srgbClr val="1486CB"/>
              </a:gs>
              <a:gs pos="100000">
                <a:srgbClr val="2A34B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sp>
        <p:nvSpPr>
          <p:cNvPr id="19" name="文本框 18"/>
          <p:cNvSpPr txBox="1"/>
          <p:nvPr/>
        </p:nvSpPr>
        <p:spPr>
          <a:xfrm>
            <a:off x="378925" y="3443165"/>
            <a:ext cx="1257300" cy="460375"/>
          </a:xfrm>
          <a:prstGeom prst="rect">
            <a:avLst/>
          </a:prstGeom>
          <a:noFill/>
        </p:spPr>
        <p:txBody>
          <a:bodyPr wrap="square">
            <a:spAutoFit/>
          </a:bodyPr>
          <a:lstStyle/>
          <a:p>
            <a:pPr algn="ctr"/>
            <a:r>
              <a:rPr lang="en-US" sz="1200" b="1">
                <a:solidFill>
                  <a:schemeClr val="accent1">
                    <a:lumMod val="40000"/>
                    <a:lumOff val="60000"/>
                  </a:schemeClr>
                </a:solidFill>
                <a:latin typeface="Arial" panose="020B0604020202020204"/>
                <a:ea typeface="Arial" panose="020B0604020202020204"/>
                <a:cs typeface="Arial" panose="020B0604020202020204"/>
                <a:sym typeface="Arial" panose="020B0604020202020204"/>
              </a:rPr>
              <a:t>Nanjing Cooling</a:t>
            </a:r>
            <a:endParaRPr lang="zh-CN" altLang="en-US" sz="1200" b="1" dirty="0">
              <a:solidFill>
                <a:schemeClr val="accent1">
                  <a:lumMod val="60000"/>
                  <a:lumOff val="40000"/>
                </a:schemeClr>
              </a:solidFill>
              <a:latin typeface="华文楷体" panose="02010600040101010101" pitchFamily="2" charset="-122"/>
              <a:ea typeface="华文楷体" panose="02010600040101010101" pitchFamily="2" charset="-122"/>
              <a:sym typeface="+mn-ea"/>
            </a:endParaRPr>
          </a:p>
        </p:txBody>
      </p:sp>
      <p:sp>
        <p:nvSpPr>
          <p:cNvPr id="20" name="文本框 19"/>
          <p:cNvSpPr txBox="1"/>
          <p:nvPr/>
        </p:nvSpPr>
        <p:spPr>
          <a:xfrm>
            <a:off x="246973" y="4082588"/>
            <a:ext cx="1576567" cy="645160"/>
          </a:xfrm>
          <a:prstGeom prst="rect">
            <a:avLst/>
          </a:prstGeom>
          <a:noFill/>
        </p:spPr>
        <p:txBody>
          <a:bodyPr wrap="square" rtlCol="0">
            <a:spAutoFit/>
          </a:bodyPr>
          <a:lstStyle/>
          <a:p>
            <a:pPr algn="ctr">
              <a:lnSpc>
                <a:spcPct val="150000"/>
              </a:lnSpc>
            </a:pPr>
            <a:r>
              <a:rPr lang="zh-CN" altLang="en-US" sz="1200" b="1" dirty="0">
                <a:solidFill>
                  <a:schemeClr val="accent1">
                    <a:lumMod val="50000"/>
                  </a:schemeClr>
                </a:solidFill>
                <a:latin typeface="微软雅黑" panose="020B0503020204020204" charset="-122"/>
                <a:ea typeface="微软雅黑" panose="020B0503020204020204" charset="-122"/>
              </a:rPr>
              <a:t>酷灵热管理</a:t>
            </a:r>
            <a:endParaRPr lang="en-US" altLang="zh-CN" sz="1200" b="1" dirty="0">
              <a:solidFill>
                <a:schemeClr val="accent1">
                  <a:lumMod val="50000"/>
                </a:schemeClr>
              </a:solidFill>
              <a:latin typeface="微软雅黑" panose="020B0503020204020204" charset="-122"/>
              <a:ea typeface="微软雅黑" panose="020B0503020204020204" charset="-122"/>
            </a:endParaRPr>
          </a:p>
          <a:p>
            <a:pPr algn="ctr">
              <a:lnSpc>
                <a:spcPct val="150000"/>
              </a:lnSpc>
            </a:pPr>
            <a:r>
              <a:rPr lang="zh-CN" altLang="en-US" sz="1200" b="1" dirty="0">
                <a:solidFill>
                  <a:schemeClr val="accent1">
                    <a:lumMod val="50000"/>
                  </a:schemeClr>
                </a:solidFill>
                <a:latin typeface="微软雅黑" panose="020B0503020204020204" charset="-122"/>
                <a:ea typeface="微软雅黑" panose="020B0503020204020204" charset="-122"/>
              </a:rPr>
              <a:t>为机器人持久赋能</a:t>
            </a:r>
          </a:p>
        </p:txBody>
      </p:sp>
      <p:sp>
        <p:nvSpPr>
          <p:cNvPr id="21" name="文本框 20"/>
          <p:cNvSpPr txBox="1"/>
          <p:nvPr/>
        </p:nvSpPr>
        <p:spPr>
          <a:xfrm>
            <a:off x="192405" y="4820285"/>
            <a:ext cx="1814830" cy="614045"/>
          </a:xfrm>
          <a:prstGeom prst="rect">
            <a:avLst/>
          </a:prstGeom>
          <a:noFill/>
        </p:spPr>
        <p:txBody>
          <a:bodyPr wrap="square">
            <a:spAutoFit/>
          </a:bodyPr>
          <a:lstStyle/>
          <a:p>
            <a:pPr algn="ctr"/>
            <a:endParaRPr lang="zh-CN" altLang="en-US" sz="2000" b="1" dirty="0">
              <a:solidFill>
                <a:schemeClr val="accent1">
                  <a:lumMod val="50000"/>
                </a:schemeClr>
              </a:solidFill>
              <a:latin typeface="华文楷体" panose="02010600040101010101" pitchFamily="2" charset="-122"/>
              <a:ea typeface="华文楷体" panose="02010600040101010101" pitchFamily="2" charset="-122"/>
            </a:endParaRPr>
          </a:p>
          <a:p>
            <a:pPr algn="ctr"/>
            <a:r>
              <a:rPr lang="zh-CN" altLang="en-US" sz="1400" b="1" dirty="0">
                <a:solidFill>
                  <a:schemeClr val="accent1">
                    <a:lumMod val="60000"/>
                    <a:lumOff val="40000"/>
                  </a:schemeClr>
                </a:solidFill>
                <a:latin typeface="华文楷体" panose="02010600040101010101" pitchFamily="2" charset="-122"/>
                <a:ea typeface="华文楷体" panose="02010600040101010101" pitchFamily="2" charset="-122"/>
              </a:rPr>
              <a:t>商业化落地</a:t>
            </a:r>
          </a:p>
        </p:txBody>
      </p:sp>
      <p:sp>
        <p:nvSpPr>
          <p:cNvPr id="23" name="矩形 22"/>
          <p:cNvSpPr/>
          <p:nvPr/>
        </p:nvSpPr>
        <p:spPr>
          <a:xfrm>
            <a:off x="970222" y="5434594"/>
            <a:ext cx="65753" cy="461665"/>
          </a:xfrm>
          <a:prstGeom prst="rect">
            <a:avLst/>
          </a:prstGeom>
          <a:gradFill>
            <a:gsLst>
              <a:gs pos="50000">
                <a:srgbClr val="1F5FBF"/>
              </a:gs>
              <a:gs pos="0">
                <a:srgbClr val="1486CB"/>
              </a:gs>
              <a:gs pos="100000">
                <a:srgbClr val="2A34B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pic>
        <p:nvPicPr>
          <p:cNvPr id="12" name="图片 11"/>
          <p:cNvPicPr>
            <a:picLocks noChangeAspect="1"/>
          </p:cNvPicPr>
          <p:nvPr/>
        </p:nvPicPr>
        <p:blipFill>
          <a:blip r:embed="rId6"/>
          <a:stretch>
            <a:fillRect/>
          </a:stretch>
        </p:blipFill>
        <p:spPr>
          <a:xfrm>
            <a:off x="4091812" y="2698750"/>
            <a:ext cx="1795712" cy="2496250"/>
          </a:xfrm>
          <a:prstGeom prst="rect">
            <a:avLst/>
          </a:prstGeom>
        </p:spPr>
      </p:pic>
      <p:pic>
        <p:nvPicPr>
          <p:cNvPr id="15" name="图片 14"/>
          <p:cNvPicPr>
            <a:picLocks noChangeAspect="1"/>
          </p:cNvPicPr>
          <p:nvPr/>
        </p:nvPicPr>
        <p:blipFill>
          <a:blip r:embed="rId7"/>
          <a:stretch>
            <a:fillRect/>
          </a:stretch>
        </p:blipFill>
        <p:spPr>
          <a:xfrm>
            <a:off x="1905837" y="2830511"/>
            <a:ext cx="1744926" cy="245141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56"/>
          <p:cNvPicPr>
            <a:picLocks noChangeAspect="1"/>
          </p:cNvPicPr>
          <p:nvPr/>
        </p:nvPicPr>
        <p:blipFill>
          <a:blip r:embed="rId2"/>
          <a:stretch>
            <a:fillRect/>
          </a:stretch>
        </p:blipFill>
        <p:spPr>
          <a:xfrm rot="21600000">
            <a:off x="275" y="-216"/>
            <a:ext cx="12192000" cy="6857998"/>
          </a:xfrm>
          <a:prstGeom prst="rect">
            <a:avLst/>
          </a:prstGeom>
        </p:spPr>
      </p:pic>
      <p:sp>
        <p:nvSpPr>
          <p:cNvPr id="62" name="textbox 62"/>
          <p:cNvSpPr/>
          <p:nvPr/>
        </p:nvSpPr>
        <p:spPr>
          <a:xfrm>
            <a:off x="6926443" y="1466538"/>
            <a:ext cx="3498811" cy="465455"/>
          </a:xfrm>
          <a:prstGeom prst="rect">
            <a:avLst/>
          </a:prstGeom>
          <a:noFill/>
          <a:ln w="0" cap="flat">
            <a:noFill/>
            <a:prstDash val="solid"/>
            <a:miter lim="0"/>
          </a:ln>
        </p:spPr>
        <p:txBody>
          <a:bodyPr vert="horz" wrap="square" lIns="0" tIns="0" rIns="0" bIns="0"/>
          <a:lstStyle/>
          <a:p>
            <a:pPr algn="l" rtl="0" eaLnBrk="0">
              <a:lnSpc>
                <a:spcPct val="69000"/>
              </a:lnSpc>
            </a:pPr>
            <a:endParaRPr sz="100" dirty="0">
              <a:latin typeface="Arial" panose="020B0604020202020204"/>
              <a:ea typeface="Arial" panose="020B0604020202020204"/>
              <a:cs typeface="Arial" panose="020B0604020202020204"/>
            </a:endParaRPr>
          </a:p>
        </p:txBody>
      </p:sp>
      <p:pic>
        <p:nvPicPr>
          <p:cNvPr id="66" name="picture 66"/>
          <p:cNvPicPr>
            <a:picLocks noChangeAspect="1"/>
          </p:cNvPicPr>
          <p:nvPr/>
        </p:nvPicPr>
        <p:blipFill>
          <a:blip r:embed="rId3"/>
          <a:stretch>
            <a:fillRect/>
          </a:stretch>
        </p:blipFill>
        <p:spPr>
          <a:xfrm rot="21600000">
            <a:off x="0" y="6576693"/>
            <a:ext cx="12192000" cy="271779"/>
          </a:xfrm>
          <a:prstGeom prst="rect">
            <a:avLst/>
          </a:prstGeom>
        </p:spPr>
      </p:pic>
      <p:sp>
        <p:nvSpPr>
          <p:cNvPr id="70" name="textbox 70"/>
          <p:cNvSpPr/>
          <p:nvPr/>
        </p:nvSpPr>
        <p:spPr>
          <a:xfrm>
            <a:off x="3903980" y="3249295"/>
            <a:ext cx="3764280" cy="507365"/>
          </a:xfrm>
          <a:prstGeom prst="rect">
            <a:avLst/>
          </a:prstGeom>
          <a:noFill/>
          <a:ln w="0" cap="flat">
            <a:noFill/>
            <a:prstDash val="solid"/>
            <a:miter lim="0"/>
          </a:ln>
        </p:spPr>
        <p:txBody>
          <a:bodyPr vert="horz" wrap="square" lIns="0" tIns="0" rIns="0" bIns="0"/>
          <a:lstStyle/>
          <a:p>
            <a:pPr algn="l" rtl="0" eaLnBrk="0">
              <a:lnSpc>
                <a:spcPct val="93000"/>
              </a:lnSpc>
            </a:pPr>
            <a:endParaRPr sz="100" dirty="0">
              <a:latin typeface="Arial" panose="020B0604020202020204"/>
              <a:ea typeface="Arial" panose="020B0604020202020204"/>
              <a:cs typeface="Arial" panose="020B0604020202020204"/>
            </a:endParaRPr>
          </a:p>
          <a:p>
            <a:pPr algn="ctr" rtl="0" eaLnBrk="0">
              <a:lnSpc>
                <a:spcPct val="87000"/>
              </a:lnSpc>
            </a:pPr>
            <a:r>
              <a:rPr lang="en-US" altLang="zh-CN" sz="4400" b="1" dirty="0">
                <a:solidFill>
                  <a:schemeClr val="accent1">
                    <a:lumMod val="5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05/</a:t>
            </a:r>
            <a:r>
              <a:rPr lang="zh-CN" altLang="en-US" sz="4400" b="1" dirty="0">
                <a:solidFill>
                  <a:schemeClr val="accent1">
                    <a:lumMod val="50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前景展望</a:t>
            </a:r>
            <a:endParaRPr lang="zh-CN" altLang="en-US" sz="4400" kern="0" spc="60" dirty="0">
              <a:solidFill>
                <a:schemeClr val="accent1">
                  <a:lumMod val="75000"/>
                  <a:alpha val="100000"/>
                </a:schemeClr>
              </a:solidFill>
              <a:latin typeface="微软雅黑" panose="020B0503020204020204" charset="-122"/>
              <a:ea typeface="微软雅黑" panose="020B0503020204020204" charset="-122"/>
              <a:cs typeface="微软雅黑" panose="020B0503020204020204" charset="-122"/>
            </a:endParaRPr>
          </a:p>
          <a:p>
            <a:pPr algn="r" rtl="0" eaLnBrk="0">
              <a:lnSpc>
                <a:spcPct val="87000"/>
              </a:lnSpc>
            </a:pPr>
            <a:endParaRPr lang="zh-CN" altLang="en-US" sz="4400" kern="0" spc="60" dirty="0">
              <a:solidFill>
                <a:schemeClr val="accent1">
                  <a:lumMod val="75000"/>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74" name="path 74"/>
          <p:cNvSpPr/>
          <p:nvPr/>
        </p:nvSpPr>
        <p:spPr>
          <a:xfrm>
            <a:off x="348614" y="354965"/>
            <a:ext cx="540385" cy="137794"/>
          </a:xfrm>
          <a:custGeom>
            <a:avLst/>
            <a:gdLst/>
            <a:ahLst/>
            <a:cxnLst/>
            <a:rect l="0" t="0" r="0" b="0"/>
            <a:pathLst>
              <a:path w="851" h="216">
                <a:moveTo>
                  <a:pt x="0" y="216"/>
                </a:moveTo>
                <a:lnTo>
                  <a:pt x="217" y="216"/>
                </a:lnTo>
                <a:lnTo>
                  <a:pt x="217" y="0"/>
                </a:lnTo>
                <a:lnTo>
                  <a:pt x="0" y="0"/>
                </a:lnTo>
                <a:lnTo>
                  <a:pt x="0" y="216"/>
                </a:lnTo>
                <a:close/>
              </a:path>
              <a:path w="851" h="216">
                <a:moveTo>
                  <a:pt x="317" y="216"/>
                </a:moveTo>
                <a:lnTo>
                  <a:pt x="534" y="216"/>
                </a:lnTo>
                <a:lnTo>
                  <a:pt x="534" y="0"/>
                </a:lnTo>
                <a:lnTo>
                  <a:pt x="317" y="0"/>
                </a:lnTo>
                <a:lnTo>
                  <a:pt x="317" y="216"/>
                </a:lnTo>
                <a:close/>
              </a:path>
              <a:path w="851" h="216">
                <a:moveTo>
                  <a:pt x="633" y="216"/>
                </a:moveTo>
                <a:lnTo>
                  <a:pt x="851" y="216"/>
                </a:lnTo>
                <a:lnTo>
                  <a:pt x="851" y="0"/>
                </a:lnTo>
                <a:lnTo>
                  <a:pt x="633" y="0"/>
                </a:lnTo>
                <a:lnTo>
                  <a:pt x="633"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0" name="textbox 80"/>
          <p:cNvSpPr/>
          <p:nvPr/>
        </p:nvSpPr>
        <p:spPr>
          <a:xfrm>
            <a:off x="335914" y="515264"/>
            <a:ext cx="962025" cy="41465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351790" algn="l" rtl="0" eaLnBrk="0">
              <a:lnSpc>
                <a:spcPct val="97000"/>
              </a:lnSpc>
              <a:tabLst>
                <a:tab pos="600710" algn="l"/>
              </a:tabLst>
            </a:pPr>
            <a:r>
              <a:rPr sz="24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	</a:t>
            </a:r>
            <a:r>
              <a:rPr sz="2400" b="1" kern="0" spc="-120" dirty="0">
                <a:solidFill>
                  <a:srgbClr val="FFFFFF">
                    <a:alpha val="100000"/>
                  </a:srgbClr>
                </a:solidFill>
                <a:latin typeface="微软雅黑" panose="020B0503020204020204" charset="-122"/>
                <a:ea typeface="微软雅黑" panose="020B0503020204020204" charset="-122"/>
                <a:cs typeface="微软雅黑" panose="020B0503020204020204" charset="-122"/>
              </a:rPr>
              <a:t>01</a:t>
            </a:r>
            <a:endParaRPr sz="2400" dirty="0">
              <a:latin typeface="微软雅黑" panose="020B0503020204020204" charset="-122"/>
              <a:ea typeface="微软雅黑" panose="020B0503020204020204" charset="-122"/>
              <a:cs typeface="微软雅黑" panose="020B0503020204020204" charset="-122"/>
            </a:endParaRPr>
          </a:p>
        </p:txBody>
      </p:sp>
      <p:sp>
        <p:nvSpPr>
          <p:cNvPr id="82" name="path 82"/>
          <p:cNvSpPr/>
          <p:nvPr/>
        </p:nvSpPr>
        <p:spPr>
          <a:xfrm>
            <a:off x="348614" y="567054"/>
            <a:ext cx="339090" cy="349885"/>
          </a:xfrm>
          <a:custGeom>
            <a:avLst/>
            <a:gdLst/>
            <a:ahLst/>
            <a:cxnLst/>
            <a:rect l="0" t="0" r="0" b="0"/>
            <a:pathLst>
              <a:path w="534" h="551">
                <a:moveTo>
                  <a:pt x="0" y="217"/>
                </a:moveTo>
                <a:lnTo>
                  <a:pt x="217" y="217"/>
                </a:lnTo>
                <a:lnTo>
                  <a:pt x="217" y="0"/>
                </a:lnTo>
                <a:lnTo>
                  <a:pt x="0" y="0"/>
                </a:lnTo>
                <a:lnTo>
                  <a:pt x="0" y="217"/>
                </a:lnTo>
                <a:close/>
              </a:path>
              <a:path w="534" h="551">
                <a:moveTo>
                  <a:pt x="317" y="217"/>
                </a:moveTo>
                <a:lnTo>
                  <a:pt x="534" y="217"/>
                </a:lnTo>
                <a:lnTo>
                  <a:pt x="534" y="0"/>
                </a:lnTo>
                <a:lnTo>
                  <a:pt x="317" y="0"/>
                </a:lnTo>
                <a:lnTo>
                  <a:pt x="317" y="217"/>
                </a:lnTo>
                <a:close/>
              </a:path>
              <a:path w="534" h="551">
                <a:moveTo>
                  <a:pt x="0" y="551"/>
                </a:moveTo>
                <a:lnTo>
                  <a:pt x="217" y="551"/>
                </a:lnTo>
                <a:lnTo>
                  <a:pt x="217" y="334"/>
                </a:lnTo>
                <a:lnTo>
                  <a:pt x="0" y="334"/>
                </a:lnTo>
                <a:lnTo>
                  <a:pt x="0" y="551"/>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4" name="path 84"/>
          <p:cNvSpPr/>
          <p:nvPr/>
        </p:nvSpPr>
        <p:spPr>
          <a:xfrm>
            <a:off x="348614" y="142875"/>
            <a:ext cx="741680" cy="137794"/>
          </a:xfrm>
          <a:custGeom>
            <a:avLst/>
            <a:gdLst/>
            <a:ahLst/>
            <a:cxnLst/>
            <a:rect l="0" t="0" r="0" b="0"/>
            <a:pathLst>
              <a:path w="1168" h="216">
                <a:moveTo>
                  <a:pt x="0" y="216"/>
                </a:moveTo>
                <a:lnTo>
                  <a:pt x="217" y="216"/>
                </a:lnTo>
                <a:lnTo>
                  <a:pt x="217" y="0"/>
                </a:lnTo>
                <a:lnTo>
                  <a:pt x="0" y="0"/>
                </a:lnTo>
                <a:lnTo>
                  <a:pt x="0" y="216"/>
                </a:lnTo>
                <a:close/>
              </a:path>
              <a:path w="1168" h="216">
                <a:moveTo>
                  <a:pt x="317" y="216"/>
                </a:moveTo>
                <a:lnTo>
                  <a:pt x="534" y="216"/>
                </a:lnTo>
                <a:lnTo>
                  <a:pt x="534" y="0"/>
                </a:lnTo>
                <a:lnTo>
                  <a:pt x="317" y="0"/>
                </a:lnTo>
                <a:lnTo>
                  <a:pt x="317" y="216"/>
                </a:lnTo>
                <a:close/>
              </a:path>
              <a:path w="1168" h="216">
                <a:moveTo>
                  <a:pt x="633" y="216"/>
                </a:moveTo>
                <a:lnTo>
                  <a:pt x="851" y="216"/>
                </a:lnTo>
                <a:lnTo>
                  <a:pt x="851" y="0"/>
                </a:lnTo>
                <a:lnTo>
                  <a:pt x="633" y="0"/>
                </a:lnTo>
                <a:lnTo>
                  <a:pt x="633" y="216"/>
                </a:lnTo>
                <a:close/>
              </a:path>
              <a:path w="1168" h="216">
                <a:moveTo>
                  <a:pt x="951" y="216"/>
                </a:moveTo>
                <a:lnTo>
                  <a:pt x="1168" y="216"/>
                </a:lnTo>
                <a:lnTo>
                  <a:pt x="1168" y="0"/>
                </a:lnTo>
                <a:lnTo>
                  <a:pt x="951" y="0"/>
                </a:lnTo>
                <a:lnTo>
                  <a:pt x="951"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8" name="rect 88"/>
          <p:cNvSpPr/>
          <p:nvPr/>
        </p:nvSpPr>
        <p:spPr>
          <a:xfrm>
            <a:off x="147320" y="56705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0" name="rect 90"/>
          <p:cNvSpPr/>
          <p:nvPr/>
        </p:nvSpPr>
        <p:spPr>
          <a:xfrm>
            <a:off x="147320" y="779145"/>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2" name="rect 92"/>
          <p:cNvSpPr/>
          <p:nvPr/>
        </p:nvSpPr>
        <p:spPr>
          <a:xfrm>
            <a:off x="147320" y="99123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4" name="rect 94"/>
          <p:cNvSpPr/>
          <p:nvPr/>
        </p:nvSpPr>
        <p:spPr>
          <a:xfrm>
            <a:off x="147320" y="14287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6" name="rect 96"/>
          <p:cNvSpPr/>
          <p:nvPr/>
        </p:nvSpPr>
        <p:spPr>
          <a:xfrm>
            <a:off x="147320" y="35496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pic>
        <p:nvPicPr>
          <p:cNvPr id="2" name="图片 1"/>
          <p:cNvPicPr>
            <a:picLocks noChangeAspect="1"/>
          </p:cNvPicPr>
          <p:nvPr/>
        </p:nvPicPr>
        <p:blipFill>
          <a:blip r:embed="rId4"/>
          <a:stretch>
            <a:fillRect/>
          </a:stretch>
        </p:blipFill>
        <p:spPr>
          <a:xfrm>
            <a:off x="10428563" y="68429"/>
            <a:ext cx="1354271" cy="781170"/>
          </a:xfrm>
          <a:prstGeom prst="rect">
            <a:avLst/>
          </a:prstGeom>
        </p:spPr>
      </p:pic>
      <p:sp>
        <p:nvSpPr>
          <p:cNvPr id="7" name="矩形 6"/>
          <p:cNvSpPr/>
          <p:nvPr/>
        </p:nvSpPr>
        <p:spPr>
          <a:xfrm>
            <a:off x="975989" y="2921466"/>
            <a:ext cx="65753" cy="46166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397340" y="3411415"/>
            <a:ext cx="1257300" cy="645160"/>
          </a:xfrm>
          <a:prstGeom prst="rect">
            <a:avLst/>
          </a:prstGeom>
          <a:noFill/>
        </p:spPr>
        <p:txBody>
          <a:bodyPr wrap="square">
            <a:spAutoFit/>
          </a:bodyPr>
          <a:lstStyle/>
          <a:p>
            <a:pPr algn="ctr"/>
            <a:r>
              <a:rPr lang="en-US" sz="1200" b="1">
                <a:solidFill>
                  <a:schemeClr val="bg1"/>
                </a:solidFill>
                <a:latin typeface="Arial" panose="020B0604020202020204"/>
                <a:ea typeface="Arial" panose="020B0604020202020204"/>
                <a:cs typeface="Arial" panose="020B0604020202020204"/>
                <a:sym typeface="Arial" panose="020B0604020202020204"/>
              </a:rPr>
              <a:t>Nanjing Cooling</a:t>
            </a:r>
            <a:endParaRPr lang="zh-CN" altLang="en-US" sz="1200" b="1" dirty="0">
              <a:solidFill>
                <a:schemeClr val="bg1"/>
              </a:solidFill>
              <a:latin typeface="华文楷体" panose="02010600040101010101" pitchFamily="2" charset="-122"/>
              <a:ea typeface="华文楷体" panose="02010600040101010101" pitchFamily="2" charset="-122"/>
              <a:sym typeface="+mn-ea"/>
            </a:endParaRPr>
          </a:p>
          <a:p>
            <a:pPr algn="ctr"/>
            <a:endParaRPr lang="en-US" altLang="zh-CN" sz="1200" b="1" dirty="0">
              <a:solidFill>
                <a:schemeClr val="bg1"/>
              </a:solidFill>
              <a:latin typeface="微软雅黑" panose="020B0503020204020204" charset="-122"/>
              <a:ea typeface="微软雅黑" panose="020B0503020204020204" charset="-122"/>
              <a:sym typeface="+mn-ea"/>
            </a:endParaRPr>
          </a:p>
        </p:txBody>
      </p:sp>
      <p:sp>
        <p:nvSpPr>
          <p:cNvPr id="14" name="文本框 13"/>
          <p:cNvSpPr txBox="1"/>
          <p:nvPr/>
        </p:nvSpPr>
        <p:spPr>
          <a:xfrm>
            <a:off x="252688" y="4022898"/>
            <a:ext cx="1576567" cy="645160"/>
          </a:xfrm>
          <a:prstGeom prst="rect">
            <a:avLst/>
          </a:prstGeom>
          <a:noFill/>
        </p:spPr>
        <p:txBody>
          <a:bodyPr wrap="square" rtlCol="0">
            <a:spAutoFit/>
          </a:bodyPr>
          <a:lstStyle/>
          <a:p>
            <a:pPr algn="ctr">
              <a:lnSpc>
                <a:spcPct val="150000"/>
              </a:lnSpc>
            </a:pPr>
            <a:r>
              <a:rPr lang="zh-CN" altLang="en-US" sz="1200" b="1" dirty="0">
                <a:solidFill>
                  <a:schemeClr val="accent1">
                    <a:lumMod val="75000"/>
                  </a:schemeClr>
                </a:solidFill>
                <a:latin typeface="微软雅黑" panose="020B0503020204020204" charset="-122"/>
                <a:ea typeface="微软雅黑" panose="020B0503020204020204" charset="-122"/>
              </a:rPr>
              <a:t>酷灵热管理</a:t>
            </a:r>
            <a:endParaRPr lang="en-US" altLang="zh-CN" sz="1200" b="1" dirty="0">
              <a:solidFill>
                <a:schemeClr val="accent1">
                  <a:lumMod val="75000"/>
                </a:schemeClr>
              </a:solidFill>
              <a:latin typeface="微软雅黑" panose="020B0503020204020204" charset="-122"/>
              <a:ea typeface="微软雅黑" panose="020B0503020204020204" charset="-122"/>
            </a:endParaRPr>
          </a:p>
          <a:p>
            <a:pPr algn="ctr">
              <a:lnSpc>
                <a:spcPct val="150000"/>
              </a:lnSpc>
            </a:pPr>
            <a:r>
              <a:rPr lang="zh-CN" altLang="en-US" sz="1200" b="1" dirty="0">
                <a:solidFill>
                  <a:schemeClr val="accent1">
                    <a:lumMod val="75000"/>
                  </a:schemeClr>
                </a:solidFill>
                <a:latin typeface="微软雅黑" panose="020B0503020204020204" charset="-122"/>
                <a:ea typeface="微软雅黑" panose="020B0503020204020204" charset="-122"/>
              </a:rPr>
              <a:t>为机器人持久赋能</a:t>
            </a:r>
          </a:p>
        </p:txBody>
      </p:sp>
      <p:sp>
        <p:nvSpPr>
          <p:cNvPr id="15" name="文本框 14"/>
          <p:cNvSpPr txBox="1"/>
          <p:nvPr/>
        </p:nvSpPr>
        <p:spPr>
          <a:xfrm>
            <a:off x="327396" y="4751170"/>
            <a:ext cx="1427421" cy="614045"/>
          </a:xfrm>
          <a:prstGeom prst="rect">
            <a:avLst/>
          </a:prstGeom>
          <a:noFill/>
        </p:spPr>
        <p:txBody>
          <a:bodyPr wrap="square">
            <a:spAutoFit/>
          </a:bodyPr>
          <a:lstStyle/>
          <a:p>
            <a:pPr algn="ctr"/>
            <a:endParaRPr lang="zh-CN" altLang="en-US" sz="2000" b="1" dirty="0">
              <a:solidFill>
                <a:schemeClr val="bg1"/>
              </a:solidFill>
              <a:latin typeface="华文楷体" panose="02010600040101010101" pitchFamily="2" charset="-122"/>
              <a:ea typeface="华文楷体" panose="02010600040101010101" pitchFamily="2" charset="-122"/>
            </a:endParaRPr>
          </a:p>
          <a:p>
            <a:pPr algn="ctr"/>
            <a:r>
              <a:rPr lang="zh-CN" altLang="en-US" sz="1400" b="1" dirty="0">
                <a:solidFill>
                  <a:schemeClr val="bg1"/>
                </a:solidFill>
                <a:latin typeface="微软雅黑" panose="020B0503020204020204" charset="-122"/>
                <a:ea typeface="微软雅黑" panose="020B0503020204020204" charset="-122"/>
                <a:sym typeface="+mn-ea"/>
              </a:rPr>
              <a:t>前景展望</a:t>
            </a:r>
          </a:p>
        </p:txBody>
      </p:sp>
      <p:sp>
        <p:nvSpPr>
          <p:cNvPr id="17" name="矩形 16"/>
          <p:cNvSpPr/>
          <p:nvPr/>
        </p:nvSpPr>
        <p:spPr>
          <a:xfrm>
            <a:off x="975937" y="5458089"/>
            <a:ext cx="65753" cy="46166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path 72"/>
          <p:cNvSpPr/>
          <p:nvPr/>
        </p:nvSpPr>
        <p:spPr>
          <a:xfrm>
            <a:off x="11398249" y="6043294"/>
            <a:ext cx="741679" cy="774064"/>
          </a:xfrm>
          <a:custGeom>
            <a:avLst/>
            <a:gdLst/>
            <a:ahLst/>
            <a:cxnLst/>
            <a:rect l="0" t="0" r="0" b="0"/>
            <a:pathLst>
              <a:path w="1167" h="1218">
                <a:moveTo>
                  <a:pt x="950" y="1218"/>
                </a:moveTo>
                <a:lnTo>
                  <a:pt x="1167" y="1218"/>
                </a:lnTo>
                <a:lnTo>
                  <a:pt x="1167" y="1001"/>
                </a:lnTo>
                <a:lnTo>
                  <a:pt x="950" y="1001"/>
                </a:lnTo>
                <a:lnTo>
                  <a:pt x="950" y="1218"/>
                </a:lnTo>
                <a:close/>
              </a:path>
              <a:path w="1167" h="1218">
                <a:moveTo>
                  <a:pt x="634" y="1218"/>
                </a:moveTo>
                <a:lnTo>
                  <a:pt x="850" y="1218"/>
                </a:lnTo>
                <a:lnTo>
                  <a:pt x="850" y="1001"/>
                </a:lnTo>
                <a:lnTo>
                  <a:pt x="634" y="1001"/>
                </a:lnTo>
                <a:lnTo>
                  <a:pt x="634" y="1218"/>
                </a:lnTo>
                <a:close/>
              </a:path>
              <a:path w="1167" h="1218">
                <a:moveTo>
                  <a:pt x="317" y="1218"/>
                </a:moveTo>
                <a:lnTo>
                  <a:pt x="534" y="1218"/>
                </a:lnTo>
                <a:lnTo>
                  <a:pt x="534" y="1001"/>
                </a:lnTo>
                <a:lnTo>
                  <a:pt x="317" y="1001"/>
                </a:lnTo>
                <a:lnTo>
                  <a:pt x="317" y="1218"/>
                </a:lnTo>
                <a:close/>
              </a:path>
              <a:path w="1167" h="1218">
                <a:moveTo>
                  <a:pt x="0" y="1218"/>
                </a:moveTo>
                <a:lnTo>
                  <a:pt x="216" y="1218"/>
                </a:lnTo>
                <a:lnTo>
                  <a:pt x="216" y="1001"/>
                </a:lnTo>
                <a:lnTo>
                  <a:pt x="0" y="1001"/>
                </a:lnTo>
                <a:lnTo>
                  <a:pt x="0" y="1218"/>
                </a:lnTo>
                <a:close/>
              </a:path>
              <a:path w="1167" h="1218">
                <a:moveTo>
                  <a:pt x="950" y="884"/>
                </a:moveTo>
                <a:lnTo>
                  <a:pt x="1167" y="884"/>
                </a:lnTo>
                <a:lnTo>
                  <a:pt x="1167" y="667"/>
                </a:lnTo>
                <a:lnTo>
                  <a:pt x="950" y="667"/>
                </a:lnTo>
                <a:lnTo>
                  <a:pt x="950" y="884"/>
                </a:lnTo>
                <a:close/>
              </a:path>
              <a:path w="1167" h="1218">
                <a:moveTo>
                  <a:pt x="634" y="884"/>
                </a:moveTo>
                <a:lnTo>
                  <a:pt x="850" y="884"/>
                </a:lnTo>
                <a:lnTo>
                  <a:pt x="850" y="667"/>
                </a:lnTo>
                <a:lnTo>
                  <a:pt x="634" y="667"/>
                </a:lnTo>
                <a:lnTo>
                  <a:pt x="634" y="884"/>
                </a:lnTo>
                <a:close/>
              </a:path>
              <a:path w="1167" h="1218">
                <a:moveTo>
                  <a:pt x="317" y="884"/>
                </a:moveTo>
                <a:lnTo>
                  <a:pt x="534" y="884"/>
                </a:lnTo>
                <a:lnTo>
                  <a:pt x="534" y="667"/>
                </a:lnTo>
                <a:lnTo>
                  <a:pt x="317" y="667"/>
                </a:lnTo>
                <a:lnTo>
                  <a:pt x="317" y="884"/>
                </a:lnTo>
                <a:close/>
              </a:path>
              <a:path w="1167" h="1218">
                <a:moveTo>
                  <a:pt x="950" y="550"/>
                </a:moveTo>
                <a:lnTo>
                  <a:pt x="1167" y="550"/>
                </a:lnTo>
                <a:lnTo>
                  <a:pt x="1167" y="333"/>
                </a:lnTo>
                <a:lnTo>
                  <a:pt x="950" y="333"/>
                </a:lnTo>
                <a:lnTo>
                  <a:pt x="950" y="550"/>
                </a:lnTo>
                <a:close/>
              </a:path>
              <a:path w="1167" h="1218">
                <a:moveTo>
                  <a:pt x="634" y="550"/>
                </a:moveTo>
                <a:lnTo>
                  <a:pt x="850" y="550"/>
                </a:lnTo>
                <a:lnTo>
                  <a:pt x="850" y="333"/>
                </a:lnTo>
                <a:lnTo>
                  <a:pt x="634" y="333"/>
                </a:lnTo>
                <a:lnTo>
                  <a:pt x="634" y="550"/>
                </a:lnTo>
                <a:close/>
              </a:path>
              <a:path w="1167" h="1218">
                <a:moveTo>
                  <a:pt x="950" y="216"/>
                </a:moveTo>
                <a:lnTo>
                  <a:pt x="1167" y="216"/>
                </a:lnTo>
                <a:lnTo>
                  <a:pt x="1167" y="0"/>
                </a:lnTo>
                <a:lnTo>
                  <a:pt x="950" y="0"/>
                </a:lnTo>
                <a:lnTo>
                  <a:pt x="950"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5" name="path 86"/>
          <p:cNvSpPr/>
          <p:nvPr/>
        </p:nvSpPr>
        <p:spPr>
          <a:xfrm>
            <a:off x="688340" y="955040"/>
            <a:ext cx="10786745" cy="76200"/>
          </a:xfrm>
          <a:custGeom>
            <a:avLst/>
            <a:gdLst/>
            <a:ahLst/>
            <a:cxnLst/>
            <a:rect l="0" t="0" r="0" b="0"/>
            <a:pathLst>
              <a:path w="15485" h="10">
                <a:moveTo>
                  <a:pt x="0" y="5"/>
                </a:moveTo>
                <a:lnTo>
                  <a:pt x="15485" y="5"/>
                </a:lnTo>
              </a:path>
            </a:pathLst>
          </a:custGeom>
          <a:noFill/>
          <a:ln w="6350" cap="flat">
            <a:solidFill>
              <a:srgbClr val="D9D9D9"/>
            </a:solidFill>
            <a:prstDash val="solid"/>
            <a:miter lim="1000000"/>
          </a:ln>
        </p:spPr>
        <p:txBody>
          <a:bodyPr rtlCol="0"/>
          <a:lstStyle/>
          <a:p>
            <a:pPr algn="ct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6"/>
          <p:cNvPicPr>
            <a:picLocks noChangeAspect="1"/>
          </p:cNvPicPr>
          <p:nvPr/>
        </p:nvPicPr>
        <p:blipFill>
          <a:blip r:embed="rId16"/>
          <a:stretch>
            <a:fillRect/>
          </a:stretch>
        </p:blipFill>
        <p:spPr>
          <a:xfrm rot="21600000">
            <a:off x="0" y="6576693"/>
            <a:ext cx="12192000" cy="271779"/>
          </a:xfrm>
          <a:prstGeom prst="rect">
            <a:avLst/>
          </a:prstGeom>
        </p:spPr>
      </p:pic>
      <p:sp>
        <p:nvSpPr>
          <p:cNvPr id="70" name="textbox 70"/>
          <p:cNvSpPr/>
          <p:nvPr/>
        </p:nvSpPr>
        <p:spPr>
          <a:xfrm>
            <a:off x="1636628" y="455178"/>
            <a:ext cx="2599689" cy="507365"/>
          </a:xfrm>
          <a:prstGeom prst="rect">
            <a:avLst/>
          </a:prstGeom>
          <a:noFill/>
          <a:ln w="0" cap="flat">
            <a:noFill/>
            <a:prstDash val="solid"/>
            <a:miter lim="0"/>
          </a:ln>
        </p:spPr>
        <p:txBody>
          <a:bodyPr vert="horz" wrap="square" lIns="0" tIns="0" rIns="0" bIns="0"/>
          <a:lstStyle/>
          <a:p>
            <a:pPr algn="l" rtl="0" eaLnBrk="0">
              <a:lnSpc>
                <a:spcPct val="93000"/>
              </a:lnSpc>
            </a:pPr>
            <a:endParaRPr sz="1000" dirty="0">
              <a:latin typeface="微软雅黑" panose="020B0503020204020204" charset="-122"/>
              <a:ea typeface="微软雅黑" panose="020B0503020204020204" charset="-122"/>
              <a:cs typeface="微软雅黑" panose="020B0503020204020204" charset="-122"/>
            </a:endParaRPr>
          </a:p>
        </p:txBody>
      </p:sp>
      <p:sp>
        <p:nvSpPr>
          <p:cNvPr id="74" name="path 74"/>
          <p:cNvSpPr/>
          <p:nvPr/>
        </p:nvSpPr>
        <p:spPr>
          <a:xfrm>
            <a:off x="348614" y="354965"/>
            <a:ext cx="540385" cy="137794"/>
          </a:xfrm>
          <a:custGeom>
            <a:avLst/>
            <a:gdLst/>
            <a:ahLst/>
            <a:cxnLst/>
            <a:rect l="0" t="0" r="0" b="0"/>
            <a:pathLst>
              <a:path w="851" h="216">
                <a:moveTo>
                  <a:pt x="0" y="216"/>
                </a:moveTo>
                <a:lnTo>
                  <a:pt x="217" y="216"/>
                </a:lnTo>
                <a:lnTo>
                  <a:pt x="217" y="0"/>
                </a:lnTo>
                <a:lnTo>
                  <a:pt x="0" y="0"/>
                </a:lnTo>
                <a:lnTo>
                  <a:pt x="0" y="216"/>
                </a:lnTo>
                <a:close/>
              </a:path>
              <a:path w="851" h="216">
                <a:moveTo>
                  <a:pt x="317" y="216"/>
                </a:moveTo>
                <a:lnTo>
                  <a:pt x="534" y="216"/>
                </a:lnTo>
                <a:lnTo>
                  <a:pt x="534" y="0"/>
                </a:lnTo>
                <a:lnTo>
                  <a:pt x="317" y="0"/>
                </a:lnTo>
                <a:lnTo>
                  <a:pt x="317" y="216"/>
                </a:lnTo>
                <a:close/>
              </a:path>
              <a:path w="851" h="216">
                <a:moveTo>
                  <a:pt x="633" y="216"/>
                </a:moveTo>
                <a:lnTo>
                  <a:pt x="851" y="216"/>
                </a:lnTo>
                <a:lnTo>
                  <a:pt x="851" y="0"/>
                </a:lnTo>
                <a:lnTo>
                  <a:pt x="633" y="0"/>
                </a:lnTo>
                <a:lnTo>
                  <a:pt x="633"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2" name="path 82"/>
          <p:cNvSpPr/>
          <p:nvPr/>
        </p:nvSpPr>
        <p:spPr>
          <a:xfrm>
            <a:off x="348614" y="567054"/>
            <a:ext cx="339090" cy="349885"/>
          </a:xfrm>
          <a:custGeom>
            <a:avLst/>
            <a:gdLst/>
            <a:ahLst/>
            <a:cxnLst/>
            <a:rect l="0" t="0" r="0" b="0"/>
            <a:pathLst>
              <a:path w="534" h="551">
                <a:moveTo>
                  <a:pt x="0" y="217"/>
                </a:moveTo>
                <a:lnTo>
                  <a:pt x="217" y="217"/>
                </a:lnTo>
                <a:lnTo>
                  <a:pt x="217" y="0"/>
                </a:lnTo>
                <a:lnTo>
                  <a:pt x="0" y="0"/>
                </a:lnTo>
                <a:lnTo>
                  <a:pt x="0" y="217"/>
                </a:lnTo>
                <a:close/>
              </a:path>
              <a:path w="534" h="551">
                <a:moveTo>
                  <a:pt x="317" y="217"/>
                </a:moveTo>
                <a:lnTo>
                  <a:pt x="534" y="217"/>
                </a:lnTo>
                <a:lnTo>
                  <a:pt x="534" y="0"/>
                </a:lnTo>
                <a:lnTo>
                  <a:pt x="317" y="0"/>
                </a:lnTo>
                <a:lnTo>
                  <a:pt x="317" y="217"/>
                </a:lnTo>
                <a:close/>
              </a:path>
              <a:path w="534" h="551">
                <a:moveTo>
                  <a:pt x="0" y="551"/>
                </a:moveTo>
                <a:lnTo>
                  <a:pt x="217" y="551"/>
                </a:lnTo>
                <a:lnTo>
                  <a:pt x="217" y="334"/>
                </a:lnTo>
                <a:lnTo>
                  <a:pt x="0" y="334"/>
                </a:lnTo>
                <a:lnTo>
                  <a:pt x="0" y="551"/>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4" name="path 84"/>
          <p:cNvSpPr/>
          <p:nvPr/>
        </p:nvSpPr>
        <p:spPr>
          <a:xfrm>
            <a:off x="348614" y="142875"/>
            <a:ext cx="741680" cy="137794"/>
          </a:xfrm>
          <a:custGeom>
            <a:avLst/>
            <a:gdLst/>
            <a:ahLst/>
            <a:cxnLst/>
            <a:rect l="0" t="0" r="0" b="0"/>
            <a:pathLst>
              <a:path w="1168" h="216">
                <a:moveTo>
                  <a:pt x="0" y="216"/>
                </a:moveTo>
                <a:lnTo>
                  <a:pt x="217" y="216"/>
                </a:lnTo>
                <a:lnTo>
                  <a:pt x="217" y="0"/>
                </a:lnTo>
                <a:lnTo>
                  <a:pt x="0" y="0"/>
                </a:lnTo>
                <a:lnTo>
                  <a:pt x="0" y="216"/>
                </a:lnTo>
                <a:close/>
              </a:path>
              <a:path w="1168" h="216">
                <a:moveTo>
                  <a:pt x="317" y="216"/>
                </a:moveTo>
                <a:lnTo>
                  <a:pt x="534" y="216"/>
                </a:lnTo>
                <a:lnTo>
                  <a:pt x="534" y="0"/>
                </a:lnTo>
                <a:lnTo>
                  <a:pt x="317" y="0"/>
                </a:lnTo>
                <a:lnTo>
                  <a:pt x="317" y="216"/>
                </a:lnTo>
                <a:close/>
              </a:path>
              <a:path w="1168" h="216">
                <a:moveTo>
                  <a:pt x="633" y="216"/>
                </a:moveTo>
                <a:lnTo>
                  <a:pt x="851" y="216"/>
                </a:lnTo>
                <a:lnTo>
                  <a:pt x="851" y="0"/>
                </a:lnTo>
                <a:lnTo>
                  <a:pt x="633" y="0"/>
                </a:lnTo>
                <a:lnTo>
                  <a:pt x="633" y="216"/>
                </a:lnTo>
                <a:close/>
              </a:path>
              <a:path w="1168" h="216">
                <a:moveTo>
                  <a:pt x="951" y="216"/>
                </a:moveTo>
                <a:lnTo>
                  <a:pt x="1168" y="216"/>
                </a:lnTo>
                <a:lnTo>
                  <a:pt x="1168" y="0"/>
                </a:lnTo>
                <a:lnTo>
                  <a:pt x="951" y="0"/>
                </a:lnTo>
                <a:lnTo>
                  <a:pt x="951"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86" name="path 86"/>
          <p:cNvSpPr/>
          <p:nvPr/>
        </p:nvSpPr>
        <p:spPr>
          <a:xfrm>
            <a:off x="688340" y="955040"/>
            <a:ext cx="10786745" cy="76200"/>
          </a:xfrm>
          <a:custGeom>
            <a:avLst/>
            <a:gdLst/>
            <a:ahLst/>
            <a:cxnLst/>
            <a:rect l="0" t="0" r="0" b="0"/>
            <a:pathLst>
              <a:path w="15485" h="10">
                <a:moveTo>
                  <a:pt x="0" y="5"/>
                </a:moveTo>
                <a:lnTo>
                  <a:pt x="15485" y="5"/>
                </a:lnTo>
              </a:path>
            </a:pathLst>
          </a:custGeom>
          <a:noFill/>
          <a:ln w="6350" cap="flat">
            <a:solidFill>
              <a:srgbClr val="D9D9D9"/>
            </a:solidFill>
            <a:prstDash val="solid"/>
            <a:miter lim="1000000"/>
          </a:ln>
        </p:spPr>
        <p:txBody>
          <a:bodyPr rtlCol="0"/>
          <a:lstStyle/>
          <a:p>
            <a:pPr algn="ctr"/>
            <a:endParaRPr lang="zh-CN" altLang="en-US"/>
          </a:p>
        </p:txBody>
      </p:sp>
      <p:sp>
        <p:nvSpPr>
          <p:cNvPr id="88" name="rect 88"/>
          <p:cNvSpPr/>
          <p:nvPr/>
        </p:nvSpPr>
        <p:spPr>
          <a:xfrm>
            <a:off x="147320" y="56705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0" name="rect 90"/>
          <p:cNvSpPr/>
          <p:nvPr/>
        </p:nvSpPr>
        <p:spPr>
          <a:xfrm>
            <a:off x="147320" y="779145"/>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2" name="rect 92"/>
          <p:cNvSpPr/>
          <p:nvPr/>
        </p:nvSpPr>
        <p:spPr>
          <a:xfrm>
            <a:off x="147320" y="991234"/>
            <a:ext cx="137795" cy="137795"/>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4" name="rect 94"/>
          <p:cNvSpPr/>
          <p:nvPr/>
        </p:nvSpPr>
        <p:spPr>
          <a:xfrm>
            <a:off x="147320" y="14287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96" name="rect 96"/>
          <p:cNvSpPr/>
          <p:nvPr/>
        </p:nvSpPr>
        <p:spPr>
          <a:xfrm>
            <a:off x="147320" y="354965"/>
            <a:ext cx="137795" cy="137794"/>
          </a:xfrm>
          <a:prstGeom prst="rect">
            <a:avLst/>
          </a:prstGeom>
          <a:solidFill>
            <a:srgbClr val="F2F2F2">
              <a:alpha val="100000"/>
            </a:srgbClr>
          </a:solidFill>
          <a:ln w="0" cap="flat">
            <a:noFill/>
            <a:prstDash val="solid"/>
            <a:miter lim="0"/>
          </a:ln>
        </p:spPr>
        <p:txBody>
          <a:bodyPr rtlCol="0"/>
          <a:lstStyle/>
          <a:p>
            <a:pPr algn="ctr"/>
            <a:endParaRPr lang="zh-CN" altLang="en-US"/>
          </a:p>
        </p:txBody>
      </p:sp>
      <p:pic>
        <p:nvPicPr>
          <p:cNvPr id="2" name="图片 1"/>
          <p:cNvPicPr>
            <a:picLocks noChangeAspect="1"/>
          </p:cNvPicPr>
          <p:nvPr/>
        </p:nvPicPr>
        <p:blipFill>
          <a:blip r:embed="rId17"/>
          <a:stretch>
            <a:fillRect/>
          </a:stretch>
        </p:blipFill>
        <p:spPr>
          <a:xfrm>
            <a:off x="10428563" y="68429"/>
            <a:ext cx="1354271" cy="781170"/>
          </a:xfrm>
          <a:prstGeom prst="rect">
            <a:avLst/>
          </a:prstGeom>
        </p:spPr>
      </p:pic>
      <p:sp>
        <p:nvSpPr>
          <p:cNvPr id="3" name="textbox 60"/>
          <p:cNvSpPr/>
          <p:nvPr/>
        </p:nvSpPr>
        <p:spPr>
          <a:xfrm>
            <a:off x="688022" y="3017728"/>
            <a:ext cx="10637203" cy="3795845"/>
          </a:xfrm>
          <a:prstGeom prst="rect">
            <a:avLst/>
          </a:prstGeom>
          <a:noFill/>
          <a:ln w="0" cap="flat">
            <a:noFill/>
            <a:prstDash val="solid"/>
            <a:miter lim="0"/>
          </a:ln>
        </p:spPr>
        <p:txBody>
          <a:bodyPr vert="horz" wrap="square" lIns="0" tIns="0" rIns="0" bIns="0"/>
          <a:lstStyle/>
          <a:p>
            <a:pPr algn="l" rtl="0" eaLnBrk="0">
              <a:lnSpc>
                <a:spcPct val="150000"/>
              </a:lnSpc>
            </a:pPr>
            <a:endParaRPr sz="100" dirty="0">
              <a:latin typeface="Arial" panose="020B0604020202020204"/>
              <a:ea typeface="Arial" panose="020B0604020202020204"/>
              <a:cs typeface="Arial" panose="020B0604020202020204"/>
            </a:endParaRPr>
          </a:p>
          <a:p>
            <a:pPr marL="17145" algn="l" rtl="0" eaLnBrk="0">
              <a:lnSpc>
                <a:spcPct val="150000"/>
              </a:lnSpc>
              <a:spcBef>
                <a:spcPts val="600"/>
              </a:spcBef>
              <a:spcAft>
                <a:spcPts val="600"/>
              </a:spcAft>
            </a:pPr>
            <a:endParaRPr lang="zh-CN" altLang="en-US" kern="0" spc="90" dirty="0">
              <a:solidFill>
                <a:srgbClr val="595959">
                  <a:alpha val="100000"/>
                </a:srgbClr>
              </a:solidFill>
              <a:latin typeface="微软雅黑" panose="020B0503020204020204" charset="-122"/>
              <a:ea typeface="微软雅黑" panose="020B0503020204020204" charset="-122"/>
              <a:cs typeface="微软雅黑" panose="020B0503020204020204" charset="-122"/>
            </a:endParaRPr>
          </a:p>
        </p:txBody>
      </p:sp>
      <p:sp>
        <p:nvSpPr>
          <p:cNvPr id="6" name="矩形 5"/>
          <p:cNvSpPr/>
          <p:nvPr/>
        </p:nvSpPr>
        <p:spPr>
          <a:xfrm>
            <a:off x="890270" y="354965"/>
            <a:ext cx="746125" cy="387985"/>
          </a:xfrm>
          <a:prstGeom prst="rect">
            <a:avLst/>
          </a:prstGeom>
          <a:noFill/>
          <a:ln>
            <a:noFill/>
          </a:ln>
        </p:spPr>
        <p:txBody>
          <a:bodyPr wrap="none" rtlCol="0" anchor="t">
            <a:noAutofit/>
          </a:bodyPr>
          <a:lstStyle/>
          <a:p>
            <a:pPr algn="ctr"/>
            <a:endParaRPr lang="en-US" altLang="zh-CN" sz="4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8" name="文本框 7"/>
          <p:cNvSpPr txBox="1"/>
          <p:nvPr/>
        </p:nvSpPr>
        <p:spPr>
          <a:xfrm>
            <a:off x="837565" y="433070"/>
            <a:ext cx="6797675" cy="521970"/>
          </a:xfrm>
          <a:prstGeom prst="rect">
            <a:avLst/>
          </a:prstGeom>
          <a:noFill/>
        </p:spPr>
        <p:txBody>
          <a:bodyPr wrap="square" rtlCol="0" anchor="t">
            <a:spAutoFit/>
          </a:bodyPr>
          <a:lstStyle/>
          <a:p>
            <a:r>
              <a:rPr lang="zh-CN" altLang="en-US" sz="2800" b="1" kern="0" spc="150" dirty="0">
                <a:solidFill>
                  <a:srgbClr val="2C5374">
                    <a:alpha val="100000"/>
                  </a:srgbClr>
                </a:solidFill>
                <a:latin typeface="微软雅黑" panose="020B0503020204020204" charset="-122"/>
                <a:ea typeface="微软雅黑" panose="020B0503020204020204" charset="-122"/>
                <a:cs typeface="微软雅黑" panose="020B0503020204020204" charset="-122"/>
                <a:sym typeface="+mn-ea"/>
              </a:rPr>
              <a:t>公司前景展望</a:t>
            </a:r>
          </a:p>
        </p:txBody>
      </p:sp>
      <p:sp>
        <p:nvSpPr>
          <p:cNvPr id="15" name="文本框 14"/>
          <p:cNvSpPr txBox="1"/>
          <p:nvPr/>
        </p:nvSpPr>
        <p:spPr>
          <a:xfrm>
            <a:off x="327396" y="4596865"/>
            <a:ext cx="1427421" cy="645160"/>
          </a:xfrm>
          <a:prstGeom prst="rect">
            <a:avLst/>
          </a:prstGeom>
          <a:noFill/>
        </p:spPr>
        <p:txBody>
          <a:bodyPr wrap="square">
            <a:spAutoFit/>
          </a:bodyPr>
          <a:lstStyle/>
          <a:p>
            <a:pPr algn="ctr"/>
            <a:endParaRPr lang="zh-CN" altLang="en-US" sz="2000" b="1" dirty="0">
              <a:solidFill>
                <a:schemeClr val="accent1">
                  <a:lumMod val="50000"/>
                </a:schemeClr>
              </a:solidFill>
              <a:latin typeface="华文楷体" panose="02010600040101010101" pitchFamily="2" charset="-122"/>
              <a:ea typeface="华文楷体" panose="02010600040101010101" pitchFamily="2" charset="-122"/>
            </a:endParaRPr>
          </a:p>
          <a:p>
            <a:pPr algn="ctr"/>
            <a:endParaRPr lang="zh-CN" altLang="en-US" sz="1600" b="1" dirty="0">
              <a:solidFill>
                <a:schemeClr val="accent1">
                  <a:lumMod val="60000"/>
                  <a:lumOff val="40000"/>
                </a:schemeClr>
              </a:solidFill>
              <a:latin typeface="华文楷体" panose="02010600040101010101" pitchFamily="2" charset="-122"/>
              <a:ea typeface="华文楷体" panose="02010600040101010101" pitchFamily="2" charset="-122"/>
            </a:endParaRPr>
          </a:p>
        </p:txBody>
      </p:sp>
      <p:sp>
        <p:nvSpPr>
          <p:cNvPr id="72" name="path 72"/>
          <p:cNvSpPr/>
          <p:nvPr/>
        </p:nvSpPr>
        <p:spPr>
          <a:xfrm>
            <a:off x="11398249" y="6043294"/>
            <a:ext cx="741679" cy="774064"/>
          </a:xfrm>
          <a:custGeom>
            <a:avLst/>
            <a:gdLst/>
            <a:ahLst/>
            <a:cxnLst/>
            <a:rect l="0" t="0" r="0" b="0"/>
            <a:pathLst>
              <a:path w="1167" h="1218">
                <a:moveTo>
                  <a:pt x="950" y="1218"/>
                </a:moveTo>
                <a:lnTo>
                  <a:pt x="1167" y="1218"/>
                </a:lnTo>
                <a:lnTo>
                  <a:pt x="1167" y="1001"/>
                </a:lnTo>
                <a:lnTo>
                  <a:pt x="950" y="1001"/>
                </a:lnTo>
                <a:lnTo>
                  <a:pt x="950" y="1218"/>
                </a:lnTo>
                <a:close/>
              </a:path>
              <a:path w="1167" h="1218">
                <a:moveTo>
                  <a:pt x="634" y="1218"/>
                </a:moveTo>
                <a:lnTo>
                  <a:pt x="850" y="1218"/>
                </a:lnTo>
                <a:lnTo>
                  <a:pt x="850" y="1001"/>
                </a:lnTo>
                <a:lnTo>
                  <a:pt x="634" y="1001"/>
                </a:lnTo>
                <a:lnTo>
                  <a:pt x="634" y="1218"/>
                </a:lnTo>
                <a:close/>
              </a:path>
              <a:path w="1167" h="1218">
                <a:moveTo>
                  <a:pt x="317" y="1218"/>
                </a:moveTo>
                <a:lnTo>
                  <a:pt x="534" y="1218"/>
                </a:lnTo>
                <a:lnTo>
                  <a:pt x="534" y="1001"/>
                </a:lnTo>
                <a:lnTo>
                  <a:pt x="317" y="1001"/>
                </a:lnTo>
                <a:lnTo>
                  <a:pt x="317" y="1218"/>
                </a:lnTo>
                <a:close/>
              </a:path>
              <a:path w="1167" h="1218">
                <a:moveTo>
                  <a:pt x="0" y="1218"/>
                </a:moveTo>
                <a:lnTo>
                  <a:pt x="216" y="1218"/>
                </a:lnTo>
                <a:lnTo>
                  <a:pt x="216" y="1001"/>
                </a:lnTo>
                <a:lnTo>
                  <a:pt x="0" y="1001"/>
                </a:lnTo>
                <a:lnTo>
                  <a:pt x="0" y="1218"/>
                </a:lnTo>
                <a:close/>
              </a:path>
              <a:path w="1167" h="1218">
                <a:moveTo>
                  <a:pt x="950" y="884"/>
                </a:moveTo>
                <a:lnTo>
                  <a:pt x="1167" y="884"/>
                </a:lnTo>
                <a:lnTo>
                  <a:pt x="1167" y="667"/>
                </a:lnTo>
                <a:lnTo>
                  <a:pt x="950" y="667"/>
                </a:lnTo>
                <a:lnTo>
                  <a:pt x="950" y="884"/>
                </a:lnTo>
                <a:close/>
              </a:path>
              <a:path w="1167" h="1218">
                <a:moveTo>
                  <a:pt x="634" y="884"/>
                </a:moveTo>
                <a:lnTo>
                  <a:pt x="850" y="884"/>
                </a:lnTo>
                <a:lnTo>
                  <a:pt x="850" y="667"/>
                </a:lnTo>
                <a:lnTo>
                  <a:pt x="634" y="667"/>
                </a:lnTo>
                <a:lnTo>
                  <a:pt x="634" y="884"/>
                </a:lnTo>
                <a:close/>
              </a:path>
              <a:path w="1167" h="1218">
                <a:moveTo>
                  <a:pt x="317" y="884"/>
                </a:moveTo>
                <a:lnTo>
                  <a:pt x="534" y="884"/>
                </a:lnTo>
                <a:lnTo>
                  <a:pt x="534" y="667"/>
                </a:lnTo>
                <a:lnTo>
                  <a:pt x="317" y="667"/>
                </a:lnTo>
                <a:lnTo>
                  <a:pt x="317" y="884"/>
                </a:lnTo>
                <a:close/>
              </a:path>
              <a:path w="1167" h="1218">
                <a:moveTo>
                  <a:pt x="950" y="550"/>
                </a:moveTo>
                <a:lnTo>
                  <a:pt x="1167" y="550"/>
                </a:lnTo>
                <a:lnTo>
                  <a:pt x="1167" y="333"/>
                </a:lnTo>
                <a:lnTo>
                  <a:pt x="950" y="333"/>
                </a:lnTo>
                <a:lnTo>
                  <a:pt x="950" y="550"/>
                </a:lnTo>
                <a:close/>
              </a:path>
              <a:path w="1167" h="1218">
                <a:moveTo>
                  <a:pt x="634" y="550"/>
                </a:moveTo>
                <a:lnTo>
                  <a:pt x="850" y="550"/>
                </a:lnTo>
                <a:lnTo>
                  <a:pt x="850" y="333"/>
                </a:lnTo>
                <a:lnTo>
                  <a:pt x="634" y="333"/>
                </a:lnTo>
                <a:lnTo>
                  <a:pt x="634" y="550"/>
                </a:lnTo>
                <a:close/>
              </a:path>
              <a:path w="1167" h="1218">
                <a:moveTo>
                  <a:pt x="950" y="216"/>
                </a:moveTo>
                <a:lnTo>
                  <a:pt x="1167" y="216"/>
                </a:lnTo>
                <a:lnTo>
                  <a:pt x="1167" y="0"/>
                </a:lnTo>
                <a:lnTo>
                  <a:pt x="950" y="0"/>
                </a:lnTo>
                <a:lnTo>
                  <a:pt x="950" y="216"/>
                </a:lnTo>
                <a:close/>
              </a:path>
            </a:pathLst>
          </a:custGeom>
          <a:solidFill>
            <a:srgbClr val="F2F2F2">
              <a:alpha val="100000"/>
            </a:srgbClr>
          </a:solidFill>
          <a:ln w="0" cap="flat">
            <a:noFill/>
            <a:prstDash val="solid"/>
            <a:miter lim="0"/>
          </a:ln>
        </p:spPr>
        <p:txBody>
          <a:bodyPr rtlCol="0"/>
          <a:lstStyle/>
          <a:p>
            <a:pPr algn="ctr"/>
            <a:endParaRPr lang="zh-CN" altLang="en-US"/>
          </a:p>
        </p:txBody>
      </p:sp>
      <p:sp>
        <p:nvSpPr>
          <p:cNvPr id="4" name="矩形 10"/>
          <p:cNvSpPr>
            <a:spLocks noChangeAspect="1"/>
          </p:cNvSpPr>
          <p:nvPr/>
        </p:nvSpPr>
        <p:spPr>
          <a:xfrm>
            <a:off x="9245614" y="1699400"/>
            <a:ext cx="1672836" cy="1823733"/>
          </a:xfrm>
          <a:custGeom>
            <a:avLst/>
            <a:gdLst>
              <a:gd name="connsiteX0" fmla="*/ 653528 w 1305333"/>
              <a:gd name="connsiteY0" fmla="*/ 0 h 1424419"/>
              <a:gd name="connsiteX1" fmla="*/ 757287 w 1305333"/>
              <a:gd name="connsiteY1" fmla="*/ 32444 h 1424419"/>
              <a:gd name="connsiteX2" fmla="*/ 1206876 w 1305333"/>
              <a:gd name="connsiteY2" fmla="*/ 284945 h 1424419"/>
              <a:gd name="connsiteX3" fmla="*/ 1233464 w 1305333"/>
              <a:gd name="connsiteY3" fmla="*/ 306775 h 1424419"/>
              <a:gd name="connsiteX4" fmla="*/ 1299728 w 1305333"/>
              <a:gd name="connsiteY4" fmla="*/ 452301 h 1424419"/>
              <a:gd name="connsiteX5" fmla="*/ 1303099 w 1305333"/>
              <a:gd name="connsiteY5" fmla="*/ 495558 h 1424419"/>
              <a:gd name="connsiteX6" fmla="*/ 1303099 w 1305333"/>
              <a:gd name="connsiteY6" fmla="*/ 952393 h 1424419"/>
              <a:gd name="connsiteX7" fmla="*/ 1299356 w 1305333"/>
              <a:gd name="connsiteY7" fmla="*/ 974248 h 1424419"/>
              <a:gd name="connsiteX8" fmla="*/ 1193590 w 1305333"/>
              <a:gd name="connsiteY8" fmla="*/ 1159518 h 1424419"/>
              <a:gd name="connsiteX9" fmla="*/ 1188747 w 1305333"/>
              <a:gd name="connsiteY9" fmla="*/ 1163476 h 1424419"/>
              <a:gd name="connsiteX10" fmla="*/ 792288 w 1305333"/>
              <a:gd name="connsiteY10" fmla="*/ 1385653 h 1424419"/>
              <a:gd name="connsiteX11" fmla="*/ 522686 w 1305333"/>
              <a:gd name="connsiteY11" fmla="*/ 1384922 h 1424419"/>
              <a:gd name="connsiteX12" fmla="*/ 80344 w 1305333"/>
              <a:gd name="connsiteY12" fmla="*/ 1139323 h 1424419"/>
              <a:gd name="connsiteX13" fmla="*/ 68397 w 1305333"/>
              <a:gd name="connsiteY13" fmla="*/ 1130059 h 1424419"/>
              <a:gd name="connsiteX14" fmla="*/ 667 w 1305333"/>
              <a:gd name="connsiteY14" fmla="*/ 999105 h 1424419"/>
              <a:gd name="connsiteX15" fmla="*/ 0 w 1305333"/>
              <a:gd name="connsiteY15" fmla="*/ 972364 h 1424419"/>
              <a:gd name="connsiteX16" fmla="*/ 2496 w 1305333"/>
              <a:gd name="connsiteY16" fmla="*/ 463106 h 1424419"/>
              <a:gd name="connsiteX17" fmla="*/ 2458 w 1305333"/>
              <a:gd name="connsiteY17" fmla="*/ 429563 h 1424419"/>
              <a:gd name="connsiteX18" fmla="*/ 75248 w 1305333"/>
              <a:gd name="connsiteY18" fmla="*/ 303202 h 1424419"/>
              <a:gd name="connsiteX19" fmla="*/ 103465 w 1305333"/>
              <a:gd name="connsiteY19" fmla="*/ 288252 h 1424419"/>
              <a:gd name="connsiteX20" fmla="*/ 541533 w 1305333"/>
              <a:gd name="connsiteY20" fmla="*/ 38110 h 1424419"/>
              <a:gd name="connsiteX21" fmla="*/ 653528 w 1305333"/>
              <a:gd name="connsiteY21" fmla="*/ 0 h 1424419"/>
              <a:gd name="connsiteX0-1" fmla="*/ 653528 w 1305333"/>
              <a:gd name="connsiteY0-2" fmla="*/ 0 h 1424419"/>
              <a:gd name="connsiteX1-3" fmla="*/ 757287 w 1305333"/>
              <a:gd name="connsiteY1-4" fmla="*/ 32444 h 1424419"/>
              <a:gd name="connsiteX2-5" fmla="*/ 1206876 w 1305333"/>
              <a:gd name="connsiteY2-6" fmla="*/ 284945 h 1424419"/>
              <a:gd name="connsiteX3-7" fmla="*/ 1233464 w 1305333"/>
              <a:gd name="connsiteY3-8" fmla="*/ 306775 h 1424419"/>
              <a:gd name="connsiteX4-9" fmla="*/ 1301712 w 1305333"/>
              <a:gd name="connsiteY4-10" fmla="*/ 442384 h 1424419"/>
              <a:gd name="connsiteX5-11" fmla="*/ 1303099 w 1305333"/>
              <a:gd name="connsiteY5-12" fmla="*/ 495558 h 1424419"/>
              <a:gd name="connsiteX6-13" fmla="*/ 1303099 w 1305333"/>
              <a:gd name="connsiteY6-14" fmla="*/ 952393 h 1424419"/>
              <a:gd name="connsiteX7-15" fmla="*/ 1299356 w 1305333"/>
              <a:gd name="connsiteY7-16" fmla="*/ 974248 h 1424419"/>
              <a:gd name="connsiteX8-17" fmla="*/ 1193590 w 1305333"/>
              <a:gd name="connsiteY8-18" fmla="*/ 1159518 h 1424419"/>
              <a:gd name="connsiteX9-19" fmla="*/ 1188747 w 1305333"/>
              <a:gd name="connsiteY9-20" fmla="*/ 1163476 h 1424419"/>
              <a:gd name="connsiteX10-21" fmla="*/ 792288 w 1305333"/>
              <a:gd name="connsiteY10-22" fmla="*/ 1385653 h 1424419"/>
              <a:gd name="connsiteX11-23" fmla="*/ 522686 w 1305333"/>
              <a:gd name="connsiteY11-24" fmla="*/ 1384922 h 1424419"/>
              <a:gd name="connsiteX12-25" fmla="*/ 80344 w 1305333"/>
              <a:gd name="connsiteY12-26" fmla="*/ 1139323 h 1424419"/>
              <a:gd name="connsiteX13-27" fmla="*/ 68397 w 1305333"/>
              <a:gd name="connsiteY13-28" fmla="*/ 1130059 h 1424419"/>
              <a:gd name="connsiteX14-29" fmla="*/ 667 w 1305333"/>
              <a:gd name="connsiteY14-30" fmla="*/ 999105 h 1424419"/>
              <a:gd name="connsiteX15-31" fmla="*/ 0 w 1305333"/>
              <a:gd name="connsiteY15-32" fmla="*/ 972364 h 1424419"/>
              <a:gd name="connsiteX16-33" fmla="*/ 2496 w 1305333"/>
              <a:gd name="connsiteY16-34" fmla="*/ 463106 h 1424419"/>
              <a:gd name="connsiteX17-35" fmla="*/ 2458 w 1305333"/>
              <a:gd name="connsiteY17-36" fmla="*/ 429563 h 1424419"/>
              <a:gd name="connsiteX18-37" fmla="*/ 75248 w 1305333"/>
              <a:gd name="connsiteY18-38" fmla="*/ 303202 h 1424419"/>
              <a:gd name="connsiteX19-39" fmla="*/ 103465 w 1305333"/>
              <a:gd name="connsiteY19-40" fmla="*/ 288252 h 1424419"/>
              <a:gd name="connsiteX20-41" fmla="*/ 541533 w 1305333"/>
              <a:gd name="connsiteY20-42" fmla="*/ 38110 h 1424419"/>
              <a:gd name="connsiteX21-43" fmla="*/ 653528 w 1305333"/>
              <a:gd name="connsiteY21-44" fmla="*/ 0 h 1424419"/>
              <a:gd name="connsiteX0-45" fmla="*/ 653528 w 1305333"/>
              <a:gd name="connsiteY0-46" fmla="*/ 0 h 1424419"/>
              <a:gd name="connsiteX1-47" fmla="*/ 757287 w 1305333"/>
              <a:gd name="connsiteY1-48" fmla="*/ 32444 h 1424419"/>
              <a:gd name="connsiteX2-49" fmla="*/ 1206876 w 1305333"/>
              <a:gd name="connsiteY2-50" fmla="*/ 284945 h 1424419"/>
              <a:gd name="connsiteX3-51" fmla="*/ 1233464 w 1305333"/>
              <a:gd name="connsiteY3-52" fmla="*/ 306775 h 1424419"/>
              <a:gd name="connsiteX4-53" fmla="*/ 1301712 w 1305333"/>
              <a:gd name="connsiteY4-54" fmla="*/ 442384 h 1424419"/>
              <a:gd name="connsiteX5-55" fmla="*/ 1303099 w 1305333"/>
              <a:gd name="connsiteY5-56" fmla="*/ 495558 h 1424419"/>
              <a:gd name="connsiteX6-57" fmla="*/ 1303099 w 1305333"/>
              <a:gd name="connsiteY6-58" fmla="*/ 952393 h 1424419"/>
              <a:gd name="connsiteX7-59" fmla="*/ 1299356 w 1305333"/>
              <a:gd name="connsiteY7-60" fmla="*/ 974248 h 1424419"/>
              <a:gd name="connsiteX8-61" fmla="*/ 1193590 w 1305333"/>
              <a:gd name="connsiteY8-62" fmla="*/ 1159518 h 1424419"/>
              <a:gd name="connsiteX9-63" fmla="*/ 1188747 w 1305333"/>
              <a:gd name="connsiteY9-64" fmla="*/ 1163476 h 1424419"/>
              <a:gd name="connsiteX10-65" fmla="*/ 792288 w 1305333"/>
              <a:gd name="connsiteY10-66" fmla="*/ 1385653 h 1424419"/>
              <a:gd name="connsiteX11-67" fmla="*/ 522686 w 1305333"/>
              <a:gd name="connsiteY11-68" fmla="*/ 1384922 h 1424419"/>
              <a:gd name="connsiteX12-69" fmla="*/ 80344 w 1305333"/>
              <a:gd name="connsiteY12-70" fmla="*/ 1139323 h 1424419"/>
              <a:gd name="connsiteX13-71" fmla="*/ 68397 w 1305333"/>
              <a:gd name="connsiteY13-72" fmla="*/ 1130059 h 1424419"/>
              <a:gd name="connsiteX14-73" fmla="*/ 667 w 1305333"/>
              <a:gd name="connsiteY14-74" fmla="*/ 999105 h 1424419"/>
              <a:gd name="connsiteX15-75" fmla="*/ 0 w 1305333"/>
              <a:gd name="connsiteY15-76" fmla="*/ 972364 h 1424419"/>
              <a:gd name="connsiteX16-77" fmla="*/ 2496 w 1305333"/>
              <a:gd name="connsiteY16-78" fmla="*/ 463106 h 1424419"/>
              <a:gd name="connsiteX17-79" fmla="*/ 2458 w 1305333"/>
              <a:gd name="connsiteY17-80" fmla="*/ 429563 h 1424419"/>
              <a:gd name="connsiteX18-81" fmla="*/ 75248 w 1305333"/>
              <a:gd name="connsiteY18-82" fmla="*/ 303202 h 1424419"/>
              <a:gd name="connsiteX19-83" fmla="*/ 103465 w 1305333"/>
              <a:gd name="connsiteY19-84" fmla="*/ 288252 h 1424419"/>
              <a:gd name="connsiteX20-85" fmla="*/ 541533 w 1305333"/>
              <a:gd name="connsiteY20-86" fmla="*/ 38110 h 1424419"/>
              <a:gd name="connsiteX21-87" fmla="*/ 653528 w 1305333"/>
              <a:gd name="connsiteY21-88" fmla="*/ 0 h 1424419"/>
              <a:gd name="connsiteX0-89" fmla="*/ 653528 w 1306046"/>
              <a:gd name="connsiteY0-90" fmla="*/ 0 h 1424419"/>
              <a:gd name="connsiteX1-91" fmla="*/ 757287 w 1306046"/>
              <a:gd name="connsiteY1-92" fmla="*/ 32444 h 1424419"/>
              <a:gd name="connsiteX2-93" fmla="*/ 1206876 w 1306046"/>
              <a:gd name="connsiteY2-94" fmla="*/ 284945 h 1424419"/>
              <a:gd name="connsiteX3-95" fmla="*/ 1233464 w 1306046"/>
              <a:gd name="connsiteY3-96" fmla="*/ 306775 h 1424419"/>
              <a:gd name="connsiteX4-97" fmla="*/ 1301712 w 1306046"/>
              <a:gd name="connsiteY4-98" fmla="*/ 442384 h 1424419"/>
              <a:gd name="connsiteX5-99" fmla="*/ 1303099 w 1306046"/>
              <a:gd name="connsiteY5-100" fmla="*/ 495558 h 1424419"/>
              <a:gd name="connsiteX6-101" fmla="*/ 1303099 w 1306046"/>
              <a:gd name="connsiteY6-102" fmla="*/ 952393 h 1424419"/>
              <a:gd name="connsiteX7-103" fmla="*/ 1305306 w 1306046"/>
              <a:gd name="connsiteY7-104" fmla="*/ 990115 h 1424419"/>
              <a:gd name="connsiteX8-105" fmla="*/ 1193590 w 1306046"/>
              <a:gd name="connsiteY8-106" fmla="*/ 1159518 h 1424419"/>
              <a:gd name="connsiteX9-107" fmla="*/ 1188747 w 1306046"/>
              <a:gd name="connsiteY9-108" fmla="*/ 1163476 h 1424419"/>
              <a:gd name="connsiteX10-109" fmla="*/ 792288 w 1306046"/>
              <a:gd name="connsiteY10-110" fmla="*/ 1385653 h 1424419"/>
              <a:gd name="connsiteX11-111" fmla="*/ 522686 w 1306046"/>
              <a:gd name="connsiteY11-112" fmla="*/ 1384922 h 1424419"/>
              <a:gd name="connsiteX12-113" fmla="*/ 80344 w 1306046"/>
              <a:gd name="connsiteY12-114" fmla="*/ 1139323 h 1424419"/>
              <a:gd name="connsiteX13-115" fmla="*/ 68397 w 1306046"/>
              <a:gd name="connsiteY13-116" fmla="*/ 1130059 h 1424419"/>
              <a:gd name="connsiteX14-117" fmla="*/ 667 w 1306046"/>
              <a:gd name="connsiteY14-118" fmla="*/ 999105 h 1424419"/>
              <a:gd name="connsiteX15-119" fmla="*/ 0 w 1306046"/>
              <a:gd name="connsiteY15-120" fmla="*/ 972364 h 1424419"/>
              <a:gd name="connsiteX16-121" fmla="*/ 2496 w 1306046"/>
              <a:gd name="connsiteY16-122" fmla="*/ 463106 h 1424419"/>
              <a:gd name="connsiteX17-123" fmla="*/ 2458 w 1306046"/>
              <a:gd name="connsiteY17-124" fmla="*/ 429563 h 1424419"/>
              <a:gd name="connsiteX18-125" fmla="*/ 75248 w 1306046"/>
              <a:gd name="connsiteY18-126" fmla="*/ 303202 h 1424419"/>
              <a:gd name="connsiteX19-127" fmla="*/ 103465 w 1306046"/>
              <a:gd name="connsiteY19-128" fmla="*/ 288252 h 1424419"/>
              <a:gd name="connsiteX20-129" fmla="*/ 541533 w 1306046"/>
              <a:gd name="connsiteY20-130" fmla="*/ 38110 h 1424419"/>
              <a:gd name="connsiteX21-131" fmla="*/ 653528 w 1306046"/>
              <a:gd name="connsiteY21-132" fmla="*/ 0 h 1424419"/>
              <a:gd name="connsiteX0-133" fmla="*/ 653528 w 1305333"/>
              <a:gd name="connsiteY0-134" fmla="*/ 0 h 1424419"/>
              <a:gd name="connsiteX1-135" fmla="*/ 757287 w 1305333"/>
              <a:gd name="connsiteY1-136" fmla="*/ 32444 h 1424419"/>
              <a:gd name="connsiteX2-137" fmla="*/ 1206876 w 1305333"/>
              <a:gd name="connsiteY2-138" fmla="*/ 284945 h 1424419"/>
              <a:gd name="connsiteX3-139" fmla="*/ 1233464 w 1305333"/>
              <a:gd name="connsiteY3-140" fmla="*/ 306775 h 1424419"/>
              <a:gd name="connsiteX4-141" fmla="*/ 1301712 w 1305333"/>
              <a:gd name="connsiteY4-142" fmla="*/ 442384 h 1424419"/>
              <a:gd name="connsiteX5-143" fmla="*/ 1303099 w 1305333"/>
              <a:gd name="connsiteY5-144" fmla="*/ 495558 h 1424419"/>
              <a:gd name="connsiteX6-145" fmla="*/ 1303099 w 1305333"/>
              <a:gd name="connsiteY6-146" fmla="*/ 952393 h 1424419"/>
              <a:gd name="connsiteX7-147" fmla="*/ 1305306 w 1305333"/>
              <a:gd name="connsiteY7-148" fmla="*/ 990115 h 1424419"/>
              <a:gd name="connsiteX8-149" fmla="*/ 1193590 w 1305333"/>
              <a:gd name="connsiteY8-150" fmla="*/ 1159518 h 1424419"/>
              <a:gd name="connsiteX9-151" fmla="*/ 1188747 w 1305333"/>
              <a:gd name="connsiteY9-152" fmla="*/ 1163476 h 1424419"/>
              <a:gd name="connsiteX10-153" fmla="*/ 792288 w 1305333"/>
              <a:gd name="connsiteY10-154" fmla="*/ 1385653 h 1424419"/>
              <a:gd name="connsiteX11-155" fmla="*/ 522686 w 1305333"/>
              <a:gd name="connsiteY11-156" fmla="*/ 1384922 h 1424419"/>
              <a:gd name="connsiteX12-157" fmla="*/ 80344 w 1305333"/>
              <a:gd name="connsiteY12-158" fmla="*/ 1139323 h 1424419"/>
              <a:gd name="connsiteX13-159" fmla="*/ 68397 w 1305333"/>
              <a:gd name="connsiteY13-160" fmla="*/ 1130059 h 1424419"/>
              <a:gd name="connsiteX14-161" fmla="*/ 667 w 1305333"/>
              <a:gd name="connsiteY14-162" fmla="*/ 999105 h 1424419"/>
              <a:gd name="connsiteX15-163" fmla="*/ 0 w 1305333"/>
              <a:gd name="connsiteY15-164" fmla="*/ 972364 h 1424419"/>
              <a:gd name="connsiteX16-165" fmla="*/ 2496 w 1305333"/>
              <a:gd name="connsiteY16-166" fmla="*/ 463106 h 1424419"/>
              <a:gd name="connsiteX17-167" fmla="*/ 2458 w 1305333"/>
              <a:gd name="connsiteY17-168" fmla="*/ 429563 h 1424419"/>
              <a:gd name="connsiteX18-169" fmla="*/ 75248 w 1305333"/>
              <a:gd name="connsiteY18-170" fmla="*/ 303202 h 1424419"/>
              <a:gd name="connsiteX19-171" fmla="*/ 103465 w 1305333"/>
              <a:gd name="connsiteY19-172" fmla="*/ 288252 h 1424419"/>
              <a:gd name="connsiteX20-173" fmla="*/ 541533 w 1305333"/>
              <a:gd name="connsiteY20-174" fmla="*/ 38110 h 1424419"/>
              <a:gd name="connsiteX21-175" fmla="*/ 653528 w 1305333"/>
              <a:gd name="connsiteY21-176" fmla="*/ 0 h 1424419"/>
              <a:gd name="connsiteX0-177" fmla="*/ 653528 w 1305333"/>
              <a:gd name="connsiteY0-178" fmla="*/ 0 h 1424419"/>
              <a:gd name="connsiteX1-179" fmla="*/ 757287 w 1305333"/>
              <a:gd name="connsiteY1-180" fmla="*/ 32444 h 1424419"/>
              <a:gd name="connsiteX2-181" fmla="*/ 1206876 w 1305333"/>
              <a:gd name="connsiteY2-182" fmla="*/ 284945 h 1424419"/>
              <a:gd name="connsiteX3-183" fmla="*/ 1233464 w 1305333"/>
              <a:gd name="connsiteY3-184" fmla="*/ 306775 h 1424419"/>
              <a:gd name="connsiteX4-185" fmla="*/ 1301712 w 1305333"/>
              <a:gd name="connsiteY4-186" fmla="*/ 442384 h 1424419"/>
              <a:gd name="connsiteX5-187" fmla="*/ 1303099 w 1305333"/>
              <a:gd name="connsiteY5-188" fmla="*/ 495558 h 1424419"/>
              <a:gd name="connsiteX6-189" fmla="*/ 1303099 w 1305333"/>
              <a:gd name="connsiteY6-190" fmla="*/ 952393 h 1424419"/>
              <a:gd name="connsiteX7-191" fmla="*/ 1305306 w 1305333"/>
              <a:gd name="connsiteY7-192" fmla="*/ 990115 h 1424419"/>
              <a:gd name="connsiteX8-193" fmla="*/ 1193590 w 1305333"/>
              <a:gd name="connsiteY8-194" fmla="*/ 1159518 h 1424419"/>
              <a:gd name="connsiteX9-195" fmla="*/ 1172881 w 1305333"/>
              <a:gd name="connsiteY9-196" fmla="*/ 1179342 h 1424419"/>
              <a:gd name="connsiteX10-197" fmla="*/ 792288 w 1305333"/>
              <a:gd name="connsiteY10-198" fmla="*/ 1385653 h 1424419"/>
              <a:gd name="connsiteX11-199" fmla="*/ 522686 w 1305333"/>
              <a:gd name="connsiteY11-200" fmla="*/ 1384922 h 1424419"/>
              <a:gd name="connsiteX12-201" fmla="*/ 80344 w 1305333"/>
              <a:gd name="connsiteY12-202" fmla="*/ 1139323 h 1424419"/>
              <a:gd name="connsiteX13-203" fmla="*/ 68397 w 1305333"/>
              <a:gd name="connsiteY13-204" fmla="*/ 1130059 h 1424419"/>
              <a:gd name="connsiteX14-205" fmla="*/ 667 w 1305333"/>
              <a:gd name="connsiteY14-206" fmla="*/ 999105 h 1424419"/>
              <a:gd name="connsiteX15-207" fmla="*/ 0 w 1305333"/>
              <a:gd name="connsiteY15-208" fmla="*/ 972364 h 1424419"/>
              <a:gd name="connsiteX16-209" fmla="*/ 2496 w 1305333"/>
              <a:gd name="connsiteY16-210" fmla="*/ 463106 h 1424419"/>
              <a:gd name="connsiteX17-211" fmla="*/ 2458 w 1305333"/>
              <a:gd name="connsiteY17-212" fmla="*/ 429563 h 1424419"/>
              <a:gd name="connsiteX18-213" fmla="*/ 75248 w 1305333"/>
              <a:gd name="connsiteY18-214" fmla="*/ 303202 h 1424419"/>
              <a:gd name="connsiteX19-215" fmla="*/ 103465 w 1305333"/>
              <a:gd name="connsiteY19-216" fmla="*/ 288252 h 1424419"/>
              <a:gd name="connsiteX20-217" fmla="*/ 541533 w 1305333"/>
              <a:gd name="connsiteY20-218" fmla="*/ 38110 h 1424419"/>
              <a:gd name="connsiteX21-219" fmla="*/ 653528 w 1305333"/>
              <a:gd name="connsiteY21-220" fmla="*/ 0 h 1424419"/>
              <a:gd name="connsiteX0-221" fmla="*/ 653528 w 1305333"/>
              <a:gd name="connsiteY0-222" fmla="*/ 0 h 1424419"/>
              <a:gd name="connsiteX1-223" fmla="*/ 757287 w 1305333"/>
              <a:gd name="connsiteY1-224" fmla="*/ 32444 h 1424419"/>
              <a:gd name="connsiteX2-225" fmla="*/ 1206876 w 1305333"/>
              <a:gd name="connsiteY2-226" fmla="*/ 284945 h 1424419"/>
              <a:gd name="connsiteX3-227" fmla="*/ 1233464 w 1305333"/>
              <a:gd name="connsiteY3-228" fmla="*/ 306775 h 1424419"/>
              <a:gd name="connsiteX4-229" fmla="*/ 1301712 w 1305333"/>
              <a:gd name="connsiteY4-230" fmla="*/ 442384 h 1424419"/>
              <a:gd name="connsiteX5-231" fmla="*/ 1303099 w 1305333"/>
              <a:gd name="connsiteY5-232" fmla="*/ 495558 h 1424419"/>
              <a:gd name="connsiteX6-233" fmla="*/ 1303099 w 1305333"/>
              <a:gd name="connsiteY6-234" fmla="*/ 952393 h 1424419"/>
              <a:gd name="connsiteX7-235" fmla="*/ 1305306 w 1305333"/>
              <a:gd name="connsiteY7-236" fmla="*/ 990115 h 1424419"/>
              <a:gd name="connsiteX8-237" fmla="*/ 1193590 w 1305333"/>
              <a:gd name="connsiteY8-238" fmla="*/ 1159518 h 1424419"/>
              <a:gd name="connsiteX9-239" fmla="*/ 1172881 w 1305333"/>
              <a:gd name="connsiteY9-240" fmla="*/ 1179342 h 1424419"/>
              <a:gd name="connsiteX10-241" fmla="*/ 792288 w 1305333"/>
              <a:gd name="connsiteY10-242" fmla="*/ 1385653 h 1424419"/>
              <a:gd name="connsiteX11-243" fmla="*/ 522686 w 1305333"/>
              <a:gd name="connsiteY11-244" fmla="*/ 1384922 h 1424419"/>
              <a:gd name="connsiteX12-245" fmla="*/ 80344 w 1305333"/>
              <a:gd name="connsiteY12-246" fmla="*/ 1139323 h 1424419"/>
              <a:gd name="connsiteX13-247" fmla="*/ 68397 w 1305333"/>
              <a:gd name="connsiteY13-248" fmla="*/ 1130059 h 1424419"/>
              <a:gd name="connsiteX14-249" fmla="*/ 667 w 1305333"/>
              <a:gd name="connsiteY14-250" fmla="*/ 999105 h 1424419"/>
              <a:gd name="connsiteX15-251" fmla="*/ 0 w 1305333"/>
              <a:gd name="connsiteY15-252" fmla="*/ 972364 h 1424419"/>
              <a:gd name="connsiteX16-253" fmla="*/ 2496 w 1305333"/>
              <a:gd name="connsiteY16-254" fmla="*/ 463106 h 1424419"/>
              <a:gd name="connsiteX17-255" fmla="*/ 2458 w 1305333"/>
              <a:gd name="connsiteY17-256" fmla="*/ 429563 h 1424419"/>
              <a:gd name="connsiteX18-257" fmla="*/ 75248 w 1305333"/>
              <a:gd name="connsiteY18-258" fmla="*/ 303202 h 1424419"/>
              <a:gd name="connsiteX19-259" fmla="*/ 103465 w 1305333"/>
              <a:gd name="connsiteY19-260" fmla="*/ 288252 h 1424419"/>
              <a:gd name="connsiteX20-261" fmla="*/ 541533 w 1305333"/>
              <a:gd name="connsiteY20-262" fmla="*/ 38110 h 1424419"/>
              <a:gd name="connsiteX21-263" fmla="*/ 653528 w 1305333"/>
              <a:gd name="connsiteY21-264" fmla="*/ 0 h 1424419"/>
              <a:gd name="connsiteX0-265" fmla="*/ 653528 w 1305333"/>
              <a:gd name="connsiteY0-266" fmla="*/ 0 h 1424419"/>
              <a:gd name="connsiteX1-267" fmla="*/ 757287 w 1305333"/>
              <a:gd name="connsiteY1-268" fmla="*/ 32444 h 1424419"/>
              <a:gd name="connsiteX2-269" fmla="*/ 1206876 w 1305333"/>
              <a:gd name="connsiteY2-270" fmla="*/ 284945 h 1424419"/>
              <a:gd name="connsiteX3-271" fmla="*/ 1233464 w 1305333"/>
              <a:gd name="connsiteY3-272" fmla="*/ 306775 h 1424419"/>
              <a:gd name="connsiteX4-273" fmla="*/ 1301712 w 1305333"/>
              <a:gd name="connsiteY4-274" fmla="*/ 442384 h 1424419"/>
              <a:gd name="connsiteX5-275" fmla="*/ 1303099 w 1305333"/>
              <a:gd name="connsiteY5-276" fmla="*/ 495558 h 1424419"/>
              <a:gd name="connsiteX6-277" fmla="*/ 1303099 w 1305333"/>
              <a:gd name="connsiteY6-278" fmla="*/ 952393 h 1424419"/>
              <a:gd name="connsiteX7-279" fmla="*/ 1305306 w 1305333"/>
              <a:gd name="connsiteY7-280" fmla="*/ 990115 h 1424419"/>
              <a:gd name="connsiteX8-281" fmla="*/ 1193590 w 1305333"/>
              <a:gd name="connsiteY8-282" fmla="*/ 1159518 h 1424419"/>
              <a:gd name="connsiteX9-283" fmla="*/ 1172881 w 1305333"/>
              <a:gd name="connsiteY9-284" fmla="*/ 1179342 h 1424419"/>
              <a:gd name="connsiteX10-285" fmla="*/ 792288 w 1305333"/>
              <a:gd name="connsiteY10-286" fmla="*/ 1385653 h 1424419"/>
              <a:gd name="connsiteX11-287" fmla="*/ 522686 w 1305333"/>
              <a:gd name="connsiteY11-288" fmla="*/ 1384922 h 1424419"/>
              <a:gd name="connsiteX12-289" fmla="*/ 80344 w 1305333"/>
              <a:gd name="connsiteY12-290" fmla="*/ 1139323 h 1424419"/>
              <a:gd name="connsiteX13-291" fmla="*/ 68397 w 1305333"/>
              <a:gd name="connsiteY13-292" fmla="*/ 1130059 h 1424419"/>
              <a:gd name="connsiteX14-293" fmla="*/ 667 w 1305333"/>
              <a:gd name="connsiteY14-294" fmla="*/ 999105 h 1424419"/>
              <a:gd name="connsiteX15-295" fmla="*/ 0 w 1305333"/>
              <a:gd name="connsiteY15-296" fmla="*/ 972364 h 1424419"/>
              <a:gd name="connsiteX16-297" fmla="*/ 2496 w 1305333"/>
              <a:gd name="connsiteY16-298" fmla="*/ 463106 h 1424419"/>
              <a:gd name="connsiteX17-299" fmla="*/ 2458 w 1305333"/>
              <a:gd name="connsiteY17-300" fmla="*/ 429563 h 1424419"/>
              <a:gd name="connsiteX18-301" fmla="*/ 75248 w 1305333"/>
              <a:gd name="connsiteY18-302" fmla="*/ 303202 h 1424419"/>
              <a:gd name="connsiteX19-303" fmla="*/ 103465 w 1305333"/>
              <a:gd name="connsiteY19-304" fmla="*/ 288252 h 1424419"/>
              <a:gd name="connsiteX20-305" fmla="*/ 541533 w 1305333"/>
              <a:gd name="connsiteY20-306" fmla="*/ 38110 h 1424419"/>
              <a:gd name="connsiteX21-307" fmla="*/ 653528 w 1305333"/>
              <a:gd name="connsiteY21-308" fmla="*/ 0 h 1424419"/>
              <a:gd name="connsiteX0-309" fmla="*/ 653528 w 1305333"/>
              <a:gd name="connsiteY0-310" fmla="*/ 0 h 1424419"/>
              <a:gd name="connsiteX1-311" fmla="*/ 757287 w 1305333"/>
              <a:gd name="connsiteY1-312" fmla="*/ 32444 h 1424419"/>
              <a:gd name="connsiteX2-313" fmla="*/ 1206876 w 1305333"/>
              <a:gd name="connsiteY2-314" fmla="*/ 284945 h 1424419"/>
              <a:gd name="connsiteX3-315" fmla="*/ 1233464 w 1305333"/>
              <a:gd name="connsiteY3-316" fmla="*/ 306775 h 1424419"/>
              <a:gd name="connsiteX4-317" fmla="*/ 1301712 w 1305333"/>
              <a:gd name="connsiteY4-318" fmla="*/ 442384 h 1424419"/>
              <a:gd name="connsiteX5-319" fmla="*/ 1303099 w 1305333"/>
              <a:gd name="connsiteY5-320" fmla="*/ 495558 h 1424419"/>
              <a:gd name="connsiteX6-321" fmla="*/ 1303099 w 1305333"/>
              <a:gd name="connsiteY6-322" fmla="*/ 952393 h 1424419"/>
              <a:gd name="connsiteX7-323" fmla="*/ 1305306 w 1305333"/>
              <a:gd name="connsiteY7-324" fmla="*/ 990115 h 1424419"/>
              <a:gd name="connsiteX8-325" fmla="*/ 1193590 w 1305333"/>
              <a:gd name="connsiteY8-326" fmla="*/ 1159518 h 1424419"/>
              <a:gd name="connsiteX9-327" fmla="*/ 1172881 w 1305333"/>
              <a:gd name="connsiteY9-328" fmla="*/ 1179342 h 1424419"/>
              <a:gd name="connsiteX10-329" fmla="*/ 792288 w 1305333"/>
              <a:gd name="connsiteY10-330" fmla="*/ 1385653 h 1424419"/>
              <a:gd name="connsiteX11-331" fmla="*/ 522686 w 1305333"/>
              <a:gd name="connsiteY11-332" fmla="*/ 1384922 h 1424419"/>
              <a:gd name="connsiteX12-333" fmla="*/ 80344 w 1305333"/>
              <a:gd name="connsiteY12-334" fmla="*/ 1139323 h 1424419"/>
              <a:gd name="connsiteX13-335" fmla="*/ 68397 w 1305333"/>
              <a:gd name="connsiteY13-336" fmla="*/ 1130059 h 1424419"/>
              <a:gd name="connsiteX14-337" fmla="*/ 667 w 1305333"/>
              <a:gd name="connsiteY14-338" fmla="*/ 999105 h 1424419"/>
              <a:gd name="connsiteX15-339" fmla="*/ 0 w 1305333"/>
              <a:gd name="connsiteY15-340" fmla="*/ 972364 h 1424419"/>
              <a:gd name="connsiteX16-341" fmla="*/ 2496 w 1305333"/>
              <a:gd name="connsiteY16-342" fmla="*/ 463106 h 1424419"/>
              <a:gd name="connsiteX17-343" fmla="*/ 2458 w 1305333"/>
              <a:gd name="connsiteY17-344" fmla="*/ 429563 h 1424419"/>
              <a:gd name="connsiteX18-345" fmla="*/ 75248 w 1305333"/>
              <a:gd name="connsiteY18-346" fmla="*/ 303202 h 1424419"/>
              <a:gd name="connsiteX19-347" fmla="*/ 103465 w 1305333"/>
              <a:gd name="connsiteY19-348" fmla="*/ 288252 h 1424419"/>
              <a:gd name="connsiteX20-349" fmla="*/ 541533 w 1305333"/>
              <a:gd name="connsiteY20-350" fmla="*/ 38110 h 1424419"/>
              <a:gd name="connsiteX21-351" fmla="*/ 653528 w 1305333"/>
              <a:gd name="connsiteY21-352" fmla="*/ 0 h 1424419"/>
              <a:gd name="connsiteX0-353" fmla="*/ 653528 w 1305333"/>
              <a:gd name="connsiteY0-354" fmla="*/ 0 h 1424419"/>
              <a:gd name="connsiteX1-355" fmla="*/ 757287 w 1305333"/>
              <a:gd name="connsiteY1-356" fmla="*/ 32444 h 1424419"/>
              <a:gd name="connsiteX2-357" fmla="*/ 1206876 w 1305333"/>
              <a:gd name="connsiteY2-358" fmla="*/ 284945 h 1424419"/>
              <a:gd name="connsiteX3-359" fmla="*/ 1233464 w 1305333"/>
              <a:gd name="connsiteY3-360" fmla="*/ 306775 h 1424419"/>
              <a:gd name="connsiteX4-361" fmla="*/ 1301712 w 1305333"/>
              <a:gd name="connsiteY4-362" fmla="*/ 442384 h 1424419"/>
              <a:gd name="connsiteX5-363" fmla="*/ 1303099 w 1305333"/>
              <a:gd name="connsiteY5-364" fmla="*/ 495558 h 1424419"/>
              <a:gd name="connsiteX6-365" fmla="*/ 1303099 w 1305333"/>
              <a:gd name="connsiteY6-366" fmla="*/ 952393 h 1424419"/>
              <a:gd name="connsiteX7-367" fmla="*/ 1305306 w 1305333"/>
              <a:gd name="connsiteY7-368" fmla="*/ 990115 h 1424419"/>
              <a:gd name="connsiteX8-369" fmla="*/ 1193590 w 1305333"/>
              <a:gd name="connsiteY8-370" fmla="*/ 1159518 h 1424419"/>
              <a:gd name="connsiteX9-371" fmla="*/ 1172881 w 1305333"/>
              <a:gd name="connsiteY9-372" fmla="*/ 1179342 h 1424419"/>
              <a:gd name="connsiteX10-373" fmla="*/ 792288 w 1305333"/>
              <a:gd name="connsiteY10-374" fmla="*/ 1385653 h 1424419"/>
              <a:gd name="connsiteX11-375" fmla="*/ 522686 w 1305333"/>
              <a:gd name="connsiteY11-376" fmla="*/ 1384922 h 1424419"/>
              <a:gd name="connsiteX12-377" fmla="*/ 80344 w 1305333"/>
              <a:gd name="connsiteY12-378" fmla="*/ 1139323 h 1424419"/>
              <a:gd name="connsiteX13-379" fmla="*/ 68397 w 1305333"/>
              <a:gd name="connsiteY13-380" fmla="*/ 1130059 h 1424419"/>
              <a:gd name="connsiteX14-381" fmla="*/ 667 w 1305333"/>
              <a:gd name="connsiteY14-382" fmla="*/ 999105 h 1424419"/>
              <a:gd name="connsiteX15-383" fmla="*/ 0 w 1305333"/>
              <a:gd name="connsiteY15-384" fmla="*/ 972364 h 1424419"/>
              <a:gd name="connsiteX16-385" fmla="*/ 2496 w 1305333"/>
              <a:gd name="connsiteY16-386" fmla="*/ 463106 h 1424419"/>
              <a:gd name="connsiteX17-387" fmla="*/ 2458 w 1305333"/>
              <a:gd name="connsiteY17-388" fmla="*/ 429563 h 1424419"/>
              <a:gd name="connsiteX18-389" fmla="*/ 75248 w 1305333"/>
              <a:gd name="connsiteY18-390" fmla="*/ 303202 h 1424419"/>
              <a:gd name="connsiteX19-391" fmla="*/ 106293 w 1305333"/>
              <a:gd name="connsiteY19-392" fmla="*/ 282597 h 1424419"/>
              <a:gd name="connsiteX20-393" fmla="*/ 541533 w 1305333"/>
              <a:gd name="connsiteY20-394" fmla="*/ 38110 h 1424419"/>
              <a:gd name="connsiteX21-395" fmla="*/ 653528 w 1305333"/>
              <a:gd name="connsiteY21-396" fmla="*/ 0 h 1424419"/>
              <a:gd name="connsiteX0-397" fmla="*/ 653528 w 1305333"/>
              <a:gd name="connsiteY0-398" fmla="*/ 0 h 1424419"/>
              <a:gd name="connsiteX1-399" fmla="*/ 757287 w 1305333"/>
              <a:gd name="connsiteY1-400" fmla="*/ 32444 h 1424419"/>
              <a:gd name="connsiteX2-401" fmla="*/ 1206876 w 1305333"/>
              <a:gd name="connsiteY2-402" fmla="*/ 284945 h 1424419"/>
              <a:gd name="connsiteX3-403" fmla="*/ 1237706 w 1305333"/>
              <a:gd name="connsiteY3-404" fmla="*/ 306775 h 1424419"/>
              <a:gd name="connsiteX4-405" fmla="*/ 1301712 w 1305333"/>
              <a:gd name="connsiteY4-406" fmla="*/ 442384 h 1424419"/>
              <a:gd name="connsiteX5-407" fmla="*/ 1303099 w 1305333"/>
              <a:gd name="connsiteY5-408" fmla="*/ 495558 h 1424419"/>
              <a:gd name="connsiteX6-409" fmla="*/ 1303099 w 1305333"/>
              <a:gd name="connsiteY6-410" fmla="*/ 952393 h 1424419"/>
              <a:gd name="connsiteX7-411" fmla="*/ 1305306 w 1305333"/>
              <a:gd name="connsiteY7-412" fmla="*/ 990115 h 1424419"/>
              <a:gd name="connsiteX8-413" fmla="*/ 1193590 w 1305333"/>
              <a:gd name="connsiteY8-414" fmla="*/ 1159518 h 1424419"/>
              <a:gd name="connsiteX9-415" fmla="*/ 1172881 w 1305333"/>
              <a:gd name="connsiteY9-416" fmla="*/ 1179342 h 1424419"/>
              <a:gd name="connsiteX10-417" fmla="*/ 792288 w 1305333"/>
              <a:gd name="connsiteY10-418" fmla="*/ 1385653 h 1424419"/>
              <a:gd name="connsiteX11-419" fmla="*/ 522686 w 1305333"/>
              <a:gd name="connsiteY11-420" fmla="*/ 1384922 h 1424419"/>
              <a:gd name="connsiteX12-421" fmla="*/ 80344 w 1305333"/>
              <a:gd name="connsiteY12-422" fmla="*/ 1139323 h 1424419"/>
              <a:gd name="connsiteX13-423" fmla="*/ 68397 w 1305333"/>
              <a:gd name="connsiteY13-424" fmla="*/ 1130059 h 1424419"/>
              <a:gd name="connsiteX14-425" fmla="*/ 667 w 1305333"/>
              <a:gd name="connsiteY14-426" fmla="*/ 999105 h 1424419"/>
              <a:gd name="connsiteX15-427" fmla="*/ 0 w 1305333"/>
              <a:gd name="connsiteY15-428" fmla="*/ 972364 h 1424419"/>
              <a:gd name="connsiteX16-429" fmla="*/ 2496 w 1305333"/>
              <a:gd name="connsiteY16-430" fmla="*/ 463106 h 1424419"/>
              <a:gd name="connsiteX17-431" fmla="*/ 2458 w 1305333"/>
              <a:gd name="connsiteY17-432" fmla="*/ 429563 h 1424419"/>
              <a:gd name="connsiteX18-433" fmla="*/ 75248 w 1305333"/>
              <a:gd name="connsiteY18-434" fmla="*/ 303202 h 1424419"/>
              <a:gd name="connsiteX19-435" fmla="*/ 106293 w 1305333"/>
              <a:gd name="connsiteY19-436" fmla="*/ 282597 h 1424419"/>
              <a:gd name="connsiteX20-437" fmla="*/ 541533 w 1305333"/>
              <a:gd name="connsiteY20-438" fmla="*/ 38110 h 1424419"/>
              <a:gd name="connsiteX21-439" fmla="*/ 653528 w 1305333"/>
              <a:gd name="connsiteY21-440" fmla="*/ 0 h 1424419"/>
              <a:gd name="connsiteX0-441" fmla="*/ 653528 w 1305333"/>
              <a:gd name="connsiteY0-442" fmla="*/ 0 h 1424419"/>
              <a:gd name="connsiteX1-443" fmla="*/ 757287 w 1305333"/>
              <a:gd name="connsiteY1-444" fmla="*/ 32444 h 1424419"/>
              <a:gd name="connsiteX2-445" fmla="*/ 1206876 w 1305333"/>
              <a:gd name="connsiteY2-446" fmla="*/ 284945 h 1424419"/>
              <a:gd name="connsiteX3-447" fmla="*/ 1237706 w 1305333"/>
              <a:gd name="connsiteY3-448" fmla="*/ 306775 h 1424419"/>
              <a:gd name="connsiteX4-449" fmla="*/ 1301712 w 1305333"/>
              <a:gd name="connsiteY4-450" fmla="*/ 442384 h 1424419"/>
              <a:gd name="connsiteX5-451" fmla="*/ 1303099 w 1305333"/>
              <a:gd name="connsiteY5-452" fmla="*/ 495558 h 1424419"/>
              <a:gd name="connsiteX6-453" fmla="*/ 1303099 w 1305333"/>
              <a:gd name="connsiteY6-454" fmla="*/ 952393 h 1424419"/>
              <a:gd name="connsiteX7-455" fmla="*/ 1305306 w 1305333"/>
              <a:gd name="connsiteY7-456" fmla="*/ 990115 h 1424419"/>
              <a:gd name="connsiteX8-457" fmla="*/ 1211970 w 1305333"/>
              <a:gd name="connsiteY8-458" fmla="*/ 1149621 h 1424419"/>
              <a:gd name="connsiteX9-459" fmla="*/ 1172881 w 1305333"/>
              <a:gd name="connsiteY9-460" fmla="*/ 1179342 h 1424419"/>
              <a:gd name="connsiteX10-461" fmla="*/ 792288 w 1305333"/>
              <a:gd name="connsiteY10-462" fmla="*/ 1385653 h 1424419"/>
              <a:gd name="connsiteX11-463" fmla="*/ 522686 w 1305333"/>
              <a:gd name="connsiteY11-464" fmla="*/ 1384922 h 1424419"/>
              <a:gd name="connsiteX12-465" fmla="*/ 80344 w 1305333"/>
              <a:gd name="connsiteY12-466" fmla="*/ 1139323 h 1424419"/>
              <a:gd name="connsiteX13-467" fmla="*/ 68397 w 1305333"/>
              <a:gd name="connsiteY13-468" fmla="*/ 1130059 h 1424419"/>
              <a:gd name="connsiteX14-469" fmla="*/ 667 w 1305333"/>
              <a:gd name="connsiteY14-470" fmla="*/ 999105 h 1424419"/>
              <a:gd name="connsiteX15-471" fmla="*/ 0 w 1305333"/>
              <a:gd name="connsiteY15-472" fmla="*/ 972364 h 1424419"/>
              <a:gd name="connsiteX16-473" fmla="*/ 2496 w 1305333"/>
              <a:gd name="connsiteY16-474" fmla="*/ 463106 h 1424419"/>
              <a:gd name="connsiteX17-475" fmla="*/ 2458 w 1305333"/>
              <a:gd name="connsiteY17-476" fmla="*/ 429563 h 1424419"/>
              <a:gd name="connsiteX18-477" fmla="*/ 75248 w 1305333"/>
              <a:gd name="connsiteY18-478" fmla="*/ 303202 h 1424419"/>
              <a:gd name="connsiteX19-479" fmla="*/ 106293 w 1305333"/>
              <a:gd name="connsiteY19-480" fmla="*/ 282597 h 1424419"/>
              <a:gd name="connsiteX20-481" fmla="*/ 541533 w 1305333"/>
              <a:gd name="connsiteY20-482" fmla="*/ 38110 h 1424419"/>
              <a:gd name="connsiteX21-483" fmla="*/ 653528 w 1305333"/>
              <a:gd name="connsiteY21-484" fmla="*/ 0 h 1424419"/>
              <a:gd name="connsiteX0-485" fmla="*/ 653528 w 1305333"/>
              <a:gd name="connsiteY0-486" fmla="*/ 0 h 1424419"/>
              <a:gd name="connsiteX1-487" fmla="*/ 757287 w 1305333"/>
              <a:gd name="connsiteY1-488" fmla="*/ 32444 h 1424419"/>
              <a:gd name="connsiteX2-489" fmla="*/ 1206876 w 1305333"/>
              <a:gd name="connsiteY2-490" fmla="*/ 284945 h 1424419"/>
              <a:gd name="connsiteX3-491" fmla="*/ 1237706 w 1305333"/>
              <a:gd name="connsiteY3-492" fmla="*/ 306775 h 1424419"/>
              <a:gd name="connsiteX4-493" fmla="*/ 1301712 w 1305333"/>
              <a:gd name="connsiteY4-494" fmla="*/ 442384 h 1424419"/>
              <a:gd name="connsiteX5-495" fmla="*/ 1303099 w 1305333"/>
              <a:gd name="connsiteY5-496" fmla="*/ 495558 h 1424419"/>
              <a:gd name="connsiteX6-497" fmla="*/ 1303099 w 1305333"/>
              <a:gd name="connsiteY6-498" fmla="*/ 952393 h 1424419"/>
              <a:gd name="connsiteX7-499" fmla="*/ 1305306 w 1305333"/>
              <a:gd name="connsiteY7-500" fmla="*/ 990115 h 1424419"/>
              <a:gd name="connsiteX8-501" fmla="*/ 1236006 w 1305333"/>
              <a:gd name="connsiteY8-502" fmla="*/ 1160932 h 1424419"/>
              <a:gd name="connsiteX9-503" fmla="*/ 1172881 w 1305333"/>
              <a:gd name="connsiteY9-504" fmla="*/ 1179342 h 1424419"/>
              <a:gd name="connsiteX10-505" fmla="*/ 792288 w 1305333"/>
              <a:gd name="connsiteY10-506" fmla="*/ 1385653 h 1424419"/>
              <a:gd name="connsiteX11-507" fmla="*/ 522686 w 1305333"/>
              <a:gd name="connsiteY11-508" fmla="*/ 1384922 h 1424419"/>
              <a:gd name="connsiteX12-509" fmla="*/ 80344 w 1305333"/>
              <a:gd name="connsiteY12-510" fmla="*/ 1139323 h 1424419"/>
              <a:gd name="connsiteX13-511" fmla="*/ 68397 w 1305333"/>
              <a:gd name="connsiteY13-512" fmla="*/ 1130059 h 1424419"/>
              <a:gd name="connsiteX14-513" fmla="*/ 667 w 1305333"/>
              <a:gd name="connsiteY14-514" fmla="*/ 999105 h 1424419"/>
              <a:gd name="connsiteX15-515" fmla="*/ 0 w 1305333"/>
              <a:gd name="connsiteY15-516" fmla="*/ 972364 h 1424419"/>
              <a:gd name="connsiteX16-517" fmla="*/ 2496 w 1305333"/>
              <a:gd name="connsiteY16-518" fmla="*/ 463106 h 1424419"/>
              <a:gd name="connsiteX17-519" fmla="*/ 2458 w 1305333"/>
              <a:gd name="connsiteY17-520" fmla="*/ 429563 h 1424419"/>
              <a:gd name="connsiteX18-521" fmla="*/ 75248 w 1305333"/>
              <a:gd name="connsiteY18-522" fmla="*/ 303202 h 1424419"/>
              <a:gd name="connsiteX19-523" fmla="*/ 106293 w 1305333"/>
              <a:gd name="connsiteY19-524" fmla="*/ 282597 h 1424419"/>
              <a:gd name="connsiteX20-525" fmla="*/ 541533 w 1305333"/>
              <a:gd name="connsiteY20-526" fmla="*/ 38110 h 1424419"/>
              <a:gd name="connsiteX21-527" fmla="*/ 653528 w 1305333"/>
              <a:gd name="connsiteY21-528" fmla="*/ 0 h 1424419"/>
              <a:gd name="connsiteX0-529" fmla="*/ 653528 w 1313169"/>
              <a:gd name="connsiteY0-530" fmla="*/ 0 h 1424419"/>
              <a:gd name="connsiteX1-531" fmla="*/ 757287 w 1313169"/>
              <a:gd name="connsiteY1-532" fmla="*/ 32444 h 1424419"/>
              <a:gd name="connsiteX2-533" fmla="*/ 1206876 w 1313169"/>
              <a:gd name="connsiteY2-534" fmla="*/ 284945 h 1424419"/>
              <a:gd name="connsiteX3-535" fmla="*/ 1237706 w 1313169"/>
              <a:gd name="connsiteY3-536" fmla="*/ 306775 h 1424419"/>
              <a:gd name="connsiteX4-537" fmla="*/ 1301712 w 1313169"/>
              <a:gd name="connsiteY4-538" fmla="*/ 442384 h 1424419"/>
              <a:gd name="connsiteX5-539" fmla="*/ 1303099 w 1313169"/>
              <a:gd name="connsiteY5-540" fmla="*/ 495558 h 1424419"/>
              <a:gd name="connsiteX6-541" fmla="*/ 1303099 w 1313169"/>
              <a:gd name="connsiteY6-542" fmla="*/ 952393 h 1424419"/>
              <a:gd name="connsiteX7-543" fmla="*/ 1305306 w 1313169"/>
              <a:gd name="connsiteY7-544" fmla="*/ 990115 h 1424419"/>
              <a:gd name="connsiteX8-545" fmla="*/ 1271352 w 1313169"/>
              <a:gd name="connsiteY8-546" fmla="*/ 1142552 h 1424419"/>
              <a:gd name="connsiteX9-547" fmla="*/ 1172881 w 1313169"/>
              <a:gd name="connsiteY9-548" fmla="*/ 1179342 h 1424419"/>
              <a:gd name="connsiteX10-549" fmla="*/ 792288 w 1313169"/>
              <a:gd name="connsiteY10-550" fmla="*/ 1385653 h 1424419"/>
              <a:gd name="connsiteX11-551" fmla="*/ 522686 w 1313169"/>
              <a:gd name="connsiteY11-552" fmla="*/ 1384922 h 1424419"/>
              <a:gd name="connsiteX12-553" fmla="*/ 80344 w 1313169"/>
              <a:gd name="connsiteY12-554" fmla="*/ 1139323 h 1424419"/>
              <a:gd name="connsiteX13-555" fmla="*/ 68397 w 1313169"/>
              <a:gd name="connsiteY13-556" fmla="*/ 1130059 h 1424419"/>
              <a:gd name="connsiteX14-557" fmla="*/ 667 w 1313169"/>
              <a:gd name="connsiteY14-558" fmla="*/ 999105 h 1424419"/>
              <a:gd name="connsiteX15-559" fmla="*/ 0 w 1313169"/>
              <a:gd name="connsiteY15-560" fmla="*/ 972364 h 1424419"/>
              <a:gd name="connsiteX16-561" fmla="*/ 2496 w 1313169"/>
              <a:gd name="connsiteY16-562" fmla="*/ 463106 h 1424419"/>
              <a:gd name="connsiteX17-563" fmla="*/ 2458 w 1313169"/>
              <a:gd name="connsiteY17-564" fmla="*/ 429563 h 1424419"/>
              <a:gd name="connsiteX18-565" fmla="*/ 75248 w 1313169"/>
              <a:gd name="connsiteY18-566" fmla="*/ 303202 h 1424419"/>
              <a:gd name="connsiteX19-567" fmla="*/ 106293 w 1313169"/>
              <a:gd name="connsiteY19-568" fmla="*/ 282597 h 1424419"/>
              <a:gd name="connsiteX20-569" fmla="*/ 541533 w 1313169"/>
              <a:gd name="connsiteY20-570" fmla="*/ 38110 h 1424419"/>
              <a:gd name="connsiteX21-571" fmla="*/ 653528 w 1313169"/>
              <a:gd name="connsiteY21-572" fmla="*/ 0 h 1424419"/>
              <a:gd name="connsiteX0-573" fmla="*/ 653528 w 1306267"/>
              <a:gd name="connsiteY0-574" fmla="*/ 0 h 1424419"/>
              <a:gd name="connsiteX1-575" fmla="*/ 757287 w 1306267"/>
              <a:gd name="connsiteY1-576" fmla="*/ 32444 h 1424419"/>
              <a:gd name="connsiteX2-577" fmla="*/ 1206876 w 1306267"/>
              <a:gd name="connsiteY2-578" fmla="*/ 284945 h 1424419"/>
              <a:gd name="connsiteX3-579" fmla="*/ 1237706 w 1306267"/>
              <a:gd name="connsiteY3-580" fmla="*/ 306775 h 1424419"/>
              <a:gd name="connsiteX4-581" fmla="*/ 1301712 w 1306267"/>
              <a:gd name="connsiteY4-582" fmla="*/ 442384 h 1424419"/>
              <a:gd name="connsiteX5-583" fmla="*/ 1303099 w 1306267"/>
              <a:gd name="connsiteY5-584" fmla="*/ 495558 h 1424419"/>
              <a:gd name="connsiteX6-585" fmla="*/ 1303099 w 1306267"/>
              <a:gd name="connsiteY6-586" fmla="*/ 952393 h 1424419"/>
              <a:gd name="connsiteX7-587" fmla="*/ 1305306 w 1306267"/>
              <a:gd name="connsiteY7-588" fmla="*/ 990115 h 1424419"/>
              <a:gd name="connsiteX8-589" fmla="*/ 1255800 w 1306267"/>
              <a:gd name="connsiteY8-590" fmla="*/ 1142552 h 1424419"/>
              <a:gd name="connsiteX9-591" fmla="*/ 1172881 w 1306267"/>
              <a:gd name="connsiteY9-592" fmla="*/ 1179342 h 1424419"/>
              <a:gd name="connsiteX10-593" fmla="*/ 792288 w 1306267"/>
              <a:gd name="connsiteY10-594" fmla="*/ 1385653 h 1424419"/>
              <a:gd name="connsiteX11-595" fmla="*/ 522686 w 1306267"/>
              <a:gd name="connsiteY11-596" fmla="*/ 1384922 h 1424419"/>
              <a:gd name="connsiteX12-597" fmla="*/ 80344 w 1306267"/>
              <a:gd name="connsiteY12-598" fmla="*/ 1139323 h 1424419"/>
              <a:gd name="connsiteX13-599" fmla="*/ 68397 w 1306267"/>
              <a:gd name="connsiteY13-600" fmla="*/ 1130059 h 1424419"/>
              <a:gd name="connsiteX14-601" fmla="*/ 667 w 1306267"/>
              <a:gd name="connsiteY14-602" fmla="*/ 999105 h 1424419"/>
              <a:gd name="connsiteX15-603" fmla="*/ 0 w 1306267"/>
              <a:gd name="connsiteY15-604" fmla="*/ 972364 h 1424419"/>
              <a:gd name="connsiteX16-605" fmla="*/ 2496 w 1306267"/>
              <a:gd name="connsiteY16-606" fmla="*/ 463106 h 1424419"/>
              <a:gd name="connsiteX17-607" fmla="*/ 2458 w 1306267"/>
              <a:gd name="connsiteY17-608" fmla="*/ 429563 h 1424419"/>
              <a:gd name="connsiteX18-609" fmla="*/ 75248 w 1306267"/>
              <a:gd name="connsiteY18-610" fmla="*/ 303202 h 1424419"/>
              <a:gd name="connsiteX19-611" fmla="*/ 106293 w 1306267"/>
              <a:gd name="connsiteY19-612" fmla="*/ 282597 h 1424419"/>
              <a:gd name="connsiteX20-613" fmla="*/ 541533 w 1306267"/>
              <a:gd name="connsiteY20-614" fmla="*/ 38110 h 1424419"/>
              <a:gd name="connsiteX21-615" fmla="*/ 653528 w 1306267"/>
              <a:gd name="connsiteY21-616" fmla="*/ 0 h 1424419"/>
              <a:gd name="connsiteX0-617" fmla="*/ 653528 w 1306267"/>
              <a:gd name="connsiteY0-618" fmla="*/ 0 h 1424419"/>
              <a:gd name="connsiteX1-619" fmla="*/ 757287 w 1306267"/>
              <a:gd name="connsiteY1-620" fmla="*/ 32444 h 1424419"/>
              <a:gd name="connsiteX2-621" fmla="*/ 1206876 w 1306267"/>
              <a:gd name="connsiteY2-622" fmla="*/ 284945 h 1424419"/>
              <a:gd name="connsiteX3-623" fmla="*/ 1237706 w 1306267"/>
              <a:gd name="connsiteY3-624" fmla="*/ 306775 h 1424419"/>
              <a:gd name="connsiteX4-625" fmla="*/ 1301712 w 1306267"/>
              <a:gd name="connsiteY4-626" fmla="*/ 442384 h 1424419"/>
              <a:gd name="connsiteX5-627" fmla="*/ 1303099 w 1306267"/>
              <a:gd name="connsiteY5-628" fmla="*/ 495558 h 1424419"/>
              <a:gd name="connsiteX6-629" fmla="*/ 1303099 w 1306267"/>
              <a:gd name="connsiteY6-630" fmla="*/ 952393 h 1424419"/>
              <a:gd name="connsiteX7-631" fmla="*/ 1305306 w 1306267"/>
              <a:gd name="connsiteY7-632" fmla="*/ 990115 h 1424419"/>
              <a:gd name="connsiteX8-633" fmla="*/ 1255800 w 1306267"/>
              <a:gd name="connsiteY8-634" fmla="*/ 1142552 h 1424419"/>
              <a:gd name="connsiteX9-635" fmla="*/ 1172881 w 1306267"/>
              <a:gd name="connsiteY9-636" fmla="*/ 1179342 h 1424419"/>
              <a:gd name="connsiteX10-637" fmla="*/ 792288 w 1306267"/>
              <a:gd name="connsiteY10-638" fmla="*/ 1385653 h 1424419"/>
              <a:gd name="connsiteX11-639" fmla="*/ 522686 w 1306267"/>
              <a:gd name="connsiteY11-640" fmla="*/ 1384922 h 1424419"/>
              <a:gd name="connsiteX12-641" fmla="*/ 80344 w 1306267"/>
              <a:gd name="connsiteY12-642" fmla="*/ 1139323 h 1424419"/>
              <a:gd name="connsiteX13-643" fmla="*/ 61328 w 1306267"/>
              <a:gd name="connsiteY13-644" fmla="*/ 1127231 h 1424419"/>
              <a:gd name="connsiteX14-645" fmla="*/ 667 w 1306267"/>
              <a:gd name="connsiteY14-646" fmla="*/ 999105 h 1424419"/>
              <a:gd name="connsiteX15-647" fmla="*/ 0 w 1306267"/>
              <a:gd name="connsiteY15-648" fmla="*/ 972364 h 1424419"/>
              <a:gd name="connsiteX16-649" fmla="*/ 2496 w 1306267"/>
              <a:gd name="connsiteY16-650" fmla="*/ 463106 h 1424419"/>
              <a:gd name="connsiteX17-651" fmla="*/ 2458 w 1306267"/>
              <a:gd name="connsiteY17-652" fmla="*/ 429563 h 1424419"/>
              <a:gd name="connsiteX18-653" fmla="*/ 75248 w 1306267"/>
              <a:gd name="connsiteY18-654" fmla="*/ 303202 h 1424419"/>
              <a:gd name="connsiteX19-655" fmla="*/ 106293 w 1306267"/>
              <a:gd name="connsiteY19-656" fmla="*/ 282597 h 1424419"/>
              <a:gd name="connsiteX20-657" fmla="*/ 541533 w 1306267"/>
              <a:gd name="connsiteY20-658" fmla="*/ 38110 h 1424419"/>
              <a:gd name="connsiteX21-659" fmla="*/ 653528 w 1306267"/>
              <a:gd name="connsiteY21-660" fmla="*/ 0 h 1424419"/>
              <a:gd name="connsiteX0-661" fmla="*/ 653528 w 1306267"/>
              <a:gd name="connsiteY0-662" fmla="*/ 0 h 1424419"/>
              <a:gd name="connsiteX1-663" fmla="*/ 757287 w 1306267"/>
              <a:gd name="connsiteY1-664" fmla="*/ 32444 h 1424419"/>
              <a:gd name="connsiteX2-665" fmla="*/ 1206876 w 1306267"/>
              <a:gd name="connsiteY2-666" fmla="*/ 284945 h 1424419"/>
              <a:gd name="connsiteX3-667" fmla="*/ 1237706 w 1306267"/>
              <a:gd name="connsiteY3-668" fmla="*/ 306775 h 1424419"/>
              <a:gd name="connsiteX4-669" fmla="*/ 1301712 w 1306267"/>
              <a:gd name="connsiteY4-670" fmla="*/ 442384 h 1424419"/>
              <a:gd name="connsiteX5-671" fmla="*/ 1303099 w 1306267"/>
              <a:gd name="connsiteY5-672" fmla="*/ 495558 h 1424419"/>
              <a:gd name="connsiteX6-673" fmla="*/ 1303099 w 1306267"/>
              <a:gd name="connsiteY6-674" fmla="*/ 952393 h 1424419"/>
              <a:gd name="connsiteX7-675" fmla="*/ 1305306 w 1306267"/>
              <a:gd name="connsiteY7-676" fmla="*/ 990115 h 1424419"/>
              <a:gd name="connsiteX8-677" fmla="*/ 1255800 w 1306267"/>
              <a:gd name="connsiteY8-678" fmla="*/ 1142552 h 1424419"/>
              <a:gd name="connsiteX9-679" fmla="*/ 1172881 w 1306267"/>
              <a:gd name="connsiteY9-680" fmla="*/ 1179342 h 1424419"/>
              <a:gd name="connsiteX10-681" fmla="*/ 792288 w 1306267"/>
              <a:gd name="connsiteY10-682" fmla="*/ 1385653 h 1424419"/>
              <a:gd name="connsiteX11-683" fmla="*/ 522686 w 1306267"/>
              <a:gd name="connsiteY11-684" fmla="*/ 1384922 h 1424419"/>
              <a:gd name="connsiteX12-685" fmla="*/ 80344 w 1306267"/>
              <a:gd name="connsiteY12-686" fmla="*/ 1139323 h 1424419"/>
              <a:gd name="connsiteX13-687" fmla="*/ 61328 w 1306267"/>
              <a:gd name="connsiteY13-688" fmla="*/ 1127231 h 1424419"/>
              <a:gd name="connsiteX14-689" fmla="*/ 667 w 1306267"/>
              <a:gd name="connsiteY14-690" fmla="*/ 999105 h 1424419"/>
              <a:gd name="connsiteX15-691" fmla="*/ 0 w 1306267"/>
              <a:gd name="connsiteY15-692" fmla="*/ 972364 h 1424419"/>
              <a:gd name="connsiteX16-693" fmla="*/ 2496 w 1306267"/>
              <a:gd name="connsiteY16-694" fmla="*/ 463106 h 1424419"/>
              <a:gd name="connsiteX17-695" fmla="*/ 2458 w 1306267"/>
              <a:gd name="connsiteY17-696" fmla="*/ 429563 h 1424419"/>
              <a:gd name="connsiteX18-697" fmla="*/ 75248 w 1306267"/>
              <a:gd name="connsiteY18-698" fmla="*/ 303202 h 1424419"/>
              <a:gd name="connsiteX19-699" fmla="*/ 106293 w 1306267"/>
              <a:gd name="connsiteY19-700" fmla="*/ 282597 h 1424419"/>
              <a:gd name="connsiteX20-701" fmla="*/ 541533 w 1306267"/>
              <a:gd name="connsiteY20-702" fmla="*/ 38110 h 1424419"/>
              <a:gd name="connsiteX21-703" fmla="*/ 653528 w 1306267"/>
              <a:gd name="connsiteY21-704" fmla="*/ 0 h 1424419"/>
              <a:gd name="connsiteX0-705" fmla="*/ 653528 w 1306267"/>
              <a:gd name="connsiteY0-706" fmla="*/ 0 h 1424419"/>
              <a:gd name="connsiteX1-707" fmla="*/ 757287 w 1306267"/>
              <a:gd name="connsiteY1-708" fmla="*/ 32444 h 1424419"/>
              <a:gd name="connsiteX2-709" fmla="*/ 1206876 w 1306267"/>
              <a:gd name="connsiteY2-710" fmla="*/ 284945 h 1424419"/>
              <a:gd name="connsiteX3-711" fmla="*/ 1237706 w 1306267"/>
              <a:gd name="connsiteY3-712" fmla="*/ 306775 h 1424419"/>
              <a:gd name="connsiteX4-713" fmla="*/ 1301712 w 1306267"/>
              <a:gd name="connsiteY4-714" fmla="*/ 442384 h 1424419"/>
              <a:gd name="connsiteX5-715" fmla="*/ 1303099 w 1306267"/>
              <a:gd name="connsiteY5-716" fmla="*/ 495558 h 1424419"/>
              <a:gd name="connsiteX6-717" fmla="*/ 1303099 w 1306267"/>
              <a:gd name="connsiteY6-718" fmla="*/ 952393 h 1424419"/>
              <a:gd name="connsiteX7-719" fmla="*/ 1305306 w 1306267"/>
              <a:gd name="connsiteY7-720" fmla="*/ 990115 h 1424419"/>
              <a:gd name="connsiteX8-721" fmla="*/ 1255800 w 1306267"/>
              <a:gd name="connsiteY8-722" fmla="*/ 1142552 h 1424419"/>
              <a:gd name="connsiteX9-723" fmla="*/ 1172881 w 1306267"/>
              <a:gd name="connsiteY9-724" fmla="*/ 1179342 h 1424419"/>
              <a:gd name="connsiteX10-725" fmla="*/ 792288 w 1306267"/>
              <a:gd name="connsiteY10-726" fmla="*/ 1385653 h 1424419"/>
              <a:gd name="connsiteX11-727" fmla="*/ 522686 w 1306267"/>
              <a:gd name="connsiteY11-728" fmla="*/ 1384922 h 1424419"/>
              <a:gd name="connsiteX12-729" fmla="*/ 90241 w 1306267"/>
              <a:gd name="connsiteY12-730" fmla="*/ 1150634 h 1424419"/>
              <a:gd name="connsiteX13-731" fmla="*/ 61328 w 1306267"/>
              <a:gd name="connsiteY13-732" fmla="*/ 1127231 h 1424419"/>
              <a:gd name="connsiteX14-733" fmla="*/ 667 w 1306267"/>
              <a:gd name="connsiteY14-734" fmla="*/ 999105 h 1424419"/>
              <a:gd name="connsiteX15-735" fmla="*/ 0 w 1306267"/>
              <a:gd name="connsiteY15-736" fmla="*/ 972364 h 1424419"/>
              <a:gd name="connsiteX16-737" fmla="*/ 2496 w 1306267"/>
              <a:gd name="connsiteY16-738" fmla="*/ 463106 h 1424419"/>
              <a:gd name="connsiteX17-739" fmla="*/ 2458 w 1306267"/>
              <a:gd name="connsiteY17-740" fmla="*/ 429563 h 1424419"/>
              <a:gd name="connsiteX18-741" fmla="*/ 75248 w 1306267"/>
              <a:gd name="connsiteY18-742" fmla="*/ 303202 h 1424419"/>
              <a:gd name="connsiteX19-743" fmla="*/ 106293 w 1306267"/>
              <a:gd name="connsiteY19-744" fmla="*/ 282597 h 1424419"/>
              <a:gd name="connsiteX20-745" fmla="*/ 541533 w 1306267"/>
              <a:gd name="connsiteY20-746" fmla="*/ 38110 h 1424419"/>
              <a:gd name="connsiteX21-747" fmla="*/ 653528 w 1306267"/>
              <a:gd name="connsiteY21-748" fmla="*/ 0 h 1424419"/>
              <a:gd name="connsiteX0-749" fmla="*/ 653528 w 1306267"/>
              <a:gd name="connsiteY0-750" fmla="*/ 0 h 1424419"/>
              <a:gd name="connsiteX1-751" fmla="*/ 757287 w 1306267"/>
              <a:gd name="connsiteY1-752" fmla="*/ 32444 h 1424419"/>
              <a:gd name="connsiteX2-753" fmla="*/ 1206876 w 1306267"/>
              <a:gd name="connsiteY2-754" fmla="*/ 284945 h 1424419"/>
              <a:gd name="connsiteX3-755" fmla="*/ 1237706 w 1306267"/>
              <a:gd name="connsiteY3-756" fmla="*/ 306775 h 1424419"/>
              <a:gd name="connsiteX4-757" fmla="*/ 1301712 w 1306267"/>
              <a:gd name="connsiteY4-758" fmla="*/ 442384 h 1424419"/>
              <a:gd name="connsiteX5-759" fmla="*/ 1303099 w 1306267"/>
              <a:gd name="connsiteY5-760" fmla="*/ 495558 h 1424419"/>
              <a:gd name="connsiteX6-761" fmla="*/ 1303099 w 1306267"/>
              <a:gd name="connsiteY6-762" fmla="*/ 952393 h 1424419"/>
              <a:gd name="connsiteX7-763" fmla="*/ 1305306 w 1306267"/>
              <a:gd name="connsiteY7-764" fmla="*/ 990115 h 1424419"/>
              <a:gd name="connsiteX8-765" fmla="*/ 1255800 w 1306267"/>
              <a:gd name="connsiteY8-766" fmla="*/ 1142552 h 1424419"/>
              <a:gd name="connsiteX9-767" fmla="*/ 1172881 w 1306267"/>
              <a:gd name="connsiteY9-768" fmla="*/ 1179342 h 1424419"/>
              <a:gd name="connsiteX10-769" fmla="*/ 792288 w 1306267"/>
              <a:gd name="connsiteY10-770" fmla="*/ 1385653 h 1424419"/>
              <a:gd name="connsiteX11-771" fmla="*/ 522686 w 1306267"/>
              <a:gd name="connsiteY11-772" fmla="*/ 1384922 h 1424419"/>
              <a:gd name="connsiteX12-773" fmla="*/ 90241 w 1306267"/>
              <a:gd name="connsiteY12-774" fmla="*/ 1150634 h 1424419"/>
              <a:gd name="connsiteX13-775" fmla="*/ 61328 w 1306267"/>
              <a:gd name="connsiteY13-776" fmla="*/ 1127231 h 1424419"/>
              <a:gd name="connsiteX14-777" fmla="*/ 667 w 1306267"/>
              <a:gd name="connsiteY14-778" fmla="*/ 999105 h 1424419"/>
              <a:gd name="connsiteX15-779" fmla="*/ 0 w 1306267"/>
              <a:gd name="connsiteY15-780" fmla="*/ 972364 h 1424419"/>
              <a:gd name="connsiteX16-781" fmla="*/ 2496 w 1306267"/>
              <a:gd name="connsiteY16-782" fmla="*/ 463106 h 1424419"/>
              <a:gd name="connsiteX17-783" fmla="*/ 2458 w 1306267"/>
              <a:gd name="connsiteY17-784" fmla="*/ 429563 h 1424419"/>
              <a:gd name="connsiteX18-785" fmla="*/ 75248 w 1306267"/>
              <a:gd name="connsiteY18-786" fmla="*/ 303202 h 1424419"/>
              <a:gd name="connsiteX19-787" fmla="*/ 106293 w 1306267"/>
              <a:gd name="connsiteY19-788" fmla="*/ 282597 h 1424419"/>
              <a:gd name="connsiteX20-789" fmla="*/ 541533 w 1306267"/>
              <a:gd name="connsiteY20-790" fmla="*/ 38110 h 1424419"/>
              <a:gd name="connsiteX21-791" fmla="*/ 653528 w 1306267"/>
              <a:gd name="connsiteY21-792" fmla="*/ 0 h 1424419"/>
              <a:gd name="connsiteX0-793" fmla="*/ 653528 w 1306267"/>
              <a:gd name="connsiteY0-794" fmla="*/ 0 h 1424419"/>
              <a:gd name="connsiteX1-795" fmla="*/ 757287 w 1306267"/>
              <a:gd name="connsiteY1-796" fmla="*/ 32444 h 1424419"/>
              <a:gd name="connsiteX2-797" fmla="*/ 1206876 w 1306267"/>
              <a:gd name="connsiteY2-798" fmla="*/ 284945 h 1424419"/>
              <a:gd name="connsiteX3-799" fmla="*/ 1237706 w 1306267"/>
              <a:gd name="connsiteY3-800" fmla="*/ 306775 h 1424419"/>
              <a:gd name="connsiteX4-801" fmla="*/ 1301712 w 1306267"/>
              <a:gd name="connsiteY4-802" fmla="*/ 442384 h 1424419"/>
              <a:gd name="connsiteX5-803" fmla="*/ 1303099 w 1306267"/>
              <a:gd name="connsiteY5-804" fmla="*/ 495558 h 1424419"/>
              <a:gd name="connsiteX6-805" fmla="*/ 1303099 w 1306267"/>
              <a:gd name="connsiteY6-806" fmla="*/ 952393 h 1424419"/>
              <a:gd name="connsiteX7-807" fmla="*/ 1305306 w 1306267"/>
              <a:gd name="connsiteY7-808" fmla="*/ 990115 h 1424419"/>
              <a:gd name="connsiteX8-809" fmla="*/ 1255800 w 1306267"/>
              <a:gd name="connsiteY8-810" fmla="*/ 1142552 h 1424419"/>
              <a:gd name="connsiteX9-811" fmla="*/ 1172881 w 1306267"/>
              <a:gd name="connsiteY9-812" fmla="*/ 1179342 h 1424419"/>
              <a:gd name="connsiteX10-813" fmla="*/ 792288 w 1306267"/>
              <a:gd name="connsiteY10-814" fmla="*/ 1385653 h 1424419"/>
              <a:gd name="connsiteX11-815" fmla="*/ 522686 w 1306267"/>
              <a:gd name="connsiteY11-816" fmla="*/ 1384922 h 1424419"/>
              <a:gd name="connsiteX12-817" fmla="*/ 90241 w 1306267"/>
              <a:gd name="connsiteY12-818" fmla="*/ 1150634 h 1424419"/>
              <a:gd name="connsiteX13-819" fmla="*/ 61328 w 1306267"/>
              <a:gd name="connsiteY13-820" fmla="*/ 1127231 h 1424419"/>
              <a:gd name="connsiteX14-821" fmla="*/ 667 w 1306267"/>
              <a:gd name="connsiteY14-822" fmla="*/ 999105 h 1424419"/>
              <a:gd name="connsiteX15-823" fmla="*/ 0 w 1306267"/>
              <a:gd name="connsiteY15-824" fmla="*/ 972364 h 1424419"/>
              <a:gd name="connsiteX16-825" fmla="*/ 2496 w 1306267"/>
              <a:gd name="connsiteY16-826" fmla="*/ 463106 h 1424419"/>
              <a:gd name="connsiteX17-827" fmla="*/ 2458 w 1306267"/>
              <a:gd name="connsiteY17-828" fmla="*/ 429563 h 1424419"/>
              <a:gd name="connsiteX18-829" fmla="*/ 75248 w 1306267"/>
              <a:gd name="connsiteY18-830" fmla="*/ 303202 h 1424419"/>
              <a:gd name="connsiteX19-831" fmla="*/ 106293 w 1306267"/>
              <a:gd name="connsiteY19-832" fmla="*/ 282597 h 1424419"/>
              <a:gd name="connsiteX20-833" fmla="*/ 541533 w 1306267"/>
              <a:gd name="connsiteY20-834" fmla="*/ 38110 h 1424419"/>
              <a:gd name="connsiteX21-835" fmla="*/ 653528 w 1306267"/>
              <a:gd name="connsiteY21-836" fmla="*/ 0 h 1424419"/>
              <a:gd name="connsiteX0-837" fmla="*/ 653528 w 1306267"/>
              <a:gd name="connsiteY0-838" fmla="*/ 0 h 1424419"/>
              <a:gd name="connsiteX1-839" fmla="*/ 757287 w 1306267"/>
              <a:gd name="connsiteY1-840" fmla="*/ 32444 h 1424419"/>
              <a:gd name="connsiteX2-841" fmla="*/ 1206876 w 1306267"/>
              <a:gd name="connsiteY2-842" fmla="*/ 284945 h 1424419"/>
              <a:gd name="connsiteX3-843" fmla="*/ 1237706 w 1306267"/>
              <a:gd name="connsiteY3-844" fmla="*/ 306775 h 1424419"/>
              <a:gd name="connsiteX4-845" fmla="*/ 1301712 w 1306267"/>
              <a:gd name="connsiteY4-846" fmla="*/ 442384 h 1424419"/>
              <a:gd name="connsiteX5-847" fmla="*/ 1303099 w 1306267"/>
              <a:gd name="connsiteY5-848" fmla="*/ 495558 h 1424419"/>
              <a:gd name="connsiteX6-849" fmla="*/ 1303099 w 1306267"/>
              <a:gd name="connsiteY6-850" fmla="*/ 952393 h 1424419"/>
              <a:gd name="connsiteX7-851" fmla="*/ 1305306 w 1306267"/>
              <a:gd name="connsiteY7-852" fmla="*/ 990115 h 1424419"/>
              <a:gd name="connsiteX8-853" fmla="*/ 1255800 w 1306267"/>
              <a:gd name="connsiteY8-854" fmla="*/ 1142552 h 1424419"/>
              <a:gd name="connsiteX9-855" fmla="*/ 1172881 w 1306267"/>
              <a:gd name="connsiteY9-856" fmla="*/ 1179342 h 1424419"/>
              <a:gd name="connsiteX10-857" fmla="*/ 792288 w 1306267"/>
              <a:gd name="connsiteY10-858" fmla="*/ 1385653 h 1424419"/>
              <a:gd name="connsiteX11-859" fmla="*/ 522686 w 1306267"/>
              <a:gd name="connsiteY11-860" fmla="*/ 1384922 h 1424419"/>
              <a:gd name="connsiteX12-861" fmla="*/ 90241 w 1306267"/>
              <a:gd name="connsiteY12-862" fmla="*/ 1150634 h 1424419"/>
              <a:gd name="connsiteX13-863" fmla="*/ 61328 w 1306267"/>
              <a:gd name="connsiteY13-864" fmla="*/ 1127231 h 1424419"/>
              <a:gd name="connsiteX14-865" fmla="*/ 667 w 1306267"/>
              <a:gd name="connsiteY14-866" fmla="*/ 999105 h 1424419"/>
              <a:gd name="connsiteX15-867" fmla="*/ 0 w 1306267"/>
              <a:gd name="connsiteY15-868" fmla="*/ 972364 h 1424419"/>
              <a:gd name="connsiteX16-869" fmla="*/ 2496 w 1306267"/>
              <a:gd name="connsiteY16-870" fmla="*/ 463106 h 1424419"/>
              <a:gd name="connsiteX17-871" fmla="*/ 2458 w 1306267"/>
              <a:gd name="connsiteY17-872" fmla="*/ 429563 h 1424419"/>
              <a:gd name="connsiteX18-873" fmla="*/ 75248 w 1306267"/>
              <a:gd name="connsiteY18-874" fmla="*/ 303202 h 1424419"/>
              <a:gd name="connsiteX19-875" fmla="*/ 106293 w 1306267"/>
              <a:gd name="connsiteY19-876" fmla="*/ 282597 h 1424419"/>
              <a:gd name="connsiteX20-877" fmla="*/ 541533 w 1306267"/>
              <a:gd name="connsiteY20-878" fmla="*/ 38110 h 1424419"/>
              <a:gd name="connsiteX21-879" fmla="*/ 653528 w 1306267"/>
              <a:gd name="connsiteY21-880" fmla="*/ 0 h 1424419"/>
              <a:gd name="connsiteX0-881" fmla="*/ 653528 w 1306267"/>
              <a:gd name="connsiteY0-882" fmla="*/ 0 h 1424419"/>
              <a:gd name="connsiteX1-883" fmla="*/ 757287 w 1306267"/>
              <a:gd name="connsiteY1-884" fmla="*/ 32444 h 1424419"/>
              <a:gd name="connsiteX2-885" fmla="*/ 1206876 w 1306267"/>
              <a:gd name="connsiteY2-886" fmla="*/ 284945 h 1424419"/>
              <a:gd name="connsiteX3-887" fmla="*/ 1237706 w 1306267"/>
              <a:gd name="connsiteY3-888" fmla="*/ 306775 h 1424419"/>
              <a:gd name="connsiteX4-889" fmla="*/ 1301712 w 1306267"/>
              <a:gd name="connsiteY4-890" fmla="*/ 442384 h 1424419"/>
              <a:gd name="connsiteX5-891" fmla="*/ 1303099 w 1306267"/>
              <a:gd name="connsiteY5-892" fmla="*/ 495558 h 1424419"/>
              <a:gd name="connsiteX6-893" fmla="*/ 1303099 w 1306267"/>
              <a:gd name="connsiteY6-894" fmla="*/ 952393 h 1424419"/>
              <a:gd name="connsiteX7-895" fmla="*/ 1305306 w 1306267"/>
              <a:gd name="connsiteY7-896" fmla="*/ 990115 h 1424419"/>
              <a:gd name="connsiteX8-897" fmla="*/ 1255800 w 1306267"/>
              <a:gd name="connsiteY8-898" fmla="*/ 1142552 h 1424419"/>
              <a:gd name="connsiteX9-899" fmla="*/ 1172881 w 1306267"/>
              <a:gd name="connsiteY9-900" fmla="*/ 1179342 h 1424419"/>
              <a:gd name="connsiteX10-901" fmla="*/ 792288 w 1306267"/>
              <a:gd name="connsiteY10-902" fmla="*/ 1385653 h 1424419"/>
              <a:gd name="connsiteX11-903" fmla="*/ 522686 w 1306267"/>
              <a:gd name="connsiteY11-904" fmla="*/ 1384922 h 1424419"/>
              <a:gd name="connsiteX12-905" fmla="*/ 90241 w 1306267"/>
              <a:gd name="connsiteY12-906" fmla="*/ 1150634 h 1424419"/>
              <a:gd name="connsiteX13-907" fmla="*/ 55672 w 1306267"/>
              <a:gd name="connsiteY13-908" fmla="*/ 1124403 h 1424419"/>
              <a:gd name="connsiteX14-909" fmla="*/ 667 w 1306267"/>
              <a:gd name="connsiteY14-910" fmla="*/ 999105 h 1424419"/>
              <a:gd name="connsiteX15-911" fmla="*/ 0 w 1306267"/>
              <a:gd name="connsiteY15-912" fmla="*/ 972364 h 1424419"/>
              <a:gd name="connsiteX16-913" fmla="*/ 2496 w 1306267"/>
              <a:gd name="connsiteY16-914" fmla="*/ 463106 h 1424419"/>
              <a:gd name="connsiteX17-915" fmla="*/ 2458 w 1306267"/>
              <a:gd name="connsiteY17-916" fmla="*/ 429563 h 1424419"/>
              <a:gd name="connsiteX18-917" fmla="*/ 75248 w 1306267"/>
              <a:gd name="connsiteY18-918" fmla="*/ 303202 h 1424419"/>
              <a:gd name="connsiteX19-919" fmla="*/ 106293 w 1306267"/>
              <a:gd name="connsiteY19-920" fmla="*/ 282597 h 1424419"/>
              <a:gd name="connsiteX20-921" fmla="*/ 541533 w 1306267"/>
              <a:gd name="connsiteY20-922" fmla="*/ 38110 h 1424419"/>
              <a:gd name="connsiteX21-923" fmla="*/ 653528 w 1306267"/>
              <a:gd name="connsiteY21-924" fmla="*/ 0 h 1424419"/>
              <a:gd name="connsiteX0-925" fmla="*/ 653528 w 1306267"/>
              <a:gd name="connsiteY0-926" fmla="*/ 0 h 1424419"/>
              <a:gd name="connsiteX1-927" fmla="*/ 757287 w 1306267"/>
              <a:gd name="connsiteY1-928" fmla="*/ 32444 h 1424419"/>
              <a:gd name="connsiteX2-929" fmla="*/ 1206876 w 1306267"/>
              <a:gd name="connsiteY2-930" fmla="*/ 284945 h 1424419"/>
              <a:gd name="connsiteX3-931" fmla="*/ 1237706 w 1306267"/>
              <a:gd name="connsiteY3-932" fmla="*/ 306775 h 1424419"/>
              <a:gd name="connsiteX4-933" fmla="*/ 1301712 w 1306267"/>
              <a:gd name="connsiteY4-934" fmla="*/ 442384 h 1424419"/>
              <a:gd name="connsiteX5-935" fmla="*/ 1303099 w 1306267"/>
              <a:gd name="connsiteY5-936" fmla="*/ 495558 h 1424419"/>
              <a:gd name="connsiteX6-937" fmla="*/ 1303099 w 1306267"/>
              <a:gd name="connsiteY6-938" fmla="*/ 952393 h 1424419"/>
              <a:gd name="connsiteX7-939" fmla="*/ 1305306 w 1306267"/>
              <a:gd name="connsiteY7-940" fmla="*/ 990115 h 1424419"/>
              <a:gd name="connsiteX8-941" fmla="*/ 1255800 w 1306267"/>
              <a:gd name="connsiteY8-942" fmla="*/ 1142552 h 1424419"/>
              <a:gd name="connsiteX9-943" fmla="*/ 1172881 w 1306267"/>
              <a:gd name="connsiteY9-944" fmla="*/ 1179342 h 1424419"/>
              <a:gd name="connsiteX10-945" fmla="*/ 792288 w 1306267"/>
              <a:gd name="connsiteY10-946" fmla="*/ 1385653 h 1424419"/>
              <a:gd name="connsiteX11-947" fmla="*/ 522686 w 1306267"/>
              <a:gd name="connsiteY11-948" fmla="*/ 1384922 h 1424419"/>
              <a:gd name="connsiteX12-949" fmla="*/ 90241 w 1306267"/>
              <a:gd name="connsiteY12-950" fmla="*/ 1150634 h 1424419"/>
              <a:gd name="connsiteX13-951" fmla="*/ 55672 w 1306267"/>
              <a:gd name="connsiteY13-952" fmla="*/ 1124403 h 1424419"/>
              <a:gd name="connsiteX14-953" fmla="*/ 667 w 1306267"/>
              <a:gd name="connsiteY14-954" fmla="*/ 999105 h 1424419"/>
              <a:gd name="connsiteX15-955" fmla="*/ 0 w 1306267"/>
              <a:gd name="connsiteY15-956" fmla="*/ 972364 h 1424419"/>
              <a:gd name="connsiteX16-957" fmla="*/ 2496 w 1306267"/>
              <a:gd name="connsiteY16-958" fmla="*/ 463106 h 1424419"/>
              <a:gd name="connsiteX17-959" fmla="*/ 2458 w 1306267"/>
              <a:gd name="connsiteY17-960" fmla="*/ 429563 h 1424419"/>
              <a:gd name="connsiteX18-961" fmla="*/ 75248 w 1306267"/>
              <a:gd name="connsiteY18-962" fmla="*/ 303202 h 1424419"/>
              <a:gd name="connsiteX19-963" fmla="*/ 106293 w 1306267"/>
              <a:gd name="connsiteY19-964" fmla="*/ 282597 h 1424419"/>
              <a:gd name="connsiteX20-965" fmla="*/ 541533 w 1306267"/>
              <a:gd name="connsiteY20-966" fmla="*/ 38110 h 1424419"/>
              <a:gd name="connsiteX21-967" fmla="*/ 653528 w 1306267"/>
              <a:gd name="connsiteY21-968" fmla="*/ 0 h 1424419"/>
              <a:gd name="connsiteX0-969" fmla="*/ 653528 w 1306267"/>
              <a:gd name="connsiteY0-970" fmla="*/ 0 h 1424419"/>
              <a:gd name="connsiteX1-971" fmla="*/ 757287 w 1306267"/>
              <a:gd name="connsiteY1-972" fmla="*/ 32444 h 1424419"/>
              <a:gd name="connsiteX2-973" fmla="*/ 1206876 w 1306267"/>
              <a:gd name="connsiteY2-974" fmla="*/ 284945 h 1424419"/>
              <a:gd name="connsiteX3-975" fmla="*/ 1237706 w 1306267"/>
              <a:gd name="connsiteY3-976" fmla="*/ 306775 h 1424419"/>
              <a:gd name="connsiteX4-977" fmla="*/ 1301712 w 1306267"/>
              <a:gd name="connsiteY4-978" fmla="*/ 442384 h 1424419"/>
              <a:gd name="connsiteX5-979" fmla="*/ 1303099 w 1306267"/>
              <a:gd name="connsiteY5-980" fmla="*/ 495558 h 1424419"/>
              <a:gd name="connsiteX6-981" fmla="*/ 1303099 w 1306267"/>
              <a:gd name="connsiteY6-982" fmla="*/ 952393 h 1424419"/>
              <a:gd name="connsiteX7-983" fmla="*/ 1305306 w 1306267"/>
              <a:gd name="connsiteY7-984" fmla="*/ 990115 h 1424419"/>
              <a:gd name="connsiteX8-985" fmla="*/ 1255800 w 1306267"/>
              <a:gd name="connsiteY8-986" fmla="*/ 1142552 h 1424419"/>
              <a:gd name="connsiteX9-987" fmla="*/ 1172881 w 1306267"/>
              <a:gd name="connsiteY9-988" fmla="*/ 1179342 h 1424419"/>
              <a:gd name="connsiteX10-989" fmla="*/ 792288 w 1306267"/>
              <a:gd name="connsiteY10-990" fmla="*/ 1385653 h 1424419"/>
              <a:gd name="connsiteX11-991" fmla="*/ 522686 w 1306267"/>
              <a:gd name="connsiteY11-992" fmla="*/ 1384922 h 1424419"/>
              <a:gd name="connsiteX12-993" fmla="*/ 90241 w 1306267"/>
              <a:gd name="connsiteY12-994" fmla="*/ 1150634 h 1424419"/>
              <a:gd name="connsiteX13-995" fmla="*/ 55672 w 1306267"/>
              <a:gd name="connsiteY13-996" fmla="*/ 1124403 h 1424419"/>
              <a:gd name="connsiteX14-997" fmla="*/ 667 w 1306267"/>
              <a:gd name="connsiteY14-998" fmla="*/ 999105 h 1424419"/>
              <a:gd name="connsiteX15-999" fmla="*/ 0 w 1306267"/>
              <a:gd name="connsiteY15-1000" fmla="*/ 972364 h 1424419"/>
              <a:gd name="connsiteX16-1001" fmla="*/ 2496 w 1306267"/>
              <a:gd name="connsiteY16-1002" fmla="*/ 463106 h 1424419"/>
              <a:gd name="connsiteX17-1003" fmla="*/ 2458 w 1306267"/>
              <a:gd name="connsiteY17-1004" fmla="*/ 429563 h 1424419"/>
              <a:gd name="connsiteX18-1005" fmla="*/ 75248 w 1306267"/>
              <a:gd name="connsiteY18-1006" fmla="*/ 303202 h 1424419"/>
              <a:gd name="connsiteX19-1007" fmla="*/ 106293 w 1306267"/>
              <a:gd name="connsiteY19-1008" fmla="*/ 282597 h 1424419"/>
              <a:gd name="connsiteX20-1009" fmla="*/ 541533 w 1306267"/>
              <a:gd name="connsiteY20-1010" fmla="*/ 38110 h 1424419"/>
              <a:gd name="connsiteX21-1011" fmla="*/ 653528 w 1306267"/>
              <a:gd name="connsiteY21-1012" fmla="*/ 0 h 1424419"/>
              <a:gd name="connsiteX0-1013" fmla="*/ 653528 w 1306267"/>
              <a:gd name="connsiteY0-1014" fmla="*/ 0 h 1424419"/>
              <a:gd name="connsiteX1-1015" fmla="*/ 757287 w 1306267"/>
              <a:gd name="connsiteY1-1016" fmla="*/ 32444 h 1424419"/>
              <a:gd name="connsiteX2-1017" fmla="*/ 1206876 w 1306267"/>
              <a:gd name="connsiteY2-1018" fmla="*/ 284945 h 1424419"/>
              <a:gd name="connsiteX3-1019" fmla="*/ 1237706 w 1306267"/>
              <a:gd name="connsiteY3-1020" fmla="*/ 306775 h 1424419"/>
              <a:gd name="connsiteX4-1021" fmla="*/ 1301712 w 1306267"/>
              <a:gd name="connsiteY4-1022" fmla="*/ 442384 h 1424419"/>
              <a:gd name="connsiteX5-1023" fmla="*/ 1303099 w 1306267"/>
              <a:gd name="connsiteY5-1024" fmla="*/ 495558 h 1424419"/>
              <a:gd name="connsiteX6-1025" fmla="*/ 1303099 w 1306267"/>
              <a:gd name="connsiteY6-1026" fmla="*/ 952393 h 1424419"/>
              <a:gd name="connsiteX7-1027" fmla="*/ 1305306 w 1306267"/>
              <a:gd name="connsiteY7-1028" fmla="*/ 990115 h 1424419"/>
              <a:gd name="connsiteX8-1029" fmla="*/ 1255800 w 1306267"/>
              <a:gd name="connsiteY8-1030" fmla="*/ 1142552 h 1424419"/>
              <a:gd name="connsiteX9-1031" fmla="*/ 1172881 w 1306267"/>
              <a:gd name="connsiteY9-1032" fmla="*/ 1179342 h 1424419"/>
              <a:gd name="connsiteX10-1033" fmla="*/ 792288 w 1306267"/>
              <a:gd name="connsiteY10-1034" fmla="*/ 1385653 h 1424419"/>
              <a:gd name="connsiteX11-1035" fmla="*/ 522686 w 1306267"/>
              <a:gd name="connsiteY11-1036" fmla="*/ 1384922 h 1424419"/>
              <a:gd name="connsiteX12-1037" fmla="*/ 90241 w 1306267"/>
              <a:gd name="connsiteY12-1038" fmla="*/ 1150634 h 1424419"/>
              <a:gd name="connsiteX13-1039" fmla="*/ 55672 w 1306267"/>
              <a:gd name="connsiteY13-1040" fmla="*/ 1124403 h 1424419"/>
              <a:gd name="connsiteX14-1041" fmla="*/ 667 w 1306267"/>
              <a:gd name="connsiteY14-1042" fmla="*/ 999105 h 1424419"/>
              <a:gd name="connsiteX15-1043" fmla="*/ 0 w 1306267"/>
              <a:gd name="connsiteY15-1044" fmla="*/ 972364 h 1424419"/>
              <a:gd name="connsiteX16-1045" fmla="*/ 2496 w 1306267"/>
              <a:gd name="connsiteY16-1046" fmla="*/ 463106 h 1424419"/>
              <a:gd name="connsiteX17-1047" fmla="*/ 2458 w 1306267"/>
              <a:gd name="connsiteY17-1048" fmla="*/ 429563 h 1424419"/>
              <a:gd name="connsiteX18-1049" fmla="*/ 75248 w 1306267"/>
              <a:gd name="connsiteY18-1050" fmla="*/ 303202 h 1424419"/>
              <a:gd name="connsiteX19-1051" fmla="*/ 106293 w 1306267"/>
              <a:gd name="connsiteY19-1052" fmla="*/ 282597 h 1424419"/>
              <a:gd name="connsiteX20-1053" fmla="*/ 541533 w 1306267"/>
              <a:gd name="connsiteY20-1054" fmla="*/ 38110 h 1424419"/>
              <a:gd name="connsiteX21-1055" fmla="*/ 653528 w 1306267"/>
              <a:gd name="connsiteY21-1056" fmla="*/ 0 h 1424419"/>
              <a:gd name="connsiteX0-1057" fmla="*/ 653528 w 1306267"/>
              <a:gd name="connsiteY0-1058" fmla="*/ 0 h 1424419"/>
              <a:gd name="connsiteX1-1059" fmla="*/ 757287 w 1306267"/>
              <a:gd name="connsiteY1-1060" fmla="*/ 32444 h 1424419"/>
              <a:gd name="connsiteX2-1061" fmla="*/ 1206876 w 1306267"/>
              <a:gd name="connsiteY2-1062" fmla="*/ 284945 h 1424419"/>
              <a:gd name="connsiteX3-1063" fmla="*/ 1237706 w 1306267"/>
              <a:gd name="connsiteY3-1064" fmla="*/ 306775 h 1424419"/>
              <a:gd name="connsiteX4-1065" fmla="*/ 1301712 w 1306267"/>
              <a:gd name="connsiteY4-1066" fmla="*/ 442384 h 1424419"/>
              <a:gd name="connsiteX5-1067" fmla="*/ 1303099 w 1306267"/>
              <a:gd name="connsiteY5-1068" fmla="*/ 495558 h 1424419"/>
              <a:gd name="connsiteX6-1069" fmla="*/ 1303099 w 1306267"/>
              <a:gd name="connsiteY6-1070" fmla="*/ 952393 h 1424419"/>
              <a:gd name="connsiteX7-1071" fmla="*/ 1305306 w 1306267"/>
              <a:gd name="connsiteY7-1072" fmla="*/ 990115 h 1424419"/>
              <a:gd name="connsiteX8-1073" fmla="*/ 1255800 w 1306267"/>
              <a:gd name="connsiteY8-1074" fmla="*/ 1142552 h 1424419"/>
              <a:gd name="connsiteX9-1075" fmla="*/ 1172881 w 1306267"/>
              <a:gd name="connsiteY9-1076" fmla="*/ 1179342 h 1424419"/>
              <a:gd name="connsiteX10-1077" fmla="*/ 792288 w 1306267"/>
              <a:gd name="connsiteY10-1078" fmla="*/ 1385653 h 1424419"/>
              <a:gd name="connsiteX11-1079" fmla="*/ 522686 w 1306267"/>
              <a:gd name="connsiteY11-1080" fmla="*/ 1384922 h 1424419"/>
              <a:gd name="connsiteX12-1081" fmla="*/ 90241 w 1306267"/>
              <a:gd name="connsiteY12-1082" fmla="*/ 1150634 h 1424419"/>
              <a:gd name="connsiteX13-1083" fmla="*/ 55672 w 1306267"/>
              <a:gd name="connsiteY13-1084" fmla="*/ 1124403 h 1424419"/>
              <a:gd name="connsiteX14-1085" fmla="*/ 667 w 1306267"/>
              <a:gd name="connsiteY14-1086" fmla="*/ 999105 h 1424419"/>
              <a:gd name="connsiteX15-1087" fmla="*/ 0 w 1306267"/>
              <a:gd name="connsiteY15-1088" fmla="*/ 972364 h 1424419"/>
              <a:gd name="connsiteX16-1089" fmla="*/ 2496 w 1306267"/>
              <a:gd name="connsiteY16-1090" fmla="*/ 463106 h 1424419"/>
              <a:gd name="connsiteX17-1091" fmla="*/ 2458 w 1306267"/>
              <a:gd name="connsiteY17-1092" fmla="*/ 429563 h 1424419"/>
              <a:gd name="connsiteX18-1093" fmla="*/ 75248 w 1306267"/>
              <a:gd name="connsiteY18-1094" fmla="*/ 303202 h 1424419"/>
              <a:gd name="connsiteX19-1095" fmla="*/ 106293 w 1306267"/>
              <a:gd name="connsiteY19-1096" fmla="*/ 282597 h 1424419"/>
              <a:gd name="connsiteX20-1097" fmla="*/ 541533 w 1306267"/>
              <a:gd name="connsiteY20-1098" fmla="*/ 38110 h 1424419"/>
              <a:gd name="connsiteX21-1099" fmla="*/ 653528 w 1306267"/>
              <a:gd name="connsiteY21-1100" fmla="*/ 0 h 1424419"/>
              <a:gd name="connsiteX0-1101" fmla="*/ 653528 w 1306267"/>
              <a:gd name="connsiteY0-1102" fmla="*/ 0 h 1424419"/>
              <a:gd name="connsiteX1-1103" fmla="*/ 757287 w 1306267"/>
              <a:gd name="connsiteY1-1104" fmla="*/ 32444 h 1424419"/>
              <a:gd name="connsiteX2-1105" fmla="*/ 1206876 w 1306267"/>
              <a:gd name="connsiteY2-1106" fmla="*/ 284945 h 1424419"/>
              <a:gd name="connsiteX3-1107" fmla="*/ 1237706 w 1306267"/>
              <a:gd name="connsiteY3-1108" fmla="*/ 306775 h 1424419"/>
              <a:gd name="connsiteX4-1109" fmla="*/ 1301712 w 1306267"/>
              <a:gd name="connsiteY4-1110" fmla="*/ 442384 h 1424419"/>
              <a:gd name="connsiteX5-1111" fmla="*/ 1303099 w 1306267"/>
              <a:gd name="connsiteY5-1112" fmla="*/ 495558 h 1424419"/>
              <a:gd name="connsiteX6-1113" fmla="*/ 1303099 w 1306267"/>
              <a:gd name="connsiteY6-1114" fmla="*/ 952393 h 1424419"/>
              <a:gd name="connsiteX7-1115" fmla="*/ 1305306 w 1306267"/>
              <a:gd name="connsiteY7-1116" fmla="*/ 990115 h 1424419"/>
              <a:gd name="connsiteX8-1117" fmla="*/ 1255800 w 1306267"/>
              <a:gd name="connsiteY8-1118" fmla="*/ 1142552 h 1424419"/>
              <a:gd name="connsiteX9-1119" fmla="*/ 1172881 w 1306267"/>
              <a:gd name="connsiteY9-1120" fmla="*/ 1179342 h 1424419"/>
              <a:gd name="connsiteX10-1121" fmla="*/ 792288 w 1306267"/>
              <a:gd name="connsiteY10-1122" fmla="*/ 1385653 h 1424419"/>
              <a:gd name="connsiteX11-1123" fmla="*/ 522686 w 1306267"/>
              <a:gd name="connsiteY11-1124" fmla="*/ 1384922 h 1424419"/>
              <a:gd name="connsiteX12-1125" fmla="*/ 90241 w 1306267"/>
              <a:gd name="connsiteY12-1126" fmla="*/ 1150634 h 1424419"/>
              <a:gd name="connsiteX13-1127" fmla="*/ 48904 w 1306267"/>
              <a:gd name="connsiteY13-1128" fmla="*/ 1124403 h 1424419"/>
              <a:gd name="connsiteX14-1129" fmla="*/ 667 w 1306267"/>
              <a:gd name="connsiteY14-1130" fmla="*/ 999105 h 1424419"/>
              <a:gd name="connsiteX15-1131" fmla="*/ 0 w 1306267"/>
              <a:gd name="connsiteY15-1132" fmla="*/ 972364 h 1424419"/>
              <a:gd name="connsiteX16-1133" fmla="*/ 2496 w 1306267"/>
              <a:gd name="connsiteY16-1134" fmla="*/ 463106 h 1424419"/>
              <a:gd name="connsiteX17-1135" fmla="*/ 2458 w 1306267"/>
              <a:gd name="connsiteY17-1136" fmla="*/ 429563 h 1424419"/>
              <a:gd name="connsiteX18-1137" fmla="*/ 75248 w 1306267"/>
              <a:gd name="connsiteY18-1138" fmla="*/ 303202 h 1424419"/>
              <a:gd name="connsiteX19-1139" fmla="*/ 106293 w 1306267"/>
              <a:gd name="connsiteY19-1140" fmla="*/ 282597 h 1424419"/>
              <a:gd name="connsiteX20-1141" fmla="*/ 541533 w 1306267"/>
              <a:gd name="connsiteY20-1142" fmla="*/ 38110 h 1424419"/>
              <a:gd name="connsiteX21-1143" fmla="*/ 653528 w 1306267"/>
              <a:gd name="connsiteY21-1144" fmla="*/ 0 h 1424419"/>
              <a:gd name="connsiteX0-1145" fmla="*/ 653528 w 1306267"/>
              <a:gd name="connsiteY0-1146" fmla="*/ 0 h 1424419"/>
              <a:gd name="connsiteX1-1147" fmla="*/ 757287 w 1306267"/>
              <a:gd name="connsiteY1-1148" fmla="*/ 32444 h 1424419"/>
              <a:gd name="connsiteX2-1149" fmla="*/ 1206876 w 1306267"/>
              <a:gd name="connsiteY2-1150" fmla="*/ 284945 h 1424419"/>
              <a:gd name="connsiteX3-1151" fmla="*/ 1237706 w 1306267"/>
              <a:gd name="connsiteY3-1152" fmla="*/ 306775 h 1424419"/>
              <a:gd name="connsiteX4-1153" fmla="*/ 1301712 w 1306267"/>
              <a:gd name="connsiteY4-1154" fmla="*/ 442384 h 1424419"/>
              <a:gd name="connsiteX5-1155" fmla="*/ 1303099 w 1306267"/>
              <a:gd name="connsiteY5-1156" fmla="*/ 495558 h 1424419"/>
              <a:gd name="connsiteX6-1157" fmla="*/ 1303099 w 1306267"/>
              <a:gd name="connsiteY6-1158" fmla="*/ 952393 h 1424419"/>
              <a:gd name="connsiteX7-1159" fmla="*/ 1305306 w 1306267"/>
              <a:gd name="connsiteY7-1160" fmla="*/ 990115 h 1424419"/>
              <a:gd name="connsiteX8-1161" fmla="*/ 1255800 w 1306267"/>
              <a:gd name="connsiteY8-1162" fmla="*/ 1142552 h 1424419"/>
              <a:gd name="connsiteX9-1163" fmla="*/ 1172881 w 1306267"/>
              <a:gd name="connsiteY9-1164" fmla="*/ 1179342 h 1424419"/>
              <a:gd name="connsiteX10-1165" fmla="*/ 792288 w 1306267"/>
              <a:gd name="connsiteY10-1166" fmla="*/ 1385653 h 1424419"/>
              <a:gd name="connsiteX11-1167" fmla="*/ 522686 w 1306267"/>
              <a:gd name="connsiteY11-1168" fmla="*/ 1384922 h 1424419"/>
              <a:gd name="connsiteX12-1169" fmla="*/ 90241 w 1306267"/>
              <a:gd name="connsiteY12-1170" fmla="*/ 1150634 h 1424419"/>
              <a:gd name="connsiteX13-1171" fmla="*/ 48904 w 1306267"/>
              <a:gd name="connsiteY13-1172" fmla="*/ 1124403 h 1424419"/>
              <a:gd name="connsiteX14-1173" fmla="*/ 667 w 1306267"/>
              <a:gd name="connsiteY14-1174" fmla="*/ 999105 h 1424419"/>
              <a:gd name="connsiteX15-1175" fmla="*/ 0 w 1306267"/>
              <a:gd name="connsiteY15-1176" fmla="*/ 972364 h 1424419"/>
              <a:gd name="connsiteX16-1177" fmla="*/ 2496 w 1306267"/>
              <a:gd name="connsiteY16-1178" fmla="*/ 463106 h 1424419"/>
              <a:gd name="connsiteX17-1179" fmla="*/ 2458 w 1306267"/>
              <a:gd name="connsiteY17-1180" fmla="*/ 429563 h 1424419"/>
              <a:gd name="connsiteX18-1181" fmla="*/ 75248 w 1306267"/>
              <a:gd name="connsiteY18-1182" fmla="*/ 303202 h 1424419"/>
              <a:gd name="connsiteX19-1183" fmla="*/ 106293 w 1306267"/>
              <a:gd name="connsiteY19-1184" fmla="*/ 282597 h 1424419"/>
              <a:gd name="connsiteX20-1185" fmla="*/ 541533 w 1306267"/>
              <a:gd name="connsiteY20-1186" fmla="*/ 38110 h 1424419"/>
              <a:gd name="connsiteX21-1187" fmla="*/ 653528 w 1306267"/>
              <a:gd name="connsiteY21-1188" fmla="*/ 0 h 1424419"/>
              <a:gd name="connsiteX0-1189" fmla="*/ 653528 w 1306267"/>
              <a:gd name="connsiteY0-1190" fmla="*/ 0 h 1424419"/>
              <a:gd name="connsiteX1-1191" fmla="*/ 757287 w 1306267"/>
              <a:gd name="connsiteY1-1192" fmla="*/ 32444 h 1424419"/>
              <a:gd name="connsiteX2-1193" fmla="*/ 1206876 w 1306267"/>
              <a:gd name="connsiteY2-1194" fmla="*/ 284945 h 1424419"/>
              <a:gd name="connsiteX3-1195" fmla="*/ 1237706 w 1306267"/>
              <a:gd name="connsiteY3-1196" fmla="*/ 306775 h 1424419"/>
              <a:gd name="connsiteX4-1197" fmla="*/ 1301712 w 1306267"/>
              <a:gd name="connsiteY4-1198" fmla="*/ 442384 h 1424419"/>
              <a:gd name="connsiteX5-1199" fmla="*/ 1303099 w 1306267"/>
              <a:gd name="connsiteY5-1200" fmla="*/ 495558 h 1424419"/>
              <a:gd name="connsiteX6-1201" fmla="*/ 1303099 w 1306267"/>
              <a:gd name="connsiteY6-1202" fmla="*/ 952393 h 1424419"/>
              <a:gd name="connsiteX7-1203" fmla="*/ 1305306 w 1306267"/>
              <a:gd name="connsiteY7-1204" fmla="*/ 990115 h 1424419"/>
              <a:gd name="connsiteX8-1205" fmla="*/ 1255800 w 1306267"/>
              <a:gd name="connsiteY8-1206" fmla="*/ 1142552 h 1424419"/>
              <a:gd name="connsiteX9-1207" fmla="*/ 1172881 w 1306267"/>
              <a:gd name="connsiteY9-1208" fmla="*/ 1179342 h 1424419"/>
              <a:gd name="connsiteX10-1209" fmla="*/ 792288 w 1306267"/>
              <a:gd name="connsiteY10-1210" fmla="*/ 1385653 h 1424419"/>
              <a:gd name="connsiteX11-1211" fmla="*/ 522686 w 1306267"/>
              <a:gd name="connsiteY11-1212" fmla="*/ 1384922 h 1424419"/>
              <a:gd name="connsiteX12-1213" fmla="*/ 90241 w 1306267"/>
              <a:gd name="connsiteY12-1214" fmla="*/ 1150634 h 1424419"/>
              <a:gd name="connsiteX13-1215" fmla="*/ 48904 w 1306267"/>
              <a:gd name="connsiteY13-1216" fmla="*/ 1124403 h 1424419"/>
              <a:gd name="connsiteX14-1217" fmla="*/ 667 w 1306267"/>
              <a:gd name="connsiteY14-1218" fmla="*/ 999105 h 1424419"/>
              <a:gd name="connsiteX15-1219" fmla="*/ 0 w 1306267"/>
              <a:gd name="connsiteY15-1220" fmla="*/ 972364 h 1424419"/>
              <a:gd name="connsiteX16-1221" fmla="*/ 2496 w 1306267"/>
              <a:gd name="connsiteY16-1222" fmla="*/ 463106 h 1424419"/>
              <a:gd name="connsiteX17-1223" fmla="*/ 2458 w 1306267"/>
              <a:gd name="connsiteY17-1224" fmla="*/ 429563 h 1424419"/>
              <a:gd name="connsiteX18-1225" fmla="*/ 75248 w 1306267"/>
              <a:gd name="connsiteY18-1226" fmla="*/ 303202 h 1424419"/>
              <a:gd name="connsiteX19-1227" fmla="*/ 106293 w 1306267"/>
              <a:gd name="connsiteY19-1228" fmla="*/ 282597 h 1424419"/>
              <a:gd name="connsiteX20-1229" fmla="*/ 541533 w 1306267"/>
              <a:gd name="connsiteY20-1230" fmla="*/ 38110 h 1424419"/>
              <a:gd name="connsiteX21-1231" fmla="*/ 653528 w 1306267"/>
              <a:gd name="connsiteY21-1232" fmla="*/ 0 h 1424419"/>
              <a:gd name="connsiteX0-1233" fmla="*/ 653528 w 1306267"/>
              <a:gd name="connsiteY0-1234" fmla="*/ 0 h 1424419"/>
              <a:gd name="connsiteX1-1235" fmla="*/ 757287 w 1306267"/>
              <a:gd name="connsiteY1-1236" fmla="*/ 32444 h 1424419"/>
              <a:gd name="connsiteX2-1237" fmla="*/ 1206876 w 1306267"/>
              <a:gd name="connsiteY2-1238" fmla="*/ 284945 h 1424419"/>
              <a:gd name="connsiteX3-1239" fmla="*/ 1237706 w 1306267"/>
              <a:gd name="connsiteY3-1240" fmla="*/ 306775 h 1424419"/>
              <a:gd name="connsiteX4-1241" fmla="*/ 1301712 w 1306267"/>
              <a:gd name="connsiteY4-1242" fmla="*/ 442384 h 1424419"/>
              <a:gd name="connsiteX5-1243" fmla="*/ 1303099 w 1306267"/>
              <a:gd name="connsiteY5-1244" fmla="*/ 495558 h 1424419"/>
              <a:gd name="connsiteX6-1245" fmla="*/ 1303099 w 1306267"/>
              <a:gd name="connsiteY6-1246" fmla="*/ 952393 h 1424419"/>
              <a:gd name="connsiteX7-1247" fmla="*/ 1305306 w 1306267"/>
              <a:gd name="connsiteY7-1248" fmla="*/ 990115 h 1424419"/>
              <a:gd name="connsiteX8-1249" fmla="*/ 1255800 w 1306267"/>
              <a:gd name="connsiteY8-1250" fmla="*/ 1142552 h 1424419"/>
              <a:gd name="connsiteX9-1251" fmla="*/ 1172881 w 1306267"/>
              <a:gd name="connsiteY9-1252" fmla="*/ 1179342 h 1424419"/>
              <a:gd name="connsiteX10-1253" fmla="*/ 792288 w 1306267"/>
              <a:gd name="connsiteY10-1254" fmla="*/ 1385653 h 1424419"/>
              <a:gd name="connsiteX11-1255" fmla="*/ 522686 w 1306267"/>
              <a:gd name="connsiteY11-1256" fmla="*/ 1384922 h 1424419"/>
              <a:gd name="connsiteX12-1257" fmla="*/ 90241 w 1306267"/>
              <a:gd name="connsiteY12-1258" fmla="*/ 1150634 h 1424419"/>
              <a:gd name="connsiteX13-1259" fmla="*/ 48904 w 1306267"/>
              <a:gd name="connsiteY13-1260" fmla="*/ 1124403 h 1424419"/>
              <a:gd name="connsiteX14-1261" fmla="*/ 667 w 1306267"/>
              <a:gd name="connsiteY14-1262" fmla="*/ 999105 h 1424419"/>
              <a:gd name="connsiteX15-1263" fmla="*/ 0 w 1306267"/>
              <a:gd name="connsiteY15-1264" fmla="*/ 972364 h 1424419"/>
              <a:gd name="connsiteX16-1265" fmla="*/ 2496 w 1306267"/>
              <a:gd name="connsiteY16-1266" fmla="*/ 463106 h 1424419"/>
              <a:gd name="connsiteX17-1267" fmla="*/ 2458 w 1306267"/>
              <a:gd name="connsiteY17-1268" fmla="*/ 429563 h 1424419"/>
              <a:gd name="connsiteX18-1269" fmla="*/ 75248 w 1306267"/>
              <a:gd name="connsiteY18-1270" fmla="*/ 303202 h 1424419"/>
              <a:gd name="connsiteX19-1271" fmla="*/ 106293 w 1306267"/>
              <a:gd name="connsiteY19-1272" fmla="*/ 282597 h 1424419"/>
              <a:gd name="connsiteX20-1273" fmla="*/ 541533 w 1306267"/>
              <a:gd name="connsiteY20-1274" fmla="*/ 38110 h 1424419"/>
              <a:gd name="connsiteX21-1275" fmla="*/ 653528 w 1306267"/>
              <a:gd name="connsiteY21-1276" fmla="*/ 0 h 1424419"/>
              <a:gd name="connsiteX0-1277" fmla="*/ 653528 w 1306267"/>
              <a:gd name="connsiteY0-1278" fmla="*/ 0 h 1424419"/>
              <a:gd name="connsiteX1-1279" fmla="*/ 757287 w 1306267"/>
              <a:gd name="connsiteY1-1280" fmla="*/ 32444 h 1424419"/>
              <a:gd name="connsiteX2-1281" fmla="*/ 1206876 w 1306267"/>
              <a:gd name="connsiteY2-1282" fmla="*/ 284945 h 1424419"/>
              <a:gd name="connsiteX3-1283" fmla="*/ 1237706 w 1306267"/>
              <a:gd name="connsiteY3-1284" fmla="*/ 306775 h 1424419"/>
              <a:gd name="connsiteX4-1285" fmla="*/ 1301712 w 1306267"/>
              <a:gd name="connsiteY4-1286" fmla="*/ 442384 h 1424419"/>
              <a:gd name="connsiteX5-1287" fmla="*/ 1303099 w 1306267"/>
              <a:gd name="connsiteY5-1288" fmla="*/ 495558 h 1424419"/>
              <a:gd name="connsiteX6-1289" fmla="*/ 1303099 w 1306267"/>
              <a:gd name="connsiteY6-1290" fmla="*/ 952393 h 1424419"/>
              <a:gd name="connsiteX7-1291" fmla="*/ 1305306 w 1306267"/>
              <a:gd name="connsiteY7-1292" fmla="*/ 990115 h 1424419"/>
              <a:gd name="connsiteX8-1293" fmla="*/ 1255800 w 1306267"/>
              <a:gd name="connsiteY8-1294" fmla="*/ 1142552 h 1424419"/>
              <a:gd name="connsiteX9-1295" fmla="*/ 1172881 w 1306267"/>
              <a:gd name="connsiteY9-1296" fmla="*/ 1179342 h 1424419"/>
              <a:gd name="connsiteX10-1297" fmla="*/ 792288 w 1306267"/>
              <a:gd name="connsiteY10-1298" fmla="*/ 1385653 h 1424419"/>
              <a:gd name="connsiteX11-1299" fmla="*/ 522686 w 1306267"/>
              <a:gd name="connsiteY11-1300" fmla="*/ 1384922 h 1424419"/>
              <a:gd name="connsiteX12-1301" fmla="*/ 97009 w 1306267"/>
              <a:gd name="connsiteY12-1302" fmla="*/ 1161462 h 1424419"/>
              <a:gd name="connsiteX13-1303" fmla="*/ 48904 w 1306267"/>
              <a:gd name="connsiteY13-1304" fmla="*/ 1124403 h 1424419"/>
              <a:gd name="connsiteX14-1305" fmla="*/ 667 w 1306267"/>
              <a:gd name="connsiteY14-1306" fmla="*/ 999105 h 1424419"/>
              <a:gd name="connsiteX15-1307" fmla="*/ 0 w 1306267"/>
              <a:gd name="connsiteY15-1308" fmla="*/ 972364 h 1424419"/>
              <a:gd name="connsiteX16-1309" fmla="*/ 2496 w 1306267"/>
              <a:gd name="connsiteY16-1310" fmla="*/ 463106 h 1424419"/>
              <a:gd name="connsiteX17-1311" fmla="*/ 2458 w 1306267"/>
              <a:gd name="connsiteY17-1312" fmla="*/ 429563 h 1424419"/>
              <a:gd name="connsiteX18-1313" fmla="*/ 75248 w 1306267"/>
              <a:gd name="connsiteY18-1314" fmla="*/ 303202 h 1424419"/>
              <a:gd name="connsiteX19-1315" fmla="*/ 106293 w 1306267"/>
              <a:gd name="connsiteY19-1316" fmla="*/ 282597 h 1424419"/>
              <a:gd name="connsiteX20-1317" fmla="*/ 541533 w 1306267"/>
              <a:gd name="connsiteY20-1318" fmla="*/ 38110 h 1424419"/>
              <a:gd name="connsiteX21-1319" fmla="*/ 653528 w 1306267"/>
              <a:gd name="connsiteY21-1320" fmla="*/ 0 h 1424419"/>
              <a:gd name="connsiteX0-1321" fmla="*/ 653528 w 1306267"/>
              <a:gd name="connsiteY0-1322" fmla="*/ 0 h 1424419"/>
              <a:gd name="connsiteX1-1323" fmla="*/ 757287 w 1306267"/>
              <a:gd name="connsiteY1-1324" fmla="*/ 32444 h 1424419"/>
              <a:gd name="connsiteX2-1325" fmla="*/ 1206876 w 1306267"/>
              <a:gd name="connsiteY2-1326" fmla="*/ 284945 h 1424419"/>
              <a:gd name="connsiteX3-1327" fmla="*/ 1237706 w 1306267"/>
              <a:gd name="connsiteY3-1328" fmla="*/ 306775 h 1424419"/>
              <a:gd name="connsiteX4-1329" fmla="*/ 1301712 w 1306267"/>
              <a:gd name="connsiteY4-1330" fmla="*/ 442384 h 1424419"/>
              <a:gd name="connsiteX5-1331" fmla="*/ 1303099 w 1306267"/>
              <a:gd name="connsiteY5-1332" fmla="*/ 495558 h 1424419"/>
              <a:gd name="connsiteX6-1333" fmla="*/ 1303099 w 1306267"/>
              <a:gd name="connsiteY6-1334" fmla="*/ 952393 h 1424419"/>
              <a:gd name="connsiteX7-1335" fmla="*/ 1305306 w 1306267"/>
              <a:gd name="connsiteY7-1336" fmla="*/ 990115 h 1424419"/>
              <a:gd name="connsiteX8-1337" fmla="*/ 1255800 w 1306267"/>
              <a:gd name="connsiteY8-1338" fmla="*/ 1142552 h 1424419"/>
              <a:gd name="connsiteX9-1339" fmla="*/ 1172881 w 1306267"/>
              <a:gd name="connsiteY9-1340" fmla="*/ 1179342 h 1424419"/>
              <a:gd name="connsiteX10-1341" fmla="*/ 792288 w 1306267"/>
              <a:gd name="connsiteY10-1342" fmla="*/ 1385653 h 1424419"/>
              <a:gd name="connsiteX11-1343" fmla="*/ 522686 w 1306267"/>
              <a:gd name="connsiteY11-1344" fmla="*/ 1384922 h 1424419"/>
              <a:gd name="connsiteX12-1345" fmla="*/ 97009 w 1306267"/>
              <a:gd name="connsiteY12-1346" fmla="*/ 1161462 h 1424419"/>
              <a:gd name="connsiteX13-1347" fmla="*/ 48904 w 1306267"/>
              <a:gd name="connsiteY13-1348" fmla="*/ 1124403 h 1424419"/>
              <a:gd name="connsiteX14-1349" fmla="*/ 667 w 1306267"/>
              <a:gd name="connsiteY14-1350" fmla="*/ 999105 h 1424419"/>
              <a:gd name="connsiteX15-1351" fmla="*/ 0 w 1306267"/>
              <a:gd name="connsiteY15-1352" fmla="*/ 972364 h 1424419"/>
              <a:gd name="connsiteX16-1353" fmla="*/ 2496 w 1306267"/>
              <a:gd name="connsiteY16-1354" fmla="*/ 463106 h 1424419"/>
              <a:gd name="connsiteX17-1355" fmla="*/ 2458 w 1306267"/>
              <a:gd name="connsiteY17-1356" fmla="*/ 429563 h 1424419"/>
              <a:gd name="connsiteX18-1357" fmla="*/ 75248 w 1306267"/>
              <a:gd name="connsiteY18-1358" fmla="*/ 303202 h 1424419"/>
              <a:gd name="connsiteX19-1359" fmla="*/ 106293 w 1306267"/>
              <a:gd name="connsiteY19-1360" fmla="*/ 282597 h 1424419"/>
              <a:gd name="connsiteX20-1361" fmla="*/ 541533 w 1306267"/>
              <a:gd name="connsiteY20-1362" fmla="*/ 38110 h 1424419"/>
              <a:gd name="connsiteX21-1363" fmla="*/ 653528 w 1306267"/>
              <a:gd name="connsiteY21-1364" fmla="*/ 0 h 1424419"/>
              <a:gd name="connsiteX0-1365" fmla="*/ 653528 w 1306267"/>
              <a:gd name="connsiteY0-1366" fmla="*/ 0 h 1424419"/>
              <a:gd name="connsiteX1-1367" fmla="*/ 757287 w 1306267"/>
              <a:gd name="connsiteY1-1368" fmla="*/ 32444 h 1424419"/>
              <a:gd name="connsiteX2-1369" fmla="*/ 1206876 w 1306267"/>
              <a:gd name="connsiteY2-1370" fmla="*/ 284945 h 1424419"/>
              <a:gd name="connsiteX3-1371" fmla="*/ 1237706 w 1306267"/>
              <a:gd name="connsiteY3-1372" fmla="*/ 306775 h 1424419"/>
              <a:gd name="connsiteX4-1373" fmla="*/ 1301712 w 1306267"/>
              <a:gd name="connsiteY4-1374" fmla="*/ 442384 h 1424419"/>
              <a:gd name="connsiteX5-1375" fmla="*/ 1303099 w 1306267"/>
              <a:gd name="connsiteY5-1376" fmla="*/ 495558 h 1424419"/>
              <a:gd name="connsiteX6-1377" fmla="*/ 1303099 w 1306267"/>
              <a:gd name="connsiteY6-1378" fmla="*/ 952393 h 1424419"/>
              <a:gd name="connsiteX7-1379" fmla="*/ 1305306 w 1306267"/>
              <a:gd name="connsiteY7-1380" fmla="*/ 990115 h 1424419"/>
              <a:gd name="connsiteX8-1381" fmla="*/ 1255800 w 1306267"/>
              <a:gd name="connsiteY8-1382" fmla="*/ 1142552 h 1424419"/>
              <a:gd name="connsiteX9-1383" fmla="*/ 1172881 w 1306267"/>
              <a:gd name="connsiteY9-1384" fmla="*/ 1179342 h 1424419"/>
              <a:gd name="connsiteX10-1385" fmla="*/ 792288 w 1306267"/>
              <a:gd name="connsiteY10-1386" fmla="*/ 1385653 h 1424419"/>
              <a:gd name="connsiteX11-1387" fmla="*/ 522686 w 1306267"/>
              <a:gd name="connsiteY11-1388" fmla="*/ 1384922 h 1424419"/>
              <a:gd name="connsiteX12-1389" fmla="*/ 97009 w 1306267"/>
              <a:gd name="connsiteY12-1390" fmla="*/ 1161462 h 1424419"/>
              <a:gd name="connsiteX13-1391" fmla="*/ 44843 w 1306267"/>
              <a:gd name="connsiteY13-1392" fmla="*/ 1118989 h 1424419"/>
              <a:gd name="connsiteX14-1393" fmla="*/ 667 w 1306267"/>
              <a:gd name="connsiteY14-1394" fmla="*/ 999105 h 1424419"/>
              <a:gd name="connsiteX15-1395" fmla="*/ 0 w 1306267"/>
              <a:gd name="connsiteY15-1396" fmla="*/ 972364 h 1424419"/>
              <a:gd name="connsiteX16-1397" fmla="*/ 2496 w 1306267"/>
              <a:gd name="connsiteY16-1398" fmla="*/ 463106 h 1424419"/>
              <a:gd name="connsiteX17-1399" fmla="*/ 2458 w 1306267"/>
              <a:gd name="connsiteY17-1400" fmla="*/ 429563 h 1424419"/>
              <a:gd name="connsiteX18-1401" fmla="*/ 75248 w 1306267"/>
              <a:gd name="connsiteY18-1402" fmla="*/ 303202 h 1424419"/>
              <a:gd name="connsiteX19-1403" fmla="*/ 106293 w 1306267"/>
              <a:gd name="connsiteY19-1404" fmla="*/ 282597 h 1424419"/>
              <a:gd name="connsiteX20-1405" fmla="*/ 541533 w 1306267"/>
              <a:gd name="connsiteY20-1406" fmla="*/ 38110 h 1424419"/>
              <a:gd name="connsiteX21-1407" fmla="*/ 653528 w 1306267"/>
              <a:gd name="connsiteY21-1408" fmla="*/ 0 h 1424419"/>
              <a:gd name="connsiteX0-1409" fmla="*/ 653528 w 1306267"/>
              <a:gd name="connsiteY0-1410" fmla="*/ 0 h 1424419"/>
              <a:gd name="connsiteX1-1411" fmla="*/ 757287 w 1306267"/>
              <a:gd name="connsiteY1-1412" fmla="*/ 32444 h 1424419"/>
              <a:gd name="connsiteX2-1413" fmla="*/ 1206876 w 1306267"/>
              <a:gd name="connsiteY2-1414" fmla="*/ 284945 h 1424419"/>
              <a:gd name="connsiteX3-1415" fmla="*/ 1237706 w 1306267"/>
              <a:gd name="connsiteY3-1416" fmla="*/ 306775 h 1424419"/>
              <a:gd name="connsiteX4-1417" fmla="*/ 1301712 w 1306267"/>
              <a:gd name="connsiteY4-1418" fmla="*/ 442384 h 1424419"/>
              <a:gd name="connsiteX5-1419" fmla="*/ 1303099 w 1306267"/>
              <a:gd name="connsiteY5-1420" fmla="*/ 495558 h 1424419"/>
              <a:gd name="connsiteX6-1421" fmla="*/ 1303099 w 1306267"/>
              <a:gd name="connsiteY6-1422" fmla="*/ 952393 h 1424419"/>
              <a:gd name="connsiteX7-1423" fmla="*/ 1305306 w 1306267"/>
              <a:gd name="connsiteY7-1424" fmla="*/ 990115 h 1424419"/>
              <a:gd name="connsiteX8-1425" fmla="*/ 1255800 w 1306267"/>
              <a:gd name="connsiteY8-1426" fmla="*/ 1142552 h 1424419"/>
              <a:gd name="connsiteX9-1427" fmla="*/ 1172881 w 1306267"/>
              <a:gd name="connsiteY9-1428" fmla="*/ 1179342 h 1424419"/>
              <a:gd name="connsiteX10-1429" fmla="*/ 792288 w 1306267"/>
              <a:gd name="connsiteY10-1430" fmla="*/ 1385653 h 1424419"/>
              <a:gd name="connsiteX11-1431" fmla="*/ 522686 w 1306267"/>
              <a:gd name="connsiteY11-1432" fmla="*/ 1384922 h 1424419"/>
              <a:gd name="connsiteX12-1433" fmla="*/ 97009 w 1306267"/>
              <a:gd name="connsiteY12-1434" fmla="*/ 1161462 h 1424419"/>
              <a:gd name="connsiteX13-1435" fmla="*/ 44843 w 1306267"/>
              <a:gd name="connsiteY13-1436" fmla="*/ 1118989 h 1424419"/>
              <a:gd name="connsiteX14-1437" fmla="*/ 667 w 1306267"/>
              <a:gd name="connsiteY14-1438" fmla="*/ 999105 h 1424419"/>
              <a:gd name="connsiteX15-1439" fmla="*/ 0 w 1306267"/>
              <a:gd name="connsiteY15-1440" fmla="*/ 972364 h 1424419"/>
              <a:gd name="connsiteX16-1441" fmla="*/ 2496 w 1306267"/>
              <a:gd name="connsiteY16-1442" fmla="*/ 463106 h 1424419"/>
              <a:gd name="connsiteX17-1443" fmla="*/ 2458 w 1306267"/>
              <a:gd name="connsiteY17-1444" fmla="*/ 429563 h 1424419"/>
              <a:gd name="connsiteX18-1445" fmla="*/ 75248 w 1306267"/>
              <a:gd name="connsiteY18-1446" fmla="*/ 303202 h 1424419"/>
              <a:gd name="connsiteX19-1447" fmla="*/ 106293 w 1306267"/>
              <a:gd name="connsiteY19-1448" fmla="*/ 282597 h 1424419"/>
              <a:gd name="connsiteX20-1449" fmla="*/ 541533 w 1306267"/>
              <a:gd name="connsiteY20-1450" fmla="*/ 38110 h 1424419"/>
              <a:gd name="connsiteX21-1451" fmla="*/ 653528 w 1306267"/>
              <a:gd name="connsiteY21-1452" fmla="*/ 0 h 1424419"/>
              <a:gd name="connsiteX0-1453" fmla="*/ 653528 w 1306267"/>
              <a:gd name="connsiteY0-1454" fmla="*/ 0 h 1424419"/>
              <a:gd name="connsiteX1-1455" fmla="*/ 757287 w 1306267"/>
              <a:gd name="connsiteY1-1456" fmla="*/ 32444 h 1424419"/>
              <a:gd name="connsiteX2-1457" fmla="*/ 1206876 w 1306267"/>
              <a:gd name="connsiteY2-1458" fmla="*/ 284945 h 1424419"/>
              <a:gd name="connsiteX3-1459" fmla="*/ 1237706 w 1306267"/>
              <a:gd name="connsiteY3-1460" fmla="*/ 306775 h 1424419"/>
              <a:gd name="connsiteX4-1461" fmla="*/ 1301712 w 1306267"/>
              <a:gd name="connsiteY4-1462" fmla="*/ 442384 h 1424419"/>
              <a:gd name="connsiteX5-1463" fmla="*/ 1303099 w 1306267"/>
              <a:gd name="connsiteY5-1464" fmla="*/ 495558 h 1424419"/>
              <a:gd name="connsiteX6-1465" fmla="*/ 1303099 w 1306267"/>
              <a:gd name="connsiteY6-1466" fmla="*/ 952393 h 1424419"/>
              <a:gd name="connsiteX7-1467" fmla="*/ 1305306 w 1306267"/>
              <a:gd name="connsiteY7-1468" fmla="*/ 990115 h 1424419"/>
              <a:gd name="connsiteX8-1469" fmla="*/ 1255800 w 1306267"/>
              <a:gd name="connsiteY8-1470" fmla="*/ 1142552 h 1424419"/>
              <a:gd name="connsiteX9-1471" fmla="*/ 1172881 w 1306267"/>
              <a:gd name="connsiteY9-1472" fmla="*/ 1179342 h 1424419"/>
              <a:gd name="connsiteX10-1473" fmla="*/ 792288 w 1306267"/>
              <a:gd name="connsiteY10-1474" fmla="*/ 1385653 h 1424419"/>
              <a:gd name="connsiteX11-1475" fmla="*/ 522686 w 1306267"/>
              <a:gd name="connsiteY11-1476" fmla="*/ 1384922 h 1424419"/>
              <a:gd name="connsiteX12-1477" fmla="*/ 97009 w 1306267"/>
              <a:gd name="connsiteY12-1478" fmla="*/ 1161462 h 1424419"/>
              <a:gd name="connsiteX13-1479" fmla="*/ 44843 w 1306267"/>
              <a:gd name="connsiteY13-1480" fmla="*/ 1118989 h 1424419"/>
              <a:gd name="connsiteX14-1481" fmla="*/ 667 w 1306267"/>
              <a:gd name="connsiteY14-1482" fmla="*/ 999105 h 1424419"/>
              <a:gd name="connsiteX15-1483" fmla="*/ 0 w 1306267"/>
              <a:gd name="connsiteY15-1484" fmla="*/ 972364 h 1424419"/>
              <a:gd name="connsiteX16-1485" fmla="*/ 2496 w 1306267"/>
              <a:gd name="connsiteY16-1486" fmla="*/ 463106 h 1424419"/>
              <a:gd name="connsiteX17-1487" fmla="*/ 2458 w 1306267"/>
              <a:gd name="connsiteY17-1488" fmla="*/ 429563 h 1424419"/>
              <a:gd name="connsiteX18-1489" fmla="*/ 75248 w 1306267"/>
              <a:gd name="connsiteY18-1490" fmla="*/ 303202 h 1424419"/>
              <a:gd name="connsiteX19-1491" fmla="*/ 106293 w 1306267"/>
              <a:gd name="connsiteY19-1492" fmla="*/ 282597 h 1424419"/>
              <a:gd name="connsiteX20-1493" fmla="*/ 541533 w 1306267"/>
              <a:gd name="connsiteY20-1494" fmla="*/ 38110 h 1424419"/>
              <a:gd name="connsiteX21-1495" fmla="*/ 653528 w 1306267"/>
              <a:gd name="connsiteY21-1496" fmla="*/ 0 h 1424419"/>
              <a:gd name="connsiteX0-1497" fmla="*/ 653528 w 1306267"/>
              <a:gd name="connsiteY0-1498" fmla="*/ 0 h 1424419"/>
              <a:gd name="connsiteX1-1499" fmla="*/ 757287 w 1306267"/>
              <a:gd name="connsiteY1-1500" fmla="*/ 32444 h 1424419"/>
              <a:gd name="connsiteX2-1501" fmla="*/ 1206876 w 1306267"/>
              <a:gd name="connsiteY2-1502" fmla="*/ 284945 h 1424419"/>
              <a:gd name="connsiteX3-1503" fmla="*/ 1237706 w 1306267"/>
              <a:gd name="connsiteY3-1504" fmla="*/ 306775 h 1424419"/>
              <a:gd name="connsiteX4-1505" fmla="*/ 1301712 w 1306267"/>
              <a:gd name="connsiteY4-1506" fmla="*/ 442384 h 1424419"/>
              <a:gd name="connsiteX5-1507" fmla="*/ 1303099 w 1306267"/>
              <a:gd name="connsiteY5-1508" fmla="*/ 495558 h 1424419"/>
              <a:gd name="connsiteX6-1509" fmla="*/ 1303099 w 1306267"/>
              <a:gd name="connsiteY6-1510" fmla="*/ 952393 h 1424419"/>
              <a:gd name="connsiteX7-1511" fmla="*/ 1305306 w 1306267"/>
              <a:gd name="connsiteY7-1512" fmla="*/ 990115 h 1424419"/>
              <a:gd name="connsiteX8-1513" fmla="*/ 1255800 w 1306267"/>
              <a:gd name="connsiteY8-1514" fmla="*/ 1142552 h 1424419"/>
              <a:gd name="connsiteX9-1515" fmla="*/ 1172881 w 1306267"/>
              <a:gd name="connsiteY9-1516" fmla="*/ 1179342 h 1424419"/>
              <a:gd name="connsiteX10-1517" fmla="*/ 792288 w 1306267"/>
              <a:gd name="connsiteY10-1518" fmla="*/ 1385653 h 1424419"/>
              <a:gd name="connsiteX11-1519" fmla="*/ 522686 w 1306267"/>
              <a:gd name="connsiteY11-1520" fmla="*/ 1384922 h 1424419"/>
              <a:gd name="connsiteX12-1521" fmla="*/ 94302 w 1306267"/>
              <a:gd name="connsiteY12-1522" fmla="*/ 1158755 h 1424419"/>
              <a:gd name="connsiteX13-1523" fmla="*/ 44843 w 1306267"/>
              <a:gd name="connsiteY13-1524" fmla="*/ 1118989 h 1424419"/>
              <a:gd name="connsiteX14-1525" fmla="*/ 667 w 1306267"/>
              <a:gd name="connsiteY14-1526" fmla="*/ 999105 h 1424419"/>
              <a:gd name="connsiteX15-1527" fmla="*/ 0 w 1306267"/>
              <a:gd name="connsiteY15-1528" fmla="*/ 972364 h 1424419"/>
              <a:gd name="connsiteX16-1529" fmla="*/ 2496 w 1306267"/>
              <a:gd name="connsiteY16-1530" fmla="*/ 463106 h 1424419"/>
              <a:gd name="connsiteX17-1531" fmla="*/ 2458 w 1306267"/>
              <a:gd name="connsiteY17-1532" fmla="*/ 429563 h 1424419"/>
              <a:gd name="connsiteX18-1533" fmla="*/ 75248 w 1306267"/>
              <a:gd name="connsiteY18-1534" fmla="*/ 303202 h 1424419"/>
              <a:gd name="connsiteX19-1535" fmla="*/ 106293 w 1306267"/>
              <a:gd name="connsiteY19-1536" fmla="*/ 282597 h 1424419"/>
              <a:gd name="connsiteX20-1537" fmla="*/ 541533 w 1306267"/>
              <a:gd name="connsiteY20-1538" fmla="*/ 38110 h 1424419"/>
              <a:gd name="connsiteX21-1539" fmla="*/ 653528 w 1306267"/>
              <a:gd name="connsiteY21-1540" fmla="*/ 0 h 1424419"/>
              <a:gd name="connsiteX0-1541" fmla="*/ 653528 w 1306267"/>
              <a:gd name="connsiteY0-1542" fmla="*/ 0 h 1424419"/>
              <a:gd name="connsiteX1-1543" fmla="*/ 757287 w 1306267"/>
              <a:gd name="connsiteY1-1544" fmla="*/ 32444 h 1424419"/>
              <a:gd name="connsiteX2-1545" fmla="*/ 1206876 w 1306267"/>
              <a:gd name="connsiteY2-1546" fmla="*/ 284945 h 1424419"/>
              <a:gd name="connsiteX3-1547" fmla="*/ 1237706 w 1306267"/>
              <a:gd name="connsiteY3-1548" fmla="*/ 306775 h 1424419"/>
              <a:gd name="connsiteX4-1549" fmla="*/ 1301712 w 1306267"/>
              <a:gd name="connsiteY4-1550" fmla="*/ 442384 h 1424419"/>
              <a:gd name="connsiteX5-1551" fmla="*/ 1303099 w 1306267"/>
              <a:gd name="connsiteY5-1552" fmla="*/ 495558 h 1424419"/>
              <a:gd name="connsiteX6-1553" fmla="*/ 1303099 w 1306267"/>
              <a:gd name="connsiteY6-1554" fmla="*/ 952393 h 1424419"/>
              <a:gd name="connsiteX7-1555" fmla="*/ 1305306 w 1306267"/>
              <a:gd name="connsiteY7-1556" fmla="*/ 990115 h 1424419"/>
              <a:gd name="connsiteX8-1557" fmla="*/ 1255800 w 1306267"/>
              <a:gd name="connsiteY8-1558" fmla="*/ 1142552 h 1424419"/>
              <a:gd name="connsiteX9-1559" fmla="*/ 1172881 w 1306267"/>
              <a:gd name="connsiteY9-1560" fmla="*/ 1179342 h 1424419"/>
              <a:gd name="connsiteX10-1561" fmla="*/ 792288 w 1306267"/>
              <a:gd name="connsiteY10-1562" fmla="*/ 1385653 h 1424419"/>
              <a:gd name="connsiteX11-1563" fmla="*/ 522686 w 1306267"/>
              <a:gd name="connsiteY11-1564" fmla="*/ 1384922 h 1424419"/>
              <a:gd name="connsiteX12-1565" fmla="*/ 94302 w 1306267"/>
              <a:gd name="connsiteY12-1566" fmla="*/ 1158755 h 1424419"/>
              <a:gd name="connsiteX13-1567" fmla="*/ 39429 w 1306267"/>
              <a:gd name="connsiteY13-1568" fmla="*/ 1117635 h 1424419"/>
              <a:gd name="connsiteX14-1569" fmla="*/ 667 w 1306267"/>
              <a:gd name="connsiteY14-1570" fmla="*/ 999105 h 1424419"/>
              <a:gd name="connsiteX15-1571" fmla="*/ 0 w 1306267"/>
              <a:gd name="connsiteY15-1572" fmla="*/ 972364 h 1424419"/>
              <a:gd name="connsiteX16-1573" fmla="*/ 2496 w 1306267"/>
              <a:gd name="connsiteY16-1574" fmla="*/ 463106 h 1424419"/>
              <a:gd name="connsiteX17-1575" fmla="*/ 2458 w 1306267"/>
              <a:gd name="connsiteY17-1576" fmla="*/ 429563 h 1424419"/>
              <a:gd name="connsiteX18-1577" fmla="*/ 75248 w 1306267"/>
              <a:gd name="connsiteY18-1578" fmla="*/ 303202 h 1424419"/>
              <a:gd name="connsiteX19-1579" fmla="*/ 106293 w 1306267"/>
              <a:gd name="connsiteY19-1580" fmla="*/ 282597 h 1424419"/>
              <a:gd name="connsiteX20-1581" fmla="*/ 541533 w 1306267"/>
              <a:gd name="connsiteY20-1582" fmla="*/ 38110 h 1424419"/>
              <a:gd name="connsiteX21-1583" fmla="*/ 653528 w 1306267"/>
              <a:gd name="connsiteY21-1584" fmla="*/ 0 h 1424419"/>
              <a:gd name="connsiteX0-1585" fmla="*/ 653528 w 1305333"/>
              <a:gd name="connsiteY0-1586" fmla="*/ 0 h 1424419"/>
              <a:gd name="connsiteX1-1587" fmla="*/ 757287 w 1305333"/>
              <a:gd name="connsiteY1-1588" fmla="*/ 32444 h 1424419"/>
              <a:gd name="connsiteX2-1589" fmla="*/ 1206876 w 1305333"/>
              <a:gd name="connsiteY2-1590" fmla="*/ 284945 h 1424419"/>
              <a:gd name="connsiteX3-1591" fmla="*/ 1237706 w 1305333"/>
              <a:gd name="connsiteY3-1592" fmla="*/ 306775 h 1424419"/>
              <a:gd name="connsiteX4-1593" fmla="*/ 1301712 w 1305333"/>
              <a:gd name="connsiteY4-1594" fmla="*/ 442384 h 1424419"/>
              <a:gd name="connsiteX5-1595" fmla="*/ 1303099 w 1305333"/>
              <a:gd name="connsiteY5-1596" fmla="*/ 495558 h 1424419"/>
              <a:gd name="connsiteX6-1597" fmla="*/ 1303099 w 1305333"/>
              <a:gd name="connsiteY6-1598" fmla="*/ 952393 h 1424419"/>
              <a:gd name="connsiteX7-1599" fmla="*/ 1305306 w 1305333"/>
              <a:gd name="connsiteY7-1600" fmla="*/ 990115 h 1424419"/>
              <a:gd name="connsiteX8-1601" fmla="*/ 1227376 w 1305333"/>
              <a:gd name="connsiteY8-1602" fmla="*/ 1152027 h 1424419"/>
              <a:gd name="connsiteX9-1603" fmla="*/ 1172881 w 1305333"/>
              <a:gd name="connsiteY9-1604" fmla="*/ 1179342 h 1424419"/>
              <a:gd name="connsiteX10-1605" fmla="*/ 792288 w 1305333"/>
              <a:gd name="connsiteY10-1606" fmla="*/ 1385653 h 1424419"/>
              <a:gd name="connsiteX11-1607" fmla="*/ 522686 w 1305333"/>
              <a:gd name="connsiteY11-1608" fmla="*/ 1384922 h 1424419"/>
              <a:gd name="connsiteX12-1609" fmla="*/ 94302 w 1305333"/>
              <a:gd name="connsiteY12-1610" fmla="*/ 1158755 h 1424419"/>
              <a:gd name="connsiteX13-1611" fmla="*/ 39429 w 1305333"/>
              <a:gd name="connsiteY13-1612" fmla="*/ 1117635 h 1424419"/>
              <a:gd name="connsiteX14-1613" fmla="*/ 667 w 1305333"/>
              <a:gd name="connsiteY14-1614" fmla="*/ 999105 h 1424419"/>
              <a:gd name="connsiteX15-1615" fmla="*/ 0 w 1305333"/>
              <a:gd name="connsiteY15-1616" fmla="*/ 972364 h 1424419"/>
              <a:gd name="connsiteX16-1617" fmla="*/ 2496 w 1305333"/>
              <a:gd name="connsiteY16-1618" fmla="*/ 463106 h 1424419"/>
              <a:gd name="connsiteX17-1619" fmla="*/ 2458 w 1305333"/>
              <a:gd name="connsiteY17-1620" fmla="*/ 429563 h 1424419"/>
              <a:gd name="connsiteX18-1621" fmla="*/ 75248 w 1305333"/>
              <a:gd name="connsiteY18-1622" fmla="*/ 303202 h 1424419"/>
              <a:gd name="connsiteX19-1623" fmla="*/ 106293 w 1305333"/>
              <a:gd name="connsiteY19-1624" fmla="*/ 282597 h 1424419"/>
              <a:gd name="connsiteX20-1625" fmla="*/ 541533 w 1305333"/>
              <a:gd name="connsiteY20-1626" fmla="*/ 38110 h 1424419"/>
              <a:gd name="connsiteX21-1627" fmla="*/ 653528 w 1305333"/>
              <a:gd name="connsiteY21-1628" fmla="*/ 0 h 1424419"/>
              <a:gd name="connsiteX0-1629" fmla="*/ 653528 w 1305333"/>
              <a:gd name="connsiteY0-1630" fmla="*/ 0 h 1424419"/>
              <a:gd name="connsiteX1-1631" fmla="*/ 757287 w 1305333"/>
              <a:gd name="connsiteY1-1632" fmla="*/ 32444 h 1424419"/>
              <a:gd name="connsiteX2-1633" fmla="*/ 1206876 w 1305333"/>
              <a:gd name="connsiteY2-1634" fmla="*/ 284945 h 1424419"/>
              <a:gd name="connsiteX3-1635" fmla="*/ 1237706 w 1305333"/>
              <a:gd name="connsiteY3-1636" fmla="*/ 306775 h 1424419"/>
              <a:gd name="connsiteX4-1637" fmla="*/ 1301712 w 1305333"/>
              <a:gd name="connsiteY4-1638" fmla="*/ 442384 h 1424419"/>
              <a:gd name="connsiteX5-1639" fmla="*/ 1303099 w 1305333"/>
              <a:gd name="connsiteY5-1640" fmla="*/ 495558 h 1424419"/>
              <a:gd name="connsiteX6-1641" fmla="*/ 1303099 w 1305333"/>
              <a:gd name="connsiteY6-1642" fmla="*/ 952393 h 1424419"/>
              <a:gd name="connsiteX7-1643" fmla="*/ 1302599 w 1305333"/>
              <a:gd name="connsiteY7-1644" fmla="*/ 1003650 h 1424419"/>
              <a:gd name="connsiteX8-1645" fmla="*/ 1227376 w 1305333"/>
              <a:gd name="connsiteY8-1646" fmla="*/ 1152027 h 1424419"/>
              <a:gd name="connsiteX9-1647" fmla="*/ 1172881 w 1305333"/>
              <a:gd name="connsiteY9-1648" fmla="*/ 1179342 h 1424419"/>
              <a:gd name="connsiteX10-1649" fmla="*/ 792288 w 1305333"/>
              <a:gd name="connsiteY10-1650" fmla="*/ 1385653 h 1424419"/>
              <a:gd name="connsiteX11-1651" fmla="*/ 522686 w 1305333"/>
              <a:gd name="connsiteY11-1652" fmla="*/ 1384922 h 1424419"/>
              <a:gd name="connsiteX12-1653" fmla="*/ 94302 w 1305333"/>
              <a:gd name="connsiteY12-1654" fmla="*/ 1158755 h 1424419"/>
              <a:gd name="connsiteX13-1655" fmla="*/ 39429 w 1305333"/>
              <a:gd name="connsiteY13-1656" fmla="*/ 1117635 h 1424419"/>
              <a:gd name="connsiteX14-1657" fmla="*/ 667 w 1305333"/>
              <a:gd name="connsiteY14-1658" fmla="*/ 999105 h 1424419"/>
              <a:gd name="connsiteX15-1659" fmla="*/ 0 w 1305333"/>
              <a:gd name="connsiteY15-1660" fmla="*/ 972364 h 1424419"/>
              <a:gd name="connsiteX16-1661" fmla="*/ 2496 w 1305333"/>
              <a:gd name="connsiteY16-1662" fmla="*/ 463106 h 1424419"/>
              <a:gd name="connsiteX17-1663" fmla="*/ 2458 w 1305333"/>
              <a:gd name="connsiteY17-1664" fmla="*/ 429563 h 1424419"/>
              <a:gd name="connsiteX18-1665" fmla="*/ 75248 w 1305333"/>
              <a:gd name="connsiteY18-1666" fmla="*/ 303202 h 1424419"/>
              <a:gd name="connsiteX19-1667" fmla="*/ 106293 w 1305333"/>
              <a:gd name="connsiteY19-1668" fmla="*/ 282597 h 1424419"/>
              <a:gd name="connsiteX20-1669" fmla="*/ 541533 w 1305333"/>
              <a:gd name="connsiteY20-1670" fmla="*/ 38110 h 1424419"/>
              <a:gd name="connsiteX21-1671" fmla="*/ 653528 w 1305333"/>
              <a:gd name="connsiteY21-1672" fmla="*/ 0 h 1424419"/>
              <a:gd name="connsiteX0-1673" fmla="*/ 653528 w 1305080"/>
              <a:gd name="connsiteY0-1674" fmla="*/ 0 h 1424419"/>
              <a:gd name="connsiteX1-1675" fmla="*/ 757287 w 1305080"/>
              <a:gd name="connsiteY1-1676" fmla="*/ 32444 h 1424419"/>
              <a:gd name="connsiteX2-1677" fmla="*/ 1206876 w 1305080"/>
              <a:gd name="connsiteY2-1678" fmla="*/ 284945 h 1424419"/>
              <a:gd name="connsiteX3-1679" fmla="*/ 1237706 w 1305080"/>
              <a:gd name="connsiteY3-1680" fmla="*/ 306775 h 1424419"/>
              <a:gd name="connsiteX4-1681" fmla="*/ 1301712 w 1305080"/>
              <a:gd name="connsiteY4-1682" fmla="*/ 442384 h 1424419"/>
              <a:gd name="connsiteX5-1683" fmla="*/ 1303099 w 1305080"/>
              <a:gd name="connsiteY5-1684" fmla="*/ 495558 h 1424419"/>
              <a:gd name="connsiteX6-1685" fmla="*/ 1301746 w 1305080"/>
              <a:gd name="connsiteY6-1686" fmla="*/ 953747 h 1424419"/>
              <a:gd name="connsiteX7-1687" fmla="*/ 1302599 w 1305080"/>
              <a:gd name="connsiteY7-1688" fmla="*/ 1003650 h 1424419"/>
              <a:gd name="connsiteX8-1689" fmla="*/ 1227376 w 1305080"/>
              <a:gd name="connsiteY8-1690" fmla="*/ 1152027 h 1424419"/>
              <a:gd name="connsiteX9-1691" fmla="*/ 1172881 w 1305080"/>
              <a:gd name="connsiteY9-1692" fmla="*/ 1179342 h 1424419"/>
              <a:gd name="connsiteX10-1693" fmla="*/ 792288 w 1305080"/>
              <a:gd name="connsiteY10-1694" fmla="*/ 1385653 h 1424419"/>
              <a:gd name="connsiteX11-1695" fmla="*/ 522686 w 1305080"/>
              <a:gd name="connsiteY11-1696" fmla="*/ 1384922 h 1424419"/>
              <a:gd name="connsiteX12-1697" fmla="*/ 94302 w 1305080"/>
              <a:gd name="connsiteY12-1698" fmla="*/ 1158755 h 1424419"/>
              <a:gd name="connsiteX13-1699" fmla="*/ 39429 w 1305080"/>
              <a:gd name="connsiteY13-1700" fmla="*/ 1117635 h 1424419"/>
              <a:gd name="connsiteX14-1701" fmla="*/ 667 w 1305080"/>
              <a:gd name="connsiteY14-1702" fmla="*/ 999105 h 1424419"/>
              <a:gd name="connsiteX15-1703" fmla="*/ 0 w 1305080"/>
              <a:gd name="connsiteY15-1704" fmla="*/ 972364 h 1424419"/>
              <a:gd name="connsiteX16-1705" fmla="*/ 2496 w 1305080"/>
              <a:gd name="connsiteY16-1706" fmla="*/ 463106 h 1424419"/>
              <a:gd name="connsiteX17-1707" fmla="*/ 2458 w 1305080"/>
              <a:gd name="connsiteY17-1708" fmla="*/ 429563 h 1424419"/>
              <a:gd name="connsiteX18-1709" fmla="*/ 75248 w 1305080"/>
              <a:gd name="connsiteY18-1710" fmla="*/ 303202 h 1424419"/>
              <a:gd name="connsiteX19-1711" fmla="*/ 106293 w 1305080"/>
              <a:gd name="connsiteY19-1712" fmla="*/ 282597 h 1424419"/>
              <a:gd name="connsiteX20-1713" fmla="*/ 541533 w 1305080"/>
              <a:gd name="connsiteY20-1714" fmla="*/ 38110 h 1424419"/>
              <a:gd name="connsiteX21-1715" fmla="*/ 653528 w 1305080"/>
              <a:gd name="connsiteY21-1716" fmla="*/ 0 h 1424419"/>
              <a:gd name="connsiteX0-1717" fmla="*/ 653528 w 1305299"/>
              <a:gd name="connsiteY0-1718" fmla="*/ 0 h 1424419"/>
              <a:gd name="connsiteX1-1719" fmla="*/ 757287 w 1305299"/>
              <a:gd name="connsiteY1-1720" fmla="*/ 32444 h 1424419"/>
              <a:gd name="connsiteX2-1721" fmla="*/ 1206876 w 1305299"/>
              <a:gd name="connsiteY2-1722" fmla="*/ 284945 h 1424419"/>
              <a:gd name="connsiteX3-1723" fmla="*/ 1237706 w 1305299"/>
              <a:gd name="connsiteY3-1724" fmla="*/ 306775 h 1424419"/>
              <a:gd name="connsiteX4-1725" fmla="*/ 1301712 w 1305299"/>
              <a:gd name="connsiteY4-1726" fmla="*/ 442384 h 1424419"/>
              <a:gd name="connsiteX5-1727" fmla="*/ 1303099 w 1305299"/>
              <a:gd name="connsiteY5-1728" fmla="*/ 495558 h 1424419"/>
              <a:gd name="connsiteX6-1729" fmla="*/ 1301746 w 1305299"/>
              <a:gd name="connsiteY6-1730" fmla="*/ 953747 h 1424419"/>
              <a:gd name="connsiteX7-1731" fmla="*/ 1302599 w 1305299"/>
              <a:gd name="connsiteY7-1732" fmla="*/ 1003650 h 1424419"/>
              <a:gd name="connsiteX8-1733" fmla="*/ 1227376 w 1305299"/>
              <a:gd name="connsiteY8-1734" fmla="*/ 1152027 h 1424419"/>
              <a:gd name="connsiteX9-1735" fmla="*/ 1172881 w 1305299"/>
              <a:gd name="connsiteY9-1736" fmla="*/ 1179342 h 1424419"/>
              <a:gd name="connsiteX10-1737" fmla="*/ 792288 w 1305299"/>
              <a:gd name="connsiteY10-1738" fmla="*/ 1385653 h 1424419"/>
              <a:gd name="connsiteX11-1739" fmla="*/ 522686 w 1305299"/>
              <a:gd name="connsiteY11-1740" fmla="*/ 1384922 h 1424419"/>
              <a:gd name="connsiteX12-1741" fmla="*/ 94302 w 1305299"/>
              <a:gd name="connsiteY12-1742" fmla="*/ 1158755 h 1424419"/>
              <a:gd name="connsiteX13-1743" fmla="*/ 39429 w 1305299"/>
              <a:gd name="connsiteY13-1744" fmla="*/ 1117635 h 1424419"/>
              <a:gd name="connsiteX14-1745" fmla="*/ 667 w 1305299"/>
              <a:gd name="connsiteY14-1746" fmla="*/ 999105 h 1424419"/>
              <a:gd name="connsiteX15-1747" fmla="*/ 0 w 1305299"/>
              <a:gd name="connsiteY15-1748" fmla="*/ 972364 h 1424419"/>
              <a:gd name="connsiteX16-1749" fmla="*/ 2496 w 1305299"/>
              <a:gd name="connsiteY16-1750" fmla="*/ 463106 h 1424419"/>
              <a:gd name="connsiteX17-1751" fmla="*/ 2458 w 1305299"/>
              <a:gd name="connsiteY17-1752" fmla="*/ 429563 h 1424419"/>
              <a:gd name="connsiteX18-1753" fmla="*/ 75248 w 1305299"/>
              <a:gd name="connsiteY18-1754" fmla="*/ 303202 h 1424419"/>
              <a:gd name="connsiteX19-1755" fmla="*/ 106293 w 1305299"/>
              <a:gd name="connsiteY19-1756" fmla="*/ 282597 h 1424419"/>
              <a:gd name="connsiteX20-1757" fmla="*/ 541533 w 1305299"/>
              <a:gd name="connsiteY20-1758" fmla="*/ 38110 h 1424419"/>
              <a:gd name="connsiteX21-1759" fmla="*/ 653528 w 1305299"/>
              <a:gd name="connsiteY21-1760" fmla="*/ 0 h 1424419"/>
              <a:gd name="connsiteX0-1761" fmla="*/ 653528 w 1306646"/>
              <a:gd name="connsiteY0-1762" fmla="*/ 0 h 1424419"/>
              <a:gd name="connsiteX1-1763" fmla="*/ 757287 w 1306646"/>
              <a:gd name="connsiteY1-1764" fmla="*/ 32444 h 1424419"/>
              <a:gd name="connsiteX2-1765" fmla="*/ 1206876 w 1306646"/>
              <a:gd name="connsiteY2-1766" fmla="*/ 284945 h 1424419"/>
              <a:gd name="connsiteX3-1767" fmla="*/ 1237706 w 1306646"/>
              <a:gd name="connsiteY3-1768" fmla="*/ 306775 h 1424419"/>
              <a:gd name="connsiteX4-1769" fmla="*/ 1301712 w 1306646"/>
              <a:gd name="connsiteY4-1770" fmla="*/ 442384 h 1424419"/>
              <a:gd name="connsiteX5-1771" fmla="*/ 1303099 w 1306646"/>
              <a:gd name="connsiteY5-1772" fmla="*/ 495558 h 1424419"/>
              <a:gd name="connsiteX6-1773" fmla="*/ 1301746 w 1306646"/>
              <a:gd name="connsiteY6-1774" fmla="*/ 953747 h 1424419"/>
              <a:gd name="connsiteX7-1775" fmla="*/ 1302599 w 1306646"/>
              <a:gd name="connsiteY7-1776" fmla="*/ 1003650 h 1424419"/>
              <a:gd name="connsiteX8-1777" fmla="*/ 1227376 w 1306646"/>
              <a:gd name="connsiteY8-1778" fmla="*/ 1152027 h 1424419"/>
              <a:gd name="connsiteX9-1779" fmla="*/ 1172881 w 1306646"/>
              <a:gd name="connsiteY9-1780" fmla="*/ 1179342 h 1424419"/>
              <a:gd name="connsiteX10-1781" fmla="*/ 792288 w 1306646"/>
              <a:gd name="connsiteY10-1782" fmla="*/ 1385653 h 1424419"/>
              <a:gd name="connsiteX11-1783" fmla="*/ 522686 w 1306646"/>
              <a:gd name="connsiteY11-1784" fmla="*/ 1384922 h 1424419"/>
              <a:gd name="connsiteX12-1785" fmla="*/ 94302 w 1306646"/>
              <a:gd name="connsiteY12-1786" fmla="*/ 1158755 h 1424419"/>
              <a:gd name="connsiteX13-1787" fmla="*/ 39429 w 1306646"/>
              <a:gd name="connsiteY13-1788" fmla="*/ 1117635 h 1424419"/>
              <a:gd name="connsiteX14-1789" fmla="*/ 667 w 1306646"/>
              <a:gd name="connsiteY14-1790" fmla="*/ 999105 h 1424419"/>
              <a:gd name="connsiteX15-1791" fmla="*/ 0 w 1306646"/>
              <a:gd name="connsiteY15-1792" fmla="*/ 972364 h 1424419"/>
              <a:gd name="connsiteX16-1793" fmla="*/ 2496 w 1306646"/>
              <a:gd name="connsiteY16-1794" fmla="*/ 463106 h 1424419"/>
              <a:gd name="connsiteX17-1795" fmla="*/ 2458 w 1306646"/>
              <a:gd name="connsiteY17-1796" fmla="*/ 429563 h 1424419"/>
              <a:gd name="connsiteX18-1797" fmla="*/ 75248 w 1306646"/>
              <a:gd name="connsiteY18-1798" fmla="*/ 303202 h 1424419"/>
              <a:gd name="connsiteX19-1799" fmla="*/ 106293 w 1306646"/>
              <a:gd name="connsiteY19-1800" fmla="*/ 282597 h 1424419"/>
              <a:gd name="connsiteX20-1801" fmla="*/ 541533 w 1306646"/>
              <a:gd name="connsiteY20-1802" fmla="*/ 38110 h 1424419"/>
              <a:gd name="connsiteX21-1803" fmla="*/ 653528 w 1306646"/>
              <a:gd name="connsiteY21-1804" fmla="*/ 0 h 1424419"/>
              <a:gd name="connsiteX0-1805" fmla="*/ 653528 w 1305299"/>
              <a:gd name="connsiteY0-1806" fmla="*/ 0 h 1424419"/>
              <a:gd name="connsiteX1-1807" fmla="*/ 757287 w 1305299"/>
              <a:gd name="connsiteY1-1808" fmla="*/ 32444 h 1424419"/>
              <a:gd name="connsiteX2-1809" fmla="*/ 1206876 w 1305299"/>
              <a:gd name="connsiteY2-1810" fmla="*/ 284945 h 1424419"/>
              <a:gd name="connsiteX3-1811" fmla="*/ 1237706 w 1305299"/>
              <a:gd name="connsiteY3-1812" fmla="*/ 306775 h 1424419"/>
              <a:gd name="connsiteX4-1813" fmla="*/ 1301712 w 1305299"/>
              <a:gd name="connsiteY4-1814" fmla="*/ 442384 h 1424419"/>
              <a:gd name="connsiteX5-1815" fmla="*/ 1303099 w 1305299"/>
              <a:gd name="connsiteY5-1816" fmla="*/ 495558 h 1424419"/>
              <a:gd name="connsiteX6-1817" fmla="*/ 1301746 w 1305299"/>
              <a:gd name="connsiteY6-1818" fmla="*/ 953747 h 1424419"/>
              <a:gd name="connsiteX7-1819" fmla="*/ 1302599 w 1305299"/>
              <a:gd name="connsiteY7-1820" fmla="*/ 1003650 h 1424419"/>
              <a:gd name="connsiteX8-1821" fmla="*/ 1227376 w 1305299"/>
              <a:gd name="connsiteY8-1822" fmla="*/ 1152027 h 1424419"/>
              <a:gd name="connsiteX9-1823" fmla="*/ 1172881 w 1305299"/>
              <a:gd name="connsiteY9-1824" fmla="*/ 1179342 h 1424419"/>
              <a:gd name="connsiteX10-1825" fmla="*/ 792288 w 1305299"/>
              <a:gd name="connsiteY10-1826" fmla="*/ 1385653 h 1424419"/>
              <a:gd name="connsiteX11-1827" fmla="*/ 522686 w 1305299"/>
              <a:gd name="connsiteY11-1828" fmla="*/ 1384922 h 1424419"/>
              <a:gd name="connsiteX12-1829" fmla="*/ 94302 w 1305299"/>
              <a:gd name="connsiteY12-1830" fmla="*/ 1158755 h 1424419"/>
              <a:gd name="connsiteX13-1831" fmla="*/ 39429 w 1305299"/>
              <a:gd name="connsiteY13-1832" fmla="*/ 1117635 h 1424419"/>
              <a:gd name="connsiteX14-1833" fmla="*/ 667 w 1305299"/>
              <a:gd name="connsiteY14-1834" fmla="*/ 999105 h 1424419"/>
              <a:gd name="connsiteX15-1835" fmla="*/ 0 w 1305299"/>
              <a:gd name="connsiteY15-1836" fmla="*/ 972364 h 1424419"/>
              <a:gd name="connsiteX16-1837" fmla="*/ 2496 w 1305299"/>
              <a:gd name="connsiteY16-1838" fmla="*/ 463106 h 1424419"/>
              <a:gd name="connsiteX17-1839" fmla="*/ 2458 w 1305299"/>
              <a:gd name="connsiteY17-1840" fmla="*/ 429563 h 1424419"/>
              <a:gd name="connsiteX18-1841" fmla="*/ 75248 w 1305299"/>
              <a:gd name="connsiteY18-1842" fmla="*/ 303202 h 1424419"/>
              <a:gd name="connsiteX19-1843" fmla="*/ 106293 w 1305299"/>
              <a:gd name="connsiteY19-1844" fmla="*/ 282597 h 1424419"/>
              <a:gd name="connsiteX20-1845" fmla="*/ 541533 w 1305299"/>
              <a:gd name="connsiteY20-1846" fmla="*/ 38110 h 1424419"/>
              <a:gd name="connsiteX21-1847" fmla="*/ 653528 w 1305299"/>
              <a:gd name="connsiteY21-1848" fmla="*/ 0 h 1424419"/>
              <a:gd name="connsiteX0-1849" fmla="*/ 653528 w 1304127"/>
              <a:gd name="connsiteY0-1850" fmla="*/ 0 h 1424419"/>
              <a:gd name="connsiteX1-1851" fmla="*/ 757287 w 1304127"/>
              <a:gd name="connsiteY1-1852" fmla="*/ 32444 h 1424419"/>
              <a:gd name="connsiteX2-1853" fmla="*/ 1206876 w 1304127"/>
              <a:gd name="connsiteY2-1854" fmla="*/ 284945 h 1424419"/>
              <a:gd name="connsiteX3-1855" fmla="*/ 1237706 w 1304127"/>
              <a:gd name="connsiteY3-1856" fmla="*/ 306775 h 1424419"/>
              <a:gd name="connsiteX4-1857" fmla="*/ 1301712 w 1304127"/>
              <a:gd name="connsiteY4-1858" fmla="*/ 442384 h 1424419"/>
              <a:gd name="connsiteX5-1859" fmla="*/ 1303099 w 1304127"/>
              <a:gd name="connsiteY5-1860" fmla="*/ 495558 h 1424419"/>
              <a:gd name="connsiteX6-1861" fmla="*/ 1301746 w 1304127"/>
              <a:gd name="connsiteY6-1862" fmla="*/ 953747 h 1424419"/>
              <a:gd name="connsiteX7-1863" fmla="*/ 1302599 w 1304127"/>
              <a:gd name="connsiteY7-1864" fmla="*/ 1003650 h 1424419"/>
              <a:gd name="connsiteX8-1865" fmla="*/ 1227376 w 1304127"/>
              <a:gd name="connsiteY8-1866" fmla="*/ 1152027 h 1424419"/>
              <a:gd name="connsiteX9-1867" fmla="*/ 1172881 w 1304127"/>
              <a:gd name="connsiteY9-1868" fmla="*/ 1179342 h 1424419"/>
              <a:gd name="connsiteX10-1869" fmla="*/ 792288 w 1304127"/>
              <a:gd name="connsiteY10-1870" fmla="*/ 1385653 h 1424419"/>
              <a:gd name="connsiteX11-1871" fmla="*/ 522686 w 1304127"/>
              <a:gd name="connsiteY11-1872" fmla="*/ 1384922 h 1424419"/>
              <a:gd name="connsiteX12-1873" fmla="*/ 94302 w 1304127"/>
              <a:gd name="connsiteY12-1874" fmla="*/ 1158755 h 1424419"/>
              <a:gd name="connsiteX13-1875" fmla="*/ 39429 w 1304127"/>
              <a:gd name="connsiteY13-1876" fmla="*/ 1117635 h 1424419"/>
              <a:gd name="connsiteX14-1877" fmla="*/ 667 w 1304127"/>
              <a:gd name="connsiteY14-1878" fmla="*/ 999105 h 1424419"/>
              <a:gd name="connsiteX15-1879" fmla="*/ 0 w 1304127"/>
              <a:gd name="connsiteY15-1880" fmla="*/ 972364 h 1424419"/>
              <a:gd name="connsiteX16-1881" fmla="*/ 2496 w 1304127"/>
              <a:gd name="connsiteY16-1882" fmla="*/ 463106 h 1424419"/>
              <a:gd name="connsiteX17-1883" fmla="*/ 2458 w 1304127"/>
              <a:gd name="connsiteY17-1884" fmla="*/ 429563 h 1424419"/>
              <a:gd name="connsiteX18-1885" fmla="*/ 75248 w 1304127"/>
              <a:gd name="connsiteY18-1886" fmla="*/ 303202 h 1424419"/>
              <a:gd name="connsiteX19-1887" fmla="*/ 106293 w 1304127"/>
              <a:gd name="connsiteY19-1888" fmla="*/ 282597 h 1424419"/>
              <a:gd name="connsiteX20-1889" fmla="*/ 541533 w 1304127"/>
              <a:gd name="connsiteY20-1890" fmla="*/ 38110 h 1424419"/>
              <a:gd name="connsiteX21-1891" fmla="*/ 653528 w 1304127"/>
              <a:gd name="connsiteY21-1892" fmla="*/ 0 h 1424419"/>
              <a:gd name="connsiteX0-1893" fmla="*/ 653528 w 1306101"/>
              <a:gd name="connsiteY0-1894" fmla="*/ 0 h 1424419"/>
              <a:gd name="connsiteX1-1895" fmla="*/ 757287 w 1306101"/>
              <a:gd name="connsiteY1-1896" fmla="*/ 32444 h 1424419"/>
              <a:gd name="connsiteX2-1897" fmla="*/ 1206876 w 1306101"/>
              <a:gd name="connsiteY2-1898" fmla="*/ 284945 h 1424419"/>
              <a:gd name="connsiteX3-1899" fmla="*/ 1237706 w 1306101"/>
              <a:gd name="connsiteY3-1900" fmla="*/ 306775 h 1424419"/>
              <a:gd name="connsiteX4-1901" fmla="*/ 1305773 w 1306101"/>
              <a:gd name="connsiteY4-1902" fmla="*/ 442384 h 1424419"/>
              <a:gd name="connsiteX5-1903" fmla="*/ 1303099 w 1306101"/>
              <a:gd name="connsiteY5-1904" fmla="*/ 495558 h 1424419"/>
              <a:gd name="connsiteX6-1905" fmla="*/ 1301746 w 1306101"/>
              <a:gd name="connsiteY6-1906" fmla="*/ 953747 h 1424419"/>
              <a:gd name="connsiteX7-1907" fmla="*/ 1302599 w 1306101"/>
              <a:gd name="connsiteY7-1908" fmla="*/ 1003650 h 1424419"/>
              <a:gd name="connsiteX8-1909" fmla="*/ 1227376 w 1306101"/>
              <a:gd name="connsiteY8-1910" fmla="*/ 1152027 h 1424419"/>
              <a:gd name="connsiteX9-1911" fmla="*/ 1172881 w 1306101"/>
              <a:gd name="connsiteY9-1912" fmla="*/ 1179342 h 1424419"/>
              <a:gd name="connsiteX10-1913" fmla="*/ 792288 w 1306101"/>
              <a:gd name="connsiteY10-1914" fmla="*/ 1385653 h 1424419"/>
              <a:gd name="connsiteX11-1915" fmla="*/ 522686 w 1306101"/>
              <a:gd name="connsiteY11-1916" fmla="*/ 1384922 h 1424419"/>
              <a:gd name="connsiteX12-1917" fmla="*/ 94302 w 1306101"/>
              <a:gd name="connsiteY12-1918" fmla="*/ 1158755 h 1424419"/>
              <a:gd name="connsiteX13-1919" fmla="*/ 39429 w 1306101"/>
              <a:gd name="connsiteY13-1920" fmla="*/ 1117635 h 1424419"/>
              <a:gd name="connsiteX14-1921" fmla="*/ 667 w 1306101"/>
              <a:gd name="connsiteY14-1922" fmla="*/ 999105 h 1424419"/>
              <a:gd name="connsiteX15-1923" fmla="*/ 0 w 1306101"/>
              <a:gd name="connsiteY15-1924" fmla="*/ 972364 h 1424419"/>
              <a:gd name="connsiteX16-1925" fmla="*/ 2496 w 1306101"/>
              <a:gd name="connsiteY16-1926" fmla="*/ 463106 h 1424419"/>
              <a:gd name="connsiteX17-1927" fmla="*/ 2458 w 1306101"/>
              <a:gd name="connsiteY17-1928" fmla="*/ 429563 h 1424419"/>
              <a:gd name="connsiteX18-1929" fmla="*/ 75248 w 1306101"/>
              <a:gd name="connsiteY18-1930" fmla="*/ 303202 h 1424419"/>
              <a:gd name="connsiteX19-1931" fmla="*/ 106293 w 1306101"/>
              <a:gd name="connsiteY19-1932" fmla="*/ 282597 h 1424419"/>
              <a:gd name="connsiteX20-1933" fmla="*/ 541533 w 1306101"/>
              <a:gd name="connsiteY20-1934" fmla="*/ 38110 h 1424419"/>
              <a:gd name="connsiteX21-1935" fmla="*/ 653528 w 1306101"/>
              <a:gd name="connsiteY21-1936" fmla="*/ 0 h 1424419"/>
              <a:gd name="connsiteX0-1937" fmla="*/ 653528 w 1304819"/>
              <a:gd name="connsiteY0-1938" fmla="*/ 0 h 1424419"/>
              <a:gd name="connsiteX1-1939" fmla="*/ 757287 w 1304819"/>
              <a:gd name="connsiteY1-1940" fmla="*/ 32444 h 1424419"/>
              <a:gd name="connsiteX2-1941" fmla="*/ 1206876 w 1304819"/>
              <a:gd name="connsiteY2-1942" fmla="*/ 284945 h 1424419"/>
              <a:gd name="connsiteX3-1943" fmla="*/ 1237706 w 1304819"/>
              <a:gd name="connsiteY3-1944" fmla="*/ 306775 h 1424419"/>
              <a:gd name="connsiteX4-1945" fmla="*/ 1304420 w 1304819"/>
              <a:gd name="connsiteY4-1946" fmla="*/ 434263 h 1424419"/>
              <a:gd name="connsiteX5-1947" fmla="*/ 1303099 w 1304819"/>
              <a:gd name="connsiteY5-1948" fmla="*/ 495558 h 1424419"/>
              <a:gd name="connsiteX6-1949" fmla="*/ 1301746 w 1304819"/>
              <a:gd name="connsiteY6-1950" fmla="*/ 953747 h 1424419"/>
              <a:gd name="connsiteX7-1951" fmla="*/ 1302599 w 1304819"/>
              <a:gd name="connsiteY7-1952" fmla="*/ 1003650 h 1424419"/>
              <a:gd name="connsiteX8-1953" fmla="*/ 1227376 w 1304819"/>
              <a:gd name="connsiteY8-1954" fmla="*/ 1152027 h 1424419"/>
              <a:gd name="connsiteX9-1955" fmla="*/ 1172881 w 1304819"/>
              <a:gd name="connsiteY9-1956" fmla="*/ 1179342 h 1424419"/>
              <a:gd name="connsiteX10-1957" fmla="*/ 792288 w 1304819"/>
              <a:gd name="connsiteY10-1958" fmla="*/ 1385653 h 1424419"/>
              <a:gd name="connsiteX11-1959" fmla="*/ 522686 w 1304819"/>
              <a:gd name="connsiteY11-1960" fmla="*/ 1384922 h 1424419"/>
              <a:gd name="connsiteX12-1961" fmla="*/ 94302 w 1304819"/>
              <a:gd name="connsiteY12-1962" fmla="*/ 1158755 h 1424419"/>
              <a:gd name="connsiteX13-1963" fmla="*/ 39429 w 1304819"/>
              <a:gd name="connsiteY13-1964" fmla="*/ 1117635 h 1424419"/>
              <a:gd name="connsiteX14-1965" fmla="*/ 667 w 1304819"/>
              <a:gd name="connsiteY14-1966" fmla="*/ 999105 h 1424419"/>
              <a:gd name="connsiteX15-1967" fmla="*/ 0 w 1304819"/>
              <a:gd name="connsiteY15-1968" fmla="*/ 972364 h 1424419"/>
              <a:gd name="connsiteX16-1969" fmla="*/ 2496 w 1304819"/>
              <a:gd name="connsiteY16-1970" fmla="*/ 463106 h 1424419"/>
              <a:gd name="connsiteX17-1971" fmla="*/ 2458 w 1304819"/>
              <a:gd name="connsiteY17-1972" fmla="*/ 429563 h 1424419"/>
              <a:gd name="connsiteX18-1973" fmla="*/ 75248 w 1304819"/>
              <a:gd name="connsiteY18-1974" fmla="*/ 303202 h 1424419"/>
              <a:gd name="connsiteX19-1975" fmla="*/ 106293 w 1304819"/>
              <a:gd name="connsiteY19-1976" fmla="*/ 282597 h 1424419"/>
              <a:gd name="connsiteX20-1977" fmla="*/ 541533 w 1304819"/>
              <a:gd name="connsiteY20-1978" fmla="*/ 38110 h 1424419"/>
              <a:gd name="connsiteX21-1979" fmla="*/ 653528 w 1304819"/>
              <a:gd name="connsiteY21-1980" fmla="*/ 0 h 1424419"/>
              <a:gd name="connsiteX0-1981" fmla="*/ 653528 w 1306525"/>
              <a:gd name="connsiteY0-1982" fmla="*/ 0 h 1424419"/>
              <a:gd name="connsiteX1-1983" fmla="*/ 757287 w 1306525"/>
              <a:gd name="connsiteY1-1984" fmla="*/ 32444 h 1424419"/>
              <a:gd name="connsiteX2-1985" fmla="*/ 1206876 w 1306525"/>
              <a:gd name="connsiteY2-1986" fmla="*/ 284945 h 1424419"/>
              <a:gd name="connsiteX3-1987" fmla="*/ 1237706 w 1306525"/>
              <a:gd name="connsiteY3-1988" fmla="*/ 306775 h 1424419"/>
              <a:gd name="connsiteX4-1989" fmla="*/ 1304420 w 1306525"/>
              <a:gd name="connsiteY4-1990" fmla="*/ 434263 h 1424419"/>
              <a:gd name="connsiteX5-1991" fmla="*/ 1305806 w 1306525"/>
              <a:gd name="connsiteY5-1992" fmla="*/ 519922 h 1424419"/>
              <a:gd name="connsiteX6-1993" fmla="*/ 1301746 w 1306525"/>
              <a:gd name="connsiteY6-1994" fmla="*/ 953747 h 1424419"/>
              <a:gd name="connsiteX7-1995" fmla="*/ 1302599 w 1306525"/>
              <a:gd name="connsiteY7-1996" fmla="*/ 1003650 h 1424419"/>
              <a:gd name="connsiteX8-1997" fmla="*/ 1227376 w 1306525"/>
              <a:gd name="connsiteY8-1998" fmla="*/ 1152027 h 1424419"/>
              <a:gd name="connsiteX9-1999" fmla="*/ 1172881 w 1306525"/>
              <a:gd name="connsiteY9-2000" fmla="*/ 1179342 h 1424419"/>
              <a:gd name="connsiteX10-2001" fmla="*/ 792288 w 1306525"/>
              <a:gd name="connsiteY10-2002" fmla="*/ 1385653 h 1424419"/>
              <a:gd name="connsiteX11-2003" fmla="*/ 522686 w 1306525"/>
              <a:gd name="connsiteY11-2004" fmla="*/ 1384922 h 1424419"/>
              <a:gd name="connsiteX12-2005" fmla="*/ 94302 w 1306525"/>
              <a:gd name="connsiteY12-2006" fmla="*/ 1158755 h 1424419"/>
              <a:gd name="connsiteX13-2007" fmla="*/ 39429 w 1306525"/>
              <a:gd name="connsiteY13-2008" fmla="*/ 1117635 h 1424419"/>
              <a:gd name="connsiteX14-2009" fmla="*/ 667 w 1306525"/>
              <a:gd name="connsiteY14-2010" fmla="*/ 999105 h 1424419"/>
              <a:gd name="connsiteX15-2011" fmla="*/ 0 w 1306525"/>
              <a:gd name="connsiteY15-2012" fmla="*/ 972364 h 1424419"/>
              <a:gd name="connsiteX16-2013" fmla="*/ 2496 w 1306525"/>
              <a:gd name="connsiteY16-2014" fmla="*/ 463106 h 1424419"/>
              <a:gd name="connsiteX17-2015" fmla="*/ 2458 w 1306525"/>
              <a:gd name="connsiteY17-2016" fmla="*/ 429563 h 1424419"/>
              <a:gd name="connsiteX18-2017" fmla="*/ 75248 w 1306525"/>
              <a:gd name="connsiteY18-2018" fmla="*/ 303202 h 1424419"/>
              <a:gd name="connsiteX19-2019" fmla="*/ 106293 w 1306525"/>
              <a:gd name="connsiteY19-2020" fmla="*/ 282597 h 1424419"/>
              <a:gd name="connsiteX20-2021" fmla="*/ 541533 w 1306525"/>
              <a:gd name="connsiteY20-2022" fmla="*/ 38110 h 1424419"/>
              <a:gd name="connsiteX21-2023" fmla="*/ 653528 w 1306525"/>
              <a:gd name="connsiteY21-2024" fmla="*/ 0 h 1424419"/>
              <a:gd name="connsiteX0-2025" fmla="*/ 653528 w 1305814"/>
              <a:gd name="connsiteY0-2026" fmla="*/ 0 h 1424419"/>
              <a:gd name="connsiteX1-2027" fmla="*/ 757287 w 1305814"/>
              <a:gd name="connsiteY1-2028" fmla="*/ 32444 h 1424419"/>
              <a:gd name="connsiteX2-2029" fmla="*/ 1206876 w 1305814"/>
              <a:gd name="connsiteY2-2030" fmla="*/ 284945 h 1424419"/>
              <a:gd name="connsiteX3-2031" fmla="*/ 1237706 w 1305814"/>
              <a:gd name="connsiteY3-2032" fmla="*/ 306775 h 1424419"/>
              <a:gd name="connsiteX4-2033" fmla="*/ 1304420 w 1305814"/>
              <a:gd name="connsiteY4-2034" fmla="*/ 434263 h 1424419"/>
              <a:gd name="connsiteX5-2035" fmla="*/ 1305806 w 1305814"/>
              <a:gd name="connsiteY5-2036" fmla="*/ 519922 h 1424419"/>
              <a:gd name="connsiteX6-2037" fmla="*/ 1301746 w 1305814"/>
              <a:gd name="connsiteY6-2038" fmla="*/ 953747 h 1424419"/>
              <a:gd name="connsiteX7-2039" fmla="*/ 1302599 w 1305814"/>
              <a:gd name="connsiteY7-2040" fmla="*/ 1003650 h 1424419"/>
              <a:gd name="connsiteX8-2041" fmla="*/ 1227376 w 1305814"/>
              <a:gd name="connsiteY8-2042" fmla="*/ 1152027 h 1424419"/>
              <a:gd name="connsiteX9-2043" fmla="*/ 1172881 w 1305814"/>
              <a:gd name="connsiteY9-2044" fmla="*/ 1179342 h 1424419"/>
              <a:gd name="connsiteX10-2045" fmla="*/ 792288 w 1305814"/>
              <a:gd name="connsiteY10-2046" fmla="*/ 1385653 h 1424419"/>
              <a:gd name="connsiteX11-2047" fmla="*/ 522686 w 1305814"/>
              <a:gd name="connsiteY11-2048" fmla="*/ 1384922 h 1424419"/>
              <a:gd name="connsiteX12-2049" fmla="*/ 94302 w 1305814"/>
              <a:gd name="connsiteY12-2050" fmla="*/ 1158755 h 1424419"/>
              <a:gd name="connsiteX13-2051" fmla="*/ 39429 w 1305814"/>
              <a:gd name="connsiteY13-2052" fmla="*/ 1117635 h 1424419"/>
              <a:gd name="connsiteX14-2053" fmla="*/ 667 w 1305814"/>
              <a:gd name="connsiteY14-2054" fmla="*/ 999105 h 1424419"/>
              <a:gd name="connsiteX15-2055" fmla="*/ 0 w 1305814"/>
              <a:gd name="connsiteY15-2056" fmla="*/ 972364 h 1424419"/>
              <a:gd name="connsiteX16-2057" fmla="*/ 2496 w 1305814"/>
              <a:gd name="connsiteY16-2058" fmla="*/ 463106 h 1424419"/>
              <a:gd name="connsiteX17-2059" fmla="*/ 2458 w 1305814"/>
              <a:gd name="connsiteY17-2060" fmla="*/ 429563 h 1424419"/>
              <a:gd name="connsiteX18-2061" fmla="*/ 75248 w 1305814"/>
              <a:gd name="connsiteY18-2062" fmla="*/ 303202 h 1424419"/>
              <a:gd name="connsiteX19-2063" fmla="*/ 106293 w 1305814"/>
              <a:gd name="connsiteY19-2064" fmla="*/ 282597 h 1424419"/>
              <a:gd name="connsiteX20-2065" fmla="*/ 541533 w 1305814"/>
              <a:gd name="connsiteY20-2066" fmla="*/ 38110 h 1424419"/>
              <a:gd name="connsiteX21-2067" fmla="*/ 653528 w 1305814"/>
              <a:gd name="connsiteY21-2068" fmla="*/ 0 h 1424419"/>
              <a:gd name="connsiteX0-2069" fmla="*/ 653528 w 1305814"/>
              <a:gd name="connsiteY0-2070" fmla="*/ 0 h 1424419"/>
              <a:gd name="connsiteX1-2071" fmla="*/ 757287 w 1305814"/>
              <a:gd name="connsiteY1-2072" fmla="*/ 32444 h 1424419"/>
              <a:gd name="connsiteX2-2073" fmla="*/ 1206876 w 1305814"/>
              <a:gd name="connsiteY2-2074" fmla="*/ 284945 h 1424419"/>
              <a:gd name="connsiteX3-2075" fmla="*/ 1237706 w 1305814"/>
              <a:gd name="connsiteY3-2076" fmla="*/ 306775 h 1424419"/>
              <a:gd name="connsiteX4-2077" fmla="*/ 1304420 w 1305814"/>
              <a:gd name="connsiteY4-2078" fmla="*/ 434263 h 1424419"/>
              <a:gd name="connsiteX5-2079" fmla="*/ 1305806 w 1305814"/>
              <a:gd name="connsiteY5-2080" fmla="*/ 519922 h 1424419"/>
              <a:gd name="connsiteX6-2081" fmla="*/ 1301746 w 1305814"/>
              <a:gd name="connsiteY6-2082" fmla="*/ 953747 h 1424419"/>
              <a:gd name="connsiteX7-2083" fmla="*/ 1302599 w 1305814"/>
              <a:gd name="connsiteY7-2084" fmla="*/ 1003650 h 1424419"/>
              <a:gd name="connsiteX8-2085" fmla="*/ 1227376 w 1305814"/>
              <a:gd name="connsiteY8-2086" fmla="*/ 1152027 h 1424419"/>
              <a:gd name="connsiteX9-2087" fmla="*/ 1172881 w 1305814"/>
              <a:gd name="connsiteY9-2088" fmla="*/ 1179342 h 1424419"/>
              <a:gd name="connsiteX10-2089" fmla="*/ 792288 w 1305814"/>
              <a:gd name="connsiteY10-2090" fmla="*/ 1385653 h 1424419"/>
              <a:gd name="connsiteX11-2091" fmla="*/ 522686 w 1305814"/>
              <a:gd name="connsiteY11-2092" fmla="*/ 1384922 h 1424419"/>
              <a:gd name="connsiteX12-2093" fmla="*/ 94302 w 1305814"/>
              <a:gd name="connsiteY12-2094" fmla="*/ 1158755 h 1424419"/>
              <a:gd name="connsiteX13-2095" fmla="*/ 39429 w 1305814"/>
              <a:gd name="connsiteY13-2096" fmla="*/ 1117635 h 1424419"/>
              <a:gd name="connsiteX14-2097" fmla="*/ 667 w 1305814"/>
              <a:gd name="connsiteY14-2098" fmla="*/ 999105 h 1424419"/>
              <a:gd name="connsiteX15-2099" fmla="*/ 0 w 1305814"/>
              <a:gd name="connsiteY15-2100" fmla="*/ 972364 h 1424419"/>
              <a:gd name="connsiteX16-2101" fmla="*/ 2496 w 1305814"/>
              <a:gd name="connsiteY16-2102" fmla="*/ 463106 h 1424419"/>
              <a:gd name="connsiteX17-2103" fmla="*/ 2458 w 1305814"/>
              <a:gd name="connsiteY17-2104" fmla="*/ 429563 h 1424419"/>
              <a:gd name="connsiteX18-2105" fmla="*/ 75248 w 1305814"/>
              <a:gd name="connsiteY18-2106" fmla="*/ 303202 h 1424419"/>
              <a:gd name="connsiteX19-2107" fmla="*/ 106293 w 1305814"/>
              <a:gd name="connsiteY19-2108" fmla="*/ 282597 h 1424419"/>
              <a:gd name="connsiteX20-2109" fmla="*/ 541533 w 1305814"/>
              <a:gd name="connsiteY20-2110" fmla="*/ 38110 h 1424419"/>
              <a:gd name="connsiteX21-2111" fmla="*/ 653528 w 1305814"/>
              <a:gd name="connsiteY21-2112" fmla="*/ 0 h 1424419"/>
              <a:gd name="connsiteX0-2113" fmla="*/ 653528 w 1305814"/>
              <a:gd name="connsiteY0-2114" fmla="*/ 0 h 1424419"/>
              <a:gd name="connsiteX1-2115" fmla="*/ 757287 w 1305814"/>
              <a:gd name="connsiteY1-2116" fmla="*/ 32444 h 1424419"/>
              <a:gd name="connsiteX2-2117" fmla="*/ 1206876 w 1305814"/>
              <a:gd name="connsiteY2-2118" fmla="*/ 284945 h 1424419"/>
              <a:gd name="connsiteX3-2119" fmla="*/ 1237706 w 1305814"/>
              <a:gd name="connsiteY3-2120" fmla="*/ 306775 h 1424419"/>
              <a:gd name="connsiteX4-2121" fmla="*/ 1304420 w 1305814"/>
              <a:gd name="connsiteY4-2122" fmla="*/ 434263 h 1424419"/>
              <a:gd name="connsiteX5-2123" fmla="*/ 1305806 w 1305814"/>
              <a:gd name="connsiteY5-2124" fmla="*/ 519922 h 1424419"/>
              <a:gd name="connsiteX6-2125" fmla="*/ 1301746 w 1305814"/>
              <a:gd name="connsiteY6-2126" fmla="*/ 953747 h 1424419"/>
              <a:gd name="connsiteX7-2127" fmla="*/ 1302599 w 1305814"/>
              <a:gd name="connsiteY7-2128" fmla="*/ 1003650 h 1424419"/>
              <a:gd name="connsiteX8-2129" fmla="*/ 1227376 w 1305814"/>
              <a:gd name="connsiteY8-2130" fmla="*/ 1152027 h 1424419"/>
              <a:gd name="connsiteX9-2131" fmla="*/ 1174235 w 1305814"/>
              <a:gd name="connsiteY9-2132" fmla="*/ 1184756 h 1424419"/>
              <a:gd name="connsiteX10-2133" fmla="*/ 792288 w 1305814"/>
              <a:gd name="connsiteY10-2134" fmla="*/ 1385653 h 1424419"/>
              <a:gd name="connsiteX11-2135" fmla="*/ 522686 w 1305814"/>
              <a:gd name="connsiteY11-2136" fmla="*/ 1384922 h 1424419"/>
              <a:gd name="connsiteX12-2137" fmla="*/ 94302 w 1305814"/>
              <a:gd name="connsiteY12-2138" fmla="*/ 1158755 h 1424419"/>
              <a:gd name="connsiteX13-2139" fmla="*/ 39429 w 1305814"/>
              <a:gd name="connsiteY13-2140" fmla="*/ 1117635 h 1424419"/>
              <a:gd name="connsiteX14-2141" fmla="*/ 667 w 1305814"/>
              <a:gd name="connsiteY14-2142" fmla="*/ 999105 h 1424419"/>
              <a:gd name="connsiteX15-2143" fmla="*/ 0 w 1305814"/>
              <a:gd name="connsiteY15-2144" fmla="*/ 972364 h 1424419"/>
              <a:gd name="connsiteX16-2145" fmla="*/ 2496 w 1305814"/>
              <a:gd name="connsiteY16-2146" fmla="*/ 463106 h 1424419"/>
              <a:gd name="connsiteX17-2147" fmla="*/ 2458 w 1305814"/>
              <a:gd name="connsiteY17-2148" fmla="*/ 429563 h 1424419"/>
              <a:gd name="connsiteX18-2149" fmla="*/ 75248 w 1305814"/>
              <a:gd name="connsiteY18-2150" fmla="*/ 303202 h 1424419"/>
              <a:gd name="connsiteX19-2151" fmla="*/ 106293 w 1305814"/>
              <a:gd name="connsiteY19-2152" fmla="*/ 282597 h 1424419"/>
              <a:gd name="connsiteX20-2153" fmla="*/ 541533 w 1305814"/>
              <a:gd name="connsiteY20-2154" fmla="*/ 38110 h 1424419"/>
              <a:gd name="connsiteX21-2155" fmla="*/ 653528 w 1305814"/>
              <a:gd name="connsiteY21-2156" fmla="*/ 0 h 1424419"/>
              <a:gd name="connsiteX0-2157" fmla="*/ 653528 w 1305814"/>
              <a:gd name="connsiteY0-2158" fmla="*/ 0 h 1424419"/>
              <a:gd name="connsiteX1-2159" fmla="*/ 757287 w 1305814"/>
              <a:gd name="connsiteY1-2160" fmla="*/ 32444 h 1424419"/>
              <a:gd name="connsiteX2-2161" fmla="*/ 1206876 w 1305814"/>
              <a:gd name="connsiteY2-2162" fmla="*/ 284945 h 1424419"/>
              <a:gd name="connsiteX3-2163" fmla="*/ 1237706 w 1305814"/>
              <a:gd name="connsiteY3-2164" fmla="*/ 306775 h 1424419"/>
              <a:gd name="connsiteX4-2165" fmla="*/ 1304420 w 1305814"/>
              <a:gd name="connsiteY4-2166" fmla="*/ 434263 h 1424419"/>
              <a:gd name="connsiteX5-2167" fmla="*/ 1305806 w 1305814"/>
              <a:gd name="connsiteY5-2168" fmla="*/ 519922 h 1424419"/>
              <a:gd name="connsiteX6-2169" fmla="*/ 1301746 w 1305814"/>
              <a:gd name="connsiteY6-2170" fmla="*/ 953747 h 1424419"/>
              <a:gd name="connsiteX7-2171" fmla="*/ 1302599 w 1305814"/>
              <a:gd name="connsiteY7-2172" fmla="*/ 1003650 h 1424419"/>
              <a:gd name="connsiteX8-2173" fmla="*/ 1227376 w 1305814"/>
              <a:gd name="connsiteY8-2174" fmla="*/ 1152027 h 1424419"/>
              <a:gd name="connsiteX9-2175" fmla="*/ 1174235 w 1305814"/>
              <a:gd name="connsiteY9-2176" fmla="*/ 1184756 h 1424419"/>
              <a:gd name="connsiteX10-2177" fmla="*/ 792288 w 1305814"/>
              <a:gd name="connsiteY10-2178" fmla="*/ 1385653 h 1424419"/>
              <a:gd name="connsiteX11-2179" fmla="*/ 522686 w 1305814"/>
              <a:gd name="connsiteY11-2180" fmla="*/ 1384922 h 1424419"/>
              <a:gd name="connsiteX12-2181" fmla="*/ 94302 w 1305814"/>
              <a:gd name="connsiteY12-2182" fmla="*/ 1158755 h 1424419"/>
              <a:gd name="connsiteX13-2183" fmla="*/ 39429 w 1305814"/>
              <a:gd name="connsiteY13-2184" fmla="*/ 1117635 h 1424419"/>
              <a:gd name="connsiteX14-2185" fmla="*/ 667 w 1305814"/>
              <a:gd name="connsiteY14-2186" fmla="*/ 999105 h 1424419"/>
              <a:gd name="connsiteX15-2187" fmla="*/ 0 w 1305814"/>
              <a:gd name="connsiteY15-2188" fmla="*/ 972364 h 1424419"/>
              <a:gd name="connsiteX16-2189" fmla="*/ 2496 w 1305814"/>
              <a:gd name="connsiteY16-2190" fmla="*/ 463106 h 1424419"/>
              <a:gd name="connsiteX17-2191" fmla="*/ 2458 w 1305814"/>
              <a:gd name="connsiteY17-2192" fmla="*/ 429563 h 1424419"/>
              <a:gd name="connsiteX18-2193" fmla="*/ 75248 w 1305814"/>
              <a:gd name="connsiteY18-2194" fmla="*/ 303202 h 1424419"/>
              <a:gd name="connsiteX19-2195" fmla="*/ 106293 w 1305814"/>
              <a:gd name="connsiteY19-2196" fmla="*/ 282597 h 1424419"/>
              <a:gd name="connsiteX20-2197" fmla="*/ 541533 w 1305814"/>
              <a:gd name="connsiteY20-2198" fmla="*/ 38110 h 1424419"/>
              <a:gd name="connsiteX21-2199" fmla="*/ 653528 w 1305814"/>
              <a:gd name="connsiteY21-2200" fmla="*/ 0 h 1424419"/>
              <a:gd name="connsiteX0-2201" fmla="*/ 653528 w 1305814"/>
              <a:gd name="connsiteY0-2202" fmla="*/ 0 h 1427408"/>
              <a:gd name="connsiteX1-2203" fmla="*/ 757287 w 1305814"/>
              <a:gd name="connsiteY1-2204" fmla="*/ 32444 h 1427408"/>
              <a:gd name="connsiteX2-2205" fmla="*/ 1206876 w 1305814"/>
              <a:gd name="connsiteY2-2206" fmla="*/ 284945 h 1427408"/>
              <a:gd name="connsiteX3-2207" fmla="*/ 1237706 w 1305814"/>
              <a:gd name="connsiteY3-2208" fmla="*/ 306775 h 1427408"/>
              <a:gd name="connsiteX4-2209" fmla="*/ 1304420 w 1305814"/>
              <a:gd name="connsiteY4-2210" fmla="*/ 434263 h 1427408"/>
              <a:gd name="connsiteX5-2211" fmla="*/ 1305806 w 1305814"/>
              <a:gd name="connsiteY5-2212" fmla="*/ 519922 h 1427408"/>
              <a:gd name="connsiteX6-2213" fmla="*/ 1301746 w 1305814"/>
              <a:gd name="connsiteY6-2214" fmla="*/ 953747 h 1427408"/>
              <a:gd name="connsiteX7-2215" fmla="*/ 1302599 w 1305814"/>
              <a:gd name="connsiteY7-2216" fmla="*/ 1003650 h 1427408"/>
              <a:gd name="connsiteX8-2217" fmla="*/ 1227376 w 1305814"/>
              <a:gd name="connsiteY8-2218" fmla="*/ 1152027 h 1427408"/>
              <a:gd name="connsiteX9-2219" fmla="*/ 1174235 w 1305814"/>
              <a:gd name="connsiteY9-2220" fmla="*/ 1184756 h 1427408"/>
              <a:gd name="connsiteX10-2221" fmla="*/ 792288 w 1305814"/>
              <a:gd name="connsiteY10-2222" fmla="*/ 1385653 h 1427408"/>
              <a:gd name="connsiteX11-2223" fmla="*/ 517719 w 1305814"/>
              <a:gd name="connsiteY11-2224" fmla="*/ 1389889 h 1427408"/>
              <a:gd name="connsiteX12-2225" fmla="*/ 94302 w 1305814"/>
              <a:gd name="connsiteY12-2226" fmla="*/ 1158755 h 1427408"/>
              <a:gd name="connsiteX13-2227" fmla="*/ 39429 w 1305814"/>
              <a:gd name="connsiteY13-2228" fmla="*/ 1117635 h 1427408"/>
              <a:gd name="connsiteX14-2229" fmla="*/ 667 w 1305814"/>
              <a:gd name="connsiteY14-2230" fmla="*/ 999105 h 1427408"/>
              <a:gd name="connsiteX15-2231" fmla="*/ 0 w 1305814"/>
              <a:gd name="connsiteY15-2232" fmla="*/ 972364 h 1427408"/>
              <a:gd name="connsiteX16-2233" fmla="*/ 2496 w 1305814"/>
              <a:gd name="connsiteY16-2234" fmla="*/ 463106 h 1427408"/>
              <a:gd name="connsiteX17-2235" fmla="*/ 2458 w 1305814"/>
              <a:gd name="connsiteY17-2236" fmla="*/ 429563 h 1427408"/>
              <a:gd name="connsiteX18-2237" fmla="*/ 75248 w 1305814"/>
              <a:gd name="connsiteY18-2238" fmla="*/ 303202 h 1427408"/>
              <a:gd name="connsiteX19-2239" fmla="*/ 106293 w 1305814"/>
              <a:gd name="connsiteY19-2240" fmla="*/ 282597 h 1427408"/>
              <a:gd name="connsiteX20-2241" fmla="*/ 541533 w 1305814"/>
              <a:gd name="connsiteY20-2242" fmla="*/ 38110 h 1427408"/>
              <a:gd name="connsiteX21-2243" fmla="*/ 653528 w 1305814"/>
              <a:gd name="connsiteY21-2244" fmla="*/ 0 h 1427408"/>
              <a:gd name="connsiteX0-2245" fmla="*/ 653528 w 1305814"/>
              <a:gd name="connsiteY0-2246" fmla="*/ 0 h 1427408"/>
              <a:gd name="connsiteX1-2247" fmla="*/ 757287 w 1305814"/>
              <a:gd name="connsiteY1-2248" fmla="*/ 32444 h 1427408"/>
              <a:gd name="connsiteX2-2249" fmla="*/ 1206876 w 1305814"/>
              <a:gd name="connsiteY2-2250" fmla="*/ 284945 h 1427408"/>
              <a:gd name="connsiteX3-2251" fmla="*/ 1237706 w 1305814"/>
              <a:gd name="connsiteY3-2252" fmla="*/ 306775 h 1427408"/>
              <a:gd name="connsiteX4-2253" fmla="*/ 1304420 w 1305814"/>
              <a:gd name="connsiteY4-2254" fmla="*/ 434263 h 1427408"/>
              <a:gd name="connsiteX5-2255" fmla="*/ 1305806 w 1305814"/>
              <a:gd name="connsiteY5-2256" fmla="*/ 519922 h 1427408"/>
              <a:gd name="connsiteX6-2257" fmla="*/ 1301746 w 1305814"/>
              <a:gd name="connsiteY6-2258" fmla="*/ 953747 h 1427408"/>
              <a:gd name="connsiteX7-2259" fmla="*/ 1302599 w 1305814"/>
              <a:gd name="connsiteY7-2260" fmla="*/ 1003650 h 1427408"/>
              <a:gd name="connsiteX8-2261" fmla="*/ 1227376 w 1305814"/>
              <a:gd name="connsiteY8-2262" fmla="*/ 1152027 h 1427408"/>
              <a:gd name="connsiteX9-2263" fmla="*/ 1174235 w 1305814"/>
              <a:gd name="connsiteY9-2264" fmla="*/ 1184756 h 1427408"/>
              <a:gd name="connsiteX10-2265" fmla="*/ 792288 w 1305814"/>
              <a:gd name="connsiteY10-2266" fmla="*/ 1385653 h 1427408"/>
              <a:gd name="connsiteX11-2267" fmla="*/ 517719 w 1305814"/>
              <a:gd name="connsiteY11-2268" fmla="*/ 1389889 h 1427408"/>
              <a:gd name="connsiteX12-2269" fmla="*/ 94302 w 1305814"/>
              <a:gd name="connsiteY12-2270" fmla="*/ 1158755 h 1427408"/>
              <a:gd name="connsiteX13-2271" fmla="*/ 39429 w 1305814"/>
              <a:gd name="connsiteY13-2272" fmla="*/ 1117635 h 1427408"/>
              <a:gd name="connsiteX14-2273" fmla="*/ 667 w 1305814"/>
              <a:gd name="connsiteY14-2274" fmla="*/ 999105 h 1427408"/>
              <a:gd name="connsiteX15-2275" fmla="*/ 0 w 1305814"/>
              <a:gd name="connsiteY15-2276" fmla="*/ 972364 h 1427408"/>
              <a:gd name="connsiteX16-2277" fmla="*/ 2496 w 1305814"/>
              <a:gd name="connsiteY16-2278" fmla="*/ 463106 h 1427408"/>
              <a:gd name="connsiteX17-2279" fmla="*/ 2458 w 1305814"/>
              <a:gd name="connsiteY17-2280" fmla="*/ 429563 h 1427408"/>
              <a:gd name="connsiteX18-2281" fmla="*/ 75248 w 1305814"/>
              <a:gd name="connsiteY18-2282" fmla="*/ 303202 h 1427408"/>
              <a:gd name="connsiteX19-2283" fmla="*/ 106293 w 1305814"/>
              <a:gd name="connsiteY19-2284" fmla="*/ 282597 h 1427408"/>
              <a:gd name="connsiteX20-2285" fmla="*/ 541533 w 1305814"/>
              <a:gd name="connsiteY20-2286" fmla="*/ 38110 h 1427408"/>
              <a:gd name="connsiteX21-2287" fmla="*/ 653528 w 1305814"/>
              <a:gd name="connsiteY21-2288" fmla="*/ 0 h 1427408"/>
              <a:gd name="connsiteX0-2289" fmla="*/ 653528 w 1305814"/>
              <a:gd name="connsiteY0-2290" fmla="*/ 0 h 1421591"/>
              <a:gd name="connsiteX1-2291" fmla="*/ 757287 w 1305814"/>
              <a:gd name="connsiteY1-2292" fmla="*/ 32444 h 1421591"/>
              <a:gd name="connsiteX2-2293" fmla="*/ 1206876 w 1305814"/>
              <a:gd name="connsiteY2-2294" fmla="*/ 284945 h 1421591"/>
              <a:gd name="connsiteX3-2295" fmla="*/ 1237706 w 1305814"/>
              <a:gd name="connsiteY3-2296" fmla="*/ 306775 h 1421591"/>
              <a:gd name="connsiteX4-2297" fmla="*/ 1304420 w 1305814"/>
              <a:gd name="connsiteY4-2298" fmla="*/ 434263 h 1421591"/>
              <a:gd name="connsiteX5-2299" fmla="*/ 1305806 w 1305814"/>
              <a:gd name="connsiteY5-2300" fmla="*/ 519922 h 1421591"/>
              <a:gd name="connsiteX6-2301" fmla="*/ 1301746 w 1305814"/>
              <a:gd name="connsiteY6-2302" fmla="*/ 953747 h 1421591"/>
              <a:gd name="connsiteX7-2303" fmla="*/ 1302599 w 1305814"/>
              <a:gd name="connsiteY7-2304" fmla="*/ 1003650 h 1421591"/>
              <a:gd name="connsiteX8-2305" fmla="*/ 1227376 w 1305814"/>
              <a:gd name="connsiteY8-2306" fmla="*/ 1152027 h 1421591"/>
              <a:gd name="connsiteX9-2307" fmla="*/ 1174235 w 1305814"/>
              <a:gd name="connsiteY9-2308" fmla="*/ 1184756 h 1421591"/>
              <a:gd name="connsiteX10-2309" fmla="*/ 792288 w 1305814"/>
              <a:gd name="connsiteY10-2310" fmla="*/ 1385653 h 1421591"/>
              <a:gd name="connsiteX11-2311" fmla="*/ 502818 w 1305814"/>
              <a:gd name="connsiteY11-2312" fmla="*/ 1379955 h 1421591"/>
              <a:gd name="connsiteX12-2313" fmla="*/ 94302 w 1305814"/>
              <a:gd name="connsiteY12-2314" fmla="*/ 1158755 h 1421591"/>
              <a:gd name="connsiteX13-2315" fmla="*/ 39429 w 1305814"/>
              <a:gd name="connsiteY13-2316" fmla="*/ 1117635 h 1421591"/>
              <a:gd name="connsiteX14-2317" fmla="*/ 667 w 1305814"/>
              <a:gd name="connsiteY14-2318" fmla="*/ 999105 h 1421591"/>
              <a:gd name="connsiteX15-2319" fmla="*/ 0 w 1305814"/>
              <a:gd name="connsiteY15-2320" fmla="*/ 972364 h 1421591"/>
              <a:gd name="connsiteX16-2321" fmla="*/ 2496 w 1305814"/>
              <a:gd name="connsiteY16-2322" fmla="*/ 463106 h 1421591"/>
              <a:gd name="connsiteX17-2323" fmla="*/ 2458 w 1305814"/>
              <a:gd name="connsiteY17-2324" fmla="*/ 429563 h 1421591"/>
              <a:gd name="connsiteX18-2325" fmla="*/ 75248 w 1305814"/>
              <a:gd name="connsiteY18-2326" fmla="*/ 303202 h 1421591"/>
              <a:gd name="connsiteX19-2327" fmla="*/ 106293 w 1305814"/>
              <a:gd name="connsiteY19-2328" fmla="*/ 282597 h 1421591"/>
              <a:gd name="connsiteX20-2329" fmla="*/ 541533 w 1305814"/>
              <a:gd name="connsiteY20-2330" fmla="*/ 38110 h 1421591"/>
              <a:gd name="connsiteX21-2331" fmla="*/ 653528 w 1305814"/>
              <a:gd name="connsiteY21-2332" fmla="*/ 0 h 1421591"/>
              <a:gd name="connsiteX0-2333" fmla="*/ 653528 w 1305814"/>
              <a:gd name="connsiteY0-2334" fmla="*/ 0 h 1423589"/>
              <a:gd name="connsiteX1-2335" fmla="*/ 757287 w 1305814"/>
              <a:gd name="connsiteY1-2336" fmla="*/ 32444 h 1423589"/>
              <a:gd name="connsiteX2-2337" fmla="*/ 1206876 w 1305814"/>
              <a:gd name="connsiteY2-2338" fmla="*/ 284945 h 1423589"/>
              <a:gd name="connsiteX3-2339" fmla="*/ 1237706 w 1305814"/>
              <a:gd name="connsiteY3-2340" fmla="*/ 306775 h 1423589"/>
              <a:gd name="connsiteX4-2341" fmla="*/ 1304420 w 1305814"/>
              <a:gd name="connsiteY4-2342" fmla="*/ 434263 h 1423589"/>
              <a:gd name="connsiteX5-2343" fmla="*/ 1305806 w 1305814"/>
              <a:gd name="connsiteY5-2344" fmla="*/ 519922 h 1423589"/>
              <a:gd name="connsiteX6-2345" fmla="*/ 1301746 w 1305814"/>
              <a:gd name="connsiteY6-2346" fmla="*/ 953747 h 1423589"/>
              <a:gd name="connsiteX7-2347" fmla="*/ 1302599 w 1305814"/>
              <a:gd name="connsiteY7-2348" fmla="*/ 1003650 h 1423589"/>
              <a:gd name="connsiteX8-2349" fmla="*/ 1227376 w 1305814"/>
              <a:gd name="connsiteY8-2350" fmla="*/ 1152027 h 1423589"/>
              <a:gd name="connsiteX9-2351" fmla="*/ 1174235 w 1305814"/>
              <a:gd name="connsiteY9-2352" fmla="*/ 1184756 h 1423589"/>
              <a:gd name="connsiteX10-2353" fmla="*/ 792288 w 1305814"/>
              <a:gd name="connsiteY10-2354" fmla="*/ 1385653 h 1423589"/>
              <a:gd name="connsiteX11-2355" fmla="*/ 502818 w 1305814"/>
              <a:gd name="connsiteY11-2356" fmla="*/ 1379955 h 1423589"/>
              <a:gd name="connsiteX12-2357" fmla="*/ 94302 w 1305814"/>
              <a:gd name="connsiteY12-2358" fmla="*/ 1158755 h 1423589"/>
              <a:gd name="connsiteX13-2359" fmla="*/ 39429 w 1305814"/>
              <a:gd name="connsiteY13-2360" fmla="*/ 1117635 h 1423589"/>
              <a:gd name="connsiteX14-2361" fmla="*/ 667 w 1305814"/>
              <a:gd name="connsiteY14-2362" fmla="*/ 999105 h 1423589"/>
              <a:gd name="connsiteX15-2363" fmla="*/ 0 w 1305814"/>
              <a:gd name="connsiteY15-2364" fmla="*/ 972364 h 1423589"/>
              <a:gd name="connsiteX16-2365" fmla="*/ 2496 w 1305814"/>
              <a:gd name="connsiteY16-2366" fmla="*/ 463106 h 1423589"/>
              <a:gd name="connsiteX17-2367" fmla="*/ 2458 w 1305814"/>
              <a:gd name="connsiteY17-2368" fmla="*/ 429563 h 1423589"/>
              <a:gd name="connsiteX18-2369" fmla="*/ 75248 w 1305814"/>
              <a:gd name="connsiteY18-2370" fmla="*/ 303202 h 1423589"/>
              <a:gd name="connsiteX19-2371" fmla="*/ 106293 w 1305814"/>
              <a:gd name="connsiteY19-2372" fmla="*/ 282597 h 1423589"/>
              <a:gd name="connsiteX20-2373" fmla="*/ 541533 w 1305814"/>
              <a:gd name="connsiteY20-2374" fmla="*/ 38110 h 1423589"/>
              <a:gd name="connsiteX21-2375" fmla="*/ 653528 w 1305814"/>
              <a:gd name="connsiteY21-2376" fmla="*/ 0 h 142358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1305814" h="1423589">
                <a:moveTo>
                  <a:pt x="653528" y="0"/>
                </a:moveTo>
                <a:cubicBezTo>
                  <a:pt x="684553" y="-1"/>
                  <a:pt x="736057" y="24011"/>
                  <a:pt x="757287" y="32444"/>
                </a:cubicBezTo>
                <a:lnTo>
                  <a:pt x="1206876" y="284945"/>
                </a:lnTo>
                <a:cubicBezTo>
                  <a:pt x="1213399" y="291230"/>
                  <a:pt x="1233090" y="301119"/>
                  <a:pt x="1237706" y="306775"/>
                </a:cubicBezTo>
                <a:cubicBezTo>
                  <a:pt x="1285405" y="341141"/>
                  <a:pt x="1301367" y="360355"/>
                  <a:pt x="1304420" y="434263"/>
                </a:cubicBezTo>
                <a:cubicBezTo>
                  <a:pt x="1306256" y="435452"/>
                  <a:pt x="1303756" y="518852"/>
                  <a:pt x="1305806" y="519922"/>
                </a:cubicBezTo>
                <a:cubicBezTo>
                  <a:pt x="1306028" y="563787"/>
                  <a:pt x="1301771" y="907207"/>
                  <a:pt x="1301746" y="953747"/>
                </a:cubicBezTo>
                <a:cubicBezTo>
                  <a:pt x="1301579" y="970833"/>
                  <a:pt x="1302766" y="986564"/>
                  <a:pt x="1302599" y="1003650"/>
                </a:cubicBezTo>
                <a:cubicBezTo>
                  <a:pt x="1298075" y="1097264"/>
                  <a:pt x="1299308" y="1117497"/>
                  <a:pt x="1227376" y="1152027"/>
                </a:cubicBezTo>
                <a:cubicBezTo>
                  <a:pt x="1229069" y="1151612"/>
                  <a:pt x="1262992" y="1133636"/>
                  <a:pt x="1174235" y="1184756"/>
                </a:cubicBezTo>
                <a:cubicBezTo>
                  <a:pt x="1102911" y="1225835"/>
                  <a:pt x="986013" y="1283805"/>
                  <a:pt x="792288" y="1385653"/>
                </a:cubicBezTo>
                <a:cubicBezTo>
                  <a:pt x="702978" y="1424034"/>
                  <a:pt x="634560" y="1449454"/>
                  <a:pt x="502818" y="1379955"/>
                </a:cubicBezTo>
                <a:cubicBezTo>
                  <a:pt x="358670" y="1301859"/>
                  <a:pt x="241278" y="1242506"/>
                  <a:pt x="94302" y="1158755"/>
                </a:cubicBezTo>
                <a:cubicBezTo>
                  <a:pt x="64301" y="1138833"/>
                  <a:pt x="61069" y="1137739"/>
                  <a:pt x="39429" y="1117635"/>
                </a:cubicBezTo>
                <a:cubicBezTo>
                  <a:pt x="9399" y="1091481"/>
                  <a:pt x="81" y="1056313"/>
                  <a:pt x="667" y="999105"/>
                </a:cubicBezTo>
                <a:cubicBezTo>
                  <a:pt x="445" y="990191"/>
                  <a:pt x="222" y="981278"/>
                  <a:pt x="0" y="972364"/>
                </a:cubicBezTo>
                <a:lnTo>
                  <a:pt x="2496" y="463106"/>
                </a:lnTo>
                <a:cubicBezTo>
                  <a:pt x="2483" y="451925"/>
                  <a:pt x="2471" y="440744"/>
                  <a:pt x="2458" y="429563"/>
                </a:cubicBezTo>
                <a:cubicBezTo>
                  <a:pt x="2770" y="365277"/>
                  <a:pt x="14732" y="348090"/>
                  <a:pt x="75248" y="303202"/>
                </a:cubicBezTo>
                <a:lnTo>
                  <a:pt x="106293" y="282597"/>
                </a:lnTo>
                <a:lnTo>
                  <a:pt x="541533" y="38110"/>
                </a:lnTo>
                <a:cubicBezTo>
                  <a:pt x="582751" y="12487"/>
                  <a:pt x="613897" y="0"/>
                  <a:pt x="653528" y="0"/>
                </a:cubicBezTo>
                <a:close/>
              </a:path>
            </a:pathLst>
          </a:custGeom>
          <a:solidFill>
            <a:schemeClr val="bg1">
              <a:lumMod val="75000"/>
            </a:schemeClr>
          </a:solidFill>
          <a:ln>
            <a:noFill/>
          </a:ln>
          <a:effectLst>
            <a:innerShdw blurRad="50800" dist="38100" dir="13500000">
              <a:prstClr val="black">
                <a:alpha val="50000"/>
              </a:prstClr>
            </a:innerShdw>
          </a:effectLst>
        </p:spPr>
        <p:txBody>
          <a:bodyPr anchor="ctr"/>
          <a:lstStyle/>
          <a:p>
            <a:pPr algn="ctr" defTabSz="914400"/>
            <a:endParaRPr lang="zh-CN" altLang="en-US" sz="4265" dirty="0">
              <a:solidFill>
                <a:prstClr val="white"/>
              </a:solidFill>
              <a:latin typeface="Impact" panose="020B0806030902050204" pitchFamily="34" charset="0"/>
              <a:ea typeface="微软雅黑" panose="020B0503020204020204" charset="-122"/>
            </a:endParaRPr>
          </a:p>
        </p:txBody>
      </p:sp>
      <p:sp>
        <p:nvSpPr>
          <p:cNvPr id="5" name="Freeform 7"/>
          <p:cNvSpPr/>
          <p:nvPr>
            <p:custDataLst>
              <p:tags r:id="rId1"/>
            </p:custDataLst>
          </p:nvPr>
        </p:nvSpPr>
        <p:spPr>
          <a:xfrm>
            <a:off x="0" y="2557124"/>
            <a:ext cx="8051800" cy="1633992"/>
          </a:xfrm>
          <a:custGeom>
            <a:avLst/>
            <a:gdLst>
              <a:gd name="connsiteX0" fmla="*/ 0 w 6781800"/>
              <a:gd name="connsiteY0" fmla="*/ 299838 h 1215160"/>
              <a:gd name="connsiteX1" fmla="*/ 2705100 w 6781800"/>
              <a:gd name="connsiteY1" fmla="*/ 52188 h 1215160"/>
              <a:gd name="connsiteX2" fmla="*/ 5619750 w 6781800"/>
              <a:gd name="connsiteY2" fmla="*/ 1195188 h 1215160"/>
              <a:gd name="connsiteX3" fmla="*/ 6781800 w 6781800"/>
              <a:gd name="connsiteY3" fmla="*/ 757038 h 1215160"/>
              <a:gd name="connsiteX0-1" fmla="*/ 0 w 6038850"/>
              <a:gd name="connsiteY0-2" fmla="*/ 299838 h 1304686"/>
              <a:gd name="connsiteX1-3" fmla="*/ 2705100 w 6038850"/>
              <a:gd name="connsiteY1-4" fmla="*/ 52188 h 1304686"/>
              <a:gd name="connsiteX2-5" fmla="*/ 5619750 w 6038850"/>
              <a:gd name="connsiteY2-6" fmla="*/ 1195188 h 1304686"/>
              <a:gd name="connsiteX3-7" fmla="*/ 6038850 w 6038850"/>
              <a:gd name="connsiteY3-8" fmla="*/ 1176138 h 1304686"/>
              <a:gd name="connsiteX0-9" fmla="*/ 0 w 6038850"/>
              <a:gd name="connsiteY0-10" fmla="*/ 287550 h 1218694"/>
              <a:gd name="connsiteX1-11" fmla="*/ 2705100 w 6038850"/>
              <a:gd name="connsiteY1-12" fmla="*/ 39900 h 1218694"/>
              <a:gd name="connsiteX2-13" fmla="*/ 4832350 w 6038850"/>
              <a:gd name="connsiteY2-14" fmla="*/ 1005100 h 1218694"/>
              <a:gd name="connsiteX3-15" fmla="*/ 6038850 w 6038850"/>
              <a:gd name="connsiteY3-16" fmla="*/ 1163850 h 1218694"/>
              <a:gd name="connsiteX0-17" fmla="*/ 0 w 6038850"/>
              <a:gd name="connsiteY0-18" fmla="*/ 287550 h 1225494"/>
              <a:gd name="connsiteX1-19" fmla="*/ 2705100 w 6038850"/>
              <a:gd name="connsiteY1-20" fmla="*/ 39900 h 1225494"/>
              <a:gd name="connsiteX2-21" fmla="*/ 4832350 w 6038850"/>
              <a:gd name="connsiteY2-22" fmla="*/ 1005100 h 1225494"/>
              <a:gd name="connsiteX3-23" fmla="*/ 6038850 w 6038850"/>
              <a:gd name="connsiteY3-24" fmla="*/ 1163850 h 1225494"/>
            </a:gdLst>
            <a:ahLst/>
            <a:cxnLst>
              <a:cxn ang="0">
                <a:pos x="connsiteX0-1" y="connsiteY0-2"/>
              </a:cxn>
              <a:cxn ang="0">
                <a:pos x="connsiteX1-3" y="connsiteY1-4"/>
              </a:cxn>
              <a:cxn ang="0">
                <a:pos x="connsiteX2-5" y="connsiteY2-6"/>
              </a:cxn>
              <a:cxn ang="0">
                <a:pos x="connsiteX3-7" y="connsiteY3-8"/>
              </a:cxn>
            </a:cxnLst>
            <a:rect l="l" t="t" r="r" b="b"/>
            <a:pathLst>
              <a:path w="6038850" h="1225494">
                <a:moveTo>
                  <a:pt x="0" y="287550"/>
                </a:moveTo>
                <a:cubicBezTo>
                  <a:pt x="884237" y="89112"/>
                  <a:pt x="1899708" y="-79692"/>
                  <a:pt x="2705100" y="39900"/>
                </a:cubicBezTo>
                <a:cubicBezTo>
                  <a:pt x="3510492" y="159492"/>
                  <a:pt x="4371975" y="786025"/>
                  <a:pt x="4832350" y="1005100"/>
                </a:cubicBezTo>
                <a:cubicBezTo>
                  <a:pt x="5292725" y="1224175"/>
                  <a:pt x="5829300" y="1285558"/>
                  <a:pt x="6038850" y="1163850"/>
                </a:cubicBezTo>
              </a:path>
            </a:pathLst>
          </a:custGeom>
          <a:ln w="12700" cmpd="sng">
            <a:solidFill>
              <a:schemeClr val="accent3">
                <a:lumMod val="50000"/>
              </a:schemeClr>
            </a:solidFill>
            <a:prstDash val="dash"/>
          </a:ln>
        </p:spPr>
        <p:style>
          <a:lnRef idx="1">
            <a:schemeClr val="dk1"/>
          </a:lnRef>
          <a:fillRef idx="0">
            <a:schemeClr val="dk1"/>
          </a:fillRef>
          <a:effectRef idx="0">
            <a:schemeClr val="dk1"/>
          </a:effectRef>
          <a:fontRef idx="minor">
            <a:schemeClr val="tx1"/>
          </a:fontRef>
        </p:style>
        <p:txBody>
          <a:bodyPr rtlCol="0" anchor="ctr"/>
          <a:lstStyle/>
          <a:p>
            <a:pPr algn="ctr"/>
            <a:endParaRPr lang="en-US" sz="2400" dirty="0">
              <a:solidFill>
                <a:prstClr val="black"/>
              </a:solidFill>
              <a:latin typeface="微软雅黑" panose="020B0503020204020204" charset="-122"/>
              <a:ea typeface="微软雅黑" panose="020B0503020204020204" charset="-122"/>
            </a:endParaRPr>
          </a:p>
        </p:txBody>
      </p:sp>
      <p:grpSp>
        <p:nvGrpSpPr>
          <p:cNvPr id="7" name="组合 6"/>
          <p:cNvGrpSpPr/>
          <p:nvPr/>
        </p:nvGrpSpPr>
        <p:grpSpPr>
          <a:xfrm>
            <a:off x="8071980" y="2962002"/>
            <a:ext cx="1133095" cy="847308"/>
            <a:chOff x="6054436" y="2405136"/>
            <a:chExt cx="849821" cy="635481"/>
          </a:xfrm>
          <a:solidFill>
            <a:schemeClr val="accent1">
              <a:lumMod val="75000"/>
            </a:schemeClr>
          </a:solidFill>
          <a:effectLst>
            <a:outerShdw blurRad="127000" dist="127000" dir="5400000" algn="t" rotWithShape="0">
              <a:prstClr val="black">
                <a:alpha val="30000"/>
              </a:prstClr>
            </a:outerShdw>
          </a:effectLst>
        </p:grpSpPr>
        <p:sp>
          <p:nvSpPr>
            <p:cNvPr id="10" name="Freeform 133"/>
            <p:cNvSpPr/>
            <p:nvPr/>
          </p:nvSpPr>
          <p:spPr bwMode="auto">
            <a:xfrm rot="2700000" flipH="1">
              <a:off x="6116557" y="2789035"/>
              <a:ext cx="189461" cy="313703"/>
            </a:xfrm>
            <a:custGeom>
              <a:avLst/>
              <a:gdLst>
                <a:gd name="T0" fmla="*/ 7566 w 397"/>
                <a:gd name="T1" fmla="*/ 1009717 h 659"/>
                <a:gd name="T2" fmla="*/ 0 w 397"/>
                <a:gd name="T3" fmla="*/ 1009717 h 659"/>
                <a:gd name="T4" fmla="*/ 0 w 397"/>
                <a:gd name="T5" fmla="*/ 1009717 h 659"/>
                <a:gd name="T6" fmla="*/ 11348 w 397"/>
                <a:gd name="T7" fmla="*/ 1021020 h 659"/>
                <a:gd name="T8" fmla="*/ 15131 w 397"/>
                <a:gd name="T9" fmla="*/ 1062464 h 659"/>
                <a:gd name="T10" fmla="*/ 18914 w 397"/>
                <a:gd name="T11" fmla="*/ 1069999 h 659"/>
                <a:gd name="T12" fmla="*/ 181575 w 397"/>
                <a:gd name="T13" fmla="*/ 1574858 h 659"/>
                <a:gd name="T14" fmla="*/ 348019 w 397"/>
                <a:gd name="T15" fmla="*/ 1092605 h 659"/>
                <a:gd name="T16" fmla="*/ 650644 w 397"/>
                <a:gd name="T17" fmla="*/ 1661513 h 659"/>
                <a:gd name="T18" fmla="*/ 548508 w 397"/>
                <a:gd name="T19" fmla="*/ 2124928 h 659"/>
                <a:gd name="T20" fmla="*/ 760345 w 397"/>
                <a:gd name="T21" fmla="*/ 2482850 h 659"/>
                <a:gd name="T22" fmla="*/ 650644 w 397"/>
                <a:gd name="T23" fmla="*/ 2275632 h 659"/>
                <a:gd name="T24" fmla="*/ 688472 w 397"/>
                <a:gd name="T25" fmla="*/ 1989294 h 659"/>
                <a:gd name="T26" fmla="*/ 866264 w 397"/>
                <a:gd name="T27" fmla="*/ 1740632 h 659"/>
                <a:gd name="T28" fmla="*/ 1028925 w 397"/>
                <a:gd name="T29" fmla="*/ 1454295 h 659"/>
                <a:gd name="T30" fmla="*/ 1059187 w 397"/>
                <a:gd name="T31" fmla="*/ 1363872 h 659"/>
                <a:gd name="T32" fmla="*/ 1161323 w 397"/>
                <a:gd name="T33" fmla="*/ 1823520 h 659"/>
                <a:gd name="T34" fmla="*/ 1229414 w 397"/>
                <a:gd name="T35" fmla="*/ 1529647 h 659"/>
                <a:gd name="T36" fmla="*/ 1399640 w 397"/>
                <a:gd name="T37" fmla="*/ 745985 h 659"/>
                <a:gd name="T38" fmla="*/ 714951 w 397"/>
                <a:gd name="T39" fmla="*/ 0 h 659"/>
                <a:gd name="T40" fmla="*/ 11348 w 397"/>
                <a:gd name="T41" fmla="*/ 956971 h 659"/>
                <a:gd name="T42" fmla="*/ 7566 w 397"/>
                <a:gd name="T43" fmla="*/ 1009717 h 65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97" h="659">
                  <a:moveTo>
                    <a:pt x="2" y="268"/>
                  </a:moveTo>
                  <a:cubicBezTo>
                    <a:pt x="2" y="267"/>
                    <a:pt x="0" y="264"/>
                    <a:pt x="0" y="268"/>
                  </a:cubicBezTo>
                  <a:cubicBezTo>
                    <a:pt x="0" y="268"/>
                    <a:pt x="0" y="268"/>
                    <a:pt x="0" y="268"/>
                  </a:cubicBezTo>
                  <a:cubicBezTo>
                    <a:pt x="0" y="269"/>
                    <a:pt x="2" y="270"/>
                    <a:pt x="3" y="271"/>
                  </a:cubicBezTo>
                  <a:cubicBezTo>
                    <a:pt x="3" y="275"/>
                    <a:pt x="4" y="278"/>
                    <a:pt x="4" y="282"/>
                  </a:cubicBezTo>
                  <a:cubicBezTo>
                    <a:pt x="5" y="283"/>
                    <a:pt x="5" y="283"/>
                    <a:pt x="5" y="284"/>
                  </a:cubicBezTo>
                  <a:cubicBezTo>
                    <a:pt x="10" y="335"/>
                    <a:pt x="25" y="381"/>
                    <a:pt x="48" y="418"/>
                  </a:cubicBezTo>
                  <a:cubicBezTo>
                    <a:pt x="23" y="377"/>
                    <a:pt x="37" y="299"/>
                    <a:pt x="92" y="290"/>
                  </a:cubicBezTo>
                  <a:cubicBezTo>
                    <a:pt x="158" y="280"/>
                    <a:pt x="169" y="399"/>
                    <a:pt x="172" y="441"/>
                  </a:cubicBezTo>
                  <a:cubicBezTo>
                    <a:pt x="174" y="484"/>
                    <a:pt x="145" y="521"/>
                    <a:pt x="145" y="564"/>
                  </a:cubicBezTo>
                  <a:cubicBezTo>
                    <a:pt x="145" y="613"/>
                    <a:pt x="170" y="653"/>
                    <a:pt x="201" y="659"/>
                  </a:cubicBezTo>
                  <a:cubicBezTo>
                    <a:pt x="187" y="656"/>
                    <a:pt x="174" y="616"/>
                    <a:pt x="172" y="604"/>
                  </a:cubicBezTo>
                  <a:cubicBezTo>
                    <a:pt x="168" y="580"/>
                    <a:pt x="175" y="551"/>
                    <a:pt x="182" y="528"/>
                  </a:cubicBezTo>
                  <a:cubicBezTo>
                    <a:pt x="190" y="501"/>
                    <a:pt x="211" y="483"/>
                    <a:pt x="229" y="462"/>
                  </a:cubicBezTo>
                  <a:cubicBezTo>
                    <a:pt x="247" y="440"/>
                    <a:pt x="262" y="414"/>
                    <a:pt x="272" y="386"/>
                  </a:cubicBezTo>
                  <a:cubicBezTo>
                    <a:pt x="275" y="378"/>
                    <a:pt x="278" y="370"/>
                    <a:pt x="280" y="362"/>
                  </a:cubicBezTo>
                  <a:cubicBezTo>
                    <a:pt x="284" y="420"/>
                    <a:pt x="307" y="484"/>
                    <a:pt x="307" y="484"/>
                  </a:cubicBezTo>
                  <a:cubicBezTo>
                    <a:pt x="299" y="437"/>
                    <a:pt x="325" y="406"/>
                    <a:pt x="325" y="406"/>
                  </a:cubicBezTo>
                  <a:cubicBezTo>
                    <a:pt x="397" y="291"/>
                    <a:pt x="370" y="198"/>
                    <a:pt x="370" y="198"/>
                  </a:cubicBezTo>
                  <a:cubicBezTo>
                    <a:pt x="351" y="85"/>
                    <a:pt x="277" y="0"/>
                    <a:pt x="189" y="0"/>
                  </a:cubicBezTo>
                  <a:cubicBezTo>
                    <a:pt x="87" y="0"/>
                    <a:pt x="3" y="114"/>
                    <a:pt x="3" y="254"/>
                  </a:cubicBezTo>
                  <a:cubicBezTo>
                    <a:pt x="3" y="258"/>
                    <a:pt x="2" y="263"/>
                    <a:pt x="2" y="2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en-US" sz="2400" dirty="0">
                <a:solidFill>
                  <a:prstClr val="black"/>
                </a:solidFill>
                <a:latin typeface="微软雅黑" panose="020B0503020204020204" charset="-122"/>
                <a:ea typeface="微软雅黑" panose="020B0503020204020204" charset="-122"/>
              </a:endParaRPr>
            </a:p>
          </p:txBody>
        </p:sp>
        <p:sp>
          <p:nvSpPr>
            <p:cNvPr id="13" name="Freeform 134"/>
            <p:cNvSpPr/>
            <p:nvPr/>
          </p:nvSpPr>
          <p:spPr bwMode="auto">
            <a:xfrm rot="2700000" flipH="1">
              <a:off x="6176406" y="2803550"/>
              <a:ext cx="154413" cy="197568"/>
            </a:xfrm>
            <a:custGeom>
              <a:avLst/>
              <a:gdLst>
                <a:gd name="T0" fmla="*/ 581760 w 324"/>
                <a:gd name="T1" fmla="*/ 0 h 415"/>
                <a:gd name="T2" fmla="*/ 1148410 w 324"/>
                <a:gd name="T3" fmla="*/ 648083 h 415"/>
                <a:gd name="T4" fmla="*/ 1152187 w 324"/>
                <a:gd name="T5" fmla="*/ 655619 h 415"/>
                <a:gd name="T6" fmla="*/ 1152187 w 324"/>
                <a:gd name="T7" fmla="*/ 663154 h 415"/>
                <a:gd name="T8" fmla="*/ 1042635 w 324"/>
                <a:gd name="T9" fmla="*/ 1273558 h 415"/>
                <a:gd name="T10" fmla="*/ 963304 w 324"/>
                <a:gd name="T11" fmla="*/ 983428 h 415"/>
                <a:gd name="T12" fmla="*/ 868863 w 324"/>
                <a:gd name="T13" fmla="*/ 1137913 h 415"/>
                <a:gd name="T14" fmla="*/ 642203 w 324"/>
                <a:gd name="T15" fmla="*/ 1552384 h 415"/>
                <a:gd name="T16" fmla="*/ 630870 w 324"/>
                <a:gd name="T17" fmla="*/ 1563688 h 415"/>
                <a:gd name="T18" fmla="*/ 630870 w 324"/>
                <a:gd name="T19" fmla="*/ 1541080 h 415"/>
                <a:gd name="T20" fmla="*/ 245548 w 324"/>
                <a:gd name="T21" fmla="*/ 859086 h 415"/>
                <a:gd name="T22" fmla="*/ 196439 w 324"/>
                <a:gd name="T23" fmla="*/ 862854 h 415"/>
                <a:gd name="T24" fmla="*/ 7555 w 324"/>
                <a:gd name="T25" fmla="*/ 964588 h 415"/>
                <a:gd name="T26" fmla="*/ 3778 w 324"/>
                <a:gd name="T27" fmla="*/ 945749 h 415"/>
                <a:gd name="T28" fmla="*/ 3778 w 324"/>
                <a:gd name="T29" fmla="*/ 938213 h 415"/>
                <a:gd name="T30" fmla="*/ 0 w 324"/>
                <a:gd name="T31" fmla="*/ 900534 h 415"/>
                <a:gd name="T32" fmla="*/ 0 w 324"/>
                <a:gd name="T33" fmla="*/ 889230 h 415"/>
                <a:gd name="T34" fmla="*/ 0 w 324"/>
                <a:gd name="T35" fmla="*/ 840247 h 415"/>
                <a:gd name="T36" fmla="*/ 581760 w 324"/>
                <a:gd name="T37" fmla="*/ 0 h 41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24" h="415">
                  <a:moveTo>
                    <a:pt x="154" y="0"/>
                  </a:moveTo>
                  <a:cubicBezTo>
                    <a:pt x="225" y="0"/>
                    <a:pt x="288" y="73"/>
                    <a:pt x="304" y="172"/>
                  </a:cubicBezTo>
                  <a:cubicBezTo>
                    <a:pt x="305" y="174"/>
                    <a:pt x="305" y="174"/>
                    <a:pt x="305" y="174"/>
                  </a:cubicBezTo>
                  <a:cubicBezTo>
                    <a:pt x="305" y="176"/>
                    <a:pt x="305" y="176"/>
                    <a:pt x="305" y="176"/>
                  </a:cubicBezTo>
                  <a:cubicBezTo>
                    <a:pt x="306" y="179"/>
                    <a:pt x="324" y="248"/>
                    <a:pt x="276" y="338"/>
                  </a:cubicBezTo>
                  <a:cubicBezTo>
                    <a:pt x="276" y="335"/>
                    <a:pt x="256" y="263"/>
                    <a:pt x="255" y="261"/>
                  </a:cubicBezTo>
                  <a:cubicBezTo>
                    <a:pt x="256" y="270"/>
                    <a:pt x="235" y="292"/>
                    <a:pt x="230" y="302"/>
                  </a:cubicBezTo>
                  <a:cubicBezTo>
                    <a:pt x="209" y="338"/>
                    <a:pt x="198" y="379"/>
                    <a:pt x="170" y="412"/>
                  </a:cubicBezTo>
                  <a:cubicBezTo>
                    <a:pt x="169" y="413"/>
                    <a:pt x="168" y="414"/>
                    <a:pt x="167" y="415"/>
                  </a:cubicBezTo>
                  <a:cubicBezTo>
                    <a:pt x="167" y="413"/>
                    <a:pt x="167" y="411"/>
                    <a:pt x="167" y="409"/>
                  </a:cubicBezTo>
                  <a:cubicBezTo>
                    <a:pt x="159" y="260"/>
                    <a:pt x="107" y="228"/>
                    <a:pt x="65" y="228"/>
                  </a:cubicBezTo>
                  <a:cubicBezTo>
                    <a:pt x="61" y="228"/>
                    <a:pt x="57" y="229"/>
                    <a:pt x="52" y="229"/>
                  </a:cubicBezTo>
                  <a:cubicBezTo>
                    <a:pt x="33" y="232"/>
                    <a:pt x="15" y="242"/>
                    <a:pt x="2" y="256"/>
                  </a:cubicBezTo>
                  <a:cubicBezTo>
                    <a:pt x="2" y="254"/>
                    <a:pt x="1" y="253"/>
                    <a:pt x="1" y="251"/>
                  </a:cubicBezTo>
                  <a:cubicBezTo>
                    <a:pt x="1" y="249"/>
                    <a:pt x="1" y="249"/>
                    <a:pt x="1" y="249"/>
                  </a:cubicBezTo>
                  <a:cubicBezTo>
                    <a:pt x="1" y="246"/>
                    <a:pt x="1" y="242"/>
                    <a:pt x="0" y="239"/>
                  </a:cubicBezTo>
                  <a:cubicBezTo>
                    <a:pt x="0" y="239"/>
                    <a:pt x="0" y="236"/>
                    <a:pt x="0" y="236"/>
                  </a:cubicBezTo>
                  <a:cubicBezTo>
                    <a:pt x="0" y="231"/>
                    <a:pt x="0" y="227"/>
                    <a:pt x="0" y="223"/>
                  </a:cubicBezTo>
                  <a:cubicBezTo>
                    <a:pt x="0" y="100"/>
                    <a:pt x="69" y="0"/>
                    <a:pt x="15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en-US" sz="2400" dirty="0">
                <a:solidFill>
                  <a:prstClr val="black"/>
                </a:solidFill>
                <a:latin typeface="微软雅黑" panose="020B0503020204020204" charset="-122"/>
                <a:ea typeface="微软雅黑" panose="020B0503020204020204" charset="-122"/>
              </a:endParaRPr>
            </a:p>
          </p:txBody>
        </p:sp>
        <p:sp>
          <p:nvSpPr>
            <p:cNvPr id="18" name="Freeform 135"/>
            <p:cNvSpPr/>
            <p:nvPr/>
          </p:nvSpPr>
          <p:spPr bwMode="auto">
            <a:xfrm rot="2700000" flipH="1">
              <a:off x="6216128" y="2815389"/>
              <a:ext cx="101140" cy="142811"/>
            </a:xfrm>
            <a:custGeom>
              <a:avLst/>
              <a:gdLst>
                <a:gd name="T0" fmla="*/ 162607 w 212"/>
                <a:gd name="T1" fmla="*/ 535009 h 300"/>
                <a:gd name="T2" fmla="*/ 128573 w 212"/>
                <a:gd name="T3" fmla="*/ 535009 h 300"/>
                <a:gd name="T4" fmla="*/ 3782 w 212"/>
                <a:gd name="T5" fmla="*/ 599059 h 300"/>
                <a:gd name="T6" fmla="*/ 3782 w 212"/>
                <a:gd name="T7" fmla="*/ 587756 h 300"/>
                <a:gd name="T8" fmla="*/ 3782 w 212"/>
                <a:gd name="T9" fmla="*/ 583988 h 300"/>
                <a:gd name="T10" fmla="*/ 0 w 212"/>
                <a:gd name="T11" fmla="*/ 557615 h 300"/>
                <a:gd name="T12" fmla="*/ 0 w 212"/>
                <a:gd name="T13" fmla="*/ 550079 h 300"/>
                <a:gd name="T14" fmla="*/ 0 w 212"/>
                <a:gd name="T15" fmla="*/ 523706 h 300"/>
                <a:gd name="T16" fmla="*/ 381936 w 212"/>
                <a:gd name="T17" fmla="*/ 0 h 300"/>
                <a:gd name="T18" fmla="*/ 752528 w 212"/>
                <a:gd name="T19" fmla="*/ 403140 h 300"/>
                <a:gd name="T20" fmla="*/ 756309 w 212"/>
                <a:gd name="T21" fmla="*/ 406908 h 300"/>
                <a:gd name="T22" fmla="*/ 756309 w 212"/>
                <a:gd name="T23" fmla="*/ 410676 h 300"/>
                <a:gd name="T24" fmla="*/ 684460 w 212"/>
                <a:gd name="T25" fmla="*/ 791210 h 300"/>
                <a:gd name="T26" fmla="*/ 631518 w 212"/>
                <a:gd name="T27" fmla="*/ 610362 h 300"/>
                <a:gd name="T28" fmla="*/ 567232 w 212"/>
                <a:gd name="T29" fmla="*/ 704554 h 300"/>
                <a:gd name="T30" fmla="*/ 457567 w 212"/>
                <a:gd name="T31" fmla="*/ 1130300 h 300"/>
                <a:gd name="T32" fmla="*/ 162607 w 212"/>
                <a:gd name="T33" fmla="*/ 535009 h 3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300">
                  <a:moveTo>
                    <a:pt x="43" y="142"/>
                  </a:moveTo>
                  <a:cubicBezTo>
                    <a:pt x="40" y="142"/>
                    <a:pt x="37" y="142"/>
                    <a:pt x="34" y="142"/>
                  </a:cubicBezTo>
                  <a:cubicBezTo>
                    <a:pt x="21" y="144"/>
                    <a:pt x="10" y="150"/>
                    <a:pt x="1" y="159"/>
                  </a:cubicBezTo>
                  <a:cubicBezTo>
                    <a:pt x="1" y="158"/>
                    <a:pt x="1" y="157"/>
                    <a:pt x="1" y="156"/>
                  </a:cubicBezTo>
                  <a:cubicBezTo>
                    <a:pt x="1" y="155"/>
                    <a:pt x="1" y="155"/>
                    <a:pt x="1" y="155"/>
                  </a:cubicBezTo>
                  <a:cubicBezTo>
                    <a:pt x="0" y="152"/>
                    <a:pt x="0" y="150"/>
                    <a:pt x="0" y="148"/>
                  </a:cubicBezTo>
                  <a:cubicBezTo>
                    <a:pt x="0" y="146"/>
                    <a:pt x="0" y="146"/>
                    <a:pt x="0" y="146"/>
                  </a:cubicBezTo>
                  <a:cubicBezTo>
                    <a:pt x="0" y="143"/>
                    <a:pt x="0" y="141"/>
                    <a:pt x="0" y="139"/>
                  </a:cubicBezTo>
                  <a:cubicBezTo>
                    <a:pt x="0" y="62"/>
                    <a:pt x="45" y="0"/>
                    <a:pt x="101" y="0"/>
                  </a:cubicBezTo>
                  <a:cubicBezTo>
                    <a:pt x="147" y="0"/>
                    <a:pt x="189" y="45"/>
                    <a:pt x="199" y="107"/>
                  </a:cubicBezTo>
                  <a:cubicBezTo>
                    <a:pt x="200" y="108"/>
                    <a:pt x="200" y="108"/>
                    <a:pt x="200" y="108"/>
                  </a:cubicBezTo>
                  <a:cubicBezTo>
                    <a:pt x="200" y="109"/>
                    <a:pt x="200" y="109"/>
                    <a:pt x="200" y="109"/>
                  </a:cubicBezTo>
                  <a:cubicBezTo>
                    <a:pt x="201" y="111"/>
                    <a:pt x="212" y="154"/>
                    <a:pt x="181" y="210"/>
                  </a:cubicBezTo>
                  <a:cubicBezTo>
                    <a:pt x="181" y="208"/>
                    <a:pt x="167" y="164"/>
                    <a:pt x="167" y="162"/>
                  </a:cubicBezTo>
                  <a:cubicBezTo>
                    <a:pt x="168" y="168"/>
                    <a:pt x="154" y="181"/>
                    <a:pt x="150" y="187"/>
                  </a:cubicBezTo>
                  <a:cubicBezTo>
                    <a:pt x="137" y="210"/>
                    <a:pt x="126" y="275"/>
                    <a:pt x="121" y="300"/>
                  </a:cubicBezTo>
                  <a:cubicBezTo>
                    <a:pt x="121" y="300"/>
                    <a:pt x="94" y="134"/>
                    <a:pt x="43" y="1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en-US" sz="2400" dirty="0">
                <a:solidFill>
                  <a:prstClr val="black"/>
                </a:solidFill>
                <a:latin typeface="微软雅黑" panose="020B0503020204020204" charset="-122"/>
                <a:ea typeface="微软雅黑" panose="020B0503020204020204" charset="-122"/>
              </a:endParaRPr>
            </a:p>
          </p:txBody>
        </p:sp>
        <p:sp>
          <p:nvSpPr>
            <p:cNvPr id="19" name="Freeform 107"/>
            <p:cNvSpPr/>
            <p:nvPr/>
          </p:nvSpPr>
          <p:spPr bwMode="auto">
            <a:xfrm rot="2700000" flipH="1">
              <a:off x="6219230" y="2554544"/>
              <a:ext cx="183510" cy="293579"/>
            </a:xfrm>
            <a:custGeom>
              <a:avLst/>
              <a:gdLst>
                <a:gd name="T0" fmla="*/ 587375 w 312"/>
                <a:gd name="T1" fmla="*/ 0 h 495"/>
                <a:gd name="T2" fmla="*/ 1174750 w 312"/>
                <a:gd name="T3" fmla="*/ 597631 h 495"/>
                <a:gd name="T4" fmla="*/ 1174750 w 312"/>
                <a:gd name="T5" fmla="*/ 612666 h 495"/>
                <a:gd name="T6" fmla="*/ 1174750 w 312"/>
                <a:gd name="T7" fmla="*/ 612666 h 495"/>
                <a:gd name="T8" fmla="*/ 798228 w 312"/>
                <a:gd name="T9" fmla="*/ 1804170 h 495"/>
                <a:gd name="T10" fmla="*/ 779401 w 312"/>
                <a:gd name="T11" fmla="*/ 1826722 h 495"/>
                <a:gd name="T12" fmla="*/ 779401 w 312"/>
                <a:gd name="T13" fmla="*/ 1826722 h 495"/>
                <a:gd name="T14" fmla="*/ 779401 w 312"/>
                <a:gd name="T15" fmla="*/ 1826722 h 495"/>
                <a:gd name="T16" fmla="*/ 692801 w 312"/>
                <a:gd name="T17" fmla="*/ 1860550 h 495"/>
                <a:gd name="T18" fmla="*/ 579845 w 312"/>
                <a:gd name="T19" fmla="*/ 1762824 h 495"/>
                <a:gd name="T20" fmla="*/ 587375 w 312"/>
                <a:gd name="T21" fmla="*/ 1740272 h 495"/>
                <a:gd name="T22" fmla="*/ 587375 w 312"/>
                <a:gd name="T23" fmla="*/ 1740272 h 495"/>
                <a:gd name="T24" fmla="*/ 621262 w 312"/>
                <a:gd name="T25" fmla="*/ 1559855 h 495"/>
                <a:gd name="T26" fmla="*/ 459357 w 312"/>
                <a:gd name="T27" fmla="*/ 1168952 h 495"/>
                <a:gd name="T28" fmla="*/ 459357 w 312"/>
                <a:gd name="T29" fmla="*/ 1165193 h 495"/>
                <a:gd name="T30" fmla="*/ 158139 w 312"/>
                <a:gd name="T31" fmla="*/ 992293 h 495"/>
                <a:gd name="T32" fmla="*/ 0 w 312"/>
                <a:gd name="T33" fmla="*/ 590114 h 495"/>
                <a:gd name="T34" fmla="*/ 587375 w 312"/>
                <a:gd name="T35" fmla="*/ 0 h 49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connsiteX0" fmla="*/ 5000 w 10000"/>
                <a:gd name="connsiteY0" fmla="*/ 0 h 10000"/>
                <a:gd name="connsiteX1" fmla="*/ 10000 w 10000"/>
                <a:gd name="connsiteY1" fmla="*/ 3212 h 10000"/>
                <a:gd name="connsiteX2" fmla="*/ 10000 w 10000"/>
                <a:gd name="connsiteY2" fmla="*/ 3293 h 10000"/>
                <a:gd name="connsiteX3" fmla="*/ 10000 w 10000"/>
                <a:gd name="connsiteY3" fmla="*/ 3293 h 10000"/>
                <a:gd name="connsiteX4" fmla="*/ 6795 w 10000"/>
                <a:gd name="connsiteY4" fmla="*/ 9697 h 10000"/>
                <a:gd name="connsiteX5" fmla="*/ 6635 w 10000"/>
                <a:gd name="connsiteY5" fmla="*/ 9818 h 10000"/>
                <a:gd name="connsiteX6" fmla="*/ 6635 w 10000"/>
                <a:gd name="connsiteY6" fmla="*/ 9818 h 10000"/>
                <a:gd name="connsiteX7" fmla="*/ 6635 w 10000"/>
                <a:gd name="connsiteY7" fmla="*/ 9818 h 10000"/>
                <a:gd name="connsiteX8" fmla="*/ 5897 w 10000"/>
                <a:gd name="connsiteY8" fmla="*/ 10000 h 10000"/>
                <a:gd name="connsiteX9" fmla="*/ 4936 w 10000"/>
                <a:gd name="connsiteY9" fmla="*/ 9475 h 10000"/>
                <a:gd name="connsiteX10" fmla="*/ 5000 w 10000"/>
                <a:gd name="connsiteY10" fmla="*/ 9354 h 10000"/>
                <a:gd name="connsiteX11" fmla="*/ 5288 w 10000"/>
                <a:gd name="connsiteY11" fmla="*/ 8384 h 10000"/>
                <a:gd name="connsiteX12" fmla="*/ 3910 w 10000"/>
                <a:gd name="connsiteY12" fmla="*/ 6283 h 10000"/>
                <a:gd name="connsiteX13" fmla="*/ 3910 w 10000"/>
                <a:gd name="connsiteY13" fmla="*/ 6263 h 10000"/>
                <a:gd name="connsiteX14" fmla="*/ 1346 w 10000"/>
                <a:gd name="connsiteY14" fmla="*/ 5333 h 10000"/>
                <a:gd name="connsiteX15" fmla="*/ 0 w 10000"/>
                <a:gd name="connsiteY15" fmla="*/ 3172 h 10000"/>
                <a:gd name="connsiteX16" fmla="*/ 5000 w 10000"/>
                <a:gd name="connsiteY16" fmla="*/ 0 h 10000"/>
                <a:gd name="connsiteX0-1" fmla="*/ 5000 w 10000"/>
                <a:gd name="connsiteY0-2" fmla="*/ 0 h 10000"/>
                <a:gd name="connsiteX1-3" fmla="*/ 10000 w 10000"/>
                <a:gd name="connsiteY1-4" fmla="*/ 3212 h 10000"/>
                <a:gd name="connsiteX2-5" fmla="*/ 10000 w 10000"/>
                <a:gd name="connsiteY2-6" fmla="*/ 3293 h 10000"/>
                <a:gd name="connsiteX3-7" fmla="*/ 10000 w 10000"/>
                <a:gd name="connsiteY3-8" fmla="*/ 3293 h 10000"/>
                <a:gd name="connsiteX4-9" fmla="*/ 6795 w 10000"/>
                <a:gd name="connsiteY4-10" fmla="*/ 9697 h 10000"/>
                <a:gd name="connsiteX5-11" fmla="*/ 6635 w 10000"/>
                <a:gd name="connsiteY5-12" fmla="*/ 9818 h 10000"/>
                <a:gd name="connsiteX6-13" fmla="*/ 6635 w 10000"/>
                <a:gd name="connsiteY6-14" fmla="*/ 9818 h 10000"/>
                <a:gd name="connsiteX7-15" fmla="*/ 6635 w 10000"/>
                <a:gd name="connsiteY7-16" fmla="*/ 9818 h 10000"/>
                <a:gd name="connsiteX8-17" fmla="*/ 5897 w 10000"/>
                <a:gd name="connsiteY8-18" fmla="*/ 10000 h 10000"/>
                <a:gd name="connsiteX9-19" fmla="*/ 4936 w 10000"/>
                <a:gd name="connsiteY9-20" fmla="*/ 9475 h 10000"/>
                <a:gd name="connsiteX10-21" fmla="*/ 5288 w 10000"/>
                <a:gd name="connsiteY10-22" fmla="*/ 8384 h 10000"/>
                <a:gd name="connsiteX11-23" fmla="*/ 3910 w 10000"/>
                <a:gd name="connsiteY11-24" fmla="*/ 6283 h 10000"/>
                <a:gd name="connsiteX12-25" fmla="*/ 3910 w 10000"/>
                <a:gd name="connsiteY12-26" fmla="*/ 6263 h 10000"/>
                <a:gd name="connsiteX13-27" fmla="*/ 1346 w 10000"/>
                <a:gd name="connsiteY13-28" fmla="*/ 5333 h 10000"/>
                <a:gd name="connsiteX14-29" fmla="*/ 0 w 10000"/>
                <a:gd name="connsiteY14-30" fmla="*/ 3172 h 10000"/>
                <a:gd name="connsiteX15-31" fmla="*/ 5000 w 10000"/>
                <a:gd name="connsiteY15-32" fmla="*/ 0 h 10000"/>
                <a:gd name="connsiteX0-33" fmla="*/ 5000 w 10000"/>
                <a:gd name="connsiteY0-34" fmla="*/ 0 h 10086"/>
                <a:gd name="connsiteX1-35" fmla="*/ 10000 w 10000"/>
                <a:gd name="connsiteY1-36" fmla="*/ 3212 h 10086"/>
                <a:gd name="connsiteX2-37" fmla="*/ 10000 w 10000"/>
                <a:gd name="connsiteY2-38" fmla="*/ 3293 h 10086"/>
                <a:gd name="connsiteX3-39" fmla="*/ 10000 w 10000"/>
                <a:gd name="connsiteY3-40" fmla="*/ 3293 h 10086"/>
                <a:gd name="connsiteX4-41" fmla="*/ 6795 w 10000"/>
                <a:gd name="connsiteY4-42" fmla="*/ 9697 h 10086"/>
                <a:gd name="connsiteX5-43" fmla="*/ 6635 w 10000"/>
                <a:gd name="connsiteY5-44" fmla="*/ 9818 h 10086"/>
                <a:gd name="connsiteX6-45" fmla="*/ 6635 w 10000"/>
                <a:gd name="connsiteY6-46" fmla="*/ 9818 h 10086"/>
                <a:gd name="connsiteX7-47" fmla="*/ 6635 w 10000"/>
                <a:gd name="connsiteY7-48" fmla="*/ 9818 h 10086"/>
                <a:gd name="connsiteX8-49" fmla="*/ 5897 w 10000"/>
                <a:gd name="connsiteY8-50" fmla="*/ 10000 h 10086"/>
                <a:gd name="connsiteX9-51" fmla="*/ 5288 w 10000"/>
                <a:gd name="connsiteY9-52" fmla="*/ 8384 h 10086"/>
                <a:gd name="connsiteX10-53" fmla="*/ 3910 w 10000"/>
                <a:gd name="connsiteY10-54" fmla="*/ 6283 h 10086"/>
                <a:gd name="connsiteX11-55" fmla="*/ 3910 w 10000"/>
                <a:gd name="connsiteY11-56" fmla="*/ 6263 h 10086"/>
                <a:gd name="connsiteX12-57" fmla="*/ 1346 w 10000"/>
                <a:gd name="connsiteY12-58" fmla="*/ 5333 h 10086"/>
                <a:gd name="connsiteX13-59" fmla="*/ 0 w 10000"/>
                <a:gd name="connsiteY13-60" fmla="*/ 3172 h 10086"/>
                <a:gd name="connsiteX14-61" fmla="*/ 5000 w 10000"/>
                <a:gd name="connsiteY14-62" fmla="*/ 0 h 1008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10000" h="10086">
                  <a:moveTo>
                    <a:pt x="5000" y="0"/>
                  </a:moveTo>
                  <a:cubicBezTo>
                    <a:pt x="7756" y="0"/>
                    <a:pt x="10000" y="1455"/>
                    <a:pt x="10000" y="3212"/>
                  </a:cubicBezTo>
                  <a:lnTo>
                    <a:pt x="10000" y="3293"/>
                  </a:lnTo>
                  <a:lnTo>
                    <a:pt x="10000" y="3293"/>
                  </a:lnTo>
                  <a:cubicBezTo>
                    <a:pt x="10000" y="5717"/>
                    <a:pt x="8814" y="7859"/>
                    <a:pt x="6795" y="9697"/>
                  </a:cubicBezTo>
                  <a:cubicBezTo>
                    <a:pt x="6731" y="9737"/>
                    <a:pt x="6699" y="9778"/>
                    <a:pt x="6635" y="9818"/>
                  </a:cubicBezTo>
                  <a:lnTo>
                    <a:pt x="6635" y="9818"/>
                  </a:lnTo>
                  <a:lnTo>
                    <a:pt x="6635" y="9818"/>
                  </a:lnTo>
                  <a:cubicBezTo>
                    <a:pt x="6442" y="9919"/>
                    <a:pt x="6121" y="10239"/>
                    <a:pt x="5897" y="10000"/>
                  </a:cubicBezTo>
                  <a:cubicBezTo>
                    <a:pt x="5673" y="9761"/>
                    <a:pt x="5619" y="9003"/>
                    <a:pt x="5288" y="8384"/>
                  </a:cubicBezTo>
                  <a:cubicBezTo>
                    <a:pt x="5064" y="7556"/>
                    <a:pt x="4744" y="6848"/>
                    <a:pt x="3910" y="6283"/>
                  </a:cubicBezTo>
                  <a:lnTo>
                    <a:pt x="3910" y="6263"/>
                  </a:lnTo>
                  <a:cubicBezTo>
                    <a:pt x="3237" y="5818"/>
                    <a:pt x="2340" y="5475"/>
                    <a:pt x="1346" y="5333"/>
                  </a:cubicBezTo>
                  <a:cubicBezTo>
                    <a:pt x="513" y="4768"/>
                    <a:pt x="0" y="4000"/>
                    <a:pt x="0" y="3172"/>
                  </a:cubicBezTo>
                  <a:cubicBezTo>
                    <a:pt x="0" y="1414"/>
                    <a:pt x="2244" y="0"/>
                    <a:pt x="5000" y="0"/>
                  </a:cubicBezTo>
                  <a:close/>
                </a:path>
              </a:pathLst>
            </a:custGeom>
            <a:grpFill/>
            <a:ln>
              <a:noFill/>
            </a:ln>
          </p:spPr>
          <p:txBody>
            <a:bodyPr/>
            <a:lstStyle/>
            <a:p>
              <a:endParaRPr lang="en-US" sz="2400" dirty="0">
                <a:solidFill>
                  <a:prstClr val="black"/>
                </a:solidFill>
                <a:latin typeface="微软雅黑" panose="020B0503020204020204" charset="-122"/>
                <a:ea typeface="微软雅黑" panose="020B0503020204020204" charset="-122"/>
              </a:endParaRPr>
            </a:p>
          </p:txBody>
        </p:sp>
        <p:sp>
          <p:nvSpPr>
            <p:cNvPr id="20" name="Freeform 107"/>
            <p:cNvSpPr/>
            <p:nvPr/>
          </p:nvSpPr>
          <p:spPr bwMode="auto">
            <a:xfrm rot="2700000">
              <a:off x="6369742" y="2705056"/>
              <a:ext cx="183510" cy="293579"/>
            </a:xfrm>
            <a:custGeom>
              <a:avLst/>
              <a:gdLst>
                <a:gd name="T0" fmla="*/ 587375 w 312"/>
                <a:gd name="T1" fmla="*/ 0 h 495"/>
                <a:gd name="T2" fmla="*/ 1174750 w 312"/>
                <a:gd name="T3" fmla="*/ 597631 h 495"/>
                <a:gd name="T4" fmla="*/ 1174750 w 312"/>
                <a:gd name="T5" fmla="*/ 612666 h 495"/>
                <a:gd name="T6" fmla="*/ 1174750 w 312"/>
                <a:gd name="T7" fmla="*/ 612666 h 495"/>
                <a:gd name="T8" fmla="*/ 798228 w 312"/>
                <a:gd name="T9" fmla="*/ 1804170 h 495"/>
                <a:gd name="T10" fmla="*/ 779401 w 312"/>
                <a:gd name="T11" fmla="*/ 1826722 h 495"/>
                <a:gd name="T12" fmla="*/ 779401 w 312"/>
                <a:gd name="T13" fmla="*/ 1826722 h 495"/>
                <a:gd name="T14" fmla="*/ 779401 w 312"/>
                <a:gd name="T15" fmla="*/ 1826722 h 495"/>
                <a:gd name="T16" fmla="*/ 692801 w 312"/>
                <a:gd name="T17" fmla="*/ 1860550 h 495"/>
                <a:gd name="T18" fmla="*/ 579845 w 312"/>
                <a:gd name="T19" fmla="*/ 1762824 h 495"/>
                <a:gd name="T20" fmla="*/ 587375 w 312"/>
                <a:gd name="T21" fmla="*/ 1740272 h 495"/>
                <a:gd name="T22" fmla="*/ 587375 w 312"/>
                <a:gd name="T23" fmla="*/ 1740272 h 495"/>
                <a:gd name="T24" fmla="*/ 621262 w 312"/>
                <a:gd name="T25" fmla="*/ 1559855 h 495"/>
                <a:gd name="T26" fmla="*/ 459357 w 312"/>
                <a:gd name="T27" fmla="*/ 1168952 h 495"/>
                <a:gd name="T28" fmla="*/ 459357 w 312"/>
                <a:gd name="T29" fmla="*/ 1165193 h 495"/>
                <a:gd name="T30" fmla="*/ 158139 w 312"/>
                <a:gd name="T31" fmla="*/ 992293 h 495"/>
                <a:gd name="T32" fmla="*/ 0 w 312"/>
                <a:gd name="T33" fmla="*/ 590114 h 495"/>
                <a:gd name="T34" fmla="*/ 587375 w 312"/>
                <a:gd name="T35" fmla="*/ 0 h 49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connsiteX0" fmla="*/ 5000 w 10000"/>
                <a:gd name="connsiteY0" fmla="*/ 0 h 10000"/>
                <a:gd name="connsiteX1" fmla="*/ 10000 w 10000"/>
                <a:gd name="connsiteY1" fmla="*/ 3212 h 10000"/>
                <a:gd name="connsiteX2" fmla="*/ 10000 w 10000"/>
                <a:gd name="connsiteY2" fmla="*/ 3293 h 10000"/>
                <a:gd name="connsiteX3" fmla="*/ 10000 w 10000"/>
                <a:gd name="connsiteY3" fmla="*/ 3293 h 10000"/>
                <a:gd name="connsiteX4" fmla="*/ 6795 w 10000"/>
                <a:gd name="connsiteY4" fmla="*/ 9697 h 10000"/>
                <a:gd name="connsiteX5" fmla="*/ 6635 w 10000"/>
                <a:gd name="connsiteY5" fmla="*/ 9818 h 10000"/>
                <a:gd name="connsiteX6" fmla="*/ 6635 w 10000"/>
                <a:gd name="connsiteY6" fmla="*/ 9818 h 10000"/>
                <a:gd name="connsiteX7" fmla="*/ 6635 w 10000"/>
                <a:gd name="connsiteY7" fmla="*/ 9818 h 10000"/>
                <a:gd name="connsiteX8" fmla="*/ 5897 w 10000"/>
                <a:gd name="connsiteY8" fmla="*/ 10000 h 10000"/>
                <a:gd name="connsiteX9" fmla="*/ 4936 w 10000"/>
                <a:gd name="connsiteY9" fmla="*/ 9475 h 10000"/>
                <a:gd name="connsiteX10" fmla="*/ 5000 w 10000"/>
                <a:gd name="connsiteY10" fmla="*/ 9354 h 10000"/>
                <a:gd name="connsiteX11" fmla="*/ 5288 w 10000"/>
                <a:gd name="connsiteY11" fmla="*/ 8384 h 10000"/>
                <a:gd name="connsiteX12" fmla="*/ 3910 w 10000"/>
                <a:gd name="connsiteY12" fmla="*/ 6283 h 10000"/>
                <a:gd name="connsiteX13" fmla="*/ 3910 w 10000"/>
                <a:gd name="connsiteY13" fmla="*/ 6263 h 10000"/>
                <a:gd name="connsiteX14" fmla="*/ 1346 w 10000"/>
                <a:gd name="connsiteY14" fmla="*/ 5333 h 10000"/>
                <a:gd name="connsiteX15" fmla="*/ 0 w 10000"/>
                <a:gd name="connsiteY15" fmla="*/ 3172 h 10000"/>
                <a:gd name="connsiteX16" fmla="*/ 5000 w 10000"/>
                <a:gd name="connsiteY16" fmla="*/ 0 h 10000"/>
                <a:gd name="connsiteX0-1" fmla="*/ 5000 w 10000"/>
                <a:gd name="connsiteY0-2" fmla="*/ 0 h 10000"/>
                <a:gd name="connsiteX1-3" fmla="*/ 10000 w 10000"/>
                <a:gd name="connsiteY1-4" fmla="*/ 3212 h 10000"/>
                <a:gd name="connsiteX2-5" fmla="*/ 10000 w 10000"/>
                <a:gd name="connsiteY2-6" fmla="*/ 3293 h 10000"/>
                <a:gd name="connsiteX3-7" fmla="*/ 10000 w 10000"/>
                <a:gd name="connsiteY3-8" fmla="*/ 3293 h 10000"/>
                <a:gd name="connsiteX4-9" fmla="*/ 6795 w 10000"/>
                <a:gd name="connsiteY4-10" fmla="*/ 9697 h 10000"/>
                <a:gd name="connsiteX5-11" fmla="*/ 6635 w 10000"/>
                <a:gd name="connsiteY5-12" fmla="*/ 9818 h 10000"/>
                <a:gd name="connsiteX6-13" fmla="*/ 6635 w 10000"/>
                <a:gd name="connsiteY6-14" fmla="*/ 9818 h 10000"/>
                <a:gd name="connsiteX7-15" fmla="*/ 6635 w 10000"/>
                <a:gd name="connsiteY7-16" fmla="*/ 9818 h 10000"/>
                <a:gd name="connsiteX8-17" fmla="*/ 5897 w 10000"/>
                <a:gd name="connsiteY8-18" fmla="*/ 10000 h 10000"/>
                <a:gd name="connsiteX9-19" fmla="*/ 4936 w 10000"/>
                <a:gd name="connsiteY9-20" fmla="*/ 9475 h 10000"/>
                <a:gd name="connsiteX10-21" fmla="*/ 5288 w 10000"/>
                <a:gd name="connsiteY10-22" fmla="*/ 8384 h 10000"/>
                <a:gd name="connsiteX11-23" fmla="*/ 3910 w 10000"/>
                <a:gd name="connsiteY11-24" fmla="*/ 6283 h 10000"/>
                <a:gd name="connsiteX12-25" fmla="*/ 3910 w 10000"/>
                <a:gd name="connsiteY12-26" fmla="*/ 6263 h 10000"/>
                <a:gd name="connsiteX13-27" fmla="*/ 1346 w 10000"/>
                <a:gd name="connsiteY13-28" fmla="*/ 5333 h 10000"/>
                <a:gd name="connsiteX14-29" fmla="*/ 0 w 10000"/>
                <a:gd name="connsiteY14-30" fmla="*/ 3172 h 10000"/>
                <a:gd name="connsiteX15-31" fmla="*/ 5000 w 10000"/>
                <a:gd name="connsiteY15-32" fmla="*/ 0 h 10000"/>
                <a:gd name="connsiteX0-33" fmla="*/ 5000 w 10000"/>
                <a:gd name="connsiteY0-34" fmla="*/ 0 h 10086"/>
                <a:gd name="connsiteX1-35" fmla="*/ 10000 w 10000"/>
                <a:gd name="connsiteY1-36" fmla="*/ 3212 h 10086"/>
                <a:gd name="connsiteX2-37" fmla="*/ 10000 w 10000"/>
                <a:gd name="connsiteY2-38" fmla="*/ 3293 h 10086"/>
                <a:gd name="connsiteX3-39" fmla="*/ 10000 w 10000"/>
                <a:gd name="connsiteY3-40" fmla="*/ 3293 h 10086"/>
                <a:gd name="connsiteX4-41" fmla="*/ 6795 w 10000"/>
                <a:gd name="connsiteY4-42" fmla="*/ 9697 h 10086"/>
                <a:gd name="connsiteX5-43" fmla="*/ 6635 w 10000"/>
                <a:gd name="connsiteY5-44" fmla="*/ 9818 h 10086"/>
                <a:gd name="connsiteX6-45" fmla="*/ 6635 w 10000"/>
                <a:gd name="connsiteY6-46" fmla="*/ 9818 h 10086"/>
                <a:gd name="connsiteX7-47" fmla="*/ 6635 w 10000"/>
                <a:gd name="connsiteY7-48" fmla="*/ 9818 h 10086"/>
                <a:gd name="connsiteX8-49" fmla="*/ 5897 w 10000"/>
                <a:gd name="connsiteY8-50" fmla="*/ 10000 h 10086"/>
                <a:gd name="connsiteX9-51" fmla="*/ 5288 w 10000"/>
                <a:gd name="connsiteY9-52" fmla="*/ 8384 h 10086"/>
                <a:gd name="connsiteX10-53" fmla="*/ 3910 w 10000"/>
                <a:gd name="connsiteY10-54" fmla="*/ 6283 h 10086"/>
                <a:gd name="connsiteX11-55" fmla="*/ 3910 w 10000"/>
                <a:gd name="connsiteY11-56" fmla="*/ 6263 h 10086"/>
                <a:gd name="connsiteX12-57" fmla="*/ 1346 w 10000"/>
                <a:gd name="connsiteY12-58" fmla="*/ 5333 h 10086"/>
                <a:gd name="connsiteX13-59" fmla="*/ 0 w 10000"/>
                <a:gd name="connsiteY13-60" fmla="*/ 3172 h 10086"/>
                <a:gd name="connsiteX14-61" fmla="*/ 5000 w 10000"/>
                <a:gd name="connsiteY14-62" fmla="*/ 0 h 1008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10000" h="10086">
                  <a:moveTo>
                    <a:pt x="5000" y="0"/>
                  </a:moveTo>
                  <a:cubicBezTo>
                    <a:pt x="7756" y="0"/>
                    <a:pt x="10000" y="1455"/>
                    <a:pt x="10000" y="3212"/>
                  </a:cubicBezTo>
                  <a:lnTo>
                    <a:pt x="10000" y="3293"/>
                  </a:lnTo>
                  <a:lnTo>
                    <a:pt x="10000" y="3293"/>
                  </a:lnTo>
                  <a:cubicBezTo>
                    <a:pt x="10000" y="5717"/>
                    <a:pt x="8814" y="7859"/>
                    <a:pt x="6795" y="9697"/>
                  </a:cubicBezTo>
                  <a:cubicBezTo>
                    <a:pt x="6731" y="9737"/>
                    <a:pt x="6699" y="9778"/>
                    <a:pt x="6635" y="9818"/>
                  </a:cubicBezTo>
                  <a:lnTo>
                    <a:pt x="6635" y="9818"/>
                  </a:lnTo>
                  <a:lnTo>
                    <a:pt x="6635" y="9818"/>
                  </a:lnTo>
                  <a:cubicBezTo>
                    <a:pt x="6442" y="9919"/>
                    <a:pt x="6121" y="10239"/>
                    <a:pt x="5897" y="10000"/>
                  </a:cubicBezTo>
                  <a:cubicBezTo>
                    <a:pt x="5673" y="9761"/>
                    <a:pt x="5619" y="9003"/>
                    <a:pt x="5288" y="8384"/>
                  </a:cubicBezTo>
                  <a:cubicBezTo>
                    <a:pt x="5064" y="7556"/>
                    <a:pt x="4744" y="6848"/>
                    <a:pt x="3910" y="6283"/>
                  </a:cubicBezTo>
                  <a:lnTo>
                    <a:pt x="3910" y="6263"/>
                  </a:lnTo>
                  <a:cubicBezTo>
                    <a:pt x="3237" y="5818"/>
                    <a:pt x="2340" y="5475"/>
                    <a:pt x="1346" y="5333"/>
                  </a:cubicBezTo>
                  <a:cubicBezTo>
                    <a:pt x="513" y="4768"/>
                    <a:pt x="0" y="4000"/>
                    <a:pt x="0" y="3172"/>
                  </a:cubicBezTo>
                  <a:cubicBezTo>
                    <a:pt x="0" y="1414"/>
                    <a:pt x="2244" y="0"/>
                    <a:pt x="5000" y="0"/>
                  </a:cubicBezTo>
                  <a:close/>
                </a:path>
              </a:pathLst>
            </a:custGeom>
            <a:grpFill/>
            <a:ln>
              <a:noFill/>
            </a:ln>
          </p:spPr>
          <p:txBody>
            <a:bodyPr/>
            <a:lstStyle/>
            <a:p>
              <a:endParaRPr lang="en-US" sz="2400" dirty="0">
                <a:solidFill>
                  <a:prstClr val="black"/>
                </a:solidFill>
                <a:latin typeface="微软雅黑" panose="020B0503020204020204" charset="-122"/>
                <a:ea typeface="微软雅黑" panose="020B0503020204020204" charset="-122"/>
              </a:endParaRPr>
            </a:p>
          </p:txBody>
        </p:sp>
        <p:sp>
          <p:nvSpPr>
            <p:cNvPr id="21" name="Freeform 108"/>
            <p:cNvSpPr/>
            <p:nvPr/>
          </p:nvSpPr>
          <p:spPr bwMode="auto">
            <a:xfrm rot="2700000">
              <a:off x="6407803" y="2259335"/>
              <a:ext cx="350653" cy="642255"/>
            </a:xfrm>
            <a:custGeom>
              <a:avLst/>
              <a:gdLst>
                <a:gd name="T0" fmla="*/ 1122363 w 596"/>
                <a:gd name="T1" fmla="*/ 4105275 h 1092"/>
                <a:gd name="T2" fmla="*/ 598844 w 596"/>
                <a:gd name="T3" fmla="*/ 4105275 h 1092"/>
                <a:gd name="T4" fmla="*/ 79093 w 596"/>
                <a:gd name="T5" fmla="*/ 1928577 h 1092"/>
                <a:gd name="T6" fmla="*/ 1122363 w 596"/>
                <a:gd name="T7" fmla="*/ 0 h 1092"/>
                <a:gd name="T8" fmla="*/ 1126129 w 596"/>
                <a:gd name="T9" fmla="*/ 0 h 1092"/>
                <a:gd name="T10" fmla="*/ 2165632 w 596"/>
                <a:gd name="T11" fmla="*/ 1928577 h 1092"/>
                <a:gd name="T12" fmla="*/ 1645881 w 596"/>
                <a:gd name="T13" fmla="*/ 4105275 h 1092"/>
                <a:gd name="T14" fmla="*/ 1122363 w 596"/>
                <a:gd name="T15" fmla="*/ 4105275 h 109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96" h="1092">
                  <a:moveTo>
                    <a:pt x="298" y="1092"/>
                  </a:moveTo>
                  <a:cubicBezTo>
                    <a:pt x="159" y="1092"/>
                    <a:pt x="159" y="1092"/>
                    <a:pt x="159" y="1092"/>
                  </a:cubicBezTo>
                  <a:cubicBezTo>
                    <a:pt x="31" y="824"/>
                    <a:pt x="21" y="513"/>
                    <a:pt x="21" y="513"/>
                  </a:cubicBezTo>
                  <a:cubicBezTo>
                    <a:pt x="0" y="212"/>
                    <a:pt x="298" y="0"/>
                    <a:pt x="298" y="0"/>
                  </a:cubicBezTo>
                  <a:cubicBezTo>
                    <a:pt x="299" y="0"/>
                    <a:pt x="299" y="0"/>
                    <a:pt x="299" y="0"/>
                  </a:cubicBezTo>
                  <a:cubicBezTo>
                    <a:pt x="299" y="0"/>
                    <a:pt x="596" y="212"/>
                    <a:pt x="575" y="513"/>
                  </a:cubicBezTo>
                  <a:cubicBezTo>
                    <a:pt x="575" y="513"/>
                    <a:pt x="566" y="824"/>
                    <a:pt x="437" y="1092"/>
                  </a:cubicBezTo>
                  <a:lnTo>
                    <a:pt x="298" y="1092"/>
                  </a:lnTo>
                  <a:close/>
                </a:path>
              </a:pathLst>
            </a:custGeom>
            <a:grpFill/>
            <a:ln>
              <a:noFill/>
            </a:ln>
          </p:spPr>
          <p:txBody>
            <a:bodyPr/>
            <a:lstStyle/>
            <a:p>
              <a:endParaRPr lang="en-US" sz="2400" dirty="0">
                <a:solidFill>
                  <a:prstClr val="black"/>
                </a:solidFill>
                <a:latin typeface="微软雅黑" panose="020B0503020204020204" charset="-122"/>
                <a:ea typeface="微软雅黑" panose="020B0503020204020204" charset="-122"/>
              </a:endParaRPr>
            </a:p>
          </p:txBody>
        </p:sp>
        <p:sp>
          <p:nvSpPr>
            <p:cNvPr id="22" name="Oval 113"/>
            <p:cNvSpPr>
              <a:spLocks noChangeArrowheads="1"/>
            </p:cNvSpPr>
            <p:nvPr/>
          </p:nvSpPr>
          <p:spPr bwMode="auto">
            <a:xfrm rot="2700000">
              <a:off x="6568043" y="2481147"/>
              <a:ext cx="117123" cy="114085"/>
            </a:xfrm>
            <a:prstGeom prst="ellipse">
              <a:avLst/>
            </a:prstGeom>
            <a:grpFill/>
            <a:ln>
              <a:noFill/>
            </a:ln>
          </p:spPr>
          <p:txBody>
            <a:bodyPr/>
            <a:lstStyle/>
            <a:p>
              <a:endParaRPr lang="en-US" sz="2400" dirty="0">
                <a:solidFill>
                  <a:prstClr val="black"/>
                </a:solidFill>
                <a:latin typeface="微软雅黑" panose="020B0503020204020204" charset="-122"/>
                <a:ea typeface="微软雅黑" panose="020B0503020204020204" charset="-122"/>
              </a:endParaRPr>
            </a:p>
          </p:txBody>
        </p:sp>
        <p:sp>
          <p:nvSpPr>
            <p:cNvPr id="23" name="Oval 116"/>
            <p:cNvSpPr>
              <a:spLocks noChangeArrowheads="1"/>
            </p:cNvSpPr>
            <p:nvPr/>
          </p:nvSpPr>
          <p:spPr bwMode="auto">
            <a:xfrm rot="2700000">
              <a:off x="6500229" y="2593093"/>
              <a:ext cx="70303" cy="72640"/>
            </a:xfrm>
            <a:prstGeom prst="ellipse">
              <a:avLst/>
            </a:prstGeom>
            <a:grpFill/>
            <a:ln>
              <a:noFill/>
            </a:ln>
          </p:spPr>
          <p:txBody>
            <a:bodyPr/>
            <a:lstStyle/>
            <a:p>
              <a:endParaRPr lang="en-US" sz="2400" dirty="0">
                <a:solidFill>
                  <a:prstClr val="black"/>
                </a:solidFill>
                <a:latin typeface="微软雅黑" panose="020B0503020204020204" charset="-122"/>
                <a:ea typeface="微软雅黑" panose="020B0503020204020204" charset="-122"/>
              </a:endParaRPr>
            </a:p>
          </p:txBody>
        </p:sp>
        <p:sp>
          <p:nvSpPr>
            <p:cNvPr id="24" name="Oval 119"/>
            <p:cNvSpPr>
              <a:spLocks noChangeArrowheads="1"/>
            </p:cNvSpPr>
            <p:nvPr/>
          </p:nvSpPr>
          <p:spPr bwMode="auto">
            <a:xfrm rot="2700000">
              <a:off x="6447912" y="2674106"/>
              <a:ext cx="43239" cy="42313"/>
            </a:xfrm>
            <a:prstGeom prst="ellipse">
              <a:avLst/>
            </a:prstGeom>
            <a:grpFill/>
            <a:ln>
              <a:noFill/>
            </a:ln>
          </p:spPr>
          <p:txBody>
            <a:bodyPr/>
            <a:lstStyle/>
            <a:p>
              <a:endParaRPr lang="en-US" sz="2400" dirty="0">
                <a:solidFill>
                  <a:prstClr val="black"/>
                </a:solidFill>
                <a:latin typeface="微软雅黑" panose="020B0503020204020204" charset="-122"/>
                <a:ea typeface="微软雅黑" panose="020B0503020204020204" charset="-122"/>
              </a:endParaRPr>
            </a:p>
          </p:txBody>
        </p:sp>
        <p:sp>
          <p:nvSpPr>
            <p:cNvPr id="25" name="Rectangle 27"/>
            <p:cNvSpPr/>
            <p:nvPr/>
          </p:nvSpPr>
          <p:spPr>
            <a:xfrm rot="2700000">
              <a:off x="6301683" y="2797997"/>
              <a:ext cx="71523" cy="43830"/>
            </a:xfrm>
            <a:prstGeom prst="rect">
              <a:avLst/>
            </a:prstGeom>
            <a:grp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400" dirty="0">
                <a:solidFill>
                  <a:prstClr val="black"/>
                </a:solidFill>
                <a:latin typeface="微软雅黑" panose="020B0503020204020204" charset="-122"/>
                <a:ea typeface="微软雅黑" panose="020B0503020204020204" charset="-122"/>
              </a:endParaRPr>
            </a:p>
          </p:txBody>
        </p:sp>
      </p:grpSp>
      <p:grpSp>
        <p:nvGrpSpPr>
          <p:cNvPr id="26" name="Group 30"/>
          <p:cNvGrpSpPr/>
          <p:nvPr>
            <p:custDataLst>
              <p:tags r:id="rId2"/>
            </p:custDataLst>
          </p:nvPr>
        </p:nvGrpSpPr>
        <p:grpSpPr>
          <a:xfrm>
            <a:off x="6386611" y="2505170"/>
            <a:ext cx="423143" cy="371105"/>
            <a:chOff x="3175" y="-1587"/>
            <a:chExt cx="490538" cy="430212"/>
          </a:xfrm>
          <a:solidFill>
            <a:schemeClr val="accent1">
              <a:lumMod val="75000"/>
            </a:schemeClr>
          </a:solidFill>
        </p:grpSpPr>
        <p:sp>
          <p:nvSpPr>
            <p:cNvPr id="27" name="Freeform 175"/>
            <p:cNvSpPr>
              <a:spLocks noEditPoints="1"/>
            </p:cNvSpPr>
            <p:nvPr>
              <p:custDataLst>
                <p:tags r:id="rId13"/>
              </p:custDataLst>
            </p:nvPr>
          </p:nvSpPr>
          <p:spPr bwMode="auto">
            <a:xfrm>
              <a:off x="3175" y="-1587"/>
              <a:ext cx="490538" cy="430212"/>
            </a:xfrm>
            <a:custGeom>
              <a:avLst/>
              <a:gdLst>
                <a:gd name="T0" fmla="*/ 128 w 128"/>
                <a:gd name="T1" fmla="*/ 66 h 112"/>
                <a:gd name="T2" fmla="*/ 112 w 128"/>
                <a:gd name="T3" fmla="*/ 6 h 112"/>
                <a:gd name="T4" fmla="*/ 104 w 128"/>
                <a:gd name="T5" fmla="*/ 0 h 112"/>
                <a:gd name="T6" fmla="*/ 64 w 128"/>
                <a:gd name="T7" fmla="*/ 0 h 112"/>
                <a:gd name="T8" fmla="*/ 24 w 128"/>
                <a:gd name="T9" fmla="*/ 0 h 112"/>
                <a:gd name="T10" fmla="*/ 16 w 128"/>
                <a:gd name="T11" fmla="*/ 6 h 112"/>
                <a:gd name="T12" fmla="*/ 0 w 128"/>
                <a:gd name="T13" fmla="*/ 66 h 112"/>
                <a:gd name="T14" fmla="*/ 0 w 128"/>
                <a:gd name="T15" fmla="*/ 68 h 112"/>
                <a:gd name="T16" fmla="*/ 0 w 128"/>
                <a:gd name="T17" fmla="*/ 96 h 112"/>
                <a:gd name="T18" fmla="*/ 16 w 128"/>
                <a:gd name="T19" fmla="*/ 112 h 112"/>
                <a:gd name="T20" fmla="*/ 112 w 128"/>
                <a:gd name="T21" fmla="*/ 112 h 112"/>
                <a:gd name="T22" fmla="*/ 128 w 128"/>
                <a:gd name="T23" fmla="*/ 96 h 112"/>
                <a:gd name="T24" fmla="*/ 128 w 128"/>
                <a:gd name="T25" fmla="*/ 68 h 112"/>
                <a:gd name="T26" fmla="*/ 128 w 128"/>
                <a:gd name="T27" fmla="*/ 66 h 112"/>
                <a:gd name="T28" fmla="*/ 120 w 128"/>
                <a:gd name="T29" fmla="*/ 96 h 112"/>
                <a:gd name="T30" fmla="*/ 112 w 128"/>
                <a:gd name="T31" fmla="*/ 104 h 112"/>
                <a:gd name="T32" fmla="*/ 16 w 128"/>
                <a:gd name="T33" fmla="*/ 104 h 112"/>
                <a:gd name="T34" fmla="*/ 8 w 128"/>
                <a:gd name="T35" fmla="*/ 96 h 112"/>
                <a:gd name="T36" fmla="*/ 8 w 128"/>
                <a:gd name="T37" fmla="*/ 68 h 112"/>
                <a:gd name="T38" fmla="*/ 24 w 128"/>
                <a:gd name="T39" fmla="*/ 8 h 112"/>
                <a:gd name="T40" fmla="*/ 104 w 128"/>
                <a:gd name="T41" fmla="*/ 8 h 112"/>
                <a:gd name="T42" fmla="*/ 120 w 128"/>
                <a:gd name="T43" fmla="*/ 68 h 112"/>
                <a:gd name="T44" fmla="*/ 120 w 128"/>
                <a:gd name="T45" fmla="*/ 9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8" h="112">
                  <a:moveTo>
                    <a:pt x="128" y="66"/>
                  </a:moveTo>
                  <a:cubicBezTo>
                    <a:pt x="112" y="6"/>
                    <a:pt x="112" y="6"/>
                    <a:pt x="112" y="6"/>
                  </a:cubicBezTo>
                  <a:cubicBezTo>
                    <a:pt x="111" y="2"/>
                    <a:pt x="108" y="0"/>
                    <a:pt x="104" y="0"/>
                  </a:cubicBezTo>
                  <a:cubicBezTo>
                    <a:pt x="64" y="0"/>
                    <a:pt x="64" y="0"/>
                    <a:pt x="64" y="0"/>
                  </a:cubicBezTo>
                  <a:cubicBezTo>
                    <a:pt x="24" y="0"/>
                    <a:pt x="24" y="0"/>
                    <a:pt x="24" y="0"/>
                  </a:cubicBezTo>
                  <a:cubicBezTo>
                    <a:pt x="20" y="0"/>
                    <a:pt x="17" y="2"/>
                    <a:pt x="16" y="6"/>
                  </a:cubicBezTo>
                  <a:cubicBezTo>
                    <a:pt x="0" y="66"/>
                    <a:pt x="0" y="66"/>
                    <a:pt x="0" y="66"/>
                  </a:cubicBezTo>
                  <a:cubicBezTo>
                    <a:pt x="0" y="67"/>
                    <a:pt x="0" y="67"/>
                    <a:pt x="0" y="68"/>
                  </a:cubicBezTo>
                  <a:cubicBezTo>
                    <a:pt x="0" y="96"/>
                    <a:pt x="0" y="96"/>
                    <a:pt x="0" y="96"/>
                  </a:cubicBezTo>
                  <a:cubicBezTo>
                    <a:pt x="0" y="105"/>
                    <a:pt x="7" y="112"/>
                    <a:pt x="16" y="112"/>
                  </a:cubicBezTo>
                  <a:cubicBezTo>
                    <a:pt x="112" y="112"/>
                    <a:pt x="112" y="112"/>
                    <a:pt x="112" y="112"/>
                  </a:cubicBezTo>
                  <a:cubicBezTo>
                    <a:pt x="121" y="112"/>
                    <a:pt x="128" y="105"/>
                    <a:pt x="128" y="96"/>
                  </a:cubicBezTo>
                  <a:cubicBezTo>
                    <a:pt x="128" y="68"/>
                    <a:pt x="128" y="68"/>
                    <a:pt x="128" y="68"/>
                  </a:cubicBezTo>
                  <a:cubicBezTo>
                    <a:pt x="128" y="67"/>
                    <a:pt x="128" y="67"/>
                    <a:pt x="128" y="66"/>
                  </a:cubicBezTo>
                  <a:close/>
                  <a:moveTo>
                    <a:pt x="120" y="96"/>
                  </a:moveTo>
                  <a:cubicBezTo>
                    <a:pt x="120" y="100"/>
                    <a:pt x="116" y="104"/>
                    <a:pt x="112" y="104"/>
                  </a:cubicBezTo>
                  <a:cubicBezTo>
                    <a:pt x="16" y="104"/>
                    <a:pt x="16" y="104"/>
                    <a:pt x="16" y="104"/>
                  </a:cubicBezTo>
                  <a:cubicBezTo>
                    <a:pt x="12" y="104"/>
                    <a:pt x="8" y="100"/>
                    <a:pt x="8" y="96"/>
                  </a:cubicBezTo>
                  <a:cubicBezTo>
                    <a:pt x="8" y="68"/>
                    <a:pt x="8" y="68"/>
                    <a:pt x="8" y="68"/>
                  </a:cubicBezTo>
                  <a:cubicBezTo>
                    <a:pt x="24" y="8"/>
                    <a:pt x="24" y="8"/>
                    <a:pt x="24" y="8"/>
                  </a:cubicBezTo>
                  <a:cubicBezTo>
                    <a:pt x="104" y="8"/>
                    <a:pt x="104" y="8"/>
                    <a:pt x="104" y="8"/>
                  </a:cubicBezTo>
                  <a:cubicBezTo>
                    <a:pt x="120" y="68"/>
                    <a:pt x="120" y="68"/>
                    <a:pt x="120" y="68"/>
                  </a:cubicBezTo>
                  <a:lnTo>
                    <a:pt x="120"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id-ID" sz="2400">
                <a:solidFill>
                  <a:prstClr val="black"/>
                </a:solidFill>
                <a:latin typeface="微软雅黑" panose="020B0503020204020204" charset="-122"/>
                <a:ea typeface="微软雅黑" panose="020B0503020204020204" charset="-122"/>
              </a:endParaRPr>
            </a:p>
          </p:txBody>
        </p:sp>
        <p:sp>
          <p:nvSpPr>
            <p:cNvPr id="28" name="Freeform 176"/>
            <p:cNvSpPr>
              <a:spLocks noEditPoints="1"/>
            </p:cNvSpPr>
            <p:nvPr>
              <p:custDataLst>
                <p:tags r:id="rId14"/>
              </p:custDataLst>
            </p:nvPr>
          </p:nvSpPr>
          <p:spPr bwMode="auto">
            <a:xfrm>
              <a:off x="60325" y="58738"/>
              <a:ext cx="374650" cy="277812"/>
            </a:xfrm>
            <a:custGeom>
              <a:avLst/>
              <a:gdLst>
                <a:gd name="T0" fmla="*/ 80 w 98"/>
                <a:gd name="T1" fmla="*/ 0 h 72"/>
                <a:gd name="T2" fmla="*/ 18 w 98"/>
                <a:gd name="T3" fmla="*/ 0 h 72"/>
                <a:gd name="T4" fmla="*/ 14 w 98"/>
                <a:gd name="T5" fmla="*/ 3 h 72"/>
                <a:gd name="T6" fmla="*/ 0 w 98"/>
                <a:gd name="T7" fmla="*/ 51 h 72"/>
                <a:gd name="T8" fmla="*/ 1 w 98"/>
                <a:gd name="T9" fmla="*/ 54 h 72"/>
                <a:gd name="T10" fmla="*/ 4 w 98"/>
                <a:gd name="T11" fmla="*/ 56 h 72"/>
                <a:gd name="T12" fmla="*/ 16 w 98"/>
                <a:gd name="T13" fmla="*/ 56 h 72"/>
                <a:gd name="T14" fmla="*/ 20 w 98"/>
                <a:gd name="T15" fmla="*/ 56 h 72"/>
                <a:gd name="T16" fmla="*/ 23 w 98"/>
                <a:gd name="T17" fmla="*/ 56 h 72"/>
                <a:gd name="T18" fmla="*/ 28 w 98"/>
                <a:gd name="T19" fmla="*/ 68 h 72"/>
                <a:gd name="T20" fmla="*/ 35 w 98"/>
                <a:gd name="T21" fmla="*/ 72 h 72"/>
                <a:gd name="T22" fmla="*/ 63 w 98"/>
                <a:gd name="T23" fmla="*/ 72 h 72"/>
                <a:gd name="T24" fmla="*/ 70 w 98"/>
                <a:gd name="T25" fmla="*/ 68 h 72"/>
                <a:gd name="T26" fmla="*/ 75 w 98"/>
                <a:gd name="T27" fmla="*/ 56 h 72"/>
                <a:gd name="T28" fmla="*/ 78 w 98"/>
                <a:gd name="T29" fmla="*/ 56 h 72"/>
                <a:gd name="T30" fmla="*/ 82 w 98"/>
                <a:gd name="T31" fmla="*/ 56 h 72"/>
                <a:gd name="T32" fmla="*/ 94 w 98"/>
                <a:gd name="T33" fmla="*/ 56 h 72"/>
                <a:gd name="T34" fmla="*/ 97 w 98"/>
                <a:gd name="T35" fmla="*/ 54 h 72"/>
                <a:gd name="T36" fmla="*/ 98 w 98"/>
                <a:gd name="T37" fmla="*/ 51 h 72"/>
                <a:gd name="T38" fmla="*/ 84 w 98"/>
                <a:gd name="T39" fmla="*/ 3 h 72"/>
                <a:gd name="T40" fmla="*/ 80 w 98"/>
                <a:gd name="T41" fmla="*/ 0 h 72"/>
                <a:gd name="T42" fmla="*/ 82 w 98"/>
                <a:gd name="T43" fmla="*/ 48 h 72"/>
                <a:gd name="T44" fmla="*/ 75 w 98"/>
                <a:gd name="T45" fmla="*/ 48 h 72"/>
                <a:gd name="T46" fmla="*/ 68 w 98"/>
                <a:gd name="T47" fmla="*/ 52 h 72"/>
                <a:gd name="T48" fmla="*/ 63 w 98"/>
                <a:gd name="T49" fmla="*/ 64 h 72"/>
                <a:gd name="T50" fmla="*/ 35 w 98"/>
                <a:gd name="T51" fmla="*/ 64 h 72"/>
                <a:gd name="T52" fmla="*/ 30 w 98"/>
                <a:gd name="T53" fmla="*/ 52 h 72"/>
                <a:gd name="T54" fmla="*/ 23 w 98"/>
                <a:gd name="T55" fmla="*/ 48 h 72"/>
                <a:gd name="T56" fmla="*/ 16 w 98"/>
                <a:gd name="T57" fmla="*/ 48 h 72"/>
                <a:gd name="T58" fmla="*/ 6 w 98"/>
                <a:gd name="T59" fmla="*/ 48 h 72"/>
                <a:gd name="T60" fmla="*/ 18 w 98"/>
                <a:gd name="T61" fmla="*/ 4 h 72"/>
                <a:gd name="T62" fmla="*/ 80 w 98"/>
                <a:gd name="T63" fmla="*/ 4 h 72"/>
                <a:gd name="T64" fmla="*/ 92 w 98"/>
                <a:gd name="T65" fmla="*/ 48 h 72"/>
                <a:gd name="T66" fmla="*/ 82 w 98"/>
                <a:gd name="T67" fmla="*/ 48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8" h="72">
                  <a:moveTo>
                    <a:pt x="80" y="0"/>
                  </a:moveTo>
                  <a:cubicBezTo>
                    <a:pt x="18" y="0"/>
                    <a:pt x="18" y="0"/>
                    <a:pt x="18" y="0"/>
                  </a:cubicBezTo>
                  <a:cubicBezTo>
                    <a:pt x="16" y="0"/>
                    <a:pt x="15" y="1"/>
                    <a:pt x="14" y="3"/>
                  </a:cubicBezTo>
                  <a:cubicBezTo>
                    <a:pt x="0" y="51"/>
                    <a:pt x="0" y="51"/>
                    <a:pt x="0" y="51"/>
                  </a:cubicBezTo>
                  <a:cubicBezTo>
                    <a:pt x="0" y="52"/>
                    <a:pt x="0" y="53"/>
                    <a:pt x="1" y="54"/>
                  </a:cubicBezTo>
                  <a:cubicBezTo>
                    <a:pt x="2" y="55"/>
                    <a:pt x="3" y="56"/>
                    <a:pt x="4" y="56"/>
                  </a:cubicBezTo>
                  <a:cubicBezTo>
                    <a:pt x="16" y="56"/>
                    <a:pt x="16" y="56"/>
                    <a:pt x="16" y="56"/>
                  </a:cubicBezTo>
                  <a:cubicBezTo>
                    <a:pt x="20" y="56"/>
                    <a:pt x="20" y="56"/>
                    <a:pt x="20" y="56"/>
                  </a:cubicBezTo>
                  <a:cubicBezTo>
                    <a:pt x="23" y="56"/>
                    <a:pt x="23" y="56"/>
                    <a:pt x="23" y="56"/>
                  </a:cubicBezTo>
                  <a:cubicBezTo>
                    <a:pt x="28" y="68"/>
                    <a:pt x="28" y="68"/>
                    <a:pt x="28" y="68"/>
                  </a:cubicBezTo>
                  <a:cubicBezTo>
                    <a:pt x="30" y="70"/>
                    <a:pt x="32" y="72"/>
                    <a:pt x="35" y="72"/>
                  </a:cubicBezTo>
                  <a:cubicBezTo>
                    <a:pt x="63" y="72"/>
                    <a:pt x="63" y="72"/>
                    <a:pt x="63" y="72"/>
                  </a:cubicBezTo>
                  <a:cubicBezTo>
                    <a:pt x="66" y="72"/>
                    <a:pt x="68" y="70"/>
                    <a:pt x="70" y="68"/>
                  </a:cubicBezTo>
                  <a:cubicBezTo>
                    <a:pt x="75" y="56"/>
                    <a:pt x="75" y="56"/>
                    <a:pt x="75" y="56"/>
                  </a:cubicBezTo>
                  <a:cubicBezTo>
                    <a:pt x="78" y="56"/>
                    <a:pt x="78" y="56"/>
                    <a:pt x="78" y="56"/>
                  </a:cubicBezTo>
                  <a:cubicBezTo>
                    <a:pt x="82" y="56"/>
                    <a:pt x="82" y="56"/>
                    <a:pt x="82" y="56"/>
                  </a:cubicBezTo>
                  <a:cubicBezTo>
                    <a:pt x="94" y="56"/>
                    <a:pt x="94" y="56"/>
                    <a:pt x="94" y="56"/>
                  </a:cubicBezTo>
                  <a:cubicBezTo>
                    <a:pt x="95" y="56"/>
                    <a:pt x="96" y="55"/>
                    <a:pt x="97" y="54"/>
                  </a:cubicBezTo>
                  <a:cubicBezTo>
                    <a:pt x="98" y="53"/>
                    <a:pt x="98" y="52"/>
                    <a:pt x="98" y="51"/>
                  </a:cubicBezTo>
                  <a:cubicBezTo>
                    <a:pt x="84" y="3"/>
                    <a:pt x="84" y="3"/>
                    <a:pt x="84" y="3"/>
                  </a:cubicBezTo>
                  <a:cubicBezTo>
                    <a:pt x="83" y="1"/>
                    <a:pt x="82" y="0"/>
                    <a:pt x="80" y="0"/>
                  </a:cubicBezTo>
                  <a:close/>
                  <a:moveTo>
                    <a:pt x="82" y="48"/>
                  </a:moveTo>
                  <a:cubicBezTo>
                    <a:pt x="75" y="48"/>
                    <a:pt x="75" y="48"/>
                    <a:pt x="75" y="48"/>
                  </a:cubicBezTo>
                  <a:cubicBezTo>
                    <a:pt x="72" y="48"/>
                    <a:pt x="70" y="50"/>
                    <a:pt x="68" y="52"/>
                  </a:cubicBezTo>
                  <a:cubicBezTo>
                    <a:pt x="63" y="64"/>
                    <a:pt x="63" y="64"/>
                    <a:pt x="63" y="64"/>
                  </a:cubicBezTo>
                  <a:cubicBezTo>
                    <a:pt x="35" y="64"/>
                    <a:pt x="35" y="64"/>
                    <a:pt x="35" y="64"/>
                  </a:cubicBezTo>
                  <a:cubicBezTo>
                    <a:pt x="30" y="52"/>
                    <a:pt x="30" y="52"/>
                    <a:pt x="30" y="52"/>
                  </a:cubicBezTo>
                  <a:cubicBezTo>
                    <a:pt x="28" y="50"/>
                    <a:pt x="26" y="48"/>
                    <a:pt x="23" y="48"/>
                  </a:cubicBezTo>
                  <a:cubicBezTo>
                    <a:pt x="16" y="48"/>
                    <a:pt x="16" y="48"/>
                    <a:pt x="16" y="48"/>
                  </a:cubicBezTo>
                  <a:cubicBezTo>
                    <a:pt x="6" y="48"/>
                    <a:pt x="6" y="48"/>
                    <a:pt x="6" y="48"/>
                  </a:cubicBezTo>
                  <a:cubicBezTo>
                    <a:pt x="18" y="4"/>
                    <a:pt x="18" y="4"/>
                    <a:pt x="18" y="4"/>
                  </a:cubicBezTo>
                  <a:cubicBezTo>
                    <a:pt x="80" y="4"/>
                    <a:pt x="80" y="4"/>
                    <a:pt x="80" y="4"/>
                  </a:cubicBezTo>
                  <a:cubicBezTo>
                    <a:pt x="92" y="48"/>
                    <a:pt x="92" y="48"/>
                    <a:pt x="92" y="48"/>
                  </a:cubicBezTo>
                  <a:lnTo>
                    <a:pt x="82" y="4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id-ID" sz="2400">
                <a:solidFill>
                  <a:prstClr val="black"/>
                </a:solidFill>
                <a:latin typeface="微软雅黑" panose="020B0503020204020204" charset="-122"/>
                <a:ea typeface="微软雅黑" panose="020B0503020204020204" charset="-122"/>
              </a:endParaRPr>
            </a:p>
          </p:txBody>
        </p:sp>
      </p:grpSp>
      <p:sp>
        <p:nvSpPr>
          <p:cNvPr id="29" name="Freeform 50"/>
          <p:cNvSpPr>
            <a:spLocks noEditPoints="1"/>
          </p:cNvSpPr>
          <p:nvPr>
            <p:custDataLst>
              <p:tags r:id="rId3"/>
            </p:custDataLst>
          </p:nvPr>
        </p:nvSpPr>
        <p:spPr bwMode="auto">
          <a:xfrm>
            <a:off x="1258682" y="3456714"/>
            <a:ext cx="349097" cy="439700"/>
          </a:xfrm>
          <a:custGeom>
            <a:avLst/>
            <a:gdLst/>
            <a:ahLst/>
            <a:cxnLst>
              <a:cxn ang="0">
                <a:pos x="187" y="135"/>
              </a:cxn>
              <a:cxn ang="0">
                <a:pos x="44" y="135"/>
              </a:cxn>
              <a:cxn ang="0">
                <a:pos x="44" y="156"/>
              </a:cxn>
              <a:cxn ang="0">
                <a:pos x="187" y="156"/>
              </a:cxn>
              <a:cxn ang="0">
                <a:pos x="187" y="135"/>
              </a:cxn>
              <a:cxn ang="0">
                <a:pos x="187" y="95"/>
              </a:cxn>
              <a:cxn ang="0">
                <a:pos x="44" y="95"/>
              </a:cxn>
              <a:cxn ang="0">
                <a:pos x="44" y="115"/>
              </a:cxn>
              <a:cxn ang="0">
                <a:pos x="187" y="115"/>
              </a:cxn>
              <a:cxn ang="0">
                <a:pos x="187" y="95"/>
              </a:cxn>
              <a:cxn ang="0">
                <a:pos x="187" y="54"/>
              </a:cxn>
              <a:cxn ang="0">
                <a:pos x="44" y="54"/>
              </a:cxn>
              <a:cxn ang="0">
                <a:pos x="44" y="75"/>
              </a:cxn>
              <a:cxn ang="0">
                <a:pos x="187" y="75"/>
              </a:cxn>
              <a:cxn ang="0">
                <a:pos x="187" y="54"/>
              </a:cxn>
              <a:cxn ang="0">
                <a:pos x="44" y="196"/>
              </a:cxn>
              <a:cxn ang="0">
                <a:pos x="116" y="196"/>
              </a:cxn>
              <a:cxn ang="0">
                <a:pos x="116" y="176"/>
              </a:cxn>
              <a:cxn ang="0">
                <a:pos x="44" y="176"/>
              </a:cxn>
              <a:cxn ang="0">
                <a:pos x="44" y="196"/>
              </a:cxn>
              <a:cxn ang="0">
                <a:pos x="233" y="29"/>
              </a:cxn>
              <a:cxn ang="0">
                <a:pos x="233" y="0"/>
              </a:cxn>
              <a:cxn ang="0">
                <a:pos x="0" y="0"/>
              </a:cxn>
              <a:cxn ang="0">
                <a:pos x="0" y="301"/>
              </a:cxn>
              <a:cxn ang="0">
                <a:pos x="29" y="301"/>
              </a:cxn>
              <a:cxn ang="0">
                <a:pos x="29" y="330"/>
              </a:cxn>
              <a:cxn ang="0">
                <a:pos x="262" y="330"/>
              </a:cxn>
              <a:cxn ang="0">
                <a:pos x="262" y="29"/>
              </a:cxn>
              <a:cxn ang="0">
                <a:pos x="233" y="29"/>
              </a:cxn>
              <a:cxn ang="0">
                <a:pos x="15" y="286"/>
              </a:cxn>
              <a:cxn ang="0">
                <a:pos x="15" y="16"/>
              </a:cxn>
              <a:cxn ang="0">
                <a:pos x="216" y="16"/>
              </a:cxn>
              <a:cxn ang="0">
                <a:pos x="216" y="216"/>
              </a:cxn>
              <a:cxn ang="0">
                <a:pos x="148" y="216"/>
              </a:cxn>
              <a:cxn ang="0">
                <a:pos x="148" y="286"/>
              </a:cxn>
              <a:cxn ang="0">
                <a:pos x="15" y="286"/>
              </a:cxn>
              <a:cxn ang="0">
                <a:pos x="245" y="315"/>
              </a:cxn>
              <a:cxn ang="0">
                <a:pos x="44" y="315"/>
              </a:cxn>
              <a:cxn ang="0">
                <a:pos x="44" y="301"/>
              </a:cxn>
              <a:cxn ang="0">
                <a:pos x="155" y="301"/>
              </a:cxn>
              <a:cxn ang="0">
                <a:pos x="233" y="225"/>
              </a:cxn>
              <a:cxn ang="0">
                <a:pos x="233" y="45"/>
              </a:cxn>
              <a:cxn ang="0">
                <a:pos x="245" y="45"/>
              </a:cxn>
              <a:cxn ang="0">
                <a:pos x="245" y="315"/>
              </a:cxn>
            </a:cxnLst>
            <a:rect l="0" t="0" r="r" b="b"/>
            <a:pathLst>
              <a:path w="262" h="330">
                <a:moveTo>
                  <a:pt x="187" y="135"/>
                </a:moveTo>
                <a:lnTo>
                  <a:pt x="44" y="135"/>
                </a:lnTo>
                <a:lnTo>
                  <a:pt x="44" y="156"/>
                </a:lnTo>
                <a:lnTo>
                  <a:pt x="187" y="156"/>
                </a:lnTo>
                <a:lnTo>
                  <a:pt x="187" y="135"/>
                </a:lnTo>
                <a:close/>
                <a:moveTo>
                  <a:pt x="187" y="95"/>
                </a:moveTo>
                <a:lnTo>
                  <a:pt x="44" y="95"/>
                </a:lnTo>
                <a:lnTo>
                  <a:pt x="44" y="115"/>
                </a:lnTo>
                <a:lnTo>
                  <a:pt x="187" y="115"/>
                </a:lnTo>
                <a:lnTo>
                  <a:pt x="187" y="95"/>
                </a:lnTo>
                <a:close/>
                <a:moveTo>
                  <a:pt x="187" y="54"/>
                </a:moveTo>
                <a:lnTo>
                  <a:pt x="44" y="54"/>
                </a:lnTo>
                <a:lnTo>
                  <a:pt x="44" y="75"/>
                </a:lnTo>
                <a:lnTo>
                  <a:pt x="187" y="75"/>
                </a:lnTo>
                <a:lnTo>
                  <a:pt x="187" y="54"/>
                </a:lnTo>
                <a:close/>
                <a:moveTo>
                  <a:pt x="44" y="196"/>
                </a:moveTo>
                <a:lnTo>
                  <a:pt x="116" y="196"/>
                </a:lnTo>
                <a:lnTo>
                  <a:pt x="116" y="176"/>
                </a:lnTo>
                <a:lnTo>
                  <a:pt x="44" y="176"/>
                </a:lnTo>
                <a:lnTo>
                  <a:pt x="44" y="196"/>
                </a:lnTo>
                <a:close/>
                <a:moveTo>
                  <a:pt x="233" y="29"/>
                </a:moveTo>
                <a:lnTo>
                  <a:pt x="233" y="0"/>
                </a:lnTo>
                <a:lnTo>
                  <a:pt x="0" y="0"/>
                </a:lnTo>
                <a:lnTo>
                  <a:pt x="0" y="301"/>
                </a:lnTo>
                <a:lnTo>
                  <a:pt x="29" y="301"/>
                </a:lnTo>
                <a:lnTo>
                  <a:pt x="29" y="330"/>
                </a:lnTo>
                <a:lnTo>
                  <a:pt x="262" y="330"/>
                </a:lnTo>
                <a:lnTo>
                  <a:pt x="262" y="29"/>
                </a:lnTo>
                <a:lnTo>
                  <a:pt x="233" y="29"/>
                </a:lnTo>
                <a:close/>
                <a:moveTo>
                  <a:pt x="15" y="286"/>
                </a:moveTo>
                <a:lnTo>
                  <a:pt x="15" y="16"/>
                </a:lnTo>
                <a:lnTo>
                  <a:pt x="216" y="16"/>
                </a:lnTo>
                <a:lnTo>
                  <a:pt x="216" y="216"/>
                </a:lnTo>
                <a:lnTo>
                  <a:pt x="148" y="216"/>
                </a:lnTo>
                <a:lnTo>
                  <a:pt x="148" y="286"/>
                </a:lnTo>
                <a:lnTo>
                  <a:pt x="15" y="286"/>
                </a:lnTo>
                <a:close/>
                <a:moveTo>
                  <a:pt x="245" y="315"/>
                </a:moveTo>
                <a:lnTo>
                  <a:pt x="44" y="315"/>
                </a:lnTo>
                <a:lnTo>
                  <a:pt x="44" y="301"/>
                </a:lnTo>
                <a:lnTo>
                  <a:pt x="155" y="301"/>
                </a:lnTo>
                <a:lnTo>
                  <a:pt x="233" y="225"/>
                </a:lnTo>
                <a:lnTo>
                  <a:pt x="233" y="45"/>
                </a:lnTo>
                <a:lnTo>
                  <a:pt x="245" y="45"/>
                </a:lnTo>
                <a:lnTo>
                  <a:pt x="245" y="315"/>
                </a:lnTo>
                <a:close/>
              </a:path>
            </a:pathLst>
          </a:custGeom>
          <a:solidFill>
            <a:schemeClr val="accent1">
              <a:lumMod val="75000"/>
            </a:schemeClr>
          </a:solidFill>
          <a:ln w="9525">
            <a:noFill/>
            <a:round/>
          </a:ln>
        </p:spPr>
        <p:txBody>
          <a:bodyPr vert="horz" wrap="square" lIns="121920" tIns="60960" rIns="121920" bIns="60960" numCol="1" anchor="t" anchorCtr="0" compatLnSpc="1"/>
          <a:lstStyle/>
          <a:p>
            <a:endParaRPr lang="ko-KR" altLang="en-US" sz="2400">
              <a:solidFill>
                <a:prstClr val="black"/>
              </a:solidFill>
              <a:latin typeface="微软雅黑" panose="020B0503020204020204" charset="-122"/>
              <a:ea typeface="+mj-ea"/>
            </a:endParaRPr>
          </a:p>
        </p:txBody>
      </p:sp>
      <p:sp>
        <p:nvSpPr>
          <p:cNvPr id="30" name="Freeform 48"/>
          <p:cNvSpPr>
            <a:spLocks noEditPoints="1"/>
          </p:cNvSpPr>
          <p:nvPr>
            <p:custDataLst>
              <p:tags r:id="rId4"/>
            </p:custDataLst>
          </p:nvPr>
        </p:nvSpPr>
        <p:spPr bwMode="auto">
          <a:xfrm>
            <a:off x="3845843" y="3850759"/>
            <a:ext cx="322833" cy="472373"/>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accent1">
              <a:lumMod val="75000"/>
            </a:schemeClr>
          </a:solidFill>
          <a:ln w="9525">
            <a:noFill/>
            <a:round/>
          </a:ln>
        </p:spPr>
        <p:txBody>
          <a:bodyPr vert="horz" wrap="square" lIns="121920" tIns="60960" rIns="121920" bIns="60960" numCol="1" anchor="t" anchorCtr="0" compatLnSpc="1"/>
          <a:lstStyle/>
          <a:p>
            <a:endParaRPr lang="ko-KR" altLang="en-US" sz="2400">
              <a:solidFill>
                <a:prstClr val="black"/>
              </a:solidFill>
              <a:latin typeface="微软雅黑" panose="020B0503020204020204" charset="-122"/>
              <a:ea typeface="+mj-ea"/>
            </a:endParaRPr>
          </a:p>
        </p:txBody>
      </p:sp>
      <p:grpSp>
        <p:nvGrpSpPr>
          <p:cNvPr id="31" name="Group 18"/>
          <p:cNvGrpSpPr/>
          <p:nvPr/>
        </p:nvGrpSpPr>
        <p:grpSpPr>
          <a:xfrm>
            <a:off x="10179656" y="3839903"/>
            <a:ext cx="416357" cy="416357"/>
            <a:chOff x="6350" y="4763"/>
            <a:chExt cx="492125" cy="492125"/>
          </a:xfrm>
          <a:solidFill>
            <a:schemeClr val="accent1">
              <a:lumMod val="75000"/>
            </a:schemeClr>
          </a:solidFill>
        </p:grpSpPr>
        <p:sp>
          <p:nvSpPr>
            <p:cNvPr id="33" name="Freeform 156"/>
            <p:cNvSpPr>
              <a:spLocks noEditPoints="1"/>
            </p:cNvSpPr>
            <p:nvPr/>
          </p:nvSpPr>
          <p:spPr bwMode="auto">
            <a:xfrm>
              <a:off x="6350" y="4763"/>
              <a:ext cx="492125" cy="492125"/>
            </a:xfrm>
            <a:custGeom>
              <a:avLst/>
              <a:gdLst>
                <a:gd name="T0" fmla="*/ 109 w 128"/>
                <a:gd name="T1" fmla="*/ 48 h 128"/>
                <a:gd name="T2" fmla="*/ 114 w 128"/>
                <a:gd name="T3" fmla="*/ 33 h 128"/>
                <a:gd name="T4" fmla="*/ 105 w 128"/>
                <a:gd name="T5" fmla="*/ 15 h 128"/>
                <a:gd name="T6" fmla="*/ 95 w 128"/>
                <a:gd name="T7" fmla="*/ 14 h 128"/>
                <a:gd name="T8" fmla="*/ 80 w 128"/>
                <a:gd name="T9" fmla="*/ 19 h 128"/>
                <a:gd name="T10" fmla="*/ 69 w 128"/>
                <a:gd name="T11" fmla="*/ 0 h 128"/>
                <a:gd name="T12" fmla="*/ 51 w 128"/>
                <a:gd name="T13" fmla="*/ 6 h 128"/>
                <a:gd name="T14" fmla="*/ 43 w 128"/>
                <a:gd name="T15" fmla="*/ 21 h 128"/>
                <a:gd name="T16" fmla="*/ 28 w 128"/>
                <a:gd name="T17" fmla="*/ 13 h 128"/>
                <a:gd name="T18" fmla="*/ 15 w 128"/>
                <a:gd name="T19" fmla="*/ 23 h 128"/>
                <a:gd name="T20" fmla="*/ 21 w 128"/>
                <a:gd name="T21" fmla="*/ 43 h 128"/>
                <a:gd name="T22" fmla="*/ 6 w 128"/>
                <a:gd name="T23" fmla="*/ 51 h 128"/>
                <a:gd name="T24" fmla="*/ 0 w 128"/>
                <a:gd name="T25" fmla="*/ 69 h 128"/>
                <a:gd name="T26" fmla="*/ 19 w 128"/>
                <a:gd name="T27" fmla="*/ 80 h 128"/>
                <a:gd name="T28" fmla="*/ 14 w 128"/>
                <a:gd name="T29" fmla="*/ 95 h 128"/>
                <a:gd name="T30" fmla="*/ 23 w 128"/>
                <a:gd name="T31" fmla="*/ 113 h 128"/>
                <a:gd name="T32" fmla="*/ 33 w 128"/>
                <a:gd name="T33" fmla="*/ 114 h 128"/>
                <a:gd name="T34" fmla="*/ 48 w 128"/>
                <a:gd name="T35" fmla="*/ 109 h 128"/>
                <a:gd name="T36" fmla="*/ 59 w 128"/>
                <a:gd name="T37" fmla="*/ 128 h 128"/>
                <a:gd name="T38" fmla="*/ 77 w 128"/>
                <a:gd name="T39" fmla="*/ 122 h 128"/>
                <a:gd name="T40" fmla="*/ 85 w 128"/>
                <a:gd name="T41" fmla="*/ 107 h 128"/>
                <a:gd name="T42" fmla="*/ 100 w 128"/>
                <a:gd name="T43" fmla="*/ 115 h 128"/>
                <a:gd name="T44" fmla="*/ 113 w 128"/>
                <a:gd name="T45" fmla="*/ 105 h 128"/>
                <a:gd name="T46" fmla="*/ 107 w 128"/>
                <a:gd name="T47" fmla="*/ 85 h 128"/>
                <a:gd name="T48" fmla="*/ 122 w 128"/>
                <a:gd name="T49" fmla="*/ 77 h 128"/>
                <a:gd name="T50" fmla="*/ 128 w 128"/>
                <a:gd name="T51" fmla="*/ 59 h 128"/>
                <a:gd name="T52" fmla="*/ 108 w 128"/>
                <a:gd name="T53" fmla="*/ 72 h 128"/>
                <a:gd name="T54" fmla="*/ 100 w 128"/>
                <a:gd name="T55" fmla="*/ 81 h 128"/>
                <a:gd name="T56" fmla="*/ 107 w 128"/>
                <a:gd name="T57" fmla="*/ 100 h 128"/>
                <a:gd name="T58" fmla="*/ 89 w 128"/>
                <a:gd name="T59" fmla="*/ 101 h 128"/>
                <a:gd name="T60" fmla="*/ 81 w 128"/>
                <a:gd name="T61" fmla="*/ 100 h 128"/>
                <a:gd name="T62" fmla="*/ 72 w 128"/>
                <a:gd name="T63" fmla="*/ 108 h 128"/>
                <a:gd name="T64" fmla="*/ 59 w 128"/>
                <a:gd name="T65" fmla="*/ 120 h 128"/>
                <a:gd name="T66" fmla="*/ 51 w 128"/>
                <a:gd name="T67" fmla="*/ 102 h 128"/>
                <a:gd name="T68" fmla="*/ 43 w 128"/>
                <a:gd name="T69" fmla="*/ 99 h 128"/>
                <a:gd name="T70" fmla="*/ 28 w 128"/>
                <a:gd name="T71" fmla="*/ 107 h 128"/>
                <a:gd name="T72" fmla="*/ 27 w 128"/>
                <a:gd name="T73" fmla="*/ 89 h 128"/>
                <a:gd name="T74" fmla="*/ 26 w 128"/>
                <a:gd name="T75" fmla="*/ 77 h 128"/>
                <a:gd name="T76" fmla="*/ 8 w 128"/>
                <a:gd name="T77" fmla="*/ 69 h 128"/>
                <a:gd name="T78" fmla="*/ 20 w 128"/>
                <a:gd name="T79" fmla="*/ 56 h 128"/>
                <a:gd name="T80" fmla="*/ 28 w 128"/>
                <a:gd name="T81" fmla="*/ 47 h 128"/>
                <a:gd name="T82" fmla="*/ 21 w 128"/>
                <a:gd name="T83" fmla="*/ 28 h 128"/>
                <a:gd name="T84" fmla="*/ 39 w 128"/>
                <a:gd name="T85" fmla="*/ 27 h 128"/>
                <a:gd name="T86" fmla="*/ 47 w 128"/>
                <a:gd name="T87" fmla="*/ 28 h 128"/>
                <a:gd name="T88" fmla="*/ 56 w 128"/>
                <a:gd name="T89" fmla="*/ 20 h 128"/>
                <a:gd name="T90" fmla="*/ 69 w 128"/>
                <a:gd name="T91" fmla="*/ 8 h 128"/>
                <a:gd name="T92" fmla="*/ 77 w 128"/>
                <a:gd name="T93" fmla="*/ 26 h 128"/>
                <a:gd name="T94" fmla="*/ 85 w 128"/>
                <a:gd name="T95" fmla="*/ 29 h 128"/>
                <a:gd name="T96" fmla="*/ 100 w 128"/>
                <a:gd name="T97" fmla="*/ 21 h 128"/>
                <a:gd name="T98" fmla="*/ 101 w 128"/>
                <a:gd name="T99" fmla="*/ 39 h 128"/>
                <a:gd name="T100" fmla="*/ 102 w 128"/>
                <a:gd name="T101" fmla="*/ 51 h 128"/>
                <a:gd name="T102" fmla="*/ 120 w 128"/>
                <a:gd name="T103" fmla="*/ 59 h 128"/>
                <a:gd name="T104" fmla="*/ 108 w 128"/>
                <a:gd name="T105" fmla="*/ 7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8" h="128">
                  <a:moveTo>
                    <a:pt x="122" y="51"/>
                  </a:moveTo>
                  <a:cubicBezTo>
                    <a:pt x="109" y="48"/>
                    <a:pt x="109" y="48"/>
                    <a:pt x="109" y="48"/>
                  </a:cubicBezTo>
                  <a:cubicBezTo>
                    <a:pt x="109" y="46"/>
                    <a:pt x="108" y="45"/>
                    <a:pt x="107" y="43"/>
                  </a:cubicBezTo>
                  <a:cubicBezTo>
                    <a:pt x="114" y="33"/>
                    <a:pt x="114" y="33"/>
                    <a:pt x="114" y="33"/>
                  </a:cubicBezTo>
                  <a:cubicBezTo>
                    <a:pt x="116" y="30"/>
                    <a:pt x="116" y="25"/>
                    <a:pt x="113" y="23"/>
                  </a:cubicBezTo>
                  <a:cubicBezTo>
                    <a:pt x="105" y="15"/>
                    <a:pt x="105" y="15"/>
                    <a:pt x="105" y="15"/>
                  </a:cubicBezTo>
                  <a:cubicBezTo>
                    <a:pt x="104" y="13"/>
                    <a:pt x="102" y="13"/>
                    <a:pt x="100" y="13"/>
                  </a:cubicBezTo>
                  <a:cubicBezTo>
                    <a:pt x="98" y="13"/>
                    <a:pt x="97" y="13"/>
                    <a:pt x="95" y="14"/>
                  </a:cubicBezTo>
                  <a:cubicBezTo>
                    <a:pt x="85" y="21"/>
                    <a:pt x="85" y="21"/>
                    <a:pt x="85" y="21"/>
                  </a:cubicBezTo>
                  <a:cubicBezTo>
                    <a:pt x="83" y="20"/>
                    <a:pt x="82" y="19"/>
                    <a:pt x="80" y="19"/>
                  </a:cubicBezTo>
                  <a:cubicBezTo>
                    <a:pt x="77" y="6"/>
                    <a:pt x="77" y="6"/>
                    <a:pt x="77" y="6"/>
                  </a:cubicBezTo>
                  <a:cubicBezTo>
                    <a:pt x="77" y="3"/>
                    <a:pt x="73" y="0"/>
                    <a:pt x="69" y="0"/>
                  </a:cubicBezTo>
                  <a:cubicBezTo>
                    <a:pt x="59" y="0"/>
                    <a:pt x="59" y="0"/>
                    <a:pt x="59" y="0"/>
                  </a:cubicBezTo>
                  <a:cubicBezTo>
                    <a:pt x="55" y="0"/>
                    <a:pt x="51" y="3"/>
                    <a:pt x="51" y="6"/>
                  </a:cubicBezTo>
                  <a:cubicBezTo>
                    <a:pt x="48" y="19"/>
                    <a:pt x="48" y="19"/>
                    <a:pt x="48" y="19"/>
                  </a:cubicBezTo>
                  <a:cubicBezTo>
                    <a:pt x="46" y="19"/>
                    <a:pt x="45" y="20"/>
                    <a:pt x="43" y="21"/>
                  </a:cubicBezTo>
                  <a:cubicBezTo>
                    <a:pt x="33" y="14"/>
                    <a:pt x="33" y="14"/>
                    <a:pt x="33" y="14"/>
                  </a:cubicBezTo>
                  <a:cubicBezTo>
                    <a:pt x="31" y="13"/>
                    <a:pt x="30" y="13"/>
                    <a:pt x="28" y="13"/>
                  </a:cubicBezTo>
                  <a:cubicBezTo>
                    <a:pt x="26" y="13"/>
                    <a:pt x="24" y="13"/>
                    <a:pt x="23" y="15"/>
                  </a:cubicBezTo>
                  <a:cubicBezTo>
                    <a:pt x="15" y="23"/>
                    <a:pt x="15" y="23"/>
                    <a:pt x="15" y="23"/>
                  </a:cubicBezTo>
                  <a:cubicBezTo>
                    <a:pt x="12" y="25"/>
                    <a:pt x="12" y="30"/>
                    <a:pt x="14" y="33"/>
                  </a:cubicBezTo>
                  <a:cubicBezTo>
                    <a:pt x="21" y="43"/>
                    <a:pt x="21" y="43"/>
                    <a:pt x="21" y="43"/>
                  </a:cubicBezTo>
                  <a:cubicBezTo>
                    <a:pt x="20" y="45"/>
                    <a:pt x="19" y="46"/>
                    <a:pt x="19" y="48"/>
                  </a:cubicBezTo>
                  <a:cubicBezTo>
                    <a:pt x="6" y="51"/>
                    <a:pt x="6" y="51"/>
                    <a:pt x="6" y="51"/>
                  </a:cubicBezTo>
                  <a:cubicBezTo>
                    <a:pt x="3" y="51"/>
                    <a:pt x="0" y="55"/>
                    <a:pt x="0" y="59"/>
                  </a:cubicBezTo>
                  <a:cubicBezTo>
                    <a:pt x="0" y="69"/>
                    <a:pt x="0" y="69"/>
                    <a:pt x="0" y="69"/>
                  </a:cubicBezTo>
                  <a:cubicBezTo>
                    <a:pt x="0" y="73"/>
                    <a:pt x="3" y="77"/>
                    <a:pt x="6" y="77"/>
                  </a:cubicBezTo>
                  <a:cubicBezTo>
                    <a:pt x="19" y="80"/>
                    <a:pt x="19" y="80"/>
                    <a:pt x="19" y="80"/>
                  </a:cubicBezTo>
                  <a:cubicBezTo>
                    <a:pt x="19" y="82"/>
                    <a:pt x="20" y="83"/>
                    <a:pt x="21" y="85"/>
                  </a:cubicBezTo>
                  <a:cubicBezTo>
                    <a:pt x="14" y="95"/>
                    <a:pt x="14" y="95"/>
                    <a:pt x="14" y="95"/>
                  </a:cubicBezTo>
                  <a:cubicBezTo>
                    <a:pt x="12" y="98"/>
                    <a:pt x="12" y="103"/>
                    <a:pt x="15" y="105"/>
                  </a:cubicBezTo>
                  <a:cubicBezTo>
                    <a:pt x="23" y="113"/>
                    <a:pt x="23" y="113"/>
                    <a:pt x="23" y="113"/>
                  </a:cubicBezTo>
                  <a:cubicBezTo>
                    <a:pt x="24" y="115"/>
                    <a:pt x="26" y="115"/>
                    <a:pt x="28" y="115"/>
                  </a:cubicBezTo>
                  <a:cubicBezTo>
                    <a:pt x="30" y="115"/>
                    <a:pt x="31" y="115"/>
                    <a:pt x="33" y="114"/>
                  </a:cubicBezTo>
                  <a:cubicBezTo>
                    <a:pt x="43" y="107"/>
                    <a:pt x="43" y="107"/>
                    <a:pt x="43" y="107"/>
                  </a:cubicBezTo>
                  <a:cubicBezTo>
                    <a:pt x="45" y="108"/>
                    <a:pt x="46" y="109"/>
                    <a:pt x="48" y="109"/>
                  </a:cubicBezTo>
                  <a:cubicBezTo>
                    <a:pt x="51" y="122"/>
                    <a:pt x="51" y="122"/>
                    <a:pt x="51" y="122"/>
                  </a:cubicBezTo>
                  <a:cubicBezTo>
                    <a:pt x="51" y="125"/>
                    <a:pt x="55" y="128"/>
                    <a:pt x="59" y="128"/>
                  </a:cubicBezTo>
                  <a:cubicBezTo>
                    <a:pt x="69" y="128"/>
                    <a:pt x="69" y="128"/>
                    <a:pt x="69" y="128"/>
                  </a:cubicBezTo>
                  <a:cubicBezTo>
                    <a:pt x="73" y="128"/>
                    <a:pt x="77" y="125"/>
                    <a:pt x="77" y="122"/>
                  </a:cubicBezTo>
                  <a:cubicBezTo>
                    <a:pt x="80" y="109"/>
                    <a:pt x="80" y="109"/>
                    <a:pt x="80" y="109"/>
                  </a:cubicBezTo>
                  <a:cubicBezTo>
                    <a:pt x="82" y="109"/>
                    <a:pt x="83" y="108"/>
                    <a:pt x="85" y="107"/>
                  </a:cubicBezTo>
                  <a:cubicBezTo>
                    <a:pt x="95" y="114"/>
                    <a:pt x="95" y="114"/>
                    <a:pt x="95" y="114"/>
                  </a:cubicBezTo>
                  <a:cubicBezTo>
                    <a:pt x="97" y="115"/>
                    <a:pt x="98" y="115"/>
                    <a:pt x="100" y="115"/>
                  </a:cubicBezTo>
                  <a:cubicBezTo>
                    <a:pt x="102" y="115"/>
                    <a:pt x="104" y="115"/>
                    <a:pt x="105" y="113"/>
                  </a:cubicBezTo>
                  <a:cubicBezTo>
                    <a:pt x="113" y="105"/>
                    <a:pt x="113" y="105"/>
                    <a:pt x="113" y="105"/>
                  </a:cubicBezTo>
                  <a:cubicBezTo>
                    <a:pt x="116" y="103"/>
                    <a:pt x="116" y="98"/>
                    <a:pt x="114" y="95"/>
                  </a:cubicBezTo>
                  <a:cubicBezTo>
                    <a:pt x="107" y="85"/>
                    <a:pt x="107" y="85"/>
                    <a:pt x="107" y="85"/>
                  </a:cubicBezTo>
                  <a:cubicBezTo>
                    <a:pt x="108" y="83"/>
                    <a:pt x="109" y="82"/>
                    <a:pt x="109" y="80"/>
                  </a:cubicBezTo>
                  <a:cubicBezTo>
                    <a:pt x="122" y="77"/>
                    <a:pt x="122" y="77"/>
                    <a:pt x="122" y="77"/>
                  </a:cubicBezTo>
                  <a:cubicBezTo>
                    <a:pt x="125" y="77"/>
                    <a:pt x="128" y="73"/>
                    <a:pt x="128" y="69"/>
                  </a:cubicBezTo>
                  <a:cubicBezTo>
                    <a:pt x="128" y="59"/>
                    <a:pt x="128" y="59"/>
                    <a:pt x="128" y="59"/>
                  </a:cubicBezTo>
                  <a:cubicBezTo>
                    <a:pt x="128" y="55"/>
                    <a:pt x="125" y="51"/>
                    <a:pt x="122" y="51"/>
                  </a:cubicBezTo>
                  <a:close/>
                  <a:moveTo>
                    <a:pt x="108" y="72"/>
                  </a:moveTo>
                  <a:cubicBezTo>
                    <a:pt x="105" y="72"/>
                    <a:pt x="103" y="74"/>
                    <a:pt x="102" y="77"/>
                  </a:cubicBezTo>
                  <a:cubicBezTo>
                    <a:pt x="101" y="79"/>
                    <a:pt x="101" y="80"/>
                    <a:pt x="100" y="81"/>
                  </a:cubicBezTo>
                  <a:cubicBezTo>
                    <a:pt x="99" y="84"/>
                    <a:pt x="99" y="87"/>
                    <a:pt x="101" y="89"/>
                  </a:cubicBezTo>
                  <a:cubicBezTo>
                    <a:pt x="107" y="100"/>
                    <a:pt x="107" y="100"/>
                    <a:pt x="107" y="100"/>
                  </a:cubicBezTo>
                  <a:cubicBezTo>
                    <a:pt x="100" y="107"/>
                    <a:pt x="100" y="107"/>
                    <a:pt x="100" y="107"/>
                  </a:cubicBezTo>
                  <a:cubicBezTo>
                    <a:pt x="89" y="101"/>
                    <a:pt x="89" y="101"/>
                    <a:pt x="89" y="101"/>
                  </a:cubicBezTo>
                  <a:cubicBezTo>
                    <a:pt x="88" y="100"/>
                    <a:pt x="86" y="99"/>
                    <a:pt x="85" y="99"/>
                  </a:cubicBezTo>
                  <a:cubicBezTo>
                    <a:pt x="84" y="99"/>
                    <a:pt x="83" y="99"/>
                    <a:pt x="81" y="100"/>
                  </a:cubicBezTo>
                  <a:cubicBezTo>
                    <a:pt x="80" y="101"/>
                    <a:pt x="79" y="101"/>
                    <a:pt x="77" y="102"/>
                  </a:cubicBezTo>
                  <a:cubicBezTo>
                    <a:pt x="74" y="103"/>
                    <a:pt x="72" y="105"/>
                    <a:pt x="72" y="108"/>
                  </a:cubicBezTo>
                  <a:cubicBezTo>
                    <a:pt x="69" y="120"/>
                    <a:pt x="69" y="120"/>
                    <a:pt x="69" y="120"/>
                  </a:cubicBezTo>
                  <a:cubicBezTo>
                    <a:pt x="59" y="120"/>
                    <a:pt x="59" y="120"/>
                    <a:pt x="59" y="120"/>
                  </a:cubicBezTo>
                  <a:cubicBezTo>
                    <a:pt x="56" y="108"/>
                    <a:pt x="56" y="108"/>
                    <a:pt x="56" y="108"/>
                  </a:cubicBezTo>
                  <a:cubicBezTo>
                    <a:pt x="56" y="105"/>
                    <a:pt x="54" y="103"/>
                    <a:pt x="51" y="102"/>
                  </a:cubicBezTo>
                  <a:cubicBezTo>
                    <a:pt x="49" y="101"/>
                    <a:pt x="48" y="101"/>
                    <a:pt x="47" y="100"/>
                  </a:cubicBezTo>
                  <a:cubicBezTo>
                    <a:pt x="45" y="99"/>
                    <a:pt x="44" y="99"/>
                    <a:pt x="43" y="99"/>
                  </a:cubicBezTo>
                  <a:cubicBezTo>
                    <a:pt x="42" y="99"/>
                    <a:pt x="40" y="100"/>
                    <a:pt x="39" y="101"/>
                  </a:cubicBezTo>
                  <a:cubicBezTo>
                    <a:pt x="28" y="107"/>
                    <a:pt x="28" y="107"/>
                    <a:pt x="28" y="107"/>
                  </a:cubicBezTo>
                  <a:cubicBezTo>
                    <a:pt x="21" y="100"/>
                    <a:pt x="21" y="100"/>
                    <a:pt x="21" y="100"/>
                  </a:cubicBezTo>
                  <a:cubicBezTo>
                    <a:pt x="27" y="89"/>
                    <a:pt x="27" y="89"/>
                    <a:pt x="27" y="89"/>
                  </a:cubicBezTo>
                  <a:cubicBezTo>
                    <a:pt x="29" y="87"/>
                    <a:pt x="29" y="84"/>
                    <a:pt x="28" y="81"/>
                  </a:cubicBezTo>
                  <a:cubicBezTo>
                    <a:pt x="27" y="80"/>
                    <a:pt x="27" y="79"/>
                    <a:pt x="26" y="77"/>
                  </a:cubicBezTo>
                  <a:cubicBezTo>
                    <a:pt x="25" y="74"/>
                    <a:pt x="23" y="72"/>
                    <a:pt x="20" y="72"/>
                  </a:cubicBezTo>
                  <a:cubicBezTo>
                    <a:pt x="8" y="69"/>
                    <a:pt x="8" y="69"/>
                    <a:pt x="8" y="69"/>
                  </a:cubicBezTo>
                  <a:cubicBezTo>
                    <a:pt x="8" y="59"/>
                    <a:pt x="8" y="59"/>
                    <a:pt x="8" y="59"/>
                  </a:cubicBezTo>
                  <a:cubicBezTo>
                    <a:pt x="20" y="56"/>
                    <a:pt x="20" y="56"/>
                    <a:pt x="20" y="56"/>
                  </a:cubicBezTo>
                  <a:cubicBezTo>
                    <a:pt x="23" y="56"/>
                    <a:pt x="25" y="54"/>
                    <a:pt x="26" y="51"/>
                  </a:cubicBezTo>
                  <a:cubicBezTo>
                    <a:pt x="27" y="49"/>
                    <a:pt x="27" y="48"/>
                    <a:pt x="28" y="47"/>
                  </a:cubicBezTo>
                  <a:cubicBezTo>
                    <a:pt x="29" y="44"/>
                    <a:pt x="29" y="41"/>
                    <a:pt x="27" y="39"/>
                  </a:cubicBezTo>
                  <a:cubicBezTo>
                    <a:pt x="21" y="28"/>
                    <a:pt x="21" y="28"/>
                    <a:pt x="21" y="28"/>
                  </a:cubicBezTo>
                  <a:cubicBezTo>
                    <a:pt x="28" y="21"/>
                    <a:pt x="28" y="21"/>
                    <a:pt x="28" y="21"/>
                  </a:cubicBezTo>
                  <a:cubicBezTo>
                    <a:pt x="39" y="27"/>
                    <a:pt x="39" y="27"/>
                    <a:pt x="39" y="27"/>
                  </a:cubicBezTo>
                  <a:cubicBezTo>
                    <a:pt x="40" y="28"/>
                    <a:pt x="42" y="29"/>
                    <a:pt x="43" y="29"/>
                  </a:cubicBezTo>
                  <a:cubicBezTo>
                    <a:pt x="44" y="29"/>
                    <a:pt x="45" y="29"/>
                    <a:pt x="47" y="28"/>
                  </a:cubicBezTo>
                  <a:cubicBezTo>
                    <a:pt x="48" y="27"/>
                    <a:pt x="49" y="27"/>
                    <a:pt x="51" y="26"/>
                  </a:cubicBezTo>
                  <a:cubicBezTo>
                    <a:pt x="54" y="25"/>
                    <a:pt x="56" y="23"/>
                    <a:pt x="56" y="20"/>
                  </a:cubicBezTo>
                  <a:cubicBezTo>
                    <a:pt x="59" y="8"/>
                    <a:pt x="59" y="8"/>
                    <a:pt x="59" y="8"/>
                  </a:cubicBezTo>
                  <a:cubicBezTo>
                    <a:pt x="69" y="8"/>
                    <a:pt x="69" y="8"/>
                    <a:pt x="69" y="8"/>
                  </a:cubicBezTo>
                  <a:cubicBezTo>
                    <a:pt x="72" y="20"/>
                    <a:pt x="72" y="20"/>
                    <a:pt x="72" y="20"/>
                  </a:cubicBezTo>
                  <a:cubicBezTo>
                    <a:pt x="72" y="23"/>
                    <a:pt x="74" y="25"/>
                    <a:pt x="77" y="26"/>
                  </a:cubicBezTo>
                  <a:cubicBezTo>
                    <a:pt x="79" y="27"/>
                    <a:pt x="80" y="27"/>
                    <a:pt x="81" y="28"/>
                  </a:cubicBezTo>
                  <a:cubicBezTo>
                    <a:pt x="83" y="29"/>
                    <a:pt x="84" y="29"/>
                    <a:pt x="85" y="29"/>
                  </a:cubicBezTo>
                  <a:cubicBezTo>
                    <a:pt x="86" y="29"/>
                    <a:pt x="88" y="28"/>
                    <a:pt x="89" y="27"/>
                  </a:cubicBezTo>
                  <a:cubicBezTo>
                    <a:pt x="100" y="21"/>
                    <a:pt x="100" y="21"/>
                    <a:pt x="100" y="21"/>
                  </a:cubicBezTo>
                  <a:cubicBezTo>
                    <a:pt x="107" y="28"/>
                    <a:pt x="107" y="28"/>
                    <a:pt x="107" y="28"/>
                  </a:cubicBezTo>
                  <a:cubicBezTo>
                    <a:pt x="101" y="39"/>
                    <a:pt x="101" y="39"/>
                    <a:pt x="101" y="39"/>
                  </a:cubicBezTo>
                  <a:cubicBezTo>
                    <a:pt x="99" y="41"/>
                    <a:pt x="99" y="44"/>
                    <a:pt x="100" y="47"/>
                  </a:cubicBezTo>
                  <a:cubicBezTo>
                    <a:pt x="101" y="48"/>
                    <a:pt x="101" y="49"/>
                    <a:pt x="102" y="51"/>
                  </a:cubicBezTo>
                  <a:cubicBezTo>
                    <a:pt x="103" y="54"/>
                    <a:pt x="105" y="56"/>
                    <a:pt x="108" y="56"/>
                  </a:cubicBezTo>
                  <a:cubicBezTo>
                    <a:pt x="120" y="59"/>
                    <a:pt x="120" y="59"/>
                    <a:pt x="120" y="59"/>
                  </a:cubicBezTo>
                  <a:cubicBezTo>
                    <a:pt x="120" y="69"/>
                    <a:pt x="120" y="69"/>
                    <a:pt x="120" y="69"/>
                  </a:cubicBezTo>
                  <a:lnTo>
                    <a:pt x="108" y="7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id-ID" sz="2400">
                <a:solidFill>
                  <a:prstClr val="black"/>
                </a:solidFill>
                <a:latin typeface="微软雅黑" panose="020B0503020204020204" charset="-122"/>
                <a:ea typeface="微软雅黑" panose="020B0503020204020204" charset="-122"/>
                <a:cs typeface="Roboto condensed"/>
              </a:endParaRPr>
            </a:p>
          </p:txBody>
        </p:sp>
        <p:sp>
          <p:nvSpPr>
            <p:cNvPr id="34" name="Freeform 157"/>
            <p:cNvSpPr>
              <a:spLocks noEditPoints="1"/>
            </p:cNvSpPr>
            <p:nvPr/>
          </p:nvSpPr>
          <p:spPr bwMode="auto">
            <a:xfrm>
              <a:off x="146050" y="144463"/>
              <a:ext cx="214313" cy="214313"/>
            </a:xfrm>
            <a:custGeom>
              <a:avLst/>
              <a:gdLst>
                <a:gd name="T0" fmla="*/ 28 w 56"/>
                <a:gd name="T1" fmla="*/ 0 h 56"/>
                <a:gd name="T2" fmla="*/ 0 w 56"/>
                <a:gd name="T3" fmla="*/ 28 h 56"/>
                <a:gd name="T4" fmla="*/ 28 w 56"/>
                <a:gd name="T5" fmla="*/ 56 h 56"/>
                <a:gd name="T6" fmla="*/ 56 w 56"/>
                <a:gd name="T7" fmla="*/ 28 h 56"/>
                <a:gd name="T8" fmla="*/ 28 w 56"/>
                <a:gd name="T9" fmla="*/ 0 h 56"/>
                <a:gd name="T10" fmla="*/ 28 w 56"/>
                <a:gd name="T11" fmla="*/ 53 h 56"/>
                <a:gd name="T12" fmla="*/ 4 w 56"/>
                <a:gd name="T13" fmla="*/ 28 h 56"/>
                <a:gd name="T14" fmla="*/ 28 w 56"/>
                <a:gd name="T15" fmla="*/ 4 h 56"/>
                <a:gd name="T16" fmla="*/ 53 w 56"/>
                <a:gd name="T17" fmla="*/ 28 h 56"/>
                <a:gd name="T18" fmla="*/ 28 w 56"/>
                <a:gd name="T19" fmla="*/ 53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56">
                  <a:moveTo>
                    <a:pt x="28" y="0"/>
                  </a:moveTo>
                  <a:cubicBezTo>
                    <a:pt x="13" y="0"/>
                    <a:pt x="0" y="13"/>
                    <a:pt x="0" y="28"/>
                  </a:cubicBezTo>
                  <a:cubicBezTo>
                    <a:pt x="0" y="43"/>
                    <a:pt x="13" y="56"/>
                    <a:pt x="28" y="56"/>
                  </a:cubicBezTo>
                  <a:cubicBezTo>
                    <a:pt x="43" y="56"/>
                    <a:pt x="56" y="43"/>
                    <a:pt x="56" y="28"/>
                  </a:cubicBezTo>
                  <a:cubicBezTo>
                    <a:pt x="56" y="13"/>
                    <a:pt x="43" y="0"/>
                    <a:pt x="28" y="0"/>
                  </a:cubicBezTo>
                  <a:close/>
                  <a:moveTo>
                    <a:pt x="28" y="53"/>
                  </a:moveTo>
                  <a:cubicBezTo>
                    <a:pt x="14" y="53"/>
                    <a:pt x="4" y="42"/>
                    <a:pt x="4" y="28"/>
                  </a:cubicBezTo>
                  <a:cubicBezTo>
                    <a:pt x="4" y="14"/>
                    <a:pt x="14" y="4"/>
                    <a:pt x="28" y="4"/>
                  </a:cubicBezTo>
                  <a:cubicBezTo>
                    <a:pt x="42" y="4"/>
                    <a:pt x="53" y="14"/>
                    <a:pt x="53" y="28"/>
                  </a:cubicBezTo>
                  <a:cubicBezTo>
                    <a:pt x="53" y="42"/>
                    <a:pt x="42" y="53"/>
                    <a:pt x="28"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id-ID" sz="2400">
                <a:solidFill>
                  <a:prstClr val="black"/>
                </a:solidFill>
                <a:latin typeface="微软雅黑" panose="020B0503020204020204" charset="-122"/>
                <a:ea typeface="微软雅黑" panose="020B0503020204020204" charset="-122"/>
                <a:cs typeface="Roboto condensed"/>
              </a:endParaRPr>
            </a:p>
          </p:txBody>
        </p:sp>
        <p:sp>
          <p:nvSpPr>
            <p:cNvPr id="35" name="Freeform 158"/>
            <p:cNvSpPr>
              <a:spLocks noEditPoints="1"/>
            </p:cNvSpPr>
            <p:nvPr/>
          </p:nvSpPr>
          <p:spPr bwMode="auto">
            <a:xfrm>
              <a:off x="192088" y="190501"/>
              <a:ext cx="122238" cy="122238"/>
            </a:xfrm>
            <a:custGeom>
              <a:avLst/>
              <a:gdLst>
                <a:gd name="T0" fmla="*/ 16 w 32"/>
                <a:gd name="T1" fmla="*/ 0 h 32"/>
                <a:gd name="T2" fmla="*/ 0 w 32"/>
                <a:gd name="T3" fmla="*/ 16 h 32"/>
                <a:gd name="T4" fmla="*/ 16 w 32"/>
                <a:gd name="T5" fmla="*/ 32 h 32"/>
                <a:gd name="T6" fmla="*/ 32 w 32"/>
                <a:gd name="T7" fmla="*/ 16 h 32"/>
                <a:gd name="T8" fmla="*/ 16 w 32"/>
                <a:gd name="T9" fmla="*/ 0 h 32"/>
                <a:gd name="T10" fmla="*/ 16 w 32"/>
                <a:gd name="T11" fmla="*/ 28 h 32"/>
                <a:gd name="T12" fmla="*/ 4 w 32"/>
                <a:gd name="T13" fmla="*/ 16 h 32"/>
                <a:gd name="T14" fmla="*/ 16 w 32"/>
                <a:gd name="T15" fmla="*/ 4 h 32"/>
                <a:gd name="T16" fmla="*/ 28 w 32"/>
                <a:gd name="T17" fmla="*/ 16 h 32"/>
                <a:gd name="T18" fmla="*/ 16 w 32"/>
                <a:gd name="T19" fmla="*/ 2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2">
                  <a:moveTo>
                    <a:pt x="16" y="0"/>
                  </a:moveTo>
                  <a:cubicBezTo>
                    <a:pt x="7" y="0"/>
                    <a:pt x="0" y="7"/>
                    <a:pt x="0" y="16"/>
                  </a:cubicBezTo>
                  <a:cubicBezTo>
                    <a:pt x="0" y="25"/>
                    <a:pt x="7" y="32"/>
                    <a:pt x="16" y="32"/>
                  </a:cubicBezTo>
                  <a:cubicBezTo>
                    <a:pt x="25" y="32"/>
                    <a:pt x="32" y="25"/>
                    <a:pt x="32" y="16"/>
                  </a:cubicBezTo>
                  <a:cubicBezTo>
                    <a:pt x="32" y="7"/>
                    <a:pt x="25" y="0"/>
                    <a:pt x="16" y="0"/>
                  </a:cubicBezTo>
                  <a:close/>
                  <a:moveTo>
                    <a:pt x="16" y="28"/>
                  </a:moveTo>
                  <a:cubicBezTo>
                    <a:pt x="9" y="28"/>
                    <a:pt x="4" y="23"/>
                    <a:pt x="4" y="16"/>
                  </a:cubicBezTo>
                  <a:cubicBezTo>
                    <a:pt x="4" y="9"/>
                    <a:pt x="9" y="4"/>
                    <a:pt x="16" y="4"/>
                  </a:cubicBezTo>
                  <a:cubicBezTo>
                    <a:pt x="23" y="4"/>
                    <a:pt x="28" y="9"/>
                    <a:pt x="28" y="16"/>
                  </a:cubicBezTo>
                  <a:cubicBezTo>
                    <a:pt x="28" y="23"/>
                    <a:pt x="23" y="28"/>
                    <a:pt x="16"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id-ID" sz="2400">
                <a:solidFill>
                  <a:prstClr val="black"/>
                </a:solidFill>
                <a:latin typeface="微软雅黑" panose="020B0503020204020204" charset="-122"/>
                <a:ea typeface="微软雅黑" panose="020B0503020204020204" charset="-122"/>
                <a:cs typeface="Roboto condensed"/>
              </a:endParaRPr>
            </a:p>
          </p:txBody>
        </p:sp>
      </p:grpSp>
      <p:sp>
        <p:nvSpPr>
          <p:cNvPr id="37" name="TextBox 27"/>
          <p:cNvSpPr txBox="1"/>
          <p:nvPr>
            <p:custDataLst>
              <p:tags r:id="rId5"/>
            </p:custDataLst>
          </p:nvPr>
        </p:nvSpPr>
        <p:spPr>
          <a:xfrm>
            <a:off x="2794000" y="4450080"/>
            <a:ext cx="2463800" cy="16268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78140" tIns="0" rIns="178140" bIns="0" rtlCol="0" anchor="t">
            <a:noAutofit/>
          </a:bodyPr>
          <a:lstStyle>
            <a:defPPr>
              <a:defRPr lang="zh-CN"/>
            </a:defPPr>
            <a:lvl1pPr>
              <a:defRPr sz="1100">
                <a:solidFill>
                  <a:schemeClr val="bg1">
                    <a:lumMod val="50000"/>
                  </a:schemeClr>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just">
              <a:lnSpc>
                <a:spcPct val="150000"/>
              </a:lnSpc>
              <a:buClrTx/>
              <a:buSzTx/>
              <a:buFontTx/>
            </a:pPr>
            <a:r>
              <a:rPr lang="zh-CN" altLang="en-US" sz="1600" b="1" dirty="0">
                <a:gradFill>
                  <a:gsLst>
                    <a:gs pos="51300">
                      <a:srgbClr val="FE5F4A"/>
                    </a:gs>
                    <a:gs pos="0">
                      <a:srgbClr val="DF0303"/>
                    </a:gs>
                    <a:gs pos="100000">
                      <a:srgbClr val="FEA06E"/>
                    </a:gs>
                  </a:gsLst>
                  <a:lin ang="5400000" scaled="1"/>
                </a:gradFill>
                <a:effectLst>
                  <a:outerShdw blurRad="38100" dist="38100" dir="2700000" algn="tl">
                    <a:srgbClr val="000000">
                      <a:alpha val="43137"/>
                    </a:srgbClr>
                  </a:outerShdw>
                </a:effectLst>
                <a:latin typeface="微软雅黑" panose="020B0503020204020204" charset="-122"/>
                <a:ea typeface="微软雅黑" panose="020B0503020204020204" charset="-122"/>
              </a:rPr>
              <a:t>中期目标</a:t>
            </a:r>
            <a:r>
              <a:rPr lang="zh-CN" altLang="en-US" sz="1200" dirty="0">
                <a:solidFill>
                  <a:schemeClr val="accent1">
                    <a:lumMod val="50000"/>
                  </a:schemeClr>
                </a:solidFill>
                <a:sym typeface="+mn-ea"/>
              </a:rPr>
              <a:t>（202</a:t>
            </a:r>
            <a:r>
              <a:rPr lang="en-US" altLang="zh-CN" sz="1200" dirty="0">
                <a:solidFill>
                  <a:schemeClr val="accent1">
                    <a:lumMod val="50000"/>
                  </a:schemeClr>
                </a:solidFill>
                <a:sym typeface="+mn-ea"/>
              </a:rPr>
              <a:t>8</a:t>
            </a:r>
            <a:r>
              <a:rPr lang="zh-CN" altLang="en-US" sz="1200" dirty="0">
                <a:solidFill>
                  <a:schemeClr val="accent1">
                    <a:lumMod val="50000"/>
                  </a:schemeClr>
                </a:solidFill>
                <a:sym typeface="+mn-ea"/>
              </a:rPr>
              <a:t>-202</a:t>
            </a:r>
            <a:r>
              <a:rPr lang="en-US" altLang="zh-CN" sz="1200" dirty="0">
                <a:solidFill>
                  <a:schemeClr val="accent1">
                    <a:lumMod val="50000"/>
                  </a:schemeClr>
                </a:solidFill>
                <a:sym typeface="+mn-ea"/>
              </a:rPr>
              <a:t>9</a:t>
            </a:r>
            <a:r>
              <a:rPr lang="zh-CN" altLang="en-US" sz="1200" dirty="0">
                <a:solidFill>
                  <a:schemeClr val="accent1">
                    <a:lumMod val="50000"/>
                  </a:schemeClr>
                </a:solidFill>
                <a:sym typeface="+mn-ea"/>
              </a:rPr>
              <a:t>年）</a:t>
            </a:r>
            <a:endParaRPr lang="zh-CN" altLang="en-US" sz="1200" b="1" dirty="0">
              <a:gradFill>
                <a:gsLst>
                  <a:gs pos="51300">
                    <a:srgbClr val="FE5F4A"/>
                  </a:gs>
                  <a:gs pos="0">
                    <a:srgbClr val="DF0303"/>
                  </a:gs>
                  <a:gs pos="100000">
                    <a:srgbClr val="FEA06E"/>
                  </a:gs>
                </a:gsLst>
                <a:lin ang="5400000" scaled="1"/>
              </a:gradFill>
              <a:effectLst>
                <a:outerShdw blurRad="38100" dist="38100" dir="2700000" algn="tl">
                  <a:srgbClr val="000000">
                    <a:alpha val="43137"/>
                  </a:srgbClr>
                </a:outerShdw>
              </a:effectLst>
              <a:latin typeface="微软雅黑" panose="020B0503020204020204" charset="-122"/>
              <a:ea typeface="微软雅黑" panose="020B0503020204020204" charset="-122"/>
            </a:endParaRPr>
          </a:p>
          <a:p>
            <a:pPr algn="just">
              <a:lnSpc>
                <a:spcPct val="150000"/>
              </a:lnSpc>
            </a:pPr>
            <a:r>
              <a:rPr lang="zh-CN" altLang="en-US" sz="1200" dirty="0">
                <a:solidFill>
                  <a:schemeClr val="accent1">
                    <a:lumMod val="50000"/>
                  </a:schemeClr>
                </a:solidFill>
              </a:rPr>
              <a:t>巩固人形</a:t>
            </a:r>
            <a:r>
              <a:rPr lang="en-US" altLang="zh-CN" sz="1200" dirty="0">
                <a:solidFill>
                  <a:schemeClr val="accent1">
                    <a:lumMod val="50000"/>
                  </a:schemeClr>
                </a:solidFill>
              </a:rPr>
              <a:t>/</a:t>
            </a:r>
            <a:r>
              <a:rPr lang="zh-CN" altLang="en-US" sz="1200" dirty="0">
                <a:solidFill>
                  <a:schemeClr val="accent1">
                    <a:lumMod val="50000"/>
                  </a:schemeClr>
                </a:solidFill>
              </a:rPr>
              <a:t>四足机器人业务的市场地位，完成重载无人机业务的产品定型与市场切入，形成</a:t>
            </a:r>
            <a:r>
              <a:rPr lang="en-US" altLang="zh-CN" sz="1200" dirty="0">
                <a:solidFill>
                  <a:schemeClr val="accent1">
                    <a:lumMod val="50000"/>
                  </a:schemeClr>
                </a:solidFill>
              </a:rPr>
              <a:t>“</a:t>
            </a:r>
            <a:r>
              <a:rPr lang="zh-CN" altLang="en-US" sz="1200" dirty="0">
                <a:solidFill>
                  <a:schemeClr val="accent1">
                    <a:lumMod val="50000"/>
                  </a:schemeClr>
                </a:solidFill>
              </a:rPr>
              <a:t>现金牛</a:t>
            </a:r>
            <a:r>
              <a:rPr lang="en-US" altLang="zh-CN" sz="1200" dirty="0">
                <a:solidFill>
                  <a:schemeClr val="accent1">
                    <a:lumMod val="50000"/>
                  </a:schemeClr>
                </a:solidFill>
              </a:rPr>
              <a:t>+</a:t>
            </a:r>
            <a:r>
              <a:rPr lang="zh-CN" altLang="en-US" sz="1200" dirty="0">
                <a:solidFill>
                  <a:schemeClr val="accent1">
                    <a:lumMod val="50000"/>
                  </a:schemeClr>
                </a:solidFill>
              </a:rPr>
              <a:t>增长引擎</a:t>
            </a:r>
            <a:r>
              <a:rPr lang="en-US" altLang="zh-CN" sz="1200" dirty="0">
                <a:solidFill>
                  <a:schemeClr val="accent1">
                    <a:lumMod val="50000"/>
                  </a:schemeClr>
                </a:solidFill>
              </a:rPr>
              <a:t>”</a:t>
            </a:r>
            <a:r>
              <a:rPr lang="zh-CN" altLang="en-US" sz="1200" dirty="0">
                <a:solidFill>
                  <a:schemeClr val="accent1">
                    <a:lumMod val="50000"/>
                  </a:schemeClr>
                </a:solidFill>
              </a:rPr>
              <a:t>的业务组合。</a:t>
            </a:r>
          </a:p>
        </p:txBody>
      </p:sp>
      <p:sp>
        <p:nvSpPr>
          <p:cNvPr id="39" name="TextBox 29"/>
          <p:cNvSpPr txBox="1"/>
          <p:nvPr/>
        </p:nvSpPr>
        <p:spPr>
          <a:xfrm>
            <a:off x="8943975" y="4450080"/>
            <a:ext cx="2865755" cy="11042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78140" tIns="0" rIns="178140" bIns="0" rtlCol="0" anchor="t">
            <a:noAutofit/>
          </a:bodyPr>
          <a:lstStyle>
            <a:defPPr>
              <a:defRPr lang="zh-CN"/>
            </a:defPPr>
            <a:lvl1pPr>
              <a:defRPr sz="1100">
                <a:solidFill>
                  <a:schemeClr val="bg1">
                    <a:lumMod val="50000"/>
                  </a:schemeClr>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just">
              <a:lnSpc>
                <a:spcPct val="150000"/>
              </a:lnSpc>
            </a:pPr>
            <a:r>
              <a:rPr lang="zh-CN" altLang="en-US" sz="1200" dirty="0">
                <a:solidFill>
                  <a:schemeClr val="accent1">
                    <a:lumMod val="50000"/>
                  </a:schemeClr>
                </a:solidFill>
                <a:sym typeface="+mn-ea"/>
              </a:rPr>
              <a:t>成为全球具身智能机器人高效热管理关节模组领跑者</a:t>
            </a:r>
            <a:r>
              <a:rPr lang="zh-CN" altLang="en-US" sz="1200" dirty="0">
                <a:solidFill>
                  <a:schemeClr val="accent1">
                    <a:lumMod val="50000"/>
                  </a:schemeClr>
                </a:solidFill>
              </a:rPr>
              <a:t>，以温控技术赋能人形、四足机器人与</a:t>
            </a:r>
            <a:r>
              <a:rPr lang="en-US" altLang="zh-CN" sz="1200" dirty="0">
                <a:solidFill>
                  <a:schemeClr val="accent1">
                    <a:lumMod val="50000"/>
                  </a:schemeClr>
                </a:solidFill>
              </a:rPr>
              <a:t>eVTOL</a:t>
            </a:r>
            <a:r>
              <a:rPr lang="zh-CN" altLang="en-US" sz="1200" dirty="0">
                <a:solidFill>
                  <a:schemeClr val="accent1">
                    <a:lumMod val="50000"/>
                  </a:schemeClr>
                </a:solidFill>
              </a:rPr>
              <a:t>的规模化商用，推动下一代智能移动平台安全、长效、可靠地融入千行百业。</a:t>
            </a:r>
          </a:p>
        </p:txBody>
      </p:sp>
      <p:sp>
        <p:nvSpPr>
          <p:cNvPr id="40" name="MH_Other_2"/>
          <p:cNvSpPr/>
          <p:nvPr>
            <p:custDataLst>
              <p:tags r:id="rId6"/>
            </p:custDataLst>
          </p:nvPr>
        </p:nvSpPr>
        <p:spPr>
          <a:xfrm>
            <a:off x="5998176" y="3169415"/>
            <a:ext cx="1200000" cy="1200000"/>
          </a:xfrm>
          <a:prstGeom prst="ellipse">
            <a:avLst/>
          </a:prstGeom>
          <a:solidFill>
            <a:schemeClr val="bg1"/>
          </a:solidFill>
          <a:ln>
            <a:noFill/>
          </a:ln>
          <a:effectLst>
            <a:outerShdw blurRad="190500" dist="127000" dir="2700000" algn="tl" rotWithShape="0">
              <a:prstClr val="black">
                <a:alpha val="30000"/>
              </a:prstClr>
            </a:outerShdw>
          </a:effectLst>
        </p:spPr>
        <p:txBody>
          <a:bodyPr lIns="0" rIns="0" anchor="ctr"/>
          <a:lstStyle/>
          <a:p>
            <a:pPr algn="ctr" defTabSz="914400"/>
            <a:r>
              <a:rPr lang="en-US" altLang="zh-CN" sz="3735" dirty="0">
                <a:solidFill>
                  <a:schemeClr val="accent1">
                    <a:lumMod val="50000"/>
                  </a:schemeClr>
                </a:solidFill>
                <a:latin typeface="Impact" panose="020B0806030902050204" pitchFamily="34" charset="0"/>
                <a:ea typeface="微软雅黑" panose="020B0503020204020204" charset="-122"/>
              </a:rPr>
              <a:t>03</a:t>
            </a:r>
          </a:p>
        </p:txBody>
      </p:sp>
      <p:sp>
        <p:nvSpPr>
          <p:cNvPr id="45" name="MH_Other_2"/>
          <p:cNvSpPr/>
          <p:nvPr>
            <p:custDataLst>
              <p:tags r:id="rId7"/>
            </p:custDataLst>
          </p:nvPr>
        </p:nvSpPr>
        <p:spPr>
          <a:xfrm>
            <a:off x="833224" y="1974412"/>
            <a:ext cx="1200000" cy="1200000"/>
          </a:xfrm>
          <a:prstGeom prst="ellipse">
            <a:avLst/>
          </a:prstGeom>
          <a:solidFill>
            <a:schemeClr val="bg1"/>
          </a:solidFill>
          <a:ln>
            <a:noFill/>
          </a:ln>
          <a:effectLst>
            <a:outerShdw blurRad="190500" dist="127000" dir="2700000" algn="tl" rotWithShape="0">
              <a:prstClr val="black">
                <a:alpha val="30000"/>
              </a:prstClr>
            </a:outerShdw>
          </a:effectLst>
        </p:spPr>
        <p:txBody>
          <a:bodyPr lIns="0" rIns="0" anchor="ctr"/>
          <a:lstStyle/>
          <a:p>
            <a:pPr algn="ctr" defTabSz="914400"/>
            <a:r>
              <a:rPr lang="en-US" altLang="zh-CN" sz="3735" dirty="0">
                <a:solidFill>
                  <a:schemeClr val="accent1">
                    <a:lumMod val="50000"/>
                  </a:schemeClr>
                </a:solidFill>
                <a:latin typeface="Impact" panose="020B0806030902050204" pitchFamily="34" charset="0"/>
                <a:ea typeface="微软雅黑" panose="020B0503020204020204" charset="-122"/>
              </a:rPr>
              <a:t>01</a:t>
            </a:r>
          </a:p>
        </p:txBody>
      </p:sp>
      <p:grpSp>
        <p:nvGrpSpPr>
          <p:cNvPr id="46" name="组合 45"/>
          <p:cNvGrpSpPr/>
          <p:nvPr>
            <p:custDataLst>
              <p:tags r:id="rId8"/>
            </p:custDataLst>
          </p:nvPr>
        </p:nvGrpSpPr>
        <p:grpSpPr>
          <a:xfrm>
            <a:off x="3287258" y="1907739"/>
            <a:ext cx="1440000" cy="1440000"/>
            <a:chOff x="304800" y="673100"/>
            <a:chExt cx="4000500" cy="4000500"/>
          </a:xfrm>
          <a:solidFill>
            <a:schemeClr val="accent5"/>
          </a:solidFill>
          <a:effectLst>
            <a:outerShdw blurRad="190500" dist="127000" dir="2700000" algn="tl" rotWithShape="0">
              <a:prstClr val="black">
                <a:alpha val="30000"/>
              </a:prstClr>
            </a:outerShdw>
          </a:effectLst>
        </p:grpSpPr>
        <p:sp>
          <p:nvSpPr>
            <p:cNvPr id="47" name="同心圆 46"/>
            <p:cNvSpPr/>
            <p:nvPr>
              <p:custDataLst>
                <p:tags r:id="rId11"/>
              </p:custDataLst>
            </p:nvPr>
          </p:nvSpPr>
          <p:spPr>
            <a:xfrm>
              <a:off x="304800" y="673100"/>
              <a:ext cx="4000500" cy="4000500"/>
            </a:xfrm>
            <a:prstGeom prst="donut">
              <a:avLst>
                <a:gd name="adj" fmla="val 4879"/>
              </a:avLst>
            </a:prstGeom>
            <a:grpFill/>
            <a:ln>
              <a:noFill/>
            </a:ln>
            <a:effectLst/>
          </p:spPr>
          <p:txBody>
            <a:bodyPr anchor="ctr"/>
            <a:lstStyle/>
            <a:p>
              <a:pPr algn="ctr" defTabSz="914400"/>
              <a:endParaRPr lang="zh-CN" altLang="en-US" sz="1465">
                <a:solidFill>
                  <a:prstClr val="white"/>
                </a:solidFill>
                <a:latin typeface="Impact" panose="020B0806030902050204" pitchFamily="34" charset="0"/>
                <a:ea typeface="微软雅黑" panose="020B0503020204020204" charset="-122"/>
              </a:endParaRPr>
            </a:p>
          </p:txBody>
        </p:sp>
        <p:sp>
          <p:nvSpPr>
            <p:cNvPr id="48" name="椭圆 47"/>
            <p:cNvSpPr/>
            <p:nvPr>
              <p:custDataLst>
                <p:tags r:id="rId12"/>
              </p:custDataLst>
            </p:nvPr>
          </p:nvSpPr>
          <p:spPr>
            <a:xfrm>
              <a:off x="392114" y="760414"/>
              <a:ext cx="3825872" cy="3825872"/>
            </a:xfrm>
            <a:prstGeom prst="ellipse">
              <a:avLst/>
            </a:prstGeom>
            <a:solidFill>
              <a:schemeClr val="accent1">
                <a:lumMod val="50000"/>
              </a:schemeClr>
            </a:solidFill>
            <a:ln>
              <a:noFill/>
            </a:ln>
            <a:effectLst/>
          </p:spPr>
          <p:txBody>
            <a:bodyPr anchor="ctr"/>
            <a:lstStyle/>
            <a:p>
              <a:pPr algn="ctr" defTabSz="914400"/>
              <a:r>
                <a:rPr lang="en-US" altLang="zh-CN" sz="4265" dirty="0">
                  <a:solidFill>
                    <a:prstClr val="white"/>
                  </a:solidFill>
                  <a:latin typeface="Impact" panose="020B0806030902050204" pitchFamily="34" charset="0"/>
                  <a:ea typeface="微软雅黑" panose="020B0503020204020204" charset="-122"/>
                </a:rPr>
                <a:t>02</a:t>
              </a:r>
              <a:endParaRPr lang="zh-CN" altLang="en-US" sz="4265" dirty="0">
                <a:solidFill>
                  <a:prstClr val="white"/>
                </a:solidFill>
                <a:latin typeface="Impact" panose="020B0806030902050204" pitchFamily="34" charset="0"/>
                <a:ea typeface="微软雅黑" panose="020B0503020204020204" charset="-122"/>
              </a:endParaRPr>
            </a:p>
          </p:txBody>
        </p:sp>
      </p:grpSp>
      <p:sp>
        <p:nvSpPr>
          <p:cNvPr id="49" name="矩形 10"/>
          <p:cNvSpPr>
            <a:spLocks noChangeAspect="1"/>
          </p:cNvSpPr>
          <p:nvPr/>
        </p:nvSpPr>
        <p:spPr>
          <a:xfrm>
            <a:off x="9440887" y="1657819"/>
            <a:ext cx="1755730" cy="1914105"/>
          </a:xfrm>
          <a:custGeom>
            <a:avLst/>
            <a:gdLst>
              <a:gd name="connsiteX0" fmla="*/ 653528 w 1305333"/>
              <a:gd name="connsiteY0" fmla="*/ 0 h 1424419"/>
              <a:gd name="connsiteX1" fmla="*/ 757287 w 1305333"/>
              <a:gd name="connsiteY1" fmla="*/ 32444 h 1424419"/>
              <a:gd name="connsiteX2" fmla="*/ 1206876 w 1305333"/>
              <a:gd name="connsiteY2" fmla="*/ 284945 h 1424419"/>
              <a:gd name="connsiteX3" fmla="*/ 1233464 w 1305333"/>
              <a:gd name="connsiteY3" fmla="*/ 306775 h 1424419"/>
              <a:gd name="connsiteX4" fmla="*/ 1299728 w 1305333"/>
              <a:gd name="connsiteY4" fmla="*/ 452301 h 1424419"/>
              <a:gd name="connsiteX5" fmla="*/ 1303099 w 1305333"/>
              <a:gd name="connsiteY5" fmla="*/ 495558 h 1424419"/>
              <a:gd name="connsiteX6" fmla="*/ 1303099 w 1305333"/>
              <a:gd name="connsiteY6" fmla="*/ 952393 h 1424419"/>
              <a:gd name="connsiteX7" fmla="*/ 1299356 w 1305333"/>
              <a:gd name="connsiteY7" fmla="*/ 974248 h 1424419"/>
              <a:gd name="connsiteX8" fmla="*/ 1193590 w 1305333"/>
              <a:gd name="connsiteY8" fmla="*/ 1159518 h 1424419"/>
              <a:gd name="connsiteX9" fmla="*/ 1188747 w 1305333"/>
              <a:gd name="connsiteY9" fmla="*/ 1163476 h 1424419"/>
              <a:gd name="connsiteX10" fmla="*/ 792288 w 1305333"/>
              <a:gd name="connsiteY10" fmla="*/ 1385653 h 1424419"/>
              <a:gd name="connsiteX11" fmla="*/ 522686 w 1305333"/>
              <a:gd name="connsiteY11" fmla="*/ 1384922 h 1424419"/>
              <a:gd name="connsiteX12" fmla="*/ 80344 w 1305333"/>
              <a:gd name="connsiteY12" fmla="*/ 1139323 h 1424419"/>
              <a:gd name="connsiteX13" fmla="*/ 68397 w 1305333"/>
              <a:gd name="connsiteY13" fmla="*/ 1130059 h 1424419"/>
              <a:gd name="connsiteX14" fmla="*/ 667 w 1305333"/>
              <a:gd name="connsiteY14" fmla="*/ 999105 h 1424419"/>
              <a:gd name="connsiteX15" fmla="*/ 0 w 1305333"/>
              <a:gd name="connsiteY15" fmla="*/ 972364 h 1424419"/>
              <a:gd name="connsiteX16" fmla="*/ 2496 w 1305333"/>
              <a:gd name="connsiteY16" fmla="*/ 463106 h 1424419"/>
              <a:gd name="connsiteX17" fmla="*/ 2458 w 1305333"/>
              <a:gd name="connsiteY17" fmla="*/ 429563 h 1424419"/>
              <a:gd name="connsiteX18" fmla="*/ 75248 w 1305333"/>
              <a:gd name="connsiteY18" fmla="*/ 303202 h 1424419"/>
              <a:gd name="connsiteX19" fmla="*/ 103465 w 1305333"/>
              <a:gd name="connsiteY19" fmla="*/ 288252 h 1424419"/>
              <a:gd name="connsiteX20" fmla="*/ 541533 w 1305333"/>
              <a:gd name="connsiteY20" fmla="*/ 38110 h 1424419"/>
              <a:gd name="connsiteX21" fmla="*/ 653528 w 1305333"/>
              <a:gd name="connsiteY21" fmla="*/ 0 h 1424419"/>
              <a:gd name="connsiteX0-1" fmla="*/ 653528 w 1305333"/>
              <a:gd name="connsiteY0-2" fmla="*/ 0 h 1424419"/>
              <a:gd name="connsiteX1-3" fmla="*/ 757287 w 1305333"/>
              <a:gd name="connsiteY1-4" fmla="*/ 32444 h 1424419"/>
              <a:gd name="connsiteX2-5" fmla="*/ 1206876 w 1305333"/>
              <a:gd name="connsiteY2-6" fmla="*/ 284945 h 1424419"/>
              <a:gd name="connsiteX3-7" fmla="*/ 1233464 w 1305333"/>
              <a:gd name="connsiteY3-8" fmla="*/ 306775 h 1424419"/>
              <a:gd name="connsiteX4-9" fmla="*/ 1301712 w 1305333"/>
              <a:gd name="connsiteY4-10" fmla="*/ 442384 h 1424419"/>
              <a:gd name="connsiteX5-11" fmla="*/ 1303099 w 1305333"/>
              <a:gd name="connsiteY5-12" fmla="*/ 495558 h 1424419"/>
              <a:gd name="connsiteX6-13" fmla="*/ 1303099 w 1305333"/>
              <a:gd name="connsiteY6-14" fmla="*/ 952393 h 1424419"/>
              <a:gd name="connsiteX7-15" fmla="*/ 1299356 w 1305333"/>
              <a:gd name="connsiteY7-16" fmla="*/ 974248 h 1424419"/>
              <a:gd name="connsiteX8-17" fmla="*/ 1193590 w 1305333"/>
              <a:gd name="connsiteY8-18" fmla="*/ 1159518 h 1424419"/>
              <a:gd name="connsiteX9-19" fmla="*/ 1188747 w 1305333"/>
              <a:gd name="connsiteY9-20" fmla="*/ 1163476 h 1424419"/>
              <a:gd name="connsiteX10-21" fmla="*/ 792288 w 1305333"/>
              <a:gd name="connsiteY10-22" fmla="*/ 1385653 h 1424419"/>
              <a:gd name="connsiteX11-23" fmla="*/ 522686 w 1305333"/>
              <a:gd name="connsiteY11-24" fmla="*/ 1384922 h 1424419"/>
              <a:gd name="connsiteX12-25" fmla="*/ 80344 w 1305333"/>
              <a:gd name="connsiteY12-26" fmla="*/ 1139323 h 1424419"/>
              <a:gd name="connsiteX13-27" fmla="*/ 68397 w 1305333"/>
              <a:gd name="connsiteY13-28" fmla="*/ 1130059 h 1424419"/>
              <a:gd name="connsiteX14-29" fmla="*/ 667 w 1305333"/>
              <a:gd name="connsiteY14-30" fmla="*/ 999105 h 1424419"/>
              <a:gd name="connsiteX15-31" fmla="*/ 0 w 1305333"/>
              <a:gd name="connsiteY15-32" fmla="*/ 972364 h 1424419"/>
              <a:gd name="connsiteX16-33" fmla="*/ 2496 w 1305333"/>
              <a:gd name="connsiteY16-34" fmla="*/ 463106 h 1424419"/>
              <a:gd name="connsiteX17-35" fmla="*/ 2458 w 1305333"/>
              <a:gd name="connsiteY17-36" fmla="*/ 429563 h 1424419"/>
              <a:gd name="connsiteX18-37" fmla="*/ 75248 w 1305333"/>
              <a:gd name="connsiteY18-38" fmla="*/ 303202 h 1424419"/>
              <a:gd name="connsiteX19-39" fmla="*/ 103465 w 1305333"/>
              <a:gd name="connsiteY19-40" fmla="*/ 288252 h 1424419"/>
              <a:gd name="connsiteX20-41" fmla="*/ 541533 w 1305333"/>
              <a:gd name="connsiteY20-42" fmla="*/ 38110 h 1424419"/>
              <a:gd name="connsiteX21-43" fmla="*/ 653528 w 1305333"/>
              <a:gd name="connsiteY21-44" fmla="*/ 0 h 1424419"/>
              <a:gd name="connsiteX0-45" fmla="*/ 653528 w 1305333"/>
              <a:gd name="connsiteY0-46" fmla="*/ 0 h 1424419"/>
              <a:gd name="connsiteX1-47" fmla="*/ 757287 w 1305333"/>
              <a:gd name="connsiteY1-48" fmla="*/ 32444 h 1424419"/>
              <a:gd name="connsiteX2-49" fmla="*/ 1206876 w 1305333"/>
              <a:gd name="connsiteY2-50" fmla="*/ 284945 h 1424419"/>
              <a:gd name="connsiteX3-51" fmla="*/ 1233464 w 1305333"/>
              <a:gd name="connsiteY3-52" fmla="*/ 306775 h 1424419"/>
              <a:gd name="connsiteX4-53" fmla="*/ 1301712 w 1305333"/>
              <a:gd name="connsiteY4-54" fmla="*/ 442384 h 1424419"/>
              <a:gd name="connsiteX5-55" fmla="*/ 1303099 w 1305333"/>
              <a:gd name="connsiteY5-56" fmla="*/ 495558 h 1424419"/>
              <a:gd name="connsiteX6-57" fmla="*/ 1303099 w 1305333"/>
              <a:gd name="connsiteY6-58" fmla="*/ 952393 h 1424419"/>
              <a:gd name="connsiteX7-59" fmla="*/ 1299356 w 1305333"/>
              <a:gd name="connsiteY7-60" fmla="*/ 974248 h 1424419"/>
              <a:gd name="connsiteX8-61" fmla="*/ 1193590 w 1305333"/>
              <a:gd name="connsiteY8-62" fmla="*/ 1159518 h 1424419"/>
              <a:gd name="connsiteX9-63" fmla="*/ 1188747 w 1305333"/>
              <a:gd name="connsiteY9-64" fmla="*/ 1163476 h 1424419"/>
              <a:gd name="connsiteX10-65" fmla="*/ 792288 w 1305333"/>
              <a:gd name="connsiteY10-66" fmla="*/ 1385653 h 1424419"/>
              <a:gd name="connsiteX11-67" fmla="*/ 522686 w 1305333"/>
              <a:gd name="connsiteY11-68" fmla="*/ 1384922 h 1424419"/>
              <a:gd name="connsiteX12-69" fmla="*/ 80344 w 1305333"/>
              <a:gd name="connsiteY12-70" fmla="*/ 1139323 h 1424419"/>
              <a:gd name="connsiteX13-71" fmla="*/ 68397 w 1305333"/>
              <a:gd name="connsiteY13-72" fmla="*/ 1130059 h 1424419"/>
              <a:gd name="connsiteX14-73" fmla="*/ 667 w 1305333"/>
              <a:gd name="connsiteY14-74" fmla="*/ 999105 h 1424419"/>
              <a:gd name="connsiteX15-75" fmla="*/ 0 w 1305333"/>
              <a:gd name="connsiteY15-76" fmla="*/ 972364 h 1424419"/>
              <a:gd name="connsiteX16-77" fmla="*/ 2496 w 1305333"/>
              <a:gd name="connsiteY16-78" fmla="*/ 463106 h 1424419"/>
              <a:gd name="connsiteX17-79" fmla="*/ 2458 w 1305333"/>
              <a:gd name="connsiteY17-80" fmla="*/ 429563 h 1424419"/>
              <a:gd name="connsiteX18-81" fmla="*/ 75248 w 1305333"/>
              <a:gd name="connsiteY18-82" fmla="*/ 303202 h 1424419"/>
              <a:gd name="connsiteX19-83" fmla="*/ 103465 w 1305333"/>
              <a:gd name="connsiteY19-84" fmla="*/ 288252 h 1424419"/>
              <a:gd name="connsiteX20-85" fmla="*/ 541533 w 1305333"/>
              <a:gd name="connsiteY20-86" fmla="*/ 38110 h 1424419"/>
              <a:gd name="connsiteX21-87" fmla="*/ 653528 w 1305333"/>
              <a:gd name="connsiteY21-88" fmla="*/ 0 h 1424419"/>
              <a:gd name="connsiteX0-89" fmla="*/ 653528 w 1306046"/>
              <a:gd name="connsiteY0-90" fmla="*/ 0 h 1424419"/>
              <a:gd name="connsiteX1-91" fmla="*/ 757287 w 1306046"/>
              <a:gd name="connsiteY1-92" fmla="*/ 32444 h 1424419"/>
              <a:gd name="connsiteX2-93" fmla="*/ 1206876 w 1306046"/>
              <a:gd name="connsiteY2-94" fmla="*/ 284945 h 1424419"/>
              <a:gd name="connsiteX3-95" fmla="*/ 1233464 w 1306046"/>
              <a:gd name="connsiteY3-96" fmla="*/ 306775 h 1424419"/>
              <a:gd name="connsiteX4-97" fmla="*/ 1301712 w 1306046"/>
              <a:gd name="connsiteY4-98" fmla="*/ 442384 h 1424419"/>
              <a:gd name="connsiteX5-99" fmla="*/ 1303099 w 1306046"/>
              <a:gd name="connsiteY5-100" fmla="*/ 495558 h 1424419"/>
              <a:gd name="connsiteX6-101" fmla="*/ 1303099 w 1306046"/>
              <a:gd name="connsiteY6-102" fmla="*/ 952393 h 1424419"/>
              <a:gd name="connsiteX7-103" fmla="*/ 1305306 w 1306046"/>
              <a:gd name="connsiteY7-104" fmla="*/ 990115 h 1424419"/>
              <a:gd name="connsiteX8-105" fmla="*/ 1193590 w 1306046"/>
              <a:gd name="connsiteY8-106" fmla="*/ 1159518 h 1424419"/>
              <a:gd name="connsiteX9-107" fmla="*/ 1188747 w 1306046"/>
              <a:gd name="connsiteY9-108" fmla="*/ 1163476 h 1424419"/>
              <a:gd name="connsiteX10-109" fmla="*/ 792288 w 1306046"/>
              <a:gd name="connsiteY10-110" fmla="*/ 1385653 h 1424419"/>
              <a:gd name="connsiteX11-111" fmla="*/ 522686 w 1306046"/>
              <a:gd name="connsiteY11-112" fmla="*/ 1384922 h 1424419"/>
              <a:gd name="connsiteX12-113" fmla="*/ 80344 w 1306046"/>
              <a:gd name="connsiteY12-114" fmla="*/ 1139323 h 1424419"/>
              <a:gd name="connsiteX13-115" fmla="*/ 68397 w 1306046"/>
              <a:gd name="connsiteY13-116" fmla="*/ 1130059 h 1424419"/>
              <a:gd name="connsiteX14-117" fmla="*/ 667 w 1306046"/>
              <a:gd name="connsiteY14-118" fmla="*/ 999105 h 1424419"/>
              <a:gd name="connsiteX15-119" fmla="*/ 0 w 1306046"/>
              <a:gd name="connsiteY15-120" fmla="*/ 972364 h 1424419"/>
              <a:gd name="connsiteX16-121" fmla="*/ 2496 w 1306046"/>
              <a:gd name="connsiteY16-122" fmla="*/ 463106 h 1424419"/>
              <a:gd name="connsiteX17-123" fmla="*/ 2458 w 1306046"/>
              <a:gd name="connsiteY17-124" fmla="*/ 429563 h 1424419"/>
              <a:gd name="connsiteX18-125" fmla="*/ 75248 w 1306046"/>
              <a:gd name="connsiteY18-126" fmla="*/ 303202 h 1424419"/>
              <a:gd name="connsiteX19-127" fmla="*/ 103465 w 1306046"/>
              <a:gd name="connsiteY19-128" fmla="*/ 288252 h 1424419"/>
              <a:gd name="connsiteX20-129" fmla="*/ 541533 w 1306046"/>
              <a:gd name="connsiteY20-130" fmla="*/ 38110 h 1424419"/>
              <a:gd name="connsiteX21-131" fmla="*/ 653528 w 1306046"/>
              <a:gd name="connsiteY21-132" fmla="*/ 0 h 1424419"/>
              <a:gd name="connsiteX0-133" fmla="*/ 653528 w 1305333"/>
              <a:gd name="connsiteY0-134" fmla="*/ 0 h 1424419"/>
              <a:gd name="connsiteX1-135" fmla="*/ 757287 w 1305333"/>
              <a:gd name="connsiteY1-136" fmla="*/ 32444 h 1424419"/>
              <a:gd name="connsiteX2-137" fmla="*/ 1206876 w 1305333"/>
              <a:gd name="connsiteY2-138" fmla="*/ 284945 h 1424419"/>
              <a:gd name="connsiteX3-139" fmla="*/ 1233464 w 1305333"/>
              <a:gd name="connsiteY3-140" fmla="*/ 306775 h 1424419"/>
              <a:gd name="connsiteX4-141" fmla="*/ 1301712 w 1305333"/>
              <a:gd name="connsiteY4-142" fmla="*/ 442384 h 1424419"/>
              <a:gd name="connsiteX5-143" fmla="*/ 1303099 w 1305333"/>
              <a:gd name="connsiteY5-144" fmla="*/ 495558 h 1424419"/>
              <a:gd name="connsiteX6-145" fmla="*/ 1303099 w 1305333"/>
              <a:gd name="connsiteY6-146" fmla="*/ 952393 h 1424419"/>
              <a:gd name="connsiteX7-147" fmla="*/ 1305306 w 1305333"/>
              <a:gd name="connsiteY7-148" fmla="*/ 990115 h 1424419"/>
              <a:gd name="connsiteX8-149" fmla="*/ 1193590 w 1305333"/>
              <a:gd name="connsiteY8-150" fmla="*/ 1159518 h 1424419"/>
              <a:gd name="connsiteX9-151" fmla="*/ 1188747 w 1305333"/>
              <a:gd name="connsiteY9-152" fmla="*/ 1163476 h 1424419"/>
              <a:gd name="connsiteX10-153" fmla="*/ 792288 w 1305333"/>
              <a:gd name="connsiteY10-154" fmla="*/ 1385653 h 1424419"/>
              <a:gd name="connsiteX11-155" fmla="*/ 522686 w 1305333"/>
              <a:gd name="connsiteY11-156" fmla="*/ 1384922 h 1424419"/>
              <a:gd name="connsiteX12-157" fmla="*/ 80344 w 1305333"/>
              <a:gd name="connsiteY12-158" fmla="*/ 1139323 h 1424419"/>
              <a:gd name="connsiteX13-159" fmla="*/ 68397 w 1305333"/>
              <a:gd name="connsiteY13-160" fmla="*/ 1130059 h 1424419"/>
              <a:gd name="connsiteX14-161" fmla="*/ 667 w 1305333"/>
              <a:gd name="connsiteY14-162" fmla="*/ 999105 h 1424419"/>
              <a:gd name="connsiteX15-163" fmla="*/ 0 w 1305333"/>
              <a:gd name="connsiteY15-164" fmla="*/ 972364 h 1424419"/>
              <a:gd name="connsiteX16-165" fmla="*/ 2496 w 1305333"/>
              <a:gd name="connsiteY16-166" fmla="*/ 463106 h 1424419"/>
              <a:gd name="connsiteX17-167" fmla="*/ 2458 w 1305333"/>
              <a:gd name="connsiteY17-168" fmla="*/ 429563 h 1424419"/>
              <a:gd name="connsiteX18-169" fmla="*/ 75248 w 1305333"/>
              <a:gd name="connsiteY18-170" fmla="*/ 303202 h 1424419"/>
              <a:gd name="connsiteX19-171" fmla="*/ 103465 w 1305333"/>
              <a:gd name="connsiteY19-172" fmla="*/ 288252 h 1424419"/>
              <a:gd name="connsiteX20-173" fmla="*/ 541533 w 1305333"/>
              <a:gd name="connsiteY20-174" fmla="*/ 38110 h 1424419"/>
              <a:gd name="connsiteX21-175" fmla="*/ 653528 w 1305333"/>
              <a:gd name="connsiteY21-176" fmla="*/ 0 h 1424419"/>
              <a:gd name="connsiteX0-177" fmla="*/ 653528 w 1305333"/>
              <a:gd name="connsiteY0-178" fmla="*/ 0 h 1424419"/>
              <a:gd name="connsiteX1-179" fmla="*/ 757287 w 1305333"/>
              <a:gd name="connsiteY1-180" fmla="*/ 32444 h 1424419"/>
              <a:gd name="connsiteX2-181" fmla="*/ 1206876 w 1305333"/>
              <a:gd name="connsiteY2-182" fmla="*/ 284945 h 1424419"/>
              <a:gd name="connsiteX3-183" fmla="*/ 1233464 w 1305333"/>
              <a:gd name="connsiteY3-184" fmla="*/ 306775 h 1424419"/>
              <a:gd name="connsiteX4-185" fmla="*/ 1301712 w 1305333"/>
              <a:gd name="connsiteY4-186" fmla="*/ 442384 h 1424419"/>
              <a:gd name="connsiteX5-187" fmla="*/ 1303099 w 1305333"/>
              <a:gd name="connsiteY5-188" fmla="*/ 495558 h 1424419"/>
              <a:gd name="connsiteX6-189" fmla="*/ 1303099 w 1305333"/>
              <a:gd name="connsiteY6-190" fmla="*/ 952393 h 1424419"/>
              <a:gd name="connsiteX7-191" fmla="*/ 1305306 w 1305333"/>
              <a:gd name="connsiteY7-192" fmla="*/ 990115 h 1424419"/>
              <a:gd name="connsiteX8-193" fmla="*/ 1193590 w 1305333"/>
              <a:gd name="connsiteY8-194" fmla="*/ 1159518 h 1424419"/>
              <a:gd name="connsiteX9-195" fmla="*/ 1172881 w 1305333"/>
              <a:gd name="connsiteY9-196" fmla="*/ 1179342 h 1424419"/>
              <a:gd name="connsiteX10-197" fmla="*/ 792288 w 1305333"/>
              <a:gd name="connsiteY10-198" fmla="*/ 1385653 h 1424419"/>
              <a:gd name="connsiteX11-199" fmla="*/ 522686 w 1305333"/>
              <a:gd name="connsiteY11-200" fmla="*/ 1384922 h 1424419"/>
              <a:gd name="connsiteX12-201" fmla="*/ 80344 w 1305333"/>
              <a:gd name="connsiteY12-202" fmla="*/ 1139323 h 1424419"/>
              <a:gd name="connsiteX13-203" fmla="*/ 68397 w 1305333"/>
              <a:gd name="connsiteY13-204" fmla="*/ 1130059 h 1424419"/>
              <a:gd name="connsiteX14-205" fmla="*/ 667 w 1305333"/>
              <a:gd name="connsiteY14-206" fmla="*/ 999105 h 1424419"/>
              <a:gd name="connsiteX15-207" fmla="*/ 0 w 1305333"/>
              <a:gd name="connsiteY15-208" fmla="*/ 972364 h 1424419"/>
              <a:gd name="connsiteX16-209" fmla="*/ 2496 w 1305333"/>
              <a:gd name="connsiteY16-210" fmla="*/ 463106 h 1424419"/>
              <a:gd name="connsiteX17-211" fmla="*/ 2458 w 1305333"/>
              <a:gd name="connsiteY17-212" fmla="*/ 429563 h 1424419"/>
              <a:gd name="connsiteX18-213" fmla="*/ 75248 w 1305333"/>
              <a:gd name="connsiteY18-214" fmla="*/ 303202 h 1424419"/>
              <a:gd name="connsiteX19-215" fmla="*/ 103465 w 1305333"/>
              <a:gd name="connsiteY19-216" fmla="*/ 288252 h 1424419"/>
              <a:gd name="connsiteX20-217" fmla="*/ 541533 w 1305333"/>
              <a:gd name="connsiteY20-218" fmla="*/ 38110 h 1424419"/>
              <a:gd name="connsiteX21-219" fmla="*/ 653528 w 1305333"/>
              <a:gd name="connsiteY21-220" fmla="*/ 0 h 1424419"/>
              <a:gd name="connsiteX0-221" fmla="*/ 653528 w 1305333"/>
              <a:gd name="connsiteY0-222" fmla="*/ 0 h 1424419"/>
              <a:gd name="connsiteX1-223" fmla="*/ 757287 w 1305333"/>
              <a:gd name="connsiteY1-224" fmla="*/ 32444 h 1424419"/>
              <a:gd name="connsiteX2-225" fmla="*/ 1206876 w 1305333"/>
              <a:gd name="connsiteY2-226" fmla="*/ 284945 h 1424419"/>
              <a:gd name="connsiteX3-227" fmla="*/ 1233464 w 1305333"/>
              <a:gd name="connsiteY3-228" fmla="*/ 306775 h 1424419"/>
              <a:gd name="connsiteX4-229" fmla="*/ 1301712 w 1305333"/>
              <a:gd name="connsiteY4-230" fmla="*/ 442384 h 1424419"/>
              <a:gd name="connsiteX5-231" fmla="*/ 1303099 w 1305333"/>
              <a:gd name="connsiteY5-232" fmla="*/ 495558 h 1424419"/>
              <a:gd name="connsiteX6-233" fmla="*/ 1303099 w 1305333"/>
              <a:gd name="connsiteY6-234" fmla="*/ 952393 h 1424419"/>
              <a:gd name="connsiteX7-235" fmla="*/ 1305306 w 1305333"/>
              <a:gd name="connsiteY7-236" fmla="*/ 990115 h 1424419"/>
              <a:gd name="connsiteX8-237" fmla="*/ 1193590 w 1305333"/>
              <a:gd name="connsiteY8-238" fmla="*/ 1159518 h 1424419"/>
              <a:gd name="connsiteX9-239" fmla="*/ 1172881 w 1305333"/>
              <a:gd name="connsiteY9-240" fmla="*/ 1179342 h 1424419"/>
              <a:gd name="connsiteX10-241" fmla="*/ 792288 w 1305333"/>
              <a:gd name="connsiteY10-242" fmla="*/ 1385653 h 1424419"/>
              <a:gd name="connsiteX11-243" fmla="*/ 522686 w 1305333"/>
              <a:gd name="connsiteY11-244" fmla="*/ 1384922 h 1424419"/>
              <a:gd name="connsiteX12-245" fmla="*/ 80344 w 1305333"/>
              <a:gd name="connsiteY12-246" fmla="*/ 1139323 h 1424419"/>
              <a:gd name="connsiteX13-247" fmla="*/ 68397 w 1305333"/>
              <a:gd name="connsiteY13-248" fmla="*/ 1130059 h 1424419"/>
              <a:gd name="connsiteX14-249" fmla="*/ 667 w 1305333"/>
              <a:gd name="connsiteY14-250" fmla="*/ 999105 h 1424419"/>
              <a:gd name="connsiteX15-251" fmla="*/ 0 w 1305333"/>
              <a:gd name="connsiteY15-252" fmla="*/ 972364 h 1424419"/>
              <a:gd name="connsiteX16-253" fmla="*/ 2496 w 1305333"/>
              <a:gd name="connsiteY16-254" fmla="*/ 463106 h 1424419"/>
              <a:gd name="connsiteX17-255" fmla="*/ 2458 w 1305333"/>
              <a:gd name="connsiteY17-256" fmla="*/ 429563 h 1424419"/>
              <a:gd name="connsiteX18-257" fmla="*/ 75248 w 1305333"/>
              <a:gd name="connsiteY18-258" fmla="*/ 303202 h 1424419"/>
              <a:gd name="connsiteX19-259" fmla="*/ 103465 w 1305333"/>
              <a:gd name="connsiteY19-260" fmla="*/ 288252 h 1424419"/>
              <a:gd name="connsiteX20-261" fmla="*/ 541533 w 1305333"/>
              <a:gd name="connsiteY20-262" fmla="*/ 38110 h 1424419"/>
              <a:gd name="connsiteX21-263" fmla="*/ 653528 w 1305333"/>
              <a:gd name="connsiteY21-264" fmla="*/ 0 h 1424419"/>
              <a:gd name="connsiteX0-265" fmla="*/ 653528 w 1305333"/>
              <a:gd name="connsiteY0-266" fmla="*/ 0 h 1424419"/>
              <a:gd name="connsiteX1-267" fmla="*/ 757287 w 1305333"/>
              <a:gd name="connsiteY1-268" fmla="*/ 32444 h 1424419"/>
              <a:gd name="connsiteX2-269" fmla="*/ 1206876 w 1305333"/>
              <a:gd name="connsiteY2-270" fmla="*/ 284945 h 1424419"/>
              <a:gd name="connsiteX3-271" fmla="*/ 1233464 w 1305333"/>
              <a:gd name="connsiteY3-272" fmla="*/ 306775 h 1424419"/>
              <a:gd name="connsiteX4-273" fmla="*/ 1301712 w 1305333"/>
              <a:gd name="connsiteY4-274" fmla="*/ 442384 h 1424419"/>
              <a:gd name="connsiteX5-275" fmla="*/ 1303099 w 1305333"/>
              <a:gd name="connsiteY5-276" fmla="*/ 495558 h 1424419"/>
              <a:gd name="connsiteX6-277" fmla="*/ 1303099 w 1305333"/>
              <a:gd name="connsiteY6-278" fmla="*/ 952393 h 1424419"/>
              <a:gd name="connsiteX7-279" fmla="*/ 1305306 w 1305333"/>
              <a:gd name="connsiteY7-280" fmla="*/ 990115 h 1424419"/>
              <a:gd name="connsiteX8-281" fmla="*/ 1193590 w 1305333"/>
              <a:gd name="connsiteY8-282" fmla="*/ 1159518 h 1424419"/>
              <a:gd name="connsiteX9-283" fmla="*/ 1172881 w 1305333"/>
              <a:gd name="connsiteY9-284" fmla="*/ 1179342 h 1424419"/>
              <a:gd name="connsiteX10-285" fmla="*/ 792288 w 1305333"/>
              <a:gd name="connsiteY10-286" fmla="*/ 1385653 h 1424419"/>
              <a:gd name="connsiteX11-287" fmla="*/ 522686 w 1305333"/>
              <a:gd name="connsiteY11-288" fmla="*/ 1384922 h 1424419"/>
              <a:gd name="connsiteX12-289" fmla="*/ 80344 w 1305333"/>
              <a:gd name="connsiteY12-290" fmla="*/ 1139323 h 1424419"/>
              <a:gd name="connsiteX13-291" fmla="*/ 68397 w 1305333"/>
              <a:gd name="connsiteY13-292" fmla="*/ 1130059 h 1424419"/>
              <a:gd name="connsiteX14-293" fmla="*/ 667 w 1305333"/>
              <a:gd name="connsiteY14-294" fmla="*/ 999105 h 1424419"/>
              <a:gd name="connsiteX15-295" fmla="*/ 0 w 1305333"/>
              <a:gd name="connsiteY15-296" fmla="*/ 972364 h 1424419"/>
              <a:gd name="connsiteX16-297" fmla="*/ 2496 w 1305333"/>
              <a:gd name="connsiteY16-298" fmla="*/ 463106 h 1424419"/>
              <a:gd name="connsiteX17-299" fmla="*/ 2458 w 1305333"/>
              <a:gd name="connsiteY17-300" fmla="*/ 429563 h 1424419"/>
              <a:gd name="connsiteX18-301" fmla="*/ 75248 w 1305333"/>
              <a:gd name="connsiteY18-302" fmla="*/ 303202 h 1424419"/>
              <a:gd name="connsiteX19-303" fmla="*/ 103465 w 1305333"/>
              <a:gd name="connsiteY19-304" fmla="*/ 288252 h 1424419"/>
              <a:gd name="connsiteX20-305" fmla="*/ 541533 w 1305333"/>
              <a:gd name="connsiteY20-306" fmla="*/ 38110 h 1424419"/>
              <a:gd name="connsiteX21-307" fmla="*/ 653528 w 1305333"/>
              <a:gd name="connsiteY21-308" fmla="*/ 0 h 1424419"/>
              <a:gd name="connsiteX0-309" fmla="*/ 653528 w 1305333"/>
              <a:gd name="connsiteY0-310" fmla="*/ 0 h 1424419"/>
              <a:gd name="connsiteX1-311" fmla="*/ 757287 w 1305333"/>
              <a:gd name="connsiteY1-312" fmla="*/ 32444 h 1424419"/>
              <a:gd name="connsiteX2-313" fmla="*/ 1206876 w 1305333"/>
              <a:gd name="connsiteY2-314" fmla="*/ 284945 h 1424419"/>
              <a:gd name="connsiteX3-315" fmla="*/ 1233464 w 1305333"/>
              <a:gd name="connsiteY3-316" fmla="*/ 306775 h 1424419"/>
              <a:gd name="connsiteX4-317" fmla="*/ 1301712 w 1305333"/>
              <a:gd name="connsiteY4-318" fmla="*/ 442384 h 1424419"/>
              <a:gd name="connsiteX5-319" fmla="*/ 1303099 w 1305333"/>
              <a:gd name="connsiteY5-320" fmla="*/ 495558 h 1424419"/>
              <a:gd name="connsiteX6-321" fmla="*/ 1303099 w 1305333"/>
              <a:gd name="connsiteY6-322" fmla="*/ 952393 h 1424419"/>
              <a:gd name="connsiteX7-323" fmla="*/ 1305306 w 1305333"/>
              <a:gd name="connsiteY7-324" fmla="*/ 990115 h 1424419"/>
              <a:gd name="connsiteX8-325" fmla="*/ 1193590 w 1305333"/>
              <a:gd name="connsiteY8-326" fmla="*/ 1159518 h 1424419"/>
              <a:gd name="connsiteX9-327" fmla="*/ 1172881 w 1305333"/>
              <a:gd name="connsiteY9-328" fmla="*/ 1179342 h 1424419"/>
              <a:gd name="connsiteX10-329" fmla="*/ 792288 w 1305333"/>
              <a:gd name="connsiteY10-330" fmla="*/ 1385653 h 1424419"/>
              <a:gd name="connsiteX11-331" fmla="*/ 522686 w 1305333"/>
              <a:gd name="connsiteY11-332" fmla="*/ 1384922 h 1424419"/>
              <a:gd name="connsiteX12-333" fmla="*/ 80344 w 1305333"/>
              <a:gd name="connsiteY12-334" fmla="*/ 1139323 h 1424419"/>
              <a:gd name="connsiteX13-335" fmla="*/ 68397 w 1305333"/>
              <a:gd name="connsiteY13-336" fmla="*/ 1130059 h 1424419"/>
              <a:gd name="connsiteX14-337" fmla="*/ 667 w 1305333"/>
              <a:gd name="connsiteY14-338" fmla="*/ 999105 h 1424419"/>
              <a:gd name="connsiteX15-339" fmla="*/ 0 w 1305333"/>
              <a:gd name="connsiteY15-340" fmla="*/ 972364 h 1424419"/>
              <a:gd name="connsiteX16-341" fmla="*/ 2496 w 1305333"/>
              <a:gd name="connsiteY16-342" fmla="*/ 463106 h 1424419"/>
              <a:gd name="connsiteX17-343" fmla="*/ 2458 w 1305333"/>
              <a:gd name="connsiteY17-344" fmla="*/ 429563 h 1424419"/>
              <a:gd name="connsiteX18-345" fmla="*/ 75248 w 1305333"/>
              <a:gd name="connsiteY18-346" fmla="*/ 303202 h 1424419"/>
              <a:gd name="connsiteX19-347" fmla="*/ 103465 w 1305333"/>
              <a:gd name="connsiteY19-348" fmla="*/ 288252 h 1424419"/>
              <a:gd name="connsiteX20-349" fmla="*/ 541533 w 1305333"/>
              <a:gd name="connsiteY20-350" fmla="*/ 38110 h 1424419"/>
              <a:gd name="connsiteX21-351" fmla="*/ 653528 w 1305333"/>
              <a:gd name="connsiteY21-352" fmla="*/ 0 h 1424419"/>
              <a:gd name="connsiteX0-353" fmla="*/ 653528 w 1305333"/>
              <a:gd name="connsiteY0-354" fmla="*/ 0 h 1424419"/>
              <a:gd name="connsiteX1-355" fmla="*/ 757287 w 1305333"/>
              <a:gd name="connsiteY1-356" fmla="*/ 32444 h 1424419"/>
              <a:gd name="connsiteX2-357" fmla="*/ 1206876 w 1305333"/>
              <a:gd name="connsiteY2-358" fmla="*/ 284945 h 1424419"/>
              <a:gd name="connsiteX3-359" fmla="*/ 1233464 w 1305333"/>
              <a:gd name="connsiteY3-360" fmla="*/ 306775 h 1424419"/>
              <a:gd name="connsiteX4-361" fmla="*/ 1301712 w 1305333"/>
              <a:gd name="connsiteY4-362" fmla="*/ 442384 h 1424419"/>
              <a:gd name="connsiteX5-363" fmla="*/ 1303099 w 1305333"/>
              <a:gd name="connsiteY5-364" fmla="*/ 495558 h 1424419"/>
              <a:gd name="connsiteX6-365" fmla="*/ 1303099 w 1305333"/>
              <a:gd name="connsiteY6-366" fmla="*/ 952393 h 1424419"/>
              <a:gd name="connsiteX7-367" fmla="*/ 1305306 w 1305333"/>
              <a:gd name="connsiteY7-368" fmla="*/ 990115 h 1424419"/>
              <a:gd name="connsiteX8-369" fmla="*/ 1193590 w 1305333"/>
              <a:gd name="connsiteY8-370" fmla="*/ 1159518 h 1424419"/>
              <a:gd name="connsiteX9-371" fmla="*/ 1172881 w 1305333"/>
              <a:gd name="connsiteY9-372" fmla="*/ 1179342 h 1424419"/>
              <a:gd name="connsiteX10-373" fmla="*/ 792288 w 1305333"/>
              <a:gd name="connsiteY10-374" fmla="*/ 1385653 h 1424419"/>
              <a:gd name="connsiteX11-375" fmla="*/ 522686 w 1305333"/>
              <a:gd name="connsiteY11-376" fmla="*/ 1384922 h 1424419"/>
              <a:gd name="connsiteX12-377" fmla="*/ 80344 w 1305333"/>
              <a:gd name="connsiteY12-378" fmla="*/ 1139323 h 1424419"/>
              <a:gd name="connsiteX13-379" fmla="*/ 68397 w 1305333"/>
              <a:gd name="connsiteY13-380" fmla="*/ 1130059 h 1424419"/>
              <a:gd name="connsiteX14-381" fmla="*/ 667 w 1305333"/>
              <a:gd name="connsiteY14-382" fmla="*/ 999105 h 1424419"/>
              <a:gd name="connsiteX15-383" fmla="*/ 0 w 1305333"/>
              <a:gd name="connsiteY15-384" fmla="*/ 972364 h 1424419"/>
              <a:gd name="connsiteX16-385" fmla="*/ 2496 w 1305333"/>
              <a:gd name="connsiteY16-386" fmla="*/ 463106 h 1424419"/>
              <a:gd name="connsiteX17-387" fmla="*/ 2458 w 1305333"/>
              <a:gd name="connsiteY17-388" fmla="*/ 429563 h 1424419"/>
              <a:gd name="connsiteX18-389" fmla="*/ 75248 w 1305333"/>
              <a:gd name="connsiteY18-390" fmla="*/ 303202 h 1424419"/>
              <a:gd name="connsiteX19-391" fmla="*/ 106293 w 1305333"/>
              <a:gd name="connsiteY19-392" fmla="*/ 282597 h 1424419"/>
              <a:gd name="connsiteX20-393" fmla="*/ 541533 w 1305333"/>
              <a:gd name="connsiteY20-394" fmla="*/ 38110 h 1424419"/>
              <a:gd name="connsiteX21-395" fmla="*/ 653528 w 1305333"/>
              <a:gd name="connsiteY21-396" fmla="*/ 0 h 1424419"/>
              <a:gd name="connsiteX0-397" fmla="*/ 653528 w 1305333"/>
              <a:gd name="connsiteY0-398" fmla="*/ 0 h 1424419"/>
              <a:gd name="connsiteX1-399" fmla="*/ 757287 w 1305333"/>
              <a:gd name="connsiteY1-400" fmla="*/ 32444 h 1424419"/>
              <a:gd name="connsiteX2-401" fmla="*/ 1206876 w 1305333"/>
              <a:gd name="connsiteY2-402" fmla="*/ 284945 h 1424419"/>
              <a:gd name="connsiteX3-403" fmla="*/ 1237706 w 1305333"/>
              <a:gd name="connsiteY3-404" fmla="*/ 306775 h 1424419"/>
              <a:gd name="connsiteX4-405" fmla="*/ 1301712 w 1305333"/>
              <a:gd name="connsiteY4-406" fmla="*/ 442384 h 1424419"/>
              <a:gd name="connsiteX5-407" fmla="*/ 1303099 w 1305333"/>
              <a:gd name="connsiteY5-408" fmla="*/ 495558 h 1424419"/>
              <a:gd name="connsiteX6-409" fmla="*/ 1303099 w 1305333"/>
              <a:gd name="connsiteY6-410" fmla="*/ 952393 h 1424419"/>
              <a:gd name="connsiteX7-411" fmla="*/ 1305306 w 1305333"/>
              <a:gd name="connsiteY7-412" fmla="*/ 990115 h 1424419"/>
              <a:gd name="connsiteX8-413" fmla="*/ 1193590 w 1305333"/>
              <a:gd name="connsiteY8-414" fmla="*/ 1159518 h 1424419"/>
              <a:gd name="connsiteX9-415" fmla="*/ 1172881 w 1305333"/>
              <a:gd name="connsiteY9-416" fmla="*/ 1179342 h 1424419"/>
              <a:gd name="connsiteX10-417" fmla="*/ 792288 w 1305333"/>
              <a:gd name="connsiteY10-418" fmla="*/ 1385653 h 1424419"/>
              <a:gd name="connsiteX11-419" fmla="*/ 522686 w 1305333"/>
              <a:gd name="connsiteY11-420" fmla="*/ 1384922 h 1424419"/>
              <a:gd name="connsiteX12-421" fmla="*/ 80344 w 1305333"/>
              <a:gd name="connsiteY12-422" fmla="*/ 1139323 h 1424419"/>
              <a:gd name="connsiteX13-423" fmla="*/ 68397 w 1305333"/>
              <a:gd name="connsiteY13-424" fmla="*/ 1130059 h 1424419"/>
              <a:gd name="connsiteX14-425" fmla="*/ 667 w 1305333"/>
              <a:gd name="connsiteY14-426" fmla="*/ 999105 h 1424419"/>
              <a:gd name="connsiteX15-427" fmla="*/ 0 w 1305333"/>
              <a:gd name="connsiteY15-428" fmla="*/ 972364 h 1424419"/>
              <a:gd name="connsiteX16-429" fmla="*/ 2496 w 1305333"/>
              <a:gd name="connsiteY16-430" fmla="*/ 463106 h 1424419"/>
              <a:gd name="connsiteX17-431" fmla="*/ 2458 w 1305333"/>
              <a:gd name="connsiteY17-432" fmla="*/ 429563 h 1424419"/>
              <a:gd name="connsiteX18-433" fmla="*/ 75248 w 1305333"/>
              <a:gd name="connsiteY18-434" fmla="*/ 303202 h 1424419"/>
              <a:gd name="connsiteX19-435" fmla="*/ 106293 w 1305333"/>
              <a:gd name="connsiteY19-436" fmla="*/ 282597 h 1424419"/>
              <a:gd name="connsiteX20-437" fmla="*/ 541533 w 1305333"/>
              <a:gd name="connsiteY20-438" fmla="*/ 38110 h 1424419"/>
              <a:gd name="connsiteX21-439" fmla="*/ 653528 w 1305333"/>
              <a:gd name="connsiteY21-440" fmla="*/ 0 h 1424419"/>
              <a:gd name="connsiteX0-441" fmla="*/ 653528 w 1305333"/>
              <a:gd name="connsiteY0-442" fmla="*/ 0 h 1424419"/>
              <a:gd name="connsiteX1-443" fmla="*/ 757287 w 1305333"/>
              <a:gd name="connsiteY1-444" fmla="*/ 32444 h 1424419"/>
              <a:gd name="connsiteX2-445" fmla="*/ 1206876 w 1305333"/>
              <a:gd name="connsiteY2-446" fmla="*/ 284945 h 1424419"/>
              <a:gd name="connsiteX3-447" fmla="*/ 1237706 w 1305333"/>
              <a:gd name="connsiteY3-448" fmla="*/ 306775 h 1424419"/>
              <a:gd name="connsiteX4-449" fmla="*/ 1301712 w 1305333"/>
              <a:gd name="connsiteY4-450" fmla="*/ 442384 h 1424419"/>
              <a:gd name="connsiteX5-451" fmla="*/ 1303099 w 1305333"/>
              <a:gd name="connsiteY5-452" fmla="*/ 495558 h 1424419"/>
              <a:gd name="connsiteX6-453" fmla="*/ 1303099 w 1305333"/>
              <a:gd name="connsiteY6-454" fmla="*/ 952393 h 1424419"/>
              <a:gd name="connsiteX7-455" fmla="*/ 1305306 w 1305333"/>
              <a:gd name="connsiteY7-456" fmla="*/ 990115 h 1424419"/>
              <a:gd name="connsiteX8-457" fmla="*/ 1211970 w 1305333"/>
              <a:gd name="connsiteY8-458" fmla="*/ 1149621 h 1424419"/>
              <a:gd name="connsiteX9-459" fmla="*/ 1172881 w 1305333"/>
              <a:gd name="connsiteY9-460" fmla="*/ 1179342 h 1424419"/>
              <a:gd name="connsiteX10-461" fmla="*/ 792288 w 1305333"/>
              <a:gd name="connsiteY10-462" fmla="*/ 1385653 h 1424419"/>
              <a:gd name="connsiteX11-463" fmla="*/ 522686 w 1305333"/>
              <a:gd name="connsiteY11-464" fmla="*/ 1384922 h 1424419"/>
              <a:gd name="connsiteX12-465" fmla="*/ 80344 w 1305333"/>
              <a:gd name="connsiteY12-466" fmla="*/ 1139323 h 1424419"/>
              <a:gd name="connsiteX13-467" fmla="*/ 68397 w 1305333"/>
              <a:gd name="connsiteY13-468" fmla="*/ 1130059 h 1424419"/>
              <a:gd name="connsiteX14-469" fmla="*/ 667 w 1305333"/>
              <a:gd name="connsiteY14-470" fmla="*/ 999105 h 1424419"/>
              <a:gd name="connsiteX15-471" fmla="*/ 0 w 1305333"/>
              <a:gd name="connsiteY15-472" fmla="*/ 972364 h 1424419"/>
              <a:gd name="connsiteX16-473" fmla="*/ 2496 w 1305333"/>
              <a:gd name="connsiteY16-474" fmla="*/ 463106 h 1424419"/>
              <a:gd name="connsiteX17-475" fmla="*/ 2458 w 1305333"/>
              <a:gd name="connsiteY17-476" fmla="*/ 429563 h 1424419"/>
              <a:gd name="connsiteX18-477" fmla="*/ 75248 w 1305333"/>
              <a:gd name="connsiteY18-478" fmla="*/ 303202 h 1424419"/>
              <a:gd name="connsiteX19-479" fmla="*/ 106293 w 1305333"/>
              <a:gd name="connsiteY19-480" fmla="*/ 282597 h 1424419"/>
              <a:gd name="connsiteX20-481" fmla="*/ 541533 w 1305333"/>
              <a:gd name="connsiteY20-482" fmla="*/ 38110 h 1424419"/>
              <a:gd name="connsiteX21-483" fmla="*/ 653528 w 1305333"/>
              <a:gd name="connsiteY21-484" fmla="*/ 0 h 1424419"/>
              <a:gd name="connsiteX0-485" fmla="*/ 653528 w 1305333"/>
              <a:gd name="connsiteY0-486" fmla="*/ 0 h 1424419"/>
              <a:gd name="connsiteX1-487" fmla="*/ 757287 w 1305333"/>
              <a:gd name="connsiteY1-488" fmla="*/ 32444 h 1424419"/>
              <a:gd name="connsiteX2-489" fmla="*/ 1206876 w 1305333"/>
              <a:gd name="connsiteY2-490" fmla="*/ 284945 h 1424419"/>
              <a:gd name="connsiteX3-491" fmla="*/ 1237706 w 1305333"/>
              <a:gd name="connsiteY3-492" fmla="*/ 306775 h 1424419"/>
              <a:gd name="connsiteX4-493" fmla="*/ 1301712 w 1305333"/>
              <a:gd name="connsiteY4-494" fmla="*/ 442384 h 1424419"/>
              <a:gd name="connsiteX5-495" fmla="*/ 1303099 w 1305333"/>
              <a:gd name="connsiteY5-496" fmla="*/ 495558 h 1424419"/>
              <a:gd name="connsiteX6-497" fmla="*/ 1303099 w 1305333"/>
              <a:gd name="connsiteY6-498" fmla="*/ 952393 h 1424419"/>
              <a:gd name="connsiteX7-499" fmla="*/ 1305306 w 1305333"/>
              <a:gd name="connsiteY7-500" fmla="*/ 990115 h 1424419"/>
              <a:gd name="connsiteX8-501" fmla="*/ 1236006 w 1305333"/>
              <a:gd name="connsiteY8-502" fmla="*/ 1160932 h 1424419"/>
              <a:gd name="connsiteX9-503" fmla="*/ 1172881 w 1305333"/>
              <a:gd name="connsiteY9-504" fmla="*/ 1179342 h 1424419"/>
              <a:gd name="connsiteX10-505" fmla="*/ 792288 w 1305333"/>
              <a:gd name="connsiteY10-506" fmla="*/ 1385653 h 1424419"/>
              <a:gd name="connsiteX11-507" fmla="*/ 522686 w 1305333"/>
              <a:gd name="connsiteY11-508" fmla="*/ 1384922 h 1424419"/>
              <a:gd name="connsiteX12-509" fmla="*/ 80344 w 1305333"/>
              <a:gd name="connsiteY12-510" fmla="*/ 1139323 h 1424419"/>
              <a:gd name="connsiteX13-511" fmla="*/ 68397 w 1305333"/>
              <a:gd name="connsiteY13-512" fmla="*/ 1130059 h 1424419"/>
              <a:gd name="connsiteX14-513" fmla="*/ 667 w 1305333"/>
              <a:gd name="connsiteY14-514" fmla="*/ 999105 h 1424419"/>
              <a:gd name="connsiteX15-515" fmla="*/ 0 w 1305333"/>
              <a:gd name="connsiteY15-516" fmla="*/ 972364 h 1424419"/>
              <a:gd name="connsiteX16-517" fmla="*/ 2496 w 1305333"/>
              <a:gd name="connsiteY16-518" fmla="*/ 463106 h 1424419"/>
              <a:gd name="connsiteX17-519" fmla="*/ 2458 w 1305333"/>
              <a:gd name="connsiteY17-520" fmla="*/ 429563 h 1424419"/>
              <a:gd name="connsiteX18-521" fmla="*/ 75248 w 1305333"/>
              <a:gd name="connsiteY18-522" fmla="*/ 303202 h 1424419"/>
              <a:gd name="connsiteX19-523" fmla="*/ 106293 w 1305333"/>
              <a:gd name="connsiteY19-524" fmla="*/ 282597 h 1424419"/>
              <a:gd name="connsiteX20-525" fmla="*/ 541533 w 1305333"/>
              <a:gd name="connsiteY20-526" fmla="*/ 38110 h 1424419"/>
              <a:gd name="connsiteX21-527" fmla="*/ 653528 w 1305333"/>
              <a:gd name="connsiteY21-528" fmla="*/ 0 h 1424419"/>
              <a:gd name="connsiteX0-529" fmla="*/ 653528 w 1313169"/>
              <a:gd name="connsiteY0-530" fmla="*/ 0 h 1424419"/>
              <a:gd name="connsiteX1-531" fmla="*/ 757287 w 1313169"/>
              <a:gd name="connsiteY1-532" fmla="*/ 32444 h 1424419"/>
              <a:gd name="connsiteX2-533" fmla="*/ 1206876 w 1313169"/>
              <a:gd name="connsiteY2-534" fmla="*/ 284945 h 1424419"/>
              <a:gd name="connsiteX3-535" fmla="*/ 1237706 w 1313169"/>
              <a:gd name="connsiteY3-536" fmla="*/ 306775 h 1424419"/>
              <a:gd name="connsiteX4-537" fmla="*/ 1301712 w 1313169"/>
              <a:gd name="connsiteY4-538" fmla="*/ 442384 h 1424419"/>
              <a:gd name="connsiteX5-539" fmla="*/ 1303099 w 1313169"/>
              <a:gd name="connsiteY5-540" fmla="*/ 495558 h 1424419"/>
              <a:gd name="connsiteX6-541" fmla="*/ 1303099 w 1313169"/>
              <a:gd name="connsiteY6-542" fmla="*/ 952393 h 1424419"/>
              <a:gd name="connsiteX7-543" fmla="*/ 1305306 w 1313169"/>
              <a:gd name="connsiteY7-544" fmla="*/ 990115 h 1424419"/>
              <a:gd name="connsiteX8-545" fmla="*/ 1271352 w 1313169"/>
              <a:gd name="connsiteY8-546" fmla="*/ 1142552 h 1424419"/>
              <a:gd name="connsiteX9-547" fmla="*/ 1172881 w 1313169"/>
              <a:gd name="connsiteY9-548" fmla="*/ 1179342 h 1424419"/>
              <a:gd name="connsiteX10-549" fmla="*/ 792288 w 1313169"/>
              <a:gd name="connsiteY10-550" fmla="*/ 1385653 h 1424419"/>
              <a:gd name="connsiteX11-551" fmla="*/ 522686 w 1313169"/>
              <a:gd name="connsiteY11-552" fmla="*/ 1384922 h 1424419"/>
              <a:gd name="connsiteX12-553" fmla="*/ 80344 w 1313169"/>
              <a:gd name="connsiteY12-554" fmla="*/ 1139323 h 1424419"/>
              <a:gd name="connsiteX13-555" fmla="*/ 68397 w 1313169"/>
              <a:gd name="connsiteY13-556" fmla="*/ 1130059 h 1424419"/>
              <a:gd name="connsiteX14-557" fmla="*/ 667 w 1313169"/>
              <a:gd name="connsiteY14-558" fmla="*/ 999105 h 1424419"/>
              <a:gd name="connsiteX15-559" fmla="*/ 0 w 1313169"/>
              <a:gd name="connsiteY15-560" fmla="*/ 972364 h 1424419"/>
              <a:gd name="connsiteX16-561" fmla="*/ 2496 w 1313169"/>
              <a:gd name="connsiteY16-562" fmla="*/ 463106 h 1424419"/>
              <a:gd name="connsiteX17-563" fmla="*/ 2458 w 1313169"/>
              <a:gd name="connsiteY17-564" fmla="*/ 429563 h 1424419"/>
              <a:gd name="connsiteX18-565" fmla="*/ 75248 w 1313169"/>
              <a:gd name="connsiteY18-566" fmla="*/ 303202 h 1424419"/>
              <a:gd name="connsiteX19-567" fmla="*/ 106293 w 1313169"/>
              <a:gd name="connsiteY19-568" fmla="*/ 282597 h 1424419"/>
              <a:gd name="connsiteX20-569" fmla="*/ 541533 w 1313169"/>
              <a:gd name="connsiteY20-570" fmla="*/ 38110 h 1424419"/>
              <a:gd name="connsiteX21-571" fmla="*/ 653528 w 1313169"/>
              <a:gd name="connsiteY21-572" fmla="*/ 0 h 1424419"/>
              <a:gd name="connsiteX0-573" fmla="*/ 653528 w 1306267"/>
              <a:gd name="connsiteY0-574" fmla="*/ 0 h 1424419"/>
              <a:gd name="connsiteX1-575" fmla="*/ 757287 w 1306267"/>
              <a:gd name="connsiteY1-576" fmla="*/ 32444 h 1424419"/>
              <a:gd name="connsiteX2-577" fmla="*/ 1206876 w 1306267"/>
              <a:gd name="connsiteY2-578" fmla="*/ 284945 h 1424419"/>
              <a:gd name="connsiteX3-579" fmla="*/ 1237706 w 1306267"/>
              <a:gd name="connsiteY3-580" fmla="*/ 306775 h 1424419"/>
              <a:gd name="connsiteX4-581" fmla="*/ 1301712 w 1306267"/>
              <a:gd name="connsiteY4-582" fmla="*/ 442384 h 1424419"/>
              <a:gd name="connsiteX5-583" fmla="*/ 1303099 w 1306267"/>
              <a:gd name="connsiteY5-584" fmla="*/ 495558 h 1424419"/>
              <a:gd name="connsiteX6-585" fmla="*/ 1303099 w 1306267"/>
              <a:gd name="connsiteY6-586" fmla="*/ 952393 h 1424419"/>
              <a:gd name="connsiteX7-587" fmla="*/ 1305306 w 1306267"/>
              <a:gd name="connsiteY7-588" fmla="*/ 990115 h 1424419"/>
              <a:gd name="connsiteX8-589" fmla="*/ 1255800 w 1306267"/>
              <a:gd name="connsiteY8-590" fmla="*/ 1142552 h 1424419"/>
              <a:gd name="connsiteX9-591" fmla="*/ 1172881 w 1306267"/>
              <a:gd name="connsiteY9-592" fmla="*/ 1179342 h 1424419"/>
              <a:gd name="connsiteX10-593" fmla="*/ 792288 w 1306267"/>
              <a:gd name="connsiteY10-594" fmla="*/ 1385653 h 1424419"/>
              <a:gd name="connsiteX11-595" fmla="*/ 522686 w 1306267"/>
              <a:gd name="connsiteY11-596" fmla="*/ 1384922 h 1424419"/>
              <a:gd name="connsiteX12-597" fmla="*/ 80344 w 1306267"/>
              <a:gd name="connsiteY12-598" fmla="*/ 1139323 h 1424419"/>
              <a:gd name="connsiteX13-599" fmla="*/ 68397 w 1306267"/>
              <a:gd name="connsiteY13-600" fmla="*/ 1130059 h 1424419"/>
              <a:gd name="connsiteX14-601" fmla="*/ 667 w 1306267"/>
              <a:gd name="connsiteY14-602" fmla="*/ 999105 h 1424419"/>
              <a:gd name="connsiteX15-603" fmla="*/ 0 w 1306267"/>
              <a:gd name="connsiteY15-604" fmla="*/ 972364 h 1424419"/>
              <a:gd name="connsiteX16-605" fmla="*/ 2496 w 1306267"/>
              <a:gd name="connsiteY16-606" fmla="*/ 463106 h 1424419"/>
              <a:gd name="connsiteX17-607" fmla="*/ 2458 w 1306267"/>
              <a:gd name="connsiteY17-608" fmla="*/ 429563 h 1424419"/>
              <a:gd name="connsiteX18-609" fmla="*/ 75248 w 1306267"/>
              <a:gd name="connsiteY18-610" fmla="*/ 303202 h 1424419"/>
              <a:gd name="connsiteX19-611" fmla="*/ 106293 w 1306267"/>
              <a:gd name="connsiteY19-612" fmla="*/ 282597 h 1424419"/>
              <a:gd name="connsiteX20-613" fmla="*/ 541533 w 1306267"/>
              <a:gd name="connsiteY20-614" fmla="*/ 38110 h 1424419"/>
              <a:gd name="connsiteX21-615" fmla="*/ 653528 w 1306267"/>
              <a:gd name="connsiteY21-616" fmla="*/ 0 h 1424419"/>
              <a:gd name="connsiteX0-617" fmla="*/ 653528 w 1306267"/>
              <a:gd name="connsiteY0-618" fmla="*/ 0 h 1424419"/>
              <a:gd name="connsiteX1-619" fmla="*/ 757287 w 1306267"/>
              <a:gd name="connsiteY1-620" fmla="*/ 32444 h 1424419"/>
              <a:gd name="connsiteX2-621" fmla="*/ 1206876 w 1306267"/>
              <a:gd name="connsiteY2-622" fmla="*/ 284945 h 1424419"/>
              <a:gd name="connsiteX3-623" fmla="*/ 1237706 w 1306267"/>
              <a:gd name="connsiteY3-624" fmla="*/ 306775 h 1424419"/>
              <a:gd name="connsiteX4-625" fmla="*/ 1301712 w 1306267"/>
              <a:gd name="connsiteY4-626" fmla="*/ 442384 h 1424419"/>
              <a:gd name="connsiteX5-627" fmla="*/ 1303099 w 1306267"/>
              <a:gd name="connsiteY5-628" fmla="*/ 495558 h 1424419"/>
              <a:gd name="connsiteX6-629" fmla="*/ 1303099 w 1306267"/>
              <a:gd name="connsiteY6-630" fmla="*/ 952393 h 1424419"/>
              <a:gd name="connsiteX7-631" fmla="*/ 1305306 w 1306267"/>
              <a:gd name="connsiteY7-632" fmla="*/ 990115 h 1424419"/>
              <a:gd name="connsiteX8-633" fmla="*/ 1255800 w 1306267"/>
              <a:gd name="connsiteY8-634" fmla="*/ 1142552 h 1424419"/>
              <a:gd name="connsiteX9-635" fmla="*/ 1172881 w 1306267"/>
              <a:gd name="connsiteY9-636" fmla="*/ 1179342 h 1424419"/>
              <a:gd name="connsiteX10-637" fmla="*/ 792288 w 1306267"/>
              <a:gd name="connsiteY10-638" fmla="*/ 1385653 h 1424419"/>
              <a:gd name="connsiteX11-639" fmla="*/ 522686 w 1306267"/>
              <a:gd name="connsiteY11-640" fmla="*/ 1384922 h 1424419"/>
              <a:gd name="connsiteX12-641" fmla="*/ 80344 w 1306267"/>
              <a:gd name="connsiteY12-642" fmla="*/ 1139323 h 1424419"/>
              <a:gd name="connsiteX13-643" fmla="*/ 61328 w 1306267"/>
              <a:gd name="connsiteY13-644" fmla="*/ 1127231 h 1424419"/>
              <a:gd name="connsiteX14-645" fmla="*/ 667 w 1306267"/>
              <a:gd name="connsiteY14-646" fmla="*/ 999105 h 1424419"/>
              <a:gd name="connsiteX15-647" fmla="*/ 0 w 1306267"/>
              <a:gd name="connsiteY15-648" fmla="*/ 972364 h 1424419"/>
              <a:gd name="connsiteX16-649" fmla="*/ 2496 w 1306267"/>
              <a:gd name="connsiteY16-650" fmla="*/ 463106 h 1424419"/>
              <a:gd name="connsiteX17-651" fmla="*/ 2458 w 1306267"/>
              <a:gd name="connsiteY17-652" fmla="*/ 429563 h 1424419"/>
              <a:gd name="connsiteX18-653" fmla="*/ 75248 w 1306267"/>
              <a:gd name="connsiteY18-654" fmla="*/ 303202 h 1424419"/>
              <a:gd name="connsiteX19-655" fmla="*/ 106293 w 1306267"/>
              <a:gd name="connsiteY19-656" fmla="*/ 282597 h 1424419"/>
              <a:gd name="connsiteX20-657" fmla="*/ 541533 w 1306267"/>
              <a:gd name="connsiteY20-658" fmla="*/ 38110 h 1424419"/>
              <a:gd name="connsiteX21-659" fmla="*/ 653528 w 1306267"/>
              <a:gd name="connsiteY21-660" fmla="*/ 0 h 1424419"/>
              <a:gd name="connsiteX0-661" fmla="*/ 653528 w 1306267"/>
              <a:gd name="connsiteY0-662" fmla="*/ 0 h 1424419"/>
              <a:gd name="connsiteX1-663" fmla="*/ 757287 w 1306267"/>
              <a:gd name="connsiteY1-664" fmla="*/ 32444 h 1424419"/>
              <a:gd name="connsiteX2-665" fmla="*/ 1206876 w 1306267"/>
              <a:gd name="connsiteY2-666" fmla="*/ 284945 h 1424419"/>
              <a:gd name="connsiteX3-667" fmla="*/ 1237706 w 1306267"/>
              <a:gd name="connsiteY3-668" fmla="*/ 306775 h 1424419"/>
              <a:gd name="connsiteX4-669" fmla="*/ 1301712 w 1306267"/>
              <a:gd name="connsiteY4-670" fmla="*/ 442384 h 1424419"/>
              <a:gd name="connsiteX5-671" fmla="*/ 1303099 w 1306267"/>
              <a:gd name="connsiteY5-672" fmla="*/ 495558 h 1424419"/>
              <a:gd name="connsiteX6-673" fmla="*/ 1303099 w 1306267"/>
              <a:gd name="connsiteY6-674" fmla="*/ 952393 h 1424419"/>
              <a:gd name="connsiteX7-675" fmla="*/ 1305306 w 1306267"/>
              <a:gd name="connsiteY7-676" fmla="*/ 990115 h 1424419"/>
              <a:gd name="connsiteX8-677" fmla="*/ 1255800 w 1306267"/>
              <a:gd name="connsiteY8-678" fmla="*/ 1142552 h 1424419"/>
              <a:gd name="connsiteX9-679" fmla="*/ 1172881 w 1306267"/>
              <a:gd name="connsiteY9-680" fmla="*/ 1179342 h 1424419"/>
              <a:gd name="connsiteX10-681" fmla="*/ 792288 w 1306267"/>
              <a:gd name="connsiteY10-682" fmla="*/ 1385653 h 1424419"/>
              <a:gd name="connsiteX11-683" fmla="*/ 522686 w 1306267"/>
              <a:gd name="connsiteY11-684" fmla="*/ 1384922 h 1424419"/>
              <a:gd name="connsiteX12-685" fmla="*/ 80344 w 1306267"/>
              <a:gd name="connsiteY12-686" fmla="*/ 1139323 h 1424419"/>
              <a:gd name="connsiteX13-687" fmla="*/ 61328 w 1306267"/>
              <a:gd name="connsiteY13-688" fmla="*/ 1127231 h 1424419"/>
              <a:gd name="connsiteX14-689" fmla="*/ 667 w 1306267"/>
              <a:gd name="connsiteY14-690" fmla="*/ 999105 h 1424419"/>
              <a:gd name="connsiteX15-691" fmla="*/ 0 w 1306267"/>
              <a:gd name="connsiteY15-692" fmla="*/ 972364 h 1424419"/>
              <a:gd name="connsiteX16-693" fmla="*/ 2496 w 1306267"/>
              <a:gd name="connsiteY16-694" fmla="*/ 463106 h 1424419"/>
              <a:gd name="connsiteX17-695" fmla="*/ 2458 w 1306267"/>
              <a:gd name="connsiteY17-696" fmla="*/ 429563 h 1424419"/>
              <a:gd name="connsiteX18-697" fmla="*/ 75248 w 1306267"/>
              <a:gd name="connsiteY18-698" fmla="*/ 303202 h 1424419"/>
              <a:gd name="connsiteX19-699" fmla="*/ 106293 w 1306267"/>
              <a:gd name="connsiteY19-700" fmla="*/ 282597 h 1424419"/>
              <a:gd name="connsiteX20-701" fmla="*/ 541533 w 1306267"/>
              <a:gd name="connsiteY20-702" fmla="*/ 38110 h 1424419"/>
              <a:gd name="connsiteX21-703" fmla="*/ 653528 w 1306267"/>
              <a:gd name="connsiteY21-704" fmla="*/ 0 h 1424419"/>
              <a:gd name="connsiteX0-705" fmla="*/ 653528 w 1306267"/>
              <a:gd name="connsiteY0-706" fmla="*/ 0 h 1424419"/>
              <a:gd name="connsiteX1-707" fmla="*/ 757287 w 1306267"/>
              <a:gd name="connsiteY1-708" fmla="*/ 32444 h 1424419"/>
              <a:gd name="connsiteX2-709" fmla="*/ 1206876 w 1306267"/>
              <a:gd name="connsiteY2-710" fmla="*/ 284945 h 1424419"/>
              <a:gd name="connsiteX3-711" fmla="*/ 1237706 w 1306267"/>
              <a:gd name="connsiteY3-712" fmla="*/ 306775 h 1424419"/>
              <a:gd name="connsiteX4-713" fmla="*/ 1301712 w 1306267"/>
              <a:gd name="connsiteY4-714" fmla="*/ 442384 h 1424419"/>
              <a:gd name="connsiteX5-715" fmla="*/ 1303099 w 1306267"/>
              <a:gd name="connsiteY5-716" fmla="*/ 495558 h 1424419"/>
              <a:gd name="connsiteX6-717" fmla="*/ 1303099 w 1306267"/>
              <a:gd name="connsiteY6-718" fmla="*/ 952393 h 1424419"/>
              <a:gd name="connsiteX7-719" fmla="*/ 1305306 w 1306267"/>
              <a:gd name="connsiteY7-720" fmla="*/ 990115 h 1424419"/>
              <a:gd name="connsiteX8-721" fmla="*/ 1255800 w 1306267"/>
              <a:gd name="connsiteY8-722" fmla="*/ 1142552 h 1424419"/>
              <a:gd name="connsiteX9-723" fmla="*/ 1172881 w 1306267"/>
              <a:gd name="connsiteY9-724" fmla="*/ 1179342 h 1424419"/>
              <a:gd name="connsiteX10-725" fmla="*/ 792288 w 1306267"/>
              <a:gd name="connsiteY10-726" fmla="*/ 1385653 h 1424419"/>
              <a:gd name="connsiteX11-727" fmla="*/ 522686 w 1306267"/>
              <a:gd name="connsiteY11-728" fmla="*/ 1384922 h 1424419"/>
              <a:gd name="connsiteX12-729" fmla="*/ 90241 w 1306267"/>
              <a:gd name="connsiteY12-730" fmla="*/ 1150634 h 1424419"/>
              <a:gd name="connsiteX13-731" fmla="*/ 61328 w 1306267"/>
              <a:gd name="connsiteY13-732" fmla="*/ 1127231 h 1424419"/>
              <a:gd name="connsiteX14-733" fmla="*/ 667 w 1306267"/>
              <a:gd name="connsiteY14-734" fmla="*/ 999105 h 1424419"/>
              <a:gd name="connsiteX15-735" fmla="*/ 0 w 1306267"/>
              <a:gd name="connsiteY15-736" fmla="*/ 972364 h 1424419"/>
              <a:gd name="connsiteX16-737" fmla="*/ 2496 w 1306267"/>
              <a:gd name="connsiteY16-738" fmla="*/ 463106 h 1424419"/>
              <a:gd name="connsiteX17-739" fmla="*/ 2458 w 1306267"/>
              <a:gd name="connsiteY17-740" fmla="*/ 429563 h 1424419"/>
              <a:gd name="connsiteX18-741" fmla="*/ 75248 w 1306267"/>
              <a:gd name="connsiteY18-742" fmla="*/ 303202 h 1424419"/>
              <a:gd name="connsiteX19-743" fmla="*/ 106293 w 1306267"/>
              <a:gd name="connsiteY19-744" fmla="*/ 282597 h 1424419"/>
              <a:gd name="connsiteX20-745" fmla="*/ 541533 w 1306267"/>
              <a:gd name="connsiteY20-746" fmla="*/ 38110 h 1424419"/>
              <a:gd name="connsiteX21-747" fmla="*/ 653528 w 1306267"/>
              <a:gd name="connsiteY21-748" fmla="*/ 0 h 1424419"/>
              <a:gd name="connsiteX0-749" fmla="*/ 653528 w 1306267"/>
              <a:gd name="connsiteY0-750" fmla="*/ 0 h 1424419"/>
              <a:gd name="connsiteX1-751" fmla="*/ 757287 w 1306267"/>
              <a:gd name="connsiteY1-752" fmla="*/ 32444 h 1424419"/>
              <a:gd name="connsiteX2-753" fmla="*/ 1206876 w 1306267"/>
              <a:gd name="connsiteY2-754" fmla="*/ 284945 h 1424419"/>
              <a:gd name="connsiteX3-755" fmla="*/ 1237706 w 1306267"/>
              <a:gd name="connsiteY3-756" fmla="*/ 306775 h 1424419"/>
              <a:gd name="connsiteX4-757" fmla="*/ 1301712 w 1306267"/>
              <a:gd name="connsiteY4-758" fmla="*/ 442384 h 1424419"/>
              <a:gd name="connsiteX5-759" fmla="*/ 1303099 w 1306267"/>
              <a:gd name="connsiteY5-760" fmla="*/ 495558 h 1424419"/>
              <a:gd name="connsiteX6-761" fmla="*/ 1303099 w 1306267"/>
              <a:gd name="connsiteY6-762" fmla="*/ 952393 h 1424419"/>
              <a:gd name="connsiteX7-763" fmla="*/ 1305306 w 1306267"/>
              <a:gd name="connsiteY7-764" fmla="*/ 990115 h 1424419"/>
              <a:gd name="connsiteX8-765" fmla="*/ 1255800 w 1306267"/>
              <a:gd name="connsiteY8-766" fmla="*/ 1142552 h 1424419"/>
              <a:gd name="connsiteX9-767" fmla="*/ 1172881 w 1306267"/>
              <a:gd name="connsiteY9-768" fmla="*/ 1179342 h 1424419"/>
              <a:gd name="connsiteX10-769" fmla="*/ 792288 w 1306267"/>
              <a:gd name="connsiteY10-770" fmla="*/ 1385653 h 1424419"/>
              <a:gd name="connsiteX11-771" fmla="*/ 522686 w 1306267"/>
              <a:gd name="connsiteY11-772" fmla="*/ 1384922 h 1424419"/>
              <a:gd name="connsiteX12-773" fmla="*/ 90241 w 1306267"/>
              <a:gd name="connsiteY12-774" fmla="*/ 1150634 h 1424419"/>
              <a:gd name="connsiteX13-775" fmla="*/ 61328 w 1306267"/>
              <a:gd name="connsiteY13-776" fmla="*/ 1127231 h 1424419"/>
              <a:gd name="connsiteX14-777" fmla="*/ 667 w 1306267"/>
              <a:gd name="connsiteY14-778" fmla="*/ 999105 h 1424419"/>
              <a:gd name="connsiteX15-779" fmla="*/ 0 w 1306267"/>
              <a:gd name="connsiteY15-780" fmla="*/ 972364 h 1424419"/>
              <a:gd name="connsiteX16-781" fmla="*/ 2496 w 1306267"/>
              <a:gd name="connsiteY16-782" fmla="*/ 463106 h 1424419"/>
              <a:gd name="connsiteX17-783" fmla="*/ 2458 w 1306267"/>
              <a:gd name="connsiteY17-784" fmla="*/ 429563 h 1424419"/>
              <a:gd name="connsiteX18-785" fmla="*/ 75248 w 1306267"/>
              <a:gd name="connsiteY18-786" fmla="*/ 303202 h 1424419"/>
              <a:gd name="connsiteX19-787" fmla="*/ 106293 w 1306267"/>
              <a:gd name="connsiteY19-788" fmla="*/ 282597 h 1424419"/>
              <a:gd name="connsiteX20-789" fmla="*/ 541533 w 1306267"/>
              <a:gd name="connsiteY20-790" fmla="*/ 38110 h 1424419"/>
              <a:gd name="connsiteX21-791" fmla="*/ 653528 w 1306267"/>
              <a:gd name="connsiteY21-792" fmla="*/ 0 h 1424419"/>
              <a:gd name="connsiteX0-793" fmla="*/ 653528 w 1306267"/>
              <a:gd name="connsiteY0-794" fmla="*/ 0 h 1424419"/>
              <a:gd name="connsiteX1-795" fmla="*/ 757287 w 1306267"/>
              <a:gd name="connsiteY1-796" fmla="*/ 32444 h 1424419"/>
              <a:gd name="connsiteX2-797" fmla="*/ 1206876 w 1306267"/>
              <a:gd name="connsiteY2-798" fmla="*/ 284945 h 1424419"/>
              <a:gd name="connsiteX3-799" fmla="*/ 1237706 w 1306267"/>
              <a:gd name="connsiteY3-800" fmla="*/ 306775 h 1424419"/>
              <a:gd name="connsiteX4-801" fmla="*/ 1301712 w 1306267"/>
              <a:gd name="connsiteY4-802" fmla="*/ 442384 h 1424419"/>
              <a:gd name="connsiteX5-803" fmla="*/ 1303099 w 1306267"/>
              <a:gd name="connsiteY5-804" fmla="*/ 495558 h 1424419"/>
              <a:gd name="connsiteX6-805" fmla="*/ 1303099 w 1306267"/>
              <a:gd name="connsiteY6-806" fmla="*/ 952393 h 1424419"/>
              <a:gd name="connsiteX7-807" fmla="*/ 1305306 w 1306267"/>
              <a:gd name="connsiteY7-808" fmla="*/ 990115 h 1424419"/>
              <a:gd name="connsiteX8-809" fmla="*/ 1255800 w 1306267"/>
              <a:gd name="connsiteY8-810" fmla="*/ 1142552 h 1424419"/>
              <a:gd name="connsiteX9-811" fmla="*/ 1172881 w 1306267"/>
              <a:gd name="connsiteY9-812" fmla="*/ 1179342 h 1424419"/>
              <a:gd name="connsiteX10-813" fmla="*/ 792288 w 1306267"/>
              <a:gd name="connsiteY10-814" fmla="*/ 1385653 h 1424419"/>
              <a:gd name="connsiteX11-815" fmla="*/ 522686 w 1306267"/>
              <a:gd name="connsiteY11-816" fmla="*/ 1384922 h 1424419"/>
              <a:gd name="connsiteX12-817" fmla="*/ 90241 w 1306267"/>
              <a:gd name="connsiteY12-818" fmla="*/ 1150634 h 1424419"/>
              <a:gd name="connsiteX13-819" fmla="*/ 61328 w 1306267"/>
              <a:gd name="connsiteY13-820" fmla="*/ 1127231 h 1424419"/>
              <a:gd name="connsiteX14-821" fmla="*/ 667 w 1306267"/>
              <a:gd name="connsiteY14-822" fmla="*/ 999105 h 1424419"/>
              <a:gd name="connsiteX15-823" fmla="*/ 0 w 1306267"/>
              <a:gd name="connsiteY15-824" fmla="*/ 972364 h 1424419"/>
              <a:gd name="connsiteX16-825" fmla="*/ 2496 w 1306267"/>
              <a:gd name="connsiteY16-826" fmla="*/ 463106 h 1424419"/>
              <a:gd name="connsiteX17-827" fmla="*/ 2458 w 1306267"/>
              <a:gd name="connsiteY17-828" fmla="*/ 429563 h 1424419"/>
              <a:gd name="connsiteX18-829" fmla="*/ 75248 w 1306267"/>
              <a:gd name="connsiteY18-830" fmla="*/ 303202 h 1424419"/>
              <a:gd name="connsiteX19-831" fmla="*/ 106293 w 1306267"/>
              <a:gd name="connsiteY19-832" fmla="*/ 282597 h 1424419"/>
              <a:gd name="connsiteX20-833" fmla="*/ 541533 w 1306267"/>
              <a:gd name="connsiteY20-834" fmla="*/ 38110 h 1424419"/>
              <a:gd name="connsiteX21-835" fmla="*/ 653528 w 1306267"/>
              <a:gd name="connsiteY21-836" fmla="*/ 0 h 1424419"/>
              <a:gd name="connsiteX0-837" fmla="*/ 653528 w 1306267"/>
              <a:gd name="connsiteY0-838" fmla="*/ 0 h 1424419"/>
              <a:gd name="connsiteX1-839" fmla="*/ 757287 w 1306267"/>
              <a:gd name="connsiteY1-840" fmla="*/ 32444 h 1424419"/>
              <a:gd name="connsiteX2-841" fmla="*/ 1206876 w 1306267"/>
              <a:gd name="connsiteY2-842" fmla="*/ 284945 h 1424419"/>
              <a:gd name="connsiteX3-843" fmla="*/ 1237706 w 1306267"/>
              <a:gd name="connsiteY3-844" fmla="*/ 306775 h 1424419"/>
              <a:gd name="connsiteX4-845" fmla="*/ 1301712 w 1306267"/>
              <a:gd name="connsiteY4-846" fmla="*/ 442384 h 1424419"/>
              <a:gd name="connsiteX5-847" fmla="*/ 1303099 w 1306267"/>
              <a:gd name="connsiteY5-848" fmla="*/ 495558 h 1424419"/>
              <a:gd name="connsiteX6-849" fmla="*/ 1303099 w 1306267"/>
              <a:gd name="connsiteY6-850" fmla="*/ 952393 h 1424419"/>
              <a:gd name="connsiteX7-851" fmla="*/ 1305306 w 1306267"/>
              <a:gd name="connsiteY7-852" fmla="*/ 990115 h 1424419"/>
              <a:gd name="connsiteX8-853" fmla="*/ 1255800 w 1306267"/>
              <a:gd name="connsiteY8-854" fmla="*/ 1142552 h 1424419"/>
              <a:gd name="connsiteX9-855" fmla="*/ 1172881 w 1306267"/>
              <a:gd name="connsiteY9-856" fmla="*/ 1179342 h 1424419"/>
              <a:gd name="connsiteX10-857" fmla="*/ 792288 w 1306267"/>
              <a:gd name="connsiteY10-858" fmla="*/ 1385653 h 1424419"/>
              <a:gd name="connsiteX11-859" fmla="*/ 522686 w 1306267"/>
              <a:gd name="connsiteY11-860" fmla="*/ 1384922 h 1424419"/>
              <a:gd name="connsiteX12-861" fmla="*/ 90241 w 1306267"/>
              <a:gd name="connsiteY12-862" fmla="*/ 1150634 h 1424419"/>
              <a:gd name="connsiteX13-863" fmla="*/ 61328 w 1306267"/>
              <a:gd name="connsiteY13-864" fmla="*/ 1127231 h 1424419"/>
              <a:gd name="connsiteX14-865" fmla="*/ 667 w 1306267"/>
              <a:gd name="connsiteY14-866" fmla="*/ 999105 h 1424419"/>
              <a:gd name="connsiteX15-867" fmla="*/ 0 w 1306267"/>
              <a:gd name="connsiteY15-868" fmla="*/ 972364 h 1424419"/>
              <a:gd name="connsiteX16-869" fmla="*/ 2496 w 1306267"/>
              <a:gd name="connsiteY16-870" fmla="*/ 463106 h 1424419"/>
              <a:gd name="connsiteX17-871" fmla="*/ 2458 w 1306267"/>
              <a:gd name="connsiteY17-872" fmla="*/ 429563 h 1424419"/>
              <a:gd name="connsiteX18-873" fmla="*/ 75248 w 1306267"/>
              <a:gd name="connsiteY18-874" fmla="*/ 303202 h 1424419"/>
              <a:gd name="connsiteX19-875" fmla="*/ 106293 w 1306267"/>
              <a:gd name="connsiteY19-876" fmla="*/ 282597 h 1424419"/>
              <a:gd name="connsiteX20-877" fmla="*/ 541533 w 1306267"/>
              <a:gd name="connsiteY20-878" fmla="*/ 38110 h 1424419"/>
              <a:gd name="connsiteX21-879" fmla="*/ 653528 w 1306267"/>
              <a:gd name="connsiteY21-880" fmla="*/ 0 h 1424419"/>
              <a:gd name="connsiteX0-881" fmla="*/ 653528 w 1306267"/>
              <a:gd name="connsiteY0-882" fmla="*/ 0 h 1424419"/>
              <a:gd name="connsiteX1-883" fmla="*/ 757287 w 1306267"/>
              <a:gd name="connsiteY1-884" fmla="*/ 32444 h 1424419"/>
              <a:gd name="connsiteX2-885" fmla="*/ 1206876 w 1306267"/>
              <a:gd name="connsiteY2-886" fmla="*/ 284945 h 1424419"/>
              <a:gd name="connsiteX3-887" fmla="*/ 1237706 w 1306267"/>
              <a:gd name="connsiteY3-888" fmla="*/ 306775 h 1424419"/>
              <a:gd name="connsiteX4-889" fmla="*/ 1301712 w 1306267"/>
              <a:gd name="connsiteY4-890" fmla="*/ 442384 h 1424419"/>
              <a:gd name="connsiteX5-891" fmla="*/ 1303099 w 1306267"/>
              <a:gd name="connsiteY5-892" fmla="*/ 495558 h 1424419"/>
              <a:gd name="connsiteX6-893" fmla="*/ 1303099 w 1306267"/>
              <a:gd name="connsiteY6-894" fmla="*/ 952393 h 1424419"/>
              <a:gd name="connsiteX7-895" fmla="*/ 1305306 w 1306267"/>
              <a:gd name="connsiteY7-896" fmla="*/ 990115 h 1424419"/>
              <a:gd name="connsiteX8-897" fmla="*/ 1255800 w 1306267"/>
              <a:gd name="connsiteY8-898" fmla="*/ 1142552 h 1424419"/>
              <a:gd name="connsiteX9-899" fmla="*/ 1172881 w 1306267"/>
              <a:gd name="connsiteY9-900" fmla="*/ 1179342 h 1424419"/>
              <a:gd name="connsiteX10-901" fmla="*/ 792288 w 1306267"/>
              <a:gd name="connsiteY10-902" fmla="*/ 1385653 h 1424419"/>
              <a:gd name="connsiteX11-903" fmla="*/ 522686 w 1306267"/>
              <a:gd name="connsiteY11-904" fmla="*/ 1384922 h 1424419"/>
              <a:gd name="connsiteX12-905" fmla="*/ 90241 w 1306267"/>
              <a:gd name="connsiteY12-906" fmla="*/ 1150634 h 1424419"/>
              <a:gd name="connsiteX13-907" fmla="*/ 55672 w 1306267"/>
              <a:gd name="connsiteY13-908" fmla="*/ 1124403 h 1424419"/>
              <a:gd name="connsiteX14-909" fmla="*/ 667 w 1306267"/>
              <a:gd name="connsiteY14-910" fmla="*/ 999105 h 1424419"/>
              <a:gd name="connsiteX15-911" fmla="*/ 0 w 1306267"/>
              <a:gd name="connsiteY15-912" fmla="*/ 972364 h 1424419"/>
              <a:gd name="connsiteX16-913" fmla="*/ 2496 w 1306267"/>
              <a:gd name="connsiteY16-914" fmla="*/ 463106 h 1424419"/>
              <a:gd name="connsiteX17-915" fmla="*/ 2458 w 1306267"/>
              <a:gd name="connsiteY17-916" fmla="*/ 429563 h 1424419"/>
              <a:gd name="connsiteX18-917" fmla="*/ 75248 w 1306267"/>
              <a:gd name="connsiteY18-918" fmla="*/ 303202 h 1424419"/>
              <a:gd name="connsiteX19-919" fmla="*/ 106293 w 1306267"/>
              <a:gd name="connsiteY19-920" fmla="*/ 282597 h 1424419"/>
              <a:gd name="connsiteX20-921" fmla="*/ 541533 w 1306267"/>
              <a:gd name="connsiteY20-922" fmla="*/ 38110 h 1424419"/>
              <a:gd name="connsiteX21-923" fmla="*/ 653528 w 1306267"/>
              <a:gd name="connsiteY21-924" fmla="*/ 0 h 1424419"/>
              <a:gd name="connsiteX0-925" fmla="*/ 653528 w 1306267"/>
              <a:gd name="connsiteY0-926" fmla="*/ 0 h 1424419"/>
              <a:gd name="connsiteX1-927" fmla="*/ 757287 w 1306267"/>
              <a:gd name="connsiteY1-928" fmla="*/ 32444 h 1424419"/>
              <a:gd name="connsiteX2-929" fmla="*/ 1206876 w 1306267"/>
              <a:gd name="connsiteY2-930" fmla="*/ 284945 h 1424419"/>
              <a:gd name="connsiteX3-931" fmla="*/ 1237706 w 1306267"/>
              <a:gd name="connsiteY3-932" fmla="*/ 306775 h 1424419"/>
              <a:gd name="connsiteX4-933" fmla="*/ 1301712 w 1306267"/>
              <a:gd name="connsiteY4-934" fmla="*/ 442384 h 1424419"/>
              <a:gd name="connsiteX5-935" fmla="*/ 1303099 w 1306267"/>
              <a:gd name="connsiteY5-936" fmla="*/ 495558 h 1424419"/>
              <a:gd name="connsiteX6-937" fmla="*/ 1303099 w 1306267"/>
              <a:gd name="connsiteY6-938" fmla="*/ 952393 h 1424419"/>
              <a:gd name="connsiteX7-939" fmla="*/ 1305306 w 1306267"/>
              <a:gd name="connsiteY7-940" fmla="*/ 990115 h 1424419"/>
              <a:gd name="connsiteX8-941" fmla="*/ 1255800 w 1306267"/>
              <a:gd name="connsiteY8-942" fmla="*/ 1142552 h 1424419"/>
              <a:gd name="connsiteX9-943" fmla="*/ 1172881 w 1306267"/>
              <a:gd name="connsiteY9-944" fmla="*/ 1179342 h 1424419"/>
              <a:gd name="connsiteX10-945" fmla="*/ 792288 w 1306267"/>
              <a:gd name="connsiteY10-946" fmla="*/ 1385653 h 1424419"/>
              <a:gd name="connsiteX11-947" fmla="*/ 522686 w 1306267"/>
              <a:gd name="connsiteY11-948" fmla="*/ 1384922 h 1424419"/>
              <a:gd name="connsiteX12-949" fmla="*/ 90241 w 1306267"/>
              <a:gd name="connsiteY12-950" fmla="*/ 1150634 h 1424419"/>
              <a:gd name="connsiteX13-951" fmla="*/ 55672 w 1306267"/>
              <a:gd name="connsiteY13-952" fmla="*/ 1124403 h 1424419"/>
              <a:gd name="connsiteX14-953" fmla="*/ 667 w 1306267"/>
              <a:gd name="connsiteY14-954" fmla="*/ 999105 h 1424419"/>
              <a:gd name="connsiteX15-955" fmla="*/ 0 w 1306267"/>
              <a:gd name="connsiteY15-956" fmla="*/ 972364 h 1424419"/>
              <a:gd name="connsiteX16-957" fmla="*/ 2496 w 1306267"/>
              <a:gd name="connsiteY16-958" fmla="*/ 463106 h 1424419"/>
              <a:gd name="connsiteX17-959" fmla="*/ 2458 w 1306267"/>
              <a:gd name="connsiteY17-960" fmla="*/ 429563 h 1424419"/>
              <a:gd name="connsiteX18-961" fmla="*/ 75248 w 1306267"/>
              <a:gd name="connsiteY18-962" fmla="*/ 303202 h 1424419"/>
              <a:gd name="connsiteX19-963" fmla="*/ 106293 w 1306267"/>
              <a:gd name="connsiteY19-964" fmla="*/ 282597 h 1424419"/>
              <a:gd name="connsiteX20-965" fmla="*/ 541533 w 1306267"/>
              <a:gd name="connsiteY20-966" fmla="*/ 38110 h 1424419"/>
              <a:gd name="connsiteX21-967" fmla="*/ 653528 w 1306267"/>
              <a:gd name="connsiteY21-968" fmla="*/ 0 h 1424419"/>
              <a:gd name="connsiteX0-969" fmla="*/ 653528 w 1306267"/>
              <a:gd name="connsiteY0-970" fmla="*/ 0 h 1424419"/>
              <a:gd name="connsiteX1-971" fmla="*/ 757287 w 1306267"/>
              <a:gd name="connsiteY1-972" fmla="*/ 32444 h 1424419"/>
              <a:gd name="connsiteX2-973" fmla="*/ 1206876 w 1306267"/>
              <a:gd name="connsiteY2-974" fmla="*/ 284945 h 1424419"/>
              <a:gd name="connsiteX3-975" fmla="*/ 1237706 w 1306267"/>
              <a:gd name="connsiteY3-976" fmla="*/ 306775 h 1424419"/>
              <a:gd name="connsiteX4-977" fmla="*/ 1301712 w 1306267"/>
              <a:gd name="connsiteY4-978" fmla="*/ 442384 h 1424419"/>
              <a:gd name="connsiteX5-979" fmla="*/ 1303099 w 1306267"/>
              <a:gd name="connsiteY5-980" fmla="*/ 495558 h 1424419"/>
              <a:gd name="connsiteX6-981" fmla="*/ 1303099 w 1306267"/>
              <a:gd name="connsiteY6-982" fmla="*/ 952393 h 1424419"/>
              <a:gd name="connsiteX7-983" fmla="*/ 1305306 w 1306267"/>
              <a:gd name="connsiteY7-984" fmla="*/ 990115 h 1424419"/>
              <a:gd name="connsiteX8-985" fmla="*/ 1255800 w 1306267"/>
              <a:gd name="connsiteY8-986" fmla="*/ 1142552 h 1424419"/>
              <a:gd name="connsiteX9-987" fmla="*/ 1172881 w 1306267"/>
              <a:gd name="connsiteY9-988" fmla="*/ 1179342 h 1424419"/>
              <a:gd name="connsiteX10-989" fmla="*/ 792288 w 1306267"/>
              <a:gd name="connsiteY10-990" fmla="*/ 1385653 h 1424419"/>
              <a:gd name="connsiteX11-991" fmla="*/ 522686 w 1306267"/>
              <a:gd name="connsiteY11-992" fmla="*/ 1384922 h 1424419"/>
              <a:gd name="connsiteX12-993" fmla="*/ 90241 w 1306267"/>
              <a:gd name="connsiteY12-994" fmla="*/ 1150634 h 1424419"/>
              <a:gd name="connsiteX13-995" fmla="*/ 55672 w 1306267"/>
              <a:gd name="connsiteY13-996" fmla="*/ 1124403 h 1424419"/>
              <a:gd name="connsiteX14-997" fmla="*/ 667 w 1306267"/>
              <a:gd name="connsiteY14-998" fmla="*/ 999105 h 1424419"/>
              <a:gd name="connsiteX15-999" fmla="*/ 0 w 1306267"/>
              <a:gd name="connsiteY15-1000" fmla="*/ 972364 h 1424419"/>
              <a:gd name="connsiteX16-1001" fmla="*/ 2496 w 1306267"/>
              <a:gd name="connsiteY16-1002" fmla="*/ 463106 h 1424419"/>
              <a:gd name="connsiteX17-1003" fmla="*/ 2458 w 1306267"/>
              <a:gd name="connsiteY17-1004" fmla="*/ 429563 h 1424419"/>
              <a:gd name="connsiteX18-1005" fmla="*/ 75248 w 1306267"/>
              <a:gd name="connsiteY18-1006" fmla="*/ 303202 h 1424419"/>
              <a:gd name="connsiteX19-1007" fmla="*/ 106293 w 1306267"/>
              <a:gd name="connsiteY19-1008" fmla="*/ 282597 h 1424419"/>
              <a:gd name="connsiteX20-1009" fmla="*/ 541533 w 1306267"/>
              <a:gd name="connsiteY20-1010" fmla="*/ 38110 h 1424419"/>
              <a:gd name="connsiteX21-1011" fmla="*/ 653528 w 1306267"/>
              <a:gd name="connsiteY21-1012" fmla="*/ 0 h 1424419"/>
              <a:gd name="connsiteX0-1013" fmla="*/ 653528 w 1306267"/>
              <a:gd name="connsiteY0-1014" fmla="*/ 0 h 1424419"/>
              <a:gd name="connsiteX1-1015" fmla="*/ 757287 w 1306267"/>
              <a:gd name="connsiteY1-1016" fmla="*/ 32444 h 1424419"/>
              <a:gd name="connsiteX2-1017" fmla="*/ 1206876 w 1306267"/>
              <a:gd name="connsiteY2-1018" fmla="*/ 284945 h 1424419"/>
              <a:gd name="connsiteX3-1019" fmla="*/ 1237706 w 1306267"/>
              <a:gd name="connsiteY3-1020" fmla="*/ 306775 h 1424419"/>
              <a:gd name="connsiteX4-1021" fmla="*/ 1301712 w 1306267"/>
              <a:gd name="connsiteY4-1022" fmla="*/ 442384 h 1424419"/>
              <a:gd name="connsiteX5-1023" fmla="*/ 1303099 w 1306267"/>
              <a:gd name="connsiteY5-1024" fmla="*/ 495558 h 1424419"/>
              <a:gd name="connsiteX6-1025" fmla="*/ 1303099 w 1306267"/>
              <a:gd name="connsiteY6-1026" fmla="*/ 952393 h 1424419"/>
              <a:gd name="connsiteX7-1027" fmla="*/ 1305306 w 1306267"/>
              <a:gd name="connsiteY7-1028" fmla="*/ 990115 h 1424419"/>
              <a:gd name="connsiteX8-1029" fmla="*/ 1255800 w 1306267"/>
              <a:gd name="connsiteY8-1030" fmla="*/ 1142552 h 1424419"/>
              <a:gd name="connsiteX9-1031" fmla="*/ 1172881 w 1306267"/>
              <a:gd name="connsiteY9-1032" fmla="*/ 1179342 h 1424419"/>
              <a:gd name="connsiteX10-1033" fmla="*/ 792288 w 1306267"/>
              <a:gd name="connsiteY10-1034" fmla="*/ 1385653 h 1424419"/>
              <a:gd name="connsiteX11-1035" fmla="*/ 522686 w 1306267"/>
              <a:gd name="connsiteY11-1036" fmla="*/ 1384922 h 1424419"/>
              <a:gd name="connsiteX12-1037" fmla="*/ 90241 w 1306267"/>
              <a:gd name="connsiteY12-1038" fmla="*/ 1150634 h 1424419"/>
              <a:gd name="connsiteX13-1039" fmla="*/ 55672 w 1306267"/>
              <a:gd name="connsiteY13-1040" fmla="*/ 1124403 h 1424419"/>
              <a:gd name="connsiteX14-1041" fmla="*/ 667 w 1306267"/>
              <a:gd name="connsiteY14-1042" fmla="*/ 999105 h 1424419"/>
              <a:gd name="connsiteX15-1043" fmla="*/ 0 w 1306267"/>
              <a:gd name="connsiteY15-1044" fmla="*/ 972364 h 1424419"/>
              <a:gd name="connsiteX16-1045" fmla="*/ 2496 w 1306267"/>
              <a:gd name="connsiteY16-1046" fmla="*/ 463106 h 1424419"/>
              <a:gd name="connsiteX17-1047" fmla="*/ 2458 w 1306267"/>
              <a:gd name="connsiteY17-1048" fmla="*/ 429563 h 1424419"/>
              <a:gd name="connsiteX18-1049" fmla="*/ 75248 w 1306267"/>
              <a:gd name="connsiteY18-1050" fmla="*/ 303202 h 1424419"/>
              <a:gd name="connsiteX19-1051" fmla="*/ 106293 w 1306267"/>
              <a:gd name="connsiteY19-1052" fmla="*/ 282597 h 1424419"/>
              <a:gd name="connsiteX20-1053" fmla="*/ 541533 w 1306267"/>
              <a:gd name="connsiteY20-1054" fmla="*/ 38110 h 1424419"/>
              <a:gd name="connsiteX21-1055" fmla="*/ 653528 w 1306267"/>
              <a:gd name="connsiteY21-1056" fmla="*/ 0 h 1424419"/>
              <a:gd name="connsiteX0-1057" fmla="*/ 653528 w 1306267"/>
              <a:gd name="connsiteY0-1058" fmla="*/ 0 h 1424419"/>
              <a:gd name="connsiteX1-1059" fmla="*/ 757287 w 1306267"/>
              <a:gd name="connsiteY1-1060" fmla="*/ 32444 h 1424419"/>
              <a:gd name="connsiteX2-1061" fmla="*/ 1206876 w 1306267"/>
              <a:gd name="connsiteY2-1062" fmla="*/ 284945 h 1424419"/>
              <a:gd name="connsiteX3-1063" fmla="*/ 1237706 w 1306267"/>
              <a:gd name="connsiteY3-1064" fmla="*/ 306775 h 1424419"/>
              <a:gd name="connsiteX4-1065" fmla="*/ 1301712 w 1306267"/>
              <a:gd name="connsiteY4-1066" fmla="*/ 442384 h 1424419"/>
              <a:gd name="connsiteX5-1067" fmla="*/ 1303099 w 1306267"/>
              <a:gd name="connsiteY5-1068" fmla="*/ 495558 h 1424419"/>
              <a:gd name="connsiteX6-1069" fmla="*/ 1303099 w 1306267"/>
              <a:gd name="connsiteY6-1070" fmla="*/ 952393 h 1424419"/>
              <a:gd name="connsiteX7-1071" fmla="*/ 1305306 w 1306267"/>
              <a:gd name="connsiteY7-1072" fmla="*/ 990115 h 1424419"/>
              <a:gd name="connsiteX8-1073" fmla="*/ 1255800 w 1306267"/>
              <a:gd name="connsiteY8-1074" fmla="*/ 1142552 h 1424419"/>
              <a:gd name="connsiteX9-1075" fmla="*/ 1172881 w 1306267"/>
              <a:gd name="connsiteY9-1076" fmla="*/ 1179342 h 1424419"/>
              <a:gd name="connsiteX10-1077" fmla="*/ 792288 w 1306267"/>
              <a:gd name="connsiteY10-1078" fmla="*/ 1385653 h 1424419"/>
              <a:gd name="connsiteX11-1079" fmla="*/ 522686 w 1306267"/>
              <a:gd name="connsiteY11-1080" fmla="*/ 1384922 h 1424419"/>
              <a:gd name="connsiteX12-1081" fmla="*/ 90241 w 1306267"/>
              <a:gd name="connsiteY12-1082" fmla="*/ 1150634 h 1424419"/>
              <a:gd name="connsiteX13-1083" fmla="*/ 55672 w 1306267"/>
              <a:gd name="connsiteY13-1084" fmla="*/ 1124403 h 1424419"/>
              <a:gd name="connsiteX14-1085" fmla="*/ 667 w 1306267"/>
              <a:gd name="connsiteY14-1086" fmla="*/ 999105 h 1424419"/>
              <a:gd name="connsiteX15-1087" fmla="*/ 0 w 1306267"/>
              <a:gd name="connsiteY15-1088" fmla="*/ 972364 h 1424419"/>
              <a:gd name="connsiteX16-1089" fmla="*/ 2496 w 1306267"/>
              <a:gd name="connsiteY16-1090" fmla="*/ 463106 h 1424419"/>
              <a:gd name="connsiteX17-1091" fmla="*/ 2458 w 1306267"/>
              <a:gd name="connsiteY17-1092" fmla="*/ 429563 h 1424419"/>
              <a:gd name="connsiteX18-1093" fmla="*/ 75248 w 1306267"/>
              <a:gd name="connsiteY18-1094" fmla="*/ 303202 h 1424419"/>
              <a:gd name="connsiteX19-1095" fmla="*/ 106293 w 1306267"/>
              <a:gd name="connsiteY19-1096" fmla="*/ 282597 h 1424419"/>
              <a:gd name="connsiteX20-1097" fmla="*/ 541533 w 1306267"/>
              <a:gd name="connsiteY20-1098" fmla="*/ 38110 h 1424419"/>
              <a:gd name="connsiteX21-1099" fmla="*/ 653528 w 1306267"/>
              <a:gd name="connsiteY21-1100" fmla="*/ 0 h 1424419"/>
              <a:gd name="connsiteX0-1101" fmla="*/ 653528 w 1306267"/>
              <a:gd name="connsiteY0-1102" fmla="*/ 0 h 1424419"/>
              <a:gd name="connsiteX1-1103" fmla="*/ 757287 w 1306267"/>
              <a:gd name="connsiteY1-1104" fmla="*/ 32444 h 1424419"/>
              <a:gd name="connsiteX2-1105" fmla="*/ 1206876 w 1306267"/>
              <a:gd name="connsiteY2-1106" fmla="*/ 284945 h 1424419"/>
              <a:gd name="connsiteX3-1107" fmla="*/ 1237706 w 1306267"/>
              <a:gd name="connsiteY3-1108" fmla="*/ 306775 h 1424419"/>
              <a:gd name="connsiteX4-1109" fmla="*/ 1301712 w 1306267"/>
              <a:gd name="connsiteY4-1110" fmla="*/ 442384 h 1424419"/>
              <a:gd name="connsiteX5-1111" fmla="*/ 1303099 w 1306267"/>
              <a:gd name="connsiteY5-1112" fmla="*/ 495558 h 1424419"/>
              <a:gd name="connsiteX6-1113" fmla="*/ 1303099 w 1306267"/>
              <a:gd name="connsiteY6-1114" fmla="*/ 952393 h 1424419"/>
              <a:gd name="connsiteX7-1115" fmla="*/ 1305306 w 1306267"/>
              <a:gd name="connsiteY7-1116" fmla="*/ 990115 h 1424419"/>
              <a:gd name="connsiteX8-1117" fmla="*/ 1255800 w 1306267"/>
              <a:gd name="connsiteY8-1118" fmla="*/ 1142552 h 1424419"/>
              <a:gd name="connsiteX9-1119" fmla="*/ 1172881 w 1306267"/>
              <a:gd name="connsiteY9-1120" fmla="*/ 1179342 h 1424419"/>
              <a:gd name="connsiteX10-1121" fmla="*/ 792288 w 1306267"/>
              <a:gd name="connsiteY10-1122" fmla="*/ 1385653 h 1424419"/>
              <a:gd name="connsiteX11-1123" fmla="*/ 522686 w 1306267"/>
              <a:gd name="connsiteY11-1124" fmla="*/ 1384922 h 1424419"/>
              <a:gd name="connsiteX12-1125" fmla="*/ 90241 w 1306267"/>
              <a:gd name="connsiteY12-1126" fmla="*/ 1150634 h 1424419"/>
              <a:gd name="connsiteX13-1127" fmla="*/ 48904 w 1306267"/>
              <a:gd name="connsiteY13-1128" fmla="*/ 1124403 h 1424419"/>
              <a:gd name="connsiteX14-1129" fmla="*/ 667 w 1306267"/>
              <a:gd name="connsiteY14-1130" fmla="*/ 999105 h 1424419"/>
              <a:gd name="connsiteX15-1131" fmla="*/ 0 w 1306267"/>
              <a:gd name="connsiteY15-1132" fmla="*/ 972364 h 1424419"/>
              <a:gd name="connsiteX16-1133" fmla="*/ 2496 w 1306267"/>
              <a:gd name="connsiteY16-1134" fmla="*/ 463106 h 1424419"/>
              <a:gd name="connsiteX17-1135" fmla="*/ 2458 w 1306267"/>
              <a:gd name="connsiteY17-1136" fmla="*/ 429563 h 1424419"/>
              <a:gd name="connsiteX18-1137" fmla="*/ 75248 w 1306267"/>
              <a:gd name="connsiteY18-1138" fmla="*/ 303202 h 1424419"/>
              <a:gd name="connsiteX19-1139" fmla="*/ 106293 w 1306267"/>
              <a:gd name="connsiteY19-1140" fmla="*/ 282597 h 1424419"/>
              <a:gd name="connsiteX20-1141" fmla="*/ 541533 w 1306267"/>
              <a:gd name="connsiteY20-1142" fmla="*/ 38110 h 1424419"/>
              <a:gd name="connsiteX21-1143" fmla="*/ 653528 w 1306267"/>
              <a:gd name="connsiteY21-1144" fmla="*/ 0 h 1424419"/>
              <a:gd name="connsiteX0-1145" fmla="*/ 653528 w 1306267"/>
              <a:gd name="connsiteY0-1146" fmla="*/ 0 h 1424419"/>
              <a:gd name="connsiteX1-1147" fmla="*/ 757287 w 1306267"/>
              <a:gd name="connsiteY1-1148" fmla="*/ 32444 h 1424419"/>
              <a:gd name="connsiteX2-1149" fmla="*/ 1206876 w 1306267"/>
              <a:gd name="connsiteY2-1150" fmla="*/ 284945 h 1424419"/>
              <a:gd name="connsiteX3-1151" fmla="*/ 1237706 w 1306267"/>
              <a:gd name="connsiteY3-1152" fmla="*/ 306775 h 1424419"/>
              <a:gd name="connsiteX4-1153" fmla="*/ 1301712 w 1306267"/>
              <a:gd name="connsiteY4-1154" fmla="*/ 442384 h 1424419"/>
              <a:gd name="connsiteX5-1155" fmla="*/ 1303099 w 1306267"/>
              <a:gd name="connsiteY5-1156" fmla="*/ 495558 h 1424419"/>
              <a:gd name="connsiteX6-1157" fmla="*/ 1303099 w 1306267"/>
              <a:gd name="connsiteY6-1158" fmla="*/ 952393 h 1424419"/>
              <a:gd name="connsiteX7-1159" fmla="*/ 1305306 w 1306267"/>
              <a:gd name="connsiteY7-1160" fmla="*/ 990115 h 1424419"/>
              <a:gd name="connsiteX8-1161" fmla="*/ 1255800 w 1306267"/>
              <a:gd name="connsiteY8-1162" fmla="*/ 1142552 h 1424419"/>
              <a:gd name="connsiteX9-1163" fmla="*/ 1172881 w 1306267"/>
              <a:gd name="connsiteY9-1164" fmla="*/ 1179342 h 1424419"/>
              <a:gd name="connsiteX10-1165" fmla="*/ 792288 w 1306267"/>
              <a:gd name="connsiteY10-1166" fmla="*/ 1385653 h 1424419"/>
              <a:gd name="connsiteX11-1167" fmla="*/ 522686 w 1306267"/>
              <a:gd name="connsiteY11-1168" fmla="*/ 1384922 h 1424419"/>
              <a:gd name="connsiteX12-1169" fmla="*/ 90241 w 1306267"/>
              <a:gd name="connsiteY12-1170" fmla="*/ 1150634 h 1424419"/>
              <a:gd name="connsiteX13-1171" fmla="*/ 48904 w 1306267"/>
              <a:gd name="connsiteY13-1172" fmla="*/ 1124403 h 1424419"/>
              <a:gd name="connsiteX14-1173" fmla="*/ 667 w 1306267"/>
              <a:gd name="connsiteY14-1174" fmla="*/ 999105 h 1424419"/>
              <a:gd name="connsiteX15-1175" fmla="*/ 0 w 1306267"/>
              <a:gd name="connsiteY15-1176" fmla="*/ 972364 h 1424419"/>
              <a:gd name="connsiteX16-1177" fmla="*/ 2496 w 1306267"/>
              <a:gd name="connsiteY16-1178" fmla="*/ 463106 h 1424419"/>
              <a:gd name="connsiteX17-1179" fmla="*/ 2458 w 1306267"/>
              <a:gd name="connsiteY17-1180" fmla="*/ 429563 h 1424419"/>
              <a:gd name="connsiteX18-1181" fmla="*/ 75248 w 1306267"/>
              <a:gd name="connsiteY18-1182" fmla="*/ 303202 h 1424419"/>
              <a:gd name="connsiteX19-1183" fmla="*/ 106293 w 1306267"/>
              <a:gd name="connsiteY19-1184" fmla="*/ 282597 h 1424419"/>
              <a:gd name="connsiteX20-1185" fmla="*/ 541533 w 1306267"/>
              <a:gd name="connsiteY20-1186" fmla="*/ 38110 h 1424419"/>
              <a:gd name="connsiteX21-1187" fmla="*/ 653528 w 1306267"/>
              <a:gd name="connsiteY21-1188" fmla="*/ 0 h 1424419"/>
              <a:gd name="connsiteX0-1189" fmla="*/ 653528 w 1306267"/>
              <a:gd name="connsiteY0-1190" fmla="*/ 0 h 1424419"/>
              <a:gd name="connsiteX1-1191" fmla="*/ 757287 w 1306267"/>
              <a:gd name="connsiteY1-1192" fmla="*/ 32444 h 1424419"/>
              <a:gd name="connsiteX2-1193" fmla="*/ 1206876 w 1306267"/>
              <a:gd name="connsiteY2-1194" fmla="*/ 284945 h 1424419"/>
              <a:gd name="connsiteX3-1195" fmla="*/ 1237706 w 1306267"/>
              <a:gd name="connsiteY3-1196" fmla="*/ 306775 h 1424419"/>
              <a:gd name="connsiteX4-1197" fmla="*/ 1301712 w 1306267"/>
              <a:gd name="connsiteY4-1198" fmla="*/ 442384 h 1424419"/>
              <a:gd name="connsiteX5-1199" fmla="*/ 1303099 w 1306267"/>
              <a:gd name="connsiteY5-1200" fmla="*/ 495558 h 1424419"/>
              <a:gd name="connsiteX6-1201" fmla="*/ 1303099 w 1306267"/>
              <a:gd name="connsiteY6-1202" fmla="*/ 952393 h 1424419"/>
              <a:gd name="connsiteX7-1203" fmla="*/ 1305306 w 1306267"/>
              <a:gd name="connsiteY7-1204" fmla="*/ 990115 h 1424419"/>
              <a:gd name="connsiteX8-1205" fmla="*/ 1255800 w 1306267"/>
              <a:gd name="connsiteY8-1206" fmla="*/ 1142552 h 1424419"/>
              <a:gd name="connsiteX9-1207" fmla="*/ 1172881 w 1306267"/>
              <a:gd name="connsiteY9-1208" fmla="*/ 1179342 h 1424419"/>
              <a:gd name="connsiteX10-1209" fmla="*/ 792288 w 1306267"/>
              <a:gd name="connsiteY10-1210" fmla="*/ 1385653 h 1424419"/>
              <a:gd name="connsiteX11-1211" fmla="*/ 522686 w 1306267"/>
              <a:gd name="connsiteY11-1212" fmla="*/ 1384922 h 1424419"/>
              <a:gd name="connsiteX12-1213" fmla="*/ 90241 w 1306267"/>
              <a:gd name="connsiteY12-1214" fmla="*/ 1150634 h 1424419"/>
              <a:gd name="connsiteX13-1215" fmla="*/ 48904 w 1306267"/>
              <a:gd name="connsiteY13-1216" fmla="*/ 1124403 h 1424419"/>
              <a:gd name="connsiteX14-1217" fmla="*/ 667 w 1306267"/>
              <a:gd name="connsiteY14-1218" fmla="*/ 999105 h 1424419"/>
              <a:gd name="connsiteX15-1219" fmla="*/ 0 w 1306267"/>
              <a:gd name="connsiteY15-1220" fmla="*/ 972364 h 1424419"/>
              <a:gd name="connsiteX16-1221" fmla="*/ 2496 w 1306267"/>
              <a:gd name="connsiteY16-1222" fmla="*/ 463106 h 1424419"/>
              <a:gd name="connsiteX17-1223" fmla="*/ 2458 w 1306267"/>
              <a:gd name="connsiteY17-1224" fmla="*/ 429563 h 1424419"/>
              <a:gd name="connsiteX18-1225" fmla="*/ 75248 w 1306267"/>
              <a:gd name="connsiteY18-1226" fmla="*/ 303202 h 1424419"/>
              <a:gd name="connsiteX19-1227" fmla="*/ 106293 w 1306267"/>
              <a:gd name="connsiteY19-1228" fmla="*/ 282597 h 1424419"/>
              <a:gd name="connsiteX20-1229" fmla="*/ 541533 w 1306267"/>
              <a:gd name="connsiteY20-1230" fmla="*/ 38110 h 1424419"/>
              <a:gd name="connsiteX21-1231" fmla="*/ 653528 w 1306267"/>
              <a:gd name="connsiteY21-1232" fmla="*/ 0 h 1424419"/>
              <a:gd name="connsiteX0-1233" fmla="*/ 653528 w 1306267"/>
              <a:gd name="connsiteY0-1234" fmla="*/ 0 h 1424419"/>
              <a:gd name="connsiteX1-1235" fmla="*/ 757287 w 1306267"/>
              <a:gd name="connsiteY1-1236" fmla="*/ 32444 h 1424419"/>
              <a:gd name="connsiteX2-1237" fmla="*/ 1206876 w 1306267"/>
              <a:gd name="connsiteY2-1238" fmla="*/ 284945 h 1424419"/>
              <a:gd name="connsiteX3-1239" fmla="*/ 1237706 w 1306267"/>
              <a:gd name="connsiteY3-1240" fmla="*/ 306775 h 1424419"/>
              <a:gd name="connsiteX4-1241" fmla="*/ 1301712 w 1306267"/>
              <a:gd name="connsiteY4-1242" fmla="*/ 442384 h 1424419"/>
              <a:gd name="connsiteX5-1243" fmla="*/ 1303099 w 1306267"/>
              <a:gd name="connsiteY5-1244" fmla="*/ 495558 h 1424419"/>
              <a:gd name="connsiteX6-1245" fmla="*/ 1303099 w 1306267"/>
              <a:gd name="connsiteY6-1246" fmla="*/ 952393 h 1424419"/>
              <a:gd name="connsiteX7-1247" fmla="*/ 1305306 w 1306267"/>
              <a:gd name="connsiteY7-1248" fmla="*/ 990115 h 1424419"/>
              <a:gd name="connsiteX8-1249" fmla="*/ 1255800 w 1306267"/>
              <a:gd name="connsiteY8-1250" fmla="*/ 1142552 h 1424419"/>
              <a:gd name="connsiteX9-1251" fmla="*/ 1172881 w 1306267"/>
              <a:gd name="connsiteY9-1252" fmla="*/ 1179342 h 1424419"/>
              <a:gd name="connsiteX10-1253" fmla="*/ 792288 w 1306267"/>
              <a:gd name="connsiteY10-1254" fmla="*/ 1385653 h 1424419"/>
              <a:gd name="connsiteX11-1255" fmla="*/ 522686 w 1306267"/>
              <a:gd name="connsiteY11-1256" fmla="*/ 1384922 h 1424419"/>
              <a:gd name="connsiteX12-1257" fmla="*/ 90241 w 1306267"/>
              <a:gd name="connsiteY12-1258" fmla="*/ 1150634 h 1424419"/>
              <a:gd name="connsiteX13-1259" fmla="*/ 48904 w 1306267"/>
              <a:gd name="connsiteY13-1260" fmla="*/ 1124403 h 1424419"/>
              <a:gd name="connsiteX14-1261" fmla="*/ 667 w 1306267"/>
              <a:gd name="connsiteY14-1262" fmla="*/ 999105 h 1424419"/>
              <a:gd name="connsiteX15-1263" fmla="*/ 0 w 1306267"/>
              <a:gd name="connsiteY15-1264" fmla="*/ 972364 h 1424419"/>
              <a:gd name="connsiteX16-1265" fmla="*/ 2496 w 1306267"/>
              <a:gd name="connsiteY16-1266" fmla="*/ 463106 h 1424419"/>
              <a:gd name="connsiteX17-1267" fmla="*/ 2458 w 1306267"/>
              <a:gd name="connsiteY17-1268" fmla="*/ 429563 h 1424419"/>
              <a:gd name="connsiteX18-1269" fmla="*/ 75248 w 1306267"/>
              <a:gd name="connsiteY18-1270" fmla="*/ 303202 h 1424419"/>
              <a:gd name="connsiteX19-1271" fmla="*/ 106293 w 1306267"/>
              <a:gd name="connsiteY19-1272" fmla="*/ 282597 h 1424419"/>
              <a:gd name="connsiteX20-1273" fmla="*/ 541533 w 1306267"/>
              <a:gd name="connsiteY20-1274" fmla="*/ 38110 h 1424419"/>
              <a:gd name="connsiteX21-1275" fmla="*/ 653528 w 1306267"/>
              <a:gd name="connsiteY21-1276" fmla="*/ 0 h 1424419"/>
              <a:gd name="connsiteX0-1277" fmla="*/ 653528 w 1306267"/>
              <a:gd name="connsiteY0-1278" fmla="*/ 0 h 1424419"/>
              <a:gd name="connsiteX1-1279" fmla="*/ 757287 w 1306267"/>
              <a:gd name="connsiteY1-1280" fmla="*/ 32444 h 1424419"/>
              <a:gd name="connsiteX2-1281" fmla="*/ 1206876 w 1306267"/>
              <a:gd name="connsiteY2-1282" fmla="*/ 284945 h 1424419"/>
              <a:gd name="connsiteX3-1283" fmla="*/ 1237706 w 1306267"/>
              <a:gd name="connsiteY3-1284" fmla="*/ 306775 h 1424419"/>
              <a:gd name="connsiteX4-1285" fmla="*/ 1301712 w 1306267"/>
              <a:gd name="connsiteY4-1286" fmla="*/ 442384 h 1424419"/>
              <a:gd name="connsiteX5-1287" fmla="*/ 1303099 w 1306267"/>
              <a:gd name="connsiteY5-1288" fmla="*/ 495558 h 1424419"/>
              <a:gd name="connsiteX6-1289" fmla="*/ 1303099 w 1306267"/>
              <a:gd name="connsiteY6-1290" fmla="*/ 952393 h 1424419"/>
              <a:gd name="connsiteX7-1291" fmla="*/ 1305306 w 1306267"/>
              <a:gd name="connsiteY7-1292" fmla="*/ 990115 h 1424419"/>
              <a:gd name="connsiteX8-1293" fmla="*/ 1255800 w 1306267"/>
              <a:gd name="connsiteY8-1294" fmla="*/ 1142552 h 1424419"/>
              <a:gd name="connsiteX9-1295" fmla="*/ 1172881 w 1306267"/>
              <a:gd name="connsiteY9-1296" fmla="*/ 1179342 h 1424419"/>
              <a:gd name="connsiteX10-1297" fmla="*/ 792288 w 1306267"/>
              <a:gd name="connsiteY10-1298" fmla="*/ 1385653 h 1424419"/>
              <a:gd name="connsiteX11-1299" fmla="*/ 522686 w 1306267"/>
              <a:gd name="connsiteY11-1300" fmla="*/ 1384922 h 1424419"/>
              <a:gd name="connsiteX12-1301" fmla="*/ 97009 w 1306267"/>
              <a:gd name="connsiteY12-1302" fmla="*/ 1161462 h 1424419"/>
              <a:gd name="connsiteX13-1303" fmla="*/ 48904 w 1306267"/>
              <a:gd name="connsiteY13-1304" fmla="*/ 1124403 h 1424419"/>
              <a:gd name="connsiteX14-1305" fmla="*/ 667 w 1306267"/>
              <a:gd name="connsiteY14-1306" fmla="*/ 999105 h 1424419"/>
              <a:gd name="connsiteX15-1307" fmla="*/ 0 w 1306267"/>
              <a:gd name="connsiteY15-1308" fmla="*/ 972364 h 1424419"/>
              <a:gd name="connsiteX16-1309" fmla="*/ 2496 w 1306267"/>
              <a:gd name="connsiteY16-1310" fmla="*/ 463106 h 1424419"/>
              <a:gd name="connsiteX17-1311" fmla="*/ 2458 w 1306267"/>
              <a:gd name="connsiteY17-1312" fmla="*/ 429563 h 1424419"/>
              <a:gd name="connsiteX18-1313" fmla="*/ 75248 w 1306267"/>
              <a:gd name="connsiteY18-1314" fmla="*/ 303202 h 1424419"/>
              <a:gd name="connsiteX19-1315" fmla="*/ 106293 w 1306267"/>
              <a:gd name="connsiteY19-1316" fmla="*/ 282597 h 1424419"/>
              <a:gd name="connsiteX20-1317" fmla="*/ 541533 w 1306267"/>
              <a:gd name="connsiteY20-1318" fmla="*/ 38110 h 1424419"/>
              <a:gd name="connsiteX21-1319" fmla="*/ 653528 w 1306267"/>
              <a:gd name="connsiteY21-1320" fmla="*/ 0 h 1424419"/>
              <a:gd name="connsiteX0-1321" fmla="*/ 653528 w 1306267"/>
              <a:gd name="connsiteY0-1322" fmla="*/ 0 h 1424419"/>
              <a:gd name="connsiteX1-1323" fmla="*/ 757287 w 1306267"/>
              <a:gd name="connsiteY1-1324" fmla="*/ 32444 h 1424419"/>
              <a:gd name="connsiteX2-1325" fmla="*/ 1206876 w 1306267"/>
              <a:gd name="connsiteY2-1326" fmla="*/ 284945 h 1424419"/>
              <a:gd name="connsiteX3-1327" fmla="*/ 1237706 w 1306267"/>
              <a:gd name="connsiteY3-1328" fmla="*/ 306775 h 1424419"/>
              <a:gd name="connsiteX4-1329" fmla="*/ 1301712 w 1306267"/>
              <a:gd name="connsiteY4-1330" fmla="*/ 442384 h 1424419"/>
              <a:gd name="connsiteX5-1331" fmla="*/ 1303099 w 1306267"/>
              <a:gd name="connsiteY5-1332" fmla="*/ 495558 h 1424419"/>
              <a:gd name="connsiteX6-1333" fmla="*/ 1303099 w 1306267"/>
              <a:gd name="connsiteY6-1334" fmla="*/ 952393 h 1424419"/>
              <a:gd name="connsiteX7-1335" fmla="*/ 1305306 w 1306267"/>
              <a:gd name="connsiteY7-1336" fmla="*/ 990115 h 1424419"/>
              <a:gd name="connsiteX8-1337" fmla="*/ 1255800 w 1306267"/>
              <a:gd name="connsiteY8-1338" fmla="*/ 1142552 h 1424419"/>
              <a:gd name="connsiteX9-1339" fmla="*/ 1172881 w 1306267"/>
              <a:gd name="connsiteY9-1340" fmla="*/ 1179342 h 1424419"/>
              <a:gd name="connsiteX10-1341" fmla="*/ 792288 w 1306267"/>
              <a:gd name="connsiteY10-1342" fmla="*/ 1385653 h 1424419"/>
              <a:gd name="connsiteX11-1343" fmla="*/ 522686 w 1306267"/>
              <a:gd name="connsiteY11-1344" fmla="*/ 1384922 h 1424419"/>
              <a:gd name="connsiteX12-1345" fmla="*/ 97009 w 1306267"/>
              <a:gd name="connsiteY12-1346" fmla="*/ 1161462 h 1424419"/>
              <a:gd name="connsiteX13-1347" fmla="*/ 48904 w 1306267"/>
              <a:gd name="connsiteY13-1348" fmla="*/ 1124403 h 1424419"/>
              <a:gd name="connsiteX14-1349" fmla="*/ 667 w 1306267"/>
              <a:gd name="connsiteY14-1350" fmla="*/ 999105 h 1424419"/>
              <a:gd name="connsiteX15-1351" fmla="*/ 0 w 1306267"/>
              <a:gd name="connsiteY15-1352" fmla="*/ 972364 h 1424419"/>
              <a:gd name="connsiteX16-1353" fmla="*/ 2496 w 1306267"/>
              <a:gd name="connsiteY16-1354" fmla="*/ 463106 h 1424419"/>
              <a:gd name="connsiteX17-1355" fmla="*/ 2458 w 1306267"/>
              <a:gd name="connsiteY17-1356" fmla="*/ 429563 h 1424419"/>
              <a:gd name="connsiteX18-1357" fmla="*/ 75248 w 1306267"/>
              <a:gd name="connsiteY18-1358" fmla="*/ 303202 h 1424419"/>
              <a:gd name="connsiteX19-1359" fmla="*/ 106293 w 1306267"/>
              <a:gd name="connsiteY19-1360" fmla="*/ 282597 h 1424419"/>
              <a:gd name="connsiteX20-1361" fmla="*/ 541533 w 1306267"/>
              <a:gd name="connsiteY20-1362" fmla="*/ 38110 h 1424419"/>
              <a:gd name="connsiteX21-1363" fmla="*/ 653528 w 1306267"/>
              <a:gd name="connsiteY21-1364" fmla="*/ 0 h 1424419"/>
              <a:gd name="connsiteX0-1365" fmla="*/ 653528 w 1306267"/>
              <a:gd name="connsiteY0-1366" fmla="*/ 0 h 1424419"/>
              <a:gd name="connsiteX1-1367" fmla="*/ 757287 w 1306267"/>
              <a:gd name="connsiteY1-1368" fmla="*/ 32444 h 1424419"/>
              <a:gd name="connsiteX2-1369" fmla="*/ 1206876 w 1306267"/>
              <a:gd name="connsiteY2-1370" fmla="*/ 284945 h 1424419"/>
              <a:gd name="connsiteX3-1371" fmla="*/ 1237706 w 1306267"/>
              <a:gd name="connsiteY3-1372" fmla="*/ 306775 h 1424419"/>
              <a:gd name="connsiteX4-1373" fmla="*/ 1301712 w 1306267"/>
              <a:gd name="connsiteY4-1374" fmla="*/ 442384 h 1424419"/>
              <a:gd name="connsiteX5-1375" fmla="*/ 1303099 w 1306267"/>
              <a:gd name="connsiteY5-1376" fmla="*/ 495558 h 1424419"/>
              <a:gd name="connsiteX6-1377" fmla="*/ 1303099 w 1306267"/>
              <a:gd name="connsiteY6-1378" fmla="*/ 952393 h 1424419"/>
              <a:gd name="connsiteX7-1379" fmla="*/ 1305306 w 1306267"/>
              <a:gd name="connsiteY7-1380" fmla="*/ 990115 h 1424419"/>
              <a:gd name="connsiteX8-1381" fmla="*/ 1255800 w 1306267"/>
              <a:gd name="connsiteY8-1382" fmla="*/ 1142552 h 1424419"/>
              <a:gd name="connsiteX9-1383" fmla="*/ 1172881 w 1306267"/>
              <a:gd name="connsiteY9-1384" fmla="*/ 1179342 h 1424419"/>
              <a:gd name="connsiteX10-1385" fmla="*/ 792288 w 1306267"/>
              <a:gd name="connsiteY10-1386" fmla="*/ 1385653 h 1424419"/>
              <a:gd name="connsiteX11-1387" fmla="*/ 522686 w 1306267"/>
              <a:gd name="connsiteY11-1388" fmla="*/ 1384922 h 1424419"/>
              <a:gd name="connsiteX12-1389" fmla="*/ 97009 w 1306267"/>
              <a:gd name="connsiteY12-1390" fmla="*/ 1161462 h 1424419"/>
              <a:gd name="connsiteX13-1391" fmla="*/ 44843 w 1306267"/>
              <a:gd name="connsiteY13-1392" fmla="*/ 1118989 h 1424419"/>
              <a:gd name="connsiteX14-1393" fmla="*/ 667 w 1306267"/>
              <a:gd name="connsiteY14-1394" fmla="*/ 999105 h 1424419"/>
              <a:gd name="connsiteX15-1395" fmla="*/ 0 w 1306267"/>
              <a:gd name="connsiteY15-1396" fmla="*/ 972364 h 1424419"/>
              <a:gd name="connsiteX16-1397" fmla="*/ 2496 w 1306267"/>
              <a:gd name="connsiteY16-1398" fmla="*/ 463106 h 1424419"/>
              <a:gd name="connsiteX17-1399" fmla="*/ 2458 w 1306267"/>
              <a:gd name="connsiteY17-1400" fmla="*/ 429563 h 1424419"/>
              <a:gd name="connsiteX18-1401" fmla="*/ 75248 w 1306267"/>
              <a:gd name="connsiteY18-1402" fmla="*/ 303202 h 1424419"/>
              <a:gd name="connsiteX19-1403" fmla="*/ 106293 w 1306267"/>
              <a:gd name="connsiteY19-1404" fmla="*/ 282597 h 1424419"/>
              <a:gd name="connsiteX20-1405" fmla="*/ 541533 w 1306267"/>
              <a:gd name="connsiteY20-1406" fmla="*/ 38110 h 1424419"/>
              <a:gd name="connsiteX21-1407" fmla="*/ 653528 w 1306267"/>
              <a:gd name="connsiteY21-1408" fmla="*/ 0 h 1424419"/>
              <a:gd name="connsiteX0-1409" fmla="*/ 653528 w 1306267"/>
              <a:gd name="connsiteY0-1410" fmla="*/ 0 h 1424419"/>
              <a:gd name="connsiteX1-1411" fmla="*/ 757287 w 1306267"/>
              <a:gd name="connsiteY1-1412" fmla="*/ 32444 h 1424419"/>
              <a:gd name="connsiteX2-1413" fmla="*/ 1206876 w 1306267"/>
              <a:gd name="connsiteY2-1414" fmla="*/ 284945 h 1424419"/>
              <a:gd name="connsiteX3-1415" fmla="*/ 1237706 w 1306267"/>
              <a:gd name="connsiteY3-1416" fmla="*/ 306775 h 1424419"/>
              <a:gd name="connsiteX4-1417" fmla="*/ 1301712 w 1306267"/>
              <a:gd name="connsiteY4-1418" fmla="*/ 442384 h 1424419"/>
              <a:gd name="connsiteX5-1419" fmla="*/ 1303099 w 1306267"/>
              <a:gd name="connsiteY5-1420" fmla="*/ 495558 h 1424419"/>
              <a:gd name="connsiteX6-1421" fmla="*/ 1303099 w 1306267"/>
              <a:gd name="connsiteY6-1422" fmla="*/ 952393 h 1424419"/>
              <a:gd name="connsiteX7-1423" fmla="*/ 1305306 w 1306267"/>
              <a:gd name="connsiteY7-1424" fmla="*/ 990115 h 1424419"/>
              <a:gd name="connsiteX8-1425" fmla="*/ 1255800 w 1306267"/>
              <a:gd name="connsiteY8-1426" fmla="*/ 1142552 h 1424419"/>
              <a:gd name="connsiteX9-1427" fmla="*/ 1172881 w 1306267"/>
              <a:gd name="connsiteY9-1428" fmla="*/ 1179342 h 1424419"/>
              <a:gd name="connsiteX10-1429" fmla="*/ 792288 w 1306267"/>
              <a:gd name="connsiteY10-1430" fmla="*/ 1385653 h 1424419"/>
              <a:gd name="connsiteX11-1431" fmla="*/ 522686 w 1306267"/>
              <a:gd name="connsiteY11-1432" fmla="*/ 1384922 h 1424419"/>
              <a:gd name="connsiteX12-1433" fmla="*/ 97009 w 1306267"/>
              <a:gd name="connsiteY12-1434" fmla="*/ 1161462 h 1424419"/>
              <a:gd name="connsiteX13-1435" fmla="*/ 44843 w 1306267"/>
              <a:gd name="connsiteY13-1436" fmla="*/ 1118989 h 1424419"/>
              <a:gd name="connsiteX14-1437" fmla="*/ 667 w 1306267"/>
              <a:gd name="connsiteY14-1438" fmla="*/ 999105 h 1424419"/>
              <a:gd name="connsiteX15-1439" fmla="*/ 0 w 1306267"/>
              <a:gd name="connsiteY15-1440" fmla="*/ 972364 h 1424419"/>
              <a:gd name="connsiteX16-1441" fmla="*/ 2496 w 1306267"/>
              <a:gd name="connsiteY16-1442" fmla="*/ 463106 h 1424419"/>
              <a:gd name="connsiteX17-1443" fmla="*/ 2458 w 1306267"/>
              <a:gd name="connsiteY17-1444" fmla="*/ 429563 h 1424419"/>
              <a:gd name="connsiteX18-1445" fmla="*/ 75248 w 1306267"/>
              <a:gd name="connsiteY18-1446" fmla="*/ 303202 h 1424419"/>
              <a:gd name="connsiteX19-1447" fmla="*/ 106293 w 1306267"/>
              <a:gd name="connsiteY19-1448" fmla="*/ 282597 h 1424419"/>
              <a:gd name="connsiteX20-1449" fmla="*/ 541533 w 1306267"/>
              <a:gd name="connsiteY20-1450" fmla="*/ 38110 h 1424419"/>
              <a:gd name="connsiteX21-1451" fmla="*/ 653528 w 1306267"/>
              <a:gd name="connsiteY21-1452" fmla="*/ 0 h 1424419"/>
              <a:gd name="connsiteX0-1453" fmla="*/ 653528 w 1306267"/>
              <a:gd name="connsiteY0-1454" fmla="*/ 0 h 1424419"/>
              <a:gd name="connsiteX1-1455" fmla="*/ 757287 w 1306267"/>
              <a:gd name="connsiteY1-1456" fmla="*/ 32444 h 1424419"/>
              <a:gd name="connsiteX2-1457" fmla="*/ 1206876 w 1306267"/>
              <a:gd name="connsiteY2-1458" fmla="*/ 284945 h 1424419"/>
              <a:gd name="connsiteX3-1459" fmla="*/ 1237706 w 1306267"/>
              <a:gd name="connsiteY3-1460" fmla="*/ 306775 h 1424419"/>
              <a:gd name="connsiteX4-1461" fmla="*/ 1301712 w 1306267"/>
              <a:gd name="connsiteY4-1462" fmla="*/ 442384 h 1424419"/>
              <a:gd name="connsiteX5-1463" fmla="*/ 1303099 w 1306267"/>
              <a:gd name="connsiteY5-1464" fmla="*/ 495558 h 1424419"/>
              <a:gd name="connsiteX6-1465" fmla="*/ 1303099 w 1306267"/>
              <a:gd name="connsiteY6-1466" fmla="*/ 952393 h 1424419"/>
              <a:gd name="connsiteX7-1467" fmla="*/ 1305306 w 1306267"/>
              <a:gd name="connsiteY7-1468" fmla="*/ 990115 h 1424419"/>
              <a:gd name="connsiteX8-1469" fmla="*/ 1255800 w 1306267"/>
              <a:gd name="connsiteY8-1470" fmla="*/ 1142552 h 1424419"/>
              <a:gd name="connsiteX9-1471" fmla="*/ 1172881 w 1306267"/>
              <a:gd name="connsiteY9-1472" fmla="*/ 1179342 h 1424419"/>
              <a:gd name="connsiteX10-1473" fmla="*/ 792288 w 1306267"/>
              <a:gd name="connsiteY10-1474" fmla="*/ 1385653 h 1424419"/>
              <a:gd name="connsiteX11-1475" fmla="*/ 522686 w 1306267"/>
              <a:gd name="connsiteY11-1476" fmla="*/ 1384922 h 1424419"/>
              <a:gd name="connsiteX12-1477" fmla="*/ 97009 w 1306267"/>
              <a:gd name="connsiteY12-1478" fmla="*/ 1161462 h 1424419"/>
              <a:gd name="connsiteX13-1479" fmla="*/ 44843 w 1306267"/>
              <a:gd name="connsiteY13-1480" fmla="*/ 1118989 h 1424419"/>
              <a:gd name="connsiteX14-1481" fmla="*/ 667 w 1306267"/>
              <a:gd name="connsiteY14-1482" fmla="*/ 999105 h 1424419"/>
              <a:gd name="connsiteX15-1483" fmla="*/ 0 w 1306267"/>
              <a:gd name="connsiteY15-1484" fmla="*/ 972364 h 1424419"/>
              <a:gd name="connsiteX16-1485" fmla="*/ 2496 w 1306267"/>
              <a:gd name="connsiteY16-1486" fmla="*/ 463106 h 1424419"/>
              <a:gd name="connsiteX17-1487" fmla="*/ 2458 w 1306267"/>
              <a:gd name="connsiteY17-1488" fmla="*/ 429563 h 1424419"/>
              <a:gd name="connsiteX18-1489" fmla="*/ 75248 w 1306267"/>
              <a:gd name="connsiteY18-1490" fmla="*/ 303202 h 1424419"/>
              <a:gd name="connsiteX19-1491" fmla="*/ 106293 w 1306267"/>
              <a:gd name="connsiteY19-1492" fmla="*/ 282597 h 1424419"/>
              <a:gd name="connsiteX20-1493" fmla="*/ 541533 w 1306267"/>
              <a:gd name="connsiteY20-1494" fmla="*/ 38110 h 1424419"/>
              <a:gd name="connsiteX21-1495" fmla="*/ 653528 w 1306267"/>
              <a:gd name="connsiteY21-1496" fmla="*/ 0 h 1424419"/>
              <a:gd name="connsiteX0-1497" fmla="*/ 653528 w 1306267"/>
              <a:gd name="connsiteY0-1498" fmla="*/ 0 h 1424419"/>
              <a:gd name="connsiteX1-1499" fmla="*/ 757287 w 1306267"/>
              <a:gd name="connsiteY1-1500" fmla="*/ 32444 h 1424419"/>
              <a:gd name="connsiteX2-1501" fmla="*/ 1206876 w 1306267"/>
              <a:gd name="connsiteY2-1502" fmla="*/ 284945 h 1424419"/>
              <a:gd name="connsiteX3-1503" fmla="*/ 1237706 w 1306267"/>
              <a:gd name="connsiteY3-1504" fmla="*/ 306775 h 1424419"/>
              <a:gd name="connsiteX4-1505" fmla="*/ 1301712 w 1306267"/>
              <a:gd name="connsiteY4-1506" fmla="*/ 442384 h 1424419"/>
              <a:gd name="connsiteX5-1507" fmla="*/ 1303099 w 1306267"/>
              <a:gd name="connsiteY5-1508" fmla="*/ 495558 h 1424419"/>
              <a:gd name="connsiteX6-1509" fmla="*/ 1303099 w 1306267"/>
              <a:gd name="connsiteY6-1510" fmla="*/ 952393 h 1424419"/>
              <a:gd name="connsiteX7-1511" fmla="*/ 1305306 w 1306267"/>
              <a:gd name="connsiteY7-1512" fmla="*/ 990115 h 1424419"/>
              <a:gd name="connsiteX8-1513" fmla="*/ 1255800 w 1306267"/>
              <a:gd name="connsiteY8-1514" fmla="*/ 1142552 h 1424419"/>
              <a:gd name="connsiteX9-1515" fmla="*/ 1172881 w 1306267"/>
              <a:gd name="connsiteY9-1516" fmla="*/ 1179342 h 1424419"/>
              <a:gd name="connsiteX10-1517" fmla="*/ 792288 w 1306267"/>
              <a:gd name="connsiteY10-1518" fmla="*/ 1385653 h 1424419"/>
              <a:gd name="connsiteX11-1519" fmla="*/ 522686 w 1306267"/>
              <a:gd name="connsiteY11-1520" fmla="*/ 1384922 h 1424419"/>
              <a:gd name="connsiteX12-1521" fmla="*/ 94302 w 1306267"/>
              <a:gd name="connsiteY12-1522" fmla="*/ 1158755 h 1424419"/>
              <a:gd name="connsiteX13-1523" fmla="*/ 44843 w 1306267"/>
              <a:gd name="connsiteY13-1524" fmla="*/ 1118989 h 1424419"/>
              <a:gd name="connsiteX14-1525" fmla="*/ 667 w 1306267"/>
              <a:gd name="connsiteY14-1526" fmla="*/ 999105 h 1424419"/>
              <a:gd name="connsiteX15-1527" fmla="*/ 0 w 1306267"/>
              <a:gd name="connsiteY15-1528" fmla="*/ 972364 h 1424419"/>
              <a:gd name="connsiteX16-1529" fmla="*/ 2496 w 1306267"/>
              <a:gd name="connsiteY16-1530" fmla="*/ 463106 h 1424419"/>
              <a:gd name="connsiteX17-1531" fmla="*/ 2458 w 1306267"/>
              <a:gd name="connsiteY17-1532" fmla="*/ 429563 h 1424419"/>
              <a:gd name="connsiteX18-1533" fmla="*/ 75248 w 1306267"/>
              <a:gd name="connsiteY18-1534" fmla="*/ 303202 h 1424419"/>
              <a:gd name="connsiteX19-1535" fmla="*/ 106293 w 1306267"/>
              <a:gd name="connsiteY19-1536" fmla="*/ 282597 h 1424419"/>
              <a:gd name="connsiteX20-1537" fmla="*/ 541533 w 1306267"/>
              <a:gd name="connsiteY20-1538" fmla="*/ 38110 h 1424419"/>
              <a:gd name="connsiteX21-1539" fmla="*/ 653528 w 1306267"/>
              <a:gd name="connsiteY21-1540" fmla="*/ 0 h 1424419"/>
              <a:gd name="connsiteX0-1541" fmla="*/ 653528 w 1306267"/>
              <a:gd name="connsiteY0-1542" fmla="*/ 0 h 1424419"/>
              <a:gd name="connsiteX1-1543" fmla="*/ 757287 w 1306267"/>
              <a:gd name="connsiteY1-1544" fmla="*/ 32444 h 1424419"/>
              <a:gd name="connsiteX2-1545" fmla="*/ 1206876 w 1306267"/>
              <a:gd name="connsiteY2-1546" fmla="*/ 284945 h 1424419"/>
              <a:gd name="connsiteX3-1547" fmla="*/ 1237706 w 1306267"/>
              <a:gd name="connsiteY3-1548" fmla="*/ 306775 h 1424419"/>
              <a:gd name="connsiteX4-1549" fmla="*/ 1301712 w 1306267"/>
              <a:gd name="connsiteY4-1550" fmla="*/ 442384 h 1424419"/>
              <a:gd name="connsiteX5-1551" fmla="*/ 1303099 w 1306267"/>
              <a:gd name="connsiteY5-1552" fmla="*/ 495558 h 1424419"/>
              <a:gd name="connsiteX6-1553" fmla="*/ 1303099 w 1306267"/>
              <a:gd name="connsiteY6-1554" fmla="*/ 952393 h 1424419"/>
              <a:gd name="connsiteX7-1555" fmla="*/ 1305306 w 1306267"/>
              <a:gd name="connsiteY7-1556" fmla="*/ 990115 h 1424419"/>
              <a:gd name="connsiteX8-1557" fmla="*/ 1255800 w 1306267"/>
              <a:gd name="connsiteY8-1558" fmla="*/ 1142552 h 1424419"/>
              <a:gd name="connsiteX9-1559" fmla="*/ 1172881 w 1306267"/>
              <a:gd name="connsiteY9-1560" fmla="*/ 1179342 h 1424419"/>
              <a:gd name="connsiteX10-1561" fmla="*/ 792288 w 1306267"/>
              <a:gd name="connsiteY10-1562" fmla="*/ 1385653 h 1424419"/>
              <a:gd name="connsiteX11-1563" fmla="*/ 522686 w 1306267"/>
              <a:gd name="connsiteY11-1564" fmla="*/ 1384922 h 1424419"/>
              <a:gd name="connsiteX12-1565" fmla="*/ 94302 w 1306267"/>
              <a:gd name="connsiteY12-1566" fmla="*/ 1158755 h 1424419"/>
              <a:gd name="connsiteX13-1567" fmla="*/ 39429 w 1306267"/>
              <a:gd name="connsiteY13-1568" fmla="*/ 1117635 h 1424419"/>
              <a:gd name="connsiteX14-1569" fmla="*/ 667 w 1306267"/>
              <a:gd name="connsiteY14-1570" fmla="*/ 999105 h 1424419"/>
              <a:gd name="connsiteX15-1571" fmla="*/ 0 w 1306267"/>
              <a:gd name="connsiteY15-1572" fmla="*/ 972364 h 1424419"/>
              <a:gd name="connsiteX16-1573" fmla="*/ 2496 w 1306267"/>
              <a:gd name="connsiteY16-1574" fmla="*/ 463106 h 1424419"/>
              <a:gd name="connsiteX17-1575" fmla="*/ 2458 w 1306267"/>
              <a:gd name="connsiteY17-1576" fmla="*/ 429563 h 1424419"/>
              <a:gd name="connsiteX18-1577" fmla="*/ 75248 w 1306267"/>
              <a:gd name="connsiteY18-1578" fmla="*/ 303202 h 1424419"/>
              <a:gd name="connsiteX19-1579" fmla="*/ 106293 w 1306267"/>
              <a:gd name="connsiteY19-1580" fmla="*/ 282597 h 1424419"/>
              <a:gd name="connsiteX20-1581" fmla="*/ 541533 w 1306267"/>
              <a:gd name="connsiteY20-1582" fmla="*/ 38110 h 1424419"/>
              <a:gd name="connsiteX21-1583" fmla="*/ 653528 w 1306267"/>
              <a:gd name="connsiteY21-1584" fmla="*/ 0 h 1424419"/>
              <a:gd name="connsiteX0-1585" fmla="*/ 653528 w 1305333"/>
              <a:gd name="connsiteY0-1586" fmla="*/ 0 h 1424419"/>
              <a:gd name="connsiteX1-1587" fmla="*/ 757287 w 1305333"/>
              <a:gd name="connsiteY1-1588" fmla="*/ 32444 h 1424419"/>
              <a:gd name="connsiteX2-1589" fmla="*/ 1206876 w 1305333"/>
              <a:gd name="connsiteY2-1590" fmla="*/ 284945 h 1424419"/>
              <a:gd name="connsiteX3-1591" fmla="*/ 1237706 w 1305333"/>
              <a:gd name="connsiteY3-1592" fmla="*/ 306775 h 1424419"/>
              <a:gd name="connsiteX4-1593" fmla="*/ 1301712 w 1305333"/>
              <a:gd name="connsiteY4-1594" fmla="*/ 442384 h 1424419"/>
              <a:gd name="connsiteX5-1595" fmla="*/ 1303099 w 1305333"/>
              <a:gd name="connsiteY5-1596" fmla="*/ 495558 h 1424419"/>
              <a:gd name="connsiteX6-1597" fmla="*/ 1303099 w 1305333"/>
              <a:gd name="connsiteY6-1598" fmla="*/ 952393 h 1424419"/>
              <a:gd name="connsiteX7-1599" fmla="*/ 1305306 w 1305333"/>
              <a:gd name="connsiteY7-1600" fmla="*/ 990115 h 1424419"/>
              <a:gd name="connsiteX8-1601" fmla="*/ 1227376 w 1305333"/>
              <a:gd name="connsiteY8-1602" fmla="*/ 1152027 h 1424419"/>
              <a:gd name="connsiteX9-1603" fmla="*/ 1172881 w 1305333"/>
              <a:gd name="connsiteY9-1604" fmla="*/ 1179342 h 1424419"/>
              <a:gd name="connsiteX10-1605" fmla="*/ 792288 w 1305333"/>
              <a:gd name="connsiteY10-1606" fmla="*/ 1385653 h 1424419"/>
              <a:gd name="connsiteX11-1607" fmla="*/ 522686 w 1305333"/>
              <a:gd name="connsiteY11-1608" fmla="*/ 1384922 h 1424419"/>
              <a:gd name="connsiteX12-1609" fmla="*/ 94302 w 1305333"/>
              <a:gd name="connsiteY12-1610" fmla="*/ 1158755 h 1424419"/>
              <a:gd name="connsiteX13-1611" fmla="*/ 39429 w 1305333"/>
              <a:gd name="connsiteY13-1612" fmla="*/ 1117635 h 1424419"/>
              <a:gd name="connsiteX14-1613" fmla="*/ 667 w 1305333"/>
              <a:gd name="connsiteY14-1614" fmla="*/ 999105 h 1424419"/>
              <a:gd name="connsiteX15-1615" fmla="*/ 0 w 1305333"/>
              <a:gd name="connsiteY15-1616" fmla="*/ 972364 h 1424419"/>
              <a:gd name="connsiteX16-1617" fmla="*/ 2496 w 1305333"/>
              <a:gd name="connsiteY16-1618" fmla="*/ 463106 h 1424419"/>
              <a:gd name="connsiteX17-1619" fmla="*/ 2458 w 1305333"/>
              <a:gd name="connsiteY17-1620" fmla="*/ 429563 h 1424419"/>
              <a:gd name="connsiteX18-1621" fmla="*/ 75248 w 1305333"/>
              <a:gd name="connsiteY18-1622" fmla="*/ 303202 h 1424419"/>
              <a:gd name="connsiteX19-1623" fmla="*/ 106293 w 1305333"/>
              <a:gd name="connsiteY19-1624" fmla="*/ 282597 h 1424419"/>
              <a:gd name="connsiteX20-1625" fmla="*/ 541533 w 1305333"/>
              <a:gd name="connsiteY20-1626" fmla="*/ 38110 h 1424419"/>
              <a:gd name="connsiteX21-1627" fmla="*/ 653528 w 1305333"/>
              <a:gd name="connsiteY21-1628" fmla="*/ 0 h 1424419"/>
              <a:gd name="connsiteX0-1629" fmla="*/ 653528 w 1305333"/>
              <a:gd name="connsiteY0-1630" fmla="*/ 0 h 1424419"/>
              <a:gd name="connsiteX1-1631" fmla="*/ 757287 w 1305333"/>
              <a:gd name="connsiteY1-1632" fmla="*/ 32444 h 1424419"/>
              <a:gd name="connsiteX2-1633" fmla="*/ 1206876 w 1305333"/>
              <a:gd name="connsiteY2-1634" fmla="*/ 284945 h 1424419"/>
              <a:gd name="connsiteX3-1635" fmla="*/ 1237706 w 1305333"/>
              <a:gd name="connsiteY3-1636" fmla="*/ 306775 h 1424419"/>
              <a:gd name="connsiteX4-1637" fmla="*/ 1301712 w 1305333"/>
              <a:gd name="connsiteY4-1638" fmla="*/ 442384 h 1424419"/>
              <a:gd name="connsiteX5-1639" fmla="*/ 1303099 w 1305333"/>
              <a:gd name="connsiteY5-1640" fmla="*/ 495558 h 1424419"/>
              <a:gd name="connsiteX6-1641" fmla="*/ 1303099 w 1305333"/>
              <a:gd name="connsiteY6-1642" fmla="*/ 952393 h 1424419"/>
              <a:gd name="connsiteX7-1643" fmla="*/ 1302599 w 1305333"/>
              <a:gd name="connsiteY7-1644" fmla="*/ 1003650 h 1424419"/>
              <a:gd name="connsiteX8-1645" fmla="*/ 1227376 w 1305333"/>
              <a:gd name="connsiteY8-1646" fmla="*/ 1152027 h 1424419"/>
              <a:gd name="connsiteX9-1647" fmla="*/ 1172881 w 1305333"/>
              <a:gd name="connsiteY9-1648" fmla="*/ 1179342 h 1424419"/>
              <a:gd name="connsiteX10-1649" fmla="*/ 792288 w 1305333"/>
              <a:gd name="connsiteY10-1650" fmla="*/ 1385653 h 1424419"/>
              <a:gd name="connsiteX11-1651" fmla="*/ 522686 w 1305333"/>
              <a:gd name="connsiteY11-1652" fmla="*/ 1384922 h 1424419"/>
              <a:gd name="connsiteX12-1653" fmla="*/ 94302 w 1305333"/>
              <a:gd name="connsiteY12-1654" fmla="*/ 1158755 h 1424419"/>
              <a:gd name="connsiteX13-1655" fmla="*/ 39429 w 1305333"/>
              <a:gd name="connsiteY13-1656" fmla="*/ 1117635 h 1424419"/>
              <a:gd name="connsiteX14-1657" fmla="*/ 667 w 1305333"/>
              <a:gd name="connsiteY14-1658" fmla="*/ 999105 h 1424419"/>
              <a:gd name="connsiteX15-1659" fmla="*/ 0 w 1305333"/>
              <a:gd name="connsiteY15-1660" fmla="*/ 972364 h 1424419"/>
              <a:gd name="connsiteX16-1661" fmla="*/ 2496 w 1305333"/>
              <a:gd name="connsiteY16-1662" fmla="*/ 463106 h 1424419"/>
              <a:gd name="connsiteX17-1663" fmla="*/ 2458 w 1305333"/>
              <a:gd name="connsiteY17-1664" fmla="*/ 429563 h 1424419"/>
              <a:gd name="connsiteX18-1665" fmla="*/ 75248 w 1305333"/>
              <a:gd name="connsiteY18-1666" fmla="*/ 303202 h 1424419"/>
              <a:gd name="connsiteX19-1667" fmla="*/ 106293 w 1305333"/>
              <a:gd name="connsiteY19-1668" fmla="*/ 282597 h 1424419"/>
              <a:gd name="connsiteX20-1669" fmla="*/ 541533 w 1305333"/>
              <a:gd name="connsiteY20-1670" fmla="*/ 38110 h 1424419"/>
              <a:gd name="connsiteX21-1671" fmla="*/ 653528 w 1305333"/>
              <a:gd name="connsiteY21-1672" fmla="*/ 0 h 1424419"/>
              <a:gd name="connsiteX0-1673" fmla="*/ 653528 w 1305080"/>
              <a:gd name="connsiteY0-1674" fmla="*/ 0 h 1424419"/>
              <a:gd name="connsiteX1-1675" fmla="*/ 757287 w 1305080"/>
              <a:gd name="connsiteY1-1676" fmla="*/ 32444 h 1424419"/>
              <a:gd name="connsiteX2-1677" fmla="*/ 1206876 w 1305080"/>
              <a:gd name="connsiteY2-1678" fmla="*/ 284945 h 1424419"/>
              <a:gd name="connsiteX3-1679" fmla="*/ 1237706 w 1305080"/>
              <a:gd name="connsiteY3-1680" fmla="*/ 306775 h 1424419"/>
              <a:gd name="connsiteX4-1681" fmla="*/ 1301712 w 1305080"/>
              <a:gd name="connsiteY4-1682" fmla="*/ 442384 h 1424419"/>
              <a:gd name="connsiteX5-1683" fmla="*/ 1303099 w 1305080"/>
              <a:gd name="connsiteY5-1684" fmla="*/ 495558 h 1424419"/>
              <a:gd name="connsiteX6-1685" fmla="*/ 1301746 w 1305080"/>
              <a:gd name="connsiteY6-1686" fmla="*/ 953747 h 1424419"/>
              <a:gd name="connsiteX7-1687" fmla="*/ 1302599 w 1305080"/>
              <a:gd name="connsiteY7-1688" fmla="*/ 1003650 h 1424419"/>
              <a:gd name="connsiteX8-1689" fmla="*/ 1227376 w 1305080"/>
              <a:gd name="connsiteY8-1690" fmla="*/ 1152027 h 1424419"/>
              <a:gd name="connsiteX9-1691" fmla="*/ 1172881 w 1305080"/>
              <a:gd name="connsiteY9-1692" fmla="*/ 1179342 h 1424419"/>
              <a:gd name="connsiteX10-1693" fmla="*/ 792288 w 1305080"/>
              <a:gd name="connsiteY10-1694" fmla="*/ 1385653 h 1424419"/>
              <a:gd name="connsiteX11-1695" fmla="*/ 522686 w 1305080"/>
              <a:gd name="connsiteY11-1696" fmla="*/ 1384922 h 1424419"/>
              <a:gd name="connsiteX12-1697" fmla="*/ 94302 w 1305080"/>
              <a:gd name="connsiteY12-1698" fmla="*/ 1158755 h 1424419"/>
              <a:gd name="connsiteX13-1699" fmla="*/ 39429 w 1305080"/>
              <a:gd name="connsiteY13-1700" fmla="*/ 1117635 h 1424419"/>
              <a:gd name="connsiteX14-1701" fmla="*/ 667 w 1305080"/>
              <a:gd name="connsiteY14-1702" fmla="*/ 999105 h 1424419"/>
              <a:gd name="connsiteX15-1703" fmla="*/ 0 w 1305080"/>
              <a:gd name="connsiteY15-1704" fmla="*/ 972364 h 1424419"/>
              <a:gd name="connsiteX16-1705" fmla="*/ 2496 w 1305080"/>
              <a:gd name="connsiteY16-1706" fmla="*/ 463106 h 1424419"/>
              <a:gd name="connsiteX17-1707" fmla="*/ 2458 w 1305080"/>
              <a:gd name="connsiteY17-1708" fmla="*/ 429563 h 1424419"/>
              <a:gd name="connsiteX18-1709" fmla="*/ 75248 w 1305080"/>
              <a:gd name="connsiteY18-1710" fmla="*/ 303202 h 1424419"/>
              <a:gd name="connsiteX19-1711" fmla="*/ 106293 w 1305080"/>
              <a:gd name="connsiteY19-1712" fmla="*/ 282597 h 1424419"/>
              <a:gd name="connsiteX20-1713" fmla="*/ 541533 w 1305080"/>
              <a:gd name="connsiteY20-1714" fmla="*/ 38110 h 1424419"/>
              <a:gd name="connsiteX21-1715" fmla="*/ 653528 w 1305080"/>
              <a:gd name="connsiteY21-1716" fmla="*/ 0 h 1424419"/>
              <a:gd name="connsiteX0-1717" fmla="*/ 653528 w 1305299"/>
              <a:gd name="connsiteY0-1718" fmla="*/ 0 h 1424419"/>
              <a:gd name="connsiteX1-1719" fmla="*/ 757287 w 1305299"/>
              <a:gd name="connsiteY1-1720" fmla="*/ 32444 h 1424419"/>
              <a:gd name="connsiteX2-1721" fmla="*/ 1206876 w 1305299"/>
              <a:gd name="connsiteY2-1722" fmla="*/ 284945 h 1424419"/>
              <a:gd name="connsiteX3-1723" fmla="*/ 1237706 w 1305299"/>
              <a:gd name="connsiteY3-1724" fmla="*/ 306775 h 1424419"/>
              <a:gd name="connsiteX4-1725" fmla="*/ 1301712 w 1305299"/>
              <a:gd name="connsiteY4-1726" fmla="*/ 442384 h 1424419"/>
              <a:gd name="connsiteX5-1727" fmla="*/ 1303099 w 1305299"/>
              <a:gd name="connsiteY5-1728" fmla="*/ 495558 h 1424419"/>
              <a:gd name="connsiteX6-1729" fmla="*/ 1301746 w 1305299"/>
              <a:gd name="connsiteY6-1730" fmla="*/ 953747 h 1424419"/>
              <a:gd name="connsiteX7-1731" fmla="*/ 1302599 w 1305299"/>
              <a:gd name="connsiteY7-1732" fmla="*/ 1003650 h 1424419"/>
              <a:gd name="connsiteX8-1733" fmla="*/ 1227376 w 1305299"/>
              <a:gd name="connsiteY8-1734" fmla="*/ 1152027 h 1424419"/>
              <a:gd name="connsiteX9-1735" fmla="*/ 1172881 w 1305299"/>
              <a:gd name="connsiteY9-1736" fmla="*/ 1179342 h 1424419"/>
              <a:gd name="connsiteX10-1737" fmla="*/ 792288 w 1305299"/>
              <a:gd name="connsiteY10-1738" fmla="*/ 1385653 h 1424419"/>
              <a:gd name="connsiteX11-1739" fmla="*/ 522686 w 1305299"/>
              <a:gd name="connsiteY11-1740" fmla="*/ 1384922 h 1424419"/>
              <a:gd name="connsiteX12-1741" fmla="*/ 94302 w 1305299"/>
              <a:gd name="connsiteY12-1742" fmla="*/ 1158755 h 1424419"/>
              <a:gd name="connsiteX13-1743" fmla="*/ 39429 w 1305299"/>
              <a:gd name="connsiteY13-1744" fmla="*/ 1117635 h 1424419"/>
              <a:gd name="connsiteX14-1745" fmla="*/ 667 w 1305299"/>
              <a:gd name="connsiteY14-1746" fmla="*/ 999105 h 1424419"/>
              <a:gd name="connsiteX15-1747" fmla="*/ 0 w 1305299"/>
              <a:gd name="connsiteY15-1748" fmla="*/ 972364 h 1424419"/>
              <a:gd name="connsiteX16-1749" fmla="*/ 2496 w 1305299"/>
              <a:gd name="connsiteY16-1750" fmla="*/ 463106 h 1424419"/>
              <a:gd name="connsiteX17-1751" fmla="*/ 2458 w 1305299"/>
              <a:gd name="connsiteY17-1752" fmla="*/ 429563 h 1424419"/>
              <a:gd name="connsiteX18-1753" fmla="*/ 75248 w 1305299"/>
              <a:gd name="connsiteY18-1754" fmla="*/ 303202 h 1424419"/>
              <a:gd name="connsiteX19-1755" fmla="*/ 106293 w 1305299"/>
              <a:gd name="connsiteY19-1756" fmla="*/ 282597 h 1424419"/>
              <a:gd name="connsiteX20-1757" fmla="*/ 541533 w 1305299"/>
              <a:gd name="connsiteY20-1758" fmla="*/ 38110 h 1424419"/>
              <a:gd name="connsiteX21-1759" fmla="*/ 653528 w 1305299"/>
              <a:gd name="connsiteY21-1760" fmla="*/ 0 h 1424419"/>
              <a:gd name="connsiteX0-1761" fmla="*/ 653528 w 1306646"/>
              <a:gd name="connsiteY0-1762" fmla="*/ 0 h 1424419"/>
              <a:gd name="connsiteX1-1763" fmla="*/ 757287 w 1306646"/>
              <a:gd name="connsiteY1-1764" fmla="*/ 32444 h 1424419"/>
              <a:gd name="connsiteX2-1765" fmla="*/ 1206876 w 1306646"/>
              <a:gd name="connsiteY2-1766" fmla="*/ 284945 h 1424419"/>
              <a:gd name="connsiteX3-1767" fmla="*/ 1237706 w 1306646"/>
              <a:gd name="connsiteY3-1768" fmla="*/ 306775 h 1424419"/>
              <a:gd name="connsiteX4-1769" fmla="*/ 1301712 w 1306646"/>
              <a:gd name="connsiteY4-1770" fmla="*/ 442384 h 1424419"/>
              <a:gd name="connsiteX5-1771" fmla="*/ 1303099 w 1306646"/>
              <a:gd name="connsiteY5-1772" fmla="*/ 495558 h 1424419"/>
              <a:gd name="connsiteX6-1773" fmla="*/ 1301746 w 1306646"/>
              <a:gd name="connsiteY6-1774" fmla="*/ 953747 h 1424419"/>
              <a:gd name="connsiteX7-1775" fmla="*/ 1302599 w 1306646"/>
              <a:gd name="connsiteY7-1776" fmla="*/ 1003650 h 1424419"/>
              <a:gd name="connsiteX8-1777" fmla="*/ 1227376 w 1306646"/>
              <a:gd name="connsiteY8-1778" fmla="*/ 1152027 h 1424419"/>
              <a:gd name="connsiteX9-1779" fmla="*/ 1172881 w 1306646"/>
              <a:gd name="connsiteY9-1780" fmla="*/ 1179342 h 1424419"/>
              <a:gd name="connsiteX10-1781" fmla="*/ 792288 w 1306646"/>
              <a:gd name="connsiteY10-1782" fmla="*/ 1385653 h 1424419"/>
              <a:gd name="connsiteX11-1783" fmla="*/ 522686 w 1306646"/>
              <a:gd name="connsiteY11-1784" fmla="*/ 1384922 h 1424419"/>
              <a:gd name="connsiteX12-1785" fmla="*/ 94302 w 1306646"/>
              <a:gd name="connsiteY12-1786" fmla="*/ 1158755 h 1424419"/>
              <a:gd name="connsiteX13-1787" fmla="*/ 39429 w 1306646"/>
              <a:gd name="connsiteY13-1788" fmla="*/ 1117635 h 1424419"/>
              <a:gd name="connsiteX14-1789" fmla="*/ 667 w 1306646"/>
              <a:gd name="connsiteY14-1790" fmla="*/ 999105 h 1424419"/>
              <a:gd name="connsiteX15-1791" fmla="*/ 0 w 1306646"/>
              <a:gd name="connsiteY15-1792" fmla="*/ 972364 h 1424419"/>
              <a:gd name="connsiteX16-1793" fmla="*/ 2496 w 1306646"/>
              <a:gd name="connsiteY16-1794" fmla="*/ 463106 h 1424419"/>
              <a:gd name="connsiteX17-1795" fmla="*/ 2458 w 1306646"/>
              <a:gd name="connsiteY17-1796" fmla="*/ 429563 h 1424419"/>
              <a:gd name="connsiteX18-1797" fmla="*/ 75248 w 1306646"/>
              <a:gd name="connsiteY18-1798" fmla="*/ 303202 h 1424419"/>
              <a:gd name="connsiteX19-1799" fmla="*/ 106293 w 1306646"/>
              <a:gd name="connsiteY19-1800" fmla="*/ 282597 h 1424419"/>
              <a:gd name="connsiteX20-1801" fmla="*/ 541533 w 1306646"/>
              <a:gd name="connsiteY20-1802" fmla="*/ 38110 h 1424419"/>
              <a:gd name="connsiteX21-1803" fmla="*/ 653528 w 1306646"/>
              <a:gd name="connsiteY21-1804" fmla="*/ 0 h 1424419"/>
              <a:gd name="connsiteX0-1805" fmla="*/ 653528 w 1305299"/>
              <a:gd name="connsiteY0-1806" fmla="*/ 0 h 1424419"/>
              <a:gd name="connsiteX1-1807" fmla="*/ 757287 w 1305299"/>
              <a:gd name="connsiteY1-1808" fmla="*/ 32444 h 1424419"/>
              <a:gd name="connsiteX2-1809" fmla="*/ 1206876 w 1305299"/>
              <a:gd name="connsiteY2-1810" fmla="*/ 284945 h 1424419"/>
              <a:gd name="connsiteX3-1811" fmla="*/ 1237706 w 1305299"/>
              <a:gd name="connsiteY3-1812" fmla="*/ 306775 h 1424419"/>
              <a:gd name="connsiteX4-1813" fmla="*/ 1301712 w 1305299"/>
              <a:gd name="connsiteY4-1814" fmla="*/ 442384 h 1424419"/>
              <a:gd name="connsiteX5-1815" fmla="*/ 1303099 w 1305299"/>
              <a:gd name="connsiteY5-1816" fmla="*/ 495558 h 1424419"/>
              <a:gd name="connsiteX6-1817" fmla="*/ 1301746 w 1305299"/>
              <a:gd name="connsiteY6-1818" fmla="*/ 953747 h 1424419"/>
              <a:gd name="connsiteX7-1819" fmla="*/ 1302599 w 1305299"/>
              <a:gd name="connsiteY7-1820" fmla="*/ 1003650 h 1424419"/>
              <a:gd name="connsiteX8-1821" fmla="*/ 1227376 w 1305299"/>
              <a:gd name="connsiteY8-1822" fmla="*/ 1152027 h 1424419"/>
              <a:gd name="connsiteX9-1823" fmla="*/ 1172881 w 1305299"/>
              <a:gd name="connsiteY9-1824" fmla="*/ 1179342 h 1424419"/>
              <a:gd name="connsiteX10-1825" fmla="*/ 792288 w 1305299"/>
              <a:gd name="connsiteY10-1826" fmla="*/ 1385653 h 1424419"/>
              <a:gd name="connsiteX11-1827" fmla="*/ 522686 w 1305299"/>
              <a:gd name="connsiteY11-1828" fmla="*/ 1384922 h 1424419"/>
              <a:gd name="connsiteX12-1829" fmla="*/ 94302 w 1305299"/>
              <a:gd name="connsiteY12-1830" fmla="*/ 1158755 h 1424419"/>
              <a:gd name="connsiteX13-1831" fmla="*/ 39429 w 1305299"/>
              <a:gd name="connsiteY13-1832" fmla="*/ 1117635 h 1424419"/>
              <a:gd name="connsiteX14-1833" fmla="*/ 667 w 1305299"/>
              <a:gd name="connsiteY14-1834" fmla="*/ 999105 h 1424419"/>
              <a:gd name="connsiteX15-1835" fmla="*/ 0 w 1305299"/>
              <a:gd name="connsiteY15-1836" fmla="*/ 972364 h 1424419"/>
              <a:gd name="connsiteX16-1837" fmla="*/ 2496 w 1305299"/>
              <a:gd name="connsiteY16-1838" fmla="*/ 463106 h 1424419"/>
              <a:gd name="connsiteX17-1839" fmla="*/ 2458 w 1305299"/>
              <a:gd name="connsiteY17-1840" fmla="*/ 429563 h 1424419"/>
              <a:gd name="connsiteX18-1841" fmla="*/ 75248 w 1305299"/>
              <a:gd name="connsiteY18-1842" fmla="*/ 303202 h 1424419"/>
              <a:gd name="connsiteX19-1843" fmla="*/ 106293 w 1305299"/>
              <a:gd name="connsiteY19-1844" fmla="*/ 282597 h 1424419"/>
              <a:gd name="connsiteX20-1845" fmla="*/ 541533 w 1305299"/>
              <a:gd name="connsiteY20-1846" fmla="*/ 38110 h 1424419"/>
              <a:gd name="connsiteX21-1847" fmla="*/ 653528 w 1305299"/>
              <a:gd name="connsiteY21-1848" fmla="*/ 0 h 1424419"/>
              <a:gd name="connsiteX0-1849" fmla="*/ 653528 w 1304127"/>
              <a:gd name="connsiteY0-1850" fmla="*/ 0 h 1424419"/>
              <a:gd name="connsiteX1-1851" fmla="*/ 757287 w 1304127"/>
              <a:gd name="connsiteY1-1852" fmla="*/ 32444 h 1424419"/>
              <a:gd name="connsiteX2-1853" fmla="*/ 1206876 w 1304127"/>
              <a:gd name="connsiteY2-1854" fmla="*/ 284945 h 1424419"/>
              <a:gd name="connsiteX3-1855" fmla="*/ 1237706 w 1304127"/>
              <a:gd name="connsiteY3-1856" fmla="*/ 306775 h 1424419"/>
              <a:gd name="connsiteX4-1857" fmla="*/ 1301712 w 1304127"/>
              <a:gd name="connsiteY4-1858" fmla="*/ 442384 h 1424419"/>
              <a:gd name="connsiteX5-1859" fmla="*/ 1303099 w 1304127"/>
              <a:gd name="connsiteY5-1860" fmla="*/ 495558 h 1424419"/>
              <a:gd name="connsiteX6-1861" fmla="*/ 1301746 w 1304127"/>
              <a:gd name="connsiteY6-1862" fmla="*/ 953747 h 1424419"/>
              <a:gd name="connsiteX7-1863" fmla="*/ 1302599 w 1304127"/>
              <a:gd name="connsiteY7-1864" fmla="*/ 1003650 h 1424419"/>
              <a:gd name="connsiteX8-1865" fmla="*/ 1227376 w 1304127"/>
              <a:gd name="connsiteY8-1866" fmla="*/ 1152027 h 1424419"/>
              <a:gd name="connsiteX9-1867" fmla="*/ 1172881 w 1304127"/>
              <a:gd name="connsiteY9-1868" fmla="*/ 1179342 h 1424419"/>
              <a:gd name="connsiteX10-1869" fmla="*/ 792288 w 1304127"/>
              <a:gd name="connsiteY10-1870" fmla="*/ 1385653 h 1424419"/>
              <a:gd name="connsiteX11-1871" fmla="*/ 522686 w 1304127"/>
              <a:gd name="connsiteY11-1872" fmla="*/ 1384922 h 1424419"/>
              <a:gd name="connsiteX12-1873" fmla="*/ 94302 w 1304127"/>
              <a:gd name="connsiteY12-1874" fmla="*/ 1158755 h 1424419"/>
              <a:gd name="connsiteX13-1875" fmla="*/ 39429 w 1304127"/>
              <a:gd name="connsiteY13-1876" fmla="*/ 1117635 h 1424419"/>
              <a:gd name="connsiteX14-1877" fmla="*/ 667 w 1304127"/>
              <a:gd name="connsiteY14-1878" fmla="*/ 999105 h 1424419"/>
              <a:gd name="connsiteX15-1879" fmla="*/ 0 w 1304127"/>
              <a:gd name="connsiteY15-1880" fmla="*/ 972364 h 1424419"/>
              <a:gd name="connsiteX16-1881" fmla="*/ 2496 w 1304127"/>
              <a:gd name="connsiteY16-1882" fmla="*/ 463106 h 1424419"/>
              <a:gd name="connsiteX17-1883" fmla="*/ 2458 w 1304127"/>
              <a:gd name="connsiteY17-1884" fmla="*/ 429563 h 1424419"/>
              <a:gd name="connsiteX18-1885" fmla="*/ 75248 w 1304127"/>
              <a:gd name="connsiteY18-1886" fmla="*/ 303202 h 1424419"/>
              <a:gd name="connsiteX19-1887" fmla="*/ 106293 w 1304127"/>
              <a:gd name="connsiteY19-1888" fmla="*/ 282597 h 1424419"/>
              <a:gd name="connsiteX20-1889" fmla="*/ 541533 w 1304127"/>
              <a:gd name="connsiteY20-1890" fmla="*/ 38110 h 1424419"/>
              <a:gd name="connsiteX21-1891" fmla="*/ 653528 w 1304127"/>
              <a:gd name="connsiteY21-1892" fmla="*/ 0 h 1424419"/>
              <a:gd name="connsiteX0-1893" fmla="*/ 653528 w 1306101"/>
              <a:gd name="connsiteY0-1894" fmla="*/ 0 h 1424419"/>
              <a:gd name="connsiteX1-1895" fmla="*/ 757287 w 1306101"/>
              <a:gd name="connsiteY1-1896" fmla="*/ 32444 h 1424419"/>
              <a:gd name="connsiteX2-1897" fmla="*/ 1206876 w 1306101"/>
              <a:gd name="connsiteY2-1898" fmla="*/ 284945 h 1424419"/>
              <a:gd name="connsiteX3-1899" fmla="*/ 1237706 w 1306101"/>
              <a:gd name="connsiteY3-1900" fmla="*/ 306775 h 1424419"/>
              <a:gd name="connsiteX4-1901" fmla="*/ 1305773 w 1306101"/>
              <a:gd name="connsiteY4-1902" fmla="*/ 442384 h 1424419"/>
              <a:gd name="connsiteX5-1903" fmla="*/ 1303099 w 1306101"/>
              <a:gd name="connsiteY5-1904" fmla="*/ 495558 h 1424419"/>
              <a:gd name="connsiteX6-1905" fmla="*/ 1301746 w 1306101"/>
              <a:gd name="connsiteY6-1906" fmla="*/ 953747 h 1424419"/>
              <a:gd name="connsiteX7-1907" fmla="*/ 1302599 w 1306101"/>
              <a:gd name="connsiteY7-1908" fmla="*/ 1003650 h 1424419"/>
              <a:gd name="connsiteX8-1909" fmla="*/ 1227376 w 1306101"/>
              <a:gd name="connsiteY8-1910" fmla="*/ 1152027 h 1424419"/>
              <a:gd name="connsiteX9-1911" fmla="*/ 1172881 w 1306101"/>
              <a:gd name="connsiteY9-1912" fmla="*/ 1179342 h 1424419"/>
              <a:gd name="connsiteX10-1913" fmla="*/ 792288 w 1306101"/>
              <a:gd name="connsiteY10-1914" fmla="*/ 1385653 h 1424419"/>
              <a:gd name="connsiteX11-1915" fmla="*/ 522686 w 1306101"/>
              <a:gd name="connsiteY11-1916" fmla="*/ 1384922 h 1424419"/>
              <a:gd name="connsiteX12-1917" fmla="*/ 94302 w 1306101"/>
              <a:gd name="connsiteY12-1918" fmla="*/ 1158755 h 1424419"/>
              <a:gd name="connsiteX13-1919" fmla="*/ 39429 w 1306101"/>
              <a:gd name="connsiteY13-1920" fmla="*/ 1117635 h 1424419"/>
              <a:gd name="connsiteX14-1921" fmla="*/ 667 w 1306101"/>
              <a:gd name="connsiteY14-1922" fmla="*/ 999105 h 1424419"/>
              <a:gd name="connsiteX15-1923" fmla="*/ 0 w 1306101"/>
              <a:gd name="connsiteY15-1924" fmla="*/ 972364 h 1424419"/>
              <a:gd name="connsiteX16-1925" fmla="*/ 2496 w 1306101"/>
              <a:gd name="connsiteY16-1926" fmla="*/ 463106 h 1424419"/>
              <a:gd name="connsiteX17-1927" fmla="*/ 2458 w 1306101"/>
              <a:gd name="connsiteY17-1928" fmla="*/ 429563 h 1424419"/>
              <a:gd name="connsiteX18-1929" fmla="*/ 75248 w 1306101"/>
              <a:gd name="connsiteY18-1930" fmla="*/ 303202 h 1424419"/>
              <a:gd name="connsiteX19-1931" fmla="*/ 106293 w 1306101"/>
              <a:gd name="connsiteY19-1932" fmla="*/ 282597 h 1424419"/>
              <a:gd name="connsiteX20-1933" fmla="*/ 541533 w 1306101"/>
              <a:gd name="connsiteY20-1934" fmla="*/ 38110 h 1424419"/>
              <a:gd name="connsiteX21-1935" fmla="*/ 653528 w 1306101"/>
              <a:gd name="connsiteY21-1936" fmla="*/ 0 h 1424419"/>
              <a:gd name="connsiteX0-1937" fmla="*/ 653528 w 1304819"/>
              <a:gd name="connsiteY0-1938" fmla="*/ 0 h 1424419"/>
              <a:gd name="connsiteX1-1939" fmla="*/ 757287 w 1304819"/>
              <a:gd name="connsiteY1-1940" fmla="*/ 32444 h 1424419"/>
              <a:gd name="connsiteX2-1941" fmla="*/ 1206876 w 1304819"/>
              <a:gd name="connsiteY2-1942" fmla="*/ 284945 h 1424419"/>
              <a:gd name="connsiteX3-1943" fmla="*/ 1237706 w 1304819"/>
              <a:gd name="connsiteY3-1944" fmla="*/ 306775 h 1424419"/>
              <a:gd name="connsiteX4-1945" fmla="*/ 1304420 w 1304819"/>
              <a:gd name="connsiteY4-1946" fmla="*/ 434263 h 1424419"/>
              <a:gd name="connsiteX5-1947" fmla="*/ 1303099 w 1304819"/>
              <a:gd name="connsiteY5-1948" fmla="*/ 495558 h 1424419"/>
              <a:gd name="connsiteX6-1949" fmla="*/ 1301746 w 1304819"/>
              <a:gd name="connsiteY6-1950" fmla="*/ 953747 h 1424419"/>
              <a:gd name="connsiteX7-1951" fmla="*/ 1302599 w 1304819"/>
              <a:gd name="connsiteY7-1952" fmla="*/ 1003650 h 1424419"/>
              <a:gd name="connsiteX8-1953" fmla="*/ 1227376 w 1304819"/>
              <a:gd name="connsiteY8-1954" fmla="*/ 1152027 h 1424419"/>
              <a:gd name="connsiteX9-1955" fmla="*/ 1172881 w 1304819"/>
              <a:gd name="connsiteY9-1956" fmla="*/ 1179342 h 1424419"/>
              <a:gd name="connsiteX10-1957" fmla="*/ 792288 w 1304819"/>
              <a:gd name="connsiteY10-1958" fmla="*/ 1385653 h 1424419"/>
              <a:gd name="connsiteX11-1959" fmla="*/ 522686 w 1304819"/>
              <a:gd name="connsiteY11-1960" fmla="*/ 1384922 h 1424419"/>
              <a:gd name="connsiteX12-1961" fmla="*/ 94302 w 1304819"/>
              <a:gd name="connsiteY12-1962" fmla="*/ 1158755 h 1424419"/>
              <a:gd name="connsiteX13-1963" fmla="*/ 39429 w 1304819"/>
              <a:gd name="connsiteY13-1964" fmla="*/ 1117635 h 1424419"/>
              <a:gd name="connsiteX14-1965" fmla="*/ 667 w 1304819"/>
              <a:gd name="connsiteY14-1966" fmla="*/ 999105 h 1424419"/>
              <a:gd name="connsiteX15-1967" fmla="*/ 0 w 1304819"/>
              <a:gd name="connsiteY15-1968" fmla="*/ 972364 h 1424419"/>
              <a:gd name="connsiteX16-1969" fmla="*/ 2496 w 1304819"/>
              <a:gd name="connsiteY16-1970" fmla="*/ 463106 h 1424419"/>
              <a:gd name="connsiteX17-1971" fmla="*/ 2458 w 1304819"/>
              <a:gd name="connsiteY17-1972" fmla="*/ 429563 h 1424419"/>
              <a:gd name="connsiteX18-1973" fmla="*/ 75248 w 1304819"/>
              <a:gd name="connsiteY18-1974" fmla="*/ 303202 h 1424419"/>
              <a:gd name="connsiteX19-1975" fmla="*/ 106293 w 1304819"/>
              <a:gd name="connsiteY19-1976" fmla="*/ 282597 h 1424419"/>
              <a:gd name="connsiteX20-1977" fmla="*/ 541533 w 1304819"/>
              <a:gd name="connsiteY20-1978" fmla="*/ 38110 h 1424419"/>
              <a:gd name="connsiteX21-1979" fmla="*/ 653528 w 1304819"/>
              <a:gd name="connsiteY21-1980" fmla="*/ 0 h 1424419"/>
              <a:gd name="connsiteX0-1981" fmla="*/ 653528 w 1306525"/>
              <a:gd name="connsiteY0-1982" fmla="*/ 0 h 1424419"/>
              <a:gd name="connsiteX1-1983" fmla="*/ 757287 w 1306525"/>
              <a:gd name="connsiteY1-1984" fmla="*/ 32444 h 1424419"/>
              <a:gd name="connsiteX2-1985" fmla="*/ 1206876 w 1306525"/>
              <a:gd name="connsiteY2-1986" fmla="*/ 284945 h 1424419"/>
              <a:gd name="connsiteX3-1987" fmla="*/ 1237706 w 1306525"/>
              <a:gd name="connsiteY3-1988" fmla="*/ 306775 h 1424419"/>
              <a:gd name="connsiteX4-1989" fmla="*/ 1304420 w 1306525"/>
              <a:gd name="connsiteY4-1990" fmla="*/ 434263 h 1424419"/>
              <a:gd name="connsiteX5-1991" fmla="*/ 1305806 w 1306525"/>
              <a:gd name="connsiteY5-1992" fmla="*/ 519922 h 1424419"/>
              <a:gd name="connsiteX6-1993" fmla="*/ 1301746 w 1306525"/>
              <a:gd name="connsiteY6-1994" fmla="*/ 953747 h 1424419"/>
              <a:gd name="connsiteX7-1995" fmla="*/ 1302599 w 1306525"/>
              <a:gd name="connsiteY7-1996" fmla="*/ 1003650 h 1424419"/>
              <a:gd name="connsiteX8-1997" fmla="*/ 1227376 w 1306525"/>
              <a:gd name="connsiteY8-1998" fmla="*/ 1152027 h 1424419"/>
              <a:gd name="connsiteX9-1999" fmla="*/ 1172881 w 1306525"/>
              <a:gd name="connsiteY9-2000" fmla="*/ 1179342 h 1424419"/>
              <a:gd name="connsiteX10-2001" fmla="*/ 792288 w 1306525"/>
              <a:gd name="connsiteY10-2002" fmla="*/ 1385653 h 1424419"/>
              <a:gd name="connsiteX11-2003" fmla="*/ 522686 w 1306525"/>
              <a:gd name="connsiteY11-2004" fmla="*/ 1384922 h 1424419"/>
              <a:gd name="connsiteX12-2005" fmla="*/ 94302 w 1306525"/>
              <a:gd name="connsiteY12-2006" fmla="*/ 1158755 h 1424419"/>
              <a:gd name="connsiteX13-2007" fmla="*/ 39429 w 1306525"/>
              <a:gd name="connsiteY13-2008" fmla="*/ 1117635 h 1424419"/>
              <a:gd name="connsiteX14-2009" fmla="*/ 667 w 1306525"/>
              <a:gd name="connsiteY14-2010" fmla="*/ 999105 h 1424419"/>
              <a:gd name="connsiteX15-2011" fmla="*/ 0 w 1306525"/>
              <a:gd name="connsiteY15-2012" fmla="*/ 972364 h 1424419"/>
              <a:gd name="connsiteX16-2013" fmla="*/ 2496 w 1306525"/>
              <a:gd name="connsiteY16-2014" fmla="*/ 463106 h 1424419"/>
              <a:gd name="connsiteX17-2015" fmla="*/ 2458 w 1306525"/>
              <a:gd name="connsiteY17-2016" fmla="*/ 429563 h 1424419"/>
              <a:gd name="connsiteX18-2017" fmla="*/ 75248 w 1306525"/>
              <a:gd name="connsiteY18-2018" fmla="*/ 303202 h 1424419"/>
              <a:gd name="connsiteX19-2019" fmla="*/ 106293 w 1306525"/>
              <a:gd name="connsiteY19-2020" fmla="*/ 282597 h 1424419"/>
              <a:gd name="connsiteX20-2021" fmla="*/ 541533 w 1306525"/>
              <a:gd name="connsiteY20-2022" fmla="*/ 38110 h 1424419"/>
              <a:gd name="connsiteX21-2023" fmla="*/ 653528 w 1306525"/>
              <a:gd name="connsiteY21-2024" fmla="*/ 0 h 1424419"/>
              <a:gd name="connsiteX0-2025" fmla="*/ 653528 w 1305814"/>
              <a:gd name="connsiteY0-2026" fmla="*/ 0 h 1424419"/>
              <a:gd name="connsiteX1-2027" fmla="*/ 757287 w 1305814"/>
              <a:gd name="connsiteY1-2028" fmla="*/ 32444 h 1424419"/>
              <a:gd name="connsiteX2-2029" fmla="*/ 1206876 w 1305814"/>
              <a:gd name="connsiteY2-2030" fmla="*/ 284945 h 1424419"/>
              <a:gd name="connsiteX3-2031" fmla="*/ 1237706 w 1305814"/>
              <a:gd name="connsiteY3-2032" fmla="*/ 306775 h 1424419"/>
              <a:gd name="connsiteX4-2033" fmla="*/ 1304420 w 1305814"/>
              <a:gd name="connsiteY4-2034" fmla="*/ 434263 h 1424419"/>
              <a:gd name="connsiteX5-2035" fmla="*/ 1305806 w 1305814"/>
              <a:gd name="connsiteY5-2036" fmla="*/ 519922 h 1424419"/>
              <a:gd name="connsiteX6-2037" fmla="*/ 1301746 w 1305814"/>
              <a:gd name="connsiteY6-2038" fmla="*/ 953747 h 1424419"/>
              <a:gd name="connsiteX7-2039" fmla="*/ 1302599 w 1305814"/>
              <a:gd name="connsiteY7-2040" fmla="*/ 1003650 h 1424419"/>
              <a:gd name="connsiteX8-2041" fmla="*/ 1227376 w 1305814"/>
              <a:gd name="connsiteY8-2042" fmla="*/ 1152027 h 1424419"/>
              <a:gd name="connsiteX9-2043" fmla="*/ 1172881 w 1305814"/>
              <a:gd name="connsiteY9-2044" fmla="*/ 1179342 h 1424419"/>
              <a:gd name="connsiteX10-2045" fmla="*/ 792288 w 1305814"/>
              <a:gd name="connsiteY10-2046" fmla="*/ 1385653 h 1424419"/>
              <a:gd name="connsiteX11-2047" fmla="*/ 522686 w 1305814"/>
              <a:gd name="connsiteY11-2048" fmla="*/ 1384922 h 1424419"/>
              <a:gd name="connsiteX12-2049" fmla="*/ 94302 w 1305814"/>
              <a:gd name="connsiteY12-2050" fmla="*/ 1158755 h 1424419"/>
              <a:gd name="connsiteX13-2051" fmla="*/ 39429 w 1305814"/>
              <a:gd name="connsiteY13-2052" fmla="*/ 1117635 h 1424419"/>
              <a:gd name="connsiteX14-2053" fmla="*/ 667 w 1305814"/>
              <a:gd name="connsiteY14-2054" fmla="*/ 999105 h 1424419"/>
              <a:gd name="connsiteX15-2055" fmla="*/ 0 w 1305814"/>
              <a:gd name="connsiteY15-2056" fmla="*/ 972364 h 1424419"/>
              <a:gd name="connsiteX16-2057" fmla="*/ 2496 w 1305814"/>
              <a:gd name="connsiteY16-2058" fmla="*/ 463106 h 1424419"/>
              <a:gd name="connsiteX17-2059" fmla="*/ 2458 w 1305814"/>
              <a:gd name="connsiteY17-2060" fmla="*/ 429563 h 1424419"/>
              <a:gd name="connsiteX18-2061" fmla="*/ 75248 w 1305814"/>
              <a:gd name="connsiteY18-2062" fmla="*/ 303202 h 1424419"/>
              <a:gd name="connsiteX19-2063" fmla="*/ 106293 w 1305814"/>
              <a:gd name="connsiteY19-2064" fmla="*/ 282597 h 1424419"/>
              <a:gd name="connsiteX20-2065" fmla="*/ 541533 w 1305814"/>
              <a:gd name="connsiteY20-2066" fmla="*/ 38110 h 1424419"/>
              <a:gd name="connsiteX21-2067" fmla="*/ 653528 w 1305814"/>
              <a:gd name="connsiteY21-2068" fmla="*/ 0 h 1424419"/>
              <a:gd name="connsiteX0-2069" fmla="*/ 653528 w 1305814"/>
              <a:gd name="connsiteY0-2070" fmla="*/ 0 h 1424419"/>
              <a:gd name="connsiteX1-2071" fmla="*/ 757287 w 1305814"/>
              <a:gd name="connsiteY1-2072" fmla="*/ 32444 h 1424419"/>
              <a:gd name="connsiteX2-2073" fmla="*/ 1206876 w 1305814"/>
              <a:gd name="connsiteY2-2074" fmla="*/ 284945 h 1424419"/>
              <a:gd name="connsiteX3-2075" fmla="*/ 1237706 w 1305814"/>
              <a:gd name="connsiteY3-2076" fmla="*/ 306775 h 1424419"/>
              <a:gd name="connsiteX4-2077" fmla="*/ 1304420 w 1305814"/>
              <a:gd name="connsiteY4-2078" fmla="*/ 434263 h 1424419"/>
              <a:gd name="connsiteX5-2079" fmla="*/ 1305806 w 1305814"/>
              <a:gd name="connsiteY5-2080" fmla="*/ 519922 h 1424419"/>
              <a:gd name="connsiteX6-2081" fmla="*/ 1301746 w 1305814"/>
              <a:gd name="connsiteY6-2082" fmla="*/ 953747 h 1424419"/>
              <a:gd name="connsiteX7-2083" fmla="*/ 1302599 w 1305814"/>
              <a:gd name="connsiteY7-2084" fmla="*/ 1003650 h 1424419"/>
              <a:gd name="connsiteX8-2085" fmla="*/ 1227376 w 1305814"/>
              <a:gd name="connsiteY8-2086" fmla="*/ 1152027 h 1424419"/>
              <a:gd name="connsiteX9-2087" fmla="*/ 1172881 w 1305814"/>
              <a:gd name="connsiteY9-2088" fmla="*/ 1179342 h 1424419"/>
              <a:gd name="connsiteX10-2089" fmla="*/ 792288 w 1305814"/>
              <a:gd name="connsiteY10-2090" fmla="*/ 1385653 h 1424419"/>
              <a:gd name="connsiteX11-2091" fmla="*/ 522686 w 1305814"/>
              <a:gd name="connsiteY11-2092" fmla="*/ 1384922 h 1424419"/>
              <a:gd name="connsiteX12-2093" fmla="*/ 94302 w 1305814"/>
              <a:gd name="connsiteY12-2094" fmla="*/ 1158755 h 1424419"/>
              <a:gd name="connsiteX13-2095" fmla="*/ 39429 w 1305814"/>
              <a:gd name="connsiteY13-2096" fmla="*/ 1117635 h 1424419"/>
              <a:gd name="connsiteX14-2097" fmla="*/ 667 w 1305814"/>
              <a:gd name="connsiteY14-2098" fmla="*/ 999105 h 1424419"/>
              <a:gd name="connsiteX15-2099" fmla="*/ 0 w 1305814"/>
              <a:gd name="connsiteY15-2100" fmla="*/ 972364 h 1424419"/>
              <a:gd name="connsiteX16-2101" fmla="*/ 2496 w 1305814"/>
              <a:gd name="connsiteY16-2102" fmla="*/ 463106 h 1424419"/>
              <a:gd name="connsiteX17-2103" fmla="*/ 2458 w 1305814"/>
              <a:gd name="connsiteY17-2104" fmla="*/ 429563 h 1424419"/>
              <a:gd name="connsiteX18-2105" fmla="*/ 75248 w 1305814"/>
              <a:gd name="connsiteY18-2106" fmla="*/ 303202 h 1424419"/>
              <a:gd name="connsiteX19-2107" fmla="*/ 106293 w 1305814"/>
              <a:gd name="connsiteY19-2108" fmla="*/ 282597 h 1424419"/>
              <a:gd name="connsiteX20-2109" fmla="*/ 541533 w 1305814"/>
              <a:gd name="connsiteY20-2110" fmla="*/ 38110 h 1424419"/>
              <a:gd name="connsiteX21-2111" fmla="*/ 653528 w 1305814"/>
              <a:gd name="connsiteY21-2112" fmla="*/ 0 h 1424419"/>
              <a:gd name="connsiteX0-2113" fmla="*/ 653528 w 1305814"/>
              <a:gd name="connsiteY0-2114" fmla="*/ 0 h 1424419"/>
              <a:gd name="connsiteX1-2115" fmla="*/ 757287 w 1305814"/>
              <a:gd name="connsiteY1-2116" fmla="*/ 32444 h 1424419"/>
              <a:gd name="connsiteX2-2117" fmla="*/ 1206876 w 1305814"/>
              <a:gd name="connsiteY2-2118" fmla="*/ 284945 h 1424419"/>
              <a:gd name="connsiteX3-2119" fmla="*/ 1237706 w 1305814"/>
              <a:gd name="connsiteY3-2120" fmla="*/ 306775 h 1424419"/>
              <a:gd name="connsiteX4-2121" fmla="*/ 1304420 w 1305814"/>
              <a:gd name="connsiteY4-2122" fmla="*/ 434263 h 1424419"/>
              <a:gd name="connsiteX5-2123" fmla="*/ 1305806 w 1305814"/>
              <a:gd name="connsiteY5-2124" fmla="*/ 519922 h 1424419"/>
              <a:gd name="connsiteX6-2125" fmla="*/ 1301746 w 1305814"/>
              <a:gd name="connsiteY6-2126" fmla="*/ 953747 h 1424419"/>
              <a:gd name="connsiteX7-2127" fmla="*/ 1302599 w 1305814"/>
              <a:gd name="connsiteY7-2128" fmla="*/ 1003650 h 1424419"/>
              <a:gd name="connsiteX8-2129" fmla="*/ 1227376 w 1305814"/>
              <a:gd name="connsiteY8-2130" fmla="*/ 1152027 h 1424419"/>
              <a:gd name="connsiteX9-2131" fmla="*/ 1174235 w 1305814"/>
              <a:gd name="connsiteY9-2132" fmla="*/ 1184756 h 1424419"/>
              <a:gd name="connsiteX10-2133" fmla="*/ 792288 w 1305814"/>
              <a:gd name="connsiteY10-2134" fmla="*/ 1385653 h 1424419"/>
              <a:gd name="connsiteX11-2135" fmla="*/ 522686 w 1305814"/>
              <a:gd name="connsiteY11-2136" fmla="*/ 1384922 h 1424419"/>
              <a:gd name="connsiteX12-2137" fmla="*/ 94302 w 1305814"/>
              <a:gd name="connsiteY12-2138" fmla="*/ 1158755 h 1424419"/>
              <a:gd name="connsiteX13-2139" fmla="*/ 39429 w 1305814"/>
              <a:gd name="connsiteY13-2140" fmla="*/ 1117635 h 1424419"/>
              <a:gd name="connsiteX14-2141" fmla="*/ 667 w 1305814"/>
              <a:gd name="connsiteY14-2142" fmla="*/ 999105 h 1424419"/>
              <a:gd name="connsiteX15-2143" fmla="*/ 0 w 1305814"/>
              <a:gd name="connsiteY15-2144" fmla="*/ 972364 h 1424419"/>
              <a:gd name="connsiteX16-2145" fmla="*/ 2496 w 1305814"/>
              <a:gd name="connsiteY16-2146" fmla="*/ 463106 h 1424419"/>
              <a:gd name="connsiteX17-2147" fmla="*/ 2458 w 1305814"/>
              <a:gd name="connsiteY17-2148" fmla="*/ 429563 h 1424419"/>
              <a:gd name="connsiteX18-2149" fmla="*/ 75248 w 1305814"/>
              <a:gd name="connsiteY18-2150" fmla="*/ 303202 h 1424419"/>
              <a:gd name="connsiteX19-2151" fmla="*/ 106293 w 1305814"/>
              <a:gd name="connsiteY19-2152" fmla="*/ 282597 h 1424419"/>
              <a:gd name="connsiteX20-2153" fmla="*/ 541533 w 1305814"/>
              <a:gd name="connsiteY20-2154" fmla="*/ 38110 h 1424419"/>
              <a:gd name="connsiteX21-2155" fmla="*/ 653528 w 1305814"/>
              <a:gd name="connsiteY21-2156" fmla="*/ 0 h 1424419"/>
              <a:gd name="connsiteX0-2157" fmla="*/ 653528 w 1305814"/>
              <a:gd name="connsiteY0-2158" fmla="*/ 0 h 1424419"/>
              <a:gd name="connsiteX1-2159" fmla="*/ 757287 w 1305814"/>
              <a:gd name="connsiteY1-2160" fmla="*/ 32444 h 1424419"/>
              <a:gd name="connsiteX2-2161" fmla="*/ 1206876 w 1305814"/>
              <a:gd name="connsiteY2-2162" fmla="*/ 284945 h 1424419"/>
              <a:gd name="connsiteX3-2163" fmla="*/ 1237706 w 1305814"/>
              <a:gd name="connsiteY3-2164" fmla="*/ 306775 h 1424419"/>
              <a:gd name="connsiteX4-2165" fmla="*/ 1304420 w 1305814"/>
              <a:gd name="connsiteY4-2166" fmla="*/ 434263 h 1424419"/>
              <a:gd name="connsiteX5-2167" fmla="*/ 1305806 w 1305814"/>
              <a:gd name="connsiteY5-2168" fmla="*/ 519922 h 1424419"/>
              <a:gd name="connsiteX6-2169" fmla="*/ 1301746 w 1305814"/>
              <a:gd name="connsiteY6-2170" fmla="*/ 953747 h 1424419"/>
              <a:gd name="connsiteX7-2171" fmla="*/ 1302599 w 1305814"/>
              <a:gd name="connsiteY7-2172" fmla="*/ 1003650 h 1424419"/>
              <a:gd name="connsiteX8-2173" fmla="*/ 1227376 w 1305814"/>
              <a:gd name="connsiteY8-2174" fmla="*/ 1152027 h 1424419"/>
              <a:gd name="connsiteX9-2175" fmla="*/ 1174235 w 1305814"/>
              <a:gd name="connsiteY9-2176" fmla="*/ 1184756 h 1424419"/>
              <a:gd name="connsiteX10-2177" fmla="*/ 792288 w 1305814"/>
              <a:gd name="connsiteY10-2178" fmla="*/ 1385653 h 1424419"/>
              <a:gd name="connsiteX11-2179" fmla="*/ 522686 w 1305814"/>
              <a:gd name="connsiteY11-2180" fmla="*/ 1384922 h 1424419"/>
              <a:gd name="connsiteX12-2181" fmla="*/ 94302 w 1305814"/>
              <a:gd name="connsiteY12-2182" fmla="*/ 1158755 h 1424419"/>
              <a:gd name="connsiteX13-2183" fmla="*/ 39429 w 1305814"/>
              <a:gd name="connsiteY13-2184" fmla="*/ 1117635 h 1424419"/>
              <a:gd name="connsiteX14-2185" fmla="*/ 667 w 1305814"/>
              <a:gd name="connsiteY14-2186" fmla="*/ 999105 h 1424419"/>
              <a:gd name="connsiteX15-2187" fmla="*/ 0 w 1305814"/>
              <a:gd name="connsiteY15-2188" fmla="*/ 972364 h 1424419"/>
              <a:gd name="connsiteX16-2189" fmla="*/ 2496 w 1305814"/>
              <a:gd name="connsiteY16-2190" fmla="*/ 463106 h 1424419"/>
              <a:gd name="connsiteX17-2191" fmla="*/ 2458 w 1305814"/>
              <a:gd name="connsiteY17-2192" fmla="*/ 429563 h 1424419"/>
              <a:gd name="connsiteX18-2193" fmla="*/ 75248 w 1305814"/>
              <a:gd name="connsiteY18-2194" fmla="*/ 303202 h 1424419"/>
              <a:gd name="connsiteX19-2195" fmla="*/ 106293 w 1305814"/>
              <a:gd name="connsiteY19-2196" fmla="*/ 282597 h 1424419"/>
              <a:gd name="connsiteX20-2197" fmla="*/ 541533 w 1305814"/>
              <a:gd name="connsiteY20-2198" fmla="*/ 38110 h 1424419"/>
              <a:gd name="connsiteX21-2199" fmla="*/ 653528 w 1305814"/>
              <a:gd name="connsiteY21-2200" fmla="*/ 0 h 1424419"/>
              <a:gd name="connsiteX0-2201" fmla="*/ 653528 w 1305814"/>
              <a:gd name="connsiteY0-2202" fmla="*/ 0 h 1427408"/>
              <a:gd name="connsiteX1-2203" fmla="*/ 757287 w 1305814"/>
              <a:gd name="connsiteY1-2204" fmla="*/ 32444 h 1427408"/>
              <a:gd name="connsiteX2-2205" fmla="*/ 1206876 w 1305814"/>
              <a:gd name="connsiteY2-2206" fmla="*/ 284945 h 1427408"/>
              <a:gd name="connsiteX3-2207" fmla="*/ 1237706 w 1305814"/>
              <a:gd name="connsiteY3-2208" fmla="*/ 306775 h 1427408"/>
              <a:gd name="connsiteX4-2209" fmla="*/ 1304420 w 1305814"/>
              <a:gd name="connsiteY4-2210" fmla="*/ 434263 h 1427408"/>
              <a:gd name="connsiteX5-2211" fmla="*/ 1305806 w 1305814"/>
              <a:gd name="connsiteY5-2212" fmla="*/ 519922 h 1427408"/>
              <a:gd name="connsiteX6-2213" fmla="*/ 1301746 w 1305814"/>
              <a:gd name="connsiteY6-2214" fmla="*/ 953747 h 1427408"/>
              <a:gd name="connsiteX7-2215" fmla="*/ 1302599 w 1305814"/>
              <a:gd name="connsiteY7-2216" fmla="*/ 1003650 h 1427408"/>
              <a:gd name="connsiteX8-2217" fmla="*/ 1227376 w 1305814"/>
              <a:gd name="connsiteY8-2218" fmla="*/ 1152027 h 1427408"/>
              <a:gd name="connsiteX9-2219" fmla="*/ 1174235 w 1305814"/>
              <a:gd name="connsiteY9-2220" fmla="*/ 1184756 h 1427408"/>
              <a:gd name="connsiteX10-2221" fmla="*/ 792288 w 1305814"/>
              <a:gd name="connsiteY10-2222" fmla="*/ 1385653 h 1427408"/>
              <a:gd name="connsiteX11-2223" fmla="*/ 517719 w 1305814"/>
              <a:gd name="connsiteY11-2224" fmla="*/ 1389889 h 1427408"/>
              <a:gd name="connsiteX12-2225" fmla="*/ 94302 w 1305814"/>
              <a:gd name="connsiteY12-2226" fmla="*/ 1158755 h 1427408"/>
              <a:gd name="connsiteX13-2227" fmla="*/ 39429 w 1305814"/>
              <a:gd name="connsiteY13-2228" fmla="*/ 1117635 h 1427408"/>
              <a:gd name="connsiteX14-2229" fmla="*/ 667 w 1305814"/>
              <a:gd name="connsiteY14-2230" fmla="*/ 999105 h 1427408"/>
              <a:gd name="connsiteX15-2231" fmla="*/ 0 w 1305814"/>
              <a:gd name="connsiteY15-2232" fmla="*/ 972364 h 1427408"/>
              <a:gd name="connsiteX16-2233" fmla="*/ 2496 w 1305814"/>
              <a:gd name="connsiteY16-2234" fmla="*/ 463106 h 1427408"/>
              <a:gd name="connsiteX17-2235" fmla="*/ 2458 w 1305814"/>
              <a:gd name="connsiteY17-2236" fmla="*/ 429563 h 1427408"/>
              <a:gd name="connsiteX18-2237" fmla="*/ 75248 w 1305814"/>
              <a:gd name="connsiteY18-2238" fmla="*/ 303202 h 1427408"/>
              <a:gd name="connsiteX19-2239" fmla="*/ 106293 w 1305814"/>
              <a:gd name="connsiteY19-2240" fmla="*/ 282597 h 1427408"/>
              <a:gd name="connsiteX20-2241" fmla="*/ 541533 w 1305814"/>
              <a:gd name="connsiteY20-2242" fmla="*/ 38110 h 1427408"/>
              <a:gd name="connsiteX21-2243" fmla="*/ 653528 w 1305814"/>
              <a:gd name="connsiteY21-2244" fmla="*/ 0 h 1427408"/>
              <a:gd name="connsiteX0-2245" fmla="*/ 653528 w 1305814"/>
              <a:gd name="connsiteY0-2246" fmla="*/ 0 h 1427408"/>
              <a:gd name="connsiteX1-2247" fmla="*/ 757287 w 1305814"/>
              <a:gd name="connsiteY1-2248" fmla="*/ 32444 h 1427408"/>
              <a:gd name="connsiteX2-2249" fmla="*/ 1206876 w 1305814"/>
              <a:gd name="connsiteY2-2250" fmla="*/ 284945 h 1427408"/>
              <a:gd name="connsiteX3-2251" fmla="*/ 1237706 w 1305814"/>
              <a:gd name="connsiteY3-2252" fmla="*/ 306775 h 1427408"/>
              <a:gd name="connsiteX4-2253" fmla="*/ 1304420 w 1305814"/>
              <a:gd name="connsiteY4-2254" fmla="*/ 434263 h 1427408"/>
              <a:gd name="connsiteX5-2255" fmla="*/ 1305806 w 1305814"/>
              <a:gd name="connsiteY5-2256" fmla="*/ 519922 h 1427408"/>
              <a:gd name="connsiteX6-2257" fmla="*/ 1301746 w 1305814"/>
              <a:gd name="connsiteY6-2258" fmla="*/ 953747 h 1427408"/>
              <a:gd name="connsiteX7-2259" fmla="*/ 1302599 w 1305814"/>
              <a:gd name="connsiteY7-2260" fmla="*/ 1003650 h 1427408"/>
              <a:gd name="connsiteX8-2261" fmla="*/ 1227376 w 1305814"/>
              <a:gd name="connsiteY8-2262" fmla="*/ 1152027 h 1427408"/>
              <a:gd name="connsiteX9-2263" fmla="*/ 1174235 w 1305814"/>
              <a:gd name="connsiteY9-2264" fmla="*/ 1184756 h 1427408"/>
              <a:gd name="connsiteX10-2265" fmla="*/ 792288 w 1305814"/>
              <a:gd name="connsiteY10-2266" fmla="*/ 1385653 h 1427408"/>
              <a:gd name="connsiteX11-2267" fmla="*/ 517719 w 1305814"/>
              <a:gd name="connsiteY11-2268" fmla="*/ 1389889 h 1427408"/>
              <a:gd name="connsiteX12-2269" fmla="*/ 94302 w 1305814"/>
              <a:gd name="connsiteY12-2270" fmla="*/ 1158755 h 1427408"/>
              <a:gd name="connsiteX13-2271" fmla="*/ 39429 w 1305814"/>
              <a:gd name="connsiteY13-2272" fmla="*/ 1117635 h 1427408"/>
              <a:gd name="connsiteX14-2273" fmla="*/ 667 w 1305814"/>
              <a:gd name="connsiteY14-2274" fmla="*/ 999105 h 1427408"/>
              <a:gd name="connsiteX15-2275" fmla="*/ 0 w 1305814"/>
              <a:gd name="connsiteY15-2276" fmla="*/ 972364 h 1427408"/>
              <a:gd name="connsiteX16-2277" fmla="*/ 2496 w 1305814"/>
              <a:gd name="connsiteY16-2278" fmla="*/ 463106 h 1427408"/>
              <a:gd name="connsiteX17-2279" fmla="*/ 2458 w 1305814"/>
              <a:gd name="connsiteY17-2280" fmla="*/ 429563 h 1427408"/>
              <a:gd name="connsiteX18-2281" fmla="*/ 75248 w 1305814"/>
              <a:gd name="connsiteY18-2282" fmla="*/ 303202 h 1427408"/>
              <a:gd name="connsiteX19-2283" fmla="*/ 106293 w 1305814"/>
              <a:gd name="connsiteY19-2284" fmla="*/ 282597 h 1427408"/>
              <a:gd name="connsiteX20-2285" fmla="*/ 541533 w 1305814"/>
              <a:gd name="connsiteY20-2286" fmla="*/ 38110 h 1427408"/>
              <a:gd name="connsiteX21-2287" fmla="*/ 653528 w 1305814"/>
              <a:gd name="connsiteY21-2288" fmla="*/ 0 h 1427408"/>
              <a:gd name="connsiteX0-2289" fmla="*/ 653528 w 1305814"/>
              <a:gd name="connsiteY0-2290" fmla="*/ 0 h 1421591"/>
              <a:gd name="connsiteX1-2291" fmla="*/ 757287 w 1305814"/>
              <a:gd name="connsiteY1-2292" fmla="*/ 32444 h 1421591"/>
              <a:gd name="connsiteX2-2293" fmla="*/ 1206876 w 1305814"/>
              <a:gd name="connsiteY2-2294" fmla="*/ 284945 h 1421591"/>
              <a:gd name="connsiteX3-2295" fmla="*/ 1237706 w 1305814"/>
              <a:gd name="connsiteY3-2296" fmla="*/ 306775 h 1421591"/>
              <a:gd name="connsiteX4-2297" fmla="*/ 1304420 w 1305814"/>
              <a:gd name="connsiteY4-2298" fmla="*/ 434263 h 1421591"/>
              <a:gd name="connsiteX5-2299" fmla="*/ 1305806 w 1305814"/>
              <a:gd name="connsiteY5-2300" fmla="*/ 519922 h 1421591"/>
              <a:gd name="connsiteX6-2301" fmla="*/ 1301746 w 1305814"/>
              <a:gd name="connsiteY6-2302" fmla="*/ 953747 h 1421591"/>
              <a:gd name="connsiteX7-2303" fmla="*/ 1302599 w 1305814"/>
              <a:gd name="connsiteY7-2304" fmla="*/ 1003650 h 1421591"/>
              <a:gd name="connsiteX8-2305" fmla="*/ 1227376 w 1305814"/>
              <a:gd name="connsiteY8-2306" fmla="*/ 1152027 h 1421591"/>
              <a:gd name="connsiteX9-2307" fmla="*/ 1174235 w 1305814"/>
              <a:gd name="connsiteY9-2308" fmla="*/ 1184756 h 1421591"/>
              <a:gd name="connsiteX10-2309" fmla="*/ 792288 w 1305814"/>
              <a:gd name="connsiteY10-2310" fmla="*/ 1385653 h 1421591"/>
              <a:gd name="connsiteX11-2311" fmla="*/ 502818 w 1305814"/>
              <a:gd name="connsiteY11-2312" fmla="*/ 1379955 h 1421591"/>
              <a:gd name="connsiteX12-2313" fmla="*/ 94302 w 1305814"/>
              <a:gd name="connsiteY12-2314" fmla="*/ 1158755 h 1421591"/>
              <a:gd name="connsiteX13-2315" fmla="*/ 39429 w 1305814"/>
              <a:gd name="connsiteY13-2316" fmla="*/ 1117635 h 1421591"/>
              <a:gd name="connsiteX14-2317" fmla="*/ 667 w 1305814"/>
              <a:gd name="connsiteY14-2318" fmla="*/ 999105 h 1421591"/>
              <a:gd name="connsiteX15-2319" fmla="*/ 0 w 1305814"/>
              <a:gd name="connsiteY15-2320" fmla="*/ 972364 h 1421591"/>
              <a:gd name="connsiteX16-2321" fmla="*/ 2496 w 1305814"/>
              <a:gd name="connsiteY16-2322" fmla="*/ 463106 h 1421591"/>
              <a:gd name="connsiteX17-2323" fmla="*/ 2458 w 1305814"/>
              <a:gd name="connsiteY17-2324" fmla="*/ 429563 h 1421591"/>
              <a:gd name="connsiteX18-2325" fmla="*/ 75248 w 1305814"/>
              <a:gd name="connsiteY18-2326" fmla="*/ 303202 h 1421591"/>
              <a:gd name="connsiteX19-2327" fmla="*/ 106293 w 1305814"/>
              <a:gd name="connsiteY19-2328" fmla="*/ 282597 h 1421591"/>
              <a:gd name="connsiteX20-2329" fmla="*/ 541533 w 1305814"/>
              <a:gd name="connsiteY20-2330" fmla="*/ 38110 h 1421591"/>
              <a:gd name="connsiteX21-2331" fmla="*/ 653528 w 1305814"/>
              <a:gd name="connsiteY21-2332" fmla="*/ 0 h 1421591"/>
              <a:gd name="connsiteX0-2333" fmla="*/ 653528 w 1305814"/>
              <a:gd name="connsiteY0-2334" fmla="*/ 0 h 1423589"/>
              <a:gd name="connsiteX1-2335" fmla="*/ 757287 w 1305814"/>
              <a:gd name="connsiteY1-2336" fmla="*/ 32444 h 1423589"/>
              <a:gd name="connsiteX2-2337" fmla="*/ 1206876 w 1305814"/>
              <a:gd name="connsiteY2-2338" fmla="*/ 284945 h 1423589"/>
              <a:gd name="connsiteX3-2339" fmla="*/ 1237706 w 1305814"/>
              <a:gd name="connsiteY3-2340" fmla="*/ 306775 h 1423589"/>
              <a:gd name="connsiteX4-2341" fmla="*/ 1304420 w 1305814"/>
              <a:gd name="connsiteY4-2342" fmla="*/ 434263 h 1423589"/>
              <a:gd name="connsiteX5-2343" fmla="*/ 1305806 w 1305814"/>
              <a:gd name="connsiteY5-2344" fmla="*/ 519922 h 1423589"/>
              <a:gd name="connsiteX6-2345" fmla="*/ 1301746 w 1305814"/>
              <a:gd name="connsiteY6-2346" fmla="*/ 953747 h 1423589"/>
              <a:gd name="connsiteX7-2347" fmla="*/ 1302599 w 1305814"/>
              <a:gd name="connsiteY7-2348" fmla="*/ 1003650 h 1423589"/>
              <a:gd name="connsiteX8-2349" fmla="*/ 1227376 w 1305814"/>
              <a:gd name="connsiteY8-2350" fmla="*/ 1152027 h 1423589"/>
              <a:gd name="connsiteX9-2351" fmla="*/ 1174235 w 1305814"/>
              <a:gd name="connsiteY9-2352" fmla="*/ 1184756 h 1423589"/>
              <a:gd name="connsiteX10-2353" fmla="*/ 792288 w 1305814"/>
              <a:gd name="connsiteY10-2354" fmla="*/ 1385653 h 1423589"/>
              <a:gd name="connsiteX11-2355" fmla="*/ 502818 w 1305814"/>
              <a:gd name="connsiteY11-2356" fmla="*/ 1379955 h 1423589"/>
              <a:gd name="connsiteX12-2357" fmla="*/ 94302 w 1305814"/>
              <a:gd name="connsiteY12-2358" fmla="*/ 1158755 h 1423589"/>
              <a:gd name="connsiteX13-2359" fmla="*/ 39429 w 1305814"/>
              <a:gd name="connsiteY13-2360" fmla="*/ 1117635 h 1423589"/>
              <a:gd name="connsiteX14-2361" fmla="*/ 667 w 1305814"/>
              <a:gd name="connsiteY14-2362" fmla="*/ 999105 h 1423589"/>
              <a:gd name="connsiteX15-2363" fmla="*/ 0 w 1305814"/>
              <a:gd name="connsiteY15-2364" fmla="*/ 972364 h 1423589"/>
              <a:gd name="connsiteX16-2365" fmla="*/ 2496 w 1305814"/>
              <a:gd name="connsiteY16-2366" fmla="*/ 463106 h 1423589"/>
              <a:gd name="connsiteX17-2367" fmla="*/ 2458 w 1305814"/>
              <a:gd name="connsiteY17-2368" fmla="*/ 429563 h 1423589"/>
              <a:gd name="connsiteX18-2369" fmla="*/ 75248 w 1305814"/>
              <a:gd name="connsiteY18-2370" fmla="*/ 303202 h 1423589"/>
              <a:gd name="connsiteX19-2371" fmla="*/ 106293 w 1305814"/>
              <a:gd name="connsiteY19-2372" fmla="*/ 282597 h 1423589"/>
              <a:gd name="connsiteX20-2373" fmla="*/ 541533 w 1305814"/>
              <a:gd name="connsiteY20-2374" fmla="*/ 38110 h 1423589"/>
              <a:gd name="connsiteX21-2375" fmla="*/ 653528 w 1305814"/>
              <a:gd name="connsiteY21-2376" fmla="*/ 0 h 142358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1305814" h="1423589">
                <a:moveTo>
                  <a:pt x="653528" y="0"/>
                </a:moveTo>
                <a:cubicBezTo>
                  <a:pt x="684553" y="-1"/>
                  <a:pt x="736057" y="24011"/>
                  <a:pt x="757287" y="32444"/>
                </a:cubicBezTo>
                <a:lnTo>
                  <a:pt x="1206876" y="284945"/>
                </a:lnTo>
                <a:cubicBezTo>
                  <a:pt x="1213399" y="291230"/>
                  <a:pt x="1233090" y="301119"/>
                  <a:pt x="1237706" y="306775"/>
                </a:cubicBezTo>
                <a:cubicBezTo>
                  <a:pt x="1285405" y="341141"/>
                  <a:pt x="1301367" y="360355"/>
                  <a:pt x="1304420" y="434263"/>
                </a:cubicBezTo>
                <a:cubicBezTo>
                  <a:pt x="1306256" y="435452"/>
                  <a:pt x="1303756" y="518852"/>
                  <a:pt x="1305806" y="519922"/>
                </a:cubicBezTo>
                <a:cubicBezTo>
                  <a:pt x="1306028" y="563787"/>
                  <a:pt x="1301771" y="907207"/>
                  <a:pt x="1301746" y="953747"/>
                </a:cubicBezTo>
                <a:cubicBezTo>
                  <a:pt x="1301579" y="970833"/>
                  <a:pt x="1302766" y="986564"/>
                  <a:pt x="1302599" y="1003650"/>
                </a:cubicBezTo>
                <a:cubicBezTo>
                  <a:pt x="1298075" y="1097264"/>
                  <a:pt x="1299308" y="1117497"/>
                  <a:pt x="1227376" y="1152027"/>
                </a:cubicBezTo>
                <a:cubicBezTo>
                  <a:pt x="1229069" y="1151612"/>
                  <a:pt x="1262992" y="1133636"/>
                  <a:pt x="1174235" y="1184756"/>
                </a:cubicBezTo>
                <a:cubicBezTo>
                  <a:pt x="1102911" y="1225835"/>
                  <a:pt x="986013" y="1283805"/>
                  <a:pt x="792288" y="1385653"/>
                </a:cubicBezTo>
                <a:cubicBezTo>
                  <a:pt x="702978" y="1424034"/>
                  <a:pt x="634560" y="1449454"/>
                  <a:pt x="502818" y="1379955"/>
                </a:cubicBezTo>
                <a:cubicBezTo>
                  <a:pt x="358670" y="1301859"/>
                  <a:pt x="241278" y="1242506"/>
                  <a:pt x="94302" y="1158755"/>
                </a:cubicBezTo>
                <a:cubicBezTo>
                  <a:pt x="64301" y="1138833"/>
                  <a:pt x="61069" y="1137739"/>
                  <a:pt x="39429" y="1117635"/>
                </a:cubicBezTo>
                <a:cubicBezTo>
                  <a:pt x="9399" y="1091481"/>
                  <a:pt x="81" y="1056313"/>
                  <a:pt x="667" y="999105"/>
                </a:cubicBezTo>
                <a:cubicBezTo>
                  <a:pt x="445" y="990191"/>
                  <a:pt x="222" y="981278"/>
                  <a:pt x="0" y="972364"/>
                </a:cubicBezTo>
                <a:lnTo>
                  <a:pt x="2496" y="463106"/>
                </a:lnTo>
                <a:cubicBezTo>
                  <a:pt x="2483" y="451925"/>
                  <a:pt x="2471" y="440744"/>
                  <a:pt x="2458" y="429563"/>
                </a:cubicBezTo>
                <a:cubicBezTo>
                  <a:pt x="2770" y="365277"/>
                  <a:pt x="14732" y="348090"/>
                  <a:pt x="75248" y="303202"/>
                </a:cubicBezTo>
                <a:lnTo>
                  <a:pt x="106293" y="282597"/>
                </a:lnTo>
                <a:lnTo>
                  <a:pt x="541533" y="38110"/>
                </a:lnTo>
                <a:cubicBezTo>
                  <a:pt x="582751" y="12487"/>
                  <a:pt x="613897" y="0"/>
                  <a:pt x="653528" y="0"/>
                </a:cubicBezTo>
                <a:close/>
              </a:path>
            </a:pathLst>
          </a:custGeom>
          <a:gradFill>
            <a:gsLst>
              <a:gs pos="50000">
                <a:schemeClr val="accent1"/>
              </a:gs>
              <a:gs pos="0">
                <a:schemeClr val="accent1">
                  <a:lumMod val="25000"/>
                  <a:lumOff val="75000"/>
                </a:schemeClr>
              </a:gs>
              <a:gs pos="100000">
                <a:schemeClr val="accent1">
                  <a:lumMod val="85000"/>
                </a:schemeClr>
              </a:gs>
            </a:gsLst>
            <a:lin ang="5400000" scaled="1"/>
          </a:gradFill>
          <a:ln>
            <a:noFill/>
          </a:ln>
          <a:effectLst>
            <a:outerShdw blurRad="190500" dist="127000" dir="2700000" algn="tl" rotWithShape="0">
              <a:prstClr val="black">
                <a:alpha val="30000"/>
              </a:prstClr>
            </a:outerShdw>
          </a:effectLst>
        </p:spPr>
        <p:txBody>
          <a:bodyPr anchor="ctr"/>
          <a:lstStyle/>
          <a:p>
            <a:pPr algn="ctr" defTabSz="914400"/>
            <a:endParaRPr lang="zh-CN" altLang="en-US" sz="4265" dirty="0">
              <a:solidFill>
                <a:prstClr val="white"/>
              </a:solidFill>
              <a:latin typeface="微软雅黑" panose="020B0503020204020204" charset="-122"/>
              <a:ea typeface="微软雅黑" panose="020B0503020204020204" charset="-122"/>
            </a:endParaRPr>
          </a:p>
        </p:txBody>
      </p:sp>
      <p:sp>
        <p:nvSpPr>
          <p:cNvPr id="50" name="矩形 49"/>
          <p:cNvSpPr/>
          <p:nvPr/>
        </p:nvSpPr>
        <p:spPr>
          <a:xfrm>
            <a:off x="9593724" y="1924815"/>
            <a:ext cx="1452636" cy="1076325"/>
          </a:xfrm>
          <a:prstGeom prst="rect">
            <a:avLst/>
          </a:prstGeom>
        </p:spPr>
        <p:txBody>
          <a:bodyPr wrap="square" lIns="91452" tIns="45727" rIns="91452" bIns="45727">
            <a:spAutoFit/>
          </a:bodyPr>
          <a:lstStyle/>
          <a:p>
            <a:pPr algn="ctr">
              <a:lnSpc>
                <a:spcPct val="120000"/>
              </a:lnSpc>
            </a:pPr>
            <a:r>
              <a:rPr lang="zh-CN" altLang="en-US" sz="2665" b="1" dirty="0">
                <a:gradFill>
                  <a:gsLst>
                    <a:gs pos="51300">
                      <a:srgbClr val="FE5F4A"/>
                    </a:gs>
                    <a:gs pos="0">
                      <a:srgbClr val="DF0303"/>
                    </a:gs>
                    <a:gs pos="100000">
                      <a:srgbClr val="FEA06E"/>
                    </a:gs>
                  </a:gsLst>
                  <a:lin ang="5400000" scaled="1"/>
                </a:gradFill>
                <a:latin typeface="微软雅黑" panose="020B0503020204020204" charset="-122"/>
                <a:ea typeface="微软雅黑" panose="020B0503020204020204" charset="-122"/>
              </a:rPr>
              <a:t>企业</a:t>
            </a:r>
          </a:p>
          <a:p>
            <a:pPr algn="ctr">
              <a:lnSpc>
                <a:spcPct val="120000"/>
              </a:lnSpc>
            </a:pPr>
            <a:r>
              <a:rPr lang="zh-CN" altLang="en-US" sz="2665" b="1" dirty="0">
                <a:gradFill>
                  <a:gsLst>
                    <a:gs pos="51300">
                      <a:srgbClr val="FE5F4A"/>
                    </a:gs>
                    <a:gs pos="0">
                      <a:srgbClr val="DF0303"/>
                    </a:gs>
                    <a:gs pos="100000">
                      <a:srgbClr val="FEA06E"/>
                    </a:gs>
                  </a:gsLst>
                  <a:lin ang="5400000" scaled="1"/>
                </a:gradFill>
                <a:latin typeface="微软雅黑" panose="020B0503020204020204" charset="-122"/>
                <a:ea typeface="微软雅黑" panose="020B0503020204020204" charset="-122"/>
              </a:rPr>
              <a:t>愿景</a:t>
            </a:r>
          </a:p>
        </p:txBody>
      </p:sp>
      <p:sp>
        <p:nvSpPr>
          <p:cNvPr id="51" name="TextBox 27"/>
          <p:cNvSpPr txBox="1"/>
          <p:nvPr>
            <p:custDataLst>
              <p:tags r:id="rId9"/>
            </p:custDataLst>
          </p:nvPr>
        </p:nvSpPr>
        <p:spPr>
          <a:xfrm>
            <a:off x="208915" y="4208145"/>
            <a:ext cx="2447925" cy="15100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78140" tIns="0" rIns="178140" bIns="0" rtlCol="0" anchor="t">
            <a:noAutofit/>
          </a:bodyPr>
          <a:lstStyle>
            <a:defPPr>
              <a:defRPr lang="zh-CN"/>
            </a:defPPr>
            <a:lvl1pPr>
              <a:defRPr sz="1100">
                <a:solidFill>
                  <a:schemeClr val="bg1">
                    <a:lumMod val="50000"/>
                  </a:schemeClr>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just">
              <a:lnSpc>
                <a:spcPct val="150000"/>
              </a:lnSpc>
            </a:pPr>
            <a:r>
              <a:rPr lang="zh-CN" altLang="en-US" sz="1600" b="1" dirty="0">
                <a:gradFill>
                  <a:gsLst>
                    <a:gs pos="51300">
                      <a:srgbClr val="FE5F4A"/>
                    </a:gs>
                    <a:gs pos="0">
                      <a:srgbClr val="DF0303"/>
                    </a:gs>
                    <a:gs pos="100000">
                      <a:srgbClr val="FEA06E"/>
                    </a:gs>
                  </a:gsLst>
                  <a:lin ang="5400000" scaled="1"/>
                </a:gradFill>
                <a:effectLst>
                  <a:outerShdw blurRad="38100" dist="38100" dir="2700000" algn="tl">
                    <a:srgbClr val="000000">
                      <a:alpha val="43137"/>
                    </a:srgbClr>
                  </a:outerShdw>
                </a:effectLst>
                <a:latin typeface="微软雅黑" panose="020B0503020204020204" charset="-122"/>
                <a:ea typeface="微软雅黑" panose="020B0503020204020204" charset="-122"/>
              </a:rPr>
              <a:t>短期目标</a:t>
            </a:r>
            <a:r>
              <a:rPr lang="zh-CN" altLang="en-US" sz="1200" dirty="0">
                <a:solidFill>
                  <a:schemeClr val="accent1">
                    <a:lumMod val="50000"/>
                  </a:schemeClr>
                </a:solidFill>
              </a:rPr>
              <a:t>（2026-2027年）</a:t>
            </a:r>
          </a:p>
          <a:p>
            <a:pPr algn="just">
              <a:lnSpc>
                <a:spcPct val="150000"/>
              </a:lnSpc>
            </a:pPr>
            <a:r>
              <a:rPr lang="zh-CN" altLang="en-US" sz="1200" dirty="0">
                <a:solidFill>
                  <a:schemeClr val="accent1">
                    <a:lumMod val="50000"/>
                  </a:schemeClr>
                </a:solidFill>
              </a:rPr>
              <a:t>以人形</a:t>
            </a:r>
            <a:r>
              <a:rPr lang="en-US" altLang="zh-CN" sz="1200" dirty="0">
                <a:solidFill>
                  <a:schemeClr val="accent1">
                    <a:lumMod val="50000"/>
                  </a:schemeClr>
                </a:solidFill>
              </a:rPr>
              <a:t>/</a:t>
            </a:r>
            <a:r>
              <a:rPr lang="zh-CN" altLang="en-US" sz="1200" dirty="0">
                <a:solidFill>
                  <a:schemeClr val="accent1">
                    <a:lumMod val="50000"/>
                  </a:schemeClr>
                </a:solidFill>
              </a:rPr>
              <a:t>四足机器人关节模组为支点，快速实现商业化落地与正向现金流，同步完成重载无人机技术布局</a:t>
            </a:r>
          </a:p>
        </p:txBody>
      </p:sp>
      <p:sp>
        <p:nvSpPr>
          <p:cNvPr id="52" name="TextBox 29"/>
          <p:cNvSpPr txBox="1"/>
          <p:nvPr>
            <p:custDataLst>
              <p:tags r:id="rId10"/>
            </p:custDataLst>
          </p:nvPr>
        </p:nvSpPr>
        <p:spPr>
          <a:xfrm>
            <a:off x="5411470" y="4416425"/>
            <a:ext cx="3462020" cy="16268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78140" tIns="0" rIns="178140" bIns="0" rtlCol="0" anchor="t">
            <a:noAutofit/>
          </a:bodyPr>
          <a:lstStyle>
            <a:defPPr>
              <a:defRPr lang="zh-CN"/>
            </a:defPPr>
            <a:lvl1pPr>
              <a:defRPr sz="1100">
                <a:solidFill>
                  <a:schemeClr val="bg1">
                    <a:lumMod val="50000"/>
                  </a:schemeClr>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just">
              <a:lnSpc>
                <a:spcPct val="150000"/>
              </a:lnSpc>
              <a:buClrTx/>
              <a:buSzTx/>
              <a:buFontTx/>
            </a:pPr>
            <a:r>
              <a:rPr lang="zh-CN" altLang="en-US" sz="1600" b="1" dirty="0">
                <a:gradFill>
                  <a:gsLst>
                    <a:gs pos="51300">
                      <a:srgbClr val="FE5F4A"/>
                    </a:gs>
                    <a:gs pos="0">
                      <a:srgbClr val="DF0303"/>
                    </a:gs>
                    <a:gs pos="100000">
                      <a:srgbClr val="FEA06E"/>
                    </a:gs>
                  </a:gsLst>
                  <a:lin ang="5400000" scaled="1"/>
                </a:gradFill>
                <a:effectLst>
                  <a:outerShdw blurRad="38100" dist="38100" dir="2700000" algn="tl">
                    <a:srgbClr val="000000">
                      <a:alpha val="43137"/>
                    </a:srgbClr>
                  </a:outerShdw>
                </a:effectLst>
                <a:latin typeface="微软雅黑" panose="020B0503020204020204" charset="-122"/>
                <a:ea typeface="微软雅黑" panose="020B0503020204020204" charset="-122"/>
              </a:rPr>
              <a:t>长期目标</a:t>
            </a:r>
            <a:r>
              <a:rPr lang="zh-CN" altLang="en-US" sz="1200" dirty="0">
                <a:solidFill>
                  <a:schemeClr val="accent1">
                    <a:lumMod val="50000"/>
                  </a:schemeClr>
                </a:solidFill>
                <a:effectLst/>
                <a:latin typeface="微软雅黑" panose="020B0503020204020204" charset="-122"/>
                <a:ea typeface="微软雅黑" panose="020B0503020204020204" charset="-122"/>
              </a:rPr>
              <a:t>（2030年及以后）</a:t>
            </a:r>
          </a:p>
          <a:p>
            <a:pPr algn="just">
              <a:lnSpc>
                <a:spcPct val="150000"/>
              </a:lnSpc>
            </a:pPr>
            <a:r>
              <a:rPr lang="zh-CN" altLang="en-US" sz="1200" dirty="0">
                <a:solidFill>
                  <a:schemeClr val="accent1">
                    <a:lumMod val="50000"/>
                  </a:schemeClr>
                </a:solidFill>
              </a:rPr>
              <a:t>双业务线全面爆发，重载无人机业务成为新的营收增长极，构建技术壁垒与行业话语权。</a:t>
            </a:r>
          </a:p>
          <a:p>
            <a:pPr algn="just">
              <a:lnSpc>
                <a:spcPct val="150000"/>
              </a:lnSpc>
            </a:pPr>
            <a:r>
              <a:rPr lang="zh-CN" altLang="en-US" sz="1200" dirty="0">
                <a:solidFill>
                  <a:schemeClr val="accent1">
                    <a:lumMod val="50000"/>
                  </a:schemeClr>
                </a:solidFill>
              </a:rPr>
              <a:t>后续将着力于突破</a:t>
            </a:r>
            <a:r>
              <a:rPr lang="en-US" altLang="zh-CN" sz="1200" dirty="0">
                <a:solidFill>
                  <a:schemeClr val="accent1">
                    <a:lumMod val="50000"/>
                  </a:schemeClr>
                </a:solidFill>
              </a:rPr>
              <a:t>“</a:t>
            </a:r>
            <a:r>
              <a:rPr lang="zh-CN" altLang="en-US" sz="1200" dirty="0">
                <a:solidFill>
                  <a:schemeClr val="accent1">
                    <a:lumMod val="50000"/>
                  </a:schemeClr>
                </a:solidFill>
              </a:rPr>
              <a:t>智能热管理</a:t>
            </a:r>
            <a:r>
              <a:rPr lang="en-US" altLang="zh-CN" sz="1200" dirty="0">
                <a:solidFill>
                  <a:schemeClr val="accent1">
                    <a:lumMod val="50000"/>
                  </a:schemeClr>
                </a:solidFill>
              </a:rPr>
              <a:t>”</a:t>
            </a:r>
            <a:r>
              <a:rPr lang="zh-CN" altLang="en-US" sz="1200" dirty="0">
                <a:solidFill>
                  <a:schemeClr val="accent1">
                    <a:lumMod val="50000"/>
                  </a:schemeClr>
                </a:solidFill>
              </a:rPr>
              <a:t>，通过</a:t>
            </a:r>
            <a:r>
              <a:rPr lang="en-US" altLang="zh-CN" sz="1200" dirty="0">
                <a:solidFill>
                  <a:schemeClr val="accent1">
                    <a:lumMod val="50000"/>
                  </a:schemeClr>
                </a:solidFill>
              </a:rPr>
              <a:t>AI</a:t>
            </a:r>
            <a:r>
              <a:rPr lang="zh-CN" altLang="en-US" sz="1200" dirty="0">
                <a:solidFill>
                  <a:schemeClr val="accent1">
                    <a:lumMod val="50000"/>
                  </a:schemeClr>
                </a:solidFill>
              </a:rPr>
              <a:t>算法精准高效控制电机运转，从上层算法层面进一步提升热管理效率</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72"/>
          <p:cNvPicPr>
            <a:picLocks noChangeAspect="1"/>
          </p:cNvPicPr>
          <p:nvPr/>
        </p:nvPicPr>
        <p:blipFill>
          <a:blip r:embed="rId2"/>
          <a:stretch>
            <a:fillRect/>
          </a:stretch>
        </p:blipFill>
        <p:spPr>
          <a:xfrm rot="21600000">
            <a:off x="0" y="-83130"/>
            <a:ext cx="12192000" cy="6857998"/>
          </a:xfrm>
          <a:prstGeom prst="rect">
            <a:avLst/>
          </a:prstGeom>
        </p:spPr>
      </p:pic>
      <p:pic>
        <p:nvPicPr>
          <p:cNvPr id="336" name="picture 336"/>
          <p:cNvPicPr>
            <a:picLocks noChangeAspect="1"/>
          </p:cNvPicPr>
          <p:nvPr/>
        </p:nvPicPr>
        <p:blipFill>
          <a:blip r:embed="rId3"/>
          <a:stretch>
            <a:fillRect/>
          </a:stretch>
        </p:blipFill>
        <p:spPr>
          <a:xfrm rot="21600000">
            <a:off x="0" y="1721484"/>
            <a:ext cx="12192000" cy="3673475"/>
          </a:xfrm>
          <a:prstGeom prst="rect">
            <a:avLst/>
          </a:prstGeom>
        </p:spPr>
      </p:pic>
      <p:pic>
        <p:nvPicPr>
          <p:cNvPr id="338" name="picture 338"/>
          <p:cNvPicPr>
            <a:picLocks noChangeAspect="1"/>
          </p:cNvPicPr>
          <p:nvPr/>
        </p:nvPicPr>
        <p:blipFill>
          <a:blip r:embed="rId4"/>
          <a:stretch>
            <a:fillRect/>
          </a:stretch>
        </p:blipFill>
        <p:spPr>
          <a:xfrm rot="21600000">
            <a:off x="7584058" y="2024634"/>
            <a:ext cx="4554220" cy="2668269"/>
          </a:xfrm>
          <a:prstGeom prst="rect">
            <a:avLst/>
          </a:prstGeom>
        </p:spPr>
      </p:pic>
      <p:sp>
        <p:nvSpPr>
          <p:cNvPr id="340" name="textbox 340"/>
          <p:cNvSpPr/>
          <p:nvPr/>
        </p:nvSpPr>
        <p:spPr>
          <a:xfrm>
            <a:off x="709355" y="3197887"/>
            <a:ext cx="3419475" cy="1924685"/>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3970" algn="l" rtl="0" eaLnBrk="0">
              <a:lnSpc>
                <a:spcPct val="87000"/>
              </a:lnSpc>
            </a:pPr>
            <a:r>
              <a:rPr sz="1700" kern="0" spc="-50" dirty="0">
                <a:solidFill>
                  <a:srgbClr val="FFFFFF">
                    <a:alpha val="100000"/>
                  </a:srgbClr>
                </a:solidFill>
                <a:latin typeface="微软雅黑" panose="020B0503020204020204" charset="-122"/>
                <a:ea typeface="微软雅黑" panose="020B0503020204020204" charset="-122"/>
                <a:cs typeface="微软雅黑" panose="020B0503020204020204" charset="-122"/>
              </a:rPr>
              <a:t>邮箱：</a:t>
            </a:r>
            <a:r>
              <a:rPr lang="en-US" altLang="zh-CN" sz="1700" dirty="0">
                <a:solidFill>
                  <a:schemeClr val="bg1"/>
                </a:solidFill>
                <a:latin typeface="微软雅黑" panose="020B0503020204020204" charset="-122"/>
                <a:ea typeface="微软雅黑" panose="020B0503020204020204" charset="-122"/>
                <a:cs typeface="微软雅黑" panose="020B0503020204020204" charset="-122"/>
              </a:rPr>
              <a:t>coolingrobotics@126.com</a:t>
            </a:r>
          </a:p>
          <a:p>
            <a:pPr marL="37465" algn="l" rtl="0" eaLnBrk="0">
              <a:lnSpc>
                <a:spcPct val="87000"/>
              </a:lnSpc>
              <a:spcBef>
                <a:spcPts val="1400"/>
              </a:spcBef>
            </a:pPr>
            <a:r>
              <a:rPr sz="1800" kern="0" spc="-100" dirty="0" err="1">
                <a:solidFill>
                  <a:srgbClr val="FFFFFF">
                    <a:alpha val="100000"/>
                  </a:srgbClr>
                </a:solidFill>
                <a:latin typeface="微软雅黑" panose="020B0503020204020204" charset="-122"/>
                <a:ea typeface="微软雅黑" panose="020B0503020204020204" charset="-122"/>
                <a:cs typeface="微软雅黑" panose="020B0503020204020204" charset="-122"/>
              </a:rPr>
              <a:t>电话</a:t>
            </a:r>
            <a:r>
              <a:rPr sz="1800" kern="0" spc="-100" dirty="0">
                <a:solidFill>
                  <a:srgbClr val="FFFFFF">
                    <a:alpha val="100000"/>
                  </a:srgbClr>
                </a:solidFill>
                <a:latin typeface="微软雅黑" panose="020B0503020204020204" charset="-122"/>
                <a:ea typeface="微软雅黑" panose="020B0503020204020204" charset="-122"/>
                <a:cs typeface="微软雅黑" panose="020B0503020204020204" charset="-122"/>
              </a:rPr>
              <a:t>：</a:t>
            </a:r>
            <a:r>
              <a:rPr lang="zh-CN" altLang="en-US" kern="0" spc="-100" dirty="0">
                <a:solidFill>
                  <a:srgbClr val="FFFFFF">
                    <a:alpha val="100000"/>
                  </a:srgbClr>
                </a:solidFill>
                <a:latin typeface="微软雅黑" panose="020B0503020204020204" charset="-122"/>
                <a:ea typeface="微软雅黑" panose="020B0503020204020204" charset="-122"/>
                <a:cs typeface="微软雅黑" panose="020B0503020204020204" charset="-122"/>
              </a:rPr>
              <a:t>袁先生</a:t>
            </a:r>
            <a:r>
              <a:rPr sz="1800" kern="0" spc="-100" dirty="0">
                <a:solidFill>
                  <a:srgbClr val="FFFFFF">
                    <a:alpha val="100000"/>
                  </a:srgbClr>
                </a:solidFill>
                <a:latin typeface="微软雅黑" panose="020B0503020204020204" charset="-122"/>
                <a:ea typeface="微软雅黑" panose="020B0503020204020204" charset="-122"/>
                <a:cs typeface="微软雅黑" panose="020B0503020204020204" charset="-122"/>
              </a:rPr>
              <a:t>  </a:t>
            </a:r>
            <a:r>
              <a:rPr lang="en-US" sz="1800" kern="0" spc="-100" dirty="0">
                <a:solidFill>
                  <a:srgbClr val="FFFFFF">
                    <a:alpha val="100000"/>
                  </a:srgbClr>
                </a:solidFill>
                <a:latin typeface="微软雅黑" panose="020B0503020204020204" charset="-122"/>
                <a:ea typeface="微软雅黑" panose="020B0503020204020204" charset="-122"/>
                <a:cs typeface="微软雅黑" panose="020B0503020204020204" charset="-122"/>
              </a:rPr>
              <a:t>18526855381</a:t>
            </a:r>
            <a:endParaRPr sz="1800" dirty="0">
              <a:latin typeface="微软雅黑" panose="020B0503020204020204" charset="-122"/>
              <a:ea typeface="微软雅黑" panose="020B0503020204020204" charset="-122"/>
              <a:cs typeface="微软雅黑" panose="020B0503020204020204" charset="-122"/>
            </a:endParaRPr>
          </a:p>
          <a:p>
            <a:pPr marL="708025" indent="-695960" algn="l" rtl="0" eaLnBrk="0">
              <a:lnSpc>
                <a:spcPct val="147000"/>
              </a:lnSpc>
              <a:spcBef>
                <a:spcPts val="240"/>
              </a:spcBef>
            </a:pPr>
            <a:r>
              <a:rPr sz="1800" kern="0" spc="0" dirty="0" err="1">
                <a:solidFill>
                  <a:srgbClr val="FFFFFF">
                    <a:alpha val="100000"/>
                  </a:srgbClr>
                </a:solidFill>
                <a:latin typeface="微软雅黑" panose="020B0503020204020204" charset="-122"/>
                <a:ea typeface="微软雅黑" panose="020B0503020204020204" charset="-122"/>
                <a:cs typeface="微软雅黑" panose="020B0503020204020204" charset="-122"/>
              </a:rPr>
              <a:t>地址</a:t>
            </a:r>
            <a:r>
              <a:rPr sz="1800"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a:t>
            </a:r>
            <a:r>
              <a:rPr lang="zh-CN" altLang="en-US" sz="1800"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江苏省南京市六合区龙池街道虎跃东路</a:t>
            </a:r>
            <a:r>
              <a:rPr lang="en-US" altLang="zh-CN" sz="1800"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8</a:t>
            </a:r>
            <a:r>
              <a:rPr lang="zh-CN" altLang="en-US" sz="1800"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号</a:t>
            </a:r>
            <a:r>
              <a:rPr lang="en-US" altLang="zh-CN" sz="1800"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B6</a:t>
            </a:r>
            <a:r>
              <a:rPr lang="zh-CN" altLang="en-US" sz="1800"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栋</a:t>
            </a:r>
            <a:endParaRPr sz="1800" dirty="0">
              <a:latin typeface="微软雅黑" panose="020B0503020204020204" charset="-122"/>
              <a:ea typeface="微软雅黑" panose="020B0503020204020204" charset="-122"/>
              <a:cs typeface="微软雅黑" panose="020B0503020204020204" charset="-122"/>
            </a:endParaRPr>
          </a:p>
        </p:txBody>
      </p:sp>
      <p:sp>
        <p:nvSpPr>
          <p:cNvPr id="344" name="textbox 344"/>
          <p:cNvSpPr/>
          <p:nvPr/>
        </p:nvSpPr>
        <p:spPr>
          <a:xfrm>
            <a:off x="4128830" y="2029851"/>
            <a:ext cx="2062479" cy="744219"/>
          </a:xfrm>
          <a:prstGeom prst="rect">
            <a:avLst/>
          </a:prstGeom>
          <a:noFill/>
          <a:ln w="0" cap="flat">
            <a:noFill/>
            <a:prstDash val="solid"/>
            <a:miter lim="0"/>
          </a:ln>
        </p:spPr>
        <p:txBody>
          <a:bodyPr vert="horz" wrap="square" lIns="0" tIns="0" rIns="0" bIns="0"/>
          <a:lstStyle/>
          <a:p>
            <a:pPr algn="l" rtl="0" eaLnBrk="0">
              <a:lnSpc>
                <a:spcPct val="99000"/>
              </a:lnSpc>
            </a:pPr>
            <a:endParaRPr sz="100" dirty="0">
              <a:latin typeface="Arial" panose="020B0604020202020204"/>
              <a:ea typeface="Arial" panose="020B0604020202020204"/>
              <a:cs typeface="Arial" panose="020B0604020202020204"/>
            </a:endParaRPr>
          </a:p>
          <a:p>
            <a:pPr algn="r" rtl="0" eaLnBrk="0">
              <a:lnSpc>
                <a:spcPct val="87000"/>
              </a:lnSpc>
            </a:pPr>
            <a:r>
              <a:rPr sz="5400" kern="0" spc="-250" dirty="0">
                <a:solidFill>
                  <a:srgbClr val="FFFFFF">
                    <a:alpha val="100000"/>
                  </a:srgbClr>
                </a:solidFill>
                <a:latin typeface="微软雅黑" panose="020B0503020204020204" charset="-122"/>
                <a:ea typeface="微软雅黑" panose="020B0503020204020204" charset="-122"/>
                <a:cs typeface="微软雅黑" panose="020B0503020204020204" charset="-122"/>
              </a:rPr>
              <a:t>谢</a:t>
            </a:r>
            <a:r>
              <a:rPr sz="5400" kern="0" spc="260" dirty="0">
                <a:solidFill>
                  <a:srgbClr val="FFFFFF">
                    <a:alpha val="100000"/>
                  </a:srgbClr>
                </a:solidFill>
                <a:latin typeface="微软雅黑" panose="020B0503020204020204" charset="-122"/>
                <a:ea typeface="微软雅黑" panose="020B0503020204020204" charset="-122"/>
                <a:cs typeface="微软雅黑" panose="020B0503020204020204" charset="-122"/>
              </a:rPr>
              <a:t>   </a:t>
            </a:r>
            <a:r>
              <a:rPr sz="5400" kern="0" spc="-110" dirty="0">
                <a:solidFill>
                  <a:srgbClr val="FFFFFF">
                    <a:alpha val="100000"/>
                  </a:srgbClr>
                </a:solidFill>
                <a:latin typeface="微软雅黑" panose="020B0503020204020204" charset="-122"/>
                <a:ea typeface="微软雅黑" panose="020B0503020204020204" charset="-122"/>
                <a:cs typeface="微软雅黑" panose="020B0503020204020204" charset="-122"/>
              </a:rPr>
              <a:t>谢</a:t>
            </a:r>
            <a:endParaRPr sz="5400" dirty="0">
              <a:latin typeface="微软雅黑" panose="020B0503020204020204" charset="-122"/>
              <a:ea typeface="微软雅黑" panose="020B0503020204020204" charset="-122"/>
              <a:cs typeface="微软雅黑" panose="020B0503020204020204" charset="-122"/>
            </a:endParaRPr>
          </a:p>
        </p:txBody>
      </p:sp>
      <p:sp>
        <p:nvSpPr>
          <p:cNvPr id="348" name="path 348"/>
          <p:cNvSpPr/>
          <p:nvPr/>
        </p:nvSpPr>
        <p:spPr>
          <a:xfrm>
            <a:off x="147320" y="142875"/>
            <a:ext cx="942975" cy="986154"/>
          </a:xfrm>
          <a:custGeom>
            <a:avLst/>
            <a:gdLst/>
            <a:ahLst/>
            <a:cxnLst/>
            <a:rect l="0" t="0" r="0" b="0"/>
            <a:pathLst>
              <a:path w="1485" h="1552">
                <a:moveTo>
                  <a:pt x="0" y="216"/>
                </a:moveTo>
                <a:lnTo>
                  <a:pt x="217" y="216"/>
                </a:lnTo>
                <a:lnTo>
                  <a:pt x="217" y="0"/>
                </a:lnTo>
                <a:lnTo>
                  <a:pt x="0" y="0"/>
                </a:lnTo>
                <a:lnTo>
                  <a:pt x="0" y="216"/>
                </a:lnTo>
                <a:close/>
              </a:path>
              <a:path w="1485" h="1552">
                <a:moveTo>
                  <a:pt x="316" y="216"/>
                </a:moveTo>
                <a:lnTo>
                  <a:pt x="533" y="216"/>
                </a:lnTo>
                <a:lnTo>
                  <a:pt x="533" y="0"/>
                </a:lnTo>
                <a:lnTo>
                  <a:pt x="316" y="0"/>
                </a:lnTo>
                <a:lnTo>
                  <a:pt x="316" y="216"/>
                </a:lnTo>
                <a:close/>
              </a:path>
              <a:path w="1485" h="1552">
                <a:moveTo>
                  <a:pt x="633" y="216"/>
                </a:moveTo>
                <a:lnTo>
                  <a:pt x="851" y="216"/>
                </a:lnTo>
                <a:lnTo>
                  <a:pt x="851" y="0"/>
                </a:lnTo>
                <a:lnTo>
                  <a:pt x="633" y="0"/>
                </a:lnTo>
                <a:lnTo>
                  <a:pt x="633" y="216"/>
                </a:lnTo>
                <a:close/>
              </a:path>
              <a:path w="1485" h="1552">
                <a:moveTo>
                  <a:pt x="950" y="216"/>
                </a:moveTo>
                <a:lnTo>
                  <a:pt x="1168" y="216"/>
                </a:lnTo>
                <a:lnTo>
                  <a:pt x="1168" y="0"/>
                </a:lnTo>
                <a:lnTo>
                  <a:pt x="950" y="0"/>
                </a:lnTo>
                <a:lnTo>
                  <a:pt x="950" y="216"/>
                </a:lnTo>
                <a:close/>
              </a:path>
              <a:path w="1485" h="1552">
                <a:moveTo>
                  <a:pt x="1268" y="216"/>
                </a:moveTo>
                <a:lnTo>
                  <a:pt x="1485" y="216"/>
                </a:lnTo>
                <a:lnTo>
                  <a:pt x="1485" y="0"/>
                </a:lnTo>
                <a:lnTo>
                  <a:pt x="1268" y="0"/>
                </a:lnTo>
                <a:lnTo>
                  <a:pt x="1268" y="216"/>
                </a:lnTo>
                <a:close/>
              </a:path>
              <a:path w="1485" h="1552">
                <a:moveTo>
                  <a:pt x="0" y="550"/>
                </a:moveTo>
                <a:lnTo>
                  <a:pt x="217" y="550"/>
                </a:lnTo>
                <a:lnTo>
                  <a:pt x="217" y="334"/>
                </a:lnTo>
                <a:lnTo>
                  <a:pt x="0" y="334"/>
                </a:lnTo>
                <a:lnTo>
                  <a:pt x="0" y="550"/>
                </a:lnTo>
                <a:close/>
              </a:path>
              <a:path w="1485" h="1552">
                <a:moveTo>
                  <a:pt x="316" y="550"/>
                </a:moveTo>
                <a:lnTo>
                  <a:pt x="533" y="550"/>
                </a:lnTo>
                <a:lnTo>
                  <a:pt x="533" y="334"/>
                </a:lnTo>
                <a:lnTo>
                  <a:pt x="316" y="334"/>
                </a:lnTo>
                <a:lnTo>
                  <a:pt x="316" y="550"/>
                </a:lnTo>
                <a:close/>
              </a:path>
              <a:path w="1485" h="1552">
                <a:moveTo>
                  <a:pt x="633" y="550"/>
                </a:moveTo>
                <a:lnTo>
                  <a:pt x="851" y="550"/>
                </a:lnTo>
                <a:lnTo>
                  <a:pt x="851" y="334"/>
                </a:lnTo>
                <a:lnTo>
                  <a:pt x="633" y="334"/>
                </a:lnTo>
                <a:lnTo>
                  <a:pt x="633" y="550"/>
                </a:lnTo>
                <a:close/>
              </a:path>
              <a:path w="1485" h="1552">
                <a:moveTo>
                  <a:pt x="950" y="550"/>
                </a:moveTo>
                <a:lnTo>
                  <a:pt x="1168" y="550"/>
                </a:lnTo>
                <a:lnTo>
                  <a:pt x="1168" y="334"/>
                </a:lnTo>
                <a:lnTo>
                  <a:pt x="950" y="334"/>
                </a:lnTo>
                <a:lnTo>
                  <a:pt x="950" y="550"/>
                </a:lnTo>
                <a:close/>
              </a:path>
              <a:path w="1485" h="1552">
                <a:moveTo>
                  <a:pt x="0" y="885"/>
                </a:moveTo>
                <a:lnTo>
                  <a:pt x="217" y="885"/>
                </a:lnTo>
                <a:lnTo>
                  <a:pt x="217" y="667"/>
                </a:lnTo>
                <a:lnTo>
                  <a:pt x="0" y="667"/>
                </a:lnTo>
                <a:lnTo>
                  <a:pt x="0" y="885"/>
                </a:lnTo>
                <a:close/>
              </a:path>
              <a:path w="1485" h="1552">
                <a:moveTo>
                  <a:pt x="316" y="885"/>
                </a:moveTo>
                <a:lnTo>
                  <a:pt x="533" y="885"/>
                </a:lnTo>
                <a:lnTo>
                  <a:pt x="533" y="667"/>
                </a:lnTo>
                <a:lnTo>
                  <a:pt x="316" y="667"/>
                </a:lnTo>
                <a:lnTo>
                  <a:pt x="316" y="885"/>
                </a:lnTo>
                <a:close/>
              </a:path>
              <a:path w="1485" h="1552">
                <a:moveTo>
                  <a:pt x="633" y="885"/>
                </a:moveTo>
                <a:lnTo>
                  <a:pt x="851" y="885"/>
                </a:lnTo>
                <a:lnTo>
                  <a:pt x="851" y="667"/>
                </a:lnTo>
                <a:lnTo>
                  <a:pt x="633" y="667"/>
                </a:lnTo>
                <a:lnTo>
                  <a:pt x="633" y="885"/>
                </a:lnTo>
                <a:close/>
              </a:path>
              <a:path w="1485" h="1552">
                <a:moveTo>
                  <a:pt x="0" y="1219"/>
                </a:moveTo>
                <a:lnTo>
                  <a:pt x="217" y="1219"/>
                </a:lnTo>
                <a:lnTo>
                  <a:pt x="217" y="1002"/>
                </a:lnTo>
                <a:lnTo>
                  <a:pt x="0" y="1002"/>
                </a:lnTo>
                <a:lnTo>
                  <a:pt x="0" y="1219"/>
                </a:lnTo>
                <a:close/>
              </a:path>
              <a:path w="1485" h="1552">
                <a:moveTo>
                  <a:pt x="316" y="1219"/>
                </a:moveTo>
                <a:lnTo>
                  <a:pt x="533" y="1219"/>
                </a:lnTo>
                <a:lnTo>
                  <a:pt x="533" y="1002"/>
                </a:lnTo>
                <a:lnTo>
                  <a:pt x="316" y="1002"/>
                </a:lnTo>
                <a:lnTo>
                  <a:pt x="316" y="1219"/>
                </a:lnTo>
                <a:close/>
              </a:path>
              <a:path w="1485" h="1552">
                <a:moveTo>
                  <a:pt x="0" y="1552"/>
                </a:moveTo>
                <a:lnTo>
                  <a:pt x="217" y="1552"/>
                </a:lnTo>
                <a:lnTo>
                  <a:pt x="217" y="1335"/>
                </a:lnTo>
                <a:lnTo>
                  <a:pt x="0" y="1335"/>
                </a:lnTo>
                <a:lnTo>
                  <a:pt x="0" y="1552"/>
                </a:lnTo>
                <a:close/>
              </a:path>
            </a:pathLst>
          </a:custGeom>
          <a:solidFill>
            <a:srgbClr val="F2F2F2">
              <a:alpha val="100000"/>
            </a:srgbClr>
          </a:solidFill>
          <a:ln w="0" cap="flat">
            <a:noFill/>
            <a:prstDash val="solid"/>
            <a:miter lim="0"/>
          </a:ln>
        </p:spPr>
        <p:txBody>
          <a:bodyPr rtlCol="0"/>
          <a:lstStyle/>
          <a:p>
            <a:pPr algn="ctr"/>
            <a:endParaRPr lang="zh-CN" altLang="en-US"/>
          </a:p>
        </p:txBody>
      </p:sp>
      <p:pic>
        <p:nvPicPr>
          <p:cNvPr id="3" name="图片 2"/>
          <p:cNvPicPr>
            <a:picLocks noChangeAspect="1"/>
          </p:cNvPicPr>
          <p:nvPr/>
        </p:nvPicPr>
        <p:blipFill>
          <a:blip r:embed="rId5"/>
          <a:stretch>
            <a:fillRect/>
          </a:stretch>
        </p:blipFill>
        <p:spPr>
          <a:xfrm>
            <a:off x="10428563" y="68429"/>
            <a:ext cx="1354271" cy="781170"/>
          </a:xfrm>
          <a:prstGeom prst="rect">
            <a:avLst/>
          </a:prstGeom>
        </p:spPr>
      </p:pic>
      <p:pic>
        <p:nvPicPr>
          <p:cNvPr id="5" name="图片 4"/>
          <p:cNvPicPr>
            <a:picLocks noChangeAspect="1"/>
          </p:cNvPicPr>
          <p:nvPr/>
        </p:nvPicPr>
        <p:blipFill>
          <a:blip r:embed="rId6"/>
          <a:stretch>
            <a:fillRect/>
          </a:stretch>
        </p:blipFill>
        <p:spPr>
          <a:xfrm>
            <a:off x="4350929" y="2859719"/>
            <a:ext cx="1932439" cy="2268160"/>
          </a:xfrm>
          <a:prstGeom prst="rect">
            <a:avLst/>
          </a:prstGeom>
        </p:spPr>
      </p:pic>
      <p:sp>
        <p:nvSpPr>
          <p:cNvPr id="53" name="文本框 52"/>
          <p:cNvSpPr txBox="1"/>
          <p:nvPr/>
        </p:nvSpPr>
        <p:spPr>
          <a:xfrm>
            <a:off x="2373630" y="993775"/>
            <a:ext cx="9319895" cy="583565"/>
          </a:xfrm>
          <a:prstGeom prst="rect">
            <a:avLst/>
          </a:prstGeom>
          <a:noFill/>
        </p:spPr>
        <p:txBody>
          <a:bodyPr wrap="square" rtlCol="0" anchor="t">
            <a:spAutoFit/>
          </a:bodyPr>
          <a:lstStyle/>
          <a:p>
            <a:r>
              <a:rPr lang="zh-CN" altLang="en-US" sz="3200" b="1">
                <a:gradFill>
                  <a:gsLst>
                    <a:gs pos="51300">
                      <a:srgbClr val="FE5F4A"/>
                    </a:gs>
                    <a:gs pos="0">
                      <a:srgbClr val="DF0303"/>
                    </a:gs>
                    <a:gs pos="100000">
                      <a:srgbClr val="FEA06E"/>
                    </a:gs>
                  </a:gsLst>
                  <a:lin ang="5400000" scaled="1"/>
                </a:gradFill>
                <a:effectLst>
                  <a:outerShdw blurRad="38100" dist="38100" dir="2700000" algn="tl">
                    <a:srgbClr val="000000">
                      <a:alpha val="43137"/>
                    </a:srgbClr>
                  </a:outerShdw>
                </a:effectLst>
              </a:rPr>
              <a:t>机器人高效热管理关节模组全球领跑者！</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A" val="v3.0.1"/>
</p:tagLst>
</file>

<file path=ppt/tags/tag2.xml><?xml version="1.0" encoding="utf-8"?>
<p:tagLst xmlns:a="http://schemas.openxmlformats.org/drawingml/2006/main" xmlns:r="http://schemas.openxmlformats.org/officeDocument/2006/relationships" xmlns:p="http://schemas.openxmlformats.org/presentationml/2006/main">
  <p:tag name="PA" val="v3.0.1"/>
</p:tagLst>
</file>

<file path=ppt/tags/tag3.xml><?xml version="1.0" encoding="utf-8"?>
<p:tagLst xmlns:a="http://schemas.openxmlformats.org/drawingml/2006/main" xmlns:r="http://schemas.openxmlformats.org/officeDocument/2006/relationships" xmlns:p="http://schemas.openxmlformats.org/presentationml/2006/main">
  <p:tag name="PA" val="v3.0.1"/>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28.6700730511299,&quot;left&quot;:98.44811023622047,&quot;top&quot;:67.97827340556296,&quot;width&quot;:387.45842519685044}"/>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428.6700730511299,&quot;left&quot;:98.44811023622047,&quot;top&quot;:67.97827340556296,&quot;width&quot;:387.45842519685044}"/>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428.6700730511299,&quot;left&quot;:98.44811023622047,&quot;top&quot;:67.97827340556296,&quot;width&quot;:387.45842519685044}"/>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428.6700730511299,&quot;left&quot;:98.44811023622047,&quot;top&quot;:67.97827340556296,&quot;width&quot;:387.45842519685044}"/>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58.4446456692914,&quot;left&quot;:127.7388188976378,&quot;top&quot;:134.60535433070865,&quot;width&quot;:738.1611811023622}"/>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58.4446456692914,&quot;left&quot;:127.7388188976378,&quot;top&quot;:134.60535433070865,&quot;width&quot;:738.1611811023622}"/>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58.4446456692914,&quot;left&quot;:127.7388188976378,&quot;top&quot;:134.60535433070865,&quot;width&quot;:738.1611811023622}"/>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58.4446456692914,&quot;left&quot;:127.7388188976378,&quot;top&quot;:134.60535433070865,&quot;width&quot;:738.1611811023622}"/>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58.4446456692914,&quot;left&quot;:127.7388188976378,&quot;top&quot;:134.60535433070865,&quot;width&quot;:738.1611811023622}"/>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58.4446456692914,&quot;left&quot;:127.7388188976378,&quot;top&quot;:134.60535433070865,&quot;width&quot;:738.1611811023622}"/>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58.4446456692914,&quot;left&quot;:127.7388188976378,&quot;top&quot;:134.60535433070865,&quot;width&quot;:738.1611811023622}"/>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58.4446456692914,&quot;left&quot;:127.7388188976378,&quot;top&quot;:134.60535433070865,&quot;width&quot;:738.1611811023622}"/>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58.4446456692914,&quot;left&quot;:127.7388188976378,&quot;top&quot;:134.60535433070865,&quot;width&quot;:738.1611811023622}"/>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58.4446456692914,&quot;left&quot;:127.7388188976378,&quot;top&quot;:134.60535433070865,&quot;width&quot;:738.1611811023622}"/>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58.4446456692914,&quot;left&quot;:127.7388188976378,&quot;top&quot;:134.60535433070865,&quot;width&quot;:738.1611811023622}"/>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58.4446456692914,&quot;left&quot;:127.7388188976378,&quot;top&quot;:134.60535433070865,&quot;width&quot;:738.1611811023622}"/>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58.4446456692914,&quot;left&quot;:127.7388188976378,&quot;top&quot;:134.60535433070865,&quot;width&quot;:738.1611811023622}"/>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58.4446456692914,&quot;left&quot;:127.7388188976378,&quot;top&quot;:134.60535433070865,&quot;width&quot;:738.1611811023622}"/>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58.4446456692914,&quot;left&quot;:127.7388188976378,&quot;top&quot;:134.60535433070865,&quot;width&quot;:738.1611811023622}"/>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58.4446456692914,&quot;left&quot;:127.7388188976378,&quot;top&quot;:134.60535433070865,&quot;width&quot;:738.1611811023622}"/>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58.4446456692914,&quot;left&quot;:127.7388188976378,&quot;top&quot;:134.60535433070865,&quot;width&quot;:738.1611811023622}"/>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58.4446456692914,&quot;left&quot;:127.7388188976378,&quot;top&quot;:134.60535433070865,&quot;width&quot;:738.1611811023622}"/>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58.4446456692914,&quot;left&quot;:127.7388188976378,&quot;top&quot;:134.60535433070865,&quot;width&quot;:738.1611811023622}"/>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58.4446456692914,&quot;left&quot;:127.7388188976378,&quot;top&quot;:134.60535433070865,&quot;width&quot;:738.1611811023622}"/>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258.4446456692914,&quot;left&quot;:127.7388188976378,&quot;top&quot;:134.60535433070865,&quot;width&quot;:738.1611811023622}"/>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258.4446456692914,&quot;left&quot;:127.7388188976378,&quot;top&quot;:134.60535433070865,&quot;width&quot;:738.1611811023622}"/>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258.4446456692914,&quot;left&quot;:127.7388188976378,&quot;top&quot;:134.60535433070865,&quot;width&quot;:738.1611811023622}"/>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258.4446456692914,&quot;left&quot;:127.7388188976378,&quot;top&quot;:134.60535433070865,&quot;width&quot;:738.1611811023622}"/>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258.4446456692914,&quot;left&quot;:127.7388188976378,&quot;top&quot;:134.60535433070865,&quot;width&quot;:738.1611811023622}"/>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258.4446456692914,&quot;left&quot;:127.7388188976378,&quot;top&quot;:134.60535433070865,&quot;width&quot;:738.1611811023622}"/>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258.4446456692914,&quot;left&quot;:127.7388188976378,&quot;top&quot;:134.60535433070865,&quot;width&quot;:738.1611811023622}"/>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258.4446456692914,&quot;left&quot;:127.7388188976378,&quot;top&quot;:134.60535433070865,&quot;width&quot;:738.1611811023622}"/>
</p:tagLst>
</file>

<file path=ppt/tags/tag36.xml><?xml version="1.0" encoding="utf-8"?>
<p:tagLst xmlns:a="http://schemas.openxmlformats.org/drawingml/2006/main" xmlns:r="http://schemas.openxmlformats.org/officeDocument/2006/relationships" xmlns:p="http://schemas.openxmlformats.org/presentationml/2006/main">
  <p:tag name="MH" val="20160217203636"/>
  <p:tag name="MH_LIBRARY" val="GRAPHIC"/>
  <p:tag name="MH_TYPE" val="Other"/>
  <p:tag name="MH_ORDER" val="1"/>
</p:tagLst>
</file>

<file path=ppt/tags/tag37.xml><?xml version="1.0" encoding="utf-8"?>
<p:tagLst xmlns:a="http://schemas.openxmlformats.org/drawingml/2006/main" xmlns:r="http://schemas.openxmlformats.org/officeDocument/2006/relationships" xmlns:p="http://schemas.openxmlformats.org/presentationml/2006/main">
  <p:tag name="MH" val="20160202082519"/>
  <p:tag name="MH_LIBRARY" val="GRAPHIC"/>
  <p:tag name="MH_TYPE" val="Text"/>
  <p:tag name="MH_ORDER" val="1"/>
</p:tagLst>
</file>

<file path=ppt/tags/tag38.xml><?xml version="1.0" encoding="utf-8"?>
<p:tagLst xmlns:a="http://schemas.openxmlformats.org/drawingml/2006/main" xmlns:r="http://schemas.openxmlformats.org/officeDocument/2006/relationships" xmlns:p="http://schemas.openxmlformats.org/presentationml/2006/main">
  <p:tag name="MH" val="20160217203636"/>
  <p:tag name="MH_LIBRARY" val="GRAPHIC"/>
  <p:tag name="MH_TYPE" val="Other"/>
  <p:tag name="MH_ORDER" val="1"/>
</p:tagLst>
</file>

<file path=ppt/tags/tag39.xml><?xml version="1.0" encoding="utf-8"?>
<p:tagLst xmlns:a="http://schemas.openxmlformats.org/drawingml/2006/main" xmlns:r="http://schemas.openxmlformats.org/officeDocument/2006/relationships" xmlns:p="http://schemas.openxmlformats.org/presentationml/2006/main">
  <p:tag name="MH" val="20160202082519"/>
  <p:tag name="MH_LIBRARY" val="GRAPHIC"/>
  <p:tag name="MH_TYPE" val="Text"/>
  <p:tag name="MH_ORDER" val="1"/>
</p:tagLst>
</file>

<file path=ppt/tags/tag40.xml><?xml version="1.0" encoding="utf-8"?>
<p:tagLst xmlns:a="http://schemas.openxmlformats.org/drawingml/2006/main" xmlns:r="http://schemas.openxmlformats.org/officeDocument/2006/relationships" xmlns:p="http://schemas.openxmlformats.org/presentationml/2006/main">
  <p:tag name="TABLE_ENDDRAG_ORIGIN_RECT" val="444*276"/>
  <p:tag name="TABLE_ENDDRAG_RECT" val="38*150*444*276"/>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30.2343307086614,&quot;left&quot;:0,&quot;top&quot;:150.21566929133857,&quot;width&quot;:698.7}"/>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30.2343307086614,&quot;left&quot;:0,&quot;top&quot;:150.21566929133857,&quot;width&quot;:698.7}"/>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30.2343307086614,&quot;left&quot;:0,&quot;top&quot;:150.21566929133857,&quot;width&quot;:698.7}"/>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30.2343307086614,&quot;left&quot;:0,&quot;top&quot;:150.21566929133857,&quot;width&quot;:698.7}"/>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30.2343307086614,&quot;left&quot;:0,&quot;top&quot;:150.21566929133857,&quot;width&quot;:698.7}"/>
</p:tagLst>
</file>

<file path=ppt/tags/tag46.xml><?xml version="1.0" encoding="utf-8"?>
<p:tagLst xmlns:a="http://schemas.openxmlformats.org/drawingml/2006/main" xmlns:r="http://schemas.openxmlformats.org/officeDocument/2006/relationships" xmlns:p="http://schemas.openxmlformats.org/presentationml/2006/main">
  <p:tag name="MH" val="20160203101803"/>
  <p:tag name="MH_LIBRARY" val="GRAPHIC"/>
  <p:tag name="MH_TYPE" val="Other"/>
  <p:tag name="MH_ORDER" val="2"/>
  <p:tag name="KSO_WM_DIAGRAM_VIRTUALLY_FRAME" val="{&quot;height&quot;:330.2343307086614,&quot;left&quot;:0,&quot;top&quot;:150.21566929133857,&quot;width&quot;:698.7}"/>
</p:tagLst>
</file>

<file path=ppt/tags/tag47.xml><?xml version="1.0" encoding="utf-8"?>
<p:tagLst xmlns:a="http://schemas.openxmlformats.org/drawingml/2006/main" xmlns:r="http://schemas.openxmlformats.org/officeDocument/2006/relationships" xmlns:p="http://schemas.openxmlformats.org/presentationml/2006/main">
  <p:tag name="MH" val="20160203101803"/>
  <p:tag name="MH_LIBRARY" val="GRAPHIC"/>
  <p:tag name="MH_TYPE" val="Other"/>
  <p:tag name="MH_ORDER" val="2"/>
  <p:tag name="KSO_WM_DIAGRAM_VIRTUALLY_FRAME" val="{&quot;height&quot;:330.2343307086614,&quot;left&quot;:0,&quot;top&quot;:150.21566929133857,&quot;width&quot;:698.7}"/>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30.2343307086614,&quot;left&quot;:0,&quot;top&quot;:150.21566929133857,&quot;width&quot;:698.7}"/>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30.2343307086614,&quot;left&quot;:0,&quot;top&quot;:150.21566929133857,&quot;width&quot;:698.7}"/>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30.2343307086614,&quot;left&quot;:0,&quot;top&quot;:150.21566929133857,&quot;width&quot;:698.7}"/>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30.2343307086614,&quot;left&quot;:0,&quot;top&quot;:150.21566929133857,&quot;width&quot;:698.7}"/>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30.2343307086614,&quot;left&quot;:0,&quot;top&quot;:150.21566929133857,&quot;width&quot;:698.7}"/>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30.2343307086614,&quot;left&quot;:0,&quot;top&quot;:150.21566929133857,&quot;width&quot;:698.7}"/>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30.2343307086614,&quot;left&quot;:0,&quot;top&quot;:150.21566929133857,&quot;width&quot;:698.7}"/>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5"/>
        </a:solidFill>
        <a:ln>
          <a:noFill/>
        </a:ln>
        <a:effectLst>
          <a:outerShdw blurRad="190500" dist="127000" dir="2700000" algn="tl" rotWithShape="0">
            <a:prstClr val="black">
              <a:alpha val="30000"/>
            </a:prstClr>
          </a:outerShdw>
        </a:effectLst>
      </a:spPr>
      <a:bodyPr vert="horz" wrap="square" lIns="365760" tIns="45720" rIns="91440" bIns="365760" numCol="1" anchor="ctr" anchorCtr="0" compatLnSpc="1"/>
      <a:lstStyle>
        <a:defPPr>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13</TotalTime>
  <Words>2320</Words>
  <Application>Microsoft Office PowerPoint</Application>
  <PresentationFormat>宽屏</PresentationFormat>
  <Paragraphs>385</Paragraphs>
  <Slides>28</Slides>
  <Notes>0</Notes>
  <HiddenSlides>0</HiddenSlides>
  <MMClips>2</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28</vt:i4>
      </vt:variant>
    </vt:vector>
  </HeadingPairs>
  <TitlesOfParts>
    <vt:vector size="42" baseType="lpstr">
      <vt:lpstr>Noto Sans SC</vt:lpstr>
      <vt:lpstr>等线</vt:lpstr>
      <vt:lpstr>华文楷体</vt:lpstr>
      <vt:lpstr>宋体</vt:lpstr>
      <vt:lpstr>微软雅黑</vt:lpstr>
      <vt:lpstr>微软雅黑 Light</vt:lpstr>
      <vt:lpstr>Angsana New</vt:lpstr>
      <vt:lpstr>Arial</vt:lpstr>
      <vt:lpstr>Bebas Neue</vt:lpstr>
      <vt:lpstr>Calibri</vt:lpstr>
      <vt:lpstr>Impact</vt:lpstr>
      <vt:lpstr>Times New Roman</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曹钰</dc:creator>
  <cp:lastModifiedBy>言杰 袁</cp:lastModifiedBy>
  <cp:revision>171</cp:revision>
  <dcterms:created xsi:type="dcterms:W3CDTF">2025-10-18T09:39:00Z</dcterms:created>
  <dcterms:modified xsi:type="dcterms:W3CDTF">2026-06-15T01:44:39Z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wqlLaW5nc29mdCBQREYgdG8gV1BTIDExNQ</vt:lpwstr>
  </property>
  <property fmtid="{D5CDD505-2E9C-101B-9397-08002B2CF9AE}" pid="3" name="Created">
    <vt:filetime>2025-10-24T01:38:28Z</vt:filetime>
  </property>
  <property fmtid="{D5CDD505-2E9C-101B-9397-08002B2CF9AE}" pid="4" name="ICV">
    <vt:lpwstr>8163B0AA92BB4C32BED8D2F53E4B9B37_12</vt:lpwstr>
  </property>
  <property fmtid="{D5CDD505-2E9C-101B-9397-08002B2CF9AE}" pid="5" name="KSOProductBuildVer">
    <vt:lpwstr>2052-12.1.0.25225</vt:lpwstr>
  </property>
</Properties>
</file>