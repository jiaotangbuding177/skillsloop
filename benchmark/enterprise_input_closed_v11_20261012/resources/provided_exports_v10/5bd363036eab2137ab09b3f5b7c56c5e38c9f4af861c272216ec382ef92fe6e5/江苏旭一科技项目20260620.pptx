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wmv" ContentType="video/x-ms-wm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49" r:id="rId3"/>
    <p:sldId id="2467" r:id="rId5"/>
    <p:sldId id="2451" r:id="rId6"/>
    <p:sldId id="2468" r:id="rId7"/>
    <p:sldId id="2398" r:id="rId8"/>
    <p:sldId id="2314" r:id="rId9"/>
    <p:sldId id="2874" r:id="rId10"/>
    <p:sldId id="2470" r:id="rId11"/>
    <p:sldId id="2252" r:id="rId12"/>
    <p:sldId id="2483" r:id="rId13"/>
    <p:sldId id="2487" r:id="rId14"/>
    <p:sldId id="2484" r:id="rId15"/>
    <p:sldId id="2871" r:id="rId16"/>
    <p:sldId id="2486" r:id="rId17"/>
    <p:sldId id="2489" r:id="rId18"/>
    <p:sldId id="2524" r:id="rId19"/>
    <p:sldId id="2525" r:id="rId20"/>
    <p:sldId id="2637" r:id="rId21"/>
    <p:sldId id="2638" r:id="rId22"/>
    <p:sldId id="2547" r:id="rId23"/>
    <p:sldId id="2266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2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jk" initials="h" lastIdx="1" clrIdx="0"/>
  <p:cmAuthor id="2" name="作者" initials="A" lastIdx="1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2F5597"/>
    <a:srgbClr val="000099"/>
    <a:srgbClr val="00CC99"/>
    <a:srgbClr val="0000FF"/>
    <a:srgbClr val="8FC8E4"/>
    <a:srgbClr val="404040"/>
    <a:srgbClr val="E6E6E6"/>
    <a:srgbClr val="848383"/>
    <a:srgbClr val="6D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50" y="48"/>
      </p:cViewPr>
      <p:guideLst>
        <p:guide orient="horz" pos="2002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39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57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F8777-A6DF-4004-BF2D-5451A2DEB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29087-9B48-4020-A53F-D99920FFD3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829087-9B48-4020-A53F-D99920FFD3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E30AB-8515-4AEA-B788-15F4FB3457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3E30AB-8515-4AEA-B788-15F4FB3457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3E30AB-8515-4AEA-B788-15F4FB3457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E30AB-8515-4AEA-B788-15F4FB3457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829087-9B48-4020-A53F-D99920FFD3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 userDrawn="1">
            <p:custDataLst>
              <p:tags r:id="rId2"/>
            </p:custDataLst>
          </p:nvPr>
        </p:nvCxnSpPr>
        <p:spPr>
          <a:xfrm>
            <a:off x="2489200" y="921476"/>
            <a:ext cx="9702800" cy="2540"/>
          </a:xfrm>
          <a:prstGeom prst="line">
            <a:avLst/>
          </a:prstGeom>
          <a:ln>
            <a:solidFill>
              <a:srgbClr val="1876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: 形状 8"/>
          <p:cNvSpPr/>
          <p:nvPr userDrawn="1">
            <p:custDataLst>
              <p:tags r:id="rId3"/>
            </p:custDataLst>
          </p:nvPr>
        </p:nvSpPr>
        <p:spPr>
          <a:xfrm flipH="1">
            <a:off x="1853565" y="0"/>
            <a:ext cx="1415415" cy="927735"/>
          </a:xfrm>
          <a:custGeom>
            <a:avLst/>
            <a:gdLst>
              <a:gd name="connsiteX0" fmla="*/ 0 w 7732215"/>
              <a:gd name="connsiteY0" fmla="*/ 0 h 6858000"/>
              <a:gd name="connsiteX1" fmla="*/ 7732215 w 7732215"/>
              <a:gd name="connsiteY1" fmla="*/ 0 h 6858000"/>
              <a:gd name="connsiteX2" fmla="*/ 7732215 w 7732215"/>
              <a:gd name="connsiteY2" fmla="*/ 6858000 h 6858000"/>
              <a:gd name="connsiteX3" fmla="*/ 3008021 w 7732215"/>
              <a:gd name="connsiteY3" fmla="*/ 6858000 h 6858000"/>
              <a:gd name="connsiteX4" fmla="*/ 2767262 w 7732215"/>
              <a:gd name="connsiteY4" fmla="*/ 6595663 h 6858000"/>
              <a:gd name="connsiteX5" fmla="*/ 2266700 w 7732215"/>
              <a:gd name="connsiteY5" fmla="*/ 5878323 h 6858000"/>
              <a:gd name="connsiteX6" fmla="*/ 1424889 w 7732215"/>
              <a:gd name="connsiteY6" fmla="*/ 2006958 h 6858000"/>
              <a:gd name="connsiteX7" fmla="*/ 77432 w 7732215"/>
              <a:gd name="connsiteY7" fmla="*/ 967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32215" h="6858000">
                <a:moveTo>
                  <a:pt x="0" y="0"/>
                </a:moveTo>
                <a:lnTo>
                  <a:pt x="7732215" y="0"/>
                </a:lnTo>
                <a:lnTo>
                  <a:pt x="7732215" y="6858000"/>
                </a:lnTo>
                <a:lnTo>
                  <a:pt x="3008021" y="6858000"/>
                </a:lnTo>
                <a:lnTo>
                  <a:pt x="2767262" y="6595663"/>
                </a:lnTo>
                <a:cubicBezTo>
                  <a:pt x="2578128" y="6370714"/>
                  <a:pt x="2409175" y="6129790"/>
                  <a:pt x="2266700" y="5878323"/>
                </a:cubicBezTo>
                <a:cubicBezTo>
                  <a:pt x="1696802" y="4872456"/>
                  <a:pt x="1892854" y="3294448"/>
                  <a:pt x="1424889" y="2006958"/>
                </a:cubicBezTo>
                <a:cubicBezTo>
                  <a:pt x="1220154" y="1443681"/>
                  <a:pt x="608792" y="749367"/>
                  <a:pt x="77432" y="96746"/>
                </a:cubicBezTo>
                <a:close/>
              </a:path>
            </a:pathLst>
          </a:custGeom>
          <a:solidFill>
            <a:srgbClr val="6EB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任意多边形: 形状 9"/>
          <p:cNvSpPr/>
          <p:nvPr userDrawn="1">
            <p:custDataLst>
              <p:tags r:id="rId4"/>
            </p:custDataLst>
          </p:nvPr>
        </p:nvSpPr>
        <p:spPr>
          <a:xfrm flipH="1">
            <a:off x="-635" y="0"/>
            <a:ext cx="2731770" cy="927735"/>
          </a:xfrm>
          <a:custGeom>
            <a:avLst/>
            <a:gdLst>
              <a:gd name="connsiteX0" fmla="*/ 1806778 w 1806778"/>
              <a:gd name="connsiteY0" fmla="*/ 0 h 723900"/>
              <a:gd name="connsiteX1" fmla="*/ 816178 w 1806778"/>
              <a:gd name="connsiteY1" fmla="*/ 0 h 723900"/>
              <a:gd name="connsiteX2" fmla="*/ 568528 w 1806778"/>
              <a:gd name="connsiteY2" fmla="*/ 0 h 723900"/>
              <a:gd name="connsiteX3" fmla="*/ 0 w 1806778"/>
              <a:gd name="connsiteY3" fmla="*/ 0 h 723900"/>
              <a:gd name="connsiteX4" fmla="*/ 8173 w 1806778"/>
              <a:gd name="connsiteY4" fmla="*/ 10212 h 723900"/>
              <a:gd name="connsiteX5" fmla="*/ 150405 w 1806778"/>
              <a:gd name="connsiteY5" fmla="*/ 211846 h 723900"/>
              <a:gd name="connsiteX6" fmla="*/ 239263 w 1806778"/>
              <a:gd name="connsiteY6" fmla="*/ 620490 h 723900"/>
              <a:gd name="connsiteX7" fmla="*/ 292100 w 1806778"/>
              <a:gd name="connsiteY7" fmla="*/ 696209 h 723900"/>
              <a:gd name="connsiteX8" fmla="*/ 317513 w 1806778"/>
              <a:gd name="connsiteY8" fmla="*/ 723900 h 723900"/>
              <a:gd name="connsiteX9" fmla="*/ 568528 w 1806778"/>
              <a:gd name="connsiteY9" fmla="*/ 723900 h 723900"/>
              <a:gd name="connsiteX10" fmla="*/ 816178 w 1806778"/>
              <a:gd name="connsiteY10" fmla="*/ 723900 h 723900"/>
              <a:gd name="connsiteX11" fmla="*/ 1806778 w 1806778"/>
              <a:gd name="connsiteY11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06778" h="723900">
                <a:moveTo>
                  <a:pt x="1806778" y="0"/>
                </a:moveTo>
                <a:lnTo>
                  <a:pt x="816178" y="0"/>
                </a:lnTo>
                <a:lnTo>
                  <a:pt x="568528" y="0"/>
                </a:lnTo>
                <a:lnTo>
                  <a:pt x="0" y="0"/>
                </a:lnTo>
                <a:lnTo>
                  <a:pt x="8173" y="10212"/>
                </a:lnTo>
                <a:cubicBezTo>
                  <a:pt x="64261" y="79100"/>
                  <a:pt x="128794" y="152389"/>
                  <a:pt x="150405" y="211846"/>
                </a:cubicBezTo>
                <a:cubicBezTo>
                  <a:pt x="199801" y="347747"/>
                  <a:pt x="179107" y="514315"/>
                  <a:pt x="239263" y="620490"/>
                </a:cubicBezTo>
                <a:cubicBezTo>
                  <a:pt x="254302" y="647033"/>
                  <a:pt x="272136" y="672464"/>
                  <a:pt x="292100" y="696209"/>
                </a:cubicBezTo>
                <a:lnTo>
                  <a:pt x="317513" y="723900"/>
                </a:lnTo>
                <a:lnTo>
                  <a:pt x="568528" y="723900"/>
                </a:lnTo>
                <a:lnTo>
                  <a:pt x="816178" y="723900"/>
                </a:lnTo>
                <a:lnTo>
                  <a:pt x="1806778" y="7239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61" y="223520"/>
            <a:ext cx="2140211" cy="4590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A11B84-1E5C-4FC5-BC05-C7A743CF2F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C20BFF-482E-494F-8DA2-7FFD5CC08E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image" Target="../media/image5.png"/><Relationship Id="rId7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tags" Target="../tags/tag11.xml"/><Relationship Id="rId4" Type="http://schemas.openxmlformats.org/officeDocument/2006/relationships/image" Target="../media/image3.png"/><Relationship Id="rId3" Type="http://schemas.openxmlformats.org/officeDocument/2006/relationships/tags" Target="../tags/tag10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4.xml"/><Relationship Id="rId1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microsoft.com/office/2007/relationships/hdphoto" Target="../media/image8.wdp"/><Relationship Id="rId6" Type="http://schemas.openxmlformats.org/officeDocument/2006/relationships/image" Target="../media/image7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4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image" Target="../media/image6.png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image" Target="../media/image5.png"/><Relationship Id="rId3" Type="http://schemas.openxmlformats.org/officeDocument/2006/relationships/tags" Target="../tags/tag36.xml"/><Relationship Id="rId2" Type="http://schemas.openxmlformats.org/officeDocument/2006/relationships/image" Target="../media/image4.png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tags" Target="../tags/tag3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image" Target="../media/image5.png"/><Relationship Id="rId3" Type="http://schemas.openxmlformats.org/officeDocument/2006/relationships/tags" Target="../tags/tag41.xml"/><Relationship Id="rId2" Type="http://schemas.openxmlformats.org/officeDocument/2006/relationships/image" Target="../media/image4.png"/><Relationship Id="rId1" Type="http://schemas.openxmlformats.org/officeDocument/2006/relationships/tags" Target="../tags/tag4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tags" Target="../tags/tag44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microsoft.com/office/2007/relationships/media" Target="../media/media1.wmv"/><Relationship Id="rId12" Type="http://schemas.openxmlformats.org/officeDocument/2006/relationships/slideLayout" Target="../slideLayouts/slideLayout2.xml"/><Relationship Id="rId11" Type="http://schemas.microsoft.com/office/2007/relationships/hdphoto" Target="../media/image22.wdp"/><Relationship Id="rId10" Type="http://schemas.openxmlformats.org/officeDocument/2006/relationships/image" Target="../media/image21.png"/><Relationship Id="rId1" Type="http://schemas.openxmlformats.org/officeDocument/2006/relationships/video" Target="../media/media1.wmv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8.jpeg"/><Relationship Id="rId7" Type="http://schemas.openxmlformats.org/officeDocument/2006/relationships/image" Target="../media/image27.png"/><Relationship Id="rId6" Type="http://schemas.openxmlformats.org/officeDocument/2006/relationships/hyperlink" Target="http://dhr.dos.state.fl.us/symbols/images/beverage.gif" TargetMode="External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4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5.png"/><Relationship Id="rId3" Type="http://schemas.openxmlformats.org/officeDocument/2006/relationships/tags" Target="../tags/tag47.xml"/><Relationship Id="rId2" Type="http://schemas.openxmlformats.org/officeDocument/2006/relationships/image" Target="../media/image4.png"/><Relationship Id="rId1" Type="http://schemas.openxmlformats.org/officeDocument/2006/relationships/tags" Target="../tags/tag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tags" Target="../tags/tag52.xml"/><Relationship Id="rId3" Type="http://schemas.openxmlformats.org/officeDocument/2006/relationships/image" Target="../media/image31.jpeg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image" Target="../media/image3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tags" Target="../tags/tag56.xml"/><Relationship Id="rId2" Type="http://schemas.openxmlformats.org/officeDocument/2006/relationships/image" Target="../media/image39.png"/><Relationship Id="rId1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2700" y="8255"/>
            <a:ext cx="12224385" cy="14916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820" y="1509395"/>
            <a:ext cx="8937625" cy="53479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4665345" y="177165"/>
            <a:ext cx="7415530" cy="141986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  <a:sp3d extrusionH="57150">
              <a:bevelT w="57150" h="38100" prst="artDeco"/>
              <a:bevelB w="38100" h="38100" prst="relaxedInset"/>
            </a:sp3d>
          </a:bodyPr>
          <a:lstStyle/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面向国家双碳战略的</a:t>
            </a:r>
            <a:endParaRPr lang="zh-CN" altLang="en-US" sz="3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中空纤维分子筛膜与成套装备技术</a:t>
            </a:r>
            <a:endParaRPr lang="zh-CN" altLang="en-US" sz="3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2094" y="5285865"/>
            <a:ext cx="4766945" cy="1337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技术依托：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南京工业大学化工学院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国家特种分离膜工程技术研究中心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2026-6-20       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endParaRPr lang="zh-CN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 descr="旭一科技LOGO栅格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3515" y="127635"/>
            <a:ext cx="1474470" cy="126365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27934" y="2331562"/>
            <a:ext cx="5071158" cy="4526375"/>
            <a:chOff x="-298151" y="754857"/>
            <a:chExt cx="5071158" cy="4526375"/>
          </a:xfrm>
        </p:grpSpPr>
        <p:sp>
          <p:nvSpPr>
            <p:cNvPr id="7" name="菱形 6"/>
            <p:cNvSpPr/>
            <p:nvPr>
              <p:custDataLst>
                <p:tags r:id="rId5"/>
              </p:custDataLst>
            </p:nvPr>
          </p:nvSpPr>
          <p:spPr>
            <a:xfrm>
              <a:off x="-298151" y="754857"/>
              <a:ext cx="2897763" cy="2775481"/>
            </a:xfrm>
            <a:prstGeom prst="diamond">
              <a:avLst/>
            </a:prstGeom>
            <a:blipFill rotWithShape="1">
              <a:blip r:embed="rId6"/>
              <a:srcRect/>
              <a:stretch>
                <a:fillRect l="-41000" r="-2000"/>
              </a:stretch>
            </a:blipFill>
            <a:effectLst>
              <a:outerShdw blurRad="50800" dist="38100" dir="2700000" sx="101000" sy="101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" name="菱形 8"/>
            <p:cNvSpPr/>
            <p:nvPr>
              <p:custDataLst>
                <p:tags r:id="rId7"/>
              </p:custDataLst>
            </p:nvPr>
          </p:nvSpPr>
          <p:spPr>
            <a:xfrm>
              <a:off x="1314801" y="2093635"/>
              <a:ext cx="3042126" cy="3187597"/>
            </a:xfrm>
            <a:prstGeom prst="diamond">
              <a:avLst/>
            </a:prstGeom>
            <a:blipFill rotWithShape="1">
              <a:blip r:embed="rId8"/>
              <a:srcRect/>
              <a:tile tx="-298450" ty="-838200" sx="100000"/>
            </a:blipFill>
            <a:ln>
              <a:noFill/>
            </a:ln>
            <a:effectLst>
              <a:innerShdw blurRad="241300" dist="266700" dir="13500000">
                <a:prstClr val="black">
                  <a:alpha val="34000"/>
                </a:prstClr>
              </a:inn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" name="菱形 9"/>
            <p:cNvSpPr/>
            <p:nvPr>
              <p:custDataLst>
                <p:tags r:id="rId9"/>
              </p:custDataLst>
            </p:nvPr>
          </p:nvSpPr>
          <p:spPr>
            <a:xfrm>
              <a:off x="2940074" y="1028365"/>
              <a:ext cx="1832933" cy="1922830"/>
            </a:xfrm>
            <a:prstGeom prst="diamond">
              <a:avLst/>
            </a:prstGeom>
            <a:gradFill>
              <a:gsLst>
                <a:gs pos="0">
                  <a:srgbClr val="F8F8FA"/>
                </a:gs>
                <a:gs pos="0">
                  <a:srgbClr val="2F5597"/>
                </a:gs>
                <a:gs pos="100000">
                  <a:srgbClr val="00B0F0"/>
                </a:gs>
              </a:gsLst>
              <a:lin ang="0" scaled="1"/>
            </a:gradFill>
            <a:ln>
              <a:noFill/>
            </a:ln>
            <a:effectLst>
              <a:outerShdw blurRad="152400" dist="63500" dir="2700000" sx="101000" sy="101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Rectangle 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852670" y="3785235"/>
            <a:ext cx="7228205" cy="16389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algn="ctr">
              <a:lnSpc>
                <a:spcPct val="100000"/>
              </a:lnSpc>
              <a:buFontTx/>
              <a:buNone/>
              <a:defRPr/>
            </a:pPr>
            <a:r>
              <a:rPr kumimoji="1" lang="zh-CN" altLang="en-US" sz="4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江苏旭一高科技有限公司</a:t>
            </a:r>
            <a:endParaRPr kumimoji="1" lang="zh-CN" altLang="en-US" sz="4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lnSpc>
                <a:spcPct val="100000"/>
              </a:lnSpc>
              <a:buFontTx/>
              <a:buNone/>
              <a:defRPr/>
            </a:pPr>
            <a:endParaRPr lang="zh-CN" altLang="en-US" sz="3600" b="1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zh-CN" altLang="en-US" sz="3600" b="1" dirty="0">
                <a:solidFill>
                  <a:srgbClr val="002060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</a:rPr>
              <a:t>洪周</a:t>
            </a:r>
            <a:endParaRPr kumimoji="1" lang="zh-CN" altLang="en-US" sz="4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lnSpc>
                <a:spcPct val="100000"/>
              </a:lnSpc>
              <a:buFontTx/>
              <a:buNone/>
              <a:defRPr/>
            </a:pPr>
            <a:endParaRPr kumimoji="1" lang="zh-CN" altLang="en-US" sz="4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D:\工作文件\网络推广\网站图片\替换\简介.png简介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526540"/>
            <a:ext cx="5203190" cy="3808730"/>
          </a:xfrm>
          <a:prstGeom prst="rect">
            <a:avLst/>
          </a:prstGeom>
        </p:spPr>
      </p:pic>
      <p:sp>
        <p:nvSpPr>
          <p:cNvPr id="23" name="平行四边形 22"/>
          <p:cNvSpPr/>
          <p:nvPr>
            <p:custDataLst>
              <p:tags r:id="rId3"/>
            </p:custDataLst>
          </p:nvPr>
        </p:nvSpPr>
        <p:spPr>
          <a:xfrm rot="10800000" flipH="1">
            <a:off x="6051408" y="5806476"/>
            <a:ext cx="732852" cy="783140"/>
          </a:xfrm>
          <a:prstGeom prst="parallelogram">
            <a:avLst>
              <a:gd name="adj" fmla="val 5609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4254014" y="1060237"/>
            <a:ext cx="2113127" cy="5326523"/>
            <a:chOff x="4254014" y="1060237"/>
            <a:chExt cx="2113127" cy="5326523"/>
          </a:xfrm>
        </p:grpSpPr>
        <p:sp>
          <p:nvSpPr>
            <p:cNvPr id="21" name="平行四边形 20"/>
            <p:cNvSpPr/>
            <p:nvPr>
              <p:custDataLst>
                <p:tags r:id="rId4"/>
              </p:custDataLst>
            </p:nvPr>
          </p:nvSpPr>
          <p:spPr>
            <a:xfrm rot="10800000" flipH="1">
              <a:off x="4254014" y="3435765"/>
              <a:ext cx="2113127" cy="2299877"/>
            </a:xfrm>
            <a:prstGeom prst="parallelogram">
              <a:avLst>
                <a:gd name="adj" fmla="val 56099"/>
              </a:avLst>
            </a:prstGeom>
            <a:solidFill>
              <a:srgbClr val="0298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>
              <a:fillRect/>
            </a:stretch>
          </p:blipFill>
          <p:spPr>
            <a:xfrm rot="14546685" flipV="1">
              <a:off x="2542117" y="3609089"/>
              <a:ext cx="5326523" cy="228819"/>
            </a:xfrm>
            <a:prstGeom prst="rect">
              <a:avLst/>
            </a:prstGeom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组合 15"/>
          <p:cNvGrpSpPr/>
          <p:nvPr/>
        </p:nvGrpSpPr>
        <p:grpSpPr>
          <a:xfrm>
            <a:off x="3365625" y="-559291"/>
            <a:ext cx="3215148" cy="5326523"/>
            <a:chOff x="3365625" y="-559291"/>
            <a:chExt cx="3215148" cy="5326523"/>
          </a:xfrm>
        </p:grpSpPr>
        <p:sp>
          <p:nvSpPr>
            <p:cNvPr id="27" name="平行四边形 26"/>
            <p:cNvSpPr/>
            <p:nvPr>
              <p:custDataLst>
                <p:tags r:id="rId8"/>
              </p:custDataLst>
            </p:nvPr>
          </p:nvSpPr>
          <p:spPr>
            <a:xfrm rot="10800000" flipH="1">
              <a:off x="3365625" y="-5"/>
              <a:ext cx="3215148" cy="3435771"/>
            </a:xfrm>
            <a:prstGeom prst="parallelogram">
              <a:avLst>
                <a:gd name="adj" fmla="val 56099"/>
              </a:avLst>
            </a:prstGeom>
            <a:solidFill>
              <a:srgbClr val="0268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 rotWithShape="1">
            <a:blip r:embed="rId6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>
              <a:fillRect/>
            </a:stretch>
          </p:blipFill>
          <p:spPr>
            <a:xfrm rot="14546685" flipV="1">
              <a:off x="3090331" y="1989561"/>
              <a:ext cx="5326523" cy="228819"/>
            </a:xfrm>
            <a:prstGeom prst="rect">
              <a:avLst/>
            </a:prstGeom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 rot="0">
            <a:off x="7658735" y="2442210"/>
            <a:ext cx="507365" cy="512445"/>
            <a:chOff x="7935667" y="1370391"/>
            <a:chExt cx="602565" cy="626056"/>
          </a:xfrm>
        </p:grpSpPr>
        <p:sp>
          <p:nvSpPr>
            <p:cNvPr id="34" name="圆角矩形 33"/>
            <p:cNvSpPr/>
            <p:nvPr>
              <p:custDataLst>
                <p:tags r:id="rId11"/>
              </p:custDataLst>
            </p:nvPr>
          </p:nvSpPr>
          <p:spPr>
            <a:xfrm rot="2700000">
              <a:off x="7935667" y="1393882"/>
              <a:ext cx="602565" cy="602565"/>
            </a:xfrm>
            <a:prstGeom prst="roundRect">
              <a:avLst/>
            </a:prstGeom>
            <a:gradFill>
              <a:gsLst>
                <a:gs pos="0">
                  <a:srgbClr val="05508F"/>
                </a:gs>
                <a:gs pos="98000">
                  <a:srgbClr val="06A4E5"/>
                </a:gs>
              </a:gsLst>
              <a:lin ang="21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36" name="文本框 35"/>
            <p:cNvSpPr txBox="1"/>
            <p:nvPr>
              <p:custDataLst>
                <p:tags r:id="rId12"/>
              </p:custDataLst>
            </p:nvPr>
          </p:nvSpPr>
          <p:spPr>
            <a:xfrm>
              <a:off x="7996069" y="1370391"/>
              <a:ext cx="450764" cy="52106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Kartika" panose="02020503030404060203" pitchFamily="18" charset="0"/>
                  <a:ea typeface="方正姚体" panose="02010601030101010101" pitchFamily="2" charset="-122"/>
                  <a:cs typeface="Kartika" panose="02020503030404060203" pitchFamily="18" charset="0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Kartika" panose="02020503030404060203" pitchFamily="18" charset="0"/>
                <a:ea typeface="方正姚体" panose="02010601030101010101" pitchFamily="2" charset="-122"/>
                <a:cs typeface="Kartika" panose="02020503030404060203" pitchFamily="18" charset="0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3"/>
            </p:custDataLst>
          </p:nvPr>
        </p:nvGrpSpPr>
        <p:grpSpPr>
          <a:xfrm>
            <a:off x="7758430" y="3472180"/>
            <a:ext cx="507365" cy="512445"/>
            <a:chOff x="7935667" y="1370391"/>
            <a:chExt cx="602565" cy="626056"/>
          </a:xfrm>
        </p:grpSpPr>
        <p:sp>
          <p:nvSpPr>
            <p:cNvPr id="50" name="圆角矩形 49"/>
            <p:cNvSpPr/>
            <p:nvPr>
              <p:custDataLst>
                <p:tags r:id="rId14"/>
              </p:custDataLst>
            </p:nvPr>
          </p:nvSpPr>
          <p:spPr>
            <a:xfrm rot="2700000">
              <a:off x="7935667" y="1393882"/>
              <a:ext cx="602565" cy="602565"/>
            </a:xfrm>
            <a:prstGeom prst="roundRect">
              <a:avLst/>
            </a:prstGeom>
            <a:gradFill>
              <a:gsLst>
                <a:gs pos="0">
                  <a:srgbClr val="05508F"/>
                </a:gs>
                <a:gs pos="98000">
                  <a:srgbClr val="06A4E5"/>
                </a:gs>
              </a:gsLst>
              <a:lin ang="21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51" name="文本框 50"/>
            <p:cNvSpPr txBox="1"/>
            <p:nvPr>
              <p:custDataLst>
                <p:tags r:id="rId15"/>
              </p:custDataLst>
            </p:nvPr>
          </p:nvSpPr>
          <p:spPr>
            <a:xfrm>
              <a:off x="7996069" y="1370391"/>
              <a:ext cx="450764" cy="52106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Kartika" panose="02020503030404060203" pitchFamily="18" charset="0"/>
                  <a:ea typeface="方正姚体" panose="02010601030101010101" pitchFamily="2" charset="-122"/>
                  <a:cs typeface="Kartika" panose="02020503030404060203" pitchFamily="18" charset="0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Kartika" panose="02020503030404060203" pitchFamily="18" charset="0"/>
                <a:ea typeface="方正姚体" panose="02010601030101010101" pitchFamily="2" charset="-122"/>
                <a:cs typeface="Kartika" panose="02020503030404060203" pitchFamily="18" charset="0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16"/>
            </p:custDataLst>
          </p:nvPr>
        </p:nvGrpSpPr>
        <p:grpSpPr>
          <a:xfrm>
            <a:off x="7809737" y="2354509"/>
            <a:ext cx="3510390" cy="2387933"/>
            <a:chOff x="12561" y="-2389"/>
            <a:chExt cx="6594" cy="4615"/>
          </a:xfrm>
        </p:grpSpPr>
        <p:sp>
          <p:nvSpPr>
            <p:cNvPr id="54" name="文本框 53"/>
            <p:cNvSpPr txBox="1"/>
            <p:nvPr>
              <p:custDataLst>
                <p:tags r:id="rId17"/>
              </p:custDataLst>
            </p:nvPr>
          </p:nvSpPr>
          <p:spPr>
            <a:xfrm>
              <a:off x="13829" y="-2389"/>
              <a:ext cx="5326" cy="1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核心技术产品</a:t>
              </a:r>
              <a:endPara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8"/>
              </p:custDataLst>
            </p:nvPr>
          </p:nvSpPr>
          <p:spPr>
            <a:xfrm>
              <a:off x="12561" y="1217"/>
              <a:ext cx="713" cy="100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endParaRPr lang="zh-CN" altLang="en-US" sz="2800" b="1" dirty="0">
                <a:solidFill>
                  <a:schemeClr val="bg1"/>
                </a:solidFill>
                <a:latin typeface="Kartika" panose="02020503030404060203" pitchFamily="18" charset="0"/>
                <a:ea typeface="方正姚体" panose="02010601030101010101" pitchFamily="2" charset="-122"/>
                <a:cs typeface="Kartika" panose="02020503030404060203" pitchFamily="18" charset="0"/>
              </a:endParaRPr>
            </a:p>
          </p:txBody>
        </p:sp>
      </p:grpSp>
      <p:grpSp>
        <p:nvGrpSpPr>
          <p:cNvPr id="58" name="组合 57"/>
          <p:cNvGrpSpPr/>
          <p:nvPr>
            <p:custDataLst>
              <p:tags r:id="rId19"/>
            </p:custDataLst>
          </p:nvPr>
        </p:nvGrpSpPr>
        <p:grpSpPr>
          <a:xfrm>
            <a:off x="7658300" y="1195699"/>
            <a:ext cx="2679374" cy="583660"/>
            <a:chOff x="12465" y="1120"/>
            <a:chExt cx="5033" cy="1128"/>
          </a:xfrm>
        </p:grpSpPr>
        <p:sp>
          <p:nvSpPr>
            <p:cNvPr id="59" name="文本框 58"/>
            <p:cNvSpPr txBox="1"/>
            <p:nvPr>
              <p:custDataLst>
                <p:tags r:id="rId20"/>
              </p:custDataLst>
            </p:nvPr>
          </p:nvSpPr>
          <p:spPr>
            <a:xfrm>
              <a:off x="13961" y="1120"/>
              <a:ext cx="3537" cy="1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公司介绍</a:t>
              </a:r>
              <a:endPara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12465" y="1217"/>
              <a:ext cx="953" cy="990"/>
              <a:chOff x="7935667" y="1370391"/>
              <a:chExt cx="602565" cy="626056"/>
            </a:xfrm>
          </p:grpSpPr>
          <p:sp>
            <p:nvSpPr>
              <p:cNvPr id="61" name="圆角矩形 60"/>
              <p:cNvSpPr/>
              <p:nvPr>
                <p:custDataLst>
                  <p:tags r:id="rId21"/>
                </p:custDataLst>
              </p:nvPr>
            </p:nvSpPr>
            <p:spPr>
              <a:xfrm rot="2700000">
                <a:off x="7935667" y="1393882"/>
                <a:ext cx="602565" cy="602565"/>
              </a:xfrm>
              <a:prstGeom prst="roundRect">
                <a:avLst/>
              </a:prstGeom>
              <a:gradFill>
                <a:gsLst>
                  <a:gs pos="0">
                    <a:srgbClr val="05508F"/>
                  </a:gs>
                  <a:gs pos="98000">
                    <a:srgbClr val="06A4E5"/>
                  </a:gs>
                </a:gsLst>
                <a:lin ang="21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62" name="文本框 6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7996069" y="1370391"/>
                <a:ext cx="450764" cy="52106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Kartika" panose="02020503030404060203" pitchFamily="18" charset="0"/>
                    <a:ea typeface="方正姚体" panose="02010601030101010101" pitchFamily="2" charset="-122"/>
                    <a:cs typeface="Kartika" panose="02020503030404060203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Kartika" panose="02020503030404060203" pitchFamily="18" charset="0"/>
                  <a:ea typeface="方正姚体" panose="02010601030101010101" pitchFamily="2" charset="-122"/>
                  <a:cs typeface="Kartika" panose="02020503030404060203" pitchFamily="18" charset="0"/>
                </a:endParaRPr>
              </a:p>
            </p:txBody>
          </p:sp>
        </p:grpSp>
      </p:grpSp>
      <p:sp>
        <p:nvSpPr>
          <p:cNvPr id="3" name="文本框 2"/>
          <p:cNvSpPr txBox="1"/>
          <p:nvPr>
            <p:custDataLst>
              <p:tags r:id="rId23"/>
            </p:custDataLst>
          </p:nvPr>
        </p:nvSpPr>
        <p:spPr>
          <a:xfrm>
            <a:off x="8484870" y="3470910"/>
            <a:ext cx="32162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典型应用与案例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任意多边形 51"/>
          <p:cNvSpPr/>
          <p:nvPr/>
        </p:nvSpPr>
        <p:spPr>
          <a:xfrm flipH="1">
            <a:off x="5753373" y="1301483"/>
            <a:ext cx="6092680" cy="978454"/>
          </a:xfrm>
          <a:custGeom>
            <a:avLst/>
            <a:gdLst>
              <a:gd name="connsiteX0" fmla="*/ 6092680 w 6092680"/>
              <a:gd name="connsiteY0" fmla="*/ 0 h 978454"/>
              <a:gd name="connsiteX1" fmla="*/ 5625148 w 6092680"/>
              <a:gd name="connsiteY1" fmla="*/ 0 h 978454"/>
              <a:gd name="connsiteX2" fmla="*/ 5519545 w 6092680"/>
              <a:gd name="connsiteY2" fmla="*/ 0 h 978454"/>
              <a:gd name="connsiteX3" fmla="*/ 5052013 w 6092680"/>
              <a:gd name="connsiteY3" fmla="*/ 0 h 978454"/>
              <a:gd name="connsiteX4" fmla="*/ 1460260 w 6092680"/>
              <a:gd name="connsiteY4" fmla="*/ 0 h 978454"/>
              <a:gd name="connsiteX5" fmla="*/ 992728 w 6092680"/>
              <a:gd name="connsiteY5" fmla="*/ 0 h 978454"/>
              <a:gd name="connsiteX6" fmla="*/ 726055 w 6092680"/>
              <a:gd name="connsiteY6" fmla="*/ 0 h 978454"/>
              <a:gd name="connsiteX7" fmla="*/ 258523 w 6092680"/>
              <a:gd name="connsiteY7" fmla="*/ 0 h 978454"/>
              <a:gd name="connsiteX8" fmla="*/ 258523 w 6092680"/>
              <a:gd name="connsiteY8" fmla="*/ 1 h 978454"/>
              <a:gd name="connsiteX9" fmla="*/ 0 w 6092680"/>
              <a:gd name="connsiteY9" fmla="*/ 1 h 978454"/>
              <a:gd name="connsiteX10" fmla="*/ 0 w 6092680"/>
              <a:gd name="connsiteY10" fmla="*/ 978454 h 978454"/>
              <a:gd name="connsiteX11" fmla="*/ 467532 w 6092680"/>
              <a:gd name="connsiteY11" fmla="*/ 978454 h 978454"/>
              <a:gd name="connsiteX12" fmla="*/ 5262393 w 6092680"/>
              <a:gd name="connsiteY12" fmla="*/ 978454 h 978454"/>
              <a:gd name="connsiteX13" fmla="*/ 5729925 w 6092680"/>
              <a:gd name="connsiteY13" fmla="*/ 978454 h 978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092680" h="978454">
                <a:moveTo>
                  <a:pt x="6092680" y="0"/>
                </a:moveTo>
                <a:lnTo>
                  <a:pt x="5625148" y="0"/>
                </a:lnTo>
                <a:lnTo>
                  <a:pt x="5519545" y="0"/>
                </a:lnTo>
                <a:lnTo>
                  <a:pt x="5052013" y="0"/>
                </a:lnTo>
                <a:lnTo>
                  <a:pt x="1460260" y="0"/>
                </a:lnTo>
                <a:lnTo>
                  <a:pt x="992728" y="0"/>
                </a:lnTo>
                <a:lnTo>
                  <a:pt x="726055" y="0"/>
                </a:lnTo>
                <a:lnTo>
                  <a:pt x="258523" y="0"/>
                </a:lnTo>
                <a:lnTo>
                  <a:pt x="258523" y="1"/>
                </a:lnTo>
                <a:lnTo>
                  <a:pt x="0" y="1"/>
                </a:lnTo>
                <a:lnTo>
                  <a:pt x="0" y="978454"/>
                </a:lnTo>
                <a:lnTo>
                  <a:pt x="467532" y="978454"/>
                </a:lnTo>
                <a:lnTo>
                  <a:pt x="5262393" y="978454"/>
                </a:lnTo>
                <a:lnTo>
                  <a:pt x="5729925" y="978454"/>
                </a:lnTo>
                <a:close/>
              </a:path>
            </a:pathLst>
          </a:custGeom>
          <a:gradFill>
            <a:gsLst>
              <a:gs pos="0">
                <a:srgbClr val="05508F"/>
              </a:gs>
              <a:gs pos="98000">
                <a:srgbClr val="06A4E5"/>
              </a:gs>
            </a:gsLst>
            <a:lin ang="7200000" scaled="0"/>
          </a:gradFill>
          <a:ln>
            <a:noFill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874654" y="1354665"/>
            <a:ext cx="434086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rtika" panose="02020503030404060203" pitchFamily="18" charset="0"/>
                <a:ea typeface="方正姚体" panose="02010601030101010101" pitchFamily="2" charset="-122"/>
                <a:cs typeface="Kartika" panose="02020503030404060203" pitchFamily="18" charset="0"/>
              </a:rPr>
              <a:t>PART    01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rtika" panose="02020503030404060203" pitchFamily="18" charset="0"/>
              <a:ea typeface="方正姚体" panose="02010601030101010101" pitchFamily="2" charset="-122"/>
              <a:cs typeface="Kartika" panose="02020503030404060203" pitchFamily="18" charset="0"/>
            </a:endParaRPr>
          </a:p>
        </p:txBody>
      </p:sp>
      <p:sp>
        <p:nvSpPr>
          <p:cNvPr id="39" name="文本框 1"/>
          <p:cNvSpPr>
            <a:spLocks noChangeArrowheads="1"/>
          </p:cNvSpPr>
          <p:nvPr/>
        </p:nvSpPr>
        <p:spPr bwMode="auto">
          <a:xfrm>
            <a:off x="7255439" y="3195011"/>
            <a:ext cx="384048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5508F"/>
                    </a:gs>
                    <a:gs pos="98000">
                      <a:srgbClr val="00B5E1"/>
                    </a:gs>
                  </a:gsLst>
                  <a:lin ang="19200000" scaled="0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公司介绍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5508F"/>
                  </a:gs>
                  <a:gs pos="98000">
                    <a:srgbClr val="00B5E1"/>
                  </a:gs>
                </a:gsLst>
                <a:lin ang="19200000" scaled="0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8569" y="2179797"/>
            <a:ext cx="5071158" cy="4526375"/>
            <a:chOff x="-298151" y="754857"/>
            <a:chExt cx="5071158" cy="4526375"/>
          </a:xfrm>
        </p:grpSpPr>
        <p:sp>
          <p:nvSpPr>
            <p:cNvPr id="7" name="菱形 6"/>
            <p:cNvSpPr/>
            <p:nvPr>
              <p:custDataLst>
                <p:tags r:id="rId1"/>
              </p:custDataLst>
            </p:nvPr>
          </p:nvSpPr>
          <p:spPr>
            <a:xfrm>
              <a:off x="-298151" y="754857"/>
              <a:ext cx="2897763" cy="2775481"/>
            </a:xfrm>
            <a:prstGeom prst="diamond">
              <a:avLst/>
            </a:prstGeom>
            <a:blipFill rotWithShape="1">
              <a:blip r:embed="rId2"/>
              <a:srcRect/>
              <a:stretch>
                <a:fillRect l="-41000" r="-2000"/>
              </a:stretch>
            </a:blipFill>
            <a:effectLst>
              <a:outerShdw blurRad="50800" dist="38100" dir="2700000" sx="101000" sy="101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菱形 8"/>
            <p:cNvSpPr/>
            <p:nvPr>
              <p:custDataLst>
                <p:tags r:id="rId3"/>
              </p:custDataLst>
            </p:nvPr>
          </p:nvSpPr>
          <p:spPr>
            <a:xfrm>
              <a:off x="1314801" y="2093635"/>
              <a:ext cx="3042126" cy="3187597"/>
            </a:xfrm>
            <a:prstGeom prst="diamond">
              <a:avLst/>
            </a:prstGeom>
            <a:blipFill rotWithShape="1">
              <a:blip r:embed="rId4"/>
              <a:srcRect/>
              <a:tile tx="-298450" ty="-838200" sx="100000"/>
            </a:blipFill>
            <a:ln>
              <a:noFill/>
            </a:ln>
            <a:effectLst>
              <a:innerShdw blurRad="241300" dist="266700" dir="13500000">
                <a:prstClr val="black">
                  <a:alpha val="34000"/>
                </a:prstClr>
              </a:inn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菱形 9"/>
            <p:cNvSpPr/>
            <p:nvPr>
              <p:custDataLst>
                <p:tags r:id="rId5"/>
              </p:custDataLst>
            </p:nvPr>
          </p:nvSpPr>
          <p:spPr>
            <a:xfrm>
              <a:off x="2940074" y="1028365"/>
              <a:ext cx="1832933" cy="1922830"/>
            </a:xfrm>
            <a:prstGeom prst="diamond">
              <a:avLst/>
            </a:prstGeom>
            <a:gradFill>
              <a:gsLst>
                <a:gs pos="0">
                  <a:srgbClr val="F8F8FA"/>
                </a:gs>
                <a:gs pos="0">
                  <a:srgbClr val="2F5597"/>
                </a:gs>
                <a:gs pos="100000">
                  <a:srgbClr val="00B0F0"/>
                </a:gs>
              </a:gsLst>
              <a:lin ang="0" scaled="1"/>
            </a:gradFill>
            <a:ln>
              <a:noFill/>
            </a:ln>
            <a:effectLst>
              <a:outerShdw blurRad="152400" dist="63500" dir="2700000" sx="101000" sy="101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3" name="图片 2" descr="旭一科技LOGO栅格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3515" y="127635"/>
            <a:ext cx="1474470" cy="1263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51985" y="1414145"/>
            <a:ext cx="7440930" cy="51727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R="0" lvl="0" indent="0" algn="l" defTabSz="914400" rtl="0" fontAlgn="auto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目标公司：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江苏旭一高科技有限公司</a:t>
            </a:r>
            <a:endParaRPr kumimoji="0" lang="zh-CN" altLang="en-US" b="1" i="0" u="none" strike="noStrike" kern="1200" cap="none" spc="0" normalizeH="0" baseline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914400" rtl="0" fontAlgn="auto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成立时间：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2023年3月31日</a:t>
            </a:r>
            <a:endParaRPr kumimoji="0" lang="zh-CN" altLang="en-US" b="1" i="0" u="none" strike="noStrike" kern="1200" cap="none" spc="0" normalizeH="0" baseline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914400" rtl="0" fontAlgn="auto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核心产品：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中空纤维分子筛膜与成套装备技术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914400" rtl="0" fontAlgn="auto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应用领域：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主要用于溶剂脱水和气体分离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，包括：燃料乙醇生产、溶剂资源回用、高纯溶剂生产、天然气脱碳、天然气管网输氢、正异构烷烃分离技术等。</a:t>
            </a:r>
            <a:endParaRPr kumimoji="0" lang="zh-CN" altLang="en-US" b="1" i="0" u="none" strike="noStrike" kern="1200" cap="none" spc="0" normalizeH="0" baseline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 indent="0" fontAlgn="auto">
              <a:lnSpc>
                <a:spcPts val="3560"/>
              </a:lnSpc>
              <a:defRPr/>
            </a:pPr>
            <a:r>
              <a:rPr kumimoji="0" lang="zh-CN" altLang="en-US" b="1" i="0" u="none" strike="noStrike" kern="1200" cap="none" spc="0" normalizeH="0" baseline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融资情况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：天使轮（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南京未来产业天使基金、南京高校成果转化基金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 indent="0" fontAlgn="auto">
              <a:lnSpc>
                <a:spcPts val="356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公司情况</a:t>
            </a:r>
            <a:r>
              <a:rPr lang="en-US" altLang="zh-CN" b="1" spc="10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spc="10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现有在职员工</a:t>
            </a:r>
            <a:r>
              <a:rPr lang="en-US" altLang="zh-CN" b="1" spc="10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48</a:t>
            </a:r>
            <a:r>
              <a:rPr lang="zh-CN" altLang="en-US" b="1" spc="10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人，其中硕士及中级职称</a:t>
            </a:r>
            <a:r>
              <a:rPr lang="en-US" altLang="zh-CN" b="1" spc="10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spc="10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人、博士及高级职称3人，</a:t>
            </a:r>
            <a:r>
              <a:rPr lang="zh-CN" altLang="en-US" b="1" spc="1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技术依托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南京工业大学顾学红教授团队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。荣获国家高新技术企业、江苏省科技型中小企业、南京江北新区</a:t>
            </a:r>
            <a:r>
              <a:rPr kumimoji="0" lang="en-US" altLang="zh-CN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灵雀</a:t>
            </a:r>
            <a:r>
              <a:rPr kumimoji="0" lang="en-US" altLang="zh-CN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企业称号。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endParaRPr lang="zh-CN" altLang="en-US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212465" y="224155"/>
            <a:ext cx="3991610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公司概况</a:t>
            </a:r>
            <a:endParaRPr kumimoji="0" lang="zh-CN" altLang="en-US" sz="3000" b="1" i="0" u="none" strike="noStrike" kern="1200" cap="none" spc="10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screen"/>
          <a:srcRect t="10961"/>
          <a:stretch>
            <a:fillRect/>
          </a:stretch>
        </p:blipFill>
        <p:spPr>
          <a:xfrm>
            <a:off x="540438" y="1446170"/>
            <a:ext cx="3599815" cy="2130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4" t="31381" r="18742" b="18993"/>
          <a:stretch>
            <a:fillRect/>
          </a:stretch>
        </p:blipFill>
        <p:spPr bwMode="auto">
          <a:xfrm>
            <a:off x="540529" y="4091526"/>
            <a:ext cx="3571149" cy="2056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任意多边形 51"/>
          <p:cNvSpPr/>
          <p:nvPr/>
        </p:nvSpPr>
        <p:spPr>
          <a:xfrm flipH="1">
            <a:off x="5753373" y="1301483"/>
            <a:ext cx="6092680" cy="978454"/>
          </a:xfrm>
          <a:custGeom>
            <a:avLst/>
            <a:gdLst>
              <a:gd name="connsiteX0" fmla="*/ 6092680 w 6092680"/>
              <a:gd name="connsiteY0" fmla="*/ 0 h 978454"/>
              <a:gd name="connsiteX1" fmla="*/ 5625148 w 6092680"/>
              <a:gd name="connsiteY1" fmla="*/ 0 h 978454"/>
              <a:gd name="connsiteX2" fmla="*/ 5519545 w 6092680"/>
              <a:gd name="connsiteY2" fmla="*/ 0 h 978454"/>
              <a:gd name="connsiteX3" fmla="*/ 5052013 w 6092680"/>
              <a:gd name="connsiteY3" fmla="*/ 0 h 978454"/>
              <a:gd name="connsiteX4" fmla="*/ 1460260 w 6092680"/>
              <a:gd name="connsiteY4" fmla="*/ 0 h 978454"/>
              <a:gd name="connsiteX5" fmla="*/ 992728 w 6092680"/>
              <a:gd name="connsiteY5" fmla="*/ 0 h 978454"/>
              <a:gd name="connsiteX6" fmla="*/ 726055 w 6092680"/>
              <a:gd name="connsiteY6" fmla="*/ 0 h 978454"/>
              <a:gd name="connsiteX7" fmla="*/ 258523 w 6092680"/>
              <a:gd name="connsiteY7" fmla="*/ 0 h 978454"/>
              <a:gd name="connsiteX8" fmla="*/ 258523 w 6092680"/>
              <a:gd name="connsiteY8" fmla="*/ 1 h 978454"/>
              <a:gd name="connsiteX9" fmla="*/ 0 w 6092680"/>
              <a:gd name="connsiteY9" fmla="*/ 1 h 978454"/>
              <a:gd name="connsiteX10" fmla="*/ 0 w 6092680"/>
              <a:gd name="connsiteY10" fmla="*/ 978454 h 978454"/>
              <a:gd name="connsiteX11" fmla="*/ 467532 w 6092680"/>
              <a:gd name="connsiteY11" fmla="*/ 978454 h 978454"/>
              <a:gd name="connsiteX12" fmla="*/ 5262393 w 6092680"/>
              <a:gd name="connsiteY12" fmla="*/ 978454 h 978454"/>
              <a:gd name="connsiteX13" fmla="*/ 5729925 w 6092680"/>
              <a:gd name="connsiteY13" fmla="*/ 978454 h 978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092680" h="978454">
                <a:moveTo>
                  <a:pt x="6092680" y="0"/>
                </a:moveTo>
                <a:lnTo>
                  <a:pt x="5625148" y="0"/>
                </a:lnTo>
                <a:lnTo>
                  <a:pt x="5519545" y="0"/>
                </a:lnTo>
                <a:lnTo>
                  <a:pt x="5052013" y="0"/>
                </a:lnTo>
                <a:lnTo>
                  <a:pt x="1460260" y="0"/>
                </a:lnTo>
                <a:lnTo>
                  <a:pt x="992728" y="0"/>
                </a:lnTo>
                <a:lnTo>
                  <a:pt x="726055" y="0"/>
                </a:lnTo>
                <a:lnTo>
                  <a:pt x="258523" y="0"/>
                </a:lnTo>
                <a:lnTo>
                  <a:pt x="258523" y="1"/>
                </a:lnTo>
                <a:lnTo>
                  <a:pt x="0" y="1"/>
                </a:lnTo>
                <a:lnTo>
                  <a:pt x="0" y="978454"/>
                </a:lnTo>
                <a:lnTo>
                  <a:pt x="467532" y="978454"/>
                </a:lnTo>
                <a:lnTo>
                  <a:pt x="5262393" y="978454"/>
                </a:lnTo>
                <a:lnTo>
                  <a:pt x="5729925" y="978454"/>
                </a:lnTo>
                <a:close/>
              </a:path>
            </a:pathLst>
          </a:custGeom>
          <a:gradFill>
            <a:gsLst>
              <a:gs pos="0">
                <a:srgbClr val="05508F"/>
              </a:gs>
              <a:gs pos="98000">
                <a:srgbClr val="06A4E5"/>
              </a:gs>
            </a:gsLst>
            <a:lin ang="7200000" scaled="0"/>
          </a:gradFill>
          <a:ln>
            <a:noFill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874654" y="1354665"/>
            <a:ext cx="468122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rtika" panose="02020503030404060203" pitchFamily="18" charset="0"/>
                <a:ea typeface="方正姚体" panose="02010601030101010101" pitchFamily="2" charset="-122"/>
                <a:cs typeface="Kartika" panose="02020503030404060203" pitchFamily="18" charset="0"/>
              </a:rPr>
              <a:t>PART    02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rtika" panose="02020503030404060203" pitchFamily="18" charset="0"/>
              <a:ea typeface="方正姚体" panose="02010601030101010101" pitchFamily="2" charset="-122"/>
              <a:cs typeface="Kartika" panose="02020503030404060203" pitchFamily="18" charset="0"/>
            </a:endParaRPr>
          </a:p>
        </p:txBody>
      </p:sp>
      <p:sp>
        <p:nvSpPr>
          <p:cNvPr id="39" name="文本框 1"/>
          <p:cNvSpPr>
            <a:spLocks noChangeArrowheads="1"/>
          </p:cNvSpPr>
          <p:nvPr/>
        </p:nvSpPr>
        <p:spPr bwMode="auto">
          <a:xfrm>
            <a:off x="6095365" y="3195320"/>
            <a:ext cx="609663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5508F"/>
                    </a:gs>
                    <a:gs pos="98000">
                      <a:srgbClr val="00B5E1"/>
                    </a:gs>
                  </a:gsLst>
                  <a:lin ang="19200000" scaled="0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核心技术产品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5508F"/>
                  </a:gs>
                  <a:gs pos="98000">
                    <a:srgbClr val="00B5E1"/>
                  </a:gs>
                </a:gsLst>
                <a:lin ang="19200000" scaled="0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8569" y="2179797"/>
            <a:ext cx="5071158" cy="4526375"/>
            <a:chOff x="-298151" y="754857"/>
            <a:chExt cx="5071158" cy="4526375"/>
          </a:xfrm>
        </p:grpSpPr>
        <p:sp>
          <p:nvSpPr>
            <p:cNvPr id="7" name="菱形 6"/>
            <p:cNvSpPr/>
            <p:nvPr>
              <p:custDataLst>
                <p:tags r:id="rId1"/>
              </p:custDataLst>
            </p:nvPr>
          </p:nvSpPr>
          <p:spPr>
            <a:xfrm>
              <a:off x="-298151" y="754857"/>
              <a:ext cx="2897763" cy="2775481"/>
            </a:xfrm>
            <a:prstGeom prst="diamond">
              <a:avLst/>
            </a:prstGeom>
            <a:blipFill rotWithShape="1">
              <a:blip r:embed="rId2"/>
              <a:srcRect/>
              <a:stretch>
                <a:fillRect l="-41000" r="-2000"/>
              </a:stretch>
            </a:blipFill>
            <a:effectLst>
              <a:outerShdw blurRad="50800" dist="38100" dir="2700000" sx="101000" sy="101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菱形 8"/>
            <p:cNvSpPr/>
            <p:nvPr>
              <p:custDataLst>
                <p:tags r:id="rId3"/>
              </p:custDataLst>
            </p:nvPr>
          </p:nvSpPr>
          <p:spPr>
            <a:xfrm>
              <a:off x="1314801" y="2093635"/>
              <a:ext cx="3042126" cy="3187597"/>
            </a:xfrm>
            <a:prstGeom prst="diamond">
              <a:avLst/>
            </a:prstGeom>
            <a:blipFill rotWithShape="1">
              <a:blip r:embed="rId4"/>
              <a:srcRect/>
              <a:tile tx="-298450" ty="-838200" sx="100000"/>
            </a:blipFill>
            <a:ln>
              <a:noFill/>
            </a:ln>
            <a:effectLst>
              <a:innerShdw blurRad="241300" dist="266700" dir="13500000">
                <a:prstClr val="black">
                  <a:alpha val="34000"/>
                </a:prstClr>
              </a:inn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菱形 9"/>
            <p:cNvSpPr/>
            <p:nvPr>
              <p:custDataLst>
                <p:tags r:id="rId5"/>
              </p:custDataLst>
            </p:nvPr>
          </p:nvSpPr>
          <p:spPr>
            <a:xfrm>
              <a:off x="2940074" y="1028365"/>
              <a:ext cx="1832933" cy="1922830"/>
            </a:xfrm>
            <a:prstGeom prst="diamond">
              <a:avLst/>
            </a:prstGeom>
            <a:gradFill>
              <a:gsLst>
                <a:gs pos="0">
                  <a:srgbClr val="F8F8FA"/>
                </a:gs>
                <a:gs pos="0">
                  <a:srgbClr val="2F5597"/>
                </a:gs>
                <a:gs pos="100000">
                  <a:srgbClr val="00B0F0"/>
                </a:gs>
              </a:gsLst>
              <a:lin ang="0" scaled="1"/>
            </a:gradFill>
            <a:ln>
              <a:noFill/>
            </a:ln>
            <a:effectLst>
              <a:outerShdw blurRad="152400" dist="63500" dir="2700000" sx="101000" sy="101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2" name="图片 1" descr="旭一科技LOGO栅格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3515" y="127635"/>
            <a:ext cx="1474470" cy="1263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475944" y="1335639"/>
            <a:ext cx="9738174" cy="52067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9" name="右箭头 15"/>
          <p:cNvSpPr/>
          <p:nvPr/>
        </p:nvSpPr>
        <p:spPr bwMode="auto">
          <a:xfrm>
            <a:off x="3973304" y="4417078"/>
            <a:ext cx="948739" cy="462448"/>
          </a:xfrm>
          <a:prstGeom prst="rightArrow">
            <a:avLst/>
          </a:prstGeom>
          <a:solidFill>
            <a:srgbClr val="FF0000">
              <a:alpha val="75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532101" y="1448655"/>
            <a:ext cx="3522785" cy="49307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8" t="7793" r="7112" b="2271"/>
          <a:stretch>
            <a:fillRect/>
          </a:stretch>
        </p:blipFill>
        <p:spPr bwMode="auto">
          <a:xfrm>
            <a:off x="1655978" y="3687181"/>
            <a:ext cx="3307867" cy="2141671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矩形 32"/>
          <p:cNvSpPr/>
          <p:nvPr/>
        </p:nvSpPr>
        <p:spPr>
          <a:xfrm rot="10800000" flipV="1">
            <a:off x="1655977" y="5898948"/>
            <a:ext cx="3307867" cy="419055"/>
          </a:xfrm>
          <a:prstGeom prst="rect">
            <a:avLst/>
          </a:prstGeom>
          <a:solidFill>
            <a:srgbClr val="005D7E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762802" y="5892060"/>
            <a:ext cx="309421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CC00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中空纤维分子筛膜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 rot="10800000" flipV="1">
            <a:off x="5216582" y="5923896"/>
            <a:ext cx="5785241" cy="419055"/>
          </a:xfrm>
          <a:prstGeom prst="rect">
            <a:avLst/>
          </a:prstGeom>
          <a:solidFill>
            <a:srgbClr val="005D7E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320245" y="5893318"/>
            <a:ext cx="32811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CC00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分子筛膜成套分离装备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212464" y="315595"/>
            <a:ext cx="6288151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核心技术产品</a:t>
            </a:r>
            <a:endParaRPr kumimoji="0" lang="zh-CN" altLang="en-US" sz="3000" b="1" i="0" u="none" strike="noStrike" kern="1200" cap="none" spc="10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978" y="1537684"/>
            <a:ext cx="3307867" cy="2037089"/>
          </a:xfrm>
          <a:prstGeom prst="rect">
            <a:avLst/>
          </a:prstGeom>
        </p:spPr>
      </p:pic>
      <p:sp>
        <p:nvSpPr>
          <p:cNvPr id="28" name="右箭头 14"/>
          <p:cNvSpPr/>
          <p:nvPr/>
        </p:nvSpPr>
        <p:spPr bwMode="auto">
          <a:xfrm rot="5400000">
            <a:off x="3126879" y="3451527"/>
            <a:ext cx="444726" cy="462448"/>
          </a:xfrm>
          <a:prstGeom prst="rightArrow">
            <a:avLst/>
          </a:prstGeom>
          <a:solidFill>
            <a:srgbClr val="FF0000">
              <a:alpha val="57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8" name="图片 7"/>
          <p:cNvPicPr/>
          <p:nvPr/>
        </p:nvPicPr>
        <p:blipFill>
          <a:blip r:embed="rId4" cstate="screen"/>
          <a:stretch>
            <a:fillRect/>
          </a:stretch>
        </p:blipFill>
        <p:spPr>
          <a:xfrm>
            <a:off x="5229838" y="1482254"/>
            <a:ext cx="5771986" cy="4416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右箭头 14"/>
          <p:cNvSpPr/>
          <p:nvPr/>
        </p:nvSpPr>
        <p:spPr bwMode="auto">
          <a:xfrm>
            <a:off x="4888271" y="3374519"/>
            <a:ext cx="444726" cy="462448"/>
          </a:xfrm>
          <a:prstGeom prst="rightArrow">
            <a:avLst/>
          </a:prstGeom>
          <a:solidFill>
            <a:srgbClr val="FF0000">
              <a:alpha val="57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" name="矩形 74"/>
          <p:cNvSpPr/>
          <p:nvPr/>
        </p:nvSpPr>
        <p:spPr>
          <a:xfrm>
            <a:off x="3867912" y="1132697"/>
            <a:ext cx="8229600" cy="5339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媒体1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184719" y="1753864"/>
            <a:ext cx="2098433" cy="41968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36"/>
          <p:cNvSpPr txBox="1">
            <a:spLocks noChangeArrowheads="1"/>
          </p:cNvSpPr>
          <p:nvPr/>
        </p:nvSpPr>
        <p:spPr bwMode="auto">
          <a:xfrm>
            <a:off x="4021222" y="1232638"/>
            <a:ext cx="8188325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200" b="1" dirty="0">
                <a:solidFill>
                  <a:srgbClr val="002B3A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膜分离用于乙醇脱水</a:t>
            </a:r>
            <a:endParaRPr lang="zh-CN" altLang="en-US" sz="2200" b="1" dirty="0">
              <a:solidFill>
                <a:srgbClr val="002B3A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21222" y="3957933"/>
            <a:ext cx="3918315" cy="1899422"/>
          </a:xfrm>
          <a:prstGeom prst="rect">
            <a:avLst/>
          </a:prstGeom>
          <a:noFill/>
          <a:ln>
            <a:noFill/>
          </a:ln>
          <a:effectLst>
            <a:outerShdw blurRad="63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089147" y="5942013"/>
            <a:ext cx="3690887" cy="379272"/>
            <a:chOff x="3188227" y="3182079"/>
            <a:chExt cx="2582607" cy="379272"/>
          </a:xfrm>
        </p:grpSpPr>
        <p:sp>
          <p:nvSpPr>
            <p:cNvPr id="6" name="矩形 5"/>
            <p:cNvSpPr/>
            <p:nvPr/>
          </p:nvSpPr>
          <p:spPr>
            <a:xfrm>
              <a:off x="3188227" y="3182079"/>
              <a:ext cx="2582607" cy="379272"/>
            </a:xfrm>
            <a:prstGeom prst="rect">
              <a:avLst/>
            </a:prstGeom>
            <a:solidFill>
              <a:srgbClr val="005D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矩形 10"/>
            <p:cNvSpPr>
              <a:spLocks noChangeArrowheads="1"/>
            </p:cNvSpPr>
            <p:nvPr/>
          </p:nvSpPr>
          <p:spPr bwMode="auto">
            <a:xfrm>
              <a:off x="3540388" y="3202438"/>
              <a:ext cx="18782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zh-CN" altLang="en-US" sz="1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微软雅黑" panose="020B0503020204020204" pitchFamily="34" charset="-122"/>
                </a:rPr>
                <a:t>分</a:t>
              </a:r>
              <a:r>
                <a:rPr lang="zh-CN" altLang="en-US" sz="1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子筛膜</a:t>
              </a:r>
              <a:endParaRPr lang="en-US" altLang="zh-CN" sz="1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222085" y="4542809"/>
            <a:ext cx="3336199" cy="863818"/>
            <a:chOff x="744033" y="4739679"/>
            <a:chExt cx="2269700" cy="58767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l="23563" t="10169" r="36474" b="4959"/>
            <a:stretch>
              <a:fillRect/>
            </a:stretch>
          </p:blipFill>
          <p:spPr>
            <a:xfrm rot="16200000">
              <a:off x="1692180" y="4016116"/>
              <a:ext cx="363093" cy="2259387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10" name="组合 9"/>
            <p:cNvGrpSpPr/>
            <p:nvPr/>
          </p:nvGrpSpPr>
          <p:grpSpPr bwMode="auto">
            <a:xfrm>
              <a:off x="753273" y="4739679"/>
              <a:ext cx="2260460" cy="271257"/>
              <a:chOff x="1622490" y="5383543"/>
              <a:chExt cx="2843212" cy="407193"/>
            </a:xfrm>
            <a:solidFill>
              <a:srgbClr val="D6ECFF">
                <a:lumMod val="90000"/>
              </a:srgbClr>
            </a:solidFill>
          </p:grpSpPr>
          <p:sp>
            <p:nvSpPr>
              <p:cNvPr id="11" name="Rectangle 19"/>
              <p:cNvSpPr>
                <a:spLocks noChangeArrowheads="1"/>
              </p:cNvSpPr>
              <p:nvPr/>
            </p:nvSpPr>
            <p:spPr bwMode="auto">
              <a:xfrm rot="1243167">
                <a:off x="1722503" y="5581981"/>
                <a:ext cx="177800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" name="Rectangle 20"/>
              <p:cNvSpPr>
                <a:spLocks noChangeArrowheads="1"/>
              </p:cNvSpPr>
              <p:nvPr/>
            </p:nvSpPr>
            <p:spPr bwMode="auto">
              <a:xfrm rot="744551">
                <a:off x="2916303" y="5508956"/>
                <a:ext cx="177800" cy="26035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3" name="Rectangle 21"/>
              <p:cNvSpPr>
                <a:spLocks noChangeArrowheads="1"/>
              </p:cNvSpPr>
              <p:nvPr/>
            </p:nvSpPr>
            <p:spPr bwMode="auto">
              <a:xfrm rot="-1084616">
                <a:off x="2027303" y="5550231"/>
                <a:ext cx="141288" cy="174625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4" name="Rectangle 22"/>
              <p:cNvSpPr>
                <a:spLocks noChangeArrowheads="1"/>
              </p:cNvSpPr>
              <p:nvPr/>
            </p:nvSpPr>
            <p:spPr bwMode="auto">
              <a:xfrm rot="1243167">
                <a:off x="3527489" y="5550231"/>
                <a:ext cx="176213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" name="Rectangle 23"/>
              <p:cNvSpPr>
                <a:spLocks noChangeArrowheads="1"/>
              </p:cNvSpPr>
              <p:nvPr/>
            </p:nvSpPr>
            <p:spPr bwMode="auto">
              <a:xfrm rot="1243167">
                <a:off x="3078227" y="5512131"/>
                <a:ext cx="203200" cy="258763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" name="Rectangle 24"/>
              <p:cNvSpPr>
                <a:spLocks noChangeArrowheads="1"/>
              </p:cNvSpPr>
              <p:nvPr/>
            </p:nvSpPr>
            <p:spPr bwMode="auto">
              <a:xfrm rot="-728430">
                <a:off x="1900303" y="5550231"/>
                <a:ext cx="139700" cy="1905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7" name="Rectangle 25"/>
              <p:cNvSpPr>
                <a:spLocks noChangeArrowheads="1"/>
              </p:cNvSpPr>
              <p:nvPr/>
            </p:nvSpPr>
            <p:spPr bwMode="auto">
              <a:xfrm rot="-3307792">
                <a:off x="2325753" y="5581980"/>
                <a:ext cx="231775" cy="1666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Rectangle 26"/>
              <p:cNvSpPr>
                <a:spLocks noChangeArrowheads="1"/>
              </p:cNvSpPr>
              <p:nvPr/>
            </p:nvSpPr>
            <p:spPr bwMode="auto">
              <a:xfrm rot="634411">
                <a:off x="2154303" y="5516893"/>
                <a:ext cx="228600" cy="220663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Rectangle 27"/>
              <p:cNvSpPr>
                <a:spLocks noChangeArrowheads="1"/>
              </p:cNvSpPr>
              <p:nvPr/>
            </p:nvSpPr>
            <p:spPr bwMode="auto">
              <a:xfrm rot="1243167">
                <a:off x="2535303" y="5550231"/>
                <a:ext cx="179388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0" name="Rectangle 28"/>
              <p:cNvSpPr>
                <a:spLocks noChangeArrowheads="1"/>
              </p:cNvSpPr>
              <p:nvPr/>
            </p:nvSpPr>
            <p:spPr bwMode="auto">
              <a:xfrm rot="-2388704">
                <a:off x="2714690" y="5581981"/>
                <a:ext cx="201613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1" name="Rectangle 29"/>
              <p:cNvSpPr>
                <a:spLocks noChangeArrowheads="1"/>
              </p:cNvSpPr>
              <p:nvPr/>
            </p:nvSpPr>
            <p:spPr bwMode="auto">
              <a:xfrm>
                <a:off x="3678302" y="5550231"/>
                <a:ext cx="179388" cy="23495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2" name="Rectangle 30"/>
              <p:cNvSpPr>
                <a:spLocks noChangeArrowheads="1"/>
              </p:cNvSpPr>
              <p:nvPr/>
            </p:nvSpPr>
            <p:spPr bwMode="auto">
              <a:xfrm rot="2321781">
                <a:off x="3830702" y="5516893"/>
                <a:ext cx="165100" cy="219075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3" name="Rectangle 31"/>
              <p:cNvSpPr>
                <a:spLocks noChangeArrowheads="1"/>
              </p:cNvSpPr>
              <p:nvPr/>
            </p:nvSpPr>
            <p:spPr bwMode="auto">
              <a:xfrm rot="-524337">
                <a:off x="1622490" y="5550231"/>
                <a:ext cx="168275" cy="168275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4" name="Rectangle 32"/>
              <p:cNvSpPr>
                <a:spLocks noChangeArrowheads="1"/>
              </p:cNvSpPr>
              <p:nvPr/>
            </p:nvSpPr>
            <p:spPr bwMode="auto">
              <a:xfrm rot="1243167">
                <a:off x="3957702" y="5581981"/>
                <a:ext cx="177800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5" name="Rectangle 33"/>
              <p:cNvSpPr>
                <a:spLocks noChangeArrowheads="1"/>
              </p:cNvSpPr>
              <p:nvPr/>
            </p:nvSpPr>
            <p:spPr bwMode="auto">
              <a:xfrm rot="3851841">
                <a:off x="4097402" y="5562930"/>
                <a:ext cx="239713" cy="2159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6" name="Rectangle 34"/>
              <p:cNvSpPr>
                <a:spLocks noChangeArrowheads="1"/>
              </p:cNvSpPr>
              <p:nvPr/>
            </p:nvSpPr>
            <p:spPr bwMode="auto">
              <a:xfrm rot="4903658">
                <a:off x="4272027" y="5566105"/>
                <a:ext cx="209550" cy="1778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7" name="Rectangle 35"/>
              <p:cNvSpPr>
                <a:spLocks noChangeArrowheads="1"/>
              </p:cNvSpPr>
              <p:nvPr/>
            </p:nvSpPr>
            <p:spPr bwMode="auto">
              <a:xfrm rot="1243167">
                <a:off x="1925703" y="5416881"/>
                <a:ext cx="179388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8" name="Rectangle 36"/>
              <p:cNvSpPr>
                <a:spLocks noChangeArrowheads="1"/>
              </p:cNvSpPr>
              <p:nvPr/>
            </p:nvSpPr>
            <p:spPr bwMode="auto">
              <a:xfrm rot="1243167">
                <a:off x="3398902" y="5581981"/>
                <a:ext cx="177800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9" name="Rectangle 37"/>
              <p:cNvSpPr>
                <a:spLocks noChangeArrowheads="1"/>
              </p:cNvSpPr>
              <p:nvPr/>
            </p:nvSpPr>
            <p:spPr bwMode="auto">
              <a:xfrm rot="1243167">
                <a:off x="2662303" y="5450218"/>
                <a:ext cx="177800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0" name="Rectangle 38"/>
              <p:cNvSpPr>
                <a:spLocks noChangeArrowheads="1"/>
              </p:cNvSpPr>
              <p:nvPr/>
            </p:nvSpPr>
            <p:spPr bwMode="auto">
              <a:xfrm rot="-2720229">
                <a:off x="3233803" y="5470855"/>
                <a:ext cx="200025" cy="22225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1" name="Rectangle 39"/>
              <p:cNvSpPr>
                <a:spLocks noChangeArrowheads="1"/>
              </p:cNvSpPr>
              <p:nvPr/>
            </p:nvSpPr>
            <p:spPr bwMode="auto">
              <a:xfrm rot="-2225990">
                <a:off x="2128903" y="5416881"/>
                <a:ext cx="149225" cy="174625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2" name="Rectangle 40"/>
              <p:cNvSpPr>
                <a:spLocks noChangeArrowheads="1"/>
              </p:cNvSpPr>
              <p:nvPr/>
            </p:nvSpPr>
            <p:spPr bwMode="auto">
              <a:xfrm rot="-1494142">
                <a:off x="2332103" y="5383543"/>
                <a:ext cx="179388" cy="2174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3" name="Rectangle 41"/>
              <p:cNvSpPr>
                <a:spLocks noChangeArrowheads="1"/>
              </p:cNvSpPr>
              <p:nvPr/>
            </p:nvSpPr>
            <p:spPr bwMode="auto">
              <a:xfrm rot="1243167">
                <a:off x="4162489" y="5450218"/>
                <a:ext cx="176213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4" name="Rectangle 42"/>
              <p:cNvSpPr>
                <a:spLocks noChangeArrowheads="1"/>
              </p:cNvSpPr>
              <p:nvPr/>
            </p:nvSpPr>
            <p:spPr bwMode="auto">
              <a:xfrm rot="-592549">
                <a:off x="2816290" y="5383543"/>
                <a:ext cx="177800" cy="265113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5" name="Rectangle 43"/>
              <p:cNvSpPr>
                <a:spLocks noChangeArrowheads="1"/>
              </p:cNvSpPr>
              <p:nvPr/>
            </p:nvSpPr>
            <p:spPr bwMode="auto">
              <a:xfrm rot="-138137">
                <a:off x="3398902" y="5416881"/>
                <a:ext cx="182563" cy="23653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6" name="Rectangle 44"/>
              <p:cNvSpPr>
                <a:spLocks noChangeArrowheads="1"/>
              </p:cNvSpPr>
              <p:nvPr/>
            </p:nvSpPr>
            <p:spPr bwMode="auto">
              <a:xfrm rot="2295539">
                <a:off x="2535502" y="5412945"/>
                <a:ext cx="147638" cy="2428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7" name="Rectangle 45"/>
              <p:cNvSpPr>
                <a:spLocks noChangeArrowheads="1"/>
              </p:cNvSpPr>
              <p:nvPr/>
            </p:nvSpPr>
            <p:spPr bwMode="auto">
              <a:xfrm rot="2579250">
                <a:off x="1722503" y="5416881"/>
                <a:ext cx="144463" cy="1793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8" name="Rectangle 46"/>
              <p:cNvSpPr>
                <a:spLocks noChangeArrowheads="1"/>
              </p:cNvSpPr>
              <p:nvPr/>
            </p:nvSpPr>
            <p:spPr bwMode="auto">
              <a:xfrm rot="4009269">
                <a:off x="3930714" y="5469268"/>
                <a:ext cx="244475" cy="1397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9" name="Rectangle 47"/>
              <p:cNvSpPr>
                <a:spLocks noChangeArrowheads="1"/>
              </p:cNvSpPr>
              <p:nvPr/>
            </p:nvSpPr>
            <p:spPr bwMode="auto">
              <a:xfrm rot="2989758">
                <a:off x="3735452" y="5437518"/>
                <a:ext cx="219075" cy="1778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</p:grpSp>
      </p:grpSp>
      <p:sp>
        <p:nvSpPr>
          <p:cNvPr id="40" name="矩形 39"/>
          <p:cNvSpPr/>
          <p:nvPr/>
        </p:nvSpPr>
        <p:spPr>
          <a:xfrm>
            <a:off x="4115183" y="1796825"/>
            <a:ext cx="3918315" cy="2102239"/>
          </a:xfrm>
          <a:prstGeom prst="rect">
            <a:avLst/>
          </a:prstGeom>
          <a:noFill/>
          <a:ln>
            <a:noFill/>
          </a:ln>
          <a:effectLst>
            <a:outerShdw blurRad="63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514788" y="2113058"/>
            <a:ext cx="2646634" cy="1669140"/>
            <a:chOff x="5803953" y="4052423"/>
            <a:chExt cx="2646634" cy="1669140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889602" y="4725260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775610" y="4654255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803347" y="4795578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sp>
          <p:nvSpPr>
            <p:cNvPr id="45" name="文本框 44"/>
            <p:cNvSpPr txBox="1"/>
            <p:nvPr/>
          </p:nvSpPr>
          <p:spPr>
            <a:xfrm>
              <a:off x="7768990" y="4052423"/>
              <a:ext cx="681597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>
                <a:defRPr/>
              </a:pPr>
              <a:r>
                <a:rPr lang="en-US" altLang="zh-CN" sz="14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en-US" altLang="zh-CN" sz="1400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微软雅黑" panose="020B0503020204020204" pitchFamily="34" charset="-122"/>
                </a:rPr>
                <a:t>4.2 Å </a:t>
              </a:r>
              <a:endParaRPr lang="en-US" altLang="zh-CN" sz="14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endParaRPr>
            </a:p>
          </p:txBody>
        </p:sp>
        <p:sp>
          <p:nvSpPr>
            <p:cNvPr id="46" name="任意多边形: 形状 180"/>
            <p:cNvSpPr/>
            <p:nvPr/>
          </p:nvSpPr>
          <p:spPr>
            <a:xfrm rot="16200000" flipH="1">
              <a:off x="6403062" y="3752230"/>
              <a:ext cx="1281927" cy="2110283"/>
            </a:xfrm>
            <a:custGeom>
              <a:avLst/>
              <a:gdLst>
                <a:gd name="connsiteX0" fmla="*/ 5238976 w 5238976"/>
                <a:gd name="connsiteY0" fmla="*/ 0 h 1701186"/>
                <a:gd name="connsiteX1" fmla="*/ 2619488 w 5238976"/>
                <a:gd name="connsiteY1" fmla="*/ 0 h 1701186"/>
                <a:gd name="connsiteX2" fmla="*/ 0 w 5238976"/>
                <a:gd name="connsiteY2" fmla="*/ 0 h 1701186"/>
                <a:gd name="connsiteX3" fmla="*/ 58094 w 5238976"/>
                <a:gd name="connsiteY3" fmla="*/ 7931 h 1701186"/>
                <a:gd name="connsiteX4" fmla="*/ 2428846 w 5238976"/>
                <a:gd name="connsiteY4" fmla="*/ 1338680 h 1701186"/>
                <a:gd name="connsiteX5" fmla="*/ 2433263 w 5238976"/>
                <a:gd name="connsiteY5" fmla="*/ 1349965 h 1701186"/>
                <a:gd name="connsiteX6" fmla="*/ 2162175 w 5238976"/>
                <a:gd name="connsiteY6" fmla="*/ 1349965 h 1701186"/>
                <a:gd name="connsiteX7" fmla="*/ 2619488 w 5238976"/>
                <a:gd name="connsiteY7" fmla="*/ 1701186 h 1701186"/>
                <a:gd name="connsiteX8" fmla="*/ 3076801 w 5238976"/>
                <a:gd name="connsiteY8" fmla="*/ 1349965 h 1701186"/>
                <a:gd name="connsiteX9" fmla="*/ 2805715 w 5238976"/>
                <a:gd name="connsiteY9" fmla="*/ 1349965 h 1701186"/>
                <a:gd name="connsiteX10" fmla="*/ 2810130 w 5238976"/>
                <a:gd name="connsiteY10" fmla="*/ 1338680 h 1701186"/>
                <a:gd name="connsiteX11" fmla="*/ 5180882 w 5238976"/>
                <a:gd name="connsiteY11" fmla="*/ 7931 h 1701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38976" h="1701186">
                  <a:moveTo>
                    <a:pt x="5238976" y="0"/>
                  </a:moveTo>
                  <a:lnTo>
                    <a:pt x="2619488" y="0"/>
                  </a:lnTo>
                  <a:lnTo>
                    <a:pt x="0" y="0"/>
                  </a:lnTo>
                  <a:lnTo>
                    <a:pt x="58094" y="7931"/>
                  </a:lnTo>
                  <a:cubicBezTo>
                    <a:pt x="1223760" y="200438"/>
                    <a:pt x="2129990" y="705603"/>
                    <a:pt x="2428846" y="1338680"/>
                  </a:cubicBezTo>
                  <a:lnTo>
                    <a:pt x="2433263" y="1349965"/>
                  </a:lnTo>
                  <a:lnTo>
                    <a:pt x="2162175" y="1349965"/>
                  </a:lnTo>
                  <a:lnTo>
                    <a:pt x="2619488" y="1701186"/>
                  </a:lnTo>
                  <a:lnTo>
                    <a:pt x="3076801" y="1349965"/>
                  </a:lnTo>
                  <a:lnTo>
                    <a:pt x="2805715" y="1349965"/>
                  </a:lnTo>
                  <a:lnTo>
                    <a:pt x="2810130" y="1338680"/>
                  </a:lnTo>
                  <a:cubicBezTo>
                    <a:pt x="3108986" y="705603"/>
                    <a:pt x="4015216" y="200438"/>
                    <a:pt x="5180882" y="793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72000">
                  <a:schemeClr val="bg1">
                    <a:lumMod val="65000"/>
                    <a:alpha val="92000"/>
                  </a:schemeClr>
                </a:gs>
                <a:gs pos="100000">
                  <a:schemeClr val="bg1">
                    <a:lumMod val="65000"/>
                    <a:alpha val="88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056134" y="4716306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231078" y="4546961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465418" y="4883340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992" t="23852" r="17317" b="41457"/>
            <a:stretch>
              <a:fillRect/>
            </a:stretch>
          </p:blipFill>
          <p:spPr>
            <a:xfrm>
              <a:off x="5825669" y="4192884"/>
              <a:ext cx="338058" cy="338058"/>
            </a:xfrm>
            <a:custGeom>
              <a:avLst/>
              <a:gdLst>
                <a:gd name="connsiteX0" fmla="*/ 1189575 w 2379150"/>
                <a:gd name="connsiteY0" fmla="*/ 0 h 2379150"/>
                <a:gd name="connsiteX1" fmla="*/ 2379150 w 2379150"/>
                <a:gd name="connsiteY1" fmla="*/ 1189575 h 2379150"/>
                <a:gd name="connsiteX2" fmla="*/ 1189575 w 2379150"/>
                <a:gd name="connsiteY2" fmla="*/ 2379150 h 2379150"/>
                <a:gd name="connsiteX3" fmla="*/ 0 w 2379150"/>
                <a:gd name="connsiteY3" fmla="*/ 1189575 h 2379150"/>
                <a:gd name="connsiteX4" fmla="*/ 1189575 w 2379150"/>
                <a:gd name="connsiteY4" fmla="*/ 0 h 237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9150" h="2379150">
                  <a:moveTo>
                    <a:pt x="1189575" y="0"/>
                  </a:moveTo>
                  <a:cubicBezTo>
                    <a:pt x="1846559" y="0"/>
                    <a:pt x="2379150" y="532591"/>
                    <a:pt x="2379150" y="1189575"/>
                  </a:cubicBezTo>
                  <a:cubicBezTo>
                    <a:pt x="2379150" y="1846559"/>
                    <a:pt x="1846559" y="2379150"/>
                    <a:pt x="1189575" y="2379150"/>
                  </a:cubicBezTo>
                  <a:cubicBezTo>
                    <a:pt x="532591" y="2379150"/>
                    <a:pt x="0" y="1846559"/>
                    <a:pt x="0" y="1189575"/>
                  </a:cubicBezTo>
                  <a:cubicBezTo>
                    <a:pt x="0" y="532591"/>
                    <a:pt x="532591" y="0"/>
                    <a:pt x="1189575" y="0"/>
                  </a:cubicBezTo>
                  <a:close/>
                </a:path>
              </a:pathLst>
            </a:custGeom>
          </p:spPr>
        </p:pic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992" t="23852" r="17317" b="41457"/>
            <a:stretch>
              <a:fillRect/>
            </a:stretch>
          </p:blipFill>
          <p:spPr>
            <a:xfrm>
              <a:off x="5803953" y="4904586"/>
              <a:ext cx="338058" cy="338058"/>
            </a:xfrm>
            <a:custGeom>
              <a:avLst/>
              <a:gdLst>
                <a:gd name="connsiteX0" fmla="*/ 1189575 w 2379150"/>
                <a:gd name="connsiteY0" fmla="*/ 0 h 2379150"/>
                <a:gd name="connsiteX1" fmla="*/ 2379150 w 2379150"/>
                <a:gd name="connsiteY1" fmla="*/ 1189575 h 2379150"/>
                <a:gd name="connsiteX2" fmla="*/ 1189575 w 2379150"/>
                <a:gd name="connsiteY2" fmla="*/ 2379150 h 2379150"/>
                <a:gd name="connsiteX3" fmla="*/ 0 w 2379150"/>
                <a:gd name="connsiteY3" fmla="*/ 1189575 h 2379150"/>
                <a:gd name="connsiteX4" fmla="*/ 1189575 w 2379150"/>
                <a:gd name="connsiteY4" fmla="*/ 0 h 237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9150" h="2379150">
                  <a:moveTo>
                    <a:pt x="1189575" y="0"/>
                  </a:moveTo>
                  <a:cubicBezTo>
                    <a:pt x="1846559" y="0"/>
                    <a:pt x="2379150" y="532591"/>
                    <a:pt x="2379150" y="1189575"/>
                  </a:cubicBezTo>
                  <a:cubicBezTo>
                    <a:pt x="2379150" y="1846559"/>
                    <a:pt x="1846559" y="2379150"/>
                    <a:pt x="1189575" y="2379150"/>
                  </a:cubicBezTo>
                  <a:cubicBezTo>
                    <a:pt x="532591" y="2379150"/>
                    <a:pt x="0" y="1846559"/>
                    <a:pt x="0" y="1189575"/>
                  </a:cubicBezTo>
                  <a:cubicBezTo>
                    <a:pt x="0" y="532591"/>
                    <a:pt x="532591" y="0"/>
                    <a:pt x="1189575" y="0"/>
                  </a:cubicBezTo>
                  <a:close/>
                </a:path>
              </a:pathLst>
            </a:custGeom>
          </p:spPr>
        </p:pic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1587" y="4196439"/>
              <a:ext cx="1366953" cy="1369098"/>
            </a:xfrm>
            <a:prstGeom prst="rect">
              <a:avLst/>
            </a:prstGeom>
          </p:spPr>
        </p:pic>
        <p:cxnSp>
          <p:nvCxnSpPr>
            <p:cNvPr id="53" name="直接箭头连接符 52"/>
            <p:cNvCxnSpPr/>
            <p:nvPr/>
          </p:nvCxnSpPr>
          <p:spPr>
            <a:xfrm flipH="1">
              <a:off x="7524798" y="4264919"/>
              <a:ext cx="574367" cy="335291"/>
            </a:xfrm>
            <a:prstGeom prst="straightConnector1">
              <a:avLst/>
            </a:prstGeom>
            <a:ln w="158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8190747" y="4766416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7962492" y="4609012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7855764" y="4900954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grpSp>
          <p:nvGrpSpPr>
            <p:cNvPr id="57" name="组合 56"/>
            <p:cNvGrpSpPr/>
            <p:nvPr/>
          </p:nvGrpSpPr>
          <p:grpSpPr>
            <a:xfrm>
              <a:off x="5991315" y="5444564"/>
              <a:ext cx="2280804" cy="276999"/>
              <a:chOff x="6248877" y="2651208"/>
              <a:chExt cx="2141319" cy="260060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6370941" y="2651208"/>
                <a:ext cx="2019255" cy="260060"/>
                <a:chOff x="6370941" y="2948815"/>
                <a:chExt cx="2019255" cy="260060"/>
              </a:xfrm>
            </p:grpSpPr>
            <p:grpSp>
              <p:nvGrpSpPr>
                <p:cNvPr id="60" name="组合 59"/>
                <p:cNvGrpSpPr/>
                <p:nvPr/>
              </p:nvGrpSpPr>
              <p:grpSpPr>
                <a:xfrm>
                  <a:off x="6370941" y="2948815"/>
                  <a:ext cx="2019255" cy="260060"/>
                  <a:chOff x="6536740" y="2948815"/>
                  <a:chExt cx="2019255" cy="260060"/>
                </a:xfrm>
              </p:grpSpPr>
              <p:sp>
                <p:nvSpPr>
                  <p:cNvPr id="62" name="矩形 61"/>
                  <p:cNvSpPr/>
                  <p:nvPr/>
                </p:nvSpPr>
                <p:spPr>
                  <a:xfrm>
                    <a:off x="7821268" y="2948815"/>
                    <a:ext cx="734727" cy="2600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zh-CN" altLang="en-US" sz="1200" b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水</a:t>
                    </a:r>
                    <a:r>
                      <a:rPr lang="en-US" altLang="zh-CN" sz="1200" b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(2.6 Å)</a:t>
                    </a:r>
                    <a:endParaRPr lang="en-US" altLang="zh-CN" sz="1200" b="1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63" name="矩形 62"/>
                  <p:cNvSpPr/>
                  <p:nvPr/>
                </p:nvSpPr>
                <p:spPr>
                  <a:xfrm>
                    <a:off x="6536740" y="2948815"/>
                    <a:ext cx="1094479" cy="26005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zh-CN" altLang="en-US" sz="1200" b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乙醇</a:t>
                    </a:r>
                    <a:r>
                      <a:rPr lang="en-US" altLang="zh-CN" sz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(</a:t>
                    </a:r>
                    <a:r>
                      <a:rPr lang="en-US" altLang="zh-CN" sz="1200" b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4.3 Å)</a:t>
                    </a:r>
                    <a:r>
                      <a:rPr lang="en-US" altLang="zh-CN" sz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 </a:t>
                    </a:r>
                    <a:endParaRPr lang="zh-CN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  <a:sym typeface="微软雅黑" panose="020B0503020204020204" pitchFamily="34" charset="-122"/>
                    </a:endParaRPr>
                  </a:p>
                </p:txBody>
              </p:sp>
            </p:grpSp>
            <p:pic>
              <p:nvPicPr>
                <p:cNvPr id="61" name="图片 60"/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589" t="27985" r="54891" b="44495"/>
                <a:stretch>
                  <a:fillRect/>
                </a:stretch>
              </p:blipFill>
              <p:spPr>
                <a:xfrm>
                  <a:off x="7554896" y="2995032"/>
                  <a:ext cx="147438" cy="147438"/>
                </a:xfrm>
                <a:custGeom>
                  <a:avLst/>
                  <a:gdLst>
                    <a:gd name="connsiteX0" fmla="*/ 232545 w 465090"/>
                    <a:gd name="connsiteY0" fmla="*/ 0 h 465090"/>
                    <a:gd name="connsiteX1" fmla="*/ 465090 w 465090"/>
                    <a:gd name="connsiteY1" fmla="*/ 232545 h 465090"/>
                    <a:gd name="connsiteX2" fmla="*/ 232545 w 465090"/>
                    <a:gd name="connsiteY2" fmla="*/ 465090 h 465090"/>
                    <a:gd name="connsiteX3" fmla="*/ 0 w 465090"/>
                    <a:gd name="connsiteY3" fmla="*/ 232545 h 465090"/>
                    <a:gd name="connsiteX4" fmla="*/ 232545 w 465090"/>
                    <a:gd name="connsiteY4" fmla="*/ 0 h 465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5090" h="465090">
                      <a:moveTo>
                        <a:pt x="232545" y="0"/>
                      </a:moveTo>
                      <a:cubicBezTo>
                        <a:pt x="360976" y="0"/>
                        <a:pt x="465090" y="104114"/>
                        <a:pt x="465090" y="232545"/>
                      </a:cubicBezTo>
                      <a:cubicBezTo>
                        <a:pt x="465090" y="360976"/>
                        <a:pt x="360976" y="465090"/>
                        <a:pt x="232545" y="465090"/>
                      </a:cubicBezTo>
                      <a:cubicBezTo>
                        <a:pt x="104114" y="465090"/>
                        <a:pt x="0" y="360976"/>
                        <a:pt x="0" y="232545"/>
                      </a:cubicBezTo>
                      <a:cubicBezTo>
                        <a:pt x="0" y="104114"/>
                        <a:pt x="104114" y="0"/>
                        <a:pt x="232545" y="0"/>
                      </a:cubicBezTo>
                      <a:close/>
                    </a:path>
                  </a:pathLst>
                </a:custGeom>
              </p:spPr>
            </p:pic>
          </p:grp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992" t="23852" r="17317" b="41457"/>
              <a:stretch>
                <a:fillRect/>
              </a:stretch>
            </p:blipFill>
            <p:spPr>
              <a:xfrm>
                <a:off x="6248877" y="2687852"/>
                <a:ext cx="153850" cy="153850"/>
              </a:xfrm>
              <a:custGeom>
                <a:avLst/>
                <a:gdLst>
                  <a:gd name="connsiteX0" fmla="*/ 1189575 w 2379150"/>
                  <a:gd name="connsiteY0" fmla="*/ 0 h 2379150"/>
                  <a:gd name="connsiteX1" fmla="*/ 2379150 w 2379150"/>
                  <a:gd name="connsiteY1" fmla="*/ 1189575 h 2379150"/>
                  <a:gd name="connsiteX2" fmla="*/ 1189575 w 2379150"/>
                  <a:gd name="connsiteY2" fmla="*/ 2379150 h 2379150"/>
                  <a:gd name="connsiteX3" fmla="*/ 0 w 2379150"/>
                  <a:gd name="connsiteY3" fmla="*/ 1189575 h 2379150"/>
                  <a:gd name="connsiteX4" fmla="*/ 1189575 w 2379150"/>
                  <a:gd name="connsiteY4" fmla="*/ 0 h 237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9150" h="2379150">
                    <a:moveTo>
                      <a:pt x="1189575" y="0"/>
                    </a:moveTo>
                    <a:cubicBezTo>
                      <a:pt x="1846559" y="0"/>
                      <a:pt x="2379150" y="532591"/>
                      <a:pt x="2379150" y="1189575"/>
                    </a:cubicBezTo>
                    <a:cubicBezTo>
                      <a:pt x="2379150" y="1846559"/>
                      <a:pt x="1846559" y="2379150"/>
                      <a:pt x="1189575" y="2379150"/>
                    </a:cubicBezTo>
                    <a:cubicBezTo>
                      <a:pt x="532591" y="2379150"/>
                      <a:pt x="0" y="1846559"/>
                      <a:pt x="0" y="1189575"/>
                    </a:cubicBezTo>
                    <a:cubicBezTo>
                      <a:pt x="0" y="532591"/>
                      <a:pt x="532591" y="0"/>
                      <a:pt x="1189575" y="0"/>
                    </a:cubicBezTo>
                    <a:close/>
                  </a:path>
                </a:pathLst>
              </a:custGeom>
            </p:spPr>
          </p:pic>
        </p:grpSp>
      </p:grpSp>
      <p:sp>
        <p:nvSpPr>
          <p:cNvPr id="64" name="文本框 63"/>
          <p:cNvSpPr txBox="1"/>
          <p:nvPr/>
        </p:nvSpPr>
        <p:spPr>
          <a:xfrm>
            <a:off x="4112070" y="4158078"/>
            <a:ext cx="122595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分子筛膜层</a:t>
            </a:r>
            <a:endParaRPr lang="zh-CN" altLang="en-US" sz="1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112070" y="5480865"/>
            <a:ext cx="149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多孔陶瓷载体</a:t>
            </a:r>
            <a:endParaRPr lang="zh-CN" altLang="en-US" sz="1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8532971" y="5950729"/>
            <a:ext cx="3423419" cy="379272"/>
            <a:chOff x="3188227" y="3182079"/>
            <a:chExt cx="2582607" cy="379272"/>
          </a:xfrm>
        </p:grpSpPr>
        <p:sp>
          <p:nvSpPr>
            <p:cNvPr id="67" name="矩形 66"/>
            <p:cNvSpPr/>
            <p:nvPr/>
          </p:nvSpPr>
          <p:spPr>
            <a:xfrm>
              <a:off x="3188227" y="3182079"/>
              <a:ext cx="2582607" cy="379272"/>
            </a:xfrm>
            <a:prstGeom prst="rect">
              <a:avLst/>
            </a:prstGeom>
            <a:solidFill>
              <a:srgbClr val="005D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矩形 10"/>
            <p:cNvSpPr>
              <a:spLocks noChangeArrowheads="1"/>
            </p:cNvSpPr>
            <p:nvPr/>
          </p:nvSpPr>
          <p:spPr bwMode="auto">
            <a:xfrm>
              <a:off x="3679902" y="3202438"/>
              <a:ext cx="18782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渗透汽化膜分离过程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</p:grpSp>
      <p:sp>
        <p:nvSpPr>
          <p:cNvPr id="69" name="矩形 68"/>
          <p:cNvSpPr/>
          <p:nvPr/>
        </p:nvSpPr>
        <p:spPr>
          <a:xfrm>
            <a:off x="8992813" y="1960883"/>
            <a:ext cx="937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>
                <a:srgbClr val="99CC00"/>
              </a:buClr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无水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685800">
              <a:buClr>
                <a:srgbClr val="99CC00"/>
              </a:buClr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乙醇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8956799" y="5124630"/>
            <a:ext cx="937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>
                <a:srgbClr val="99CC00"/>
              </a:buClr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乙醇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685800">
              <a:buClr>
                <a:srgbClr val="99CC00"/>
              </a:buClr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溶液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728958" y="4364967"/>
            <a:ext cx="9374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>
                <a:srgbClr val="99CC00"/>
              </a:buClr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膜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0307140" y="5478884"/>
            <a:ext cx="610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>
                <a:srgbClr val="99CC00"/>
              </a:buClr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3" name="直接箭头连接符 72"/>
          <p:cNvCxnSpPr>
            <a:stCxn id="34" idx="0"/>
            <a:endCxn id="52" idx="2"/>
          </p:cNvCxnSpPr>
          <p:nvPr/>
        </p:nvCxnSpPr>
        <p:spPr>
          <a:xfrm flipV="1">
            <a:off x="5712386" y="3626172"/>
            <a:ext cx="53513" cy="9185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组合 75"/>
          <p:cNvGrpSpPr/>
          <p:nvPr/>
        </p:nvGrpSpPr>
        <p:grpSpPr>
          <a:xfrm>
            <a:off x="255878" y="2607596"/>
            <a:ext cx="3234341" cy="2390169"/>
            <a:chOff x="4984107" y="1995632"/>
            <a:chExt cx="3655205" cy="2651851"/>
          </a:xfrm>
        </p:grpSpPr>
        <p:grpSp>
          <p:nvGrpSpPr>
            <p:cNvPr id="77" name="组合 76"/>
            <p:cNvGrpSpPr/>
            <p:nvPr/>
          </p:nvGrpSpPr>
          <p:grpSpPr>
            <a:xfrm>
              <a:off x="4984107" y="1995632"/>
              <a:ext cx="3655205" cy="2232918"/>
              <a:chOff x="4984107" y="1995632"/>
              <a:chExt cx="3655205" cy="2232918"/>
            </a:xfrm>
          </p:grpSpPr>
          <p:pic>
            <p:nvPicPr>
              <p:cNvPr id="79" name="图片 78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 t="3739" r="5978" b="1233"/>
              <a:stretch>
                <a:fillRect/>
              </a:stretch>
            </p:blipFill>
            <p:spPr>
              <a:xfrm>
                <a:off x="4984107" y="1995632"/>
                <a:ext cx="3655205" cy="2232918"/>
              </a:xfrm>
              <a:custGeom>
                <a:avLst/>
                <a:gdLst>
                  <a:gd name="connsiteX0" fmla="*/ 0 w 2531664"/>
                  <a:gd name="connsiteY0" fmla="*/ 0 h 1463999"/>
                  <a:gd name="connsiteX1" fmla="*/ 2531664 w 2531664"/>
                  <a:gd name="connsiteY1" fmla="*/ 0 h 1463999"/>
                  <a:gd name="connsiteX2" fmla="*/ 2531664 w 2531664"/>
                  <a:gd name="connsiteY2" fmla="*/ 1414581 h 1463999"/>
                  <a:gd name="connsiteX3" fmla="*/ 2493161 w 2531664"/>
                  <a:gd name="connsiteY3" fmla="*/ 1463999 h 1463999"/>
                  <a:gd name="connsiteX4" fmla="*/ 38503 w 2531664"/>
                  <a:gd name="connsiteY4" fmla="*/ 1463999 h 1463999"/>
                  <a:gd name="connsiteX5" fmla="*/ 0 w 2531664"/>
                  <a:gd name="connsiteY5" fmla="*/ 1414581 h 1463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31664" h="1463999">
                    <a:moveTo>
                      <a:pt x="0" y="0"/>
                    </a:moveTo>
                    <a:lnTo>
                      <a:pt x="2531664" y="0"/>
                    </a:lnTo>
                    <a:lnTo>
                      <a:pt x="2531664" y="1414581"/>
                    </a:lnTo>
                    <a:cubicBezTo>
                      <a:pt x="2531664" y="1441874"/>
                      <a:pt x="2514426" y="1463999"/>
                      <a:pt x="2493161" y="1463999"/>
                    </a:cubicBezTo>
                    <a:lnTo>
                      <a:pt x="38503" y="1463999"/>
                    </a:lnTo>
                    <a:cubicBezTo>
                      <a:pt x="17239" y="1463999"/>
                      <a:pt x="0" y="1441874"/>
                      <a:pt x="0" y="1414581"/>
                    </a:cubicBezTo>
                    <a:close/>
                  </a:path>
                </a:pathLst>
              </a:custGeom>
            </p:spPr>
          </p:pic>
          <p:cxnSp>
            <p:nvCxnSpPr>
              <p:cNvPr id="80" name="直接箭头连接符 79"/>
              <p:cNvCxnSpPr/>
              <p:nvPr/>
            </p:nvCxnSpPr>
            <p:spPr>
              <a:xfrm>
                <a:off x="5258034" y="2810272"/>
                <a:ext cx="499855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 80"/>
              <p:cNvSpPr/>
              <p:nvPr/>
            </p:nvSpPr>
            <p:spPr>
              <a:xfrm>
                <a:off x="5196651" y="2554461"/>
                <a:ext cx="575538" cy="275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zh-CN" altLang="en-US" sz="1200" b="1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原料</a:t>
                </a:r>
                <a:endParaRPr lang="zh-CN" altLang="en-US" sz="1200" b="1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cxnSp>
            <p:nvCxnSpPr>
              <p:cNvPr id="82" name="直接箭头连接符 81"/>
              <p:cNvCxnSpPr/>
              <p:nvPr/>
            </p:nvCxnSpPr>
            <p:spPr>
              <a:xfrm>
                <a:off x="7438175" y="2299522"/>
                <a:ext cx="594993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矩形 82"/>
              <p:cNvSpPr/>
              <p:nvPr/>
            </p:nvSpPr>
            <p:spPr>
              <a:xfrm>
                <a:off x="7360938" y="2042546"/>
                <a:ext cx="749465" cy="275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zh-CN" altLang="en-US" sz="1200" b="1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渗余物</a:t>
                </a:r>
                <a:endParaRPr lang="zh-CN" altLang="en-US" sz="1200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cxnSp>
            <p:nvCxnSpPr>
              <p:cNvPr id="84" name="直接箭头连接符 83"/>
              <p:cNvCxnSpPr/>
              <p:nvPr/>
            </p:nvCxnSpPr>
            <p:spPr>
              <a:xfrm>
                <a:off x="6020571" y="3059494"/>
                <a:ext cx="0" cy="169386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箭头连接符 84"/>
              <p:cNvCxnSpPr/>
              <p:nvPr/>
            </p:nvCxnSpPr>
            <p:spPr>
              <a:xfrm>
                <a:off x="5683565" y="3030036"/>
                <a:ext cx="0" cy="26225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/>
              <p:cNvCxnSpPr/>
              <p:nvPr/>
            </p:nvCxnSpPr>
            <p:spPr>
              <a:xfrm>
                <a:off x="6381113" y="3675449"/>
                <a:ext cx="0" cy="269956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箭头连接符 86"/>
              <p:cNvCxnSpPr/>
              <p:nvPr/>
            </p:nvCxnSpPr>
            <p:spPr>
              <a:xfrm>
                <a:off x="6653653" y="3608687"/>
                <a:ext cx="0" cy="269956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箭头连接符 87"/>
              <p:cNvCxnSpPr/>
              <p:nvPr/>
            </p:nvCxnSpPr>
            <p:spPr>
              <a:xfrm>
                <a:off x="6878568" y="3550301"/>
                <a:ext cx="0" cy="269956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箭头连接符 88"/>
              <p:cNvCxnSpPr/>
              <p:nvPr/>
            </p:nvCxnSpPr>
            <p:spPr>
              <a:xfrm>
                <a:off x="7051096" y="3493988"/>
                <a:ext cx="0" cy="269956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箭头连接符 89"/>
              <p:cNvCxnSpPr/>
              <p:nvPr/>
            </p:nvCxnSpPr>
            <p:spPr>
              <a:xfrm>
                <a:off x="7204575" y="3446212"/>
                <a:ext cx="0" cy="269956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90"/>
              <p:cNvCxnSpPr/>
              <p:nvPr/>
            </p:nvCxnSpPr>
            <p:spPr>
              <a:xfrm>
                <a:off x="5411309" y="3054394"/>
                <a:ext cx="0" cy="26225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91"/>
              <p:cNvCxnSpPr/>
              <p:nvPr/>
            </p:nvCxnSpPr>
            <p:spPr>
              <a:xfrm>
                <a:off x="6557484" y="2927394"/>
                <a:ext cx="0" cy="26225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矩形 92"/>
              <p:cNvSpPr/>
              <p:nvPr/>
            </p:nvSpPr>
            <p:spPr>
              <a:xfrm>
                <a:off x="5080597" y="3692519"/>
                <a:ext cx="401612" cy="275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zh-CN" altLang="en-US" sz="1200" b="1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膜</a:t>
                </a:r>
                <a:endParaRPr lang="zh-CN" altLang="en-US" sz="1200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6847637" y="3881656"/>
                <a:ext cx="749465" cy="275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zh-CN" altLang="en-US" sz="1200" b="1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渗透物</a:t>
                </a:r>
                <a:endParaRPr lang="zh-CN" altLang="en-US" sz="1200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8" name="文本框 80"/>
            <p:cNvSpPr txBox="1"/>
            <p:nvPr/>
          </p:nvSpPr>
          <p:spPr>
            <a:xfrm>
              <a:off x="5506319" y="4247373"/>
              <a:ext cx="2610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节能减排优势显著</a:t>
              </a:r>
              <a:endPara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4" name="文本框 73"/>
          <p:cNvSpPr txBox="1"/>
          <p:nvPr/>
        </p:nvSpPr>
        <p:spPr>
          <a:xfrm>
            <a:off x="3370580" y="276225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分离原理</a:t>
            </a:r>
            <a:r>
              <a:rPr lang="en-US" altLang="zh-CN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以溶剂脱水为例</a:t>
            </a:r>
            <a:endParaRPr lang="zh-CN" altLang="en-US" sz="3000" b="1" spc="100" dirty="0"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212464" y="315595"/>
            <a:ext cx="6288151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应用领域</a:t>
            </a:r>
            <a:r>
              <a:rPr lang="en-US" altLang="zh-CN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分子的精密分离</a:t>
            </a:r>
            <a:endParaRPr kumimoji="0" lang="zh-CN" altLang="en-US" sz="3000" b="1" i="0" u="none" strike="noStrike" kern="1200" cap="none" spc="10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82830" y="1161062"/>
            <a:ext cx="10990152" cy="5761575"/>
            <a:chOff x="518822" y="1129214"/>
            <a:chExt cx="10990152" cy="5761575"/>
          </a:xfrm>
        </p:grpSpPr>
        <p:grpSp>
          <p:nvGrpSpPr>
            <p:cNvPr id="4" name="Group 175"/>
            <p:cNvGrpSpPr/>
            <p:nvPr/>
          </p:nvGrpSpPr>
          <p:grpSpPr>
            <a:xfrm>
              <a:off x="3329602" y="3272379"/>
              <a:ext cx="4769172" cy="2172254"/>
              <a:chOff x="1807" y="1831"/>
              <a:chExt cx="2705" cy="1221"/>
            </a:xfrm>
          </p:grpSpPr>
          <p:sp>
            <p:nvSpPr>
              <p:cNvPr id="69" name="AutoShape 11"/>
              <p:cNvSpPr/>
              <p:nvPr/>
            </p:nvSpPr>
            <p:spPr>
              <a:xfrm rot="21419095">
                <a:off x="1812" y="1831"/>
                <a:ext cx="2681" cy="1221"/>
              </a:xfrm>
              <a:custGeom>
                <a:avLst/>
                <a:gdLst>
                  <a:gd name="txL" fmla="*/ 3166 w 21600"/>
                  <a:gd name="txT" fmla="*/ 3167 h 21600"/>
                  <a:gd name="txR" fmla="*/ 18434 w 21600"/>
                  <a:gd name="txB" fmla="*/ 1843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28" y="10800"/>
                    </a:moveTo>
                    <a:cubicBezTo>
                      <a:pt x="328" y="16584"/>
                      <a:pt x="5016" y="21272"/>
                      <a:pt x="10800" y="21272"/>
                    </a:cubicBezTo>
                    <a:cubicBezTo>
                      <a:pt x="16584" y="21272"/>
                      <a:pt x="21272" y="16584"/>
                      <a:pt x="21272" y="10800"/>
                    </a:cubicBezTo>
                    <a:cubicBezTo>
                      <a:pt x="21272" y="5016"/>
                      <a:pt x="16584" y="328"/>
                      <a:pt x="10800" y="328"/>
                    </a:cubicBezTo>
                    <a:cubicBezTo>
                      <a:pt x="5016" y="328"/>
                      <a:pt x="328" y="5016"/>
                      <a:pt x="328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6D6FF">
                      <a:alpha val="100000"/>
                    </a:srgbClr>
                  </a:gs>
                  <a:gs pos="50000">
                    <a:srgbClr val="9999FF">
                      <a:alpha val="100000"/>
                    </a:srgbClr>
                  </a:gs>
                  <a:gs pos="100000">
                    <a:srgbClr val="D6D6FF">
                      <a:alpha val="100000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0" name="AutoShape 34"/>
              <p:cNvSpPr/>
              <p:nvPr/>
            </p:nvSpPr>
            <p:spPr>
              <a:xfrm>
                <a:off x="1807" y="1836"/>
                <a:ext cx="2705" cy="1188"/>
              </a:xfrm>
              <a:custGeom>
                <a:avLst/>
                <a:gdLst>
                  <a:gd name="txL" fmla="*/ 3162 w 21600"/>
                  <a:gd name="txT" fmla="*/ 3164 h 21600"/>
                  <a:gd name="txR" fmla="*/ 18438 w 21600"/>
                  <a:gd name="txB" fmla="*/ 18436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28" y="10800"/>
                    </a:moveTo>
                    <a:cubicBezTo>
                      <a:pt x="328" y="16584"/>
                      <a:pt x="5016" y="21272"/>
                      <a:pt x="10800" y="21272"/>
                    </a:cubicBezTo>
                    <a:cubicBezTo>
                      <a:pt x="16584" y="21272"/>
                      <a:pt x="21272" y="16584"/>
                      <a:pt x="21272" y="10800"/>
                    </a:cubicBezTo>
                    <a:cubicBezTo>
                      <a:pt x="21272" y="5016"/>
                      <a:pt x="16584" y="328"/>
                      <a:pt x="10800" y="328"/>
                    </a:cubicBezTo>
                    <a:cubicBezTo>
                      <a:pt x="5016" y="328"/>
                      <a:pt x="328" y="5016"/>
                      <a:pt x="328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6D6FF">
                      <a:alpha val="100000"/>
                    </a:srgbClr>
                  </a:gs>
                  <a:gs pos="50000">
                    <a:srgbClr val="9999FF">
                      <a:alpha val="100000"/>
                    </a:srgbClr>
                  </a:gs>
                  <a:gs pos="100000">
                    <a:srgbClr val="D6D6FF">
                      <a:alpha val="100000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Rectangle 249"/>
            <p:cNvSpPr/>
            <p:nvPr/>
          </p:nvSpPr>
          <p:spPr>
            <a:xfrm>
              <a:off x="4691410" y="4719914"/>
              <a:ext cx="2122490" cy="4139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defTabSz="448945" rtl="0" eaLnBrk="0" fontAlgn="base" hangingPunct="0">
                <a:lnSpc>
                  <a:spcPct val="102000"/>
                </a:lnSpc>
                <a:spcBef>
                  <a:spcPts val="62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Wingdings" panose="05000000000000000000" pitchFamily="2" charset="2"/>
                <a:buChar char=""/>
                <a:defRPr sz="20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79450" indent="-214630" algn="l" defTabSz="448945" rtl="0" eaLnBrk="0" fontAlgn="base" hangingPunct="0">
                <a:lnSpc>
                  <a:spcPct val="102000"/>
                </a:lnSpc>
                <a:spcBef>
                  <a:spcPts val="34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000">
                  <a:solidFill>
                    <a:srgbClr val="000000"/>
                  </a:solidFill>
                  <a:latin typeface="+mn-lt"/>
                  <a:cs typeface="+mn-cs"/>
                </a:defRPr>
              </a:lvl2pPr>
              <a:lvl3pPr marL="10877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400">
                  <a:solidFill>
                    <a:srgbClr val="000000"/>
                  </a:solidFill>
                  <a:latin typeface="+mn-lt"/>
                  <a:cs typeface="+mn-cs"/>
                </a:defRPr>
              </a:lvl3pPr>
              <a:lvl4pPr marL="1539875" indent="-16827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4pPr>
              <a:lvl5pPr marL="20021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zh-CN" altLang="en-US" sz="1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分子筛膜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(&lt;1nm</a:t>
              </a:r>
              <a:r>
                <a:rPr lang="en-US" altLang="zh-CN" sz="1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)</a:t>
              </a:r>
              <a:endPara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6" name="Picture 250" descr="purple_ball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2686" y="4124556"/>
              <a:ext cx="423143" cy="42697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" name="Picture 251" descr="purple_ball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14915" y="4078301"/>
              <a:ext cx="423143" cy="42697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" name="Picture 252" descr="purple_ball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9944" y="3170971"/>
              <a:ext cx="253886" cy="2561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16"/>
            <p:cNvSpPr/>
            <p:nvPr/>
          </p:nvSpPr>
          <p:spPr>
            <a:xfrm>
              <a:off x="518822" y="4139791"/>
              <a:ext cx="2431309" cy="10318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defTabSz="448945" rtl="0" eaLnBrk="0" fontAlgn="base" hangingPunct="0">
                <a:lnSpc>
                  <a:spcPct val="102000"/>
                </a:lnSpc>
                <a:spcBef>
                  <a:spcPts val="62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Wingdings" panose="05000000000000000000" pitchFamily="2" charset="2"/>
                <a:buChar char=""/>
                <a:defRPr sz="20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79450" indent="-214630" algn="l" defTabSz="448945" rtl="0" eaLnBrk="0" fontAlgn="base" hangingPunct="0">
                <a:lnSpc>
                  <a:spcPct val="102000"/>
                </a:lnSpc>
                <a:spcBef>
                  <a:spcPts val="34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000">
                  <a:solidFill>
                    <a:srgbClr val="000000"/>
                  </a:solidFill>
                  <a:latin typeface="+mn-lt"/>
                  <a:cs typeface="+mn-cs"/>
                </a:defRPr>
              </a:lvl2pPr>
              <a:lvl3pPr marL="10877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400">
                  <a:solidFill>
                    <a:srgbClr val="000000"/>
                  </a:solidFill>
                  <a:latin typeface="+mn-lt"/>
                  <a:cs typeface="+mn-cs"/>
                </a:defRPr>
              </a:lvl3pPr>
              <a:lvl4pPr marL="1539875" indent="-16827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4pPr>
              <a:lvl5pPr marL="20021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有机溶剂</a:t>
              </a:r>
              <a:endPara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脱水</a:t>
              </a:r>
              <a:endPara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" name="Text Box 90"/>
            <p:cNvSpPr txBox="1">
              <a:spLocks noChangeArrowheads="1"/>
            </p:cNvSpPr>
            <p:nvPr/>
          </p:nvSpPr>
          <p:spPr bwMode="auto">
            <a:xfrm>
              <a:off x="1222575" y="5161021"/>
              <a:ext cx="2429998" cy="1729768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square">
              <a:spAutoFit/>
            </a:bodyPr>
            <a:lstStyle>
              <a:lvl1pPr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水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lang="zh-CN" altLang="en-US" sz="16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乙醇</a:t>
              </a:r>
              <a:endParaRPr lang="en-US" altLang="zh-CN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水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异丙醇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水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lang="zh-CN" altLang="en-US" sz="16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丙醇</a:t>
              </a:r>
              <a:endParaRPr lang="en-US" altLang="zh-CN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…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" name="矩形 11"/>
            <p:cNvSpPr/>
            <p:nvPr/>
          </p:nvSpPr>
          <p:spPr>
            <a:xfrm>
              <a:off x="4130047" y="2688225"/>
              <a:ext cx="3036050" cy="5123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defTabSz="448945" rtl="0" eaLnBrk="0" fontAlgn="base" hangingPunct="0">
                <a:lnSpc>
                  <a:spcPct val="102000"/>
                </a:lnSpc>
                <a:spcBef>
                  <a:spcPts val="62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Wingdings" panose="05000000000000000000" pitchFamily="2" charset="2"/>
                <a:buChar char=""/>
                <a:defRPr sz="20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79450" indent="-214630" algn="l" defTabSz="448945" rtl="0" eaLnBrk="0" fontAlgn="base" hangingPunct="0">
                <a:lnSpc>
                  <a:spcPct val="102000"/>
                </a:lnSpc>
                <a:spcBef>
                  <a:spcPts val="34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000">
                  <a:solidFill>
                    <a:srgbClr val="000000"/>
                  </a:solidFill>
                  <a:latin typeface="+mn-lt"/>
                  <a:cs typeface="+mn-cs"/>
                </a:defRPr>
              </a:lvl2pPr>
              <a:lvl3pPr marL="10877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400">
                  <a:solidFill>
                    <a:srgbClr val="000000"/>
                  </a:solidFill>
                  <a:latin typeface="+mn-lt"/>
                  <a:cs typeface="+mn-cs"/>
                </a:defRPr>
              </a:lvl3pPr>
              <a:lvl4pPr marL="1539875" indent="-16827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4pPr>
              <a:lvl5pPr marL="20021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气体分离</a:t>
              </a:r>
              <a:endPara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" name="Text Box 90"/>
            <p:cNvSpPr txBox="1">
              <a:spLocks noChangeArrowheads="1"/>
            </p:cNvSpPr>
            <p:nvPr/>
          </p:nvSpPr>
          <p:spPr bwMode="auto">
            <a:xfrm>
              <a:off x="6960897" y="1129214"/>
              <a:ext cx="1242695" cy="1725930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square">
              <a:noAutofit/>
            </a:bodyPr>
            <a:lstStyle>
              <a:lvl1pPr marL="228600" indent="-228600" algn="l" defTabSz="448945" rtl="0" eaLnBrk="0" fontAlgn="base" hangingPunct="0">
                <a:lnSpc>
                  <a:spcPct val="102000"/>
                </a:lnSpc>
                <a:spcBef>
                  <a:spcPts val="62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Wingdings" panose="05000000000000000000" pitchFamily="2" charset="2"/>
                <a:buChar char=""/>
                <a:defRPr sz="20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79450" indent="-214630" algn="l" defTabSz="448945" rtl="0" eaLnBrk="0" fontAlgn="base" hangingPunct="0">
                <a:lnSpc>
                  <a:spcPct val="102000"/>
                </a:lnSpc>
                <a:spcBef>
                  <a:spcPts val="34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000">
                  <a:solidFill>
                    <a:srgbClr val="000000"/>
                  </a:solidFill>
                  <a:latin typeface="+mn-lt"/>
                  <a:cs typeface="+mn-cs"/>
                </a:defRPr>
              </a:lvl2pPr>
              <a:lvl3pPr marL="10877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400">
                  <a:solidFill>
                    <a:srgbClr val="000000"/>
                  </a:solidFill>
                  <a:latin typeface="+mn-lt"/>
                  <a:cs typeface="+mn-cs"/>
                </a:defRPr>
              </a:lvl3pPr>
              <a:lvl4pPr marL="1539875" indent="-16827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4pPr>
              <a:lvl5pPr marL="20021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5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/CH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   </a:t>
              </a:r>
              <a:endParaRPr lang="en-US" altLang="zh-CN" sz="1600" b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defTabSz="914400" eaLnBrk="1" hangingPunct="1">
                <a:lnSpc>
                  <a:spcPct val="15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/N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 </a:t>
              </a:r>
              <a:endParaRPr lang="en-US" altLang="zh-CN" sz="1600" b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defTabSz="914400" eaLnBrk="1" hangingPunct="1">
                <a:lnSpc>
                  <a:spcPct val="15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/CH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 </a:t>
              </a:r>
              <a:endParaRPr lang="en-US" altLang="zh-CN" sz="1600" b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defTabSz="914400" eaLnBrk="1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…</a:t>
              </a:r>
              <a:endParaRPr lang="en-US" altLang="zh-CN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3" name="矩形 15"/>
            <p:cNvSpPr/>
            <p:nvPr/>
          </p:nvSpPr>
          <p:spPr>
            <a:xfrm>
              <a:off x="8351271" y="4175710"/>
              <a:ext cx="3157703" cy="10318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defTabSz="448945" rtl="0" eaLnBrk="0" fontAlgn="base" hangingPunct="0">
                <a:lnSpc>
                  <a:spcPct val="102000"/>
                </a:lnSpc>
                <a:spcBef>
                  <a:spcPts val="62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Wingdings" panose="05000000000000000000" pitchFamily="2" charset="2"/>
                <a:buChar char=""/>
                <a:defRPr sz="20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79450" indent="-214630" algn="l" defTabSz="448945" rtl="0" eaLnBrk="0" fontAlgn="base" hangingPunct="0">
                <a:lnSpc>
                  <a:spcPct val="102000"/>
                </a:lnSpc>
                <a:spcBef>
                  <a:spcPts val="34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000">
                  <a:solidFill>
                    <a:srgbClr val="000000"/>
                  </a:solidFill>
                  <a:latin typeface="+mn-lt"/>
                  <a:cs typeface="+mn-cs"/>
                </a:defRPr>
              </a:lvl2pPr>
              <a:lvl3pPr marL="10877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2400">
                  <a:solidFill>
                    <a:srgbClr val="000000"/>
                  </a:solidFill>
                  <a:latin typeface="+mn-lt"/>
                  <a:cs typeface="+mn-cs"/>
                </a:defRPr>
              </a:lvl3pPr>
              <a:lvl4pPr marL="1539875" indent="-16827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4pPr>
              <a:lvl5pPr marL="2002155" indent="-173355" algn="l" defTabSz="448945" rtl="0" eaLnBrk="0" fontAlgn="base" hangingPunct="0">
                <a:lnSpc>
                  <a:spcPct val="102000"/>
                </a:lnSpc>
                <a:spcBef>
                  <a:spcPts val="375"/>
                </a:spcBef>
                <a:spcAft>
                  <a:spcPct val="0"/>
                </a:spcAft>
                <a:buClr>
                  <a:srgbClr val="486AC1"/>
                </a:buClr>
                <a:buSzPct val="100000"/>
                <a:buFont typeface="Tahoma" panose="020B0604030504040204" pitchFamily="34" charset="0"/>
                <a:buChar char="•"/>
                <a:defRPr sz="1600">
                  <a:solidFill>
                    <a:srgbClr val="000000"/>
                  </a:solidFill>
                  <a:latin typeface="+mn-lt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有机物</a:t>
              </a:r>
              <a:endPara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ts val="350"/>
                </a:spcBef>
                <a:spcAft>
                  <a:spcPts val="340"/>
                </a:spcAft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分离</a:t>
              </a:r>
              <a:endPara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Text Box 90"/>
            <p:cNvSpPr txBox="1">
              <a:spLocks noChangeArrowheads="1"/>
            </p:cNvSpPr>
            <p:nvPr/>
          </p:nvSpPr>
          <p:spPr bwMode="auto">
            <a:xfrm>
              <a:off x="9276246" y="5085516"/>
              <a:ext cx="1657142" cy="1518493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square">
              <a:spAutoFit/>
            </a:bodyPr>
            <a:lstStyle>
              <a:lvl1pPr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algn="ctr" eaLnBrk="0" hangingPunct="0"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PX/OX/MX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甲醇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/MTBE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乙醇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/ETBE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ts val="350"/>
                </a:spcBef>
                <a:spcAft>
                  <a:spcPts val="340"/>
                </a:spcAft>
                <a:buClr>
                  <a:srgbClr val="486AC1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…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15" name="组合 90"/>
            <p:cNvGrpSpPr/>
            <p:nvPr/>
          </p:nvGrpSpPr>
          <p:grpSpPr>
            <a:xfrm>
              <a:off x="4154730" y="3736718"/>
              <a:ext cx="3157704" cy="932237"/>
              <a:chOff x="6124575" y="4424361"/>
              <a:chExt cx="2843213" cy="831851"/>
            </a:xfrm>
          </p:grpSpPr>
          <p:sp>
            <p:nvSpPr>
              <p:cNvPr id="27" name="Rectangle 6"/>
              <p:cNvSpPr>
                <a:spLocks noChangeArrowheads="1"/>
              </p:cNvSpPr>
              <p:nvPr/>
            </p:nvSpPr>
            <p:spPr bwMode="auto">
              <a:xfrm>
                <a:off x="6124575" y="4756149"/>
                <a:ext cx="2843213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8" name="Rectangle 7"/>
              <p:cNvSpPr>
                <a:spLocks noChangeArrowheads="1"/>
              </p:cNvSpPr>
              <p:nvPr/>
            </p:nvSpPr>
            <p:spPr bwMode="auto">
              <a:xfrm>
                <a:off x="6276975" y="4756149"/>
                <a:ext cx="76200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9" name="Rectangle 8"/>
              <p:cNvSpPr>
                <a:spLocks noChangeArrowheads="1"/>
              </p:cNvSpPr>
              <p:nvPr/>
            </p:nvSpPr>
            <p:spPr bwMode="auto">
              <a:xfrm>
                <a:off x="6478588" y="4756149"/>
                <a:ext cx="76200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" name="Rectangle 9"/>
              <p:cNvSpPr>
                <a:spLocks noChangeArrowheads="1"/>
              </p:cNvSpPr>
              <p:nvPr/>
            </p:nvSpPr>
            <p:spPr bwMode="auto">
              <a:xfrm>
                <a:off x="6707188" y="4756149"/>
                <a:ext cx="76200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1" name="Rectangle 10"/>
              <p:cNvSpPr>
                <a:spLocks noChangeArrowheads="1"/>
              </p:cNvSpPr>
              <p:nvPr/>
            </p:nvSpPr>
            <p:spPr bwMode="auto">
              <a:xfrm>
                <a:off x="6935788" y="4756149"/>
                <a:ext cx="77787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2" name="Rectangle 11"/>
              <p:cNvSpPr>
                <a:spLocks noChangeArrowheads="1"/>
              </p:cNvSpPr>
              <p:nvPr/>
            </p:nvSpPr>
            <p:spPr bwMode="auto">
              <a:xfrm>
                <a:off x="7164388" y="4756149"/>
                <a:ext cx="76200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3" name="Rectangle 12"/>
              <p:cNvSpPr>
                <a:spLocks noChangeArrowheads="1"/>
              </p:cNvSpPr>
              <p:nvPr/>
            </p:nvSpPr>
            <p:spPr bwMode="auto">
              <a:xfrm>
                <a:off x="7394575" y="4756149"/>
                <a:ext cx="74613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ctangle 13"/>
              <p:cNvSpPr>
                <a:spLocks noChangeArrowheads="1"/>
              </p:cNvSpPr>
              <p:nvPr/>
            </p:nvSpPr>
            <p:spPr bwMode="auto">
              <a:xfrm>
                <a:off x="7623175" y="4756149"/>
                <a:ext cx="74613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ctangle 14"/>
              <p:cNvSpPr>
                <a:spLocks noChangeArrowheads="1"/>
              </p:cNvSpPr>
              <p:nvPr/>
            </p:nvSpPr>
            <p:spPr bwMode="auto">
              <a:xfrm>
                <a:off x="7851775" y="4756149"/>
                <a:ext cx="74613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8053388" y="4756149"/>
                <a:ext cx="76200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7" name="Rectangle 16"/>
              <p:cNvSpPr>
                <a:spLocks noChangeArrowheads="1"/>
              </p:cNvSpPr>
              <p:nvPr/>
            </p:nvSpPr>
            <p:spPr bwMode="auto">
              <a:xfrm>
                <a:off x="8281988" y="4756149"/>
                <a:ext cx="77787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angle 17"/>
              <p:cNvSpPr>
                <a:spLocks noChangeArrowheads="1"/>
              </p:cNvSpPr>
              <p:nvPr/>
            </p:nvSpPr>
            <p:spPr bwMode="auto">
              <a:xfrm>
                <a:off x="8510588" y="4756149"/>
                <a:ext cx="76200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tangle 18"/>
              <p:cNvSpPr>
                <a:spLocks noChangeArrowheads="1"/>
              </p:cNvSpPr>
              <p:nvPr/>
            </p:nvSpPr>
            <p:spPr bwMode="auto">
              <a:xfrm>
                <a:off x="8739188" y="4756149"/>
                <a:ext cx="76200" cy="5000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angle 19"/>
              <p:cNvSpPr/>
              <p:nvPr/>
            </p:nvSpPr>
            <p:spPr>
              <a:xfrm rot="1243167">
                <a:off x="6224588" y="4622799"/>
                <a:ext cx="177800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1" name="Rectangle 20"/>
              <p:cNvSpPr/>
              <p:nvPr/>
            </p:nvSpPr>
            <p:spPr>
              <a:xfrm rot="744551">
                <a:off x="7418388" y="4549774"/>
                <a:ext cx="177800" cy="260350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" name="Rectangle 21"/>
              <p:cNvSpPr/>
              <p:nvPr/>
            </p:nvSpPr>
            <p:spPr>
              <a:xfrm rot="-1084616">
                <a:off x="6529388" y="4591049"/>
                <a:ext cx="141288" cy="174625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3" name="Rectangle 22"/>
              <p:cNvSpPr/>
              <p:nvPr/>
            </p:nvSpPr>
            <p:spPr>
              <a:xfrm rot="1243167">
                <a:off x="8029575" y="4591049"/>
                <a:ext cx="176213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4" name="Rectangle 23"/>
              <p:cNvSpPr/>
              <p:nvPr/>
            </p:nvSpPr>
            <p:spPr>
              <a:xfrm rot="1243167">
                <a:off x="7580313" y="4552949"/>
                <a:ext cx="203200" cy="258763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angle 24"/>
              <p:cNvSpPr/>
              <p:nvPr/>
            </p:nvSpPr>
            <p:spPr>
              <a:xfrm rot="-728430">
                <a:off x="6402388" y="4591049"/>
                <a:ext cx="139700" cy="190500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Rectangle 25"/>
              <p:cNvSpPr/>
              <p:nvPr/>
            </p:nvSpPr>
            <p:spPr>
              <a:xfrm rot="-3307792">
                <a:off x="6827838" y="4622797"/>
                <a:ext cx="231775" cy="1666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tangle 26"/>
              <p:cNvSpPr/>
              <p:nvPr/>
            </p:nvSpPr>
            <p:spPr>
              <a:xfrm rot="634411">
                <a:off x="6656388" y="4557711"/>
                <a:ext cx="228600" cy="220663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angle 27"/>
              <p:cNvSpPr/>
              <p:nvPr/>
            </p:nvSpPr>
            <p:spPr>
              <a:xfrm rot="1243167">
                <a:off x="7037388" y="4591049"/>
                <a:ext cx="179388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9" name="Rectangle 28"/>
              <p:cNvSpPr/>
              <p:nvPr/>
            </p:nvSpPr>
            <p:spPr>
              <a:xfrm rot="-2388704">
                <a:off x="7216775" y="4622799"/>
                <a:ext cx="201613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0" name="Rectangle 29"/>
              <p:cNvSpPr/>
              <p:nvPr/>
            </p:nvSpPr>
            <p:spPr>
              <a:xfrm>
                <a:off x="8180388" y="4591049"/>
                <a:ext cx="179388" cy="234950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angle 30"/>
              <p:cNvSpPr/>
              <p:nvPr/>
            </p:nvSpPr>
            <p:spPr>
              <a:xfrm rot="2321781">
                <a:off x="8332788" y="4557711"/>
                <a:ext cx="165100" cy="219075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" name="Rectangle 31"/>
              <p:cNvSpPr/>
              <p:nvPr/>
            </p:nvSpPr>
            <p:spPr>
              <a:xfrm rot="-524337">
                <a:off x="6124575" y="4591049"/>
                <a:ext cx="168275" cy="168275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3" name="Rectangle 32"/>
              <p:cNvSpPr/>
              <p:nvPr/>
            </p:nvSpPr>
            <p:spPr>
              <a:xfrm rot="1243167">
                <a:off x="8459788" y="4622799"/>
                <a:ext cx="177800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4" name="Rectangle 33"/>
              <p:cNvSpPr/>
              <p:nvPr/>
            </p:nvSpPr>
            <p:spPr>
              <a:xfrm rot="3851841">
                <a:off x="8599488" y="4603747"/>
                <a:ext cx="239713" cy="215900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5" name="Rectangle 34"/>
              <p:cNvSpPr/>
              <p:nvPr/>
            </p:nvSpPr>
            <p:spPr>
              <a:xfrm rot="4903658">
                <a:off x="8774113" y="4606923"/>
                <a:ext cx="209550" cy="177800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6" name="Rectangle 35"/>
              <p:cNvSpPr/>
              <p:nvPr/>
            </p:nvSpPr>
            <p:spPr>
              <a:xfrm rot="1243167">
                <a:off x="6427788" y="4457699"/>
                <a:ext cx="179388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7" name="Rectangle 36"/>
              <p:cNvSpPr/>
              <p:nvPr/>
            </p:nvSpPr>
            <p:spPr>
              <a:xfrm rot="1243167">
                <a:off x="7900988" y="4622799"/>
                <a:ext cx="177800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8" name="Rectangle 37"/>
              <p:cNvSpPr/>
              <p:nvPr/>
            </p:nvSpPr>
            <p:spPr>
              <a:xfrm rot="1243167">
                <a:off x="7164388" y="4491036"/>
                <a:ext cx="177800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9" name="Rectangle 38"/>
              <p:cNvSpPr/>
              <p:nvPr/>
            </p:nvSpPr>
            <p:spPr>
              <a:xfrm rot="-2720229">
                <a:off x="7735888" y="4511672"/>
                <a:ext cx="200025" cy="222250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0" name="Rectangle 39"/>
              <p:cNvSpPr/>
              <p:nvPr/>
            </p:nvSpPr>
            <p:spPr>
              <a:xfrm rot="-2225990">
                <a:off x="6630988" y="4457699"/>
                <a:ext cx="149225" cy="174625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1" name="Rectangle 40"/>
              <p:cNvSpPr/>
              <p:nvPr/>
            </p:nvSpPr>
            <p:spPr>
              <a:xfrm rot="-1494142">
                <a:off x="6834188" y="4424361"/>
                <a:ext cx="179388" cy="2174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2" name="Rectangle 41"/>
              <p:cNvSpPr/>
              <p:nvPr/>
            </p:nvSpPr>
            <p:spPr>
              <a:xfrm rot="1243167">
                <a:off x="8664575" y="4491036"/>
                <a:ext cx="176213" cy="1920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3" name="Rectangle 42"/>
              <p:cNvSpPr/>
              <p:nvPr/>
            </p:nvSpPr>
            <p:spPr>
              <a:xfrm rot="-592549">
                <a:off x="7318375" y="4424361"/>
                <a:ext cx="177800" cy="265113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4" name="Rectangle 43"/>
              <p:cNvSpPr/>
              <p:nvPr/>
            </p:nvSpPr>
            <p:spPr>
              <a:xfrm rot="-138137">
                <a:off x="7900988" y="4457699"/>
                <a:ext cx="182563" cy="23653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5" name="Rectangle 44"/>
              <p:cNvSpPr/>
              <p:nvPr/>
            </p:nvSpPr>
            <p:spPr>
              <a:xfrm rot="2295539">
                <a:off x="8104188" y="4457699"/>
                <a:ext cx="147638" cy="2428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45"/>
              <p:cNvSpPr/>
              <p:nvPr/>
            </p:nvSpPr>
            <p:spPr>
              <a:xfrm rot="2579250">
                <a:off x="6224588" y="4457699"/>
                <a:ext cx="144463" cy="179388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7" name="Rectangle 46"/>
              <p:cNvSpPr/>
              <p:nvPr/>
            </p:nvSpPr>
            <p:spPr>
              <a:xfrm rot="4009269">
                <a:off x="8432800" y="4510085"/>
                <a:ext cx="244475" cy="139700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8" name="Rectangle 47"/>
              <p:cNvSpPr/>
              <p:nvPr/>
            </p:nvSpPr>
            <p:spPr>
              <a:xfrm rot="2989758">
                <a:off x="8237538" y="4478335"/>
                <a:ext cx="219075" cy="177800"/>
              </a:xfrm>
              <a:prstGeom prst="rect">
                <a:avLst/>
              </a:prstGeom>
              <a:solidFill>
                <a:srgbClr val="92D050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ts val="350"/>
                  </a:spcBef>
                  <a:spcAft>
                    <a:spcPts val="340"/>
                  </a:spcAft>
                  <a:buFont typeface="Arial" panose="020B0604020202020204" pitchFamily="34" charset="0"/>
                  <a:buNone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16" name="Picture 273" descr="p0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553148" y="1350194"/>
              <a:ext cx="2113951" cy="1286274"/>
            </a:xfrm>
            <a:prstGeom prst="rect">
              <a:avLst/>
            </a:prstGeom>
            <a:noFill/>
            <a:ln w="25400" cap="flat" cmpd="sng">
              <a:solidFill>
                <a:srgbClr val="FF6600"/>
              </a:solidFill>
              <a:prstDash val="dashDot"/>
              <a:miter/>
              <a:headEnd type="none" w="med" len="med"/>
              <a:tailEnd type="none" w="med" len="med"/>
            </a:ln>
          </p:spPr>
        </p:pic>
        <p:pic>
          <p:nvPicPr>
            <p:cNvPr id="17" name="Picture 24" descr="200904209435989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17673" y="2727839"/>
              <a:ext cx="2115714" cy="1286274"/>
            </a:xfrm>
            <a:prstGeom prst="rect">
              <a:avLst/>
            </a:prstGeom>
            <a:noFill/>
            <a:ln w="25400" cap="flat" cmpd="sng">
              <a:solidFill>
                <a:srgbClr val="FF6600"/>
              </a:solidFill>
              <a:prstDash val="dashDot"/>
              <a:miter/>
              <a:headEnd type="none" w="med" len="med"/>
              <a:tailEnd type="none" w="med" len="med"/>
            </a:ln>
          </p:spPr>
        </p:pic>
        <p:grpSp>
          <p:nvGrpSpPr>
            <p:cNvPr id="18" name="Group 284"/>
            <p:cNvGrpSpPr/>
            <p:nvPr/>
          </p:nvGrpSpPr>
          <p:grpSpPr>
            <a:xfrm>
              <a:off x="595753" y="2718653"/>
              <a:ext cx="2131517" cy="1284943"/>
              <a:chOff x="-52" y="3224"/>
              <a:chExt cx="1214" cy="965"/>
            </a:xfrm>
          </p:grpSpPr>
          <p:grpSp>
            <p:nvGrpSpPr>
              <p:cNvPr id="23" name="Group 281"/>
              <p:cNvGrpSpPr/>
              <p:nvPr/>
            </p:nvGrpSpPr>
            <p:grpSpPr>
              <a:xfrm>
                <a:off x="-52" y="3224"/>
                <a:ext cx="1205" cy="960"/>
                <a:chOff x="-52" y="3224"/>
                <a:chExt cx="1205" cy="960"/>
              </a:xfrm>
            </p:grpSpPr>
            <p:pic>
              <p:nvPicPr>
                <p:cNvPr id="25" name="Picture 279" descr="beverage">
                  <a:hlinkClick r:id="rId6"/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4" y="3224"/>
                  <a:ext cx="859" cy="9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6" name="Picture 280" descr="img-beer-menupic1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flipH="1">
                  <a:off x="-52" y="3224"/>
                  <a:ext cx="709" cy="9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24" name="Rectangle 282"/>
              <p:cNvSpPr/>
              <p:nvPr/>
            </p:nvSpPr>
            <p:spPr>
              <a:xfrm>
                <a:off x="-42" y="3226"/>
                <a:ext cx="1204" cy="963"/>
              </a:xfrm>
              <a:prstGeom prst="rect">
                <a:avLst/>
              </a:prstGeom>
              <a:noFill/>
              <a:ln w="25400" cap="flat" cmpd="sng">
                <a:solidFill>
                  <a:srgbClr val="FF6600"/>
                </a:solidFill>
                <a:prstDash val="dashDot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228600" indent="-228600" algn="l" defTabSz="448945" rtl="0" eaLnBrk="0" fontAlgn="base" hangingPunct="0">
                  <a:lnSpc>
                    <a:spcPct val="102000"/>
                  </a:lnSpc>
                  <a:spcBef>
                    <a:spcPts val="62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Wingdings" panose="05000000000000000000" pitchFamily="2" charset="2"/>
                  <a:buChar char=""/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14630" algn="l" defTabSz="448945" rtl="0" eaLnBrk="0" fontAlgn="base" hangingPunct="0">
                  <a:lnSpc>
                    <a:spcPct val="102000"/>
                  </a:lnSpc>
                  <a:spcBef>
                    <a:spcPts val="340"/>
                  </a:spcBef>
                  <a:spcAft>
                    <a:spcPts val="34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0877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24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539875" indent="-16827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02155" indent="-173355" algn="l" defTabSz="448945" rtl="0" eaLnBrk="0" fontAlgn="base" hangingPunct="0">
                  <a:lnSpc>
                    <a:spcPct val="102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486AC1"/>
                  </a:buClr>
                  <a:buSzPct val="100000"/>
                  <a:buFont typeface="Tahoma" panose="020B0604030504040204" pitchFamily="34" charset="0"/>
                  <a:buChar char="•"/>
                  <a:defRPr sz="16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</a:lstStyle>
              <a:p>
                <a:pPr marL="0" lvl="0" indent="0" defTabSz="914400" eaLnBrk="1" hangingPunct="1">
                  <a:lnSpc>
                    <a:spcPct val="170000"/>
                  </a:lnSpc>
                  <a:spcBef>
                    <a:spcPct val="20000"/>
                  </a:spcBef>
                  <a:spcAft>
                    <a:spcPts val="340"/>
                  </a:spcAft>
                  <a:buClr>
                    <a:schemeClr val="tx2"/>
                  </a:buClr>
                  <a:buNone/>
                </a:pPr>
                <a:endParaRPr lang="zh-CN" altLang="zh-CN" sz="28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" name="TextBox 1"/>
            <p:cNvSpPr txBox="1"/>
            <p:nvPr/>
          </p:nvSpPr>
          <p:spPr>
            <a:xfrm>
              <a:off x="3292479" y="5671192"/>
              <a:ext cx="524695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分子筛膜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</a:t>
              </a:r>
              <a:r>
                <a:rPr lang="en-US" altLang="zh-CN" sz="2000" b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NaA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, CHA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MFI, DDR, SSZ-13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等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任意多边形 51"/>
          <p:cNvSpPr/>
          <p:nvPr/>
        </p:nvSpPr>
        <p:spPr>
          <a:xfrm flipH="1">
            <a:off x="5753373" y="1301483"/>
            <a:ext cx="6092680" cy="978454"/>
          </a:xfrm>
          <a:custGeom>
            <a:avLst/>
            <a:gdLst>
              <a:gd name="connsiteX0" fmla="*/ 6092680 w 6092680"/>
              <a:gd name="connsiteY0" fmla="*/ 0 h 978454"/>
              <a:gd name="connsiteX1" fmla="*/ 5625148 w 6092680"/>
              <a:gd name="connsiteY1" fmla="*/ 0 h 978454"/>
              <a:gd name="connsiteX2" fmla="*/ 5519545 w 6092680"/>
              <a:gd name="connsiteY2" fmla="*/ 0 h 978454"/>
              <a:gd name="connsiteX3" fmla="*/ 5052013 w 6092680"/>
              <a:gd name="connsiteY3" fmla="*/ 0 h 978454"/>
              <a:gd name="connsiteX4" fmla="*/ 1460260 w 6092680"/>
              <a:gd name="connsiteY4" fmla="*/ 0 h 978454"/>
              <a:gd name="connsiteX5" fmla="*/ 992728 w 6092680"/>
              <a:gd name="connsiteY5" fmla="*/ 0 h 978454"/>
              <a:gd name="connsiteX6" fmla="*/ 726055 w 6092680"/>
              <a:gd name="connsiteY6" fmla="*/ 0 h 978454"/>
              <a:gd name="connsiteX7" fmla="*/ 258523 w 6092680"/>
              <a:gd name="connsiteY7" fmla="*/ 0 h 978454"/>
              <a:gd name="connsiteX8" fmla="*/ 258523 w 6092680"/>
              <a:gd name="connsiteY8" fmla="*/ 1 h 978454"/>
              <a:gd name="connsiteX9" fmla="*/ 0 w 6092680"/>
              <a:gd name="connsiteY9" fmla="*/ 1 h 978454"/>
              <a:gd name="connsiteX10" fmla="*/ 0 w 6092680"/>
              <a:gd name="connsiteY10" fmla="*/ 978454 h 978454"/>
              <a:gd name="connsiteX11" fmla="*/ 467532 w 6092680"/>
              <a:gd name="connsiteY11" fmla="*/ 978454 h 978454"/>
              <a:gd name="connsiteX12" fmla="*/ 5262393 w 6092680"/>
              <a:gd name="connsiteY12" fmla="*/ 978454 h 978454"/>
              <a:gd name="connsiteX13" fmla="*/ 5729925 w 6092680"/>
              <a:gd name="connsiteY13" fmla="*/ 978454 h 978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092680" h="978454">
                <a:moveTo>
                  <a:pt x="6092680" y="0"/>
                </a:moveTo>
                <a:lnTo>
                  <a:pt x="5625148" y="0"/>
                </a:lnTo>
                <a:lnTo>
                  <a:pt x="5519545" y="0"/>
                </a:lnTo>
                <a:lnTo>
                  <a:pt x="5052013" y="0"/>
                </a:lnTo>
                <a:lnTo>
                  <a:pt x="1460260" y="0"/>
                </a:lnTo>
                <a:lnTo>
                  <a:pt x="992728" y="0"/>
                </a:lnTo>
                <a:lnTo>
                  <a:pt x="726055" y="0"/>
                </a:lnTo>
                <a:lnTo>
                  <a:pt x="258523" y="0"/>
                </a:lnTo>
                <a:lnTo>
                  <a:pt x="258523" y="1"/>
                </a:lnTo>
                <a:lnTo>
                  <a:pt x="0" y="1"/>
                </a:lnTo>
                <a:lnTo>
                  <a:pt x="0" y="978454"/>
                </a:lnTo>
                <a:lnTo>
                  <a:pt x="467532" y="978454"/>
                </a:lnTo>
                <a:lnTo>
                  <a:pt x="5262393" y="978454"/>
                </a:lnTo>
                <a:lnTo>
                  <a:pt x="5729925" y="978454"/>
                </a:lnTo>
                <a:close/>
              </a:path>
            </a:pathLst>
          </a:custGeom>
          <a:gradFill>
            <a:gsLst>
              <a:gs pos="0">
                <a:srgbClr val="05508F"/>
              </a:gs>
              <a:gs pos="98000">
                <a:srgbClr val="06A4E5"/>
              </a:gs>
            </a:gsLst>
            <a:lin ang="7200000" scaled="0"/>
          </a:gradFill>
          <a:ln>
            <a:noFill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874654" y="1354665"/>
            <a:ext cx="468122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Kartika" panose="02020503030404060203" pitchFamily="18" charset="0"/>
                <a:ea typeface="方正姚体" panose="02010601030101010101" pitchFamily="2" charset="-122"/>
                <a:cs typeface="Kartika" panose="02020503030404060203" pitchFamily="18" charset="0"/>
              </a:rPr>
              <a:t>PART    03</a:t>
            </a:r>
            <a:endParaRPr lang="zh-CN" altLang="en-US" sz="6600" b="1" dirty="0">
              <a:solidFill>
                <a:schemeClr val="bg1"/>
              </a:solidFill>
              <a:latin typeface="Kartika" panose="02020503030404060203" pitchFamily="18" charset="0"/>
              <a:ea typeface="方正姚体" panose="02010601030101010101" pitchFamily="2" charset="-122"/>
              <a:cs typeface="Kartika" panose="02020503030404060203" pitchFamily="18" charset="0"/>
            </a:endParaRPr>
          </a:p>
        </p:txBody>
      </p:sp>
      <p:sp>
        <p:nvSpPr>
          <p:cNvPr id="39" name="文本框 1"/>
          <p:cNvSpPr>
            <a:spLocks noChangeArrowheads="1"/>
          </p:cNvSpPr>
          <p:nvPr/>
        </p:nvSpPr>
        <p:spPr bwMode="auto">
          <a:xfrm>
            <a:off x="5478145" y="3195320"/>
            <a:ext cx="671449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7200" b="1" dirty="0">
                <a:gradFill flip="none" rotWithShape="1">
                  <a:gsLst>
                    <a:gs pos="0">
                      <a:srgbClr val="05508F"/>
                    </a:gs>
                    <a:gs pos="98000">
                      <a:srgbClr val="00B5E1"/>
                    </a:gs>
                  </a:gsLst>
                  <a:lin ang="19200000" scaled="0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典型应用与案例</a:t>
            </a:r>
            <a:endParaRPr lang="zh-CN" altLang="en-US" sz="7200" b="1" dirty="0">
              <a:gradFill flip="none" rotWithShape="1">
                <a:gsLst>
                  <a:gs pos="0">
                    <a:srgbClr val="05508F"/>
                  </a:gs>
                  <a:gs pos="98000">
                    <a:srgbClr val="00B5E1"/>
                  </a:gs>
                </a:gsLst>
                <a:lin ang="19200000" scaled="0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19374" y="2159477"/>
            <a:ext cx="5071158" cy="4526375"/>
            <a:chOff x="-298151" y="754857"/>
            <a:chExt cx="5071158" cy="4526375"/>
          </a:xfrm>
        </p:grpSpPr>
        <p:sp>
          <p:nvSpPr>
            <p:cNvPr id="7" name="菱形 6"/>
            <p:cNvSpPr/>
            <p:nvPr>
              <p:custDataLst>
                <p:tags r:id="rId1"/>
              </p:custDataLst>
            </p:nvPr>
          </p:nvSpPr>
          <p:spPr>
            <a:xfrm>
              <a:off x="-298151" y="754857"/>
              <a:ext cx="2897763" cy="2775481"/>
            </a:xfrm>
            <a:prstGeom prst="diamond">
              <a:avLst/>
            </a:prstGeom>
            <a:blipFill rotWithShape="1">
              <a:blip r:embed="rId2"/>
              <a:srcRect/>
              <a:stretch>
                <a:fillRect l="-41000" r="-2000"/>
              </a:stretch>
            </a:blipFill>
            <a:effectLst>
              <a:outerShdw blurRad="50800" dist="38100" dir="2700000" sx="101000" sy="101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" name="菱形 8"/>
            <p:cNvSpPr/>
            <p:nvPr>
              <p:custDataLst>
                <p:tags r:id="rId3"/>
              </p:custDataLst>
            </p:nvPr>
          </p:nvSpPr>
          <p:spPr>
            <a:xfrm>
              <a:off x="1314801" y="2093635"/>
              <a:ext cx="3042126" cy="3187597"/>
            </a:xfrm>
            <a:prstGeom prst="diamond">
              <a:avLst/>
            </a:prstGeom>
            <a:blipFill rotWithShape="1">
              <a:blip r:embed="rId4"/>
              <a:srcRect/>
              <a:tile tx="-298450" ty="-838200" sx="100000"/>
            </a:blipFill>
            <a:ln>
              <a:noFill/>
            </a:ln>
            <a:effectLst>
              <a:innerShdw blurRad="241300" dist="266700" dir="13500000">
                <a:prstClr val="black">
                  <a:alpha val="34000"/>
                </a:prstClr>
              </a:inn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" name="菱形 9"/>
            <p:cNvSpPr/>
            <p:nvPr>
              <p:custDataLst>
                <p:tags r:id="rId5"/>
              </p:custDataLst>
            </p:nvPr>
          </p:nvSpPr>
          <p:spPr>
            <a:xfrm>
              <a:off x="2940074" y="1028365"/>
              <a:ext cx="1832933" cy="1922830"/>
            </a:xfrm>
            <a:prstGeom prst="diamond">
              <a:avLst/>
            </a:prstGeom>
            <a:gradFill>
              <a:gsLst>
                <a:gs pos="0">
                  <a:srgbClr val="F8F8FA"/>
                </a:gs>
                <a:gs pos="0">
                  <a:srgbClr val="2F5597"/>
                </a:gs>
                <a:gs pos="100000">
                  <a:srgbClr val="00B0F0"/>
                </a:gs>
              </a:gsLst>
              <a:lin ang="0" scaled="1"/>
            </a:gradFill>
            <a:ln>
              <a:noFill/>
            </a:ln>
            <a:effectLst>
              <a:outerShdw blurRad="152400" dist="63500" dir="2700000" sx="101000" sy="101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" name="图片 2" descr="旭一科技LOGO栅格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3515" y="127635"/>
            <a:ext cx="1474470" cy="1263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2245026" y="1767334"/>
            <a:ext cx="8338519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、中空纤维脱水膜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（溶剂脱水行业）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、高通量水处理膜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（饮用水净化行业）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、天然气输氢分离膜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（氢能储运行业）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、天然气脱二氧化碳膜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（天然气开采行业）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56961" y="227402"/>
            <a:ext cx="3345815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5-2 </a:t>
            </a: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典型应用领域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777365" y="3145790"/>
            <a:ext cx="8600440" cy="1327150"/>
          </a:xfrm>
          <a:prstGeom prst="rect">
            <a:avLst/>
          </a:prstGeom>
          <a:solidFill>
            <a:schemeClr val="bg2">
              <a:lumMod val="90000"/>
              <a:alpha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48790" y="2765425"/>
            <a:ext cx="95402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、中空纤维脱水膜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（溶剂分离行业、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已产业化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56961" y="227402"/>
            <a:ext cx="535274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应用需求</a:t>
            </a:r>
            <a:r>
              <a:rPr lang="zh-CN" altLang="en-US" sz="3000" b="1" spc="1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（溶剂分离与回收）</a:t>
            </a:r>
            <a:endParaRPr lang="zh-CN" altLang="en-US" sz="3000" b="1" spc="100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222"/>
          <p:cNvSpPr>
            <a:spLocks noChangeArrowheads="1"/>
          </p:cNvSpPr>
          <p:nvPr/>
        </p:nvSpPr>
        <p:spPr bwMode="auto">
          <a:xfrm>
            <a:off x="635" y="1249045"/>
            <a:ext cx="1219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685800" eaLnBrk="1" hangingPunct="1">
              <a:buClr>
                <a:srgbClr val="99CC00"/>
              </a:buClr>
            </a:pPr>
            <a:r>
              <a:rPr lang="zh-CN" altLang="en-US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开发高效节能的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溶剂脱水</a:t>
            </a:r>
            <a:r>
              <a:rPr lang="zh-CN" altLang="en-US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技术是过程工业迫切需要解决的共性问题</a:t>
            </a:r>
            <a:endParaRPr lang="zh-CN" altLang="en-US" sz="24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4680" y="1984375"/>
            <a:ext cx="3841115" cy="3549015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30000"/>
              </a:prst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119"/>
          <p:cNvSpPr txBox="1"/>
          <p:nvPr/>
        </p:nvSpPr>
        <p:spPr>
          <a:xfrm>
            <a:off x="613410" y="2095500"/>
            <a:ext cx="3842385" cy="316865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我国主要有机溶剂及其产量比例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Picture 6" descr="jinli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09"/>
          <a:stretch>
            <a:fillRect/>
          </a:stretch>
        </p:blipFill>
        <p:spPr bwMode="auto">
          <a:xfrm>
            <a:off x="4824095" y="4305935"/>
            <a:ext cx="3007995" cy="1602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4824095" y="2002155"/>
            <a:ext cx="3007995" cy="1939299"/>
            <a:chOff x="4734270" y="2014091"/>
            <a:chExt cx="3530600" cy="2452410"/>
          </a:xfrm>
        </p:grpSpPr>
        <p:sp>
          <p:nvSpPr>
            <p:cNvPr id="10" name="矩形 9"/>
            <p:cNvSpPr/>
            <p:nvPr/>
          </p:nvSpPr>
          <p:spPr>
            <a:xfrm>
              <a:off x="4734270" y="2019300"/>
              <a:ext cx="3530600" cy="203676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11" name="组合 122"/>
            <p:cNvGrpSpPr/>
            <p:nvPr/>
          </p:nvGrpSpPr>
          <p:grpSpPr bwMode="auto">
            <a:xfrm>
              <a:off x="4734270" y="2014091"/>
              <a:ext cx="3486202" cy="2004143"/>
              <a:chOff x="5074806" y="1736184"/>
              <a:chExt cx="3566728" cy="2046595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5122188" y="1757257"/>
                <a:ext cx="3519346" cy="1961563"/>
              </a:xfrm>
              <a:prstGeom prst="rect">
                <a:avLst/>
              </a:prstGeom>
              <a:gradFill flip="none" rotWithShape="1">
                <a:gsLst>
                  <a:gs pos="100000">
                    <a:srgbClr val="21B3E7">
                      <a:alpha val="51000"/>
                    </a:srgbClr>
                  </a:gs>
                  <a:gs pos="0">
                    <a:srgbClr val="8DD1F0">
                      <a:alpha val="0"/>
                    </a:srgbClr>
                  </a:gs>
                </a:gsLst>
                <a:lin ang="189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15" name="组合 124"/>
              <p:cNvGrpSpPr/>
              <p:nvPr/>
            </p:nvGrpSpPr>
            <p:grpSpPr bwMode="auto">
              <a:xfrm>
                <a:off x="5074806" y="1736184"/>
                <a:ext cx="3566728" cy="2046595"/>
                <a:chOff x="5216459" y="1969965"/>
                <a:chExt cx="2987288" cy="1714110"/>
              </a:xfrm>
            </p:grpSpPr>
            <p:cxnSp>
              <p:nvCxnSpPr>
                <p:cNvPr id="16" name="直接箭头连接符 15"/>
                <p:cNvCxnSpPr/>
                <p:nvPr/>
              </p:nvCxnSpPr>
              <p:spPr>
                <a:xfrm>
                  <a:off x="5247933" y="3634582"/>
                  <a:ext cx="2955814" cy="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rgbClr val="262626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7" name="直接箭头连接符 16"/>
                <p:cNvCxnSpPr/>
                <p:nvPr/>
              </p:nvCxnSpPr>
              <p:spPr>
                <a:xfrm flipV="1">
                  <a:off x="5252038" y="1969965"/>
                  <a:ext cx="0" cy="1672763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rgbClr val="262626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8" name="直接连接符 17"/>
                <p:cNvCxnSpPr/>
                <p:nvPr/>
              </p:nvCxnSpPr>
              <p:spPr>
                <a:xfrm flipV="1">
                  <a:off x="5252038" y="2165483"/>
                  <a:ext cx="2638338" cy="1460952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262626"/>
                  </a:solidFill>
                  <a:prstDash val="sysDash"/>
                </a:ln>
                <a:effectLst/>
              </p:spPr>
            </p:cxnSp>
            <p:sp>
              <p:nvSpPr>
                <p:cNvPr id="19" name="TextBox 11"/>
                <p:cNvSpPr txBox="1">
                  <a:spLocks noChangeArrowheads="1"/>
                </p:cNvSpPr>
                <p:nvPr/>
              </p:nvSpPr>
              <p:spPr bwMode="auto">
                <a:xfrm>
                  <a:off x="5216459" y="1987773"/>
                  <a:ext cx="268963" cy="3317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defTabSz="457200"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defTabSz="45720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defTabSz="4572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defTabSz="4572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defTabSz="4572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y</a:t>
                  </a: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任意多边形 77"/>
                <p:cNvSpPr/>
                <p:nvPr/>
              </p:nvSpPr>
              <p:spPr>
                <a:xfrm>
                  <a:off x="5269827" y="2206216"/>
                  <a:ext cx="2597285" cy="1413430"/>
                </a:xfrm>
                <a:custGeom>
                  <a:avLst/>
                  <a:gdLst>
                    <a:gd name="connsiteX0" fmla="*/ 0 w 1872343"/>
                    <a:gd name="connsiteY0" fmla="*/ 1317172 h 1317172"/>
                    <a:gd name="connsiteX1" fmla="*/ 348343 w 1872343"/>
                    <a:gd name="connsiteY1" fmla="*/ 772886 h 1317172"/>
                    <a:gd name="connsiteX2" fmla="*/ 1317172 w 1872343"/>
                    <a:gd name="connsiteY2" fmla="*/ 402772 h 1317172"/>
                    <a:gd name="connsiteX3" fmla="*/ 1698172 w 1872343"/>
                    <a:gd name="connsiteY3" fmla="*/ 359229 h 1317172"/>
                    <a:gd name="connsiteX4" fmla="*/ 1872343 w 1872343"/>
                    <a:gd name="connsiteY4" fmla="*/ 0 h 1317172"/>
                    <a:gd name="connsiteX0-1" fmla="*/ 0 w 1872343"/>
                    <a:gd name="connsiteY0-2" fmla="*/ 1317172 h 1317172"/>
                    <a:gd name="connsiteX1-3" fmla="*/ 348343 w 1872343"/>
                    <a:gd name="connsiteY1-4" fmla="*/ 772886 h 1317172"/>
                    <a:gd name="connsiteX2-5" fmla="*/ 1317172 w 1872343"/>
                    <a:gd name="connsiteY2-6" fmla="*/ 402772 h 1317172"/>
                    <a:gd name="connsiteX3-7" fmla="*/ 1730829 w 1872343"/>
                    <a:gd name="connsiteY3-8" fmla="*/ 250371 h 1317172"/>
                    <a:gd name="connsiteX4-9" fmla="*/ 1872343 w 1872343"/>
                    <a:gd name="connsiteY4-10" fmla="*/ 0 h 1317172"/>
                    <a:gd name="connsiteX0-11" fmla="*/ 0 w 1850571"/>
                    <a:gd name="connsiteY0-12" fmla="*/ 1306286 h 1306286"/>
                    <a:gd name="connsiteX1-13" fmla="*/ 348343 w 1850571"/>
                    <a:gd name="connsiteY1-14" fmla="*/ 762000 h 1306286"/>
                    <a:gd name="connsiteX2-15" fmla="*/ 1317172 w 1850571"/>
                    <a:gd name="connsiteY2-16" fmla="*/ 391886 h 1306286"/>
                    <a:gd name="connsiteX3-17" fmla="*/ 1730829 w 1850571"/>
                    <a:gd name="connsiteY3-18" fmla="*/ 239485 h 1306286"/>
                    <a:gd name="connsiteX4-19" fmla="*/ 1850571 w 1850571"/>
                    <a:gd name="connsiteY4-20" fmla="*/ 0 h 1306286"/>
                    <a:gd name="connsiteX0-21" fmla="*/ 0 w 1850571"/>
                    <a:gd name="connsiteY0-22" fmla="*/ 1306286 h 1306286"/>
                    <a:gd name="connsiteX1-23" fmla="*/ 348343 w 1850571"/>
                    <a:gd name="connsiteY1-24" fmla="*/ 762000 h 1306286"/>
                    <a:gd name="connsiteX2-25" fmla="*/ 1317172 w 1850571"/>
                    <a:gd name="connsiteY2-26" fmla="*/ 391886 h 1306286"/>
                    <a:gd name="connsiteX3-27" fmla="*/ 1665515 w 1850571"/>
                    <a:gd name="connsiteY3-28" fmla="*/ 228599 h 1306286"/>
                    <a:gd name="connsiteX4-29" fmla="*/ 1850571 w 1850571"/>
                    <a:gd name="connsiteY4-30" fmla="*/ 0 h 1306286"/>
                    <a:gd name="connsiteX0-31" fmla="*/ 0 w 1894114"/>
                    <a:gd name="connsiteY0-32" fmla="*/ 1295401 h 1295401"/>
                    <a:gd name="connsiteX1-33" fmla="*/ 348343 w 1894114"/>
                    <a:gd name="connsiteY1-34" fmla="*/ 751115 h 1295401"/>
                    <a:gd name="connsiteX2-35" fmla="*/ 1317172 w 1894114"/>
                    <a:gd name="connsiteY2-36" fmla="*/ 381001 h 1295401"/>
                    <a:gd name="connsiteX3-37" fmla="*/ 1665515 w 1894114"/>
                    <a:gd name="connsiteY3-38" fmla="*/ 217714 h 1295401"/>
                    <a:gd name="connsiteX4-39" fmla="*/ 1894114 w 1894114"/>
                    <a:gd name="connsiteY4-40" fmla="*/ 0 h 1295401"/>
                    <a:gd name="connsiteX0-41" fmla="*/ 0 w 1894114"/>
                    <a:gd name="connsiteY0-42" fmla="*/ 1295401 h 1295401"/>
                    <a:gd name="connsiteX1-43" fmla="*/ 348343 w 1894114"/>
                    <a:gd name="connsiteY1-44" fmla="*/ 751115 h 1295401"/>
                    <a:gd name="connsiteX2-45" fmla="*/ 1317172 w 1894114"/>
                    <a:gd name="connsiteY2-46" fmla="*/ 381001 h 1295401"/>
                    <a:gd name="connsiteX3-47" fmla="*/ 1698586 w 1894114"/>
                    <a:gd name="connsiteY3-48" fmla="*/ 195942 h 1295401"/>
                    <a:gd name="connsiteX4-49" fmla="*/ 1894114 w 1894114"/>
                    <a:gd name="connsiteY4-50" fmla="*/ 0 h 1295401"/>
                    <a:gd name="connsiteX0-51" fmla="*/ 0 w 1894114"/>
                    <a:gd name="connsiteY0-52" fmla="*/ 1295401 h 1295401"/>
                    <a:gd name="connsiteX1-53" fmla="*/ 348343 w 1894114"/>
                    <a:gd name="connsiteY1-54" fmla="*/ 751115 h 1295401"/>
                    <a:gd name="connsiteX2-55" fmla="*/ 1427403 w 1894114"/>
                    <a:gd name="connsiteY2-56" fmla="*/ 304801 h 1295401"/>
                    <a:gd name="connsiteX3-57" fmla="*/ 1698586 w 1894114"/>
                    <a:gd name="connsiteY3-58" fmla="*/ 195942 h 1295401"/>
                    <a:gd name="connsiteX4-59" fmla="*/ 1894114 w 1894114"/>
                    <a:gd name="connsiteY4-60" fmla="*/ 0 h 129540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894114" h="1295401">
                      <a:moveTo>
                        <a:pt x="0" y="1295401"/>
                      </a:moveTo>
                      <a:cubicBezTo>
                        <a:pt x="64407" y="1099458"/>
                        <a:pt x="110443" y="916215"/>
                        <a:pt x="348343" y="751115"/>
                      </a:cubicBezTo>
                      <a:cubicBezTo>
                        <a:pt x="586243" y="586015"/>
                        <a:pt x="1202363" y="397330"/>
                        <a:pt x="1427403" y="304801"/>
                      </a:cubicBezTo>
                      <a:cubicBezTo>
                        <a:pt x="1652443" y="212272"/>
                        <a:pt x="1620801" y="246742"/>
                        <a:pt x="1698586" y="195942"/>
                      </a:cubicBezTo>
                      <a:cubicBezTo>
                        <a:pt x="1776371" y="145142"/>
                        <a:pt x="1853292" y="146050"/>
                        <a:pt x="1894114" y="0"/>
                      </a:cubicBezTo>
                    </a:path>
                  </a:pathLst>
                </a:custGeom>
                <a:noFill/>
                <a:ln w="28575" cap="flat" cmpd="sng" algn="ctr">
                  <a:solidFill>
                    <a:srgbClr val="C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1" name="组合 130"/>
                <p:cNvGrpSpPr/>
                <p:nvPr/>
              </p:nvGrpSpPr>
              <p:grpSpPr bwMode="auto">
                <a:xfrm>
                  <a:off x="5256737" y="2526147"/>
                  <a:ext cx="2076466" cy="1108541"/>
                  <a:chOff x="4544715" y="-92283"/>
                  <a:chExt cx="1978124" cy="1454252"/>
                </a:xfrm>
              </p:grpSpPr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5249410" y="439170"/>
                    <a:ext cx="0" cy="28855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004158"/>
                    </a:solidFill>
                    <a:prstDash val="solid"/>
                  </a:ln>
                  <a:effectLst/>
                </p:spPr>
              </p:cxnSp>
              <p:grpSp>
                <p:nvGrpSpPr>
                  <p:cNvPr id="28" name="组合 136"/>
                  <p:cNvGrpSpPr/>
                  <p:nvPr/>
                </p:nvGrpSpPr>
                <p:grpSpPr bwMode="auto">
                  <a:xfrm>
                    <a:off x="4544715" y="-92283"/>
                    <a:ext cx="1978124" cy="1454252"/>
                    <a:chOff x="4544715" y="-92283"/>
                    <a:chExt cx="1978124" cy="1454252"/>
                  </a:xfrm>
                </p:grpSpPr>
                <p:cxnSp>
                  <p:nvCxnSpPr>
                    <p:cNvPr id="29" name="直接连接符 28"/>
                    <p:cNvCxnSpPr/>
                    <p:nvPr/>
                  </p:nvCxnSpPr>
                  <p:spPr>
                    <a:xfrm flipH="1">
                      <a:off x="4850501" y="729504"/>
                      <a:ext cx="394997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004158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0" name="直接连接符 29"/>
                    <p:cNvCxnSpPr/>
                    <p:nvPr/>
                  </p:nvCxnSpPr>
                  <p:spPr>
                    <a:xfrm flipV="1">
                      <a:off x="4544149" y="727723"/>
                      <a:ext cx="683099" cy="634106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004158"/>
                      </a:solidFill>
                      <a:prstDash val="solid"/>
                    </a:ln>
                    <a:effectLst/>
                  </p:spPr>
                </p:cxnSp>
                <p:grpSp>
                  <p:nvGrpSpPr>
                    <p:cNvPr id="31" name="组合 139"/>
                    <p:cNvGrpSpPr/>
                    <p:nvPr/>
                  </p:nvGrpSpPr>
                  <p:grpSpPr bwMode="auto">
                    <a:xfrm>
                      <a:off x="4562385" y="-92283"/>
                      <a:ext cx="1960454" cy="1376724"/>
                      <a:chOff x="4562385" y="-92283"/>
                      <a:chExt cx="1960454" cy="1376724"/>
                    </a:xfrm>
                  </p:grpSpPr>
                  <p:cxnSp>
                    <p:nvCxnSpPr>
                      <p:cNvPr id="32" name="直接连接符 31"/>
                      <p:cNvCxnSpPr/>
                      <p:nvPr/>
                    </p:nvCxnSpPr>
                    <p:spPr>
                      <a:xfrm>
                        <a:off x="5988564" y="138147"/>
                        <a:ext cx="0" cy="126465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33" name="直接连接符 32"/>
                      <p:cNvCxnSpPr/>
                      <p:nvPr/>
                    </p:nvCxnSpPr>
                    <p:spPr>
                      <a:xfrm>
                        <a:off x="5682213" y="259268"/>
                        <a:ext cx="0" cy="179901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34" name="直接连接符 33"/>
                      <p:cNvCxnSpPr/>
                      <p:nvPr/>
                    </p:nvCxnSpPr>
                    <p:spPr>
                      <a:xfrm>
                        <a:off x="4850501" y="736628"/>
                        <a:ext cx="0" cy="359801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35" name="直接连接符 34"/>
                      <p:cNvCxnSpPr/>
                      <p:nvPr/>
                    </p:nvCxnSpPr>
                    <p:spPr>
                      <a:xfrm>
                        <a:off x="4634099" y="1096430"/>
                        <a:ext cx="0" cy="165652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36" name="直接连接符 35"/>
                      <p:cNvCxnSpPr/>
                      <p:nvPr/>
                    </p:nvCxnSpPr>
                    <p:spPr>
                      <a:xfrm>
                        <a:off x="6156731" y="66899"/>
                        <a:ext cx="0" cy="71248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37" name="直接连接符 36"/>
                      <p:cNvCxnSpPr/>
                      <p:nvPr/>
                    </p:nvCxnSpPr>
                    <p:spPr>
                      <a:xfrm flipH="1">
                        <a:off x="4634099" y="1089305"/>
                        <a:ext cx="216401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38" name="直接连接符 37"/>
                      <p:cNvCxnSpPr/>
                      <p:nvPr/>
                    </p:nvCxnSpPr>
                    <p:spPr>
                      <a:xfrm flipH="1">
                        <a:off x="5249410" y="439169"/>
                        <a:ext cx="432803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39" name="直接连接符 38"/>
                      <p:cNvCxnSpPr/>
                      <p:nvPr/>
                    </p:nvCxnSpPr>
                    <p:spPr>
                      <a:xfrm flipH="1">
                        <a:off x="5682213" y="259268"/>
                        <a:ext cx="306351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0" name="直接连接符 39"/>
                      <p:cNvCxnSpPr/>
                      <p:nvPr/>
                    </p:nvCxnSpPr>
                    <p:spPr>
                      <a:xfrm flipH="1">
                        <a:off x="5975527" y="138147"/>
                        <a:ext cx="181204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1" name="直接连接符 40"/>
                      <p:cNvCxnSpPr/>
                      <p:nvPr/>
                    </p:nvCxnSpPr>
                    <p:spPr>
                      <a:xfrm flipH="1">
                        <a:off x="4562400" y="1269206"/>
                        <a:ext cx="71700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2" name="直接连接符 41"/>
                      <p:cNvCxnSpPr/>
                      <p:nvPr/>
                    </p:nvCxnSpPr>
                    <p:spPr>
                      <a:xfrm flipH="1">
                        <a:off x="6156731" y="72243"/>
                        <a:ext cx="106897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3" name="直接连接符 42"/>
                      <p:cNvCxnSpPr/>
                      <p:nvPr/>
                    </p:nvCxnSpPr>
                    <p:spPr>
                      <a:xfrm>
                        <a:off x="6262325" y="25932"/>
                        <a:ext cx="0" cy="53436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4" name="直接连接符 43"/>
                      <p:cNvCxnSpPr/>
                      <p:nvPr/>
                    </p:nvCxnSpPr>
                    <p:spPr>
                      <a:xfrm flipH="1">
                        <a:off x="6268843" y="25932"/>
                        <a:ext cx="73003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5" name="直接连接符 44"/>
                      <p:cNvCxnSpPr/>
                      <p:nvPr/>
                    </p:nvCxnSpPr>
                    <p:spPr>
                      <a:xfrm>
                        <a:off x="6349668" y="-11473"/>
                        <a:ext cx="0" cy="37406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6" name="直接连接符 45"/>
                      <p:cNvCxnSpPr/>
                      <p:nvPr/>
                    </p:nvCxnSpPr>
                    <p:spPr>
                      <a:xfrm flipH="1">
                        <a:off x="6340542" y="-11473"/>
                        <a:ext cx="46930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7" name="直接连接符 46"/>
                      <p:cNvCxnSpPr/>
                      <p:nvPr/>
                    </p:nvCxnSpPr>
                    <p:spPr>
                      <a:xfrm>
                        <a:off x="6393991" y="-47097"/>
                        <a:ext cx="0" cy="35624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8" name="直接连接符 47"/>
                      <p:cNvCxnSpPr/>
                      <p:nvPr/>
                    </p:nvCxnSpPr>
                    <p:spPr>
                      <a:xfrm flipH="1">
                        <a:off x="6393991" y="-39973"/>
                        <a:ext cx="36501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49" name="直接连接符 48"/>
                      <p:cNvCxnSpPr/>
                      <p:nvPr/>
                    </p:nvCxnSpPr>
                    <p:spPr>
                      <a:xfrm>
                        <a:off x="6431796" y="-57784"/>
                        <a:ext cx="0" cy="17812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50" name="直接连接符 49"/>
                      <p:cNvCxnSpPr/>
                      <p:nvPr/>
                    </p:nvCxnSpPr>
                    <p:spPr>
                      <a:xfrm flipH="1">
                        <a:off x="6431796" y="-56003"/>
                        <a:ext cx="36501" cy="0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  <p:cxnSp>
                    <p:nvCxnSpPr>
                      <p:cNvPr id="51" name="直接连接符 50"/>
                      <p:cNvCxnSpPr/>
                      <p:nvPr/>
                    </p:nvCxnSpPr>
                    <p:spPr>
                      <a:xfrm flipV="1">
                        <a:off x="5248106" y="-91627"/>
                        <a:ext cx="1274944" cy="817568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004158"/>
                        </a:solidFill>
                        <a:prstDash val="solid"/>
                      </a:ln>
                      <a:effectLst/>
                    </p:spPr>
                  </p:cxnSp>
                </p:grpSp>
              </p:grpSp>
            </p:grpSp>
            <p:sp>
              <p:nvSpPr>
                <p:cNvPr id="22" name="椭圆 21"/>
                <p:cNvSpPr/>
                <p:nvPr/>
              </p:nvSpPr>
              <p:spPr>
                <a:xfrm>
                  <a:off x="7297845" y="2450613"/>
                  <a:ext cx="113580" cy="114052"/>
                </a:xfrm>
                <a:prstGeom prst="ellipse">
                  <a:avLst/>
                </a:prstGeom>
                <a:solidFill>
                  <a:srgbClr val="004158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TextBox 11"/>
                <p:cNvSpPr txBox="1">
                  <a:spLocks noChangeArrowheads="1"/>
                </p:cNvSpPr>
                <p:nvPr/>
              </p:nvSpPr>
              <p:spPr bwMode="auto">
                <a:xfrm>
                  <a:off x="8002467" y="3451249"/>
                  <a:ext cx="148396" cy="232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defTabSz="457200"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defTabSz="45720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defTabSz="4572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defTabSz="4572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defTabSz="4572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x</a:t>
                  </a: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矩形 133"/>
                <p:cNvSpPr>
                  <a:spLocks noChangeArrowheads="1"/>
                </p:cNvSpPr>
                <p:nvPr/>
              </p:nvSpPr>
              <p:spPr bwMode="auto">
                <a:xfrm>
                  <a:off x="6843290" y="2105718"/>
                  <a:ext cx="770757" cy="3737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D0D0D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共沸点</a:t>
                  </a:r>
                  <a:endParaRPr kumimoji="0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D0D0D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TextBox 54"/>
                <p:cNvSpPr txBox="1">
                  <a:spLocks noChangeArrowheads="1"/>
                </p:cNvSpPr>
                <p:nvPr/>
              </p:nvSpPr>
              <p:spPr bwMode="auto">
                <a:xfrm>
                  <a:off x="7421004" y="2590495"/>
                  <a:ext cx="624005" cy="3751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defTabSz="457200"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defTabSz="45720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defTabSz="4572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defTabSz="4572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defTabSz="4572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defTabSz="4572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D0D0D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78.2</a:t>
                  </a:r>
                  <a:r>
                    <a:rPr kumimoji="0" lang="en-US" altLang="zh-CN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D0D0D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  <a:sym typeface="Symbol" panose="05050102010706020507" pitchFamily="18" charset="2"/>
                    </a:rPr>
                    <a:t> </a:t>
                  </a:r>
                  <a:r>
                    <a:rPr kumimoji="0" lang="en-US" altLang="zh-CN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D0D0D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C</a:t>
                  </a:r>
                  <a:endParaRPr kumimoji="0" lang="en-US" altLang="zh-C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D0D0D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D0D0D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x=0.89</a:t>
                  </a:r>
                  <a:endParaRPr kumimoji="0" lang="zh-CN" altLang="en-US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D0D0D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" name="TextBox 34"/>
            <p:cNvSpPr txBox="1">
              <a:spLocks noChangeArrowheads="1"/>
            </p:cNvSpPr>
            <p:nvPr/>
          </p:nvSpPr>
          <p:spPr bwMode="auto">
            <a:xfrm>
              <a:off x="5177182" y="4116388"/>
              <a:ext cx="2611438" cy="350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4572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4572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4572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4572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4572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4572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4572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4572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乙醇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-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水气液平衡相图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52" name="文本框 161"/>
          <p:cNvSpPr txBox="1">
            <a:spLocks noChangeArrowheads="1"/>
          </p:cNvSpPr>
          <p:nvPr/>
        </p:nvSpPr>
        <p:spPr bwMode="auto">
          <a:xfrm>
            <a:off x="954405" y="2599055"/>
            <a:ext cx="2993390" cy="2438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defTabSz="4572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年总产量约为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2.48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亿吨）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3" name="TextBox 34"/>
          <p:cNvSpPr txBox="1">
            <a:spLocks noChangeArrowheads="1"/>
          </p:cNvSpPr>
          <p:nvPr/>
        </p:nvSpPr>
        <p:spPr bwMode="auto">
          <a:xfrm>
            <a:off x="4993005" y="6065520"/>
            <a:ext cx="2501265" cy="218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defTabSz="4572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精馏分离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（热驱动）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4" name="Picture 2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95" y="2682240"/>
            <a:ext cx="3203575" cy="296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文本框 191"/>
          <p:cNvSpPr txBox="1">
            <a:spLocks noChangeArrowheads="1"/>
          </p:cNvSpPr>
          <p:nvPr/>
        </p:nvSpPr>
        <p:spPr bwMode="auto">
          <a:xfrm>
            <a:off x="1306830" y="5210175"/>
            <a:ext cx="2514600" cy="26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defTabSz="4572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457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典型共沸体系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6" name="组合 194"/>
          <p:cNvGrpSpPr/>
          <p:nvPr/>
        </p:nvGrpSpPr>
        <p:grpSpPr bwMode="auto">
          <a:xfrm>
            <a:off x="613410" y="5631180"/>
            <a:ext cx="3843655" cy="652558"/>
            <a:chOff x="870335" y="5383140"/>
            <a:chExt cx="3262130" cy="731668"/>
          </a:xfrm>
        </p:grpSpPr>
        <p:grpSp>
          <p:nvGrpSpPr>
            <p:cNvPr id="57" name="组合 197"/>
            <p:cNvGrpSpPr/>
            <p:nvPr/>
          </p:nvGrpSpPr>
          <p:grpSpPr bwMode="auto">
            <a:xfrm>
              <a:off x="870335" y="5383140"/>
              <a:ext cx="1071031" cy="373335"/>
              <a:chOff x="847542" y="5424675"/>
              <a:chExt cx="1071031" cy="373335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847542" y="5424675"/>
                <a:ext cx="1071031" cy="333699"/>
              </a:xfrm>
              <a:prstGeom prst="rect">
                <a:avLst/>
              </a:prstGeom>
              <a:solidFill>
                <a:srgbClr val="E8E8E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1" name="文本框 221"/>
              <p:cNvSpPr txBox="1">
                <a:spLocks noChangeArrowheads="1"/>
              </p:cNvSpPr>
              <p:nvPr/>
            </p:nvSpPr>
            <p:spPr bwMode="auto">
              <a:xfrm>
                <a:off x="911595" y="5454123"/>
                <a:ext cx="942518" cy="343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45720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4572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乙醇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/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水</a:t>
                </a:r>
                <a:endPara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" name="组合 201"/>
            <p:cNvGrpSpPr/>
            <p:nvPr/>
          </p:nvGrpSpPr>
          <p:grpSpPr bwMode="auto">
            <a:xfrm>
              <a:off x="1964594" y="5383140"/>
              <a:ext cx="1071031" cy="373335"/>
              <a:chOff x="1941801" y="5424675"/>
              <a:chExt cx="1071031" cy="373335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1941801" y="5424675"/>
                <a:ext cx="1071031" cy="333699"/>
              </a:xfrm>
              <a:prstGeom prst="rect">
                <a:avLst/>
              </a:prstGeom>
              <a:solidFill>
                <a:srgbClr val="E8E8E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9" name="文本框 218"/>
              <p:cNvSpPr txBox="1">
                <a:spLocks noChangeArrowheads="1"/>
              </p:cNvSpPr>
              <p:nvPr/>
            </p:nvSpPr>
            <p:spPr bwMode="auto">
              <a:xfrm>
                <a:off x="1992376" y="5454123"/>
                <a:ext cx="972462" cy="343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45720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4572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异丙醇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/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水</a:t>
                </a: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" name="组合 204"/>
            <p:cNvGrpSpPr/>
            <p:nvPr/>
          </p:nvGrpSpPr>
          <p:grpSpPr bwMode="auto">
            <a:xfrm>
              <a:off x="3061434" y="5383140"/>
              <a:ext cx="1071031" cy="373335"/>
              <a:chOff x="3038641" y="5424675"/>
              <a:chExt cx="1071031" cy="373335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3038641" y="5424675"/>
                <a:ext cx="1071031" cy="333699"/>
              </a:xfrm>
              <a:prstGeom prst="rect">
                <a:avLst/>
              </a:prstGeom>
              <a:solidFill>
                <a:srgbClr val="E8E8E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7" name="文本框 214"/>
              <p:cNvSpPr txBox="1">
                <a:spLocks noChangeArrowheads="1"/>
              </p:cNvSpPr>
              <p:nvPr/>
            </p:nvSpPr>
            <p:spPr bwMode="auto">
              <a:xfrm>
                <a:off x="3103100" y="5454123"/>
                <a:ext cx="942518" cy="343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45720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4572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乙腈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/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水</a:t>
                </a: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" name="组合 205"/>
            <p:cNvGrpSpPr/>
            <p:nvPr/>
          </p:nvGrpSpPr>
          <p:grpSpPr bwMode="auto">
            <a:xfrm>
              <a:off x="871626" y="5740775"/>
              <a:ext cx="1616870" cy="374033"/>
              <a:chOff x="848833" y="5782310"/>
              <a:chExt cx="1616870" cy="374033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848833" y="5782310"/>
                <a:ext cx="1616870" cy="333699"/>
              </a:xfrm>
              <a:prstGeom prst="rect">
                <a:avLst/>
              </a:prstGeom>
              <a:solidFill>
                <a:srgbClr val="E8E8E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5" name="文本框 210"/>
              <p:cNvSpPr txBox="1">
                <a:spLocks noChangeArrowheads="1"/>
              </p:cNvSpPr>
              <p:nvPr/>
            </p:nvSpPr>
            <p:spPr bwMode="auto">
              <a:xfrm>
                <a:off x="1014344" y="5812456"/>
                <a:ext cx="1285190" cy="343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45720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4572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四氢呋喃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/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水</a:t>
                </a: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" name="组合 206"/>
            <p:cNvGrpSpPr/>
            <p:nvPr/>
          </p:nvGrpSpPr>
          <p:grpSpPr bwMode="auto">
            <a:xfrm>
              <a:off x="2514304" y="5740775"/>
              <a:ext cx="1616871" cy="374031"/>
              <a:chOff x="2491511" y="5782310"/>
              <a:chExt cx="1616871" cy="374031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2491511" y="5782310"/>
                <a:ext cx="1616871" cy="333699"/>
              </a:xfrm>
              <a:prstGeom prst="rect">
                <a:avLst/>
              </a:prstGeom>
              <a:solidFill>
                <a:srgbClr val="E8E8E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3" name="文本框 208"/>
              <p:cNvSpPr txBox="1">
                <a:spLocks noChangeArrowheads="1"/>
              </p:cNvSpPr>
              <p:nvPr/>
            </p:nvSpPr>
            <p:spPr bwMode="auto">
              <a:xfrm>
                <a:off x="2577296" y="5812454"/>
                <a:ext cx="1445958" cy="343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45720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4572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4572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4572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乙酸乙酯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/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水</a:t>
                </a: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35" name="矩形 134"/>
          <p:cNvSpPr/>
          <p:nvPr/>
        </p:nvSpPr>
        <p:spPr>
          <a:xfrm>
            <a:off x="8079740" y="4211320"/>
            <a:ext cx="3752850" cy="1501775"/>
          </a:xfrm>
          <a:prstGeom prst="rect">
            <a:avLst/>
          </a:prstGeom>
          <a:noFill/>
          <a:ln>
            <a:noFill/>
          </a:ln>
          <a:effectLst>
            <a:outerShdw blurRad="63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136" name="组合 135"/>
          <p:cNvGrpSpPr/>
          <p:nvPr/>
        </p:nvGrpSpPr>
        <p:grpSpPr>
          <a:xfrm>
            <a:off x="8420100" y="5989955"/>
            <a:ext cx="3226435" cy="353264"/>
            <a:chOff x="3188227" y="3182079"/>
            <a:chExt cx="2582607" cy="447298"/>
          </a:xfrm>
        </p:grpSpPr>
        <p:sp>
          <p:nvSpPr>
            <p:cNvPr id="137" name="矩形 136"/>
            <p:cNvSpPr/>
            <p:nvPr/>
          </p:nvSpPr>
          <p:spPr>
            <a:xfrm>
              <a:off x="3188227" y="3182079"/>
              <a:ext cx="2582607" cy="379272"/>
            </a:xfrm>
            <a:prstGeom prst="rect">
              <a:avLst/>
            </a:prstGeom>
            <a:solidFill>
              <a:srgbClr val="005D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8" name="矩形 10"/>
            <p:cNvSpPr>
              <a:spLocks noChangeArrowheads="1"/>
            </p:cNvSpPr>
            <p:nvPr/>
          </p:nvSpPr>
          <p:spPr bwMode="auto">
            <a:xfrm>
              <a:off x="3540388" y="3202438"/>
              <a:ext cx="1878284" cy="426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zh-CN" altLang="en-US" sz="1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微软雅黑" panose="020B0503020204020204" pitchFamily="34" charset="-122"/>
                </a:rPr>
                <a:t>分</a:t>
              </a:r>
              <a:r>
                <a:rPr lang="zh-CN" altLang="en-US" sz="1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子筛膜（高度节能）</a:t>
              </a:r>
              <a:endParaRPr lang="en-US" altLang="zh-CN" sz="1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8441055" y="4796155"/>
            <a:ext cx="3195320" cy="683260"/>
            <a:chOff x="744033" y="4739679"/>
            <a:chExt cx="2269700" cy="587677"/>
          </a:xfrm>
        </p:grpSpPr>
        <p:pic>
          <p:nvPicPr>
            <p:cNvPr id="140" name="图片 139"/>
            <p:cNvPicPr>
              <a:picLocks noChangeAspect="1"/>
            </p:cNvPicPr>
            <p:nvPr/>
          </p:nvPicPr>
          <p:blipFill rotWithShape="1">
            <a:blip r:embed="rId3"/>
            <a:srcRect l="23563" t="10169" r="36474" b="4959"/>
            <a:stretch>
              <a:fillRect/>
            </a:stretch>
          </p:blipFill>
          <p:spPr>
            <a:xfrm rot="16200000">
              <a:off x="1692180" y="4016116"/>
              <a:ext cx="363093" cy="2259387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141" name="组合 140"/>
            <p:cNvGrpSpPr/>
            <p:nvPr/>
          </p:nvGrpSpPr>
          <p:grpSpPr bwMode="auto">
            <a:xfrm>
              <a:off x="753273" y="4739679"/>
              <a:ext cx="2260460" cy="271257"/>
              <a:chOff x="1622490" y="5383543"/>
              <a:chExt cx="2843212" cy="407193"/>
            </a:xfrm>
            <a:solidFill>
              <a:srgbClr val="D6ECFF">
                <a:lumMod val="90000"/>
              </a:srgbClr>
            </a:solidFill>
          </p:grpSpPr>
          <p:sp>
            <p:nvSpPr>
              <p:cNvPr id="142" name="Rectangle 19"/>
              <p:cNvSpPr>
                <a:spLocks noChangeArrowheads="1"/>
              </p:cNvSpPr>
              <p:nvPr/>
            </p:nvSpPr>
            <p:spPr bwMode="auto">
              <a:xfrm rot="1243167">
                <a:off x="1722503" y="5581981"/>
                <a:ext cx="177800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43" name="Rectangle 20"/>
              <p:cNvSpPr>
                <a:spLocks noChangeArrowheads="1"/>
              </p:cNvSpPr>
              <p:nvPr/>
            </p:nvSpPr>
            <p:spPr bwMode="auto">
              <a:xfrm rot="744551">
                <a:off x="2916303" y="5508956"/>
                <a:ext cx="177800" cy="26035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44" name="Rectangle 21"/>
              <p:cNvSpPr>
                <a:spLocks noChangeArrowheads="1"/>
              </p:cNvSpPr>
              <p:nvPr/>
            </p:nvSpPr>
            <p:spPr bwMode="auto">
              <a:xfrm rot="-1084616">
                <a:off x="2027303" y="5550231"/>
                <a:ext cx="141288" cy="174625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45" name="Rectangle 22"/>
              <p:cNvSpPr>
                <a:spLocks noChangeArrowheads="1"/>
              </p:cNvSpPr>
              <p:nvPr/>
            </p:nvSpPr>
            <p:spPr bwMode="auto">
              <a:xfrm rot="1243167">
                <a:off x="3527489" y="5550231"/>
                <a:ext cx="176213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46" name="Rectangle 23"/>
              <p:cNvSpPr>
                <a:spLocks noChangeArrowheads="1"/>
              </p:cNvSpPr>
              <p:nvPr/>
            </p:nvSpPr>
            <p:spPr bwMode="auto">
              <a:xfrm rot="1243167">
                <a:off x="3078227" y="5512131"/>
                <a:ext cx="203200" cy="258763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47" name="Rectangle 24"/>
              <p:cNvSpPr>
                <a:spLocks noChangeArrowheads="1"/>
              </p:cNvSpPr>
              <p:nvPr/>
            </p:nvSpPr>
            <p:spPr bwMode="auto">
              <a:xfrm rot="-728430">
                <a:off x="1900303" y="5550231"/>
                <a:ext cx="139700" cy="1905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48" name="Rectangle 25"/>
              <p:cNvSpPr>
                <a:spLocks noChangeArrowheads="1"/>
              </p:cNvSpPr>
              <p:nvPr/>
            </p:nvSpPr>
            <p:spPr bwMode="auto">
              <a:xfrm rot="-3307792">
                <a:off x="2325753" y="5581980"/>
                <a:ext cx="231775" cy="1666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49" name="Rectangle 26"/>
              <p:cNvSpPr>
                <a:spLocks noChangeArrowheads="1"/>
              </p:cNvSpPr>
              <p:nvPr/>
            </p:nvSpPr>
            <p:spPr bwMode="auto">
              <a:xfrm rot="634411">
                <a:off x="2154303" y="5516893"/>
                <a:ext cx="228600" cy="220663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0" name="Rectangle 27"/>
              <p:cNvSpPr>
                <a:spLocks noChangeArrowheads="1"/>
              </p:cNvSpPr>
              <p:nvPr/>
            </p:nvSpPr>
            <p:spPr bwMode="auto">
              <a:xfrm rot="1243167">
                <a:off x="2535303" y="5550231"/>
                <a:ext cx="179388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1" name="Rectangle 28"/>
              <p:cNvSpPr>
                <a:spLocks noChangeArrowheads="1"/>
              </p:cNvSpPr>
              <p:nvPr/>
            </p:nvSpPr>
            <p:spPr bwMode="auto">
              <a:xfrm rot="-2388704">
                <a:off x="2714690" y="5581981"/>
                <a:ext cx="201613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2" name="Rectangle 29"/>
              <p:cNvSpPr>
                <a:spLocks noChangeArrowheads="1"/>
              </p:cNvSpPr>
              <p:nvPr/>
            </p:nvSpPr>
            <p:spPr bwMode="auto">
              <a:xfrm>
                <a:off x="3678302" y="5550231"/>
                <a:ext cx="179388" cy="23495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3" name="Rectangle 30"/>
              <p:cNvSpPr>
                <a:spLocks noChangeArrowheads="1"/>
              </p:cNvSpPr>
              <p:nvPr/>
            </p:nvSpPr>
            <p:spPr bwMode="auto">
              <a:xfrm rot="2321781">
                <a:off x="3830702" y="5516893"/>
                <a:ext cx="165100" cy="219075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4" name="Rectangle 31"/>
              <p:cNvSpPr>
                <a:spLocks noChangeArrowheads="1"/>
              </p:cNvSpPr>
              <p:nvPr/>
            </p:nvSpPr>
            <p:spPr bwMode="auto">
              <a:xfrm rot="-524337">
                <a:off x="1622490" y="5550231"/>
                <a:ext cx="168275" cy="168275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5" name="Rectangle 32"/>
              <p:cNvSpPr>
                <a:spLocks noChangeArrowheads="1"/>
              </p:cNvSpPr>
              <p:nvPr/>
            </p:nvSpPr>
            <p:spPr bwMode="auto">
              <a:xfrm rot="1243167">
                <a:off x="3957702" y="5581981"/>
                <a:ext cx="177800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6" name="Rectangle 33"/>
              <p:cNvSpPr>
                <a:spLocks noChangeArrowheads="1"/>
              </p:cNvSpPr>
              <p:nvPr/>
            </p:nvSpPr>
            <p:spPr bwMode="auto">
              <a:xfrm rot="3851841">
                <a:off x="4097402" y="5562930"/>
                <a:ext cx="239713" cy="2159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7" name="Rectangle 34"/>
              <p:cNvSpPr>
                <a:spLocks noChangeArrowheads="1"/>
              </p:cNvSpPr>
              <p:nvPr/>
            </p:nvSpPr>
            <p:spPr bwMode="auto">
              <a:xfrm rot="4903658">
                <a:off x="4272027" y="5566105"/>
                <a:ext cx="209550" cy="1778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8" name="Rectangle 35"/>
              <p:cNvSpPr>
                <a:spLocks noChangeArrowheads="1"/>
              </p:cNvSpPr>
              <p:nvPr/>
            </p:nvSpPr>
            <p:spPr bwMode="auto">
              <a:xfrm rot="1243167">
                <a:off x="1925703" y="5416881"/>
                <a:ext cx="179388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9" name="Rectangle 36"/>
              <p:cNvSpPr>
                <a:spLocks noChangeArrowheads="1"/>
              </p:cNvSpPr>
              <p:nvPr/>
            </p:nvSpPr>
            <p:spPr bwMode="auto">
              <a:xfrm rot="1243167">
                <a:off x="3398902" y="5581981"/>
                <a:ext cx="177800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0" name="Rectangle 37"/>
              <p:cNvSpPr>
                <a:spLocks noChangeArrowheads="1"/>
              </p:cNvSpPr>
              <p:nvPr/>
            </p:nvSpPr>
            <p:spPr bwMode="auto">
              <a:xfrm rot="1243167">
                <a:off x="2662303" y="5450218"/>
                <a:ext cx="177800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1" name="Rectangle 38"/>
              <p:cNvSpPr>
                <a:spLocks noChangeArrowheads="1"/>
              </p:cNvSpPr>
              <p:nvPr/>
            </p:nvSpPr>
            <p:spPr bwMode="auto">
              <a:xfrm rot="-2720229">
                <a:off x="3233803" y="5470855"/>
                <a:ext cx="200025" cy="22225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2" name="Rectangle 39"/>
              <p:cNvSpPr>
                <a:spLocks noChangeArrowheads="1"/>
              </p:cNvSpPr>
              <p:nvPr/>
            </p:nvSpPr>
            <p:spPr bwMode="auto">
              <a:xfrm rot="-2225990">
                <a:off x="2128903" y="5416881"/>
                <a:ext cx="149225" cy="174625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3" name="Rectangle 40"/>
              <p:cNvSpPr>
                <a:spLocks noChangeArrowheads="1"/>
              </p:cNvSpPr>
              <p:nvPr/>
            </p:nvSpPr>
            <p:spPr bwMode="auto">
              <a:xfrm rot="-1494142">
                <a:off x="2332103" y="5383543"/>
                <a:ext cx="179388" cy="2174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4" name="Rectangle 41"/>
              <p:cNvSpPr>
                <a:spLocks noChangeArrowheads="1"/>
              </p:cNvSpPr>
              <p:nvPr/>
            </p:nvSpPr>
            <p:spPr bwMode="auto">
              <a:xfrm rot="1243167">
                <a:off x="4162489" y="5450218"/>
                <a:ext cx="176213" cy="1920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5" name="Rectangle 42"/>
              <p:cNvSpPr>
                <a:spLocks noChangeArrowheads="1"/>
              </p:cNvSpPr>
              <p:nvPr/>
            </p:nvSpPr>
            <p:spPr bwMode="auto">
              <a:xfrm rot="-592549">
                <a:off x="2816290" y="5383543"/>
                <a:ext cx="177800" cy="265113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6" name="Rectangle 43"/>
              <p:cNvSpPr>
                <a:spLocks noChangeArrowheads="1"/>
              </p:cNvSpPr>
              <p:nvPr/>
            </p:nvSpPr>
            <p:spPr bwMode="auto">
              <a:xfrm rot="-138137">
                <a:off x="3398902" y="5416881"/>
                <a:ext cx="182563" cy="23653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7" name="Rectangle 44"/>
              <p:cNvSpPr>
                <a:spLocks noChangeArrowheads="1"/>
              </p:cNvSpPr>
              <p:nvPr/>
            </p:nvSpPr>
            <p:spPr bwMode="auto">
              <a:xfrm rot="2295539">
                <a:off x="2535502" y="5412945"/>
                <a:ext cx="147638" cy="2428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8" name="Rectangle 45"/>
              <p:cNvSpPr>
                <a:spLocks noChangeArrowheads="1"/>
              </p:cNvSpPr>
              <p:nvPr/>
            </p:nvSpPr>
            <p:spPr bwMode="auto">
              <a:xfrm rot="2579250">
                <a:off x="1722503" y="5416881"/>
                <a:ext cx="144463" cy="179388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9" name="Rectangle 46"/>
              <p:cNvSpPr>
                <a:spLocks noChangeArrowheads="1"/>
              </p:cNvSpPr>
              <p:nvPr/>
            </p:nvSpPr>
            <p:spPr bwMode="auto">
              <a:xfrm rot="4009269">
                <a:off x="3930714" y="5469268"/>
                <a:ext cx="244475" cy="1397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70" name="Rectangle 47"/>
              <p:cNvSpPr>
                <a:spLocks noChangeArrowheads="1"/>
              </p:cNvSpPr>
              <p:nvPr/>
            </p:nvSpPr>
            <p:spPr bwMode="auto">
              <a:xfrm rot="2989758">
                <a:off x="3735452" y="5437518"/>
                <a:ext cx="219075" cy="177800"/>
              </a:xfrm>
              <a:prstGeom prst="rect">
                <a:avLst/>
              </a:prstGeom>
              <a:grpFill/>
              <a:ln w="9525">
                <a:solidFill>
                  <a:srgbClr val="4E5B6F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 defTabSz="914400" eaLnBrk="0" fontAlgn="base" hangingPunct="0">
                  <a:spcBef>
                    <a:spcPts val="350"/>
                  </a:spcBef>
                  <a:spcAft>
                    <a:spcPts val="340"/>
                  </a:spcAft>
                  <a:buClr>
                    <a:srgbClr val="486AC1"/>
                  </a:buClr>
                  <a:buFont typeface="Arial" panose="020B0604020202020204" pitchFamily="34" charset="0"/>
                  <a:buNone/>
                  <a:defRPr/>
                </a:pPr>
                <a:endParaRPr lang="zh-CN" altLang="en-US" sz="1600" b="1" kern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</p:grpSp>
      </p:grpSp>
      <p:sp>
        <p:nvSpPr>
          <p:cNvPr id="171" name="矩形 170"/>
          <p:cNvSpPr/>
          <p:nvPr/>
        </p:nvSpPr>
        <p:spPr>
          <a:xfrm>
            <a:off x="8174012" y="2050443"/>
            <a:ext cx="3918315" cy="2102239"/>
          </a:xfrm>
          <a:prstGeom prst="rect">
            <a:avLst/>
          </a:prstGeom>
          <a:noFill/>
          <a:ln>
            <a:noFill/>
          </a:ln>
          <a:effectLst>
            <a:outerShdw blurRad="63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172" name="组合 171"/>
          <p:cNvGrpSpPr/>
          <p:nvPr/>
        </p:nvGrpSpPr>
        <p:grpSpPr>
          <a:xfrm>
            <a:off x="8731250" y="2030732"/>
            <a:ext cx="2565401" cy="1437627"/>
            <a:chOff x="5803953" y="3975351"/>
            <a:chExt cx="2678458" cy="1817653"/>
          </a:xfrm>
        </p:grpSpPr>
        <p:pic>
          <p:nvPicPr>
            <p:cNvPr id="173" name="图片 17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889602" y="4725260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174" name="图片 17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775610" y="4654255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175" name="图片 17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803347" y="4795578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sp>
          <p:nvSpPr>
            <p:cNvPr id="176" name="文本框 175"/>
            <p:cNvSpPr txBox="1"/>
            <p:nvPr/>
          </p:nvSpPr>
          <p:spPr>
            <a:xfrm>
              <a:off x="7800814" y="3975351"/>
              <a:ext cx="681597" cy="3877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defRPr/>
              </a:pPr>
              <a:r>
                <a:rPr lang="en-US" altLang="zh-CN" sz="14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en-US" altLang="zh-CN" sz="1400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微软雅黑" panose="020B0503020204020204" pitchFamily="34" charset="-122"/>
                </a:rPr>
                <a:t>4.2 Å </a:t>
              </a:r>
              <a:endParaRPr lang="en-US" altLang="zh-CN" sz="14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endParaRPr>
            </a:p>
          </p:txBody>
        </p:sp>
        <p:sp>
          <p:nvSpPr>
            <p:cNvPr id="177" name="任意多边形: 形状 180"/>
            <p:cNvSpPr/>
            <p:nvPr/>
          </p:nvSpPr>
          <p:spPr>
            <a:xfrm rot="16200000" flipH="1">
              <a:off x="6403062" y="3752230"/>
              <a:ext cx="1281927" cy="2110283"/>
            </a:xfrm>
            <a:custGeom>
              <a:avLst/>
              <a:gdLst>
                <a:gd name="connsiteX0" fmla="*/ 5238976 w 5238976"/>
                <a:gd name="connsiteY0" fmla="*/ 0 h 1701186"/>
                <a:gd name="connsiteX1" fmla="*/ 2619488 w 5238976"/>
                <a:gd name="connsiteY1" fmla="*/ 0 h 1701186"/>
                <a:gd name="connsiteX2" fmla="*/ 0 w 5238976"/>
                <a:gd name="connsiteY2" fmla="*/ 0 h 1701186"/>
                <a:gd name="connsiteX3" fmla="*/ 58094 w 5238976"/>
                <a:gd name="connsiteY3" fmla="*/ 7931 h 1701186"/>
                <a:gd name="connsiteX4" fmla="*/ 2428846 w 5238976"/>
                <a:gd name="connsiteY4" fmla="*/ 1338680 h 1701186"/>
                <a:gd name="connsiteX5" fmla="*/ 2433263 w 5238976"/>
                <a:gd name="connsiteY5" fmla="*/ 1349965 h 1701186"/>
                <a:gd name="connsiteX6" fmla="*/ 2162175 w 5238976"/>
                <a:gd name="connsiteY6" fmla="*/ 1349965 h 1701186"/>
                <a:gd name="connsiteX7" fmla="*/ 2619488 w 5238976"/>
                <a:gd name="connsiteY7" fmla="*/ 1701186 h 1701186"/>
                <a:gd name="connsiteX8" fmla="*/ 3076801 w 5238976"/>
                <a:gd name="connsiteY8" fmla="*/ 1349965 h 1701186"/>
                <a:gd name="connsiteX9" fmla="*/ 2805715 w 5238976"/>
                <a:gd name="connsiteY9" fmla="*/ 1349965 h 1701186"/>
                <a:gd name="connsiteX10" fmla="*/ 2810130 w 5238976"/>
                <a:gd name="connsiteY10" fmla="*/ 1338680 h 1701186"/>
                <a:gd name="connsiteX11" fmla="*/ 5180882 w 5238976"/>
                <a:gd name="connsiteY11" fmla="*/ 7931 h 1701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38976" h="1701186">
                  <a:moveTo>
                    <a:pt x="5238976" y="0"/>
                  </a:moveTo>
                  <a:lnTo>
                    <a:pt x="2619488" y="0"/>
                  </a:lnTo>
                  <a:lnTo>
                    <a:pt x="0" y="0"/>
                  </a:lnTo>
                  <a:lnTo>
                    <a:pt x="58094" y="7931"/>
                  </a:lnTo>
                  <a:cubicBezTo>
                    <a:pt x="1223760" y="200438"/>
                    <a:pt x="2129990" y="705603"/>
                    <a:pt x="2428846" y="1338680"/>
                  </a:cubicBezTo>
                  <a:lnTo>
                    <a:pt x="2433263" y="1349965"/>
                  </a:lnTo>
                  <a:lnTo>
                    <a:pt x="2162175" y="1349965"/>
                  </a:lnTo>
                  <a:lnTo>
                    <a:pt x="2619488" y="1701186"/>
                  </a:lnTo>
                  <a:lnTo>
                    <a:pt x="3076801" y="1349965"/>
                  </a:lnTo>
                  <a:lnTo>
                    <a:pt x="2805715" y="1349965"/>
                  </a:lnTo>
                  <a:lnTo>
                    <a:pt x="2810130" y="1338680"/>
                  </a:lnTo>
                  <a:cubicBezTo>
                    <a:pt x="3108986" y="705603"/>
                    <a:pt x="4015216" y="200438"/>
                    <a:pt x="5180882" y="793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72000">
                  <a:schemeClr val="bg1">
                    <a:lumMod val="65000"/>
                    <a:alpha val="92000"/>
                  </a:schemeClr>
                </a:gs>
                <a:gs pos="100000">
                  <a:schemeClr val="bg1">
                    <a:lumMod val="65000"/>
                    <a:alpha val="88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pic>
          <p:nvPicPr>
            <p:cNvPr id="178" name="图片 17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056134" y="4716306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179" name="图片 17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231078" y="4546961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180" name="图片 17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6465418" y="4883340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181" name="图片 18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992" t="23852" r="17317" b="41457"/>
            <a:stretch>
              <a:fillRect/>
            </a:stretch>
          </p:blipFill>
          <p:spPr>
            <a:xfrm>
              <a:off x="5825669" y="4192884"/>
              <a:ext cx="338058" cy="338058"/>
            </a:xfrm>
            <a:custGeom>
              <a:avLst/>
              <a:gdLst>
                <a:gd name="connsiteX0" fmla="*/ 1189575 w 2379150"/>
                <a:gd name="connsiteY0" fmla="*/ 0 h 2379150"/>
                <a:gd name="connsiteX1" fmla="*/ 2379150 w 2379150"/>
                <a:gd name="connsiteY1" fmla="*/ 1189575 h 2379150"/>
                <a:gd name="connsiteX2" fmla="*/ 1189575 w 2379150"/>
                <a:gd name="connsiteY2" fmla="*/ 2379150 h 2379150"/>
                <a:gd name="connsiteX3" fmla="*/ 0 w 2379150"/>
                <a:gd name="connsiteY3" fmla="*/ 1189575 h 2379150"/>
                <a:gd name="connsiteX4" fmla="*/ 1189575 w 2379150"/>
                <a:gd name="connsiteY4" fmla="*/ 0 h 237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9150" h="2379150">
                  <a:moveTo>
                    <a:pt x="1189575" y="0"/>
                  </a:moveTo>
                  <a:cubicBezTo>
                    <a:pt x="1846559" y="0"/>
                    <a:pt x="2379150" y="532591"/>
                    <a:pt x="2379150" y="1189575"/>
                  </a:cubicBezTo>
                  <a:cubicBezTo>
                    <a:pt x="2379150" y="1846559"/>
                    <a:pt x="1846559" y="2379150"/>
                    <a:pt x="1189575" y="2379150"/>
                  </a:cubicBezTo>
                  <a:cubicBezTo>
                    <a:pt x="532591" y="2379150"/>
                    <a:pt x="0" y="1846559"/>
                    <a:pt x="0" y="1189575"/>
                  </a:cubicBezTo>
                  <a:cubicBezTo>
                    <a:pt x="0" y="532591"/>
                    <a:pt x="532591" y="0"/>
                    <a:pt x="1189575" y="0"/>
                  </a:cubicBezTo>
                  <a:close/>
                </a:path>
              </a:pathLst>
            </a:custGeom>
          </p:spPr>
        </p:pic>
        <p:pic>
          <p:nvPicPr>
            <p:cNvPr id="182" name="图片 18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992" t="23852" r="17317" b="41457"/>
            <a:stretch>
              <a:fillRect/>
            </a:stretch>
          </p:blipFill>
          <p:spPr>
            <a:xfrm>
              <a:off x="5803953" y="4904586"/>
              <a:ext cx="338058" cy="338058"/>
            </a:xfrm>
            <a:custGeom>
              <a:avLst/>
              <a:gdLst>
                <a:gd name="connsiteX0" fmla="*/ 1189575 w 2379150"/>
                <a:gd name="connsiteY0" fmla="*/ 0 h 2379150"/>
                <a:gd name="connsiteX1" fmla="*/ 2379150 w 2379150"/>
                <a:gd name="connsiteY1" fmla="*/ 1189575 h 2379150"/>
                <a:gd name="connsiteX2" fmla="*/ 1189575 w 2379150"/>
                <a:gd name="connsiteY2" fmla="*/ 2379150 h 2379150"/>
                <a:gd name="connsiteX3" fmla="*/ 0 w 2379150"/>
                <a:gd name="connsiteY3" fmla="*/ 1189575 h 2379150"/>
                <a:gd name="connsiteX4" fmla="*/ 1189575 w 2379150"/>
                <a:gd name="connsiteY4" fmla="*/ 0 h 237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9150" h="2379150">
                  <a:moveTo>
                    <a:pt x="1189575" y="0"/>
                  </a:moveTo>
                  <a:cubicBezTo>
                    <a:pt x="1846559" y="0"/>
                    <a:pt x="2379150" y="532591"/>
                    <a:pt x="2379150" y="1189575"/>
                  </a:cubicBezTo>
                  <a:cubicBezTo>
                    <a:pt x="2379150" y="1846559"/>
                    <a:pt x="1846559" y="2379150"/>
                    <a:pt x="1189575" y="2379150"/>
                  </a:cubicBezTo>
                  <a:cubicBezTo>
                    <a:pt x="532591" y="2379150"/>
                    <a:pt x="0" y="1846559"/>
                    <a:pt x="0" y="1189575"/>
                  </a:cubicBezTo>
                  <a:cubicBezTo>
                    <a:pt x="0" y="532591"/>
                    <a:pt x="532591" y="0"/>
                    <a:pt x="1189575" y="0"/>
                  </a:cubicBezTo>
                  <a:close/>
                </a:path>
              </a:pathLst>
            </a:custGeom>
          </p:spPr>
        </p:pic>
        <p:pic>
          <p:nvPicPr>
            <p:cNvPr id="183" name="图片 18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1587" y="4196439"/>
              <a:ext cx="1366953" cy="1369098"/>
            </a:xfrm>
            <a:prstGeom prst="rect">
              <a:avLst/>
            </a:prstGeom>
          </p:spPr>
        </p:pic>
        <p:cxnSp>
          <p:nvCxnSpPr>
            <p:cNvPr id="184" name="直接箭头连接符 183"/>
            <p:cNvCxnSpPr/>
            <p:nvPr/>
          </p:nvCxnSpPr>
          <p:spPr>
            <a:xfrm flipH="1">
              <a:off x="7525020" y="4337176"/>
              <a:ext cx="464089" cy="263337"/>
            </a:xfrm>
            <a:prstGeom prst="straightConnector1">
              <a:avLst/>
            </a:prstGeom>
            <a:ln w="158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5" name="图片 18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8190747" y="4766416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186" name="图片 18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7962492" y="4609012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pic>
          <p:nvPicPr>
            <p:cNvPr id="187" name="图片 18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27788" r="55304" b="45393"/>
            <a:stretch>
              <a:fillRect/>
            </a:stretch>
          </p:blipFill>
          <p:spPr>
            <a:xfrm>
              <a:off x="7855764" y="4900954"/>
              <a:ext cx="124101" cy="124101"/>
            </a:xfrm>
            <a:custGeom>
              <a:avLst/>
              <a:gdLst>
                <a:gd name="connsiteX0" fmla="*/ 919609 w 1839218"/>
                <a:gd name="connsiteY0" fmla="*/ 0 h 1839218"/>
                <a:gd name="connsiteX1" fmla="*/ 1839218 w 1839218"/>
                <a:gd name="connsiteY1" fmla="*/ 919609 h 1839218"/>
                <a:gd name="connsiteX2" fmla="*/ 919609 w 1839218"/>
                <a:gd name="connsiteY2" fmla="*/ 1839218 h 1839218"/>
                <a:gd name="connsiteX3" fmla="*/ 0 w 1839218"/>
                <a:gd name="connsiteY3" fmla="*/ 919609 h 1839218"/>
                <a:gd name="connsiteX4" fmla="*/ 919609 w 1839218"/>
                <a:gd name="connsiteY4" fmla="*/ 0 h 183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218" h="1839218">
                  <a:moveTo>
                    <a:pt x="919609" y="0"/>
                  </a:moveTo>
                  <a:cubicBezTo>
                    <a:pt x="1427495" y="0"/>
                    <a:pt x="1839218" y="411723"/>
                    <a:pt x="1839218" y="919609"/>
                  </a:cubicBezTo>
                  <a:cubicBezTo>
                    <a:pt x="1839218" y="1427495"/>
                    <a:pt x="1427495" y="1839218"/>
                    <a:pt x="919609" y="1839218"/>
                  </a:cubicBezTo>
                  <a:cubicBezTo>
                    <a:pt x="411723" y="1839218"/>
                    <a:pt x="0" y="1427495"/>
                    <a:pt x="0" y="919609"/>
                  </a:cubicBezTo>
                  <a:cubicBezTo>
                    <a:pt x="0" y="411723"/>
                    <a:pt x="411723" y="0"/>
                    <a:pt x="919609" y="0"/>
                  </a:cubicBezTo>
                  <a:close/>
                </a:path>
              </a:pathLst>
            </a:custGeom>
          </p:spPr>
        </p:pic>
        <p:grpSp>
          <p:nvGrpSpPr>
            <p:cNvPr id="188" name="组合 187"/>
            <p:cNvGrpSpPr/>
            <p:nvPr/>
          </p:nvGrpSpPr>
          <p:grpSpPr>
            <a:xfrm>
              <a:off x="5991315" y="5444564"/>
              <a:ext cx="2280804" cy="348440"/>
              <a:chOff x="6248877" y="2651208"/>
              <a:chExt cx="2141319" cy="327132"/>
            </a:xfrm>
          </p:grpSpPr>
          <p:grpSp>
            <p:nvGrpSpPr>
              <p:cNvPr id="189" name="组合 188"/>
              <p:cNvGrpSpPr/>
              <p:nvPr/>
            </p:nvGrpSpPr>
            <p:grpSpPr>
              <a:xfrm>
                <a:off x="6370941" y="2651208"/>
                <a:ext cx="2019255" cy="327132"/>
                <a:chOff x="6370941" y="2948815"/>
                <a:chExt cx="2019255" cy="327132"/>
              </a:xfrm>
            </p:grpSpPr>
            <p:grpSp>
              <p:nvGrpSpPr>
                <p:cNvPr id="191" name="组合 190"/>
                <p:cNvGrpSpPr/>
                <p:nvPr/>
              </p:nvGrpSpPr>
              <p:grpSpPr>
                <a:xfrm>
                  <a:off x="6370941" y="2948815"/>
                  <a:ext cx="2019255" cy="327132"/>
                  <a:chOff x="6536740" y="2948815"/>
                  <a:chExt cx="2019255" cy="327132"/>
                </a:xfrm>
              </p:grpSpPr>
              <p:sp>
                <p:nvSpPr>
                  <p:cNvPr id="193" name="矩形 192"/>
                  <p:cNvSpPr/>
                  <p:nvPr/>
                </p:nvSpPr>
                <p:spPr>
                  <a:xfrm>
                    <a:off x="7821268" y="2948815"/>
                    <a:ext cx="734727" cy="3271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zh-CN" altLang="en-US" sz="1200" b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水</a:t>
                    </a:r>
                    <a:r>
                      <a:rPr lang="en-US" altLang="zh-CN" sz="1200" b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(2.6 Å)</a:t>
                    </a:r>
                    <a:endParaRPr lang="en-US" altLang="zh-CN" sz="1200" b="1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194" name="矩形 193"/>
                  <p:cNvSpPr/>
                  <p:nvPr/>
                </p:nvSpPr>
                <p:spPr>
                  <a:xfrm>
                    <a:off x="6536740" y="2948815"/>
                    <a:ext cx="1094479" cy="3271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zh-CN" altLang="en-US" sz="1200" b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乙醇</a:t>
                    </a:r>
                    <a:r>
                      <a:rPr lang="en-US" altLang="zh-CN" sz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(</a:t>
                    </a:r>
                    <a:r>
                      <a:rPr lang="en-US" altLang="zh-CN" sz="1200" b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4.3 Å)</a:t>
                    </a:r>
                    <a:r>
                      <a:rPr lang="en-US" altLang="zh-CN" sz="12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a:t> </a:t>
                    </a:r>
                    <a:endParaRPr lang="zh-CN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  <a:sym typeface="微软雅黑" panose="020B0503020204020204" pitchFamily="34" charset="-122"/>
                    </a:endParaRPr>
                  </a:p>
                </p:txBody>
              </p:sp>
            </p:grpSp>
            <p:pic>
              <p:nvPicPr>
                <p:cNvPr id="192" name="图片 191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589" t="27985" r="54891" b="44495"/>
                <a:stretch>
                  <a:fillRect/>
                </a:stretch>
              </p:blipFill>
              <p:spPr>
                <a:xfrm>
                  <a:off x="7554896" y="2995032"/>
                  <a:ext cx="147438" cy="147438"/>
                </a:xfrm>
                <a:custGeom>
                  <a:avLst/>
                  <a:gdLst>
                    <a:gd name="connsiteX0" fmla="*/ 232545 w 465090"/>
                    <a:gd name="connsiteY0" fmla="*/ 0 h 465090"/>
                    <a:gd name="connsiteX1" fmla="*/ 465090 w 465090"/>
                    <a:gd name="connsiteY1" fmla="*/ 232545 h 465090"/>
                    <a:gd name="connsiteX2" fmla="*/ 232545 w 465090"/>
                    <a:gd name="connsiteY2" fmla="*/ 465090 h 465090"/>
                    <a:gd name="connsiteX3" fmla="*/ 0 w 465090"/>
                    <a:gd name="connsiteY3" fmla="*/ 232545 h 465090"/>
                    <a:gd name="connsiteX4" fmla="*/ 232545 w 465090"/>
                    <a:gd name="connsiteY4" fmla="*/ 0 h 465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5090" h="465090">
                      <a:moveTo>
                        <a:pt x="232545" y="0"/>
                      </a:moveTo>
                      <a:cubicBezTo>
                        <a:pt x="360976" y="0"/>
                        <a:pt x="465090" y="104114"/>
                        <a:pt x="465090" y="232545"/>
                      </a:cubicBezTo>
                      <a:cubicBezTo>
                        <a:pt x="465090" y="360976"/>
                        <a:pt x="360976" y="465090"/>
                        <a:pt x="232545" y="465090"/>
                      </a:cubicBezTo>
                      <a:cubicBezTo>
                        <a:pt x="104114" y="465090"/>
                        <a:pt x="0" y="360976"/>
                        <a:pt x="0" y="232545"/>
                      </a:cubicBezTo>
                      <a:cubicBezTo>
                        <a:pt x="0" y="104114"/>
                        <a:pt x="104114" y="0"/>
                        <a:pt x="232545" y="0"/>
                      </a:cubicBezTo>
                      <a:close/>
                    </a:path>
                  </a:pathLst>
                </a:custGeom>
              </p:spPr>
            </p:pic>
          </p:grpSp>
          <p:pic>
            <p:nvPicPr>
              <p:cNvPr id="190" name="图片 18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992" t="23852" r="17317" b="41457"/>
              <a:stretch>
                <a:fillRect/>
              </a:stretch>
            </p:blipFill>
            <p:spPr>
              <a:xfrm>
                <a:off x="6248877" y="2687852"/>
                <a:ext cx="153850" cy="153850"/>
              </a:xfrm>
              <a:custGeom>
                <a:avLst/>
                <a:gdLst>
                  <a:gd name="connsiteX0" fmla="*/ 1189575 w 2379150"/>
                  <a:gd name="connsiteY0" fmla="*/ 0 h 2379150"/>
                  <a:gd name="connsiteX1" fmla="*/ 2379150 w 2379150"/>
                  <a:gd name="connsiteY1" fmla="*/ 1189575 h 2379150"/>
                  <a:gd name="connsiteX2" fmla="*/ 1189575 w 2379150"/>
                  <a:gd name="connsiteY2" fmla="*/ 2379150 h 2379150"/>
                  <a:gd name="connsiteX3" fmla="*/ 0 w 2379150"/>
                  <a:gd name="connsiteY3" fmla="*/ 1189575 h 2379150"/>
                  <a:gd name="connsiteX4" fmla="*/ 1189575 w 2379150"/>
                  <a:gd name="connsiteY4" fmla="*/ 0 h 237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9150" h="2379150">
                    <a:moveTo>
                      <a:pt x="1189575" y="0"/>
                    </a:moveTo>
                    <a:cubicBezTo>
                      <a:pt x="1846559" y="0"/>
                      <a:pt x="2379150" y="532591"/>
                      <a:pt x="2379150" y="1189575"/>
                    </a:cubicBezTo>
                    <a:cubicBezTo>
                      <a:pt x="2379150" y="1846559"/>
                      <a:pt x="1846559" y="2379150"/>
                      <a:pt x="1189575" y="2379150"/>
                    </a:cubicBezTo>
                    <a:cubicBezTo>
                      <a:pt x="532591" y="2379150"/>
                      <a:pt x="0" y="1846559"/>
                      <a:pt x="0" y="1189575"/>
                    </a:cubicBezTo>
                    <a:cubicBezTo>
                      <a:pt x="0" y="532591"/>
                      <a:pt x="532591" y="0"/>
                      <a:pt x="1189575" y="0"/>
                    </a:cubicBezTo>
                    <a:close/>
                  </a:path>
                </a:pathLst>
              </a:custGeom>
            </p:spPr>
          </p:pic>
        </p:grpSp>
      </p:grpSp>
      <p:sp>
        <p:nvSpPr>
          <p:cNvPr id="195" name="文本框 194"/>
          <p:cNvSpPr txBox="1"/>
          <p:nvPr/>
        </p:nvSpPr>
        <p:spPr>
          <a:xfrm>
            <a:off x="8331200" y="4411980"/>
            <a:ext cx="1174750" cy="242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分子筛膜层</a:t>
            </a:r>
            <a:endParaRPr lang="zh-CN" altLang="en-US" sz="1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8331200" y="5666105"/>
            <a:ext cx="1435100" cy="243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多孔陶瓷载体</a:t>
            </a:r>
            <a:endParaRPr lang="zh-CN" altLang="en-US" sz="1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7" name="直接箭头连接符 196"/>
          <p:cNvCxnSpPr/>
          <p:nvPr/>
        </p:nvCxnSpPr>
        <p:spPr>
          <a:xfrm flipV="1">
            <a:off x="10016490" y="3452495"/>
            <a:ext cx="5715" cy="13449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07805" y="329765"/>
            <a:ext cx="40126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）溶剂脱水膜市场</a:t>
            </a:r>
            <a:endParaRPr lang="zh-CN" altLang="en-US" sz="3000" b="1" spc="100" dirty="0"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1920" y="1622926"/>
            <a:ext cx="4341372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4572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国内主要有机溶剂产能约为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5000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万吨</a:t>
            </a:r>
            <a:r>
              <a:rPr lang="zh-CN" altLang="en-US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，加上循环使用产能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超过亿吨</a:t>
            </a:r>
            <a:r>
              <a:rPr lang="zh-CN" altLang="en-US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，具有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百亿级脱水市场规模</a:t>
            </a:r>
            <a:r>
              <a:rPr lang="zh-CN" altLang="en-US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6422" y="1053993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我国有机溶剂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306973" y="3234579"/>
          <a:ext cx="4106319" cy="356083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744604"/>
                <a:gridCol w="1102768"/>
                <a:gridCol w="1310127"/>
                <a:gridCol w="948820"/>
              </a:tblGrid>
              <a:tr h="48953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序号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溶剂种类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产能／万吨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年份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2F5597"/>
                    </a:solidFill>
                  </a:tcPr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燃料乙醇</a:t>
                      </a:r>
                      <a:endParaRPr lang="zh-CN" alt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1226.5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2023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工业乙醇</a:t>
                      </a:r>
                      <a:endParaRPr lang="zh-CN" altLang="en-US" sz="1600" b="1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141.4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2023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乙腈</a:t>
                      </a:r>
                      <a:endParaRPr lang="zh-CN" altLang="en-US" sz="16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25.9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2023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4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异丙醇</a:t>
                      </a:r>
                      <a:endParaRPr lang="zh-CN" altLang="en-US" sz="16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46.99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2023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5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四氢呋喃</a:t>
                      </a:r>
                      <a:endParaRPr lang="zh-CN" altLang="en-US" sz="16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8.73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2021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乙酸乙酯</a:t>
                      </a:r>
                      <a:endParaRPr lang="zh-CN" altLang="en-US" sz="16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1056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2022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7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丙酮</a:t>
                      </a:r>
                      <a:endParaRPr lang="zh-CN" altLang="en-US" sz="16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259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2023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甲苯</a:t>
                      </a:r>
                      <a:endParaRPr lang="zh-CN" altLang="en-US" sz="16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1287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2022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3412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</a:t>
                      </a:r>
                      <a:endParaRPr lang="en-US" altLang="zh-CN" sz="1600" b="1" i="0" u="none" strike="noStrike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600" b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其他</a:t>
                      </a:r>
                      <a:endParaRPr lang="zh-CN" altLang="en-US" sz="16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~1000</a:t>
                      </a:r>
                      <a:endParaRPr lang="en-US" altLang="zh-CN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600" b="1" i="0" u="none" strike="noStrike" dirty="0">
                          <a:solidFill>
                            <a:srgbClr val="2F5597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2023</a:t>
                      </a:r>
                      <a:endParaRPr lang="zh-CN" altLang="en-US" sz="1600" b="1" i="0" u="none" strike="noStrike" dirty="0">
                        <a:solidFill>
                          <a:srgbClr val="2F5597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340872" y="2809626"/>
            <a:ext cx="402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国内主要有机溶剂产能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5382895" y="1724660"/>
          <a:ext cx="5784215" cy="403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510"/>
                <a:gridCol w="1727835"/>
                <a:gridCol w="1325245"/>
                <a:gridCol w="1571625"/>
              </a:tblGrid>
              <a:tr h="5327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省份</a:t>
                      </a:r>
                      <a:endParaRPr lang="zh-CN" altLang="en-US" sz="1600" dirty="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产能（万吨）</a:t>
                      </a:r>
                      <a:endParaRPr lang="zh-CN" altLang="en-US" sz="1600" dirty="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省份</a:t>
                      </a:r>
                      <a:endParaRPr lang="zh-CN" altLang="en-US" sz="1600" dirty="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产能（万吨）</a:t>
                      </a:r>
                      <a:endParaRPr lang="zh-CN" altLang="en-US" sz="1600" dirty="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黑龙江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384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四川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30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吉林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205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云南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26.3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河南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161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贵州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6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460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山东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123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河北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24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25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江苏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120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江西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21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广西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80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广东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18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安徽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102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湖北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12.5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陕西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65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湖南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6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内蒙古</a:t>
                      </a:r>
                      <a:endParaRPr lang="zh-CN" alt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44</a:t>
                      </a:r>
                      <a:endParaRPr lang="en-US" altLang="zh-CN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8935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合计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1427.8</a:t>
                      </a:r>
                      <a:endParaRPr lang="en-US" altLang="zh-CN" sz="1600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6799580" y="1224280"/>
            <a:ext cx="33286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我国生物乙醇主要分布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782185" y="5859780"/>
            <a:ext cx="7234555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4572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以</a:t>
            </a:r>
            <a:r>
              <a:rPr lang="zh-CN" altLang="en-US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乙醇市场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为例，国内</a:t>
            </a:r>
            <a:r>
              <a:rPr lang="zh-CN" altLang="en-US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乙醇产能约为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1600</a:t>
            </a:r>
            <a:r>
              <a:rPr lang="zh-CN" altLang="en-US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多万吨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，膜装备市场需求仅在乙醇生产行业就</a:t>
            </a:r>
            <a:r>
              <a:rPr lang="zh-CN" altLang="en-US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超过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20</a:t>
            </a:r>
            <a:r>
              <a:rPr lang="zh-CN" altLang="en-US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亿元</a:t>
            </a:r>
            <a:r>
              <a:rPr lang="zh-CN" altLang="en-US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3356961" y="227402"/>
            <a:ext cx="282000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应用案例（</a:t>
            </a:r>
            <a:r>
              <a:rPr lang="en-US" altLang="zh-CN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000" b="1" spc="100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85"/>
          <p:cNvSpPr/>
          <p:nvPr>
            <p:custDataLst>
              <p:tags r:id="rId1"/>
            </p:custDataLst>
          </p:nvPr>
        </p:nvSpPr>
        <p:spPr>
          <a:xfrm>
            <a:off x="6122035" y="4612640"/>
            <a:ext cx="5658485" cy="1554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6073536" y="2092459"/>
            <a:ext cx="5702437" cy="2361182"/>
            <a:chOff x="426722" y="3673400"/>
            <a:chExt cx="5471685" cy="1825996"/>
          </a:xfrm>
        </p:grpSpPr>
        <p:sp>
          <p:nvSpPr>
            <p:cNvPr id="88" name="矩形 87"/>
            <p:cNvSpPr/>
            <p:nvPr/>
          </p:nvSpPr>
          <p:spPr>
            <a:xfrm>
              <a:off x="468313" y="3720970"/>
              <a:ext cx="5430094" cy="17784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426722" y="3673400"/>
              <a:ext cx="1377311" cy="490201"/>
              <a:chOff x="426722" y="1768438"/>
              <a:chExt cx="1377311" cy="490201"/>
            </a:xfrm>
          </p:grpSpPr>
          <p:sp>
            <p:nvSpPr>
              <p:cNvPr id="90" name="任意多边形: 形状 94"/>
              <p:cNvSpPr/>
              <p:nvPr/>
            </p:nvSpPr>
            <p:spPr>
              <a:xfrm>
                <a:off x="426722" y="1778557"/>
                <a:ext cx="1331911" cy="418746"/>
              </a:xfrm>
              <a:custGeom>
                <a:avLst/>
                <a:gdLst>
                  <a:gd name="connsiteX0" fmla="*/ 0 w 1331911"/>
                  <a:gd name="connsiteY0" fmla="*/ 0 h 497436"/>
                  <a:gd name="connsiteX1" fmla="*/ 1331911 w 1331911"/>
                  <a:gd name="connsiteY1" fmla="*/ 0 h 497436"/>
                  <a:gd name="connsiteX2" fmla="*/ 1207552 w 1331911"/>
                  <a:gd name="connsiteY2" fmla="*/ 497436 h 497436"/>
                  <a:gd name="connsiteX3" fmla="*/ 0 w 1331911"/>
                  <a:gd name="connsiteY3" fmla="*/ 497436 h 497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911" h="497436">
                    <a:moveTo>
                      <a:pt x="0" y="0"/>
                    </a:moveTo>
                    <a:lnTo>
                      <a:pt x="1331911" y="0"/>
                    </a:lnTo>
                    <a:lnTo>
                      <a:pt x="1207552" y="497436"/>
                    </a:lnTo>
                    <a:lnTo>
                      <a:pt x="0" y="497436"/>
                    </a:lnTo>
                    <a:close/>
                  </a:path>
                </a:pathLst>
              </a:custGeom>
              <a:solidFill>
                <a:srgbClr val="0041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32465" y="1768438"/>
                <a:ext cx="1171568" cy="430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6858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4158"/>
                  </a:buClr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新工艺</a:t>
                </a: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" name="直角三角形 91"/>
              <p:cNvSpPr/>
              <p:nvPr/>
            </p:nvSpPr>
            <p:spPr>
              <a:xfrm flipH="1" flipV="1">
                <a:off x="426722" y="2197492"/>
                <a:ext cx="45719" cy="61147"/>
              </a:xfrm>
              <a:prstGeom prst="rtTriangle">
                <a:avLst/>
              </a:prstGeom>
              <a:solidFill>
                <a:srgbClr val="004158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</p:grpSp>
      </p:grpSp>
      <p:sp>
        <p:nvSpPr>
          <p:cNvPr id="93" name="矩形 92"/>
          <p:cNvSpPr/>
          <p:nvPr/>
        </p:nvSpPr>
        <p:spPr>
          <a:xfrm>
            <a:off x="461644" y="2098389"/>
            <a:ext cx="5595443" cy="23611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427029" y="2064641"/>
            <a:ext cx="1204207" cy="529400"/>
            <a:chOff x="132512" y="1568926"/>
            <a:chExt cx="1339587" cy="512510"/>
          </a:xfrm>
        </p:grpSpPr>
        <p:sp>
          <p:nvSpPr>
            <p:cNvPr id="95" name="任意多边形: 形状 74"/>
            <p:cNvSpPr/>
            <p:nvPr/>
          </p:nvSpPr>
          <p:spPr>
            <a:xfrm>
              <a:off x="132512" y="1601543"/>
              <a:ext cx="1331911" cy="418746"/>
            </a:xfrm>
            <a:custGeom>
              <a:avLst/>
              <a:gdLst>
                <a:gd name="connsiteX0" fmla="*/ 0 w 1331911"/>
                <a:gd name="connsiteY0" fmla="*/ 0 h 497436"/>
                <a:gd name="connsiteX1" fmla="*/ 1331911 w 1331911"/>
                <a:gd name="connsiteY1" fmla="*/ 0 h 497436"/>
                <a:gd name="connsiteX2" fmla="*/ 1207552 w 1331911"/>
                <a:gd name="connsiteY2" fmla="*/ 497436 h 497436"/>
                <a:gd name="connsiteX3" fmla="*/ 0 w 1331911"/>
                <a:gd name="connsiteY3" fmla="*/ 497436 h 49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1911" h="497436">
                  <a:moveTo>
                    <a:pt x="0" y="0"/>
                  </a:moveTo>
                  <a:lnTo>
                    <a:pt x="1331911" y="0"/>
                  </a:lnTo>
                  <a:lnTo>
                    <a:pt x="1207552" y="497436"/>
                  </a:lnTo>
                  <a:lnTo>
                    <a:pt x="0" y="497436"/>
                  </a:lnTo>
                  <a:close/>
                </a:path>
              </a:pathLst>
            </a:custGeom>
            <a:solidFill>
              <a:srgbClr val="0041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300531" y="1568926"/>
              <a:ext cx="1171568" cy="4304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6858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158"/>
                </a:buClr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原工艺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7" name="直角三角形 96"/>
            <p:cNvSpPr/>
            <p:nvPr/>
          </p:nvSpPr>
          <p:spPr>
            <a:xfrm flipH="1" flipV="1">
              <a:off x="132512" y="2020289"/>
              <a:ext cx="45719" cy="61147"/>
            </a:xfrm>
            <a:prstGeom prst="rtTriangle">
              <a:avLst/>
            </a:prstGeom>
            <a:solidFill>
              <a:srgbClr val="0041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aphicFrame>
        <p:nvGraphicFramePr>
          <p:cNvPr id="98" name="表格 9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995" y="4612640"/>
          <a:ext cx="5589905" cy="155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1620"/>
                <a:gridCol w="1812290"/>
                <a:gridCol w="2245995"/>
              </a:tblGrid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蒸汽（</a:t>
                      </a:r>
                      <a:r>
                        <a:rPr kumimoji="0" lang="en-US" altLang="zh-CN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t/t</a:t>
                      </a:r>
                      <a:r>
                        <a:rPr kumimoji="0" lang="zh-CN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产品）</a:t>
                      </a:r>
                      <a:endParaRPr kumimoji="0" lang="zh-CN" altLang="en-US" sz="14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综合费用（元</a:t>
                      </a:r>
                      <a:r>
                        <a:rPr kumimoji="0" lang="en-US" altLang="zh-CN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/t</a:t>
                      </a:r>
                      <a:r>
                        <a:rPr kumimoji="0" lang="zh-CN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产品）</a:t>
                      </a:r>
                      <a:endParaRPr kumimoji="0" lang="zh-CN" altLang="en-US" sz="14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5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萃取精馏</a:t>
                      </a:r>
                      <a:endParaRPr kumimoji="0" lang="en-US" altLang="zh-CN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2.2</a:t>
                      </a:r>
                      <a:endParaRPr kumimoji="0" lang="en-US" altLang="zh-CN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488</a:t>
                      </a:r>
                      <a:endParaRPr lang="zh-CN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D7E">
                        <a:alpha val="8000"/>
                      </a:srgbClr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精馏</a:t>
                      </a:r>
                      <a:r>
                        <a:rPr kumimoji="0" lang="en-US" altLang="zh-CN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zh-CN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膜耦合</a:t>
                      </a:r>
                      <a:endParaRPr kumimoji="0" lang="en-US" altLang="zh-CN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0.85</a:t>
                      </a:r>
                      <a:endParaRPr kumimoji="0" lang="en-US" altLang="zh-CN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192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D7E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99" name="组合 98"/>
          <p:cNvGrpSpPr/>
          <p:nvPr/>
        </p:nvGrpSpPr>
        <p:grpSpPr>
          <a:xfrm>
            <a:off x="6816437" y="2788488"/>
            <a:ext cx="3575075" cy="1219476"/>
            <a:chOff x="1826963" y="2464348"/>
            <a:chExt cx="3575075" cy="1219476"/>
          </a:xfrm>
        </p:grpSpPr>
        <p:sp>
          <p:nvSpPr>
            <p:cNvPr id="100" name="Line 92"/>
            <p:cNvSpPr>
              <a:spLocks noChangeShapeType="1"/>
            </p:cNvSpPr>
            <p:nvPr/>
          </p:nvSpPr>
          <p:spPr bwMode="auto">
            <a:xfrm flipV="1">
              <a:off x="1826963" y="3125383"/>
              <a:ext cx="706755" cy="762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Rectangle 25"/>
            <p:cNvSpPr>
              <a:spLocks noChangeArrowheads="1"/>
            </p:cNvSpPr>
            <p:nvPr/>
          </p:nvSpPr>
          <p:spPr bwMode="auto">
            <a:xfrm>
              <a:off x="2556596" y="2933635"/>
              <a:ext cx="622501" cy="392178"/>
            </a:xfrm>
            <a:prstGeom prst="rect">
              <a:avLst/>
            </a:prstGeom>
            <a:solidFill>
              <a:srgbClr val="005D7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2563121" y="2967694"/>
              <a:ext cx="615977" cy="3444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158"/>
                </a:buClr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精馏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03" name="直接连接符 102"/>
            <p:cNvCxnSpPr/>
            <p:nvPr/>
          </p:nvCxnSpPr>
          <p:spPr>
            <a:xfrm>
              <a:off x="2822425" y="3331084"/>
              <a:ext cx="0" cy="21857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/>
            <p:nvPr/>
          </p:nvCxnSpPr>
          <p:spPr>
            <a:xfrm>
              <a:off x="2822425" y="3549662"/>
              <a:ext cx="180000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Box 285"/>
            <p:cNvSpPr txBox="1">
              <a:spLocks noChangeArrowheads="1"/>
            </p:cNvSpPr>
            <p:nvPr/>
          </p:nvSpPr>
          <p:spPr bwMode="auto">
            <a:xfrm>
              <a:off x="2943879" y="3376047"/>
              <a:ext cx="988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杂质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盐分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3154263" y="2464348"/>
              <a:ext cx="2247775" cy="899508"/>
              <a:chOff x="2460491" y="4067720"/>
              <a:chExt cx="2247775" cy="899508"/>
            </a:xfrm>
          </p:grpSpPr>
          <p:sp>
            <p:nvSpPr>
              <p:cNvPr id="107" name="Line 92"/>
              <p:cNvSpPr>
                <a:spLocks noChangeShapeType="1"/>
              </p:cNvSpPr>
              <p:nvPr/>
            </p:nvSpPr>
            <p:spPr bwMode="auto">
              <a:xfrm flipV="1">
                <a:off x="2485325" y="4735318"/>
                <a:ext cx="644815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8" name="Rectangle 25"/>
              <p:cNvSpPr>
                <a:spLocks noChangeArrowheads="1"/>
              </p:cNvSpPr>
              <p:nvPr/>
            </p:nvSpPr>
            <p:spPr bwMode="auto">
              <a:xfrm>
                <a:off x="3169846" y="4487750"/>
                <a:ext cx="727804" cy="479478"/>
              </a:xfrm>
              <a:prstGeom prst="rect">
                <a:avLst/>
              </a:prstGeom>
              <a:solidFill>
                <a:srgbClr val="A7D6FF"/>
              </a:solidFill>
              <a:ln w="25400" cap="flat" cmpd="sng" algn="ctr">
                <a:solidFill>
                  <a:schemeClr val="bg1">
                    <a:lumMod val="65000"/>
                  </a:schemeClr>
                </a:solidFill>
                <a:prstDash val="solid"/>
              </a:ln>
              <a:effectLst/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zh-CN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Line 77"/>
              <p:cNvSpPr>
                <a:spLocks noChangeShapeType="1"/>
              </p:cNvSpPr>
              <p:nvPr/>
            </p:nvSpPr>
            <p:spPr bwMode="auto">
              <a:xfrm flipH="1">
                <a:off x="3169845" y="4487750"/>
                <a:ext cx="727803" cy="479478"/>
              </a:xfrm>
              <a:prstGeom prst="line">
                <a:avLst/>
              </a:prstGeom>
              <a:ln w="19050">
                <a:solidFill>
                  <a:srgbClr val="00A0E9"/>
                </a:solidFill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90000" tIns="46800" rIns="90000" bIns="4680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0" name="Line 92"/>
              <p:cNvSpPr>
                <a:spLocks noChangeShapeType="1"/>
              </p:cNvSpPr>
              <p:nvPr/>
            </p:nvSpPr>
            <p:spPr bwMode="auto">
              <a:xfrm flipV="1">
                <a:off x="3897651" y="4719951"/>
                <a:ext cx="247278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111" name="直接连接符 110"/>
              <p:cNvCxnSpPr/>
              <p:nvPr/>
            </p:nvCxnSpPr>
            <p:spPr>
              <a:xfrm>
                <a:off x="3545699" y="4176915"/>
                <a:ext cx="0" cy="304776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/>
              <p:nvPr/>
            </p:nvCxnSpPr>
            <p:spPr>
              <a:xfrm>
                <a:off x="3544269" y="4176915"/>
                <a:ext cx="521232" cy="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3" name="TextBox 8"/>
              <p:cNvSpPr txBox="1"/>
              <p:nvPr/>
            </p:nvSpPr>
            <p:spPr bwMode="auto">
              <a:xfrm>
                <a:off x="2460491" y="4353235"/>
                <a:ext cx="71480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蒸气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4" name="TextBox 285"/>
              <p:cNvSpPr txBox="1">
                <a:spLocks noChangeArrowheads="1"/>
              </p:cNvSpPr>
              <p:nvPr/>
            </p:nvSpPr>
            <p:spPr bwMode="auto">
              <a:xfrm>
                <a:off x="4070386" y="4067720"/>
                <a:ext cx="63788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乙醇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TextBox 285"/>
              <p:cNvSpPr txBox="1">
                <a:spLocks noChangeArrowheads="1"/>
              </p:cNvSpPr>
              <p:nvPr/>
            </p:nvSpPr>
            <p:spPr bwMode="auto">
              <a:xfrm>
                <a:off x="4116354" y="4560137"/>
                <a:ext cx="540232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水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6" name="TextBox 156"/>
              <p:cNvSpPr txBox="1">
                <a:spLocks noChangeArrowheads="1"/>
              </p:cNvSpPr>
              <p:nvPr/>
            </p:nvSpPr>
            <p:spPr bwMode="auto">
              <a:xfrm>
                <a:off x="3385588" y="4558212"/>
                <a:ext cx="296320" cy="338554"/>
              </a:xfrm>
              <a:prstGeom prst="rect">
                <a:avLst/>
              </a:prstGeom>
              <a:solidFill>
                <a:srgbClr val="00A0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R="0" lvl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6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defRPr>
                </a:lvl1pPr>
                <a:lvl2pPr>
                  <a:defRPr sz="2800">
                    <a:latin typeface="Arial" panose="020B0604020202020204" pitchFamily="34" charset="0"/>
                  </a:defRPr>
                </a:lvl2pPr>
                <a:lvl3pPr>
                  <a:defRPr sz="2400">
                    <a:latin typeface="Arial" panose="020B0604020202020204" pitchFamily="34" charset="0"/>
                  </a:defRPr>
                </a:lvl3pPr>
                <a:lvl4pPr>
                  <a:defRPr sz="2000">
                    <a:latin typeface="Arial" panose="020B0604020202020204" pitchFamily="34" charset="0"/>
                  </a:defRPr>
                </a:lvl4pPr>
                <a:lvl5pPr>
                  <a:defRPr sz="2000">
                    <a:latin typeface="Arial" panose="020B0604020202020204" pitchFamily="34" charset="0"/>
                  </a:defRPr>
                </a:lvl5pPr>
                <a:lvl6pPr>
                  <a:defRPr sz="2000">
                    <a:latin typeface="Arial" panose="020B0604020202020204" pitchFamily="34" charset="0"/>
                  </a:defRPr>
                </a:lvl6pPr>
                <a:lvl7pPr>
                  <a:defRPr sz="2000">
                    <a:latin typeface="Arial" panose="020B0604020202020204" pitchFamily="34" charset="0"/>
                  </a:defRPr>
                </a:lvl7pPr>
                <a:lvl8pPr>
                  <a:defRPr sz="2000">
                    <a:latin typeface="Arial" panose="020B0604020202020204" pitchFamily="34" charset="0"/>
                  </a:defRPr>
                </a:lvl8pPr>
                <a:lvl9pPr>
                  <a:defRPr sz="2000"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膜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17" name="Rectangle 7"/>
          <p:cNvSpPr>
            <a:spLocks noChangeArrowheads="1"/>
          </p:cNvSpPr>
          <p:nvPr/>
        </p:nvSpPr>
        <p:spPr bwMode="auto">
          <a:xfrm>
            <a:off x="7423684" y="2835739"/>
            <a:ext cx="3605903" cy="1394044"/>
          </a:xfrm>
          <a:prstGeom prst="rect">
            <a:avLst/>
          </a:prstGeom>
          <a:noFill/>
          <a:ln w="28575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8551979" y="2385836"/>
            <a:ext cx="1196579" cy="311864"/>
            <a:chOff x="3110517" y="3857841"/>
            <a:chExt cx="1196579" cy="311864"/>
          </a:xfrm>
        </p:grpSpPr>
        <p:sp>
          <p:nvSpPr>
            <p:cNvPr id="119" name="矩形 118"/>
            <p:cNvSpPr/>
            <p:nvPr/>
          </p:nvSpPr>
          <p:spPr>
            <a:xfrm>
              <a:off x="3110517" y="3857841"/>
              <a:ext cx="1196579" cy="311864"/>
            </a:xfrm>
            <a:prstGeom prst="rect">
              <a:avLst/>
            </a:prstGeom>
            <a:solidFill>
              <a:srgbClr val="B400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3257400" y="3859885"/>
              <a:ext cx="9028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耦合技术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21" name="TextBox 8"/>
          <p:cNvSpPr txBox="1"/>
          <p:nvPr/>
        </p:nvSpPr>
        <p:spPr bwMode="auto">
          <a:xfrm>
            <a:off x="9280827" y="2952165"/>
            <a:ext cx="130048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99.6wt.%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6412509" y="3096351"/>
            <a:ext cx="8940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乙醇溶媒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706606" y="2472788"/>
            <a:ext cx="5111442" cy="1662036"/>
            <a:chOff x="798499" y="2883227"/>
            <a:chExt cx="4537710" cy="1390984"/>
          </a:xfrm>
        </p:grpSpPr>
        <p:grpSp>
          <p:nvGrpSpPr>
            <p:cNvPr id="124" name="组合 123"/>
            <p:cNvGrpSpPr/>
            <p:nvPr/>
          </p:nvGrpSpPr>
          <p:grpSpPr>
            <a:xfrm>
              <a:off x="1227288" y="2883227"/>
              <a:ext cx="4108921" cy="1390984"/>
              <a:chOff x="1877103" y="2063943"/>
              <a:chExt cx="4108796" cy="1391081"/>
            </a:xfrm>
          </p:grpSpPr>
          <p:sp>
            <p:nvSpPr>
              <p:cNvPr id="127" name="TextBox 285"/>
              <p:cNvSpPr txBox="1">
                <a:spLocks noChangeArrowheads="1"/>
              </p:cNvSpPr>
              <p:nvPr/>
            </p:nvSpPr>
            <p:spPr bwMode="auto">
              <a:xfrm>
                <a:off x="5424795" y="2547284"/>
                <a:ext cx="540232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水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28" name="组合 127"/>
              <p:cNvGrpSpPr/>
              <p:nvPr/>
            </p:nvGrpSpPr>
            <p:grpSpPr>
              <a:xfrm>
                <a:off x="1877103" y="2063943"/>
                <a:ext cx="4108796" cy="1391081"/>
                <a:chOff x="1671827" y="2301465"/>
                <a:chExt cx="4328074" cy="1465320"/>
              </a:xfrm>
            </p:grpSpPr>
            <p:sp>
              <p:nvSpPr>
                <p:cNvPr id="129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1671827" y="3178439"/>
                  <a:ext cx="744450" cy="669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" name="Rectangle 25"/>
                <p:cNvSpPr>
                  <a:spLocks noChangeArrowheads="1"/>
                </p:cNvSpPr>
                <p:nvPr/>
              </p:nvSpPr>
              <p:spPr bwMode="auto">
                <a:xfrm>
                  <a:off x="2440389" y="2976560"/>
                  <a:ext cx="655723" cy="413108"/>
                </a:xfrm>
                <a:prstGeom prst="rect">
                  <a:avLst/>
                </a:prstGeom>
                <a:solidFill>
                  <a:srgbClr val="005D7E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131" name="Line 92"/>
                <p:cNvSpPr>
                  <a:spLocks noChangeShapeType="1"/>
                </p:cNvSpPr>
                <p:nvPr/>
              </p:nvSpPr>
              <p:spPr bwMode="auto">
                <a:xfrm>
                  <a:off x="3096989" y="3178156"/>
                  <a:ext cx="445088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" name="Rectangle 25"/>
                <p:cNvSpPr>
                  <a:spLocks noChangeArrowheads="1"/>
                </p:cNvSpPr>
                <p:nvPr/>
              </p:nvSpPr>
              <p:spPr bwMode="auto">
                <a:xfrm>
                  <a:off x="3542077" y="2982112"/>
                  <a:ext cx="650158" cy="413108"/>
                </a:xfrm>
                <a:prstGeom prst="rect">
                  <a:avLst/>
                </a:prstGeom>
                <a:solidFill>
                  <a:srgbClr val="005D7E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133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4199828" y="3183114"/>
                  <a:ext cx="530999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" name="Rectangle 25"/>
                <p:cNvSpPr>
                  <a:spLocks noChangeArrowheads="1"/>
                </p:cNvSpPr>
                <p:nvPr/>
              </p:nvSpPr>
              <p:spPr bwMode="auto">
                <a:xfrm>
                  <a:off x="4738420" y="2972703"/>
                  <a:ext cx="656373" cy="413108"/>
                </a:xfrm>
                <a:prstGeom prst="rect">
                  <a:avLst/>
                </a:prstGeom>
                <a:solidFill>
                  <a:srgbClr val="005D7E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135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5407025" y="3179628"/>
                  <a:ext cx="316528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cxnSp>
              <p:nvCxnSpPr>
                <p:cNvPr id="136" name="直接连接符 135"/>
                <p:cNvCxnSpPr/>
                <p:nvPr/>
              </p:nvCxnSpPr>
              <p:spPr>
                <a:xfrm flipV="1">
                  <a:off x="5066606" y="2647566"/>
                  <a:ext cx="0" cy="300044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连接符 136"/>
                <p:cNvCxnSpPr/>
                <p:nvPr/>
              </p:nvCxnSpPr>
              <p:spPr>
                <a:xfrm flipH="1">
                  <a:off x="3951578" y="2647566"/>
                  <a:ext cx="1115028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箭头连接符 137"/>
                <p:cNvCxnSpPr/>
                <p:nvPr/>
              </p:nvCxnSpPr>
              <p:spPr>
                <a:xfrm>
                  <a:off x="3951578" y="2647566"/>
                  <a:ext cx="0" cy="3247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箭头连接符 138"/>
                <p:cNvCxnSpPr/>
                <p:nvPr/>
              </p:nvCxnSpPr>
              <p:spPr>
                <a:xfrm>
                  <a:off x="3744172" y="2627329"/>
                  <a:ext cx="1" cy="35185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>
                  <a:stCxn id="132" idx="2"/>
                </p:cNvCxnSpPr>
                <p:nvPr/>
              </p:nvCxnSpPr>
              <p:spPr>
                <a:xfrm>
                  <a:off x="3867156" y="3395220"/>
                  <a:ext cx="0" cy="230243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箭头连接符 140"/>
                <p:cNvCxnSpPr/>
                <p:nvPr/>
              </p:nvCxnSpPr>
              <p:spPr>
                <a:xfrm>
                  <a:off x="3867156" y="3625463"/>
                  <a:ext cx="458740" cy="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2" name="矩形 141"/>
                <p:cNvSpPr/>
                <p:nvPr/>
              </p:nvSpPr>
              <p:spPr>
                <a:xfrm>
                  <a:off x="2447262" y="3012437"/>
                  <a:ext cx="648850" cy="36279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4158"/>
                    </a:buClr>
                    <a:buSzTx/>
                    <a:buFontTx/>
                    <a:buNone/>
                    <a:defRPr/>
                  </a:pPr>
                  <a:r>
                    <a: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精馏</a:t>
                  </a:r>
                  <a:endPara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3" name="矩形 142"/>
                <p:cNvSpPr/>
                <p:nvPr/>
              </p:nvSpPr>
              <p:spPr>
                <a:xfrm>
                  <a:off x="3543385" y="3012437"/>
                  <a:ext cx="648850" cy="36279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4158"/>
                    </a:buClr>
                    <a:buSzTx/>
                    <a:buFontTx/>
                    <a:buNone/>
                    <a:defRPr/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精馏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4" name="矩形 143"/>
                <p:cNvSpPr/>
                <p:nvPr/>
              </p:nvSpPr>
              <p:spPr>
                <a:xfrm>
                  <a:off x="4745943" y="3012437"/>
                  <a:ext cx="648850" cy="36279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4158"/>
                    </a:buClr>
                    <a:buSzTx/>
                    <a:buFontTx/>
                    <a:buNone/>
                    <a:defRPr/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精馏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5" name="TextBox 285"/>
                <p:cNvSpPr txBox="1">
                  <a:spLocks noChangeArrowheads="1"/>
                </p:cNvSpPr>
                <p:nvPr/>
              </p:nvSpPr>
              <p:spPr bwMode="auto">
                <a:xfrm>
                  <a:off x="3331489" y="2301465"/>
                  <a:ext cx="1115249" cy="324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乙二醇</a:t>
                  </a: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6" name="TextBox 285"/>
                <p:cNvSpPr txBox="1">
                  <a:spLocks noChangeArrowheads="1"/>
                </p:cNvSpPr>
                <p:nvPr/>
              </p:nvSpPr>
              <p:spPr bwMode="auto">
                <a:xfrm>
                  <a:off x="4273961" y="3442583"/>
                  <a:ext cx="829736" cy="324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乙醇</a:t>
                  </a: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7" name="TextBox 285"/>
                <p:cNvSpPr txBox="1">
                  <a:spLocks noChangeArrowheads="1"/>
                </p:cNvSpPr>
                <p:nvPr/>
              </p:nvSpPr>
              <p:spPr bwMode="auto">
                <a:xfrm>
                  <a:off x="4678242" y="3442583"/>
                  <a:ext cx="1321659" cy="324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（</a:t>
                  </a:r>
                  <a:r>
                    <a:rPr kumimoji="0" lang="en-US" altLang="zh-CN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99.5wt.%</a:t>
                  </a:r>
                  <a:r>
                    <a: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）</a:t>
                  </a: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148" name="直接连接符 147"/>
                <p:cNvCxnSpPr/>
                <p:nvPr/>
              </p:nvCxnSpPr>
              <p:spPr>
                <a:xfrm>
                  <a:off x="2720405" y="3395220"/>
                  <a:ext cx="0" cy="230243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箭头连接符 148"/>
                <p:cNvCxnSpPr/>
                <p:nvPr/>
              </p:nvCxnSpPr>
              <p:spPr>
                <a:xfrm>
                  <a:off x="2720405" y="3625463"/>
                  <a:ext cx="189606" cy="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0" name="TextBox 285"/>
                <p:cNvSpPr txBox="1">
                  <a:spLocks noChangeArrowheads="1"/>
                </p:cNvSpPr>
                <p:nvPr/>
              </p:nvSpPr>
              <p:spPr bwMode="auto">
                <a:xfrm>
                  <a:off x="2848341" y="3442583"/>
                  <a:ext cx="1041506" cy="324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杂质</a:t>
                  </a:r>
                  <a:r>
                    <a:rPr kumimoji="0" lang="en-US" altLang="zh-CN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/</a:t>
                  </a:r>
                  <a:r>
                    <a: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盐分</a:t>
                  </a: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sp>
          <p:nvSpPr>
            <p:cNvPr id="125" name="文本框 124"/>
            <p:cNvSpPr txBox="1"/>
            <p:nvPr/>
          </p:nvSpPr>
          <p:spPr>
            <a:xfrm>
              <a:off x="923594" y="3354097"/>
              <a:ext cx="902811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乙醇溶媒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798499" y="3747162"/>
              <a:ext cx="1167307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（85wt.%）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sp>
        <p:nvSpPr>
          <p:cNvPr id="151" name="文本框 150"/>
          <p:cNvSpPr txBox="1"/>
          <p:nvPr/>
        </p:nvSpPr>
        <p:spPr>
          <a:xfrm>
            <a:off x="6309639" y="3516721"/>
            <a:ext cx="115379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（85wt.%）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52" name="TextBox 208"/>
          <p:cNvSpPr txBox="1">
            <a:spLocks noChangeArrowheads="1"/>
          </p:cNvSpPr>
          <p:nvPr/>
        </p:nvSpPr>
        <p:spPr bwMode="auto">
          <a:xfrm>
            <a:off x="0" y="1179195"/>
            <a:ext cx="12192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面向医药生产过程的乙醇溶媒回收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3" name="组合 152"/>
          <p:cNvGrpSpPr/>
          <p:nvPr/>
        </p:nvGrpSpPr>
        <p:grpSpPr>
          <a:xfrm>
            <a:off x="10236311" y="1292931"/>
            <a:ext cx="1371600" cy="1371600"/>
            <a:chOff x="5236871" y="3709083"/>
            <a:chExt cx="1371600" cy="1371600"/>
          </a:xfrm>
        </p:grpSpPr>
        <p:sp>
          <p:nvSpPr>
            <p:cNvPr id="154" name="星形: 十角 4"/>
            <p:cNvSpPr/>
            <p:nvPr/>
          </p:nvSpPr>
          <p:spPr>
            <a:xfrm>
              <a:off x="5236871" y="3709083"/>
              <a:ext cx="1371600" cy="1371600"/>
            </a:xfrm>
            <a:prstGeom prst="star10">
              <a:avLst/>
            </a:prstGeom>
            <a:solidFill>
              <a:srgbClr val="B4000D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155" name="组合 154"/>
            <p:cNvGrpSpPr/>
            <p:nvPr/>
          </p:nvGrpSpPr>
          <p:grpSpPr>
            <a:xfrm>
              <a:off x="5265278" y="4032091"/>
              <a:ext cx="1292789" cy="815603"/>
              <a:chOff x="5265278" y="4020085"/>
              <a:chExt cx="1292789" cy="815603"/>
            </a:xfrm>
          </p:grpSpPr>
          <p:sp>
            <p:nvSpPr>
              <p:cNvPr id="156" name="矩形 155"/>
              <p:cNvSpPr/>
              <p:nvPr/>
            </p:nvSpPr>
            <p:spPr>
              <a:xfrm>
                <a:off x="5265278" y="4020085"/>
                <a:ext cx="1292789" cy="3627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4158"/>
                  </a:buClr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节约能耗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7" name="矩形 156"/>
              <p:cNvSpPr/>
              <p:nvPr/>
            </p:nvSpPr>
            <p:spPr>
              <a:xfrm>
                <a:off x="5398605" y="4337731"/>
                <a:ext cx="1048132" cy="497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4158"/>
                  </a:buClr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60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%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58" name="자유형 77"/>
          <p:cNvSpPr/>
          <p:nvPr/>
        </p:nvSpPr>
        <p:spPr>
          <a:xfrm rot="4139432">
            <a:off x="9619481" y="2143620"/>
            <a:ext cx="777948" cy="508718"/>
          </a:xfrm>
          <a:custGeom>
            <a:avLst/>
            <a:gdLst>
              <a:gd name="connsiteX0" fmla="*/ 570016 w 2986644"/>
              <a:gd name="connsiteY0" fmla="*/ 397823 h 1056904"/>
              <a:gd name="connsiteX1" fmla="*/ 1490353 w 2986644"/>
              <a:gd name="connsiteY1" fmla="*/ 0 h 1056904"/>
              <a:gd name="connsiteX2" fmla="*/ 2398816 w 2986644"/>
              <a:gd name="connsiteY2" fmla="*/ 397823 h 1056904"/>
              <a:gd name="connsiteX3" fmla="*/ 2078182 w 2986644"/>
              <a:gd name="connsiteY3" fmla="*/ 397823 h 1056904"/>
              <a:gd name="connsiteX4" fmla="*/ 2986644 w 2986644"/>
              <a:gd name="connsiteY4" fmla="*/ 1045028 h 1056904"/>
              <a:gd name="connsiteX5" fmla="*/ 0 w 2986644"/>
              <a:gd name="connsiteY5" fmla="*/ 1056904 h 1056904"/>
              <a:gd name="connsiteX6" fmla="*/ 938151 w 2986644"/>
              <a:gd name="connsiteY6" fmla="*/ 415636 h 1056904"/>
              <a:gd name="connsiteX7" fmla="*/ 570016 w 2986644"/>
              <a:gd name="connsiteY7" fmla="*/ 397823 h 1056904"/>
              <a:gd name="connsiteX0-1" fmla="*/ 570016 w 2986644"/>
              <a:gd name="connsiteY0-2" fmla="*/ 397823 h 1056904"/>
              <a:gd name="connsiteX1-3" fmla="*/ 1490353 w 2986644"/>
              <a:gd name="connsiteY1-4" fmla="*/ 0 h 1056904"/>
              <a:gd name="connsiteX2-5" fmla="*/ 2398816 w 2986644"/>
              <a:gd name="connsiteY2-6" fmla="*/ 397823 h 1056904"/>
              <a:gd name="connsiteX3-7" fmla="*/ 2078182 w 2986644"/>
              <a:gd name="connsiteY3-8" fmla="*/ 397823 h 1056904"/>
              <a:gd name="connsiteX4-9" fmla="*/ 2986644 w 2986644"/>
              <a:gd name="connsiteY4-10" fmla="*/ 1045028 h 1056904"/>
              <a:gd name="connsiteX5-11" fmla="*/ 0 w 2986644"/>
              <a:gd name="connsiteY5-12" fmla="*/ 1056904 h 1056904"/>
              <a:gd name="connsiteX6-13" fmla="*/ 938151 w 2986644"/>
              <a:gd name="connsiteY6-14" fmla="*/ 415636 h 1056904"/>
              <a:gd name="connsiteX7-15" fmla="*/ 570016 w 2986644"/>
              <a:gd name="connsiteY7-16" fmla="*/ 397823 h 1056904"/>
              <a:gd name="connsiteX0-17" fmla="*/ 570016 w 2986644"/>
              <a:gd name="connsiteY0-18" fmla="*/ 397823 h 1056904"/>
              <a:gd name="connsiteX1-19" fmla="*/ 1490353 w 2986644"/>
              <a:gd name="connsiteY1-20" fmla="*/ 0 h 1056904"/>
              <a:gd name="connsiteX2-21" fmla="*/ 2398816 w 2986644"/>
              <a:gd name="connsiteY2-22" fmla="*/ 397823 h 1056904"/>
              <a:gd name="connsiteX3-23" fmla="*/ 2078182 w 2986644"/>
              <a:gd name="connsiteY3-24" fmla="*/ 397823 h 1056904"/>
              <a:gd name="connsiteX4-25" fmla="*/ 2986644 w 2986644"/>
              <a:gd name="connsiteY4-26" fmla="*/ 1045028 h 1056904"/>
              <a:gd name="connsiteX5-27" fmla="*/ 0 w 2986644"/>
              <a:gd name="connsiteY5-28" fmla="*/ 1056904 h 1056904"/>
              <a:gd name="connsiteX6-29" fmla="*/ 938151 w 2986644"/>
              <a:gd name="connsiteY6-30" fmla="*/ 415636 h 1056904"/>
              <a:gd name="connsiteX7-31" fmla="*/ 570016 w 2986644"/>
              <a:gd name="connsiteY7-32" fmla="*/ 397823 h 1056904"/>
              <a:gd name="connsiteX0-33" fmla="*/ 570016 w 2986644"/>
              <a:gd name="connsiteY0-34" fmla="*/ 397823 h 1056904"/>
              <a:gd name="connsiteX1-35" fmla="*/ 1490353 w 2986644"/>
              <a:gd name="connsiteY1-36" fmla="*/ 0 h 1056904"/>
              <a:gd name="connsiteX2-37" fmla="*/ 2398816 w 2986644"/>
              <a:gd name="connsiteY2-38" fmla="*/ 397823 h 1056904"/>
              <a:gd name="connsiteX3-39" fmla="*/ 2078182 w 2986644"/>
              <a:gd name="connsiteY3-40" fmla="*/ 397823 h 1056904"/>
              <a:gd name="connsiteX4-41" fmla="*/ 2986644 w 2986644"/>
              <a:gd name="connsiteY4-42" fmla="*/ 1045028 h 1056904"/>
              <a:gd name="connsiteX5-43" fmla="*/ 0 w 2986644"/>
              <a:gd name="connsiteY5-44" fmla="*/ 1056904 h 1056904"/>
              <a:gd name="connsiteX6-45" fmla="*/ 938151 w 2986644"/>
              <a:gd name="connsiteY6-46" fmla="*/ 415636 h 1056904"/>
              <a:gd name="connsiteX7-47" fmla="*/ 570016 w 2986644"/>
              <a:gd name="connsiteY7-48" fmla="*/ 397823 h 1056904"/>
              <a:gd name="connsiteX0-49" fmla="*/ 570016 w 2986644"/>
              <a:gd name="connsiteY0-50" fmla="*/ 397823 h 1056904"/>
              <a:gd name="connsiteX1-51" fmla="*/ 1490353 w 2986644"/>
              <a:gd name="connsiteY1-52" fmla="*/ 0 h 1056904"/>
              <a:gd name="connsiteX2-53" fmla="*/ 2398816 w 2986644"/>
              <a:gd name="connsiteY2-54" fmla="*/ 397823 h 1056904"/>
              <a:gd name="connsiteX3-55" fmla="*/ 2078182 w 2986644"/>
              <a:gd name="connsiteY3-56" fmla="*/ 397823 h 1056904"/>
              <a:gd name="connsiteX4-57" fmla="*/ 2986644 w 2986644"/>
              <a:gd name="connsiteY4-58" fmla="*/ 1045028 h 1056904"/>
              <a:gd name="connsiteX5-59" fmla="*/ 0 w 2986644"/>
              <a:gd name="connsiteY5-60" fmla="*/ 1056904 h 1056904"/>
              <a:gd name="connsiteX6-61" fmla="*/ 938151 w 2986644"/>
              <a:gd name="connsiteY6-62" fmla="*/ 415636 h 1056904"/>
              <a:gd name="connsiteX7-63" fmla="*/ 570016 w 2986644"/>
              <a:gd name="connsiteY7-64" fmla="*/ 397823 h 1056904"/>
              <a:gd name="connsiteX0-65" fmla="*/ 570016 w 2986644"/>
              <a:gd name="connsiteY0-66" fmla="*/ 397823 h 1056904"/>
              <a:gd name="connsiteX1-67" fmla="*/ 1490353 w 2986644"/>
              <a:gd name="connsiteY1-68" fmla="*/ 0 h 1056904"/>
              <a:gd name="connsiteX2-69" fmla="*/ 2398816 w 2986644"/>
              <a:gd name="connsiteY2-70" fmla="*/ 397823 h 1056904"/>
              <a:gd name="connsiteX3-71" fmla="*/ 2078182 w 2986644"/>
              <a:gd name="connsiteY3-72" fmla="*/ 397823 h 1056904"/>
              <a:gd name="connsiteX4-73" fmla="*/ 2986644 w 2986644"/>
              <a:gd name="connsiteY4-74" fmla="*/ 1045028 h 1056904"/>
              <a:gd name="connsiteX5-75" fmla="*/ 0 w 2986644"/>
              <a:gd name="connsiteY5-76" fmla="*/ 1056904 h 1056904"/>
              <a:gd name="connsiteX6-77" fmla="*/ 938151 w 2986644"/>
              <a:gd name="connsiteY6-78" fmla="*/ 415636 h 1056904"/>
              <a:gd name="connsiteX7-79" fmla="*/ 570016 w 2986644"/>
              <a:gd name="connsiteY7-80" fmla="*/ 397823 h 1056904"/>
              <a:gd name="connsiteX0-81" fmla="*/ 570016 w 2986644"/>
              <a:gd name="connsiteY0-82" fmla="*/ 397823 h 1056904"/>
              <a:gd name="connsiteX1-83" fmla="*/ 1490353 w 2986644"/>
              <a:gd name="connsiteY1-84" fmla="*/ 0 h 1056904"/>
              <a:gd name="connsiteX2-85" fmla="*/ 2398816 w 2986644"/>
              <a:gd name="connsiteY2-86" fmla="*/ 397823 h 1056904"/>
              <a:gd name="connsiteX3-87" fmla="*/ 2078182 w 2986644"/>
              <a:gd name="connsiteY3-88" fmla="*/ 397823 h 1056904"/>
              <a:gd name="connsiteX4-89" fmla="*/ 2986644 w 2986644"/>
              <a:gd name="connsiteY4-90" fmla="*/ 1045028 h 1056904"/>
              <a:gd name="connsiteX5-91" fmla="*/ 0 w 2986644"/>
              <a:gd name="connsiteY5-92" fmla="*/ 1056904 h 1056904"/>
              <a:gd name="connsiteX6-93" fmla="*/ 938151 w 2986644"/>
              <a:gd name="connsiteY6-94" fmla="*/ 415636 h 1056904"/>
              <a:gd name="connsiteX7-95" fmla="*/ 570016 w 2986644"/>
              <a:gd name="connsiteY7-96" fmla="*/ 397823 h 1056904"/>
              <a:gd name="connsiteX0-97" fmla="*/ 570016 w 2986644"/>
              <a:gd name="connsiteY0-98" fmla="*/ 397823 h 1056904"/>
              <a:gd name="connsiteX1-99" fmla="*/ 1490353 w 2986644"/>
              <a:gd name="connsiteY1-100" fmla="*/ 0 h 1056904"/>
              <a:gd name="connsiteX2-101" fmla="*/ 2398816 w 2986644"/>
              <a:gd name="connsiteY2-102" fmla="*/ 397823 h 1056904"/>
              <a:gd name="connsiteX3-103" fmla="*/ 2006712 w 2986644"/>
              <a:gd name="connsiteY3-104" fmla="*/ 397823 h 1056904"/>
              <a:gd name="connsiteX4-105" fmla="*/ 2986644 w 2986644"/>
              <a:gd name="connsiteY4-106" fmla="*/ 1045028 h 1056904"/>
              <a:gd name="connsiteX5-107" fmla="*/ 0 w 2986644"/>
              <a:gd name="connsiteY5-108" fmla="*/ 1056904 h 1056904"/>
              <a:gd name="connsiteX6-109" fmla="*/ 938151 w 2986644"/>
              <a:gd name="connsiteY6-110" fmla="*/ 415636 h 1056904"/>
              <a:gd name="connsiteX7-111" fmla="*/ 570016 w 2986644"/>
              <a:gd name="connsiteY7-112" fmla="*/ 397823 h 1056904"/>
              <a:gd name="connsiteX0-113" fmla="*/ 570016 w 2986644"/>
              <a:gd name="connsiteY0-114" fmla="*/ 397823 h 1056904"/>
              <a:gd name="connsiteX1-115" fmla="*/ 1490353 w 2986644"/>
              <a:gd name="connsiteY1-116" fmla="*/ 0 h 1056904"/>
              <a:gd name="connsiteX2-117" fmla="*/ 2398816 w 2986644"/>
              <a:gd name="connsiteY2-118" fmla="*/ 397823 h 1056904"/>
              <a:gd name="connsiteX3-119" fmla="*/ 2006712 w 2986644"/>
              <a:gd name="connsiteY3-120" fmla="*/ 397823 h 1056904"/>
              <a:gd name="connsiteX4-121" fmla="*/ 2986644 w 2986644"/>
              <a:gd name="connsiteY4-122" fmla="*/ 1045028 h 1056904"/>
              <a:gd name="connsiteX5-123" fmla="*/ 0 w 2986644"/>
              <a:gd name="connsiteY5-124" fmla="*/ 1056904 h 1056904"/>
              <a:gd name="connsiteX6-125" fmla="*/ 938151 w 2986644"/>
              <a:gd name="connsiteY6-126" fmla="*/ 415636 h 1056904"/>
              <a:gd name="connsiteX7-127" fmla="*/ 570016 w 2986644"/>
              <a:gd name="connsiteY7-128" fmla="*/ 397823 h 1056904"/>
              <a:gd name="connsiteX0-129" fmla="*/ 570016 w 2986644"/>
              <a:gd name="connsiteY0-130" fmla="*/ 397823 h 1056904"/>
              <a:gd name="connsiteX1-131" fmla="*/ 1490353 w 2986644"/>
              <a:gd name="connsiteY1-132" fmla="*/ 0 h 1056904"/>
              <a:gd name="connsiteX2-133" fmla="*/ 2398816 w 2986644"/>
              <a:gd name="connsiteY2-134" fmla="*/ 397823 h 1056904"/>
              <a:gd name="connsiteX3-135" fmla="*/ 2006712 w 2986644"/>
              <a:gd name="connsiteY3-136" fmla="*/ 397823 h 1056904"/>
              <a:gd name="connsiteX4-137" fmla="*/ 2986644 w 2986644"/>
              <a:gd name="connsiteY4-138" fmla="*/ 1045028 h 1056904"/>
              <a:gd name="connsiteX5-139" fmla="*/ 0 w 2986644"/>
              <a:gd name="connsiteY5-140" fmla="*/ 1056904 h 1056904"/>
              <a:gd name="connsiteX6-141" fmla="*/ 938151 w 2986644"/>
              <a:gd name="connsiteY6-142" fmla="*/ 415636 h 1056904"/>
              <a:gd name="connsiteX7-143" fmla="*/ 570016 w 2986644"/>
              <a:gd name="connsiteY7-144" fmla="*/ 397823 h 1056904"/>
              <a:gd name="connsiteX0-145" fmla="*/ 570016 w 2986644"/>
              <a:gd name="connsiteY0-146" fmla="*/ 397823 h 1056904"/>
              <a:gd name="connsiteX1-147" fmla="*/ 1490353 w 2986644"/>
              <a:gd name="connsiteY1-148" fmla="*/ 0 h 1056904"/>
              <a:gd name="connsiteX2-149" fmla="*/ 2398816 w 2986644"/>
              <a:gd name="connsiteY2-150" fmla="*/ 397823 h 1056904"/>
              <a:gd name="connsiteX3-151" fmla="*/ 2006712 w 2986644"/>
              <a:gd name="connsiteY3-152" fmla="*/ 397823 h 1056904"/>
              <a:gd name="connsiteX4-153" fmla="*/ 2986644 w 2986644"/>
              <a:gd name="connsiteY4-154" fmla="*/ 1045028 h 1056904"/>
              <a:gd name="connsiteX5-155" fmla="*/ 0 w 2986644"/>
              <a:gd name="connsiteY5-156" fmla="*/ 1056904 h 1056904"/>
              <a:gd name="connsiteX6-157" fmla="*/ 938151 w 2986644"/>
              <a:gd name="connsiteY6-158" fmla="*/ 415636 h 1056904"/>
              <a:gd name="connsiteX7-159" fmla="*/ 570016 w 2986644"/>
              <a:gd name="connsiteY7-160" fmla="*/ 397823 h 1056904"/>
              <a:gd name="connsiteX0-161" fmla="*/ 570016 w 2986644"/>
              <a:gd name="connsiteY0-162" fmla="*/ 397823 h 1056904"/>
              <a:gd name="connsiteX1-163" fmla="*/ 1490353 w 2986644"/>
              <a:gd name="connsiteY1-164" fmla="*/ 0 h 1056904"/>
              <a:gd name="connsiteX2-165" fmla="*/ 2398816 w 2986644"/>
              <a:gd name="connsiteY2-166" fmla="*/ 397823 h 1056904"/>
              <a:gd name="connsiteX3-167" fmla="*/ 2006712 w 2986644"/>
              <a:gd name="connsiteY3-168" fmla="*/ 397823 h 1056904"/>
              <a:gd name="connsiteX4-169" fmla="*/ 2986644 w 2986644"/>
              <a:gd name="connsiteY4-170" fmla="*/ 1045028 h 1056904"/>
              <a:gd name="connsiteX5-171" fmla="*/ 0 w 2986644"/>
              <a:gd name="connsiteY5-172" fmla="*/ 1056904 h 1056904"/>
              <a:gd name="connsiteX6-173" fmla="*/ 938151 w 2986644"/>
              <a:gd name="connsiteY6-174" fmla="*/ 415636 h 1056904"/>
              <a:gd name="connsiteX7-175" fmla="*/ 570016 w 2986644"/>
              <a:gd name="connsiteY7-176" fmla="*/ 397823 h 1056904"/>
              <a:gd name="connsiteX0-177" fmla="*/ 570016 w 2986644"/>
              <a:gd name="connsiteY0-178" fmla="*/ 397823 h 1056904"/>
              <a:gd name="connsiteX1-179" fmla="*/ 1490353 w 2986644"/>
              <a:gd name="connsiteY1-180" fmla="*/ 0 h 1056904"/>
              <a:gd name="connsiteX2-181" fmla="*/ 2398816 w 2986644"/>
              <a:gd name="connsiteY2-182" fmla="*/ 397823 h 1056904"/>
              <a:gd name="connsiteX3-183" fmla="*/ 2006712 w 2986644"/>
              <a:gd name="connsiteY3-184" fmla="*/ 397823 h 1056904"/>
              <a:gd name="connsiteX4-185" fmla="*/ 2986644 w 2986644"/>
              <a:gd name="connsiteY4-186" fmla="*/ 1045028 h 1056904"/>
              <a:gd name="connsiteX5-187" fmla="*/ 0 w 2986644"/>
              <a:gd name="connsiteY5-188" fmla="*/ 1056904 h 1056904"/>
              <a:gd name="connsiteX6-189" fmla="*/ 938151 w 2986644"/>
              <a:gd name="connsiteY6-190" fmla="*/ 415636 h 1056904"/>
              <a:gd name="connsiteX7-191" fmla="*/ 570016 w 2986644"/>
              <a:gd name="connsiteY7-192" fmla="*/ 397823 h 1056904"/>
              <a:gd name="connsiteX0-193" fmla="*/ 570016 w 2986644"/>
              <a:gd name="connsiteY0-194" fmla="*/ 397823 h 1056904"/>
              <a:gd name="connsiteX1-195" fmla="*/ 1490353 w 2986644"/>
              <a:gd name="connsiteY1-196" fmla="*/ 0 h 1056904"/>
              <a:gd name="connsiteX2-197" fmla="*/ 2398816 w 2986644"/>
              <a:gd name="connsiteY2-198" fmla="*/ 397823 h 1056904"/>
              <a:gd name="connsiteX3-199" fmla="*/ 2006712 w 2986644"/>
              <a:gd name="connsiteY3-200" fmla="*/ 397823 h 1056904"/>
              <a:gd name="connsiteX4-201" fmla="*/ 2986644 w 2986644"/>
              <a:gd name="connsiteY4-202" fmla="*/ 1045028 h 1056904"/>
              <a:gd name="connsiteX5-203" fmla="*/ 0 w 2986644"/>
              <a:gd name="connsiteY5-204" fmla="*/ 1056904 h 1056904"/>
              <a:gd name="connsiteX6-205" fmla="*/ 1009557 w 2986644"/>
              <a:gd name="connsiteY6-206" fmla="*/ 415636 h 1056904"/>
              <a:gd name="connsiteX7-207" fmla="*/ 570016 w 2986644"/>
              <a:gd name="connsiteY7-208" fmla="*/ 397823 h 1056904"/>
              <a:gd name="connsiteX0-209" fmla="*/ 570016 w 2986644"/>
              <a:gd name="connsiteY0-210" fmla="*/ 510310 h 1169391"/>
              <a:gd name="connsiteX1-211" fmla="*/ 1490353 w 2986644"/>
              <a:gd name="connsiteY1-212" fmla="*/ 0 h 1169391"/>
              <a:gd name="connsiteX2-213" fmla="*/ 2398816 w 2986644"/>
              <a:gd name="connsiteY2-214" fmla="*/ 510310 h 1169391"/>
              <a:gd name="connsiteX3-215" fmla="*/ 2006712 w 2986644"/>
              <a:gd name="connsiteY3-216" fmla="*/ 510310 h 1169391"/>
              <a:gd name="connsiteX4-217" fmla="*/ 2986644 w 2986644"/>
              <a:gd name="connsiteY4-218" fmla="*/ 1157515 h 1169391"/>
              <a:gd name="connsiteX5-219" fmla="*/ 0 w 2986644"/>
              <a:gd name="connsiteY5-220" fmla="*/ 1169391 h 1169391"/>
              <a:gd name="connsiteX6-221" fmla="*/ 1009557 w 2986644"/>
              <a:gd name="connsiteY6-222" fmla="*/ 528123 h 1169391"/>
              <a:gd name="connsiteX7-223" fmla="*/ 570016 w 2986644"/>
              <a:gd name="connsiteY7-224" fmla="*/ 510310 h 1169391"/>
              <a:gd name="connsiteX0-225" fmla="*/ 570016 w 2986644"/>
              <a:gd name="connsiteY0-226" fmla="*/ 510310 h 1169391"/>
              <a:gd name="connsiteX1-227" fmla="*/ 1490353 w 2986644"/>
              <a:gd name="connsiteY1-228" fmla="*/ 0 h 1169391"/>
              <a:gd name="connsiteX2-229" fmla="*/ 2398816 w 2986644"/>
              <a:gd name="connsiteY2-230" fmla="*/ 510310 h 1169391"/>
              <a:gd name="connsiteX3-231" fmla="*/ 2006712 w 2986644"/>
              <a:gd name="connsiteY3-232" fmla="*/ 510310 h 1169391"/>
              <a:gd name="connsiteX4-233" fmla="*/ 2986644 w 2986644"/>
              <a:gd name="connsiteY4-234" fmla="*/ 1157515 h 1169391"/>
              <a:gd name="connsiteX5-235" fmla="*/ 0 w 2986644"/>
              <a:gd name="connsiteY5-236" fmla="*/ 1169391 h 1169391"/>
              <a:gd name="connsiteX6-237" fmla="*/ 1009557 w 2986644"/>
              <a:gd name="connsiteY6-238" fmla="*/ 528123 h 1169391"/>
              <a:gd name="connsiteX7-239" fmla="*/ 570016 w 2986644"/>
              <a:gd name="connsiteY7-240" fmla="*/ 510310 h 1169391"/>
              <a:gd name="connsiteX0-241" fmla="*/ 570016 w 2986644"/>
              <a:gd name="connsiteY0-242" fmla="*/ 510310 h 1169391"/>
              <a:gd name="connsiteX1-243" fmla="*/ 1490353 w 2986644"/>
              <a:gd name="connsiteY1-244" fmla="*/ 0 h 1169391"/>
              <a:gd name="connsiteX2-245" fmla="*/ 2398816 w 2986644"/>
              <a:gd name="connsiteY2-246" fmla="*/ 510310 h 1169391"/>
              <a:gd name="connsiteX3-247" fmla="*/ 2006712 w 2986644"/>
              <a:gd name="connsiteY3-248" fmla="*/ 510310 h 1169391"/>
              <a:gd name="connsiteX4-249" fmla="*/ 2986644 w 2986644"/>
              <a:gd name="connsiteY4-250" fmla="*/ 1157515 h 1169391"/>
              <a:gd name="connsiteX5-251" fmla="*/ 0 w 2986644"/>
              <a:gd name="connsiteY5-252" fmla="*/ 1169391 h 1169391"/>
              <a:gd name="connsiteX6-253" fmla="*/ 944601 w 2986644"/>
              <a:gd name="connsiteY6-254" fmla="*/ 528123 h 1169391"/>
              <a:gd name="connsiteX7-255" fmla="*/ 570016 w 2986644"/>
              <a:gd name="connsiteY7-256" fmla="*/ 510310 h 1169391"/>
              <a:gd name="connsiteX0-257" fmla="*/ 570016 w 2986644"/>
              <a:gd name="connsiteY0-258" fmla="*/ 510310 h 1169391"/>
              <a:gd name="connsiteX1-259" fmla="*/ 1490353 w 2986644"/>
              <a:gd name="connsiteY1-260" fmla="*/ 0 h 1169391"/>
              <a:gd name="connsiteX2-261" fmla="*/ 2398816 w 2986644"/>
              <a:gd name="connsiteY2-262" fmla="*/ 510310 h 1169391"/>
              <a:gd name="connsiteX3-263" fmla="*/ 2006712 w 2986644"/>
              <a:gd name="connsiteY3-264" fmla="*/ 510310 h 1169391"/>
              <a:gd name="connsiteX4-265" fmla="*/ 2986644 w 2986644"/>
              <a:gd name="connsiteY4-266" fmla="*/ 1157515 h 1169391"/>
              <a:gd name="connsiteX5-267" fmla="*/ 0 w 2986644"/>
              <a:gd name="connsiteY5-268" fmla="*/ 1169391 h 1169391"/>
              <a:gd name="connsiteX6-269" fmla="*/ 944601 w 2986644"/>
              <a:gd name="connsiteY6-270" fmla="*/ 528123 h 1169391"/>
              <a:gd name="connsiteX7-271" fmla="*/ 570016 w 2986644"/>
              <a:gd name="connsiteY7-272" fmla="*/ 510310 h 1169391"/>
              <a:gd name="connsiteX0-273" fmla="*/ 570016 w 2986644"/>
              <a:gd name="connsiteY0-274" fmla="*/ 510310 h 1169391"/>
              <a:gd name="connsiteX1-275" fmla="*/ 1490353 w 2986644"/>
              <a:gd name="connsiteY1-276" fmla="*/ 0 h 1169391"/>
              <a:gd name="connsiteX2-277" fmla="*/ 2398816 w 2986644"/>
              <a:gd name="connsiteY2-278" fmla="*/ 510310 h 1169391"/>
              <a:gd name="connsiteX3-279" fmla="*/ 2006712 w 2986644"/>
              <a:gd name="connsiteY3-280" fmla="*/ 510310 h 1169391"/>
              <a:gd name="connsiteX4-281" fmla="*/ 2986644 w 2986644"/>
              <a:gd name="connsiteY4-282" fmla="*/ 1157515 h 1169391"/>
              <a:gd name="connsiteX5-283" fmla="*/ 0 w 2986644"/>
              <a:gd name="connsiteY5-284" fmla="*/ 1169391 h 1169391"/>
              <a:gd name="connsiteX6-285" fmla="*/ 944601 w 2986644"/>
              <a:gd name="connsiteY6-286" fmla="*/ 528123 h 1169391"/>
              <a:gd name="connsiteX7-287" fmla="*/ 570016 w 2986644"/>
              <a:gd name="connsiteY7-288" fmla="*/ 510310 h 11693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986644" h="1169391">
                <a:moveTo>
                  <a:pt x="570016" y="510310"/>
                </a:moveTo>
                <a:lnTo>
                  <a:pt x="1490353" y="0"/>
                </a:lnTo>
                <a:lnTo>
                  <a:pt x="2398816" y="510310"/>
                </a:lnTo>
                <a:lnTo>
                  <a:pt x="2006712" y="510310"/>
                </a:lnTo>
                <a:cubicBezTo>
                  <a:pt x="2165169" y="926445"/>
                  <a:pt x="2640771" y="1058123"/>
                  <a:pt x="2986644" y="1157515"/>
                </a:cubicBezTo>
                <a:lnTo>
                  <a:pt x="0" y="1169391"/>
                </a:lnTo>
                <a:cubicBezTo>
                  <a:pt x="483623" y="1012415"/>
                  <a:pt x="859206" y="826122"/>
                  <a:pt x="944601" y="528123"/>
                </a:cubicBezTo>
                <a:lnTo>
                  <a:pt x="570016" y="510310"/>
                </a:lnTo>
                <a:close/>
              </a:path>
            </a:pathLst>
          </a:custGeom>
          <a:gradFill flip="none" rotWithShape="1">
            <a:gsLst>
              <a:gs pos="0">
                <a:srgbClr val="004158">
                  <a:alpha val="0"/>
                </a:srgbClr>
              </a:gs>
              <a:gs pos="72000">
                <a:srgbClr val="004158">
                  <a:alpha val="69000"/>
                </a:srgbClr>
              </a:gs>
              <a:gs pos="100000">
                <a:srgbClr val="004158">
                  <a:alpha val="86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pic>
        <p:nvPicPr>
          <p:cNvPr id="159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09360" y="4660900"/>
            <a:ext cx="1942465" cy="1457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" name="图片 159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8" r="494" b="18247"/>
          <a:stretch>
            <a:fillRect/>
          </a:stretch>
        </p:blipFill>
        <p:spPr>
          <a:xfrm>
            <a:off x="8359140" y="4660900"/>
            <a:ext cx="3198495" cy="1457960"/>
          </a:xfrm>
          <a:custGeom>
            <a:avLst/>
            <a:gdLst>
              <a:gd name="connsiteX0" fmla="*/ 0 w 3212073"/>
              <a:gd name="connsiteY0" fmla="*/ 0 h 1795607"/>
              <a:gd name="connsiteX1" fmla="*/ 3212073 w 3212073"/>
              <a:gd name="connsiteY1" fmla="*/ 0 h 1795607"/>
              <a:gd name="connsiteX2" fmla="*/ 3212073 w 3212073"/>
              <a:gd name="connsiteY2" fmla="*/ 1795607 h 1795607"/>
              <a:gd name="connsiteX3" fmla="*/ 0 w 3212073"/>
              <a:gd name="connsiteY3" fmla="*/ 1795607 h 179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2073" h="1795607">
                <a:moveTo>
                  <a:pt x="0" y="0"/>
                </a:moveTo>
                <a:lnTo>
                  <a:pt x="3212073" y="0"/>
                </a:lnTo>
                <a:lnTo>
                  <a:pt x="3212073" y="1795607"/>
                </a:lnTo>
                <a:lnTo>
                  <a:pt x="0" y="179560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155448" y="1865239"/>
            <a:ext cx="6821424" cy="33285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7210912" y="1865238"/>
            <a:ext cx="4543391" cy="33285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矩形 21"/>
          <p:cNvSpPr>
            <a:spLocks noChangeArrowheads="1"/>
          </p:cNvSpPr>
          <p:nvPr/>
        </p:nvSpPr>
        <p:spPr bwMode="auto">
          <a:xfrm>
            <a:off x="7528379" y="5434049"/>
            <a:ext cx="3908456" cy="951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45720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安徽某股份有限公司乙二醇副产乙醇</a:t>
            </a:r>
            <a:endParaRPr lang="en-US" altLang="zh-CN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4572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（含水量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10wt.%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脱水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0.3wt%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330201" y="5309561"/>
            <a:ext cx="25983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甲醇含量≤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0.2%</a:t>
            </a:r>
            <a:endParaRPr lang="en-US" altLang="zh-CN" sz="16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杂醇含量≤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0.05%</a:t>
            </a:r>
            <a:endParaRPr lang="en-US" altLang="zh-CN" sz="16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含水量≤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0.3wt.%</a:t>
            </a:r>
            <a:endParaRPr lang="zh-CN" altLang="en-US" sz="16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314325" y="2218557"/>
            <a:ext cx="6762747" cy="2829830"/>
            <a:chOff x="295534" y="2230946"/>
            <a:chExt cx="6762747" cy="2829830"/>
          </a:xfrm>
        </p:grpSpPr>
        <p:cxnSp>
          <p:nvCxnSpPr>
            <p:cNvPr id="30" name="直接箭头连接符 29"/>
            <p:cNvCxnSpPr/>
            <p:nvPr/>
          </p:nvCxnSpPr>
          <p:spPr>
            <a:xfrm flipV="1">
              <a:off x="2023399" y="2700836"/>
              <a:ext cx="576022" cy="312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207"/>
            <p:cNvCxnSpPr>
              <a:cxnSpLocks noChangeShapeType="1"/>
            </p:cNvCxnSpPr>
            <p:nvPr/>
          </p:nvCxnSpPr>
          <p:spPr bwMode="auto">
            <a:xfrm>
              <a:off x="2120302" y="3904860"/>
              <a:ext cx="909070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1770615" y="2336638"/>
              <a:ext cx="360040" cy="360040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770663" y="4324814"/>
              <a:ext cx="360040" cy="360040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auto">
            <a:xfrm flipV="1">
              <a:off x="1967909" y="4513973"/>
              <a:ext cx="252000" cy="252000"/>
            </a:xfrm>
            <a:prstGeom prst="ellipse">
              <a:avLst/>
            </a:prstGeom>
            <a:solidFill>
              <a:srgbClr val="004158"/>
            </a:solidFill>
            <a:ln w="9525" algn="ctr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接箭头连接符 207"/>
            <p:cNvCxnSpPr>
              <a:cxnSpLocks noChangeShapeType="1"/>
            </p:cNvCxnSpPr>
            <p:nvPr/>
          </p:nvCxnSpPr>
          <p:spPr bwMode="auto">
            <a:xfrm>
              <a:off x="1886219" y="4431115"/>
              <a:ext cx="384015" cy="375988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6" name="组合 15"/>
            <p:cNvGrpSpPr/>
            <p:nvPr/>
          </p:nvGrpSpPr>
          <p:grpSpPr>
            <a:xfrm>
              <a:off x="1256755" y="2371335"/>
              <a:ext cx="863547" cy="2125621"/>
              <a:chOff x="9877891" y="2724151"/>
              <a:chExt cx="863547" cy="2125621"/>
            </a:xfrm>
          </p:grpSpPr>
          <p:sp>
            <p:nvSpPr>
              <p:cNvPr id="72" name="Freeform 5"/>
              <p:cNvSpPr/>
              <p:nvPr/>
            </p:nvSpPr>
            <p:spPr bwMode="auto">
              <a:xfrm>
                <a:off x="9961562" y="2724151"/>
                <a:ext cx="727076" cy="2105025"/>
              </a:xfrm>
              <a:custGeom>
                <a:avLst/>
                <a:gdLst>
                  <a:gd name="T0" fmla="*/ 85 w 169"/>
                  <a:gd name="T1" fmla="*/ 494 h 494"/>
                  <a:gd name="T2" fmla="*/ 85 w 169"/>
                  <a:gd name="T3" fmla="*/ 494 h 494"/>
                  <a:gd name="T4" fmla="*/ 0 w 169"/>
                  <a:gd name="T5" fmla="*/ 410 h 494"/>
                  <a:gd name="T6" fmla="*/ 0 w 169"/>
                  <a:gd name="T7" fmla="*/ 84 h 494"/>
                  <a:gd name="T8" fmla="*/ 85 w 169"/>
                  <a:gd name="T9" fmla="*/ 0 h 494"/>
                  <a:gd name="T10" fmla="*/ 85 w 169"/>
                  <a:gd name="T11" fmla="*/ 0 h 494"/>
                  <a:gd name="T12" fmla="*/ 169 w 169"/>
                  <a:gd name="T13" fmla="*/ 84 h 494"/>
                  <a:gd name="T14" fmla="*/ 169 w 169"/>
                  <a:gd name="T15" fmla="*/ 410 h 494"/>
                  <a:gd name="T16" fmla="*/ 85 w 169"/>
                  <a:gd name="T17" fmla="*/ 494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494">
                    <a:moveTo>
                      <a:pt x="85" y="494"/>
                    </a:moveTo>
                    <a:cubicBezTo>
                      <a:pt x="85" y="494"/>
                      <a:pt x="85" y="494"/>
                      <a:pt x="85" y="494"/>
                    </a:cubicBezTo>
                    <a:cubicBezTo>
                      <a:pt x="38" y="494"/>
                      <a:pt x="0" y="456"/>
                      <a:pt x="0" y="410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38"/>
                      <a:pt x="38" y="0"/>
                      <a:pt x="85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131" y="0"/>
                      <a:pt x="169" y="38"/>
                      <a:pt x="169" y="84"/>
                    </a:cubicBezTo>
                    <a:cubicBezTo>
                      <a:pt x="169" y="410"/>
                      <a:pt x="169" y="410"/>
                      <a:pt x="169" y="410"/>
                    </a:cubicBezTo>
                    <a:cubicBezTo>
                      <a:pt x="169" y="456"/>
                      <a:pt x="131" y="494"/>
                      <a:pt x="85" y="494"/>
                    </a:cubicBezTo>
                    <a:close/>
                  </a:path>
                </a:pathLst>
              </a:custGeom>
              <a:solidFill>
                <a:srgbClr val="005D7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73" name="Freeform 6"/>
              <p:cNvSpPr/>
              <p:nvPr/>
            </p:nvSpPr>
            <p:spPr bwMode="auto">
              <a:xfrm>
                <a:off x="10026650" y="2809876"/>
                <a:ext cx="188913" cy="1447800"/>
              </a:xfrm>
              <a:custGeom>
                <a:avLst/>
                <a:gdLst>
                  <a:gd name="T0" fmla="*/ 4 w 44"/>
                  <a:gd name="T1" fmla="*/ 340 h 340"/>
                  <a:gd name="T2" fmla="*/ 0 w 44"/>
                  <a:gd name="T3" fmla="*/ 340 h 340"/>
                  <a:gd name="T4" fmla="*/ 0 w 44"/>
                  <a:gd name="T5" fmla="*/ 64 h 340"/>
                  <a:gd name="T6" fmla="*/ 42 w 44"/>
                  <a:gd name="T7" fmla="*/ 0 h 340"/>
                  <a:gd name="T8" fmla="*/ 44 w 44"/>
                  <a:gd name="T9" fmla="*/ 4 h 340"/>
                  <a:gd name="T10" fmla="*/ 4 w 44"/>
                  <a:gd name="T11" fmla="*/ 64 h 340"/>
                  <a:gd name="T12" fmla="*/ 4 w 44"/>
                  <a:gd name="T13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340">
                    <a:moveTo>
                      <a:pt x="4" y="340"/>
                    </a:moveTo>
                    <a:cubicBezTo>
                      <a:pt x="0" y="340"/>
                      <a:pt x="0" y="340"/>
                      <a:pt x="0" y="34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37"/>
                      <a:pt x="17" y="11"/>
                      <a:pt x="42" y="0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20" y="14"/>
                      <a:pt x="4" y="38"/>
                      <a:pt x="4" y="64"/>
                    </a:cubicBezTo>
                    <a:lnTo>
                      <a:pt x="4" y="3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grpSp>
            <p:nvGrpSpPr>
              <p:cNvPr id="74" name="组合 73"/>
              <p:cNvGrpSpPr/>
              <p:nvPr/>
            </p:nvGrpSpPr>
            <p:grpSpPr>
              <a:xfrm>
                <a:off x="9961562" y="3046696"/>
                <a:ext cx="727076" cy="1194831"/>
                <a:chOff x="1231816" y="3438510"/>
                <a:chExt cx="763524" cy="1194831"/>
              </a:xfrm>
            </p:grpSpPr>
            <p:cxnSp>
              <p:nvCxnSpPr>
                <p:cNvPr id="76" name="直接连接符 196"/>
                <p:cNvCxnSpPr>
                  <a:cxnSpLocks noChangeShapeType="1"/>
                </p:cNvCxnSpPr>
                <p:nvPr/>
              </p:nvCxnSpPr>
              <p:spPr bwMode="auto">
                <a:xfrm>
                  <a:off x="1613578" y="4030456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7" name="直接连接符 197"/>
                <p:cNvCxnSpPr>
                  <a:cxnSpLocks noChangeShapeType="1"/>
                </p:cNvCxnSpPr>
                <p:nvPr/>
              </p:nvCxnSpPr>
              <p:spPr bwMode="auto">
                <a:xfrm>
                  <a:off x="1231816" y="4227495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8" name="直接连接符 198"/>
                <p:cNvCxnSpPr>
                  <a:cxnSpLocks noChangeShapeType="1"/>
                </p:cNvCxnSpPr>
                <p:nvPr/>
              </p:nvCxnSpPr>
              <p:spPr bwMode="auto">
                <a:xfrm>
                  <a:off x="1613578" y="4424534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" name="直接连接符 199"/>
                <p:cNvCxnSpPr>
                  <a:cxnSpLocks noChangeShapeType="1"/>
                </p:cNvCxnSpPr>
                <p:nvPr/>
              </p:nvCxnSpPr>
              <p:spPr bwMode="auto">
                <a:xfrm>
                  <a:off x="1231816" y="3833417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0" name="直接连接符 200"/>
                <p:cNvCxnSpPr>
                  <a:cxnSpLocks noChangeShapeType="1"/>
                </p:cNvCxnSpPr>
                <p:nvPr/>
              </p:nvCxnSpPr>
              <p:spPr bwMode="auto">
                <a:xfrm>
                  <a:off x="1613578" y="3636378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" name="直接连接符 187"/>
                <p:cNvCxnSpPr>
                  <a:cxnSpLocks noChangeShapeType="1"/>
                </p:cNvCxnSpPr>
                <p:nvPr/>
              </p:nvCxnSpPr>
              <p:spPr bwMode="auto">
                <a:xfrm>
                  <a:off x="1231820" y="3438510"/>
                  <a:ext cx="424181" cy="2439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2" name="直接连接符 197"/>
                <p:cNvCxnSpPr>
                  <a:cxnSpLocks noChangeShapeType="1"/>
                </p:cNvCxnSpPr>
                <p:nvPr/>
              </p:nvCxnSpPr>
              <p:spPr bwMode="auto">
                <a:xfrm>
                  <a:off x="1233671" y="4631731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75" name="TextBox 459"/>
              <p:cNvSpPr txBox="1"/>
              <p:nvPr/>
            </p:nvSpPr>
            <p:spPr>
              <a:xfrm>
                <a:off x="9877891" y="4326552"/>
                <a:ext cx="863547" cy="52322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脱甲醇塔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TextBox 285"/>
            <p:cNvSpPr txBox="1">
              <a:spLocks noChangeArrowheads="1"/>
            </p:cNvSpPr>
            <p:nvPr/>
          </p:nvSpPr>
          <p:spPr bwMode="auto">
            <a:xfrm>
              <a:off x="295534" y="2935521"/>
              <a:ext cx="94469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副产乙醇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647747" y="3344367"/>
              <a:ext cx="63735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椭圆 20"/>
            <p:cNvSpPr>
              <a:spLocks noChangeArrowheads="1"/>
            </p:cNvSpPr>
            <p:nvPr/>
          </p:nvSpPr>
          <p:spPr bwMode="auto">
            <a:xfrm flipV="1">
              <a:off x="2004655" y="2265706"/>
              <a:ext cx="252000" cy="252000"/>
            </a:xfrm>
            <a:prstGeom prst="ellipse">
              <a:avLst/>
            </a:prstGeom>
            <a:solidFill>
              <a:srgbClr val="25BBAF"/>
            </a:solidFill>
            <a:ln w="9525" algn="ctr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箭头连接符 207"/>
            <p:cNvCxnSpPr>
              <a:cxnSpLocks noChangeShapeType="1"/>
            </p:cNvCxnSpPr>
            <p:nvPr/>
          </p:nvCxnSpPr>
          <p:spPr bwMode="auto">
            <a:xfrm flipV="1">
              <a:off x="2005520" y="2230946"/>
              <a:ext cx="285352" cy="299347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3459561" y="4660089"/>
              <a:ext cx="927850" cy="24765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3459561" y="2336638"/>
              <a:ext cx="360040" cy="360040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459609" y="4324814"/>
              <a:ext cx="360040" cy="360040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auto">
            <a:xfrm flipV="1">
              <a:off x="3656855" y="4513973"/>
              <a:ext cx="252000" cy="252000"/>
            </a:xfrm>
            <a:prstGeom prst="ellipse">
              <a:avLst/>
            </a:prstGeom>
            <a:solidFill>
              <a:srgbClr val="004158"/>
            </a:solidFill>
            <a:ln w="9525" algn="ctr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接箭头连接符 207"/>
            <p:cNvCxnSpPr>
              <a:cxnSpLocks noChangeShapeType="1"/>
            </p:cNvCxnSpPr>
            <p:nvPr/>
          </p:nvCxnSpPr>
          <p:spPr bwMode="auto">
            <a:xfrm>
              <a:off x="3575165" y="4431115"/>
              <a:ext cx="384015" cy="375988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组合 37"/>
            <p:cNvGrpSpPr/>
            <p:nvPr/>
          </p:nvGrpSpPr>
          <p:grpSpPr>
            <a:xfrm>
              <a:off x="2945701" y="2371335"/>
              <a:ext cx="863547" cy="2105025"/>
              <a:chOff x="9877891" y="2724151"/>
              <a:chExt cx="863547" cy="2105025"/>
            </a:xfrm>
          </p:grpSpPr>
          <p:sp>
            <p:nvSpPr>
              <p:cNvPr id="50" name="Freeform 5"/>
              <p:cNvSpPr/>
              <p:nvPr/>
            </p:nvSpPr>
            <p:spPr bwMode="auto">
              <a:xfrm>
                <a:off x="9961562" y="2724151"/>
                <a:ext cx="727076" cy="2105025"/>
              </a:xfrm>
              <a:custGeom>
                <a:avLst/>
                <a:gdLst>
                  <a:gd name="T0" fmla="*/ 85 w 169"/>
                  <a:gd name="T1" fmla="*/ 494 h 494"/>
                  <a:gd name="T2" fmla="*/ 85 w 169"/>
                  <a:gd name="T3" fmla="*/ 494 h 494"/>
                  <a:gd name="T4" fmla="*/ 0 w 169"/>
                  <a:gd name="T5" fmla="*/ 410 h 494"/>
                  <a:gd name="T6" fmla="*/ 0 w 169"/>
                  <a:gd name="T7" fmla="*/ 84 h 494"/>
                  <a:gd name="T8" fmla="*/ 85 w 169"/>
                  <a:gd name="T9" fmla="*/ 0 h 494"/>
                  <a:gd name="T10" fmla="*/ 85 w 169"/>
                  <a:gd name="T11" fmla="*/ 0 h 494"/>
                  <a:gd name="T12" fmla="*/ 169 w 169"/>
                  <a:gd name="T13" fmla="*/ 84 h 494"/>
                  <a:gd name="T14" fmla="*/ 169 w 169"/>
                  <a:gd name="T15" fmla="*/ 410 h 494"/>
                  <a:gd name="T16" fmla="*/ 85 w 169"/>
                  <a:gd name="T17" fmla="*/ 494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494">
                    <a:moveTo>
                      <a:pt x="85" y="494"/>
                    </a:moveTo>
                    <a:cubicBezTo>
                      <a:pt x="85" y="494"/>
                      <a:pt x="85" y="494"/>
                      <a:pt x="85" y="494"/>
                    </a:cubicBezTo>
                    <a:cubicBezTo>
                      <a:pt x="38" y="494"/>
                      <a:pt x="0" y="456"/>
                      <a:pt x="0" y="410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38"/>
                      <a:pt x="38" y="0"/>
                      <a:pt x="85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131" y="0"/>
                      <a:pt x="169" y="38"/>
                      <a:pt x="169" y="84"/>
                    </a:cubicBezTo>
                    <a:cubicBezTo>
                      <a:pt x="169" y="410"/>
                      <a:pt x="169" y="410"/>
                      <a:pt x="169" y="410"/>
                    </a:cubicBezTo>
                    <a:cubicBezTo>
                      <a:pt x="169" y="456"/>
                      <a:pt x="131" y="494"/>
                      <a:pt x="85" y="494"/>
                    </a:cubicBezTo>
                    <a:close/>
                  </a:path>
                </a:pathLst>
              </a:custGeom>
              <a:solidFill>
                <a:srgbClr val="005D7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51" name="Freeform 6"/>
              <p:cNvSpPr/>
              <p:nvPr/>
            </p:nvSpPr>
            <p:spPr bwMode="auto">
              <a:xfrm>
                <a:off x="10026650" y="2809876"/>
                <a:ext cx="188913" cy="1447800"/>
              </a:xfrm>
              <a:custGeom>
                <a:avLst/>
                <a:gdLst>
                  <a:gd name="T0" fmla="*/ 4 w 44"/>
                  <a:gd name="T1" fmla="*/ 340 h 340"/>
                  <a:gd name="T2" fmla="*/ 0 w 44"/>
                  <a:gd name="T3" fmla="*/ 340 h 340"/>
                  <a:gd name="T4" fmla="*/ 0 w 44"/>
                  <a:gd name="T5" fmla="*/ 64 h 340"/>
                  <a:gd name="T6" fmla="*/ 42 w 44"/>
                  <a:gd name="T7" fmla="*/ 0 h 340"/>
                  <a:gd name="T8" fmla="*/ 44 w 44"/>
                  <a:gd name="T9" fmla="*/ 4 h 340"/>
                  <a:gd name="T10" fmla="*/ 4 w 44"/>
                  <a:gd name="T11" fmla="*/ 64 h 340"/>
                  <a:gd name="T12" fmla="*/ 4 w 44"/>
                  <a:gd name="T13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340">
                    <a:moveTo>
                      <a:pt x="4" y="340"/>
                    </a:moveTo>
                    <a:cubicBezTo>
                      <a:pt x="0" y="340"/>
                      <a:pt x="0" y="340"/>
                      <a:pt x="0" y="34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37"/>
                      <a:pt x="17" y="11"/>
                      <a:pt x="42" y="0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20" y="14"/>
                      <a:pt x="4" y="38"/>
                      <a:pt x="4" y="64"/>
                    </a:cubicBezTo>
                    <a:lnTo>
                      <a:pt x="4" y="3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9961562" y="3046696"/>
                <a:ext cx="727076" cy="1194831"/>
                <a:chOff x="1231816" y="3438510"/>
                <a:chExt cx="763524" cy="1194831"/>
              </a:xfrm>
            </p:grpSpPr>
            <p:cxnSp>
              <p:nvCxnSpPr>
                <p:cNvPr id="54" name="直接连接符 196"/>
                <p:cNvCxnSpPr>
                  <a:cxnSpLocks noChangeShapeType="1"/>
                </p:cNvCxnSpPr>
                <p:nvPr/>
              </p:nvCxnSpPr>
              <p:spPr bwMode="auto">
                <a:xfrm>
                  <a:off x="1613578" y="4030456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5" name="直接连接符 197"/>
                <p:cNvCxnSpPr>
                  <a:cxnSpLocks noChangeShapeType="1"/>
                </p:cNvCxnSpPr>
                <p:nvPr/>
              </p:nvCxnSpPr>
              <p:spPr bwMode="auto">
                <a:xfrm>
                  <a:off x="1231816" y="4227495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6" name="直接连接符 198"/>
                <p:cNvCxnSpPr>
                  <a:cxnSpLocks noChangeShapeType="1"/>
                </p:cNvCxnSpPr>
                <p:nvPr/>
              </p:nvCxnSpPr>
              <p:spPr bwMode="auto">
                <a:xfrm>
                  <a:off x="1613578" y="4424534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7" name="直接连接符 199"/>
                <p:cNvCxnSpPr>
                  <a:cxnSpLocks noChangeShapeType="1"/>
                </p:cNvCxnSpPr>
                <p:nvPr/>
              </p:nvCxnSpPr>
              <p:spPr bwMode="auto">
                <a:xfrm>
                  <a:off x="1231816" y="3833417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直接连接符 200"/>
                <p:cNvCxnSpPr>
                  <a:cxnSpLocks noChangeShapeType="1"/>
                </p:cNvCxnSpPr>
                <p:nvPr/>
              </p:nvCxnSpPr>
              <p:spPr bwMode="auto">
                <a:xfrm>
                  <a:off x="1613578" y="3636378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直接连接符 187"/>
                <p:cNvCxnSpPr>
                  <a:cxnSpLocks noChangeShapeType="1"/>
                </p:cNvCxnSpPr>
                <p:nvPr/>
              </p:nvCxnSpPr>
              <p:spPr bwMode="auto">
                <a:xfrm>
                  <a:off x="1231820" y="3438510"/>
                  <a:ext cx="424181" cy="2439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0" name="直接连接符 197"/>
                <p:cNvCxnSpPr>
                  <a:cxnSpLocks noChangeShapeType="1"/>
                </p:cNvCxnSpPr>
                <p:nvPr/>
              </p:nvCxnSpPr>
              <p:spPr bwMode="auto">
                <a:xfrm>
                  <a:off x="1233671" y="4631731"/>
                  <a:ext cx="381762" cy="1610"/>
                </a:xfrm>
                <a:prstGeom prst="line">
                  <a:avLst/>
                </a:prstGeom>
                <a:noFill/>
                <a:ln w="28575" algn="ctr">
                  <a:solidFill>
                    <a:srgbClr val="FFFFFF">
                      <a:alpha val="37000"/>
                    </a:srgb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3" name="TextBox 459"/>
              <p:cNvSpPr txBox="1"/>
              <p:nvPr/>
            </p:nvSpPr>
            <p:spPr>
              <a:xfrm>
                <a:off x="9877891" y="4326552"/>
                <a:ext cx="863547" cy="307777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精制塔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9" name="椭圆 38"/>
            <p:cNvSpPr>
              <a:spLocks noChangeArrowheads="1"/>
            </p:cNvSpPr>
            <p:nvPr/>
          </p:nvSpPr>
          <p:spPr bwMode="auto">
            <a:xfrm flipV="1">
              <a:off x="3693601" y="2265706"/>
              <a:ext cx="252000" cy="252000"/>
            </a:xfrm>
            <a:prstGeom prst="ellipse">
              <a:avLst/>
            </a:prstGeom>
            <a:solidFill>
              <a:srgbClr val="25BBAF"/>
            </a:solidFill>
            <a:ln w="9525" algn="ctr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接箭头连接符 207"/>
            <p:cNvCxnSpPr>
              <a:cxnSpLocks noChangeShapeType="1"/>
            </p:cNvCxnSpPr>
            <p:nvPr/>
          </p:nvCxnSpPr>
          <p:spPr bwMode="auto">
            <a:xfrm flipV="1">
              <a:off x="3694466" y="2230946"/>
              <a:ext cx="285352" cy="299347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3713324" y="2702641"/>
              <a:ext cx="428203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4141527" y="2698901"/>
              <a:ext cx="0" cy="383383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V="1">
              <a:off x="4145001" y="3073523"/>
              <a:ext cx="567473" cy="9041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3944093" y="4752999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废水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Text Box 42"/>
            <p:cNvSpPr txBox="1">
              <a:spLocks noChangeAspect="1" noChangeArrowheads="1"/>
            </p:cNvSpPr>
            <p:nvPr/>
          </p:nvSpPr>
          <p:spPr bwMode="auto">
            <a:xfrm>
              <a:off x="3463319" y="3119813"/>
              <a:ext cx="1355016" cy="630678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5pPr>
              <a:lvl6pPr marL="2514600" indent="-228600" eaLnBrk="0" fontAlgn="base" hangingPunct="0">
                <a:lnSpc>
                  <a:spcPct val="17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6pPr>
              <a:lvl7pPr marL="2971800" indent="-228600" eaLnBrk="0" fontAlgn="base" hangingPunct="0">
                <a:lnSpc>
                  <a:spcPct val="17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7pPr>
              <a:lvl8pPr marL="3429000" indent="-228600" eaLnBrk="0" fontAlgn="base" hangingPunct="0">
                <a:lnSpc>
                  <a:spcPct val="17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8pPr>
              <a:lvl9pPr marL="3886200" indent="-228600" eaLnBrk="0" fontAlgn="base" hangingPunct="0">
                <a:lnSpc>
                  <a:spcPct val="17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乙醇粗品</a:t>
              </a:r>
              <a:endPara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90%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矩形 82"/>
            <p:cNvSpPr/>
            <p:nvPr/>
          </p:nvSpPr>
          <p:spPr bwMode="auto">
            <a:xfrm rot="5400000">
              <a:off x="4465751" y="3123626"/>
              <a:ext cx="1171936" cy="610748"/>
            </a:xfrm>
            <a:prstGeom prst="rect">
              <a:avLst/>
            </a:prstGeom>
            <a:solidFill>
              <a:srgbClr val="DAA600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4" name="直接连接符 83"/>
            <p:cNvCxnSpPr/>
            <p:nvPr/>
          </p:nvCxnSpPr>
          <p:spPr>
            <a:xfrm flipH="1">
              <a:off x="4741503" y="2854013"/>
              <a:ext cx="586561" cy="113726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156"/>
            <p:cNvSpPr txBox="1">
              <a:spLocks noChangeArrowheads="1"/>
            </p:cNvSpPr>
            <p:nvPr/>
          </p:nvSpPr>
          <p:spPr bwMode="auto">
            <a:xfrm>
              <a:off x="4865400" y="3253253"/>
              <a:ext cx="343728" cy="338554"/>
            </a:xfrm>
            <a:prstGeom prst="rect">
              <a:avLst/>
            </a:prstGeom>
            <a:solidFill>
              <a:srgbClr val="DAA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膜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2296564" y="2359155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甲醇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94" name="直接连接符 126"/>
            <p:cNvCxnSpPr>
              <a:cxnSpLocks noChangeShapeType="1"/>
            </p:cNvCxnSpPr>
            <p:nvPr/>
          </p:nvCxnSpPr>
          <p:spPr bwMode="auto">
            <a:xfrm flipV="1">
              <a:off x="2131632" y="3904860"/>
              <a:ext cx="0" cy="45839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箭头连接符 207"/>
            <p:cNvCxnSpPr>
              <a:cxnSpLocks noChangeShapeType="1"/>
            </p:cNvCxnSpPr>
            <p:nvPr/>
          </p:nvCxnSpPr>
          <p:spPr bwMode="auto">
            <a:xfrm>
              <a:off x="5034783" y="2380619"/>
              <a:ext cx="680217" cy="11087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连接符 126"/>
            <p:cNvCxnSpPr>
              <a:cxnSpLocks noChangeShapeType="1"/>
            </p:cNvCxnSpPr>
            <p:nvPr/>
          </p:nvCxnSpPr>
          <p:spPr bwMode="auto">
            <a:xfrm flipV="1">
              <a:off x="5046113" y="2380619"/>
              <a:ext cx="0" cy="45839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 Box 42"/>
            <p:cNvSpPr txBox="1">
              <a:spLocks noChangeAspect="1" noChangeArrowheads="1"/>
            </p:cNvSpPr>
            <p:nvPr/>
          </p:nvSpPr>
          <p:spPr bwMode="auto">
            <a:xfrm>
              <a:off x="5367877" y="2575253"/>
              <a:ext cx="1690404" cy="630678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5pPr>
              <a:lvl6pPr marL="2514600" indent="-228600" eaLnBrk="0" fontAlgn="base" hangingPunct="0">
                <a:lnSpc>
                  <a:spcPct val="17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6pPr>
              <a:lvl7pPr marL="2971800" indent="-228600" eaLnBrk="0" fontAlgn="base" hangingPunct="0">
                <a:lnSpc>
                  <a:spcPct val="17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7pPr>
              <a:lvl8pPr marL="3429000" indent="-228600" eaLnBrk="0" fontAlgn="base" hangingPunct="0">
                <a:lnSpc>
                  <a:spcPct val="17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8pPr>
              <a:lvl9pPr marL="3886200" indent="-228600" eaLnBrk="0" fontAlgn="base" hangingPunct="0">
                <a:lnSpc>
                  <a:spcPct val="17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kumimoji="1" sz="2800" b="1">
                  <a:solidFill>
                    <a:srgbClr val="0000CC"/>
                  </a:solidFill>
                  <a:latin typeface="黑体" panose="02010609060101010101" charset="-122"/>
                  <a:ea typeface="黑体" panose="02010609060101010101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乙醇产品（化学纯）</a:t>
              </a:r>
              <a:endPara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6" name="直接箭头连接符 105"/>
            <p:cNvCxnSpPr/>
            <p:nvPr/>
          </p:nvCxnSpPr>
          <p:spPr>
            <a:xfrm>
              <a:off x="5055689" y="4014968"/>
              <a:ext cx="0" cy="499005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矩形 107"/>
            <p:cNvSpPr/>
            <p:nvPr/>
          </p:nvSpPr>
          <p:spPr>
            <a:xfrm>
              <a:off x="4860582" y="4542260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水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9" name="矩形 169"/>
          <p:cNvSpPr>
            <a:spLocks noChangeArrowheads="1"/>
          </p:cNvSpPr>
          <p:nvPr/>
        </p:nvSpPr>
        <p:spPr bwMode="auto">
          <a:xfrm>
            <a:off x="914375" y="5343844"/>
            <a:ext cx="1585888" cy="38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858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just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158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产品指标：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360500" y="1140101"/>
            <a:ext cx="6930390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煤化工行业——煤制乙二醇副产乙醇</a:t>
            </a:r>
            <a:endParaRPr lang="zh-CN" altLang="en-US" sz="28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356961" y="227402"/>
            <a:ext cx="2792730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应用案例（</a:t>
            </a:r>
            <a:r>
              <a:rPr lang="en-US" altLang="zh-CN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000" b="1" spc="100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50269" y="2765173"/>
            <a:ext cx="833851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、高通量水处理膜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（饮用水行业）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916" y="1659877"/>
            <a:ext cx="5946464" cy="82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全国污水处理市场持续增长，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年污水排放量达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625.07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亿立方米。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9327" y="2652682"/>
            <a:ext cx="11993345" cy="3906625"/>
            <a:chOff x="198655" y="2118269"/>
            <a:chExt cx="11993345" cy="390662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55373" y="2118269"/>
              <a:ext cx="6036627" cy="2621461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6058708" y="4877626"/>
              <a:ext cx="6036628" cy="10990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n"/>
              </a:pPr>
              <a:r>
                <a:rPr lang="zh-CN" altLang="en-US" b="1" dirty="0">
                  <a:solidFill>
                    <a:srgbClr val="2F559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美国</a:t>
              </a:r>
              <a:r>
                <a:rPr lang="en-US" altLang="zh-CN" b="1" dirty="0">
                  <a:solidFill>
                    <a:srgbClr val="2F559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《</a:t>
              </a:r>
              <a:r>
                <a:rPr lang="zh-CN" altLang="en-US" b="1" dirty="0">
                  <a:solidFill>
                    <a:srgbClr val="2F559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新英格兰医学杂志</a:t>
              </a:r>
              <a:r>
                <a:rPr lang="en-US" altLang="zh-CN" b="1" dirty="0">
                  <a:solidFill>
                    <a:srgbClr val="2F559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》</a:t>
              </a:r>
              <a:r>
                <a:rPr lang="zh-CN" altLang="en-US" b="1" dirty="0">
                  <a:solidFill>
                    <a:srgbClr val="2F559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上的一项新研究表明，进入人体的微塑料会在</a:t>
              </a:r>
              <a:r>
                <a: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动脉内积聚</a:t>
              </a:r>
              <a:r>
                <a:rPr lang="zh-CN" altLang="en-US" b="1" dirty="0">
                  <a:solidFill>
                    <a:srgbClr val="22222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，</a:t>
              </a:r>
              <a:r>
                <a:rPr lang="zh-CN" altLang="en-US" b="1" dirty="0">
                  <a:solidFill>
                    <a:srgbClr val="2F559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可能增加</a:t>
              </a:r>
              <a:r>
                <a: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罹患心脏病、中风</a:t>
              </a:r>
              <a:r>
                <a:rPr lang="zh-CN" altLang="en-US" b="1" dirty="0">
                  <a:solidFill>
                    <a:srgbClr val="2F559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等疾病的风险，其对人体的危害不容小觑</a:t>
              </a:r>
              <a:r>
                <a:rPr lang="zh-CN" altLang="en-US" b="1" dirty="0">
                  <a:solidFill>
                    <a:srgbClr val="22222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。</a:t>
              </a:r>
              <a:endPara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655" y="2118269"/>
              <a:ext cx="5549154" cy="265222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227616" y="4893815"/>
              <a:ext cx="5491231" cy="11310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0" indent="-285750" algn="just">
                <a:lnSpc>
                  <a:spcPct val="125000"/>
                </a:lnSpc>
                <a:buFont typeface="Wingdings" panose="05000000000000000000" pitchFamily="2" charset="2"/>
                <a:buChar char="n"/>
              </a:pPr>
              <a:r>
                <a:rPr lang="en-US" altLang="zh-CN" b="1" dirty="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MBR</a:t>
              </a:r>
              <a:r>
                <a:rPr lang="zh-CN" altLang="en-US" b="1" dirty="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膜技术将膜分离与传统生物处理技术相结合，利用膜分离设备将生化反应池中的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活性污泥和大分子有机物截留住</a:t>
              </a:r>
              <a:r>
                <a:rPr lang="zh-CN" altLang="en-US" b="1" dirty="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765991" y="989948"/>
            <a:ext cx="9451357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158"/>
              </a:buClr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水处理市场巨大但竞争异常激烈，高通量、高稳定性膜材料是关键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56961" y="227402"/>
            <a:ext cx="376256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应用需求</a:t>
            </a:r>
            <a:r>
              <a:rPr lang="zh-CN" altLang="en-US" sz="3000" b="1" spc="1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（水处理）</a:t>
            </a:r>
            <a:endParaRPr lang="zh-CN" altLang="en-US" sz="3000" b="1" spc="100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01238" y="16598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美国哥伦比亚大学研究人员在 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PNAS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上发表了一篇，公布了惊人结果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每瓶 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升装的瓶装水中，约含有 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万个纳米和微塑料颗粒（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90%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纳米塑料，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微塑料）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07805" y="329765"/>
            <a:ext cx="48077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）高通量水处理膜市场</a:t>
            </a:r>
            <a:endParaRPr lang="zh-CN" altLang="en-US" sz="3000" b="1" spc="100" dirty="0"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4787" y="3039903"/>
            <a:ext cx="7173400" cy="3629318"/>
            <a:chOff x="217788" y="2861690"/>
            <a:chExt cx="7155540" cy="3536338"/>
          </a:xfrm>
        </p:grpSpPr>
        <p:sp>
          <p:nvSpPr>
            <p:cNvPr id="5" name="文本框 4"/>
            <p:cNvSpPr txBox="1"/>
            <p:nvPr/>
          </p:nvSpPr>
          <p:spPr>
            <a:xfrm>
              <a:off x="3293282" y="5751697"/>
              <a:ext cx="29867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超高通量陶瓷中空纤维滤膜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（常规陶瓷膜的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10-20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倍）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788" y="3533583"/>
              <a:ext cx="2020828" cy="1731268"/>
            </a:xfrm>
            <a:prstGeom prst="rect">
              <a:avLst/>
            </a:prstGeom>
            <a:ln>
              <a:solidFill>
                <a:srgbClr val="00B050"/>
              </a:solidFill>
              <a:prstDash val="sysDash"/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5414" y="2861690"/>
              <a:ext cx="2243336" cy="281157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8" name="右箭头 4"/>
            <p:cNvSpPr/>
            <p:nvPr/>
          </p:nvSpPr>
          <p:spPr>
            <a:xfrm>
              <a:off x="2317137" y="3994445"/>
              <a:ext cx="1309518" cy="794868"/>
            </a:xfrm>
            <a:prstGeom prst="rightArrow">
              <a:avLst/>
            </a:prstGeom>
            <a:gradFill rotWithShape="1">
              <a:gsLst>
                <a:gs pos="0">
                  <a:srgbClr val="4472C4">
                    <a:lumMod val="110000"/>
                    <a:satMod val="105000"/>
                    <a:tint val="67000"/>
                  </a:srgbClr>
                </a:gs>
                <a:gs pos="50000">
                  <a:srgbClr val="4472C4">
                    <a:lumMod val="105000"/>
                    <a:satMod val="103000"/>
                    <a:tint val="73000"/>
                  </a:srgbClr>
                </a:gs>
                <a:gs pos="100000">
                  <a:srgbClr val="4472C4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右箭头 4"/>
            <p:cNvSpPr/>
            <p:nvPr/>
          </p:nvSpPr>
          <p:spPr>
            <a:xfrm rot="10800000" flipH="1">
              <a:off x="5979342" y="4030403"/>
              <a:ext cx="1048249" cy="722949"/>
            </a:xfrm>
            <a:prstGeom prst="rightArrow">
              <a:avLst/>
            </a:prstGeom>
            <a:gradFill rotWithShape="1">
              <a:gsLst>
                <a:gs pos="0">
                  <a:srgbClr val="4472C4">
                    <a:lumMod val="110000"/>
                    <a:satMod val="105000"/>
                    <a:tint val="67000"/>
                  </a:srgbClr>
                </a:gs>
                <a:gs pos="50000">
                  <a:srgbClr val="4472C4">
                    <a:lumMod val="105000"/>
                    <a:satMod val="103000"/>
                    <a:tint val="73000"/>
                  </a:srgbClr>
                </a:gs>
                <a:gs pos="100000">
                  <a:srgbClr val="4472C4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982135" y="3768395"/>
              <a:ext cx="1391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战略</a:t>
              </a:r>
              <a:endParaRPr lang="zh-CN" altLang="en-US" sz="20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302761" y="4586795"/>
              <a:ext cx="1391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</a:t>
              </a:r>
              <a:endParaRPr lang="zh-CN" altLang="en-US" sz="20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332623" y="3823633"/>
              <a:ext cx="1391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研发</a:t>
              </a:r>
              <a:endParaRPr lang="zh-CN" altLang="en-US" sz="20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982134" y="4632481"/>
              <a:ext cx="1391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合作</a:t>
              </a:r>
              <a:endParaRPr lang="zh-CN" altLang="en-US" sz="20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7469546" y="5723944"/>
            <a:ext cx="379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目标合作伙伴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3119" y="1729028"/>
            <a:ext cx="1077759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围绕水处理市场，与江苏久吾</a:t>
            </a:r>
            <a:r>
              <a:rPr lang="zh-CN" altLang="en-US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 err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AOSmith</a:t>
            </a:r>
            <a:r>
              <a:rPr lang="zh-CN" altLang="zh-CN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等行业龙头企业</a:t>
            </a:r>
            <a:r>
              <a:rPr lang="zh-CN" altLang="en-US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、工程公司</a:t>
            </a:r>
            <a:r>
              <a:rPr lang="zh-CN" altLang="zh-CN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开展战略合作，致力于膜生物反应器废水处理、饮用水净化市场的业务推广</a:t>
            </a:r>
            <a:r>
              <a:rPr lang="zh-CN" altLang="en-US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，加快水处理市场的膜产品替代。</a:t>
            </a:r>
            <a:endParaRPr lang="zh-CN" altLang="en-US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587" y="3278287"/>
            <a:ext cx="4320000" cy="2318961"/>
          </a:xfrm>
          <a:prstGeom prst="rect">
            <a:avLst/>
          </a:prstGeom>
          <a:ln>
            <a:solidFill>
              <a:srgbClr val="00B050"/>
            </a:solidFill>
            <a:prstDash val="sysDash"/>
          </a:ln>
        </p:spPr>
      </p:pic>
      <p:sp>
        <p:nvSpPr>
          <p:cNvPr id="17" name="文本框 16"/>
          <p:cNvSpPr txBox="1"/>
          <p:nvPr/>
        </p:nvSpPr>
        <p:spPr>
          <a:xfrm>
            <a:off x="558500" y="1206998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市场产品策略：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与用户端企业合作，构建销售网络生态，成为高端水处理膜供应商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079740" y="4211320"/>
            <a:ext cx="3752850" cy="1501775"/>
          </a:xfrm>
          <a:prstGeom prst="rect">
            <a:avLst/>
          </a:prstGeom>
          <a:noFill/>
          <a:ln>
            <a:noFill/>
          </a:ln>
          <a:effectLst>
            <a:outerShdw blurRad="63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74012" y="2050443"/>
            <a:ext cx="3918315" cy="2102239"/>
          </a:xfrm>
          <a:prstGeom prst="rect">
            <a:avLst/>
          </a:prstGeom>
          <a:noFill/>
          <a:ln>
            <a:noFill/>
          </a:ln>
          <a:effectLst>
            <a:outerShdw blurRad="63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1384" y="1109287"/>
            <a:ext cx="10608237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2022</a:t>
            </a:r>
            <a:r>
              <a:rPr lang="zh-CN" altLang="zh-CN" sz="2400" b="1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年膜法水处理市场规模增长至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2364.6</a:t>
            </a:r>
            <a:r>
              <a:rPr lang="zh-CN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亿元</a:t>
            </a:r>
            <a:r>
              <a:rPr lang="zh-CN" altLang="zh-CN" sz="2400" b="1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，其中，</a:t>
            </a:r>
            <a:r>
              <a:rPr lang="zh-CN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膜材料占比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15%</a:t>
            </a:r>
            <a:r>
              <a:rPr lang="zh-CN" altLang="en-US" sz="2400" b="1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，约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350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亿元</a:t>
            </a:r>
            <a:r>
              <a:rPr lang="zh-CN" altLang="en-US" sz="2400" b="1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的市场规模。</a:t>
            </a:r>
            <a:endParaRPr lang="zh-CN" altLang="en-US" sz="2400" b="1" dirty="0">
              <a:solidFill>
                <a:srgbClr val="2F5597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当前重点突破中空纤维陶瓷膜在盐水精制和工业循环水中的应用</a:t>
            </a:r>
            <a:endParaRPr lang="zh-CN" altLang="en-US" sz="2400" b="1" dirty="0">
              <a:solidFill>
                <a:srgbClr val="2F5597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7805" y="329765"/>
            <a:ext cx="48077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000" b="1" spc="100" dirty="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）高通量水处理膜市场</a:t>
            </a:r>
            <a:endParaRPr lang="zh-CN" altLang="en-US" sz="3000" b="1" spc="100" dirty="0"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690" y="3088640"/>
            <a:ext cx="2647315" cy="35312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112547" y="3025027"/>
            <a:ext cx="9920418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zh-CN" altLang="en-US" sz="2400" b="1" dirty="0">
                <a:solidFill>
                  <a:srgbClr val="0041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中空纤维陶瓷膜在水处理方面优势突出，具有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超高的水通量</a:t>
            </a:r>
            <a:endParaRPr lang="zh-CN" altLang="en-US" sz="2400" b="1" dirty="0">
              <a:solidFill>
                <a:srgbClr val="0041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721735" y="3684905"/>
          <a:ext cx="7364095" cy="280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670"/>
                <a:gridCol w="2042795"/>
                <a:gridCol w="1468755"/>
                <a:gridCol w="1604010"/>
                <a:gridCol w="1586865"/>
              </a:tblGrid>
              <a:tr h="7022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序号</a:t>
                      </a:r>
                      <a:endParaRPr lang="zh-CN" altLang="en-US"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膜种类</a:t>
                      </a:r>
                      <a:endParaRPr lang="zh-CN" altLang="en-US"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装填密度／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altLang="zh-CN" sz="2000" baseline="30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·m</a:t>
                      </a:r>
                      <a:r>
                        <a:rPr lang="en-US" altLang="zh-CN" sz="2000" baseline="30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-3</a:t>
                      </a:r>
                      <a:endParaRPr lang="zh-CN" altLang="en-US" sz="2000" baseline="30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水通量／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altLang="zh-CN" sz="2000" baseline="30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·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h</a:t>
                      </a:r>
                      <a:r>
                        <a:rPr lang="en-US" altLang="zh-CN" sz="2000" baseline="30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-1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·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altLang="zh-CN" sz="2000" baseline="30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-2</a:t>
                      </a:r>
                      <a:endParaRPr lang="zh-CN" altLang="en-US"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使用寿命</a:t>
                      </a:r>
                      <a:endParaRPr lang="zh-CN" altLang="en-US"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7022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000" b="1" kern="1200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中空纤维有机膜</a:t>
                      </a:r>
                      <a:endParaRPr lang="zh-CN" altLang="en-US" sz="2000" b="1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1000</a:t>
                      </a:r>
                      <a:endParaRPr lang="zh-CN" altLang="en-US" sz="2000" b="1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0.1</a:t>
                      </a:r>
                      <a:endParaRPr lang="zh-CN" altLang="en-US" sz="2000" b="1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3-5</a:t>
                      </a:r>
                      <a:r>
                        <a:rPr lang="zh-CN" altLang="en-US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年</a:t>
                      </a:r>
                      <a:endParaRPr lang="zh-CN" altLang="en-US" sz="2000" b="1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7022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2000" b="1" kern="1200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平板陶瓷膜</a:t>
                      </a:r>
                      <a:endParaRPr lang="zh-CN" altLang="en-US" sz="2000" b="1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44</a:t>
                      </a:r>
                      <a:endParaRPr lang="zh-CN" altLang="en-US" sz="2000" b="1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0.85</a:t>
                      </a:r>
                      <a:endParaRPr lang="zh-CN" altLang="en-US" sz="2000" b="1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2000" b="1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年以上</a:t>
                      </a:r>
                      <a:endParaRPr lang="zh-CN" altLang="en-US" sz="2000" b="1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7022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2000" b="1" kern="1200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kern="1200" dirty="0">
                          <a:solidFill>
                            <a:srgbClr val="2F5597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中空纤维陶瓷膜</a:t>
                      </a:r>
                      <a:endParaRPr lang="en-US" altLang="zh-CN" sz="2000" b="1" kern="1200" dirty="0">
                        <a:solidFill>
                          <a:srgbClr val="2F5597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本项目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137</a:t>
                      </a:r>
                      <a:endParaRPr lang="en-US" altLang="zh-CN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&gt;18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年以上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gray">
          <a:xfrm>
            <a:off x="3148404" y="1959558"/>
            <a:ext cx="498475" cy="481012"/>
          </a:xfrm>
          <a:prstGeom prst="ellipse">
            <a:avLst/>
          </a:prstGeom>
          <a:gradFill rotWithShape="1">
            <a:gsLst>
              <a:gs pos="0">
                <a:srgbClr val="93C052">
                  <a:gamma/>
                  <a:shade val="46275"/>
                  <a:invGamma/>
                </a:srgbClr>
              </a:gs>
              <a:gs pos="100000">
                <a:srgbClr val="93C052"/>
              </a:gs>
            </a:gsLst>
            <a:lin ang="0" scaled="1"/>
          </a:gradFill>
          <a:ln w="9525" algn="ctr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AutoShape 7"/>
          <p:cNvSpPr>
            <a:spLocks noChangeArrowheads="1"/>
          </p:cNvSpPr>
          <p:nvPr/>
        </p:nvSpPr>
        <p:spPr bwMode="gray">
          <a:xfrm>
            <a:off x="3530992" y="1943683"/>
            <a:ext cx="4799012" cy="50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3C052"/>
              </a:gs>
              <a:gs pos="100000">
                <a:srgbClr val="93C052">
                  <a:gamma/>
                  <a:tint val="0"/>
                  <a:invGamma/>
                </a:srgbClr>
              </a:gs>
            </a:gsLst>
            <a:lin ang="0" scaled="1"/>
          </a:gradFill>
          <a:ln w="9525" algn="ctr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Oval 8"/>
          <p:cNvSpPr>
            <a:spLocks noChangeArrowheads="1"/>
          </p:cNvSpPr>
          <p:nvPr/>
        </p:nvSpPr>
        <p:spPr bwMode="gray">
          <a:xfrm>
            <a:off x="3223017" y="2029408"/>
            <a:ext cx="346075" cy="333375"/>
          </a:xfrm>
          <a:prstGeom prst="ellipse">
            <a:avLst/>
          </a:prstGeom>
          <a:gradFill rotWithShape="1">
            <a:gsLst>
              <a:gs pos="0">
                <a:srgbClr val="855ADA"/>
              </a:gs>
              <a:gs pos="100000">
                <a:srgbClr val="855ADA">
                  <a:gamma/>
                  <a:shade val="76078"/>
                  <a:invGamma/>
                </a:srgbClr>
              </a:gs>
            </a:gsLst>
            <a:lin ang="5400000" scaled="1"/>
          </a:gradFill>
          <a:ln w="9525" algn="ctr">
            <a:noFill/>
            <a:rou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gray">
          <a:xfrm>
            <a:off x="3227779" y="2016708"/>
            <a:ext cx="250825" cy="242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9940B">
                  <a:alpha val="0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10"/>
          <p:cNvGrpSpPr/>
          <p:nvPr/>
        </p:nvGrpSpPr>
        <p:grpSpPr bwMode="auto">
          <a:xfrm>
            <a:off x="3190388" y="3005086"/>
            <a:ext cx="5181600" cy="508000"/>
            <a:chOff x="1419" y="1480"/>
            <a:chExt cx="3575" cy="363"/>
          </a:xfrm>
        </p:grpSpPr>
        <p:grpSp>
          <p:nvGrpSpPr>
            <p:cNvPr id="7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0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rgbClr val="93C052">
                      <a:gamma/>
                      <a:shade val="46275"/>
                      <a:invGamma/>
                    </a:srgbClr>
                  </a:gs>
                  <a:gs pos="100000">
                    <a:srgbClr val="93C052"/>
                  </a:gs>
                </a:gsLst>
                <a:lin ang="0" scaled="1"/>
              </a:gradFill>
              <a:ln w="9525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93C052"/>
                  </a:gs>
                  <a:gs pos="100000">
                    <a:srgbClr val="93C052">
                      <a:gamma/>
                      <a:tint val="0"/>
                      <a:invGamma/>
                    </a:srgbClr>
                  </a:gs>
                </a:gsLst>
                <a:lin ang="0" scaled="1"/>
              </a:gradFill>
              <a:ln w="9525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rgbClr val="855ADA"/>
                </a:gs>
                <a:gs pos="100000">
                  <a:srgbClr val="855ADA">
                    <a:gamma/>
                    <a:shade val="76078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Group 16"/>
          <p:cNvGrpSpPr/>
          <p:nvPr/>
        </p:nvGrpSpPr>
        <p:grpSpPr bwMode="auto">
          <a:xfrm>
            <a:off x="3204091" y="4038835"/>
            <a:ext cx="5181600" cy="508000"/>
            <a:chOff x="1419" y="1480"/>
            <a:chExt cx="3575" cy="363"/>
          </a:xfrm>
        </p:grpSpPr>
        <p:grpSp>
          <p:nvGrpSpPr>
            <p:cNvPr id="13" name="Group 17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6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rgbClr val="93C052">
                      <a:gamma/>
                      <a:shade val="46275"/>
                      <a:invGamma/>
                    </a:srgbClr>
                  </a:gs>
                  <a:gs pos="100000">
                    <a:srgbClr val="93C052"/>
                  </a:gs>
                </a:gsLst>
                <a:lin ang="0" scaled="1"/>
              </a:gradFill>
              <a:ln w="9525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93C052"/>
                  </a:gs>
                  <a:gs pos="100000">
                    <a:srgbClr val="93C052">
                      <a:gamma/>
                      <a:tint val="0"/>
                      <a:invGamma/>
                    </a:srgbClr>
                  </a:gs>
                </a:gsLst>
                <a:lin ang="0" scaled="1"/>
              </a:gradFill>
              <a:ln w="9525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rgbClr val="855ADA"/>
                </a:gs>
                <a:gs pos="100000">
                  <a:srgbClr val="855ADA">
                    <a:gamma/>
                    <a:shade val="76078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" name="Group 22"/>
          <p:cNvGrpSpPr/>
          <p:nvPr/>
        </p:nvGrpSpPr>
        <p:grpSpPr bwMode="auto">
          <a:xfrm>
            <a:off x="3212221" y="5041340"/>
            <a:ext cx="5181600" cy="508000"/>
            <a:chOff x="1419" y="1480"/>
            <a:chExt cx="3575" cy="363"/>
          </a:xfrm>
        </p:grpSpPr>
        <p:grpSp>
          <p:nvGrpSpPr>
            <p:cNvPr id="19" name="Group 23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" name="Oval 24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rgbClr val="93C052">
                      <a:gamma/>
                      <a:shade val="46275"/>
                      <a:invGamma/>
                    </a:srgbClr>
                  </a:gs>
                  <a:gs pos="100000">
                    <a:srgbClr val="93C052"/>
                  </a:gs>
                </a:gsLst>
                <a:lin ang="0" scaled="1"/>
              </a:gradFill>
              <a:ln w="9525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AutoShape 25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93C052"/>
                  </a:gs>
                  <a:gs pos="100000">
                    <a:srgbClr val="93C052">
                      <a:gamma/>
                      <a:tint val="0"/>
                      <a:invGamma/>
                    </a:srgbClr>
                  </a:gs>
                </a:gsLst>
                <a:lin ang="0" scaled="1"/>
              </a:gradFill>
              <a:ln w="9525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0" name="Oval 26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rgbClr val="855ADA"/>
                </a:gs>
                <a:gs pos="100000">
                  <a:srgbClr val="855ADA">
                    <a:gamma/>
                    <a:shade val="76078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Oval 27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gray">
          <a:xfrm>
            <a:off x="3736513" y="3099030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rgbClr val="C0C0C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聚焦国家双碳战略发展高性能气体分离分子筛膜</a:t>
            </a:r>
            <a:endParaRPr kumimoji="1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AutoShape 35"/>
          <p:cNvSpPr>
            <a:spLocks noChangeArrowheads="1"/>
          </p:cNvSpPr>
          <p:nvPr/>
        </p:nvSpPr>
        <p:spPr bwMode="gray">
          <a:xfrm>
            <a:off x="3754862" y="4110758"/>
            <a:ext cx="4665662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rgbClr val="C0C0C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液体分离与气体分离业务的同频共振推升公司价值</a:t>
            </a:r>
            <a:endParaRPr kumimoji="1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AutoShape 36"/>
          <p:cNvSpPr>
            <a:spLocks noChangeArrowheads="1"/>
          </p:cNvSpPr>
          <p:nvPr/>
        </p:nvSpPr>
        <p:spPr bwMode="gray">
          <a:xfrm>
            <a:off x="3901285" y="5134214"/>
            <a:ext cx="4665662" cy="31591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rgbClr val="C0C0C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年形成自有产业基地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国内领先国际知名膜公司</a:t>
            </a:r>
            <a:endParaRPr kumimoji="1" lang="en-US" altLang="ko-KR" sz="2400" b="1" kern="0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7"/>
          <p:cNvSpPr>
            <a:spLocks noChangeArrowheads="1"/>
          </p:cNvSpPr>
          <p:nvPr/>
        </p:nvSpPr>
        <p:spPr bwMode="gray">
          <a:xfrm>
            <a:off x="3809864" y="2050046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rgbClr val="C0C0C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以分子筛膜为核心的大工程和解决方案提升业务规模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AutoShape 40"/>
          <p:cNvSpPr>
            <a:spLocks noChangeArrowheads="1"/>
          </p:cNvSpPr>
          <p:nvPr/>
        </p:nvSpPr>
        <p:spPr bwMode="ltGray">
          <a:xfrm rot="5400000">
            <a:off x="1753770" y="2708809"/>
            <a:ext cx="301625" cy="949325"/>
          </a:xfrm>
          <a:prstGeom prst="moon">
            <a:avLst>
              <a:gd name="adj" fmla="val 14597"/>
            </a:avLst>
          </a:prstGeom>
          <a:solidFill>
            <a:srgbClr val="4EA7E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66458" y="3239144"/>
            <a:ext cx="1570943" cy="1308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30607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长期发</a:t>
            </a:r>
            <a:endParaRPr kumimoji="0" lang="en-US" altLang="zh-CN" sz="2800" b="1" i="0" u="none" strike="noStrike" kern="1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0607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展规划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3183725" y="225804"/>
            <a:ext cx="4054172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长期发展规划</a:t>
            </a:r>
            <a:endParaRPr kumimoji="0" lang="zh-CN" altLang="en-US" sz="3000" b="1" i="0" u="none" strike="noStrike" kern="1200" cap="none" spc="10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" y="1264920"/>
            <a:ext cx="12192635" cy="5589905"/>
          </a:xfrm>
          <a:prstGeom prst="rect">
            <a:avLst/>
          </a:prstGeom>
        </p:spPr>
      </p:pic>
      <p:pic>
        <p:nvPicPr>
          <p:cNvPr id="4" name="图片 3" descr="旭一科技LOGO栅格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02485" y="606425"/>
            <a:ext cx="2449830" cy="209931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114067" y="4246294"/>
            <a:ext cx="4061971" cy="119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6070" algn="just">
              <a:lnSpc>
                <a:spcPct val="150000"/>
              </a:lnSpc>
            </a:pPr>
            <a:r>
              <a:rPr lang="zh-CN" altLang="en-US" sz="5400" b="1" kern="100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谢谢聆听！</a:t>
            </a:r>
            <a:endParaRPr lang="zh-CN" altLang="zh-CN" sz="5400" kern="100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16015" y="1034415"/>
            <a:ext cx="4130040" cy="21386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6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旭 日 东 升</a:t>
            </a:r>
            <a:endParaRPr lang="en-US" altLang="zh-CN" sz="60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6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天 人 合 一</a:t>
            </a:r>
            <a:endParaRPr lang="zh-CN" altLang="en-US" sz="60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PLACING_PICTURE_USER_VIEWPORT" val="{&quot;height&quot;:9954.488188976378,&quot;width&quot;:14074.76062992126}"/>
</p:tagLst>
</file>

<file path=ppt/tags/tag10.xml><?xml version="1.0" encoding="utf-8"?>
<p:tagLst xmlns:p="http://schemas.openxmlformats.org/presentationml/2006/main">
  <p:tag name="KSO_WM_UNIT_PLACING_PICTURE_USER_VIEWPORT" val="{&quot;height&quot;:3372,&quot;width&quot;:3935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DIAGRAM_VIRTUALLY_FRAME" val="{&quot;height&quot;:422.4379527559055,&quot;left&quot;:603.0157480314961,&quot;top&quot;:61.149527559055116,&quot;width&quot;:351.7294488188977}"/>
</p:tagLst>
</file>

<file path=ppt/tags/tag22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23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24.xml><?xml version="1.0" encoding="utf-8"?>
<p:tagLst xmlns:p="http://schemas.openxmlformats.org/presentationml/2006/main">
  <p:tag name="KSO_WM_DIAGRAM_VIRTUALLY_FRAME" val="{&quot;height&quot;:422.4379527559055,&quot;left&quot;:603.0157480314961,&quot;top&quot;:61.149527559055116,&quot;width&quot;:351.7294488188977}"/>
</p:tagLst>
</file>

<file path=ppt/tags/tag25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26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27.xml><?xml version="1.0" encoding="utf-8"?>
<p:tagLst xmlns:p="http://schemas.openxmlformats.org/presentationml/2006/main">
  <p:tag name="KSO_WM_DIAGRAM_VIRTUALLY_FRAME" val="{&quot;height&quot;:422.4379527559055,&quot;left&quot;:603.0157480314961,&quot;top&quot;:61.149527559055116,&quot;width&quot;:351.7294488188977}"/>
</p:tagLst>
</file>

<file path=ppt/tags/tag28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29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30.xml><?xml version="1.0" encoding="utf-8"?>
<p:tagLst xmlns:p="http://schemas.openxmlformats.org/presentationml/2006/main">
  <p:tag name="KSO_WM_DIAGRAM_VIRTUALLY_FRAME" val="{&quot;height&quot;:422.4379527559055,&quot;left&quot;:603.0157480314961,&quot;top&quot;:61.149527559055116,&quot;width&quot;:351.7294488188977}"/>
</p:tagLst>
</file>

<file path=ppt/tags/tag31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32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33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34.xml><?xml version="1.0" encoding="utf-8"?>
<p:tagLst xmlns:p="http://schemas.openxmlformats.org/presentationml/2006/main">
  <p:tag name="KSO_WM_BEAUTIFY_FLAG" val=""/>
  <p:tag name="KSO_WM_DIAGRAM_VIRTUALLY_FRAME" val="{&quot;height&quot;:422.4379527559055,&quot;left&quot;:603.0157480314961,&quot;top&quot;:61.149527559055116,&quot;width&quot;:351.7294488188977}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UNIT_PLACING_PICTURE_USER_VIEWPORT" val="{&quot;height&quot;:3372,&quot;width&quot;:3935}"/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UNIT_PLACING_PICTURE_USER_VIEWPORT" val="{&quot;height&quot;:3372,&quot;width&quot;:3935}"/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UNIT_PLACING_PICTURE_USER_VIEWPORT" val="{&quot;height&quot;:3372,&quot;width&quot;:3935}"/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UNIT_TABLE_BEAUTIFY" val="smartTable{83a5f2a8-8be0-4792-9e01-cbcd3e698386}"/>
  <p:tag name="TABLE_ENDDRAG_ORIGIN_RECT" val="440*122"/>
  <p:tag name="TABLE_ENDDRAG_RECT" val="36*368*440*122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UNIT_PLACING_PICTURE_USER_VIEWPORT" val="{&quot;height&quot;:9954.488188976378,&quot;width&quot;:14074.76062992126}"/>
</p:tagLst>
</file>

<file path=ppt/tags/tag56.xml><?xml version="1.0" encoding="utf-8"?>
<p:tagLst xmlns:p="http://schemas.openxmlformats.org/presentationml/2006/main">
  <p:tag name="KSO_WM_UNIT_PLACING_PICTURE_USER_VIEWPORT" val="{&quot;height&quot;:2726,&quot;width&quot;:3182}"/>
  <p:tag name="KSO_WM_BEAUTIFY_FLAG" val=""/>
</p:tagLst>
</file>

<file path=ppt/tags/tag57.xml><?xml version="1.0" encoding="utf-8"?>
<p:tagLst xmlns:p="http://schemas.openxmlformats.org/presentationml/2006/main">
  <p:tag name="ISPRING_PRESENTATION_TITLE" val="PowerPoint 演示文稿"/>
  <p:tag name="KSO_WPP_MARK_KEY" val="2da82d88-25fc-4a85-8b97-e140124494a3"/>
  <p:tag name="COMMONDATA" val="eyJoZGlkIjoiOTRhNjA3MDE3MWUwMDZlMTAzNjk0M2M0ZDk5NDQ0NT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2420</Words>
  <Application>WPS 演示</Application>
  <PresentationFormat>宽屏</PresentationFormat>
  <Paragraphs>550</Paragraphs>
  <Slides>21</Slides>
  <Notes>14</Notes>
  <HiddenSlides>0</HiddenSlides>
  <MMClips>1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55" baseType="lpstr">
      <vt:lpstr>Arial</vt:lpstr>
      <vt:lpstr>宋体</vt:lpstr>
      <vt:lpstr>Wingdings</vt:lpstr>
      <vt:lpstr>等线</vt:lpstr>
      <vt:lpstr>华文新魏</vt:lpstr>
      <vt:lpstr>微软雅黑</vt:lpstr>
      <vt:lpstr>Times New Roman</vt:lpstr>
      <vt:lpstr>华文隶书</vt:lpstr>
      <vt:lpstr>Kartika</vt:lpstr>
      <vt:lpstr>DejaVu Math TeX Gyre</vt:lpstr>
      <vt:lpstr>方正姚体</vt:lpstr>
      <vt:lpstr>Calibri</vt:lpstr>
      <vt:lpstr>思源黑体</vt:lpstr>
      <vt:lpstr>思源黑体 CN Normal</vt:lpstr>
      <vt:lpstr>黑体</vt:lpstr>
      <vt:lpstr>思源黑体 CN Medium</vt:lpstr>
      <vt:lpstr>Arial</vt:lpstr>
      <vt:lpstr>Wingdings</vt:lpstr>
      <vt:lpstr>Calibri</vt:lpstr>
      <vt:lpstr>Arial Unicode MS</vt:lpstr>
      <vt:lpstr>Tahoma</vt:lpstr>
      <vt:lpstr>楷体_GB2312</vt:lpstr>
      <vt:lpstr>新宋体</vt:lpstr>
      <vt:lpstr>Symbol</vt:lpstr>
      <vt:lpstr>幼圆</vt:lpstr>
      <vt:lpstr>Malgun Gothic</vt:lpstr>
      <vt:lpstr>Gulim</vt:lpstr>
      <vt:lpstr>KSOF4CFA6896</vt:lpstr>
      <vt:lpstr>AMGDT</vt:lpstr>
      <vt:lpstr>等线 Light</vt:lpstr>
      <vt:lpstr>Gulim</vt:lpstr>
      <vt:lpstr>Symbol</vt:lpstr>
      <vt:lpstr>华文楷体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天勤</cp:lastModifiedBy>
  <cp:revision>670</cp:revision>
  <dcterms:created xsi:type="dcterms:W3CDTF">2026-04-01T04:12:00Z</dcterms:created>
  <dcterms:modified xsi:type="dcterms:W3CDTF">2026-06-15T11:37:35Z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329AAC729B1F43B3B5349B701536E15B_13</vt:lpwstr>
  </property>
  <property fmtid="{D5CDD505-2E9C-101B-9397-08002B2CF9AE}" pid="3" name="KSOProductBuildVer">
    <vt:lpwstr>2052-12.1.0.26895</vt:lpwstr>
  </property>
</Properties>
</file>