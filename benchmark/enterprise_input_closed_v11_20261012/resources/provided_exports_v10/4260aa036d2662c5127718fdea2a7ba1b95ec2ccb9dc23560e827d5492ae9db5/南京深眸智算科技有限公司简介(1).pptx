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9" r:id="rId3"/>
  </p:sldMasterIdLst>
  <p:notesMasterIdLst>
    <p:notesMasterId r:id="rId5"/>
  </p:notesMasterIdLst>
  <p:sldIdLst>
    <p:sldId id="260" r:id="rId4"/>
    <p:sldId id="494" r:id="rId6"/>
    <p:sldId id="510" r:id="rId7"/>
    <p:sldId id="517" r:id="rId8"/>
    <p:sldId id="534" r:id="rId9"/>
    <p:sldId id="537" r:id="rId10"/>
    <p:sldId id="538" r:id="rId11"/>
    <p:sldId id="539" r:id="rId12"/>
    <p:sldId id="540" r:id="rId13"/>
    <p:sldId id="541" r:id="rId14"/>
    <p:sldId id="542" r:id="rId15"/>
    <p:sldId id="262" r:id="rId16"/>
    <p:sldId id="353" r:id="rId17"/>
    <p:sldId id="448" r:id="rId18"/>
    <p:sldId id="394" r:id="rId19"/>
    <p:sldId id="462" r:id="rId20"/>
    <p:sldId id="523" r:id="rId21"/>
    <p:sldId id="479" r:id="rId22"/>
    <p:sldId id="544" r:id="rId23"/>
    <p:sldId id="545" r:id="rId24"/>
    <p:sldId id="546" r:id="rId25"/>
    <p:sldId id="547" r:id="rId26"/>
    <p:sldId id="548" r:id="rId27"/>
    <p:sldId id="549" r:id="rId28"/>
    <p:sldId id="550" r:id="rId29"/>
    <p:sldId id="551" r:id="rId30"/>
    <p:sldId id="552" r:id="rId31"/>
    <p:sldId id="553" r:id="rId32"/>
    <p:sldId id="554" r:id="rId33"/>
    <p:sldId id="536" r:id="rId34"/>
    <p:sldId id="522" r:id="rId35"/>
    <p:sldId id="265" r:id="rId36"/>
  </p:sldIdLst>
  <p:sldSz cx="9144000" cy="5143500" type="screen16x9"/>
  <p:notesSz cx="6858000" cy="9144000"/>
  <p:custDataLst>
    <p:tags r:id="rId41"/>
  </p:custDataLst>
  <p:defaultText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67"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5A11"/>
    <a:srgbClr val="74B0DD"/>
    <a:srgbClr val="065EA3"/>
    <a:srgbClr val="0080CC"/>
    <a:srgbClr val="0072CE"/>
    <a:srgbClr val="0070C0"/>
    <a:srgbClr val="007FD5"/>
    <a:srgbClr val="C9EAFF"/>
    <a:srgbClr val="E8E8E8"/>
    <a:srgbClr val="005E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309" autoAdjust="0"/>
    <p:restoredTop sz="95856" autoAdjust="0"/>
  </p:normalViewPr>
  <p:slideViewPr>
    <p:cSldViewPr snapToGrid="0" showGuides="1">
      <p:cViewPr varScale="1">
        <p:scale>
          <a:sx n="89" d="100"/>
          <a:sy n="89" d="100"/>
        </p:scale>
        <p:origin x="-528" y="-102"/>
      </p:cViewPr>
      <p:guideLst>
        <p:guide orient="horz" pos="1767"/>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1" Type="http://schemas.openxmlformats.org/officeDocument/2006/relationships/tags" Target="tags/tag122.xml"/><Relationship Id="rId40" Type="http://schemas.openxmlformats.org/officeDocument/2006/relationships/commentAuthors" Target="commentAuthors.xml"/><Relationship Id="rId4" Type="http://schemas.openxmlformats.org/officeDocument/2006/relationships/slide" Target="slides/slide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D6FEEB-E1DF-4A27-84CE-FEAB69D6522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BE65E-D6A0-433A-9769-180C0D5DD83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成果具体协商，覆盖什么什么行业，在哪些哪些领域发挥作用，加个论文，</a:t>
            </a:r>
            <a:endParaRPr lang="zh-CN" altLang="en-US" dirty="0"/>
          </a:p>
        </p:txBody>
      </p:sp>
      <p:sp>
        <p:nvSpPr>
          <p:cNvPr id="4" name="灯片编号占位符 3"/>
          <p:cNvSpPr>
            <a:spLocks noGrp="1"/>
          </p:cNvSpPr>
          <p:nvPr>
            <p:ph type="sldNum" sz="quarter" idx="5"/>
          </p:nvPr>
        </p:nvSpPr>
        <p:spPr/>
        <p:txBody>
          <a:bodyPr/>
          <a:lstStyle/>
          <a:p>
            <a:fld id="{3CCD7480-E982-4AD4-9620-08BD030E80A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3</a:t>
            </a:r>
            <a:r>
              <a:rPr lang="zh-CN" altLang="en-US" dirty="0"/>
              <a:t>块增加对比，公式清晰</a:t>
            </a:r>
            <a:endParaRPr lang="zh-CN" altLang="en-US" dirty="0"/>
          </a:p>
        </p:txBody>
      </p:sp>
      <p:sp>
        <p:nvSpPr>
          <p:cNvPr id="4" name="灯片编号占位符 3"/>
          <p:cNvSpPr>
            <a:spLocks noGrp="1"/>
          </p:cNvSpPr>
          <p:nvPr>
            <p:ph type="sldNum" sz="quarter" idx="5"/>
          </p:nvPr>
        </p:nvSpPr>
        <p:spPr/>
        <p:txBody>
          <a:bodyPr/>
          <a:lstStyle/>
          <a:p>
            <a:fld id="{3CCD7480-E982-4AD4-9620-08BD030E80A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3BE65E-D6A0-433A-9769-180C0D5DD83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2701528"/>
            <a:ext cx="6858000" cy="1241823"/>
          </a:xfrm>
        </p:spPr>
        <p:txBody>
          <a:bodyPr/>
          <a:lstStyle>
            <a:lvl1pPr marL="0" indent="0" algn="ctr">
              <a:buNone/>
              <a:defRPr sz="1800"/>
            </a:lvl1pPr>
            <a:lvl2pPr marL="342900" indent="0" algn="ctr">
              <a:buNone/>
              <a:defRPr sz="1600"/>
            </a:lvl2pPr>
            <a:lvl3pPr marL="685800" indent="0" algn="ctr">
              <a:buNone/>
              <a:defRPr sz="1400"/>
            </a:lvl3pPr>
            <a:lvl4pPr marL="1028700" indent="0" algn="ctr">
              <a:buNone/>
              <a:defRPr sz="1100"/>
            </a:lvl4pPr>
            <a:lvl5pPr marL="1371600" indent="0" algn="ctr">
              <a:buNone/>
              <a:defRPr sz="1100"/>
            </a:lvl5pPr>
            <a:lvl6pPr marL="1714500" indent="0" algn="ctr">
              <a:buNone/>
              <a:defRPr sz="1100"/>
            </a:lvl6pPr>
            <a:lvl7pPr marL="2057400" indent="0" algn="ctr">
              <a:buNone/>
              <a:defRPr sz="1100"/>
            </a:lvl7pPr>
            <a:lvl8pPr marL="2400300" indent="0" algn="ctr">
              <a:buNone/>
              <a:defRPr sz="1100"/>
            </a:lvl8pPr>
            <a:lvl9pPr marL="2743200" indent="0" algn="ctr">
              <a:buNone/>
              <a:defRPr sz="11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166FB0D-3649-4659-A4EA-16B622D04D1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BC0CA1-3571-4BD4-9253-723F5D1C3D9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166FB0D-3649-4659-A4EA-16B622D04D1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BC0CA1-3571-4BD4-9253-723F5D1C3D94}" type="slidenum">
              <a:rPr lang="zh-CN" altLang="en-US" smtClean="0"/>
            </a:fld>
            <a:endParaRPr lang="zh-CN" altLang="en-US"/>
          </a:p>
        </p:txBody>
      </p:sp>
      <p:grpSp>
        <p:nvGrpSpPr>
          <p:cNvPr id="11" name="组合 10"/>
          <p:cNvGrpSpPr/>
          <p:nvPr userDrawn="1"/>
        </p:nvGrpSpPr>
        <p:grpSpPr>
          <a:xfrm>
            <a:off x="-2" y="120703"/>
            <a:ext cx="285757" cy="479147"/>
            <a:chOff x="-2" y="120703"/>
            <a:chExt cx="285757" cy="479147"/>
          </a:xfrm>
        </p:grpSpPr>
        <p:sp>
          <p:nvSpPr>
            <p:cNvPr id="7" name="等腰三角形 6"/>
            <p:cNvSpPr/>
            <p:nvPr userDrawn="1"/>
          </p:nvSpPr>
          <p:spPr>
            <a:xfrm rot="5400000">
              <a:off x="-52804" y="173505"/>
              <a:ext cx="391362" cy="285757"/>
            </a:xfrm>
            <a:prstGeom prst="triangle">
              <a:avLst/>
            </a:prstGeom>
            <a:gradFill>
              <a:gsLst>
                <a:gs pos="0">
                  <a:srgbClr val="0070C0"/>
                </a:gs>
                <a:gs pos="100000">
                  <a:srgbClr val="00B0F0"/>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rot="5400000">
              <a:off x="-52804" y="261290"/>
              <a:ext cx="391362" cy="285757"/>
            </a:xfrm>
            <a:prstGeom prst="triangle">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userDrawn="1"/>
        </p:nvGrpSpPr>
        <p:grpSpPr>
          <a:xfrm>
            <a:off x="8858242" y="4593948"/>
            <a:ext cx="285757" cy="479147"/>
            <a:chOff x="8858242" y="4593948"/>
            <a:chExt cx="285757" cy="479147"/>
          </a:xfrm>
        </p:grpSpPr>
        <p:sp>
          <p:nvSpPr>
            <p:cNvPr id="9" name="等腰三角形 8"/>
            <p:cNvSpPr/>
            <p:nvPr userDrawn="1"/>
          </p:nvSpPr>
          <p:spPr>
            <a:xfrm rot="16200000">
              <a:off x="8805440" y="4646750"/>
              <a:ext cx="391362" cy="285757"/>
            </a:xfrm>
            <a:prstGeom prst="triangle">
              <a:avLst/>
            </a:prstGeom>
            <a:gradFill>
              <a:gsLst>
                <a:gs pos="0">
                  <a:srgbClr val="0070C0"/>
                </a:gs>
                <a:gs pos="100000">
                  <a:srgbClr val="00B0F0"/>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rot="16200000">
              <a:off x="8805440" y="4734535"/>
              <a:ext cx="391362" cy="285757"/>
            </a:xfrm>
            <a:prstGeom prst="triangle">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2"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right)">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7"/>
            <a:ext cx="7886700" cy="2139553"/>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900" indent="0">
              <a:buNone/>
              <a:defRPr sz="1600">
                <a:solidFill>
                  <a:schemeClr val="tx1">
                    <a:tint val="75000"/>
                  </a:schemeClr>
                </a:solidFill>
              </a:defRPr>
            </a:lvl2pPr>
            <a:lvl3pPr marL="685800" indent="0">
              <a:buNone/>
              <a:defRPr sz="1400">
                <a:solidFill>
                  <a:schemeClr val="tx1">
                    <a:tint val="75000"/>
                  </a:schemeClr>
                </a:solidFill>
              </a:defRPr>
            </a:lvl3pPr>
            <a:lvl4pPr marL="1028700" indent="0">
              <a:buNone/>
              <a:defRPr sz="1100">
                <a:solidFill>
                  <a:schemeClr val="tx1">
                    <a:tint val="75000"/>
                  </a:schemeClr>
                </a:solidFill>
              </a:defRPr>
            </a:lvl4pPr>
            <a:lvl5pPr marL="1371600" indent="0">
              <a:buNone/>
              <a:defRPr sz="1100">
                <a:solidFill>
                  <a:schemeClr val="tx1">
                    <a:tint val="75000"/>
                  </a:schemeClr>
                </a:solidFill>
              </a:defRPr>
            </a:lvl5pPr>
            <a:lvl6pPr marL="1714500" indent="0">
              <a:buNone/>
              <a:defRPr sz="1100">
                <a:solidFill>
                  <a:schemeClr val="tx1">
                    <a:tint val="75000"/>
                  </a:schemeClr>
                </a:solidFill>
              </a:defRPr>
            </a:lvl6pPr>
            <a:lvl7pPr marL="2057400" indent="0">
              <a:buNone/>
              <a:defRPr sz="1100">
                <a:solidFill>
                  <a:schemeClr val="tx1">
                    <a:tint val="75000"/>
                  </a:schemeClr>
                </a:solidFill>
              </a:defRPr>
            </a:lvl7pPr>
            <a:lvl8pPr marL="2400300" indent="0">
              <a:buNone/>
              <a:defRPr sz="1100">
                <a:solidFill>
                  <a:schemeClr val="tx1">
                    <a:tint val="75000"/>
                  </a:schemeClr>
                </a:solidFill>
              </a:defRPr>
            </a:lvl8pPr>
            <a:lvl9pPr marL="2743200" indent="0">
              <a:buNone/>
              <a:defRPr sz="11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9166FB0D-3649-4659-A4EA-16B622D04D1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BC0CA1-3571-4BD4-9253-723F5D1C3D9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8" name="KSO_Shape"/>
          <p:cNvSpPr/>
          <p:nvPr userDrawn="1"/>
        </p:nvSpPr>
        <p:spPr bwMode="auto">
          <a:xfrm>
            <a:off x="349531" y="167879"/>
            <a:ext cx="606471" cy="631031"/>
          </a:xfrm>
          <a:custGeom>
            <a:avLst/>
            <a:gdLst>
              <a:gd name="connsiteX0" fmla="*/ 13276 w 582023"/>
              <a:gd name="connsiteY0" fmla="*/ 555067 h 605592"/>
              <a:gd name="connsiteX1" fmla="*/ 59882 w 582023"/>
              <a:gd name="connsiteY1" fmla="*/ 568973 h 605592"/>
              <a:gd name="connsiteX2" fmla="*/ 92656 w 582023"/>
              <a:gd name="connsiteY2" fmla="*/ 578986 h 605592"/>
              <a:gd name="connsiteX3" fmla="*/ 125429 w 582023"/>
              <a:gd name="connsiteY3" fmla="*/ 568973 h 605592"/>
              <a:gd name="connsiteX4" fmla="*/ 172035 w 582023"/>
              <a:gd name="connsiteY4" fmla="*/ 555067 h 605592"/>
              <a:gd name="connsiteX5" fmla="*/ 218549 w 582023"/>
              <a:gd name="connsiteY5" fmla="*/ 568973 h 605592"/>
              <a:gd name="connsiteX6" fmla="*/ 251322 w 582023"/>
              <a:gd name="connsiteY6" fmla="*/ 578986 h 605592"/>
              <a:gd name="connsiteX7" fmla="*/ 284095 w 582023"/>
              <a:gd name="connsiteY7" fmla="*/ 568973 h 605592"/>
              <a:gd name="connsiteX8" fmla="*/ 330701 w 582023"/>
              <a:gd name="connsiteY8" fmla="*/ 555067 h 605592"/>
              <a:gd name="connsiteX9" fmla="*/ 377215 w 582023"/>
              <a:gd name="connsiteY9" fmla="*/ 568973 h 605592"/>
              <a:gd name="connsiteX10" fmla="*/ 410081 w 582023"/>
              <a:gd name="connsiteY10" fmla="*/ 578986 h 605592"/>
              <a:gd name="connsiteX11" fmla="*/ 442854 w 582023"/>
              <a:gd name="connsiteY11" fmla="*/ 568973 h 605592"/>
              <a:gd name="connsiteX12" fmla="*/ 489367 w 582023"/>
              <a:gd name="connsiteY12" fmla="*/ 555067 h 605592"/>
              <a:gd name="connsiteX13" fmla="*/ 535974 w 582023"/>
              <a:gd name="connsiteY13" fmla="*/ 568973 h 605592"/>
              <a:gd name="connsiteX14" fmla="*/ 568747 w 582023"/>
              <a:gd name="connsiteY14" fmla="*/ 578986 h 605592"/>
              <a:gd name="connsiteX15" fmla="*/ 582023 w 582023"/>
              <a:gd name="connsiteY15" fmla="*/ 592335 h 605592"/>
              <a:gd name="connsiteX16" fmla="*/ 568747 w 582023"/>
              <a:gd name="connsiteY16" fmla="*/ 605592 h 605592"/>
              <a:gd name="connsiteX17" fmla="*/ 522141 w 582023"/>
              <a:gd name="connsiteY17" fmla="*/ 591779 h 605592"/>
              <a:gd name="connsiteX18" fmla="*/ 489367 w 582023"/>
              <a:gd name="connsiteY18" fmla="*/ 581674 h 605592"/>
              <a:gd name="connsiteX19" fmla="*/ 456594 w 582023"/>
              <a:gd name="connsiteY19" fmla="*/ 591779 h 605592"/>
              <a:gd name="connsiteX20" fmla="*/ 410081 w 582023"/>
              <a:gd name="connsiteY20" fmla="*/ 605592 h 605592"/>
              <a:gd name="connsiteX21" fmla="*/ 363474 w 582023"/>
              <a:gd name="connsiteY21" fmla="*/ 591779 h 605592"/>
              <a:gd name="connsiteX22" fmla="*/ 330701 w 582023"/>
              <a:gd name="connsiteY22" fmla="*/ 581674 h 605592"/>
              <a:gd name="connsiteX23" fmla="*/ 297928 w 582023"/>
              <a:gd name="connsiteY23" fmla="*/ 591779 h 605592"/>
              <a:gd name="connsiteX24" fmla="*/ 251322 w 582023"/>
              <a:gd name="connsiteY24" fmla="*/ 605592 h 605592"/>
              <a:gd name="connsiteX25" fmla="*/ 204808 w 582023"/>
              <a:gd name="connsiteY25" fmla="*/ 591779 h 605592"/>
              <a:gd name="connsiteX26" fmla="*/ 172035 w 582023"/>
              <a:gd name="connsiteY26" fmla="*/ 581674 h 605592"/>
              <a:gd name="connsiteX27" fmla="*/ 139262 w 582023"/>
              <a:gd name="connsiteY27" fmla="*/ 591779 h 605592"/>
              <a:gd name="connsiteX28" fmla="*/ 92656 w 582023"/>
              <a:gd name="connsiteY28" fmla="*/ 605592 h 605592"/>
              <a:gd name="connsiteX29" fmla="*/ 46142 w 582023"/>
              <a:gd name="connsiteY29" fmla="*/ 591779 h 605592"/>
              <a:gd name="connsiteX30" fmla="*/ 13276 w 582023"/>
              <a:gd name="connsiteY30" fmla="*/ 581674 h 605592"/>
              <a:gd name="connsiteX31" fmla="*/ 0 w 582023"/>
              <a:gd name="connsiteY31" fmla="*/ 568417 h 605592"/>
              <a:gd name="connsiteX32" fmla="*/ 13276 w 582023"/>
              <a:gd name="connsiteY32" fmla="*/ 555067 h 605592"/>
              <a:gd name="connsiteX33" fmla="*/ 13276 w 582023"/>
              <a:gd name="connsiteY33" fmla="*/ 496780 h 605592"/>
              <a:gd name="connsiteX34" fmla="*/ 59882 w 582023"/>
              <a:gd name="connsiteY34" fmla="*/ 510594 h 605592"/>
              <a:gd name="connsiteX35" fmla="*/ 92656 w 582023"/>
              <a:gd name="connsiteY35" fmla="*/ 520699 h 605592"/>
              <a:gd name="connsiteX36" fmla="*/ 125429 w 582023"/>
              <a:gd name="connsiteY36" fmla="*/ 510594 h 605592"/>
              <a:gd name="connsiteX37" fmla="*/ 172035 w 582023"/>
              <a:gd name="connsiteY37" fmla="*/ 496780 h 605592"/>
              <a:gd name="connsiteX38" fmla="*/ 218549 w 582023"/>
              <a:gd name="connsiteY38" fmla="*/ 510594 h 605592"/>
              <a:gd name="connsiteX39" fmla="*/ 251322 w 582023"/>
              <a:gd name="connsiteY39" fmla="*/ 520699 h 605592"/>
              <a:gd name="connsiteX40" fmla="*/ 284095 w 582023"/>
              <a:gd name="connsiteY40" fmla="*/ 510594 h 605592"/>
              <a:gd name="connsiteX41" fmla="*/ 330701 w 582023"/>
              <a:gd name="connsiteY41" fmla="*/ 496780 h 605592"/>
              <a:gd name="connsiteX42" fmla="*/ 377215 w 582023"/>
              <a:gd name="connsiteY42" fmla="*/ 510594 h 605592"/>
              <a:gd name="connsiteX43" fmla="*/ 409988 w 582023"/>
              <a:gd name="connsiteY43" fmla="*/ 520699 h 605592"/>
              <a:gd name="connsiteX44" fmla="*/ 442854 w 582023"/>
              <a:gd name="connsiteY44" fmla="*/ 510594 h 605592"/>
              <a:gd name="connsiteX45" fmla="*/ 489367 w 582023"/>
              <a:gd name="connsiteY45" fmla="*/ 496780 h 605592"/>
              <a:gd name="connsiteX46" fmla="*/ 535974 w 582023"/>
              <a:gd name="connsiteY46" fmla="*/ 510594 h 605592"/>
              <a:gd name="connsiteX47" fmla="*/ 568747 w 582023"/>
              <a:gd name="connsiteY47" fmla="*/ 520699 h 605592"/>
              <a:gd name="connsiteX48" fmla="*/ 582023 w 582023"/>
              <a:gd name="connsiteY48" fmla="*/ 533956 h 605592"/>
              <a:gd name="connsiteX49" fmla="*/ 568747 w 582023"/>
              <a:gd name="connsiteY49" fmla="*/ 547305 h 605592"/>
              <a:gd name="connsiteX50" fmla="*/ 522141 w 582023"/>
              <a:gd name="connsiteY50" fmla="*/ 533399 h 605592"/>
              <a:gd name="connsiteX51" fmla="*/ 489367 w 582023"/>
              <a:gd name="connsiteY51" fmla="*/ 523387 h 605592"/>
              <a:gd name="connsiteX52" fmla="*/ 456594 w 582023"/>
              <a:gd name="connsiteY52" fmla="*/ 533399 h 605592"/>
              <a:gd name="connsiteX53" fmla="*/ 409988 w 582023"/>
              <a:gd name="connsiteY53" fmla="*/ 547305 h 605592"/>
              <a:gd name="connsiteX54" fmla="*/ 363474 w 582023"/>
              <a:gd name="connsiteY54" fmla="*/ 533399 h 605592"/>
              <a:gd name="connsiteX55" fmla="*/ 330701 w 582023"/>
              <a:gd name="connsiteY55" fmla="*/ 523387 h 605592"/>
              <a:gd name="connsiteX56" fmla="*/ 297928 w 582023"/>
              <a:gd name="connsiteY56" fmla="*/ 533399 h 605592"/>
              <a:gd name="connsiteX57" fmla="*/ 251322 w 582023"/>
              <a:gd name="connsiteY57" fmla="*/ 547305 h 605592"/>
              <a:gd name="connsiteX58" fmla="*/ 204808 w 582023"/>
              <a:gd name="connsiteY58" fmla="*/ 533399 h 605592"/>
              <a:gd name="connsiteX59" fmla="*/ 172035 w 582023"/>
              <a:gd name="connsiteY59" fmla="*/ 523387 h 605592"/>
              <a:gd name="connsiteX60" fmla="*/ 139262 w 582023"/>
              <a:gd name="connsiteY60" fmla="*/ 533399 h 605592"/>
              <a:gd name="connsiteX61" fmla="*/ 92656 w 582023"/>
              <a:gd name="connsiteY61" fmla="*/ 547305 h 605592"/>
              <a:gd name="connsiteX62" fmla="*/ 46142 w 582023"/>
              <a:gd name="connsiteY62" fmla="*/ 533399 h 605592"/>
              <a:gd name="connsiteX63" fmla="*/ 13276 w 582023"/>
              <a:gd name="connsiteY63" fmla="*/ 523387 h 605592"/>
              <a:gd name="connsiteX64" fmla="*/ 0 w 582023"/>
              <a:gd name="connsiteY64" fmla="*/ 510037 h 605592"/>
              <a:gd name="connsiteX65" fmla="*/ 13276 w 582023"/>
              <a:gd name="connsiteY65" fmla="*/ 496780 h 605592"/>
              <a:gd name="connsiteX66" fmla="*/ 266544 w 582023"/>
              <a:gd name="connsiteY66" fmla="*/ 248356 h 605592"/>
              <a:gd name="connsiteX67" fmla="*/ 274808 w 582023"/>
              <a:gd name="connsiteY67" fmla="*/ 250024 h 605592"/>
              <a:gd name="connsiteX68" fmla="*/ 278522 w 582023"/>
              <a:gd name="connsiteY68" fmla="*/ 257625 h 605592"/>
              <a:gd name="connsiteX69" fmla="*/ 278522 w 582023"/>
              <a:gd name="connsiteY69" fmla="*/ 487027 h 605592"/>
              <a:gd name="connsiteX70" fmla="*/ 276665 w 582023"/>
              <a:gd name="connsiteY70" fmla="*/ 489993 h 605592"/>
              <a:gd name="connsiteX71" fmla="*/ 251318 w 582023"/>
              <a:gd name="connsiteY71" fmla="*/ 495369 h 605592"/>
              <a:gd name="connsiteX72" fmla="*/ 216871 w 582023"/>
              <a:gd name="connsiteY72" fmla="*/ 484803 h 605592"/>
              <a:gd name="connsiteX73" fmla="*/ 184839 w 582023"/>
              <a:gd name="connsiteY73" fmla="*/ 472290 h 605592"/>
              <a:gd name="connsiteX74" fmla="*/ 182146 w 582023"/>
              <a:gd name="connsiteY74" fmla="*/ 470065 h 605592"/>
              <a:gd name="connsiteX75" fmla="*/ 122631 w 582023"/>
              <a:gd name="connsiteY75" fmla="*/ 296554 h 605592"/>
              <a:gd name="connsiteX76" fmla="*/ 123281 w 582023"/>
              <a:gd name="connsiteY76" fmla="*/ 288860 h 605592"/>
              <a:gd name="connsiteX77" fmla="*/ 129316 w 582023"/>
              <a:gd name="connsiteY77" fmla="*/ 284133 h 605592"/>
              <a:gd name="connsiteX78" fmla="*/ 310258 w 582023"/>
              <a:gd name="connsiteY78" fmla="*/ 248003 h 605592"/>
              <a:gd name="connsiteX79" fmla="*/ 447486 w 582023"/>
              <a:gd name="connsiteY79" fmla="*/ 283781 h 605592"/>
              <a:gd name="connsiteX80" fmla="*/ 453521 w 582023"/>
              <a:gd name="connsiteY80" fmla="*/ 288508 h 605592"/>
              <a:gd name="connsiteX81" fmla="*/ 454171 w 582023"/>
              <a:gd name="connsiteY81" fmla="*/ 296108 h 605592"/>
              <a:gd name="connsiteX82" fmla="*/ 388435 w 582023"/>
              <a:gd name="connsiteY82" fmla="*/ 487697 h 605592"/>
              <a:gd name="connsiteX83" fmla="*/ 383792 w 582023"/>
              <a:gd name="connsiteY83" fmla="*/ 489551 h 605592"/>
              <a:gd name="connsiteX84" fmla="*/ 375529 w 582023"/>
              <a:gd name="connsiteY84" fmla="*/ 484824 h 605592"/>
              <a:gd name="connsiteX85" fmla="*/ 330684 w 582023"/>
              <a:gd name="connsiteY85" fmla="*/ 471476 h 605592"/>
              <a:gd name="connsiteX86" fmla="*/ 302737 w 582023"/>
              <a:gd name="connsiteY86" fmla="*/ 476111 h 605592"/>
              <a:gd name="connsiteX87" fmla="*/ 299673 w 582023"/>
              <a:gd name="connsiteY87" fmla="*/ 475740 h 605592"/>
              <a:gd name="connsiteX88" fmla="*/ 298280 w 582023"/>
              <a:gd name="connsiteY88" fmla="*/ 472959 h 605592"/>
              <a:gd name="connsiteX89" fmla="*/ 298280 w 582023"/>
              <a:gd name="connsiteY89" fmla="*/ 257272 h 605592"/>
              <a:gd name="connsiteX90" fmla="*/ 301994 w 582023"/>
              <a:gd name="connsiteY90" fmla="*/ 249671 h 605592"/>
              <a:gd name="connsiteX91" fmla="*/ 310258 w 582023"/>
              <a:gd name="connsiteY91" fmla="*/ 248003 h 605592"/>
              <a:gd name="connsiteX92" fmla="*/ 326797 w 582023"/>
              <a:gd name="connsiteY92" fmla="*/ 100778 h 605592"/>
              <a:gd name="connsiteX93" fmla="*/ 322433 w 582023"/>
              <a:gd name="connsiteY93" fmla="*/ 105134 h 605592"/>
              <a:gd name="connsiteX94" fmla="*/ 322433 w 582023"/>
              <a:gd name="connsiteY94" fmla="*/ 124226 h 605592"/>
              <a:gd name="connsiteX95" fmla="*/ 326797 w 582023"/>
              <a:gd name="connsiteY95" fmla="*/ 128582 h 605592"/>
              <a:gd name="connsiteX96" fmla="*/ 345926 w 582023"/>
              <a:gd name="connsiteY96" fmla="*/ 128582 h 605592"/>
              <a:gd name="connsiteX97" fmla="*/ 350290 w 582023"/>
              <a:gd name="connsiteY97" fmla="*/ 124226 h 605592"/>
              <a:gd name="connsiteX98" fmla="*/ 350290 w 582023"/>
              <a:gd name="connsiteY98" fmla="*/ 105134 h 605592"/>
              <a:gd name="connsiteX99" fmla="*/ 345926 w 582023"/>
              <a:gd name="connsiteY99" fmla="*/ 100778 h 605592"/>
              <a:gd name="connsiteX100" fmla="*/ 278789 w 582023"/>
              <a:gd name="connsiteY100" fmla="*/ 100778 h 605592"/>
              <a:gd name="connsiteX101" fmla="*/ 274425 w 582023"/>
              <a:gd name="connsiteY101" fmla="*/ 105134 h 605592"/>
              <a:gd name="connsiteX102" fmla="*/ 274425 w 582023"/>
              <a:gd name="connsiteY102" fmla="*/ 124226 h 605592"/>
              <a:gd name="connsiteX103" fmla="*/ 278789 w 582023"/>
              <a:gd name="connsiteY103" fmla="*/ 128582 h 605592"/>
              <a:gd name="connsiteX104" fmla="*/ 297918 w 582023"/>
              <a:gd name="connsiteY104" fmla="*/ 128582 h 605592"/>
              <a:gd name="connsiteX105" fmla="*/ 302375 w 582023"/>
              <a:gd name="connsiteY105" fmla="*/ 124226 h 605592"/>
              <a:gd name="connsiteX106" fmla="*/ 302375 w 582023"/>
              <a:gd name="connsiteY106" fmla="*/ 105134 h 605592"/>
              <a:gd name="connsiteX107" fmla="*/ 297918 w 582023"/>
              <a:gd name="connsiteY107" fmla="*/ 100778 h 605592"/>
              <a:gd name="connsiteX108" fmla="*/ 230874 w 582023"/>
              <a:gd name="connsiteY108" fmla="*/ 100778 h 605592"/>
              <a:gd name="connsiteX109" fmla="*/ 226417 w 582023"/>
              <a:gd name="connsiteY109" fmla="*/ 105134 h 605592"/>
              <a:gd name="connsiteX110" fmla="*/ 226417 w 582023"/>
              <a:gd name="connsiteY110" fmla="*/ 124226 h 605592"/>
              <a:gd name="connsiteX111" fmla="*/ 230874 w 582023"/>
              <a:gd name="connsiteY111" fmla="*/ 128582 h 605592"/>
              <a:gd name="connsiteX112" fmla="*/ 250003 w 582023"/>
              <a:gd name="connsiteY112" fmla="*/ 128582 h 605592"/>
              <a:gd name="connsiteX113" fmla="*/ 254367 w 582023"/>
              <a:gd name="connsiteY113" fmla="*/ 124226 h 605592"/>
              <a:gd name="connsiteX114" fmla="*/ 254367 w 582023"/>
              <a:gd name="connsiteY114" fmla="*/ 105134 h 605592"/>
              <a:gd name="connsiteX115" fmla="*/ 250003 w 582023"/>
              <a:gd name="connsiteY115" fmla="*/ 100778 h 605592"/>
              <a:gd name="connsiteX116" fmla="*/ 271454 w 582023"/>
              <a:gd name="connsiteY116" fmla="*/ 39517 h 605592"/>
              <a:gd name="connsiteX117" fmla="*/ 305254 w 582023"/>
              <a:gd name="connsiteY117" fmla="*/ 39517 h 605592"/>
              <a:gd name="connsiteX118" fmla="*/ 308597 w 582023"/>
              <a:gd name="connsiteY118" fmla="*/ 42854 h 605592"/>
              <a:gd name="connsiteX119" fmla="*/ 308597 w 582023"/>
              <a:gd name="connsiteY119" fmla="*/ 85208 h 605592"/>
              <a:gd name="connsiteX120" fmla="*/ 356419 w 582023"/>
              <a:gd name="connsiteY120" fmla="*/ 85208 h 605592"/>
              <a:gd name="connsiteX121" fmla="*/ 370533 w 582023"/>
              <a:gd name="connsiteY121" fmla="*/ 99388 h 605592"/>
              <a:gd name="connsiteX122" fmla="*/ 370533 w 582023"/>
              <a:gd name="connsiteY122" fmla="*/ 142298 h 605592"/>
              <a:gd name="connsiteX123" fmla="*/ 379726 w 582023"/>
              <a:gd name="connsiteY123" fmla="*/ 142298 h 605592"/>
              <a:gd name="connsiteX124" fmla="*/ 425226 w 582023"/>
              <a:gd name="connsiteY124" fmla="*/ 187618 h 605592"/>
              <a:gd name="connsiteX125" fmla="*/ 425226 w 582023"/>
              <a:gd name="connsiteY125" fmla="*/ 244893 h 605592"/>
              <a:gd name="connsiteX126" fmla="*/ 422533 w 582023"/>
              <a:gd name="connsiteY126" fmla="*/ 250269 h 605592"/>
              <a:gd name="connsiteX127" fmla="*/ 418540 w 582023"/>
              <a:gd name="connsiteY127" fmla="*/ 251566 h 605592"/>
              <a:gd name="connsiteX128" fmla="*/ 416683 w 582023"/>
              <a:gd name="connsiteY128" fmla="*/ 251288 h 605592"/>
              <a:gd name="connsiteX129" fmla="*/ 396347 w 582023"/>
              <a:gd name="connsiteY129" fmla="*/ 245357 h 605592"/>
              <a:gd name="connsiteX130" fmla="*/ 288447 w 582023"/>
              <a:gd name="connsiteY130" fmla="*/ 221724 h 605592"/>
              <a:gd name="connsiteX131" fmla="*/ 288354 w 582023"/>
              <a:gd name="connsiteY131" fmla="*/ 221724 h 605592"/>
              <a:gd name="connsiteX132" fmla="*/ 180360 w 582023"/>
              <a:gd name="connsiteY132" fmla="*/ 245357 h 605592"/>
              <a:gd name="connsiteX133" fmla="*/ 160024 w 582023"/>
              <a:gd name="connsiteY133" fmla="*/ 251288 h 605592"/>
              <a:gd name="connsiteX134" fmla="*/ 158260 w 582023"/>
              <a:gd name="connsiteY134" fmla="*/ 251566 h 605592"/>
              <a:gd name="connsiteX135" fmla="*/ 154174 w 582023"/>
              <a:gd name="connsiteY135" fmla="*/ 250269 h 605592"/>
              <a:gd name="connsiteX136" fmla="*/ 151574 w 582023"/>
              <a:gd name="connsiteY136" fmla="*/ 244893 h 605592"/>
              <a:gd name="connsiteX137" fmla="*/ 151574 w 582023"/>
              <a:gd name="connsiteY137" fmla="*/ 187618 h 605592"/>
              <a:gd name="connsiteX138" fmla="*/ 196981 w 582023"/>
              <a:gd name="connsiteY138" fmla="*/ 142298 h 605592"/>
              <a:gd name="connsiteX139" fmla="*/ 206267 w 582023"/>
              <a:gd name="connsiteY139" fmla="*/ 142298 h 605592"/>
              <a:gd name="connsiteX140" fmla="*/ 206267 w 582023"/>
              <a:gd name="connsiteY140" fmla="*/ 99388 h 605592"/>
              <a:gd name="connsiteX141" fmla="*/ 220381 w 582023"/>
              <a:gd name="connsiteY141" fmla="*/ 85208 h 605592"/>
              <a:gd name="connsiteX142" fmla="*/ 268203 w 582023"/>
              <a:gd name="connsiteY142" fmla="*/ 85208 h 605592"/>
              <a:gd name="connsiteX143" fmla="*/ 268203 w 582023"/>
              <a:gd name="connsiteY143" fmla="*/ 42854 h 605592"/>
              <a:gd name="connsiteX144" fmla="*/ 271454 w 582023"/>
              <a:gd name="connsiteY144" fmla="*/ 39517 h 605592"/>
              <a:gd name="connsiteX145" fmla="*/ 271467 w 582023"/>
              <a:gd name="connsiteY145" fmla="*/ 0 h 605592"/>
              <a:gd name="connsiteX146" fmla="*/ 305242 w 582023"/>
              <a:gd name="connsiteY146" fmla="*/ 0 h 605592"/>
              <a:gd name="connsiteX147" fmla="*/ 308582 w 582023"/>
              <a:gd name="connsiteY147" fmla="*/ 3340 h 605592"/>
              <a:gd name="connsiteX148" fmla="*/ 308582 w 582023"/>
              <a:gd name="connsiteY148" fmla="*/ 21804 h 605592"/>
              <a:gd name="connsiteX149" fmla="*/ 305242 w 582023"/>
              <a:gd name="connsiteY149" fmla="*/ 25051 h 605592"/>
              <a:gd name="connsiteX150" fmla="*/ 271467 w 582023"/>
              <a:gd name="connsiteY150" fmla="*/ 25051 h 605592"/>
              <a:gd name="connsiteX151" fmla="*/ 268219 w 582023"/>
              <a:gd name="connsiteY151" fmla="*/ 21804 h 605592"/>
              <a:gd name="connsiteX152" fmla="*/ 268219 w 582023"/>
              <a:gd name="connsiteY152" fmla="*/ 3340 h 605592"/>
              <a:gd name="connsiteX153" fmla="*/ 271467 w 582023"/>
              <a:gd name="connsiteY153"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582023" h="605592">
                <a:moveTo>
                  <a:pt x="13276" y="555067"/>
                </a:moveTo>
                <a:cubicBezTo>
                  <a:pt x="36858" y="555067"/>
                  <a:pt x="49113" y="562484"/>
                  <a:pt x="59882" y="568973"/>
                </a:cubicBezTo>
                <a:cubicBezTo>
                  <a:pt x="69167" y="574628"/>
                  <a:pt x="76501" y="578986"/>
                  <a:pt x="92656" y="578986"/>
                </a:cubicBezTo>
                <a:cubicBezTo>
                  <a:pt x="108810" y="578986"/>
                  <a:pt x="116144" y="574628"/>
                  <a:pt x="125429" y="568973"/>
                </a:cubicBezTo>
                <a:cubicBezTo>
                  <a:pt x="136198" y="562484"/>
                  <a:pt x="148453" y="555067"/>
                  <a:pt x="172035" y="555067"/>
                </a:cubicBezTo>
                <a:cubicBezTo>
                  <a:pt x="195524" y="555067"/>
                  <a:pt x="207779" y="562484"/>
                  <a:pt x="218549" y="568973"/>
                </a:cubicBezTo>
                <a:cubicBezTo>
                  <a:pt x="227833" y="574628"/>
                  <a:pt x="235260" y="578986"/>
                  <a:pt x="251322" y="578986"/>
                </a:cubicBezTo>
                <a:cubicBezTo>
                  <a:pt x="267476" y="578986"/>
                  <a:pt x="274811" y="574628"/>
                  <a:pt x="284095" y="568973"/>
                </a:cubicBezTo>
                <a:cubicBezTo>
                  <a:pt x="294957" y="562484"/>
                  <a:pt x="307120" y="555067"/>
                  <a:pt x="330701" y="555067"/>
                </a:cubicBezTo>
                <a:cubicBezTo>
                  <a:pt x="354283" y="555067"/>
                  <a:pt x="366445" y="562484"/>
                  <a:pt x="377215" y="568973"/>
                </a:cubicBezTo>
                <a:cubicBezTo>
                  <a:pt x="386592" y="574628"/>
                  <a:pt x="393926" y="578986"/>
                  <a:pt x="410081" y="578986"/>
                </a:cubicBezTo>
                <a:cubicBezTo>
                  <a:pt x="426142" y="578986"/>
                  <a:pt x="433477" y="574628"/>
                  <a:pt x="442854" y="568973"/>
                </a:cubicBezTo>
                <a:cubicBezTo>
                  <a:pt x="453624" y="562484"/>
                  <a:pt x="465879" y="555067"/>
                  <a:pt x="489367" y="555067"/>
                </a:cubicBezTo>
                <a:cubicBezTo>
                  <a:pt x="512949" y="555067"/>
                  <a:pt x="525204" y="562484"/>
                  <a:pt x="535974" y="568973"/>
                </a:cubicBezTo>
                <a:cubicBezTo>
                  <a:pt x="545258" y="574628"/>
                  <a:pt x="552592" y="578986"/>
                  <a:pt x="568747" y="578986"/>
                </a:cubicBezTo>
                <a:cubicBezTo>
                  <a:pt x="576081" y="578986"/>
                  <a:pt x="582023" y="585011"/>
                  <a:pt x="582023" y="592335"/>
                </a:cubicBezTo>
                <a:cubicBezTo>
                  <a:pt x="582023" y="599659"/>
                  <a:pt x="576081" y="605592"/>
                  <a:pt x="568747" y="605592"/>
                </a:cubicBezTo>
                <a:cubicBezTo>
                  <a:pt x="545165" y="605592"/>
                  <a:pt x="533003" y="598268"/>
                  <a:pt x="522141" y="591779"/>
                </a:cubicBezTo>
                <a:cubicBezTo>
                  <a:pt x="512856" y="586124"/>
                  <a:pt x="505522" y="581674"/>
                  <a:pt x="489367" y="581674"/>
                </a:cubicBezTo>
                <a:cubicBezTo>
                  <a:pt x="473306" y="581674"/>
                  <a:pt x="465879" y="586124"/>
                  <a:pt x="456594" y="591779"/>
                </a:cubicBezTo>
                <a:cubicBezTo>
                  <a:pt x="445825" y="598268"/>
                  <a:pt x="433570" y="605592"/>
                  <a:pt x="410081" y="605592"/>
                </a:cubicBezTo>
                <a:cubicBezTo>
                  <a:pt x="386499" y="605592"/>
                  <a:pt x="374244" y="598268"/>
                  <a:pt x="363474" y="591779"/>
                </a:cubicBezTo>
                <a:cubicBezTo>
                  <a:pt x="354190" y="586124"/>
                  <a:pt x="346856" y="581674"/>
                  <a:pt x="330701" y="581674"/>
                </a:cubicBezTo>
                <a:cubicBezTo>
                  <a:pt x="314547" y="581674"/>
                  <a:pt x="307213" y="586124"/>
                  <a:pt x="297928" y="591779"/>
                </a:cubicBezTo>
                <a:cubicBezTo>
                  <a:pt x="287159" y="598268"/>
                  <a:pt x="274904" y="605592"/>
                  <a:pt x="251322" y="605592"/>
                </a:cubicBezTo>
                <a:cubicBezTo>
                  <a:pt x="227833" y="605592"/>
                  <a:pt x="215578" y="598268"/>
                  <a:pt x="204808" y="591779"/>
                </a:cubicBezTo>
                <a:cubicBezTo>
                  <a:pt x="195524" y="586124"/>
                  <a:pt x="188097" y="581674"/>
                  <a:pt x="172035" y="581674"/>
                </a:cubicBezTo>
                <a:cubicBezTo>
                  <a:pt x="155881" y="581674"/>
                  <a:pt x="148546" y="586124"/>
                  <a:pt x="139262" y="591779"/>
                </a:cubicBezTo>
                <a:cubicBezTo>
                  <a:pt x="128399" y="598268"/>
                  <a:pt x="116237" y="605592"/>
                  <a:pt x="92656" y="605592"/>
                </a:cubicBezTo>
                <a:cubicBezTo>
                  <a:pt x="69074" y="605592"/>
                  <a:pt x="56912" y="598268"/>
                  <a:pt x="46142" y="591779"/>
                </a:cubicBezTo>
                <a:cubicBezTo>
                  <a:pt x="36765" y="586124"/>
                  <a:pt x="29430" y="581674"/>
                  <a:pt x="13276" y="581674"/>
                </a:cubicBezTo>
                <a:cubicBezTo>
                  <a:pt x="5942" y="581674"/>
                  <a:pt x="0" y="575741"/>
                  <a:pt x="0" y="568417"/>
                </a:cubicBezTo>
                <a:cubicBezTo>
                  <a:pt x="0" y="561000"/>
                  <a:pt x="5942" y="555067"/>
                  <a:pt x="13276" y="555067"/>
                </a:cubicBezTo>
                <a:close/>
                <a:moveTo>
                  <a:pt x="13276" y="496780"/>
                </a:moveTo>
                <a:cubicBezTo>
                  <a:pt x="36858" y="496780"/>
                  <a:pt x="49113" y="504104"/>
                  <a:pt x="59882" y="510594"/>
                </a:cubicBezTo>
                <a:cubicBezTo>
                  <a:pt x="69167" y="516249"/>
                  <a:pt x="76501" y="520699"/>
                  <a:pt x="92656" y="520699"/>
                </a:cubicBezTo>
                <a:cubicBezTo>
                  <a:pt x="108810" y="520699"/>
                  <a:pt x="116144" y="516249"/>
                  <a:pt x="125429" y="510594"/>
                </a:cubicBezTo>
                <a:cubicBezTo>
                  <a:pt x="136198" y="504104"/>
                  <a:pt x="148453" y="496780"/>
                  <a:pt x="172035" y="496780"/>
                </a:cubicBezTo>
                <a:cubicBezTo>
                  <a:pt x="195524" y="496780"/>
                  <a:pt x="207779" y="504104"/>
                  <a:pt x="218549" y="510594"/>
                </a:cubicBezTo>
                <a:cubicBezTo>
                  <a:pt x="227833" y="516249"/>
                  <a:pt x="235260" y="520699"/>
                  <a:pt x="251322" y="520699"/>
                </a:cubicBezTo>
                <a:cubicBezTo>
                  <a:pt x="267476" y="520699"/>
                  <a:pt x="274811" y="516249"/>
                  <a:pt x="284095" y="510594"/>
                </a:cubicBezTo>
                <a:cubicBezTo>
                  <a:pt x="294957" y="504104"/>
                  <a:pt x="307120" y="496780"/>
                  <a:pt x="330701" y="496780"/>
                </a:cubicBezTo>
                <a:cubicBezTo>
                  <a:pt x="354190" y="496780"/>
                  <a:pt x="366445" y="504104"/>
                  <a:pt x="377215" y="510594"/>
                </a:cubicBezTo>
                <a:cubicBezTo>
                  <a:pt x="386592" y="516249"/>
                  <a:pt x="393926" y="520699"/>
                  <a:pt x="409988" y="520699"/>
                </a:cubicBezTo>
                <a:cubicBezTo>
                  <a:pt x="426142" y="520699"/>
                  <a:pt x="433477" y="516249"/>
                  <a:pt x="442854" y="510594"/>
                </a:cubicBezTo>
                <a:cubicBezTo>
                  <a:pt x="453624" y="504104"/>
                  <a:pt x="465879" y="496780"/>
                  <a:pt x="489367" y="496780"/>
                </a:cubicBezTo>
                <a:cubicBezTo>
                  <a:pt x="512949" y="496780"/>
                  <a:pt x="525204" y="504104"/>
                  <a:pt x="535974" y="510594"/>
                </a:cubicBezTo>
                <a:cubicBezTo>
                  <a:pt x="545258" y="516249"/>
                  <a:pt x="552592" y="520699"/>
                  <a:pt x="568747" y="520699"/>
                </a:cubicBezTo>
                <a:cubicBezTo>
                  <a:pt x="576081" y="520699"/>
                  <a:pt x="582023" y="526632"/>
                  <a:pt x="582023" y="533956"/>
                </a:cubicBezTo>
                <a:cubicBezTo>
                  <a:pt x="582023" y="541372"/>
                  <a:pt x="576081" y="547305"/>
                  <a:pt x="568747" y="547305"/>
                </a:cubicBezTo>
                <a:cubicBezTo>
                  <a:pt x="545165" y="547305"/>
                  <a:pt x="533003" y="539889"/>
                  <a:pt x="522141" y="533399"/>
                </a:cubicBezTo>
                <a:cubicBezTo>
                  <a:pt x="512856" y="527744"/>
                  <a:pt x="505522" y="523387"/>
                  <a:pt x="489367" y="523387"/>
                </a:cubicBezTo>
                <a:cubicBezTo>
                  <a:pt x="473213" y="523387"/>
                  <a:pt x="465879" y="527744"/>
                  <a:pt x="456594" y="533399"/>
                </a:cubicBezTo>
                <a:cubicBezTo>
                  <a:pt x="445825" y="539889"/>
                  <a:pt x="433570" y="547305"/>
                  <a:pt x="409988" y="547305"/>
                </a:cubicBezTo>
                <a:cubicBezTo>
                  <a:pt x="386499" y="547305"/>
                  <a:pt x="374244" y="539889"/>
                  <a:pt x="363474" y="533399"/>
                </a:cubicBezTo>
                <a:cubicBezTo>
                  <a:pt x="354190" y="527744"/>
                  <a:pt x="346856" y="523387"/>
                  <a:pt x="330701" y="523387"/>
                </a:cubicBezTo>
                <a:cubicBezTo>
                  <a:pt x="314547" y="523387"/>
                  <a:pt x="307213" y="527744"/>
                  <a:pt x="297928" y="533399"/>
                </a:cubicBezTo>
                <a:cubicBezTo>
                  <a:pt x="287159" y="539889"/>
                  <a:pt x="274904" y="547305"/>
                  <a:pt x="251322" y="547305"/>
                </a:cubicBezTo>
                <a:cubicBezTo>
                  <a:pt x="227833" y="547305"/>
                  <a:pt x="215578" y="539889"/>
                  <a:pt x="204808" y="533399"/>
                </a:cubicBezTo>
                <a:cubicBezTo>
                  <a:pt x="195431" y="527744"/>
                  <a:pt x="188097" y="523387"/>
                  <a:pt x="172035" y="523387"/>
                </a:cubicBezTo>
                <a:cubicBezTo>
                  <a:pt x="155881" y="523387"/>
                  <a:pt x="148546" y="527744"/>
                  <a:pt x="139262" y="533399"/>
                </a:cubicBezTo>
                <a:cubicBezTo>
                  <a:pt x="128399" y="539889"/>
                  <a:pt x="116237" y="547305"/>
                  <a:pt x="92656" y="547305"/>
                </a:cubicBezTo>
                <a:cubicBezTo>
                  <a:pt x="69074" y="547305"/>
                  <a:pt x="56912" y="539889"/>
                  <a:pt x="46142" y="533399"/>
                </a:cubicBezTo>
                <a:cubicBezTo>
                  <a:pt x="36765" y="527744"/>
                  <a:pt x="29430" y="523387"/>
                  <a:pt x="13276" y="523387"/>
                </a:cubicBezTo>
                <a:cubicBezTo>
                  <a:pt x="5942" y="523387"/>
                  <a:pt x="0" y="517361"/>
                  <a:pt x="0" y="510037"/>
                </a:cubicBezTo>
                <a:cubicBezTo>
                  <a:pt x="0" y="502713"/>
                  <a:pt x="5942" y="496780"/>
                  <a:pt x="13276" y="496780"/>
                </a:cubicBezTo>
                <a:close/>
                <a:moveTo>
                  <a:pt x="266544" y="248356"/>
                </a:moveTo>
                <a:cubicBezTo>
                  <a:pt x="269330" y="247614"/>
                  <a:pt x="272487" y="248263"/>
                  <a:pt x="274808" y="250024"/>
                </a:cubicBezTo>
                <a:cubicBezTo>
                  <a:pt x="277130" y="251878"/>
                  <a:pt x="278522" y="254659"/>
                  <a:pt x="278522" y="257625"/>
                </a:cubicBezTo>
                <a:lnTo>
                  <a:pt x="278522" y="487027"/>
                </a:lnTo>
                <a:cubicBezTo>
                  <a:pt x="278522" y="488325"/>
                  <a:pt x="277779" y="489437"/>
                  <a:pt x="276665" y="489993"/>
                </a:cubicBezTo>
                <a:cubicBezTo>
                  <a:pt x="268959" y="493794"/>
                  <a:pt x="261438" y="495369"/>
                  <a:pt x="251318" y="495369"/>
                </a:cubicBezTo>
                <a:cubicBezTo>
                  <a:pt x="234327" y="495369"/>
                  <a:pt x="226156" y="490457"/>
                  <a:pt x="216871" y="484803"/>
                </a:cubicBezTo>
                <a:cubicBezTo>
                  <a:pt x="208701" y="479890"/>
                  <a:pt x="199509" y="474329"/>
                  <a:pt x="184839" y="472290"/>
                </a:cubicBezTo>
                <a:cubicBezTo>
                  <a:pt x="183632" y="472105"/>
                  <a:pt x="182611" y="471270"/>
                  <a:pt x="182146" y="470065"/>
                </a:cubicBezTo>
                <a:lnTo>
                  <a:pt x="122631" y="296554"/>
                </a:lnTo>
                <a:cubicBezTo>
                  <a:pt x="121796" y="294051"/>
                  <a:pt x="121981" y="291270"/>
                  <a:pt x="123281" y="288860"/>
                </a:cubicBezTo>
                <a:cubicBezTo>
                  <a:pt x="124488" y="286543"/>
                  <a:pt x="126717" y="284875"/>
                  <a:pt x="129316" y="284133"/>
                </a:cubicBezTo>
                <a:close/>
                <a:moveTo>
                  <a:pt x="310258" y="248003"/>
                </a:moveTo>
                <a:lnTo>
                  <a:pt x="447486" y="283781"/>
                </a:lnTo>
                <a:cubicBezTo>
                  <a:pt x="450085" y="284430"/>
                  <a:pt x="452221" y="286191"/>
                  <a:pt x="453521" y="288508"/>
                </a:cubicBezTo>
                <a:cubicBezTo>
                  <a:pt x="454821" y="290825"/>
                  <a:pt x="455006" y="293606"/>
                  <a:pt x="454171" y="296108"/>
                </a:cubicBezTo>
                <a:cubicBezTo>
                  <a:pt x="454171" y="296108"/>
                  <a:pt x="405054" y="439869"/>
                  <a:pt x="388435" y="487697"/>
                </a:cubicBezTo>
                <a:cubicBezTo>
                  <a:pt x="387785" y="489643"/>
                  <a:pt x="385928" y="490570"/>
                  <a:pt x="383792" y="489551"/>
                </a:cubicBezTo>
                <a:cubicBezTo>
                  <a:pt x="380914" y="488160"/>
                  <a:pt x="378129" y="486399"/>
                  <a:pt x="375529" y="484824"/>
                </a:cubicBezTo>
                <a:cubicBezTo>
                  <a:pt x="365130" y="478521"/>
                  <a:pt x="353339" y="471476"/>
                  <a:pt x="330684" y="471476"/>
                </a:cubicBezTo>
                <a:cubicBezTo>
                  <a:pt x="320192" y="471476"/>
                  <a:pt x="311093" y="472959"/>
                  <a:pt x="302737" y="476111"/>
                </a:cubicBezTo>
                <a:cubicBezTo>
                  <a:pt x="301716" y="476481"/>
                  <a:pt x="300601" y="476389"/>
                  <a:pt x="299673" y="475740"/>
                </a:cubicBezTo>
                <a:cubicBezTo>
                  <a:pt x="298837" y="475091"/>
                  <a:pt x="298280" y="474072"/>
                  <a:pt x="298280" y="472959"/>
                </a:cubicBezTo>
                <a:lnTo>
                  <a:pt x="298280" y="257272"/>
                </a:lnTo>
                <a:cubicBezTo>
                  <a:pt x="298280" y="254306"/>
                  <a:pt x="299673" y="251432"/>
                  <a:pt x="301994" y="249671"/>
                </a:cubicBezTo>
                <a:cubicBezTo>
                  <a:pt x="304315" y="247910"/>
                  <a:pt x="307472" y="247261"/>
                  <a:pt x="310258" y="248003"/>
                </a:cubicBezTo>
                <a:close/>
                <a:moveTo>
                  <a:pt x="326797" y="100778"/>
                </a:moveTo>
                <a:cubicBezTo>
                  <a:pt x="324383" y="100778"/>
                  <a:pt x="322433" y="102724"/>
                  <a:pt x="322433" y="105134"/>
                </a:cubicBezTo>
                <a:lnTo>
                  <a:pt x="322433" y="124226"/>
                </a:lnTo>
                <a:cubicBezTo>
                  <a:pt x="322433" y="126635"/>
                  <a:pt x="324383" y="128582"/>
                  <a:pt x="326797" y="128582"/>
                </a:cubicBezTo>
                <a:lnTo>
                  <a:pt x="345926" y="128582"/>
                </a:lnTo>
                <a:cubicBezTo>
                  <a:pt x="348340" y="128582"/>
                  <a:pt x="350290" y="126635"/>
                  <a:pt x="350290" y="124226"/>
                </a:cubicBezTo>
                <a:lnTo>
                  <a:pt x="350290" y="105134"/>
                </a:lnTo>
                <a:cubicBezTo>
                  <a:pt x="350290" y="102724"/>
                  <a:pt x="348340" y="100778"/>
                  <a:pt x="345926" y="100778"/>
                </a:cubicBezTo>
                <a:close/>
                <a:moveTo>
                  <a:pt x="278789" y="100778"/>
                </a:moveTo>
                <a:cubicBezTo>
                  <a:pt x="276375" y="100778"/>
                  <a:pt x="274425" y="102724"/>
                  <a:pt x="274425" y="105134"/>
                </a:cubicBezTo>
                <a:lnTo>
                  <a:pt x="274425" y="124226"/>
                </a:lnTo>
                <a:cubicBezTo>
                  <a:pt x="274425" y="126635"/>
                  <a:pt x="276375" y="128582"/>
                  <a:pt x="278789" y="128582"/>
                </a:cubicBezTo>
                <a:lnTo>
                  <a:pt x="297918" y="128582"/>
                </a:lnTo>
                <a:cubicBezTo>
                  <a:pt x="300425" y="128582"/>
                  <a:pt x="302375" y="126635"/>
                  <a:pt x="302375" y="124226"/>
                </a:cubicBezTo>
                <a:lnTo>
                  <a:pt x="302375" y="105134"/>
                </a:lnTo>
                <a:cubicBezTo>
                  <a:pt x="302375" y="102724"/>
                  <a:pt x="300425" y="100778"/>
                  <a:pt x="297918" y="100778"/>
                </a:cubicBezTo>
                <a:close/>
                <a:moveTo>
                  <a:pt x="230874" y="100778"/>
                </a:moveTo>
                <a:cubicBezTo>
                  <a:pt x="228460" y="100778"/>
                  <a:pt x="226417" y="102724"/>
                  <a:pt x="226417" y="105134"/>
                </a:cubicBezTo>
                <a:lnTo>
                  <a:pt x="226417" y="124226"/>
                </a:lnTo>
                <a:cubicBezTo>
                  <a:pt x="226417" y="126635"/>
                  <a:pt x="228460" y="128582"/>
                  <a:pt x="230874" y="128582"/>
                </a:cubicBezTo>
                <a:lnTo>
                  <a:pt x="250003" y="128582"/>
                </a:lnTo>
                <a:cubicBezTo>
                  <a:pt x="252417" y="128582"/>
                  <a:pt x="254367" y="126635"/>
                  <a:pt x="254367" y="124226"/>
                </a:cubicBezTo>
                <a:lnTo>
                  <a:pt x="254367" y="105134"/>
                </a:lnTo>
                <a:cubicBezTo>
                  <a:pt x="254367" y="102724"/>
                  <a:pt x="252417" y="100778"/>
                  <a:pt x="250003" y="100778"/>
                </a:cubicBezTo>
                <a:close/>
                <a:moveTo>
                  <a:pt x="271454" y="39517"/>
                </a:moveTo>
                <a:lnTo>
                  <a:pt x="305254" y="39517"/>
                </a:lnTo>
                <a:cubicBezTo>
                  <a:pt x="307111" y="39517"/>
                  <a:pt x="308597" y="41000"/>
                  <a:pt x="308597" y="42854"/>
                </a:cubicBezTo>
                <a:lnTo>
                  <a:pt x="308597" y="85208"/>
                </a:lnTo>
                <a:lnTo>
                  <a:pt x="356419" y="85208"/>
                </a:lnTo>
                <a:cubicBezTo>
                  <a:pt x="364219" y="85208"/>
                  <a:pt x="370533" y="91510"/>
                  <a:pt x="370533" y="99388"/>
                </a:cubicBezTo>
                <a:lnTo>
                  <a:pt x="370533" y="142298"/>
                </a:lnTo>
                <a:lnTo>
                  <a:pt x="379726" y="142298"/>
                </a:lnTo>
                <a:cubicBezTo>
                  <a:pt x="404798" y="142298"/>
                  <a:pt x="425226" y="162595"/>
                  <a:pt x="425226" y="187618"/>
                </a:cubicBezTo>
                <a:lnTo>
                  <a:pt x="425226" y="244893"/>
                </a:lnTo>
                <a:cubicBezTo>
                  <a:pt x="425226" y="247025"/>
                  <a:pt x="424205" y="248971"/>
                  <a:pt x="422533" y="250269"/>
                </a:cubicBezTo>
                <a:cubicBezTo>
                  <a:pt x="421419" y="251103"/>
                  <a:pt x="420026" y="251566"/>
                  <a:pt x="418540" y="251566"/>
                </a:cubicBezTo>
                <a:cubicBezTo>
                  <a:pt x="417983" y="251566"/>
                  <a:pt x="417333" y="251474"/>
                  <a:pt x="416683" y="251288"/>
                </a:cubicBezTo>
                <a:cubicBezTo>
                  <a:pt x="410462" y="249527"/>
                  <a:pt x="403590" y="247488"/>
                  <a:pt x="396347" y="245357"/>
                </a:cubicBezTo>
                <a:cubicBezTo>
                  <a:pt x="360783" y="234884"/>
                  <a:pt x="316397" y="221724"/>
                  <a:pt x="288447" y="221724"/>
                </a:cubicBezTo>
                <a:lnTo>
                  <a:pt x="288354" y="221724"/>
                </a:lnTo>
                <a:cubicBezTo>
                  <a:pt x="260403" y="221724"/>
                  <a:pt x="216017" y="234884"/>
                  <a:pt x="180360" y="245357"/>
                </a:cubicBezTo>
                <a:cubicBezTo>
                  <a:pt x="173210" y="247488"/>
                  <a:pt x="166338" y="249527"/>
                  <a:pt x="160024" y="251288"/>
                </a:cubicBezTo>
                <a:cubicBezTo>
                  <a:pt x="159467" y="251474"/>
                  <a:pt x="158817" y="251566"/>
                  <a:pt x="158260" y="251566"/>
                </a:cubicBezTo>
                <a:cubicBezTo>
                  <a:pt x="156774" y="251566"/>
                  <a:pt x="155381" y="251103"/>
                  <a:pt x="154174" y="250269"/>
                </a:cubicBezTo>
                <a:cubicBezTo>
                  <a:pt x="152502" y="248971"/>
                  <a:pt x="151574" y="247025"/>
                  <a:pt x="151574" y="244893"/>
                </a:cubicBezTo>
                <a:lnTo>
                  <a:pt x="151574" y="187618"/>
                </a:lnTo>
                <a:cubicBezTo>
                  <a:pt x="151574" y="162595"/>
                  <a:pt x="171910" y="142298"/>
                  <a:pt x="196981" y="142298"/>
                </a:cubicBezTo>
                <a:lnTo>
                  <a:pt x="206267" y="142298"/>
                </a:lnTo>
                <a:lnTo>
                  <a:pt x="206267" y="99388"/>
                </a:lnTo>
                <a:cubicBezTo>
                  <a:pt x="206267" y="91510"/>
                  <a:pt x="212581" y="85208"/>
                  <a:pt x="220381" y="85208"/>
                </a:cubicBezTo>
                <a:lnTo>
                  <a:pt x="268203" y="85208"/>
                </a:lnTo>
                <a:lnTo>
                  <a:pt x="268203" y="42854"/>
                </a:lnTo>
                <a:cubicBezTo>
                  <a:pt x="268203" y="41000"/>
                  <a:pt x="269689" y="39517"/>
                  <a:pt x="271454" y="39517"/>
                </a:cubicBezTo>
                <a:close/>
                <a:moveTo>
                  <a:pt x="271467" y="0"/>
                </a:moveTo>
                <a:lnTo>
                  <a:pt x="305242" y="0"/>
                </a:lnTo>
                <a:cubicBezTo>
                  <a:pt x="307098" y="0"/>
                  <a:pt x="308582" y="1485"/>
                  <a:pt x="308582" y="3340"/>
                </a:cubicBezTo>
                <a:lnTo>
                  <a:pt x="308582" y="21804"/>
                </a:lnTo>
                <a:cubicBezTo>
                  <a:pt x="308582" y="23567"/>
                  <a:pt x="307098" y="25051"/>
                  <a:pt x="305242" y="25051"/>
                </a:cubicBezTo>
                <a:lnTo>
                  <a:pt x="271467" y="25051"/>
                </a:lnTo>
                <a:cubicBezTo>
                  <a:pt x="269704" y="25051"/>
                  <a:pt x="268219" y="23567"/>
                  <a:pt x="268219" y="21804"/>
                </a:cubicBezTo>
                <a:lnTo>
                  <a:pt x="268219" y="3340"/>
                </a:lnTo>
                <a:cubicBezTo>
                  <a:pt x="268219" y="1485"/>
                  <a:pt x="269704" y="0"/>
                  <a:pt x="271467" y="0"/>
                </a:cubicBezTo>
                <a:close/>
              </a:path>
            </a:pathLst>
          </a:custGeom>
          <a:solidFill>
            <a:srgbClr val="025483"/>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Verdana" panose="020B060403050404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Verdana" panose="020B060403050404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Verdana" panose="020B060403050404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Verdana" panose="020B0604030504040204" pitchFamily="34" charset="0"/>
                <a:ea typeface="微软雅黑" panose="020B0503020204020204" pitchFamily="34" charset="-122"/>
                <a:cs typeface="+mn-cs"/>
              </a:defRPr>
            </a:lvl9pPr>
          </a:lstStyle>
          <a:p>
            <a:pPr defTabSz="457200">
              <a:defRPr/>
            </a:pPr>
            <a:endParaRPr lang="zh-CN" altLang="en-US" sz="1050">
              <a:solidFill>
                <a:prstClr val="black"/>
              </a:solidFill>
            </a:endParaRPr>
          </a:p>
        </p:txBody>
      </p:sp>
      <p:cxnSp>
        <p:nvCxnSpPr>
          <p:cNvPr id="3" name="直接连接符 7"/>
          <p:cNvCxnSpPr/>
          <p:nvPr userDrawn="1"/>
        </p:nvCxnSpPr>
        <p:spPr bwMode="auto">
          <a:xfrm flipV="1">
            <a:off x="1050131" y="741760"/>
            <a:ext cx="8093869" cy="11906"/>
          </a:xfrm>
          <a:prstGeom prst="line">
            <a:avLst/>
          </a:prstGeom>
          <a:noFill/>
          <a:ln w="3175" algn="ctr">
            <a:solidFill>
              <a:srgbClr val="025483"/>
            </a:solidFill>
            <a:miter lim="800000"/>
          </a:ln>
          <a:extLst>
            <a:ext uri="{909E8E84-426E-40DD-AFC4-6F175D3DCCD1}">
              <a14:hiddenFill xmlns:a14="http://schemas.microsoft.com/office/drawing/2010/main">
                <a:noFill/>
              </a14:hiddenFill>
            </a:ext>
          </a:extLst>
        </p:spPr>
      </p:cxnSp>
      <p:pic>
        <p:nvPicPr>
          <p:cNvPr id="4" name="图片 2"/>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r="67210"/>
          <a:stretch>
            <a:fillRect/>
          </a:stretch>
        </p:blipFill>
        <p:spPr bwMode="auto">
          <a:xfrm>
            <a:off x="8515350" y="167879"/>
            <a:ext cx="601266"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日期占位符 3"/>
          <p:cNvSpPr>
            <a:spLocks noGrp="1"/>
          </p:cNvSpPr>
          <p:nvPr>
            <p:ph type="dt" sz="half" idx="10"/>
          </p:nvPr>
        </p:nvSpPr>
        <p:spPr/>
        <p:txBody>
          <a:bodyPr/>
          <a:lstStyle>
            <a:lvl1pPr>
              <a:defRPr/>
            </a:lvl1pPr>
          </a:lstStyle>
          <a:p>
            <a:pPr>
              <a:defRPr/>
            </a:pPr>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fld id="{907829F2-DE20-4035-A296-C988460BD378}" type="slidenum">
              <a:rPr lang="zh-CN" altLang="en-US" smtClean="0"/>
            </a:fld>
            <a:r>
              <a:rPr lang="en-US" altLang="zh-CN" dirty="0"/>
              <a:t>/20</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正文页-10021_14">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28650" y="4767263"/>
            <a:ext cx="2057400" cy="273844"/>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a:xfrm>
            <a:off x="3028950" y="4767263"/>
            <a:ext cx="3086100" cy="273844"/>
          </a:xfrm>
        </p:spPr>
        <p:txBody>
          <a:bodyPr/>
          <a:lstStyle/>
          <a:p>
            <a:endParaRPr lang="zh-CN" altLang="en-US"/>
          </a:p>
        </p:txBody>
      </p:sp>
      <p:sp>
        <p:nvSpPr>
          <p:cNvPr id="5" name="灯片编号占位符 4"/>
          <p:cNvSpPr>
            <a:spLocks noGrp="1"/>
          </p:cNvSpPr>
          <p:nvPr>
            <p:ph type="sldNum" sz="quarter" idx="12"/>
          </p:nvPr>
        </p:nvSpPr>
        <p:spPr>
          <a:xfrm>
            <a:off x="6457950" y="4767263"/>
            <a:ext cx="2057400" cy="273844"/>
          </a:xfrm>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457200" y="400050"/>
            <a:ext cx="2571750" cy="914400"/>
          </a:xfrm>
          <a:noFill/>
        </p:spPr>
        <p:txBody>
          <a:bodyPr lIns="0" tIns="0" rIns="0" bIns="0" anchor="t">
            <a:normAutofit/>
          </a:bodyPr>
          <a:lstStyle>
            <a:lvl1pPr marL="0" indent="0" algn="l">
              <a:lnSpc>
                <a:spcPct val="111000"/>
              </a:lnSpc>
              <a:spcBef>
                <a:spcPct val="0"/>
              </a:spcBef>
              <a:spcAft>
                <a:spcPct val="0"/>
              </a:spcAft>
              <a:buNone/>
              <a:defRPr sz="2700" b="0" spc="0">
                <a:solidFill>
                  <a:schemeClr val="tx1"/>
                </a:solidFill>
              </a:defRPr>
            </a:lvl1pPr>
          </a:lstStyle>
          <a:p>
            <a:r>
              <a:rPr lang="zh-CN" altLang="en-US"/>
              <a:t>单击此处添加标题</a:t>
            </a:r>
            <a:endParaRPr lang="zh-CN" altLang="en-US"/>
          </a:p>
        </p:txBody>
      </p:sp>
      <p:sp>
        <p:nvSpPr>
          <p:cNvPr id="7" name="文本占位符 6"/>
          <p:cNvSpPr>
            <a:spLocks noGrp="1"/>
          </p:cNvSpPr>
          <p:nvPr>
            <p:ph type="body" idx="16386" hasCustomPrompt="1"/>
            <p:custDataLst>
              <p:tags r:id="rId3"/>
            </p:custDataLst>
          </p:nvPr>
        </p:nvSpPr>
        <p:spPr>
          <a:xfrm>
            <a:off x="457200" y="1543050"/>
            <a:ext cx="2571750" cy="2971800"/>
          </a:xfrm>
          <a:noFill/>
        </p:spPr>
        <p:txBody>
          <a:bodyPr lIns="0" tIns="0" rIns="0" bIns="0" anchor="t">
            <a:normAutofit/>
          </a:bodyPr>
          <a:lstStyle>
            <a:lvl1pPr marL="0" indent="0" algn="l">
              <a:lnSpc>
                <a:spcPct val="125000"/>
              </a:lnSpc>
              <a:spcBef>
                <a:spcPct val="0"/>
              </a:spcBef>
              <a:spcAft>
                <a:spcPct val="0"/>
              </a:spcAft>
              <a:buNone/>
              <a:defRPr sz="1200" b="0" spc="0">
                <a:solidFill>
                  <a:schemeClr val="tx1"/>
                </a:solidFill>
              </a:defRPr>
            </a:lvl1pPr>
          </a:lstStyle>
          <a:p>
            <a:pPr lvl="0"/>
            <a:r>
              <a:rPr lang="zh-CN" altLang="en-US"/>
              <a:t>单击此处添加正文</a:t>
            </a:r>
            <a:endParaRPr lang="zh-CN" altLang="en-US"/>
          </a:p>
        </p:txBody>
      </p:sp>
      <p:sp>
        <p:nvSpPr>
          <p:cNvPr id="8" name="装饰  7"/>
          <p:cNvSpPr>
            <a:spLocks noGrp="1"/>
          </p:cNvSpPr>
          <p:nvPr>
            <p:ph type="body" idx="16393" hasCustomPrompt="1"/>
            <p:custDataLst>
              <p:tags r:id="rId4"/>
            </p:custDataLst>
          </p:nvPr>
        </p:nvSpPr>
        <p:spPr>
          <a:xfrm>
            <a:off x="3486150" y="457200"/>
            <a:ext cx="5200650" cy="1333500"/>
          </a:xfrm>
          <a:custGeom>
            <a:avLst/>
            <a:gdLst>
              <a:gd name="connisteX0" fmla="*/ 0 w 6934200"/>
              <a:gd name="connsiteY0" fmla="*/ 203200 h 1778000"/>
              <a:gd name="connisteX1" fmla="*/ 203200 w 6934200"/>
              <a:gd name="connsiteY1" fmla="*/ 0 h 1778000"/>
              <a:gd name="connisteX2" fmla="*/ 6731000 w 6934200"/>
              <a:gd name="connsiteY2" fmla="*/ 0 h 1778000"/>
              <a:gd name="connisteX3" fmla="*/ 6934200 w 6934200"/>
              <a:gd name="connsiteY3" fmla="*/ 203200 h 1778000"/>
              <a:gd name="connisteX4" fmla="*/ 6934200 w 6934200"/>
              <a:gd name="connsiteY4" fmla="*/ 1574800 h 1778000"/>
              <a:gd name="connisteX5" fmla="*/ 6731000 w 6934200"/>
              <a:gd name="connsiteY5" fmla="*/ 1778000 h 1778000"/>
              <a:gd name="connisteX6" fmla="*/ 203200 w 6934200"/>
              <a:gd name="connsiteY6" fmla="*/ 1778000 h 1778000"/>
              <a:gd name="connisteX7" fmla="*/ 0 w 6934200"/>
              <a:gd name="connsiteY7" fmla="*/ 1574800 h 1778000"/>
              <a:gd name="connisteX8" fmla="*/ 0 w 6934200"/>
              <a:gd name="connsiteY8" fmla="*/ 203200 h 177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6934200" h="1778000">
                <a:moveTo>
                  <a:pt x="0" y="203200"/>
                </a:moveTo>
                <a:cubicBezTo>
                  <a:pt x="0" y="90976"/>
                  <a:pt x="90976" y="0"/>
                  <a:pt x="203200" y="0"/>
                </a:cubicBezTo>
                <a:lnTo>
                  <a:pt x="6731000" y="0"/>
                </a:lnTo>
                <a:cubicBezTo>
                  <a:pt x="6843224" y="0"/>
                  <a:pt x="6934200" y="90976"/>
                  <a:pt x="6934200" y="203200"/>
                </a:cubicBezTo>
                <a:lnTo>
                  <a:pt x="6934200" y="1574800"/>
                </a:lnTo>
                <a:cubicBezTo>
                  <a:pt x="6934200" y="1687024"/>
                  <a:pt x="6843224" y="1778000"/>
                  <a:pt x="6731000" y="1778000"/>
                </a:cubicBezTo>
                <a:lnTo>
                  <a:pt x="203200" y="1778000"/>
                </a:lnTo>
                <a:cubicBezTo>
                  <a:pt x="90976" y="1778000"/>
                  <a:pt x="0" y="1687024"/>
                  <a:pt x="0" y="157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9" name="文本占位符 8"/>
          <p:cNvSpPr>
            <a:spLocks noGrp="1"/>
          </p:cNvSpPr>
          <p:nvPr>
            <p:ph type="body" idx="16387" hasCustomPrompt="1"/>
            <p:custDataLst>
              <p:tags r:id="rId5"/>
            </p:custDataLst>
          </p:nvPr>
        </p:nvSpPr>
        <p:spPr>
          <a:xfrm>
            <a:off x="3714750" y="685800"/>
            <a:ext cx="4743450" cy="304800"/>
          </a:xfrm>
          <a:noFill/>
        </p:spPr>
        <p:txBody>
          <a:bodyPr lIns="0" tIns="0" rIns="0" bIns="0" anchor="t">
            <a:normAutofit/>
          </a:bodyPr>
          <a:lstStyle>
            <a:lvl1pPr marL="0" indent="0" algn="l">
              <a:lnSpc>
                <a:spcPct val="111000"/>
              </a:lnSpc>
              <a:spcBef>
                <a:spcPct val="0"/>
              </a:spcBef>
              <a:spcAft>
                <a:spcPct val="0"/>
              </a:spcAft>
              <a:buNone/>
              <a:defRPr sz="1800" b="0" spc="0">
                <a:solidFill>
                  <a:schemeClr val="tx1"/>
                </a:solidFill>
              </a:defRPr>
            </a:lvl1pPr>
          </a:lstStyle>
          <a:p>
            <a:pPr lvl="0"/>
            <a:r>
              <a:rPr lang="zh-CN" altLang="en-US"/>
              <a:t>单击此处添加项标题</a:t>
            </a:r>
            <a:endParaRPr lang="zh-CN" altLang="en-US"/>
          </a:p>
        </p:txBody>
      </p:sp>
      <p:sp>
        <p:nvSpPr>
          <p:cNvPr id="10" name="文本占位符 9"/>
          <p:cNvSpPr>
            <a:spLocks noGrp="1"/>
          </p:cNvSpPr>
          <p:nvPr>
            <p:ph type="body" idx="16388" hasCustomPrompt="1"/>
            <p:custDataLst>
              <p:tags r:id="rId6"/>
            </p:custDataLst>
          </p:nvPr>
        </p:nvSpPr>
        <p:spPr>
          <a:xfrm>
            <a:off x="3714750" y="1104900"/>
            <a:ext cx="4743450" cy="457200"/>
          </a:xfrm>
          <a:noFill/>
        </p:spPr>
        <p:txBody>
          <a:bodyPr lIns="0" tIns="0" rIns="0" bIns="0" anchor="t">
            <a:normAutofit/>
          </a:bodyPr>
          <a:lstStyle>
            <a:lvl1pPr marL="0" indent="0" algn="l">
              <a:lnSpc>
                <a:spcPct val="125000"/>
              </a:lnSpc>
              <a:spcBef>
                <a:spcPct val="0"/>
              </a:spcBef>
              <a:spcAft>
                <a:spcPct val="0"/>
              </a:spcAft>
              <a:buNone/>
              <a:defRPr sz="1200" b="0" spc="0">
                <a:solidFill>
                  <a:schemeClr val="tx1"/>
                </a:solidFill>
              </a:defRPr>
            </a:lvl1pPr>
          </a:lstStyle>
          <a:p>
            <a:pPr lvl="0"/>
            <a:r>
              <a:rPr lang="zh-CN" altLang="en-US"/>
              <a:t>单击此处添加项正文</a:t>
            </a:r>
            <a:endParaRPr lang="zh-CN" altLang="en-US"/>
          </a:p>
        </p:txBody>
      </p:sp>
      <p:sp>
        <p:nvSpPr>
          <p:cNvPr id="11" name="装饰  0"/>
          <p:cNvSpPr>
            <a:spLocks noGrp="1"/>
          </p:cNvSpPr>
          <p:nvPr>
            <p:ph type="body" idx="16394" hasCustomPrompt="1"/>
            <p:custDataLst>
              <p:tags r:id="rId7"/>
            </p:custDataLst>
          </p:nvPr>
        </p:nvSpPr>
        <p:spPr>
          <a:xfrm>
            <a:off x="3486150" y="1905000"/>
            <a:ext cx="5200650" cy="1333500"/>
          </a:xfrm>
          <a:custGeom>
            <a:avLst/>
            <a:gdLst>
              <a:gd name="connisteX0" fmla="*/ 0 w 6934200"/>
              <a:gd name="connsiteY0" fmla="*/ 203200 h 1778000"/>
              <a:gd name="connisteX1" fmla="*/ 203200 w 6934200"/>
              <a:gd name="connsiteY1" fmla="*/ 0 h 1778000"/>
              <a:gd name="connisteX2" fmla="*/ 6731000 w 6934200"/>
              <a:gd name="connsiteY2" fmla="*/ 0 h 1778000"/>
              <a:gd name="connisteX3" fmla="*/ 6934200 w 6934200"/>
              <a:gd name="connsiteY3" fmla="*/ 203200 h 1778000"/>
              <a:gd name="connisteX4" fmla="*/ 6934200 w 6934200"/>
              <a:gd name="connsiteY4" fmla="*/ 1574800 h 1778000"/>
              <a:gd name="connisteX5" fmla="*/ 6731000 w 6934200"/>
              <a:gd name="connsiteY5" fmla="*/ 1778000 h 1778000"/>
              <a:gd name="connisteX6" fmla="*/ 203200 w 6934200"/>
              <a:gd name="connsiteY6" fmla="*/ 1778000 h 1778000"/>
              <a:gd name="connisteX7" fmla="*/ 0 w 6934200"/>
              <a:gd name="connsiteY7" fmla="*/ 1574800 h 1778000"/>
              <a:gd name="connisteX8" fmla="*/ 0 w 6934200"/>
              <a:gd name="connsiteY8" fmla="*/ 203200 h 177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6934200" h="1778000">
                <a:moveTo>
                  <a:pt x="0" y="203200"/>
                </a:moveTo>
                <a:cubicBezTo>
                  <a:pt x="0" y="90976"/>
                  <a:pt x="90976" y="0"/>
                  <a:pt x="203200" y="0"/>
                </a:cubicBezTo>
                <a:lnTo>
                  <a:pt x="6731000" y="0"/>
                </a:lnTo>
                <a:cubicBezTo>
                  <a:pt x="6843224" y="0"/>
                  <a:pt x="6934200" y="90976"/>
                  <a:pt x="6934200" y="203200"/>
                </a:cubicBezTo>
                <a:lnTo>
                  <a:pt x="6934200" y="1574800"/>
                </a:lnTo>
                <a:cubicBezTo>
                  <a:pt x="6934200" y="1687024"/>
                  <a:pt x="6843224" y="1778000"/>
                  <a:pt x="6731000" y="1778000"/>
                </a:cubicBezTo>
                <a:lnTo>
                  <a:pt x="203200" y="1778000"/>
                </a:lnTo>
                <a:cubicBezTo>
                  <a:pt x="90976" y="1778000"/>
                  <a:pt x="0" y="1687024"/>
                  <a:pt x="0" y="157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2" name="文本占位符 11"/>
          <p:cNvSpPr>
            <a:spLocks noGrp="1"/>
          </p:cNvSpPr>
          <p:nvPr>
            <p:ph type="body" idx="16389" hasCustomPrompt="1"/>
            <p:custDataLst>
              <p:tags r:id="rId8"/>
            </p:custDataLst>
          </p:nvPr>
        </p:nvSpPr>
        <p:spPr>
          <a:xfrm>
            <a:off x="3714750" y="2133600"/>
            <a:ext cx="4743450" cy="304800"/>
          </a:xfrm>
          <a:noFill/>
        </p:spPr>
        <p:txBody>
          <a:bodyPr lIns="0" tIns="0" rIns="0" bIns="0" anchor="t">
            <a:normAutofit/>
          </a:bodyPr>
          <a:lstStyle>
            <a:lvl1pPr marL="0" indent="0" algn="l">
              <a:lnSpc>
                <a:spcPct val="111000"/>
              </a:lnSpc>
              <a:spcBef>
                <a:spcPct val="0"/>
              </a:spcBef>
              <a:spcAft>
                <a:spcPct val="0"/>
              </a:spcAft>
              <a:buNone/>
              <a:defRPr sz="1800" b="0" spc="0">
                <a:solidFill>
                  <a:schemeClr val="tx1"/>
                </a:solidFill>
              </a:defRPr>
            </a:lvl1pPr>
          </a:lstStyle>
          <a:p>
            <a:pPr lvl="0"/>
            <a:r>
              <a:rPr lang="zh-CN" altLang="en-US"/>
              <a:t>单击此处添加项标题</a:t>
            </a:r>
            <a:endParaRPr lang="zh-CN" altLang="en-US"/>
          </a:p>
        </p:txBody>
      </p:sp>
      <p:sp>
        <p:nvSpPr>
          <p:cNvPr id="13" name="文本占位符 12"/>
          <p:cNvSpPr>
            <a:spLocks noGrp="1"/>
          </p:cNvSpPr>
          <p:nvPr>
            <p:ph type="body" idx="16390" hasCustomPrompt="1"/>
            <p:custDataLst>
              <p:tags r:id="rId9"/>
            </p:custDataLst>
          </p:nvPr>
        </p:nvSpPr>
        <p:spPr>
          <a:xfrm>
            <a:off x="3714750" y="2552700"/>
            <a:ext cx="4743450" cy="457200"/>
          </a:xfrm>
          <a:noFill/>
        </p:spPr>
        <p:txBody>
          <a:bodyPr lIns="0" tIns="0" rIns="0" bIns="0" anchor="t">
            <a:normAutofit/>
          </a:bodyPr>
          <a:lstStyle>
            <a:lvl1pPr marL="0" indent="0" algn="l">
              <a:lnSpc>
                <a:spcPct val="125000"/>
              </a:lnSpc>
              <a:spcBef>
                <a:spcPct val="0"/>
              </a:spcBef>
              <a:spcAft>
                <a:spcPct val="0"/>
              </a:spcAft>
              <a:buNone/>
              <a:defRPr sz="1200" b="0" spc="0">
                <a:solidFill>
                  <a:schemeClr val="tx1"/>
                </a:solidFill>
              </a:defRPr>
            </a:lvl1pPr>
          </a:lstStyle>
          <a:p>
            <a:pPr lvl="0"/>
            <a:r>
              <a:rPr lang="zh-CN" altLang="en-US"/>
              <a:t>单击此处添加项正文</a:t>
            </a:r>
            <a:endParaRPr lang="zh-CN" altLang="en-US"/>
          </a:p>
        </p:txBody>
      </p:sp>
      <p:sp>
        <p:nvSpPr>
          <p:cNvPr id="14" name="装饰  3"/>
          <p:cNvSpPr>
            <a:spLocks noGrp="1"/>
          </p:cNvSpPr>
          <p:nvPr>
            <p:ph type="body" idx="16395" hasCustomPrompt="1"/>
            <p:custDataLst>
              <p:tags r:id="rId10"/>
            </p:custDataLst>
          </p:nvPr>
        </p:nvSpPr>
        <p:spPr>
          <a:xfrm>
            <a:off x="3486150" y="3352800"/>
            <a:ext cx="5200650" cy="1333500"/>
          </a:xfrm>
          <a:custGeom>
            <a:avLst/>
            <a:gdLst>
              <a:gd name="connisteX0" fmla="*/ 0 w 6934200"/>
              <a:gd name="connsiteY0" fmla="*/ 203200 h 1778000"/>
              <a:gd name="connisteX1" fmla="*/ 203200 w 6934200"/>
              <a:gd name="connsiteY1" fmla="*/ 0 h 1778000"/>
              <a:gd name="connisteX2" fmla="*/ 6731000 w 6934200"/>
              <a:gd name="connsiteY2" fmla="*/ 0 h 1778000"/>
              <a:gd name="connisteX3" fmla="*/ 6934200 w 6934200"/>
              <a:gd name="connsiteY3" fmla="*/ 203200 h 1778000"/>
              <a:gd name="connisteX4" fmla="*/ 6934200 w 6934200"/>
              <a:gd name="connsiteY4" fmla="*/ 1574800 h 1778000"/>
              <a:gd name="connisteX5" fmla="*/ 6731000 w 6934200"/>
              <a:gd name="connsiteY5" fmla="*/ 1778000 h 1778000"/>
              <a:gd name="connisteX6" fmla="*/ 203200 w 6934200"/>
              <a:gd name="connsiteY6" fmla="*/ 1778000 h 1778000"/>
              <a:gd name="connisteX7" fmla="*/ 0 w 6934200"/>
              <a:gd name="connsiteY7" fmla="*/ 1574800 h 1778000"/>
              <a:gd name="connisteX8" fmla="*/ 0 w 6934200"/>
              <a:gd name="connsiteY8" fmla="*/ 203200 h 177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6934200" h="1778000">
                <a:moveTo>
                  <a:pt x="0" y="203200"/>
                </a:moveTo>
                <a:cubicBezTo>
                  <a:pt x="0" y="90976"/>
                  <a:pt x="90976" y="0"/>
                  <a:pt x="203200" y="0"/>
                </a:cubicBezTo>
                <a:lnTo>
                  <a:pt x="6731000" y="0"/>
                </a:lnTo>
                <a:cubicBezTo>
                  <a:pt x="6843224" y="0"/>
                  <a:pt x="6934200" y="90976"/>
                  <a:pt x="6934200" y="203200"/>
                </a:cubicBezTo>
                <a:lnTo>
                  <a:pt x="6934200" y="1574800"/>
                </a:lnTo>
                <a:cubicBezTo>
                  <a:pt x="6934200" y="1687024"/>
                  <a:pt x="6843224" y="1778000"/>
                  <a:pt x="6731000" y="1778000"/>
                </a:cubicBezTo>
                <a:lnTo>
                  <a:pt x="203200" y="1778000"/>
                </a:lnTo>
                <a:cubicBezTo>
                  <a:pt x="90976" y="1778000"/>
                  <a:pt x="0" y="1687024"/>
                  <a:pt x="0" y="157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5" name="文本占位符 14"/>
          <p:cNvSpPr>
            <a:spLocks noGrp="1"/>
          </p:cNvSpPr>
          <p:nvPr>
            <p:ph type="body" idx="16391" hasCustomPrompt="1"/>
            <p:custDataLst>
              <p:tags r:id="rId11"/>
            </p:custDataLst>
          </p:nvPr>
        </p:nvSpPr>
        <p:spPr>
          <a:xfrm>
            <a:off x="3714750" y="3581400"/>
            <a:ext cx="4743450" cy="304800"/>
          </a:xfrm>
          <a:noFill/>
        </p:spPr>
        <p:txBody>
          <a:bodyPr lIns="0" tIns="0" rIns="0" bIns="0" anchor="t">
            <a:normAutofit/>
          </a:bodyPr>
          <a:lstStyle>
            <a:lvl1pPr marL="0" indent="0" algn="l">
              <a:lnSpc>
                <a:spcPct val="111000"/>
              </a:lnSpc>
              <a:spcBef>
                <a:spcPct val="0"/>
              </a:spcBef>
              <a:spcAft>
                <a:spcPct val="0"/>
              </a:spcAft>
              <a:buNone/>
              <a:defRPr sz="1800" b="0" spc="0">
                <a:solidFill>
                  <a:schemeClr val="tx1"/>
                </a:solidFill>
              </a:defRPr>
            </a:lvl1pPr>
          </a:lstStyle>
          <a:p>
            <a:pPr lvl="0"/>
            <a:r>
              <a:rPr lang="zh-CN" altLang="en-US"/>
              <a:t>单击此处添加项标题</a:t>
            </a:r>
            <a:endParaRPr lang="zh-CN" altLang="en-US"/>
          </a:p>
        </p:txBody>
      </p:sp>
      <p:sp>
        <p:nvSpPr>
          <p:cNvPr id="16" name="文本占位符 15"/>
          <p:cNvSpPr>
            <a:spLocks noGrp="1"/>
          </p:cNvSpPr>
          <p:nvPr>
            <p:ph type="body" idx="16392" hasCustomPrompt="1"/>
            <p:custDataLst>
              <p:tags r:id="rId12"/>
            </p:custDataLst>
          </p:nvPr>
        </p:nvSpPr>
        <p:spPr>
          <a:xfrm>
            <a:off x="3714750" y="4000500"/>
            <a:ext cx="4743450" cy="457200"/>
          </a:xfrm>
          <a:noFill/>
        </p:spPr>
        <p:txBody>
          <a:bodyPr lIns="0" tIns="0" rIns="0" bIns="0" anchor="t">
            <a:normAutofit/>
          </a:bodyPr>
          <a:lstStyle>
            <a:lvl1pPr marL="0" indent="0" algn="l">
              <a:lnSpc>
                <a:spcPct val="125000"/>
              </a:lnSpc>
              <a:spcBef>
                <a:spcPct val="0"/>
              </a:spcBef>
              <a:spcAft>
                <a:spcPct val="0"/>
              </a:spcAft>
              <a:buNone/>
              <a:defRPr sz="1200" b="0" spc="0">
                <a:solidFill>
                  <a:schemeClr val="tx1"/>
                </a:solidFill>
              </a:defRPr>
            </a:lvl1pPr>
          </a:lstStyle>
          <a:p>
            <a:pPr lvl="0"/>
            <a:r>
              <a:rPr lang="zh-CN" altLang="en-US"/>
              <a:t>单击此处添加项正文</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2701528"/>
            <a:ext cx="6858000" cy="1241823"/>
          </a:xfrm>
        </p:spPr>
        <p:txBody>
          <a:bodyPr/>
          <a:lstStyle>
            <a:lvl1pPr marL="0" indent="0" algn="ctr">
              <a:buNone/>
              <a:defRPr sz="1800"/>
            </a:lvl1pPr>
            <a:lvl2pPr marL="342900" indent="0" algn="ctr">
              <a:buNone/>
              <a:defRPr sz="1600"/>
            </a:lvl2pPr>
            <a:lvl3pPr marL="685800" indent="0" algn="ctr">
              <a:buNone/>
              <a:defRPr sz="1400"/>
            </a:lvl3pPr>
            <a:lvl4pPr marL="1028700" indent="0" algn="ctr">
              <a:buNone/>
              <a:defRPr sz="1100"/>
            </a:lvl4pPr>
            <a:lvl5pPr marL="1371600" indent="0" algn="ctr">
              <a:buNone/>
              <a:defRPr sz="1100"/>
            </a:lvl5pPr>
            <a:lvl6pPr marL="1714500" indent="0" algn="ctr">
              <a:buNone/>
              <a:defRPr sz="1100"/>
            </a:lvl6pPr>
            <a:lvl7pPr marL="2057400" indent="0" algn="ctr">
              <a:buNone/>
              <a:defRPr sz="1100"/>
            </a:lvl7pPr>
            <a:lvl8pPr marL="2400300" indent="0" algn="ctr">
              <a:buNone/>
              <a:defRPr sz="1100"/>
            </a:lvl8pPr>
            <a:lvl9pPr marL="2743200" indent="0" algn="ctr">
              <a:buNone/>
              <a:defRPr sz="11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166FB0D-3649-4659-A4EA-16B622D04D1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BC0CA1-3571-4BD4-9253-723F5D1C3D9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166FB0D-3649-4659-A4EA-16B622D04D1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BC0CA1-3571-4BD4-9253-723F5D1C3D94}" type="slidenum">
              <a:rPr lang="zh-CN" altLang="en-US" smtClean="0"/>
            </a:fld>
            <a:endParaRPr lang="zh-CN" altLang="en-US"/>
          </a:p>
        </p:txBody>
      </p:sp>
      <p:grpSp>
        <p:nvGrpSpPr>
          <p:cNvPr id="11" name="组合 10"/>
          <p:cNvGrpSpPr/>
          <p:nvPr userDrawn="1"/>
        </p:nvGrpSpPr>
        <p:grpSpPr>
          <a:xfrm>
            <a:off x="-2" y="120703"/>
            <a:ext cx="285757" cy="479147"/>
            <a:chOff x="-2" y="120703"/>
            <a:chExt cx="285757" cy="479147"/>
          </a:xfrm>
        </p:grpSpPr>
        <p:sp>
          <p:nvSpPr>
            <p:cNvPr id="7" name="等腰三角形 6"/>
            <p:cNvSpPr/>
            <p:nvPr userDrawn="1"/>
          </p:nvSpPr>
          <p:spPr>
            <a:xfrm rot="5400000">
              <a:off x="-52804" y="173505"/>
              <a:ext cx="391362" cy="285757"/>
            </a:xfrm>
            <a:prstGeom prst="triangle">
              <a:avLst/>
            </a:prstGeom>
            <a:gradFill>
              <a:gsLst>
                <a:gs pos="0">
                  <a:srgbClr val="0070C0"/>
                </a:gs>
                <a:gs pos="100000">
                  <a:srgbClr val="00B0F0"/>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rot="5400000">
              <a:off x="-52804" y="261290"/>
              <a:ext cx="391362" cy="285757"/>
            </a:xfrm>
            <a:prstGeom prst="triangle">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userDrawn="1"/>
        </p:nvGrpSpPr>
        <p:grpSpPr>
          <a:xfrm>
            <a:off x="8858242" y="4593948"/>
            <a:ext cx="285757" cy="479147"/>
            <a:chOff x="8858242" y="4593948"/>
            <a:chExt cx="285757" cy="479147"/>
          </a:xfrm>
        </p:grpSpPr>
        <p:sp>
          <p:nvSpPr>
            <p:cNvPr id="9" name="等腰三角形 8"/>
            <p:cNvSpPr/>
            <p:nvPr userDrawn="1"/>
          </p:nvSpPr>
          <p:spPr>
            <a:xfrm rot="16200000">
              <a:off x="8805440" y="4646750"/>
              <a:ext cx="391362" cy="285757"/>
            </a:xfrm>
            <a:prstGeom prst="triangle">
              <a:avLst/>
            </a:prstGeom>
            <a:gradFill>
              <a:gsLst>
                <a:gs pos="0">
                  <a:srgbClr val="0070C0"/>
                </a:gs>
                <a:gs pos="100000">
                  <a:srgbClr val="00B0F0"/>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rot="16200000">
              <a:off x="8805440" y="4734535"/>
              <a:ext cx="391362" cy="285757"/>
            </a:xfrm>
            <a:prstGeom prst="triangle">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2"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right)">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7"/>
            <a:ext cx="7886700" cy="2139553"/>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900" indent="0">
              <a:buNone/>
              <a:defRPr sz="1600">
                <a:solidFill>
                  <a:schemeClr val="tx1">
                    <a:tint val="75000"/>
                  </a:schemeClr>
                </a:solidFill>
              </a:defRPr>
            </a:lvl2pPr>
            <a:lvl3pPr marL="685800" indent="0">
              <a:buNone/>
              <a:defRPr sz="1400">
                <a:solidFill>
                  <a:schemeClr val="tx1">
                    <a:tint val="75000"/>
                  </a:schemeClr>
                </a:solidFill>
              </a:defRPr>
            </a:lvl3pPr>
            <a:lvl4pPr marL="1028700" indent="0">
              <a:buNone/>
              <a:defRPr sz="1100">
                <a:solidFill>
                  <a:schemeClr val="tx1">
                    <a:tint val="75000"/>
                  </a:schemeClr>
                </a:solidFill>
              </a:defRPr>
            </a:lvl4pPr>
            <a:lvl5pPr marL="1371600" indent="0">
              <a:buNone/>
              <a:defRPr sz="1100">
                <a:solidFill>
                  <a:schemeClr val="tx1">
                    <a:tint val="75000"/>
                  </a:schemeClr>
                </a:solidFill>
              </a:defRPr>
            </a:lvl5pPr>
            <a:lvl6pPr marL="1714500" indent="0">
              <a:buNone/>
              <a:defRPr sz="1100">
                <a:solidFill>
                  <a:schemeClr val="tx1">
                    <a:tint val="75000"/>
                  </a:schemeClr>
                </a:solidFill>
              </a:defRPr>
            </a:lvl6pPr>
            <a:lvl7pPr marL="2057400" indent="0">
              <a:buNone/>
              <a:defRPr sz="1100">
                <a:solidFill>
                  <a:schemeClr val="tx1">
                    <a:tint val="75000"/>
                  </a:schemeClr>
                </a:solidFill>
              </a:defRPr>
            </a:lvl7pPr>
            <a:lvl8pPr marL="2400300" indent="0">
              <a:buNone/>
              <a:defRPr sz="1100">
                <a:solidFill>
                  <a:schemeClr val="tx1">
                    <a:tint val="75000"/>
                  </a:schemeClr>
                </a:solidFill>
              </a:defRPr>
            </a:lvl8pPr>
            <a:lvl9pPr marL="2743200" indent="0">
              <a:buNone/>
              <a:defRPr sz="11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9166FB0D-3649-4659-A4EA-16B622D04D1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BC0CA1-3571-4BD4-9253-723F5D1C3D9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8" name="KSO_Shape"/>
          <p:cNvSpPr/>
          <p:nvPr userDrawn="1"/>
        </p:nvSpPr>
        <p:spPr bwMode="auto">
          <a:xfrm>
            <a:off x="349531" y="167879"/>
            <a:ext cx="606471" cy="631031"/>
          </a:xfrm>
          <a:custGeom>
            <a:avLst/>
            <a:gdLst>
              <a:gd name="connsiteX0" fmla="*/ 13276 w 582023"/>
              <a:gd name="connsiteY0" fmla="*/ 555067 h 605592"/>
              <a:gd name="connsiteX1" fmla="*/ 59882 w 582023"/>
              <a:gd name="connsiteY1" fmla="*/ 568973 h 605592"/>
              <a:gd name="connsiteX2" fmla="*/ 92656 w 582023"/>
              <a:gd name="connsiteY2" fmla="*/ 578986 h 605592"/>
              <a:gd name="connsiteX3" fmla="*/ 125429 w 582023"/>
              <a:gd name="connsiteY3" fmla="*/ 568973 h 605592"/>
              <a:gd name="connsiteX4" fmla="*/ 172035 w 582023"/>
              <a:gd name="connsiteY4" fmla="*/ 555067 h 605592"/>
              <a:gd name="connsiteX5" fmla="*/ 218549 w 582023"/>
              <a:gd name="connsiteY5" fmla="*/ 568973 h 605592"/>
              <a:gd name="connsiteX6" fmla="*/ 251322 w 582023"/>
              <a:gd name="connsiteY6" fmla="*/ 578986 h 605592"/>
              <a:gd name="connsiteX7" fmla="*/ 284095 w 582023"/>
              <a:gd name="connsiteY7" fmla="*/ 568973 h 605592"/>
              <a:gd name="connsiteX8" fmla="*/ 330701 w 582023"/>
              <a:gd name="connsiteY8" fmla="*/ 555067 h 605592"/>
              <a:gd name="connsiteX9" fmla="*/ 377215 w 582023"/>
              <a:gd name="connsiteY9" fmla="*/ 568973 h 605592"/>
              <a:gd name="connsiteX10" fmla="*/ 410081 w 582023"/>
              <a:gd name="connsiteY10" fmla="*/ 578986 h 605592"/>
              <a:gd name="connsiteX11" fmla="*/ 442854 w 582023"/>
              <a:gd name="connsiteY11" fmla="*/ 568973 h 605592"/>
              <a:gd name="connsiteX12" fmla="*/ 489367 w 582023"/>
              <a:gd name="connsiteY12" fmla="*/ 555067 h 605592"/>
              <a:gd name="connsiteX13" fmla="*/ 535974 w 582023"/>
              <a:gd name="connsiteY13" fmla="*/ 568973 h 605592"/>
              <a:gd name="connsiteX14" fmla="*/ 568747 w 582023"/>
              <a:gd name="connsiteY14" fmla="*/ 578986 h 605592"/>
              <a:gd name="connsiteX15" fmla="*/ 582023 w 582023"/>
              <a:gd name="connsiteY15" fmla="*/ 592335 h 605592"/>
              <a:gd name="connsiteX16" fmla="*/ 568747 w 582023"/>
              <a:gd name="connsiteY16" fmla="*/ 605592 h 605592"/>
              <a:gd name="connsiteX17" fmla="*/ 522141 w 582023"/>
              <a:gd name="connsiteY17" fmla="*/ 591779 h 605592"/>
              <a:gd name="connsiteX18" fmla="*/ 489367 w 582023"/>
              <a:gd name="connsiteY18" fmla="*/ 581674 h 605592"/>
              <a:gd name="connsiteX19" fmla="*/ 456594 w 582023"/>
              <a:gd name="connsiteY19" fmla="*/ 591779 h 605592"/>
              <a:gd name="connsiteX20" fmla="*/ 410081 w 582023"/>
              <a:gd name="connsiteY20" fmla="*/ 605592 h 605592"/>
              <a:gd name="connsiteX21" fmla="*/ 363474 w 582023"/>
              <a:gd name="connsiteY21" fmla="*/ 591779 h 605592"/>
              <a:gd name="connsiteX22" fmla="*/ 330701 w 582023"/>
              <a:gd name="connsiteY22" fmla="*/ 581674 h 605592"/>
              <a:gd name="connsiteX23" fmla="*/ 297928 w 582023"/>
              <a:gd name="connsiteY23" fmla="*/ 591779 h 605592"/>
              <a:gd name="connsiteX24" fmla="*/ 251322 w 582023"/>
              <a:gd name="connsiteY24" fmla="*/ 605592 h 605592"/>
              <a:gd name="connsiteX25" fmla="*/ 204808 w 582023"/>
              <a:gd name="connsiteY25" fmla="*/ 591779 h 605592"/>
              <a:gd name="connsiteX26" fmla="*/ 172035 w 582023"/>
              <a:gd name="connsiteY26" fmla="*/ 581674 h 605592"/>
              <a:gd name="connsiteX27" fmla="*/ 139262 w 582023"/>
              <a:gd name="connsiteY27" fmla="*/ 591779 h 605592"/>
              <a:gd name="connsiteX28" fmla="*/ 92656 w 582023"/>
              <a:gd name="connsiteY28" fmla="*/ 605592 h 605592"/>
              <a:gd name="connsiteX29" fmla="*/ 46142 w 582023"/>
              <a:gd name="connsiteY29" fmla="*/ 591779 h 605592"/>
              <a:gd name="connsiteX30" fmla="*/ 13276 w 582023"/>
              <a:gd name="connsiteY30" fmla="*/ 581674 h 605592"/>
              <a:gd name="connsiteX31" fmla="*/ 0 w 582023"/>
              <a:gd name="connsiteY31" fmla="*/ 568417 h 605592"/>
              <a:gd name="connsiteX32" fmla="*/ 13276 w 582023"/>
              <a:gd name="connsiteY32" fmla="*/ 555067 h 605592"/>
              <a:gd name="connsiteX33" fmla="*/ 13276 w 582023"/>
              <a:gd name="connsiteY33" fmla="*/ 496780 h 605592"/>
              <a:gd name="connsiteX34" fmla="*/ 59882 w 582023"/>
              <a:gd name="connsiteY34" fmla="*/ 510594 h 605592"/>
              <a:gd name="connsiteX35" fmla="*/ 92656 w 582023"/>
              <a:gd name="connsiteY35" fmla="*/ 520699 h 605592"/>
              <a:gd name="connsiteX36" fmla="*/ 125429 w 582023"/>
              <a:gd name="connsiteY36" fmla="*/ 510594 h 605592"/>
              <a:gd name="connsiteX37" fmla="*/ 172035 w 582023"/>
              <a:gd name="connsiteY37" fmla="*/ 496780 h 605592"/>
              <a:gd name="connsiteX38" fmla="*/ 218549 w 582023"/>
              <a:gd name="connsiteY38" fmla="*/ 510594 h 605592"/>
              <a:gd name="connsiteX39" fmla="*/ 251322 w 582023"/>
              <a:gd name="connsiteY39" fmla="*/ 520699 h 605592"/>
              <a:gd name="connsiteX40" fmla="*/ 284095 w 582023"/>
              <a:gd name="connsiteY40" fmla="*/ 510594 h 605592"/>
              <a:gd name="connsiteX41" fmla="*/ 330701 w 582023"/>
              <a:gd name="connsiteY41" fmla="*/ 496780 h 605592"/>
              <a:gd name="connsiteX42" fmla="*/ 377215 w 582023"/>
              <a:gd name="connsiteY42" fmla="*/ 510594 h 605592"/>
              <a:gd name="connsiteX43" fmla="*/ 409988 w 582023"/>
              <a:gd name="connsiteY43" fmla="*/ 520699 h 605592"/>
              <a:gd name="connsiteX44" fmla="*/ 442854 w 582023"/>
              <a:gd name="connsiteY44" fmla="*/ 510594 h 605592"/>
              <a:gd name="connsiteX45" fmla="*/ 489367 w 582023"/>
              <a:gd name="connsiteY45" fmla="*/ 496780 h 605592"/>
              <a:gd name="connsiteX46" fmla="*/ 535974 w 582023"/>
              <a:gd name="connsiteY46" fmla="*/ 510594 h 605592"/>
              <a:gd name="connsiteX47" fmla="*/ 568747 w 582023"/>
              <a:gd name="connsiteY47" fmla="*/ 520699 h 605592"/>
              <a:gd name="connsiteX48" fmla="*/ 582023 w 582023"/>
              <a:gd name="connsiteY48" fmla="*/ 533956 h 605592"/>
              <a:gd name="connsiteX49" fmla="*/ 568747 w 582023"/>
              <a:gd name="connsiteY49" fmla="*/ 547305 h 605592"/>
              <a:gd name="connsiteX50" fmla="*/ 522141 w 582023"/>
              <a:gd name="connsiteY50" fmla="*/ 533399 h 605592"/>
              <a:gd name="connsiteX51" fmla="*/ 489367 w 582023"/>
              <a:gd name="connsiteY51" fmla="*/ 523387 h 605592"/>
              <a:gd name="connsiteX52" fmla="*/ 456594 w 582023"/>
              <a:gd name="connsiteY52" fmla="*/ 533399 h 605592"/>
              <a:gd name="connsiteX53" fmla="*/ 409988 w 582023"/>
              <a:gd name="connsiteY53" fmla="*/ 547305 h 605592"/>
              <a:gd name="connsiteX54" fmla="*/ 363474 w 582023"/>
              <a:gd name="connsiteY54" fmla="*/ 533399 h 605592"/>
              <a:gd name="connsiteX55" fmla="*/ 330701 w 582023"/>
              <a:gd name="connsiteY55" fmla="*/ 523387 h 605592"/>
              <a:gd name="connsiteX56" fmla="*/ 297928 w 582023"/>
              <a:gd name="connsiteY56" fmla="*/ 533399 h 605592"/>
              <a:gd name="connsiteX57" fmla="*/ 251322 w 582023"/>
              <a:gd name="connsiteY57" fmla="*/ 547305 h 605592"/>
              <a:gd name="connsiteX58" fmla="*/ 204808 w 582023"/>
              <a:gd name="connsiteY58" fmla="*/ 533399 h 605592"/>
              <a:gd name="connsiteX59" fmla="*/ 172035 w 582023"/>
              <a:gd name="connsiteY59" fmla="*/ 523387 h 605592"/>
              <a:gd name="connsiteX60" fmla="*/ 139262 w 582023"/>
              <a:gd name="connsiteY60" fmla="*/ 533399 h 605592"/>
              <a:gd name="connsiteX61" fmla="*/ 92656 w 582023"/>
              <a:gd name="connsiteY61" fmla="*/ 547305 h 605592"/>
              <a:gd name="connsiteX62" fmla="*/ 46142 w 582023"/>
              <a:gd name="connsiteY62" fmla="*/ 533399 h 605592"/>
              <a:gd name="connsiteX63" fmla="*/ 13276 w 582023"/>
              <a:gd name="connsiteY63" fmla="*/ 523387 h 605592"/>
              <a:gd name="connsiteX64" fmla="*/ 0 w 582023"/>
              <a:gd name="connsiteY64" fmla="*/ 510037 h 605592"/>
              <a:gd name="connsiteX65" fmla="*/ 13276 w 582023"/>
              <a:gd name="connsiteY65" fmla="*/ 496780 h 605592"/>
              <a:gd name="connsiteX66" fmla="*/ 266544 w 582023"/>
              <a:gd name="connsiteY66" fmla="*/ 248356 h 605592"/>
              <a:gd name="connsiteX67" fmla="*/ 274808 w 582023"/>
              <a:gd name="connsiteY67" fmla="*/ 250024 h 605592"/>
              <a:gd name="connsiteX68" fmla="*/ 278522 w 582023"/>
              <a:gd name="connsiteY68" fmla="*/ 257625 h 605592"/>
              <a:gd name="connsiteX69" fmla="*/ 278522 w 582023"/>
              <a:gd name="connsiteY69" fmla="*/ 487027 h 605592"/>
              <a:gd name="connsiteX70" fmla="*/ 276665 w 582023"/>
              <a:gd name="connsiteY70" fmla="*/ 489993 h 605592"/>
              <a:gd name="connsiteX71" fmla="*/ 251318 w 582023"/>
              <a:gd name="connsiteY71" fmla="*/ 495369 h 605592"/>
              <a:gd name="connsiteX72" fmla="*/ 216871 w 582023"/>
              <a:gd name="connsiteY72" fmla="*/ 484803 h 605592"/>
              <a:gd name="connsiteX73" fmla="*/ 184839 w 582023"/>
              <a:gd name="connsiteY73" fmla="*/ 472290 h 605592"/>
              <a:gd name="connsiteX74" fmla="*/ 182146 w 582023"/>
              <a:gd name="connsiteY74" fmla="*/ 470065 h 605592"/>
              <a:gd name="connsiteX75" fmla="*/ 122631 w 582023"/>
              <a:gd name="connsiteY75" fmla="*/ 296554 h 605592"/>
              <a:gd name="connsiteX76" fmla="*/ 123281 w 582023"/>
              <a:gd name="connsiteY76" fmla="*/ 288860 h 605592"/>
              <a:gd name="connsiteX77" fmla="*/ 129316 w 582023"/>
              <a:gd name="connsiteY77" fmla="*/ 284133 h 605592"/>
              <a:gd name="connsiteX78" fmla="*/ 310258 w 582023"/>
              <a:gd name="connsiteY78" fmla="*/ 248003 h 605592"/>
              <a:gd name="connsiteX79" fmla="*/ 447486 w 582023"/>
              <a:gd name="connsiteY79" fmla="*/ 283781 h 605592"/>
              <a:gd name="connsiteX80" fmla="*/ 453521 w 582023"/>
              <a:gd name="connsiteY80" fmla="*/ 288508 h 605592"/>
              <a:gd name="connsiteX81" fmla="*/ 454171 w 582023"/>
              <a:gd name="connsiteY81" fmla="*/ 296108 h 605592"/>
              <a:gd name="connsiteX82" fmla="*/ 388435 w 582023"/>
              <a:gd name="connsiteY82" fmla="*/ 487697 h 605592"/>
              <a:gd name="connsiteX83" fmla="*/ 383792 w 582023"/>
              <a:gd name="connsiteY83" fmla="*/ 489551 h 605592"/>
              <a:gd name="connsiteX84" fmla="*/ 375529 w 582023"/>
              <a:gd name="connsiteY84" fmla="*/ 484824 h 605592"/>
              <a:gd name="connsiteX85" fmla="*/ 330684 w 582023"/>
              <a:gd name="connsiteY85" fmla="*/ 471476 h 605592"/>
              <a:gd name="connsiteX86" fmla="*/ 302737 w 582023"/>
              <a:gd name="connsiteY86" fmla="*/ 476111 h 605592"/>
              <a:gd name="connsiteX87" fmla="*/ 299673 w 582023"/>
              <a:gd name="connsiteY87" fmla="*/ 475740 h 605592"/>
              <a:gd name="connsiteX88" fmla="*/ 298280 w 582023"/>
              <a:gd name="connsiteY88" fmla="*/ 472959 h 605592"/>
              <a:gd name="connsiteX89" fmla="*/ 298280 w 582023"/>
              <a:gd name="connsiteY89" fmla="*/ 257272 h 605592"/>
              <a:gd name="connsiteX90" fmla="*/ 301994 w 582023"/>
              <a:gd name="connsiteY90" fmla="*/ 249671 h 605592"/>
              <a:gd name="connsiteX91" fmla="*/ 310258 w 582023"/>
              <a:gd name="connsiteY91" fmla="*/ 248003 h 605592"/>
              <a:gd name="connsiteX92" fmla="*/ 326797 w 582023"/>
              <a:gd name="connsiteY92" fmla="*/ 100778 h 605592"/>
              <a:gd name="connsiteX93" fmla="*/ 322433 w 582023"/>
              <a:gd name="connsiteY93" fmla="*/ 105134 h 605592"/>
              <a:gd name="connsiteX94" fmla="*/ 322433 w 582023"/>
              <a:gd name="connsiteY94" fmla="*/ 124226 h 605592"/>
              <a:gd name="connsiteX95" fmla="*/ 326797 w 582023"/>
              <a:gd name="connsiteY95" fmla="*/ 128582 h 605592"/>
              <a:gd name="connsiteX96" fmla="*/ 345926 w 582023"/>
              <a:gd name="connsiteY96" fmla="*/ 128582 h 605592"/>
              <a:gd name="connsiteX97" fmla="*/ 350290 w 582023"/>
              <a:gd name="connsiteY97" fmla="*/ 124226 h 605592"/>
              <a:gd name="connsiteX98" fmla="*/ 350290 w 582023"/>
              <a:gd name="connsiteY98" fmla="*/ 105134 h 605592"/>
              <a:gd name="connsiteX99" fmla="*/ 345926 w 582023"/>
              <a:gd name="connsiteY99" fmla="*/ 100778 h 605592"/>
              <a:gd name="connsiteX100" fmla="*/ 278789 w 582023"/>
              <a:gd name="connsiteY100" fmla="*/ 100778 h 605592"/>
              <a:gd name="connsiteX101" fmla="*/ 274425 w 582023"/>
              <a:gd name="connsiteY101" fmla="*/ 105134 h 605592"/>
              <a:gd name="connsiteX102" fmla="*/ 274425 w 582023"/>
              <a:gd name="connsiteY102" fmla="*/ 124226 h 605592"/>
              <a:gd name="connsiteX103" fmla="*/ 278789 w 582023"/>
              <a:gd name="connsiteY103" fmla="*/ 128582 h 605592"/>
              <a:gd name="connsiteX104" fmla="*/ 297918 w 582023"/>
              <a:gd name="connsiteY104" fmla="*/ 128582 h 605592"/>
              <a:gd name="connsiteX105" fmla="*/ 302375 w 582023"/>
              <a:gd name="connsiteY105" fmla="*/ 124226 h 605592"/>
              <a:gd name="connsiteX106" fmla="*/ 302375 w 582023"/>
              <a:gd name="connsiteY106" fmla="*/ 105134 h 605592"/>
              <a:gd name="connsiteX107" fmla="*/ 297918 w 582023"/>
              <a:gd name="connsiteY107" fmla="*/ 100778 h 605592"/>
              <a:gd name="connsiteX108" fmla="*/ 230874 w 582023"/>
              <a:gd name="connsiteY108" fmla="*/ 100778 h 605592"/>
              <a:gd name="connsiteX109" fmla="*/ 226417 w 582023"/>
              <a:gd name="connsiteY109" fmla="*/ 105134 h 605592"/>
              <a:gd name="connsiteX110" fmla="*/ 226417 w 582023"/>
              <a:gd name="connsiteY110" fmla="*/ 124226 h 605592"/>
              <a:gd name="connsiteX111" fmla="*/ 230874 w 582023"/>
              <a:gd name="connsiteY111" fmla="*/ 128582 h 605592"/>
              <a:gd name="connsiteX112" fmla="*/ 250003 w 582023"/>
              <a:gd name="connsiteY112" fmla="*/ 128582 h 605592"/>
              <a:gd name="connsiteX113" fmla="*/ 254367 w 582023"/>
              <a:gd name="connsiteY113" fmla="*/ 124226 h 605592"/>
              <a:gd name="connsiteX114" fmla="*/ 254367 w 582023"/>
              <a:gd name="connsiteY114" fmla="*/ 105134 h 605592"/>
              <a:gd name="connsiteX115" fmla="*/ 250003 w 582023"/>
              <a:gd name="connsiteY115" fmla="*/ 100778 h 605592"/>
              <a:gd name="connsiteX116" fmla="*/ 271454 w 582023"/>
              <a:gd name="connsiteY116" fmla="*/ 39517 h 605592"/>
              <a:gd name="connsiteX117" fmla="*/ 305254 w 582023"/>
              <a:gd name="connsiteY117" fmla="*/ 39517 h 605592"/>
              <a:gd name="connsiteX118" fmla="*/ 308597 w 582023"/>
              <a:gd name="connsiteY118" fmla="*/ 42854 h 605592"/>
              <a:gd name="connsiteX119" fmla="*/ 308597 w 582023"/>
              <a:gd name="connsiteY119" fmla="*/ 85208 h 605592"/>
              <a:gd name="connsiteX120" fmla="*/ 356419 w 582023"/>
              <a:gd name="connsiteY120" fmla="*/ 85208 h 605592"/>
              <a:gd name="connsiteX121" fmla="*/ 370533 w 582023"/>
              <a:gd name="connsiteY121" fmla="*/ 99388 h 605592"/>
              <a:gd name="connsiteX122" fmla="*/ 370533 w 582023"/>
              <a:gd name="connsiteY122" fmla="*/ 142298 h 605592"/>
              <a:gd name="connsiteX123" fmla="*/ 379726 w 582023"/>
              <a:gd name="connsiteY123" fmla="*/ 142298 h 605592"/>
              <a:gd name="connsiteX124" fmla="*/ 425226 w 582023"/>
              <a:gd name="connsiteY124" fmla="*/ 187618 h 605592"/>
              <a:gd name="connsiteX125" fmla="*/ 425226 w 582023"/>
              <a:gd name="connsiteY125" fmla="*/ 244893 h 605592"/>
              <a:gd name="connsiteX126" fmla="*/ 422533 w 582023"/>
              <a:gd name="connsiteY126" fmla="*/ 250269 h 605592"/>
              <a:gd name="connsiteX127" fmla="*/ 418540 w 582023"/>
              <a:gd name="connsiteY127" fmla="*/ 251566 h 605592"/>
              <a:gd name="connsiteX128" fmla="*/ 416683 w 582023"/>
              <a:gd name="connsiteY128" fmla="*/ 251288 h 605592"/>
              <a:gd name="connsiteX129" fmla="*/ 396347 w 582023"/>
              <a:gd name="connsiteY129" fmla="*/ 245357 h 605592"/>
              <a:gd name="connsiteX130" fmla="*/ 288447 w 582023"/>
              <a:gd name="connsiteY130" fmla="*/ 221724 h 605592"/>
              <a:gd name="connsiteX131" fmla="*/ 288354 w 582023"/>
              <a:gd name="connsiteY131" fmla="*/ 221724 h 605592"/>
              <a:gd name="connsiteX132" fmla="*/ 180360 w 582023"/>
              <a:gd name="connsiteY132" fmla="*/ 245357 h 605592"/>
              <a:gd name="connsiteX133" fmla="*/ 160024 w 582023"/>
              <a:gd name="connsiteY133" fmla="*/ 251288 h 605592"/>
              <a:gd name="connsiteX134" fmla="*/ 158260 w 582023"/>
              <a:gd name="connsiteY134" fmla="*/ 251566 h 605592"/>
              <a:gd name="connsiteX135" fmla="*/ 154174 w 582023"/>
              <a:gd name="connsiteY135" fmla="*/ 250269 h 605592"/>
              <a:gd name="connsiteX136" fmla="*/ 151574 w 582023"/>
              <a:gd name="connsiteY136" fmla="*/ 244893 h 605592"/>
              <a:gd name="connsiteX137" fmla="*/ 151574 w 582023"/>
              <a:gd name="connsiteY137" fmla="*/ 187618 h 605592"/>
              <a:gd name="connsiteX138" fmla="*/ 196981 w 582023"/>
              <a:gd name="connsiteY138" fmla="*/ 142298 h 605592"/>
              <a:gd name="connsiteX139" fmla="*/ 206267 w 582023"/>
              <a:gd name="connsiteY139" fmla="*/ 142298 h 605592"/>
              <a:gd name="connsiteX140" fmla="*/ 206267 w 582023"/>
              <a:gd name="connsiteY140" fmla="*/ 99388 h 605592"/>
              <a:gd name="connsiteX141" fmla="*/ 220381 w 582023"/>
              <a:gd name="connsiteY141" fmla="*/ 85208 h 605592"/>
              <a:gd name="connsiteX142" fmla="*/ 268203 w 582023"/>
              <a:gd name="connsiteY142" fmla="*/ 85208 h 605592"/>
              <a:gd name="connsiteX143" fmla="*/ 268203 w 582023"/>
              <a:gd name="connsiteY143" fmla="*/ 42854 h 605592"/>
              <a:gd name="connsiteX144" fmla="*/ 271454 w 582023"/>
              <a:gd name="connsiteY144" fmla="*/ 39517 h 605592"/>
              <a:gd name="connsiteX145" fmla="*/ 271467 w 582023"/>
              <a:gd name="connsiteY145" fmla="*/ 0 h 605592"/>
              <a:gd name="connsiteX146" fmla="*/ 305242 w 582023"/>
              <a:gd name="connsiteY146" fmla="*/ 0 h 605592"/>
              <a:gd name="connsiteX147" fmla="*/ 308582 w 582023"/>
              <a:gd name="connsiteY147" fmla="*/ 3340 h 605592"/>
              <a:gd name="connsiteX148" fmla="*/ 308582 w 582023"/>
              <a:gd name="connsiteY148" fmla="*/ 21804 h 605592"/>
              <a:gd name="connsiteX149" fmla="*/ 305242 w 582023"/>
              <a:gd name="connsiteY149" fmla="*/ 25051 h 605592"/>
              <a:gd name="connsiteX150" fmla="*/ 271467 w 582023"/>
              <a:gd name="connsiteY150" fmla="*/ 25051 h 605592"/>
              <a:gd name="connsiteX151" fmla="*/ 268219 w 582023"/>
              <a:gd name="connsiteY151" fmla="*/ 21804 h 605592"/>
              <a:gd name="connsiteX152" fmla="*/ 268219 w 582023"/>
              <a:gd name="connsiteY152" fmla="*/ 3340 h 605592"/>
              <a:gd name="connsiteX153" fmla="*/ 271467 w 582023"/>
              <a:gd name="connsiteY153"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582023" h="605592">
                <a:moveTo>
                  <a:pt x="13276" y="555067"/>
                </a:moveTo>
                <a:cubicBezTo>
                  <a:pt x="36858" y="555067"/>
                  <a:pt x="49113" y="562484"/>
                  <a:pt x="59882" y="568973"/>
                </a:cubicBezTo>
                <a:cubicBezTo>
                  <a:pt x="69167" y="574628"/>
                  <a:pt x="76501" y="578986"/>
                  <a:pt x="92656" y="578986"/>
                </a:cubicBezTo>
                <a:cubicBezTo>
                  <a:pt x="108810" y="578986"/>
                  <a:pt x="116144" y="574628"/>
                  <a:pt x="125429" y="568973"/>
                </a:cubicBezTo>
                <a:cubicBezTo>
                  <a:pt x="136198" y="562484"/>
                  <a:pt x="148453" y="555067"/>
                  <a:pt x="172035" y="555067"/>
                </a:cubicBezTo>
                <a:cubicBezTo>
                  <a:pt x="195524" y="555067"/>
                  <a:pt x="207779" y="562484"/>
                  <a:pt x="218549" y="568973"/>
                </a:cubicBezTo>
                <a:cubicBezTo>
                  <a:pt x="227833" y="574628"/>
                  <a:pt x="235260" y="578986"/>
                  <a:pt x="251322" y="578986"/>
                </a:cubicBezTo>
                <a:cubicBezTo>
                  <a:pt x="267476" y="578986"/>
                  <a:pt x="274811" y="574628"/>
                  <a:pt x="284095" y="568973"/>
                </a:cubicBezTo>
                <a:cubicBezTo>
                  <a:pt x="294957" y="562484"/>
                  <a:pt x="307120" y="555067"/>
                  <a:pt x="330701" y="555067"/>
                </a:cubicBezTo>
                <a:cubicBezTo>
                  <a:pt x="354283" y="555067"/>
                  <a:pt x="366445" y="562484"/>
                  <a:pt x="377215" y="568973"/>
                </a:cubicBezTo>
                <a:cubicBezTo>
                  <a:pt x="386592" y="574628"/>
                  <a:pt x="393926" y="578986"/>
                  <a:pt x="410081" y="578986"/>
                </a:cubicBezTo>
                <a:cubicBezTo>
                  <a:pt x="426142" y="578986"/>
                  <a:pt x="433477" y="574628"/>
                  <a:pt x="442854" y="568973"/>
                </a:cubicBezTo>
                <a:cubicBezTo>
                  <a:pt x="453624" y="562484"/>
                  <a:pt x="465879" y="555067"/>
                  <a:pt x="489367" y="555067"/>
                </a:cubicBezTo>
                <a:cubicBezTo>
                  <a:pt x="512949" y="555067"/>
                  <a:pt x="525204" y="562484"/>
                  <a:pt x="535974" y="568973"/>
                </a:cubicBezTo>
                <a:cubicBezTo>
                  <a:pt x="545258" y="574628"/>
                  <a:pt x="552592" y="578986"/>
                  <a:pt x="568747" y="578986"/>
                </a:cubicBezTo>
                <a:cubicBezTo>
                  <a:pt x="576081" y="578986"/>
                  <a:pt x="582023" y="585011"/>
                  <a:pt x="582023" y="592335"/>
                </a:cubicBezTo>
                <a:cubicBezTo>
                  <a:pt x="582023" y="599659"/>
                  <a:pt x="576081" y="605592"/>
                  <a:pt x="568747" y="605592"/>
                </a:cubicBezTo>
                <a:cubicBezTo>
                  <a:pt x="545165" y="605592"/>
                  <a:pt x="533003" y="598268"/>
                  <a:pt x="522141" y="591779"/>
                </a:cubicBezTo>
                <a:cubicBezTo>
                  <a:pt x="512856" y="586124"/>
                  <a:pt x="505522" y="581674"/>
                  <a:pt x="489367" y="581674"/>
                </a:cubicBezTo>
                <a:cubicBezTo>
                  <a:pt x="473306" y="581674"/>
                  <a:pt x="465879" y="586124"/>
                  <a:pt x="456594" y="591779"/>
                </a:cubicBezTo>
                <a:cubicBezTo>
                  <a:pt x="445825" y="598268"/>
                  <a:pt x="433570" y="605592"/>
                  <a:pt x="410081" y="605592"/>
                </a:cubicBezTo>
                <a:cubicBezTo>
                  <a:pt x="386499" y="605592"/>
                  <a:pt x="374244" y="598268"/>
                  <a:pt x="363474" y="591779"/>
                </a:cubicBezTo>
                <a:cubicBezTo>
                  <a:pt x="354190" y="586124"/>
                  <a:pt x="346856" y="581674"/>
                  <a:pt x="330701" y="581674"/>
                </a:cubicBezTo>
                <a:cubicBezTo>
                  <a:pt x="314547" y="581674"/>
                  <a:pt x="307213" y="586124"/>
                  <a:pt x="297928" y="591779"/>
                </a:cubicBezTo>
                <a:cubicBezTo>
                  <a:pt x="287159" y="598268"/>
                  <a:pt x="274904" y="605592"/>
                  <a:pt x="251322" y="605592"/>
                </a:cubicBezTo>
                <a:cubicBezTo>
                  <a:pt x="227833" y="605592"/>
                  <a:pt x="215578" y="598268"/>
                  <a:pt x="204808" y="591779"/>
                </a:cubicBezTo>
                <a:cubicBezTo>
                  <a:pt x="195524" y="586124"/>
                  <a:pt x="188097" y="581674"/>
                  <a:pt x="172035" y="581674"/>
                </a:cubicBezTo>
                <a:cubicBezTo>
                  <a:pt x="155881" y="581674"/>
                  <a:pt x="148546" y="586124"/>
                  <a:pt x="139262" y="591779"/>
                </a:cubicBezTo>
                <a:cubicBezTo>
                  <a:pt x="128399" y="598268"/>
                  <a:pt x="116237" y="605592"/>
                  <a:pt x="92656" y="605592"/>
                </a:cubicBezTo>
                <a:cubicBezTo>
                  <a:pt x="69074" y="605592"/>
                  <a:pt x="56912" y="598268"/>
                  <a:pt x="46142" y="591779"/>
                </a:cubicBezTo>
                <a:cubicBezTo>
                  <a:pt x="36765" y="586124"/>
                  <a:pt x="29430" y="581674"/>
                  <a:pt x="13276" y="581674"/>
                </a:cubicBezTo>
                <a:cubicBezTo>
                  <a:pt x="5942" y="581674"/>
                  <a:pt x="0" y="575741"/>
                  <a:pt x="0" y="568417"/>
                </a:cubicBezTo>
                <a:cubicBezTo>
                  <a:pt x="0" y="561000"/>
                  <a:pt x="5942" y="555067"/>
                  <a:pt x="13276" y="555067"/>
                </a:cubicBezTo>
                <a:close/>
                <a:moveTo>
                  <a:pt x="13276" y="496780"/>
                </a:moveTo>
                <a:cubicBezTo>
                  <a:pt x="36858" y="496780"/>
                  <a:pt x="49113" y="504104"/>
                  <a:pt x="59882" y="510594"/>
                </a:cubicBezTo>
                <a:cubicBezTo>
                  <a:pt x="69167" y="516249"/>
                  <a:pt x="76501" y="520699"/>
                  <a:pt x="92656" y="520699"/>
                </a:cubicBezTo>
                <a:cubicBezTo>
                  <a:pt x="108810" y="520699"/>
                  <a:pt x="116144" y="516249"/>
                  <a:pt x="125429" y="510594"/>
                </a:cubicBezTo>
                <a:cubicBezTo>
                  <a:pt x="136198" y="504104"/>
                  <a:pt x="148453" y="496780"/>
                  <a:pt x="172035" y="496780"/>
                </a:cubicBezTo>
                <a:cubicBezTo>
                  <a:pt x="195524" y="496780"/>
                  <a:pt x="207779" y="504104"/>
                  <a:pt x="218549" y="510594"/>
                </a:cubicBezTo>
                <a:cubicBezTo>
                  <a:pt x="227833" y="516249"/>
                  <a:pt x="235260" y="520699"/>
                  <a:pt x="251322" y="520699"/>
                </a:cubicBezTo>
                <a:cubicBezTo>
                  <a:pt x="267476" y="520699"/>
                  <a:pt x="274811" y="516249"/>
                  <a:pt x="284095" y="510594"/>
                </a:cubicBezTo>
                <a:cubicBezTo>
                  <a:pt x="294957" y="504104"/>
                  <a:pt x="307120" y="496780"/>
                  <a:pt x="330701" y="496780"/>
                </a:cubicBezTo>
                <a:cubicBezTo>
                  <a:pt x="354190" y="496780"/>
                  <a:pt x="366445" y="504104"/>
                  <a:pt x="377215" y="510594"/>
                </a:cubicBezTo>
                <a:cubicBezTo>
                  <a:pt x="386592" y="516249"/>
                  <a:pt x="393926" y="520699"/>
                  <a:pt x="409988" y="520699"/>
                </a:cubicBezTo>
                <a:cubicBezTo>
                  <a:pt x="426142" y="520699"/>
                  <a:pt x="433477" y="516249"/>
                  <a:pt x="442854" y="510594"/>
                </a:cubicBezTo>
                <a:cubicBezTo>
                  <a:pt x="453624" y="504104"/>
                  <a:pt x="465879" y="496780"/>
                  <a:pt x="489367" y="496780"/>
                </a:cubicBezTo>
                <a:cubicBezTo>
                  <a:pt x="512949" y="496780"/>
                  <a:pt x="525204" y="504104"/>
                  <a:pt x="535974" y="510594"/>
                </a:cubicBezTo>
                <a:cubicBezTo>
                  <a:pt x="545258" y="516249"/>
                  <a:pt x="552592" y="520699"/>
                  <a:pt x="568747" y="520699"/>
                </a:cubicBezTo>
                <a:cubicBezTo>
                  <a:pt x="576081" y="520699"/>
                  <a:pt x="582023" y="526632"/>
                  <a:pt x="582023" y="533956"/>
                </a:cubicBezTo>
                <a:cubicBezTo>
                  <a:pt x="582023" y="541372"/>
                  <a:pt x="576081" y="547305"/>
                  <a:pt x="568747" y="547305"/>
                </a:cubicBezTo>
                <a:cubicBezTo>
                  <a:pt x="545165" y="547305"/>
                  <a:pt x="533003" y="539889"/>
                  <a:pt x="522141" y="533399"/>
                </a:cubicBezTo>
                <a:cubicBezTo>
                  <a:pt x="512856" y="527744"/>
                  <a:pt x="505522" y="523387"/>
                  <a:pt x="489367" y="523387"/>
                </a:cubicBezTo>
                <a:cubicBezTo>
                  <a:pt x="473213" y="523387"/>
                  <a:pt x="465879" y="527744"/>
                  <a:pt x="456594" y="533399"/>
                </a:cubicBezTo>
                <a:cubicBezTo>
                  <a:pt x="445825" y="539889"/>
                  <a:pt x="433570" y="547305"/>
                  <a:pt x="409988" y="547305"/>
                </a:cubicBezTo>
                <a:cubicBezTo>
                  <a:pt x="386499" y="547305"/>
                  <a:pt x="374244" y="539889"/>
                  <a:pt x="363474" y="533399"/>
                </a:cubicBezTo>
                <a:cubicBezTo>
                  <a:pt x="354190" y="527744"/>
                  <a:pt x="346856" y="523387"/>
                  <a:pt x="330701" y="523387"/>
                </a:cubicBezTo>
                <a:cubicBezTo>
                  <a:pt x="314547" y="523387"/>
                  <a:pt x="307213" y="527744"/>
                  <a:pt x="297928" y="533399"/>
                </a:cubicBezTo>
                <a:cubicBezTo>
                  <a:pt x="287159" y="539889"/>
                  <a:pt x="274904" y="547305"/>
                  <a:pt x="251322" y="547305"/>
                </a:cubicBezTo>
                <a:cubicBezTo>
                  <a:pt x="227833" y="547305"/>
                  <a:pt x="215578" y="539889"/>
                  <a:pt x="204808" y="533399"/>
                </a:cubicBezTo>
                <a:cubicBezTo>
                  <a:pt x="195431" y="527744"/>
                  <a:pt x="188097" y="523387"/>
                  <a:pt x="172035" y="523387"/>
                </a:cubicBezTo>
                <a:cubicBezTo>
                  <a:pt x="155881" y="523387"/>
                  <a:pt x="148546" y="527744"/>
                  <a:pt x="139262" y="533399"/>
                </a:cubicBezTo>
                <a:cubicBezTo>
                  <a:pt x="128399" y="539889"/>
                  <a:pt x="116237" y="547305"/>
                  <a:pt x="92656" y="547305"/>
                </a:cubicBezTo>
                <a:cubicBezTo>
                  <a:pt x="69074" y="547305"/>
                  <a:pt x="56912" y="539889"/>
                  <a:pt x="46142" y="533399"/>
                </a:cubicBezTo>
                <a:cubicBezTo>
                  <a:pt x="36765" y="527744"/>
                  <a:pt x="29430" y="523387"/>
                  <a:pt x="13276" y="523387"/>
                </a:cubicBezTo>
                <a:cubicBezTo>
                  <a:pt x="5942" y="523387"/>
                  <a:pt x="0" y="517361"/>
                  <a:pt x="0" y="510037"/>
                </a:cubicBezTo>
                <a:cubicBezTo>
                  <a:pt x="0" y="502713"/>
                  <a:pt x="5942" y="496780"/>
                  <a:pt x="13276" y="496780"/>
                </a:cubicBezTo>
                <a:close/>
                <a:moveTo>
                  <a:pt x="266544" y="248356"/>
                </a:moveTo>
                <a:cubicBezTo>
                  <a:pt x="269330" y="247614"/>
                  <a:pt x="272487" y="248263"/>
                  <a:pt x="274808" y="250024"/>
                </a:cubicBezTo>
                <a:cubicBezTo>
                  <a:pt x="277130" y="251878"/>
                  <a:pt x="278522" y="254659"/>
                  <a:pt x="278522" y="257625"/>
                </a:cubicBezTo>
                <a:lnTo>
                  <a:pt x="278522" y="487027"/>
                </a:lnTo>
                <a:cubicBezTo>
                  <a:pt x="278522" y="488325"/>
                  <a:pt x="277779" y="489437"/>
                  <a:pt x="276665" y="489993"/>
                </a:cubicBezTo>
                <a:cubicBezTo>
                  <a:pt x="268959" y="493794"/>
                  <a:pt x="261438" y="495369"/>
                  <a:pt x="251318" y="495369"/>
                </a:cubicBezTo>
                <a:cubicBezTo>
                  <a:pt x="234327" y="495369"/>
                  <a:pt x="226156" y="490457"/>
                  <a:pt x="216871" y="484803"/>
                </a:cubicBezTo>
                <a:cubicBezTo>
                  <a:pt x="208701" y="479890"/>
                  <a:pt x="199509" y="474329"/>
                  <a:pt x="184839" y="472290"/>
                </a:cubicBezTo>
                <a:cubicBezTo>
                  <a:pt x="183632" y="472105"/>
                  <a:pt x="182611" y="471270"/>
                  <a:pt x="182146" y="470065"/>
                </a:cubicBezTo>
                <a:lnTo>
                  <a:pt x="122631" y="296554"/>
                </a:lnTo>
                <a:cubicBezTo>
                  <a:pt x="121796" y="294051"/>
                  <a:pt x="121981" y="291270"/>
                  <a:pt x="123281" y="288860"/>
                </a:cubicBezTo>
                <a:cubicBezTo>
                  <a:pt x="124488" y="286543"/>
                  <a:pt x="126717" y="284875"/>
                  <a:pt x="129316" y="284133"/>
                </a:cubicBezTo>
                <a:close/>
                <a:moveTo>
                  <a:pt x="310258" y="248003"/>
                </a:moveTo>
                <a:lnTo>
                  <a:pt x="447486" y="283781"/>
                </a:lnTo>
                <a:cubicBezTo>
                  <a:pt x="450085" y="284430"/>
                  <a:pt x="452221" y="286191"/>
                  <a:pt x="453521" y="288508"/>
                </a:cubicBezTo>
                <a:cubicBezTo>
                  <a:pt x="454821" y="290825"/>
                  <a:pt x="455006" y="293606"/>
                  <a:pt x="454171" y="296108"/>
                </a:cubicBezTo>
                <a:cubicBezTo>
                  <a:pt x="454171" y="296108"/>
                  <a:pt x="405054" y="439869"/>
                  <a:pt x="388435" y="487697"/>
                </a:cubicBezTo>
                <a:cubicBezTo>
                  <a:pt x="387785" y="489643"/>
                  <a:pt x="385928" y="490570"/>
                  <a:pt x="383792" y="489551"/>
                </a:cubicBezTo>
                <a:cubicBezTo>
                  <a:pt x="380914" y="488160"/>
                  <a:pt x="378129" y="486399"/>
                  <a:pt x="375529" y="484824"/>
                </a:cubicBezTo>
                <a:cubicBezTo>
                  <a:pt x="365130" y="478521"/>
                  <a:pt x="353339" y="471476"/>
                  <a:pt x="330684" y="471476"/>
                </a:cubicBezTo>
                <a:cubicBezTo>
                  <a:pt x="320192" y="471476"/>
                  <a:pt x="311093" y="472959"/>
                  <a:pt x="302737" y="476111"/>
                </a:cubicBezTo>
                <a:cubicBezTo>
                  <a:pt x="301716" y="476481"/>
                  <a:pt x="300601" y="476389"/>
                  <a:pt x="299673" y="475740"/>
                </a:cubicBezTo>
                <a:cubicBezTo>
                  <a:pt x="298837" y="475091"/>
                  <a:pt x="298280" y="474072"/>
                  <a:pt x="298280" y="472959"/>
                </a:cubicBezTo>
                <a:lnTo>
                  <a:pt x="298280" y="257272"/>
                </a:lnTo>
                <a:cubicBezTo>
                  <a:pt x="298280" y="254306"/>
                  <a:pt x="299673" y="251432"/>
                  <a:pt x="301994" y="249671"/>
                </a:cubicBezTo>
                <a:cubicBezTo>
                  <a:pt x="304315" y="247910"/>
                  <a:pt x="307472" y="247261"/>
                  <a:pt x="310258" y="248003"/>
                </a:cubicBezTo>
                <a:close/>
                <a:moveTo>
                  <a:pt x="326797" y="100778"/>
                </a:moveTo>
                <a:cubicBezTo>
                  <a:pt x="324383" y="100778"/>
                  <a:pt x="322433" y="102724"/>
                  <a:pt x="322433" y="105134"/>
                </a:cubicBezTo>
                <a:lnTo>
                  <a:pt x="322433" y="124226"/>
                </a:lnTo>
                <a:cubicBezTo>
                  <a:pt x="322433" y="126635"/>
                  <a:pt x="324383" y="128582"/>
                  <a:pt x="326797" y="128582"/>
                </a:cubicBezTo>
                <a:lnTo>
                  <a:pt x="345926" y="128582"/>
                </a:lnTo>
                <a:cubicBezTo>
                  <a:pt x="348340" y="128582"/>
                  <a:pt x="350290" y="126635"/>
                  <a:pt x="350290" y="124226"/>
                </a:cubicBezTo>
                <a:lnTo>
                  <a:pt x="350290" y="105134"/>
                </a:lnTo>
                <a:cubicBezTo>
                  <a:pt x="350290" y="102724"/>
                  <a:pt x="348340" y="100778"/>
                  <a:pt x="345926" y="100778"/>
                </a:cubicBezTo>
                <a:close/>
                <a:moveTo>
                  <a:pt x="278789" y="100778"/>
                </a:moveTo>
                <a:cubicBezTo>
                  <a:pt x="276375" y="100778"/>
                  <a:pt x="274425" y="102724"/>
                  <a:pt x="274425" y="105134"/>
                </a:cubicBezTo>
                <a:lnTo>
                  <a:pt x="274425" y="124226"/>
                </a:lnTo>
                <a:cubicBezTo>
                  <a:pt x="274425" y="126635"/>
                  <a:pt x="276375" y="128582"/>
                  <a:pt x="278789" y="128582"/>
                </a:cubicBezTo>
                <a:lnTo>
                  <a:pt x="297918" y="128582"/>
                </a:lnTo>
                <a:cubicBezTo>
                  <a:pt x="300425" y="128582"/>
                  <a:pt x="302375" y="126635"/>
                  <a:pt x="302375" y="124226"/>
                </a:cubicBezTo>
                <a:lnTo>
                  <a:pt x="302375" y="105134"/>
                </a:lnTo>
                <a:cubicBezTo>
                  <a:pt x="302375" y="102724"/>
                  <a:pt x="300425" y="100778"/>
                  <a:pt x="297918" y="100778"/>
                </a:cubicBezTo>
                <a:close/>
                <a:moveTo>
                  <a:pt x="230874" y="100778"/>
                </a:moveTo>
                <a:cubicBezTo>
                  <a:pt x="228460" y="100778"/>
                  <a:pt x="226417" y="102724"/>
                  <a:pt x="226417" y="105134"/>
                </a:cubicBezTo>
                <a:lnTo>
                  <a:pt x="226417" y="124226"/>
                </a:lnTo>
                <a:cubicBezTo>
                  <a:pt x="226417" y="126635"/>
                  <a:pt x="228460" y="128582"/>
                  <a:pt x="230874" y="128582"/>
                </a:cubicBezTo>
                <a:lnTo>
                  <a:pt x="250003" y="128582"/>
                </a:lnTo>
                <a:cubicBezTo>
                  <a:pt x="252417" y="128582"/>
                  <a:pt x="254367" y="126635"/>
                  <a:pt x="254367" y="124226"/>
                </a:cubicBezTo>
                <a:lnTo>
                  <a:pt x="254367" y="105134"/>
                </a:lnTo>
                <a:cubicBezTo>
                  <a:pt x="254367" y="102724"/>
                  <a:pt x="252417" y="100778"/>
                  <a:pt x="250003" y="100778"/>
                </a:cubicBezTo>
                <a:close/>
                <a:moveTo>
                  <a:pt x="271454" y="39517"/>
                </a:moveTo>
                <a:lnTo>
                  <a:pt x="305254" y="39517"/>
                </a:lnTo>
                <a:cubicBezTo>
                  <a:pt x="307111" y="39517"/>
                  <a:pt x="308597" y="41000"/>
                  <a:pt x="308597" y="42854"/>
                </a:cubicBezTo>
                <a:lnTo>
                  <a:pt x="308597" y="85208"/>
                </a:lnTo>
                <a:lnTo>
                  <a:pt x="356419" y="85208"/>
                </a:lnTo>
                <a:cubicBezTo>
                  <a:pt x="364219" y="85208"/>
                  <a:pt x="370533" y="91510"/>
                  <a:pt x="370533" y="99388"/>
                </a:cubicBezTo>
                <a:lnTo>
                  <a:pt x="370533" y="142298"/>
                </a:lnTo>
                <a:lnTo>
                  <a:pt x="379726" y="142298"/>
                </a:lnTo>
                <a:cubicBezTo>
                  <a:pt x="404798" y="142298"/>
                  <a:pt x="425226" y="162595"/>
                  <a:pt x="425226" y="187618"/>
                </a:cubicBezTo>
                <a:lnTo>
                  <a:pt x="425226" y="244893"/>
                </a:lnTo>
                <a:cubicBezTo>
                  <a:pt x="425226" y="247025"/>
                  <a:pt x="424205" y="248971"/>
                  <a:pt x="422533" y="250269"/>
                </a:cubicBezTo>
                <a:cubicBezTo>
                  <a:pt x="421419" y="251103"/>
                  <a:pt x="420026" y="251566"/>
                  <a:pt x="418540" y="251566"/>
                </a:cubicBezTo>
                <a:cubicBezTo>
                  <a:pt x="417983" y="251566"/>
                  <a:pt x="417333" y="251474"/>
                  <a:pt x="416683" y="251288"/>
                </a:cubicBezTo>
                <a:cubicBezTo>
                  <a:pt x="410462" y="249527"/>
                  <a:pt x="403590" y="247488"/>
                  <a:pt x="396347" y="245357"/>
                </a:cubicBezTo>
                <a:cubicBezTo>
                  <a:pt x="360783" y="234884"/>
                  <a:pt x="316397" y="221724"/>
                  <a:pt x="288447" y="221724"/>
                </a:cubicBezTo>
                <a:lnTo>
                  <a:pt x="288354" y="221724"/>
                </a:lnTo>
                <a:cubicBezTo>
                  <a:pt x="260403" y="221724"/>
                  <a:pt x="216017" y="234884"/>
                  <a:pt x="180360" y="245357"/>
                </a:cubicBezTo>
                <a:cubicBezTo>
                  <a:pt x="173210" y="247488"/>
                  <a:pt x="166338" y="249527"/>
                  <a:pt x="160024" y="251288"/>
                </a:cubicBezTo>
                <a:cubicBezTo>
                  <a:pt x="159467" y="251474"/>
                  <a:pt x="158817" y="251566"/>
                  <a:pt x="158260" y="251566"/>
                </a:cubicBezTo>
                <a:cubicBezTo>
                  <a:pt x="156774" y="251566"/>
                  <a:pt x="155381" y="251103"/>
                  <a:pt x="154174" y="250269"/>
                </a:cubicBezTo>
                <a:cubicBezTo>
                  <a:pt x="152502" y="248971"/>
                  <a:pt x="151574" y="247025"/>
                  <a:pt x="151574" y="244893"/>
                </a:cubicBezTo>
                <a:lnTo>
                  <a:pt x="151574" y="187618"/>
                </a:lnTo>
                <a:cubicBezTo>
                  <a:pt x="151574" y="162595"/>
                  <a:pt x="171910" y="142298"/>
                  <a:pt x="196981" y="142298"/>
                </a:cubicBezTo>
                <a:lnTo>
                  <a:pt x="206267" y="142298"/>
                </a:lnTo>
                <a:lnTo>
                  <a:pt x="206267" y="99388"/>
                </a:lnTo>
                <a:cubicBezTo>
                  <a:pt x="206267" y="91510"/>
                  <a:pt x="212581" y="85208"/>
                  <a:pt x="220381" y="85208"/>
                </a:cubicBezTo>
                <a:lnTo>
                  <a:pt x="268203" y="85208"/>
                </a:lnTo>
                <a:lnTo>
                  <a:pt x="268203" y="42854"/>
                </a:lnTo>
                <a:cubicBezTo>
                  <a:pt x="268203" y="41000"/>
                  <a:pt x="269689" y="39517"/>
                  <a:pt x="271454" y="39517"/>
                </a:cubicBezTo>
                <a:close/>
                <a:moveTo>
                  <a:pt x="271467" y="0"/>
                </a:moveTo>
                <a:lnTo>
                  <a:pt x="305242" y="0"/>
                </a:lnTo>
                <a:cubicBezTo>
                  <a:pt x="307098" y="0"/>
                  <a:pt x="308582" y="1485"/>
                  <a:pt x="308582" y="3340"/>
                </a:cubicBezTo>
                <a:lnTo>
                  <a:pt x="308582" y="21804"/>
                </a:lnTo>
                <a:cubicBezTo>
                  <a:pt x="308582" y="23567"/>
                  <a:pt x="307098" y="25051"/>
                  <a:pt x="305242" y="25051"/>
                </a:cubicBezTo>
                <a:lnTo>
                  <a:pt x="271467" y="25051"/>
                </a:lnTo>
                <a:cubicBezTo>
                  <a:pt x="269704" y="25051"/>
                  <a:pt x="268219" y="23567"/>
                  <a:pt x="268219" y="21804"/>
                </a:cubicBezTo>
                <a:lnTo>
                  <a:pt x="268219" y="3340"/>
                </a:lnTo>
                <a:cubicBezTo>
                  <a:pt x="268219" y="1485"/>
                  <a:pt x="269704" y="0"/>
                  <a:pt x="271467" y="0"/>
                </a:cubicBezTo>
                <a:close/>
              </a:path>
            </a:pathLst>
          </a:custGeom>
          <a:solidFill>
            <a:srgbClr val="025483"/>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Verdana" panose="020B060403050404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Verdana" panose="020B060403050404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Verdana" panose="020B060403050404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Verdana" panose="020B0604030504040204" pitchFamily="34" charset="0"/>
                <a:ea typeface="微软雅黑" panose="020B0503020204020204" pitchFamily="34" charset="-122"/>
                <a:cs typeface="+mn-cs"/>
              </a:defRPr>
            </a:lvl9pPr>
          </a:lstStyle>
          <a:p>
            <a:pPr defTabSz="457200">
              <a:defRPr/>
            </a:pPr>
            <a:endParaRPr lang="zh-CN" altLang="en-US" sz="1050">
              <a:solidFill>
                <a:prstClr val="black"/>
              </a:solidFill>
            </a:endParaRPr>
          </a:p>
        </p:txBody>
      </p:sp>
      <p:cxnSp>
        <p:nvCxnSpPr>
          <p:cNvPr id="3" name="直接连接符 7"/>
          <p:cNvCxnSpPr/>
          <p:nvPr userDrawn="1"/>
        </p:nvCxnSpPr>
        <p:spPr bwMode="auto">
          <a:xfrm flipV="1">
            <a:off x="1050131" y="741760"/>
            <a:ext cx="8093869" cy="11906"/>
          </a:xfrm>
          <a:prstGeom prst="line">
            <a:avLst/>
          </a:prstGeom>
          <a:noFill/>
          <a:ln w="3175" algn="ctr">
            <a:solidFill>
              <a:srgbClr val="025483"/>
            </a:solidFill>
            <a:miter lim="800000"/>
          </a:ln>
          <a:extLst>
            <a:ext uri="{909E8E84-426E-40DD-AFC4-6F175D3DCCD1}">
              <a14:hiddenFill xmlns:a14="http://schemas.microsoft.com/office/drawing/2010/main">
                <a:noFill/>
              </a14:hiddenFill>
            </a:ext>
          </a:extLst>
        </p:spPr>
      </p:cxnSp>
      <p:pic>
        <p:nvPicPr>
          <p:cNvPr id="4" name="图片 2"/>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r="67210"/>
          <a:stretch>
            <a:fillRect/>
          </a:stretch>
        </p:blipFill>
        <p:spPr bwMode="auto">
          <a:xfrm>
            <a:off x="8515350" y="167879"/>
            <a:ext cx="601266"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日期占位符 3"/>
          <p:cNvSpPr>
            <a:spLocks noGrp="1"/>
          </p:cNvSpPr>
          <p:nvPr>
            <p:ph type="dt" sz="half" idx="10"/>
          </p:nvPr>
        </p:nvSpPr>
        <p:spPr/>
        <p:txBody>
          <a:bodyPr/>
          <a:lstStyle>
            <a:lvl1pPr>
              <a:defRPr/>
            </a:lvl1pPr>
          </a:lstStyle>
          <a:p>
            <a:pPr>
              <a:defRPr/>
            </a:pPr>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fld id="{907829F2-DE20-4035-A296-C988460BD378}" type="slidenum">
              <a:rPr lang="zh-CN" altLang="en-US" smtClean="0"/>
            </a:fld>
            <a:r>
              <a:rPr lang="en-US" altLang="zh-CN" dirty="0"/>
              <a:t>/20</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正文页-10021_14">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28650" y="4767263"/>
            <a:ext cx="2057400" cy="273844"/>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a:xfrm>
            <a:off x="3028950" y="4767263"/>
            <a:ext cx="3086100" cy="273844"/>
          </a:xfrm>
        </p:spPr>
        <p:txBody>
          <a:bodyPr/>
          <a:lstStyle/>
          <a:p>
            <a:endParaRPr lang="zh-CN" altLang="en-US"/>
          </a:p>
        </p:txBody>
      </p:sp>
      <p:sp>
        <p:nvSpPr>
          <p:cNvPr id="5" name="灯片编号占位符 4"/>
          <p:cNvSpPr>
            <a:spLocks noGrp="1"/>
          </p:cNvSpPr>
          <p:nvPr>
            <p:ph type="sldNum" sz="quarter" idx="12"/>
          </p:nvPr>
        </p:nvSpPr>
        <p:spPr>
          <a:xfrm>
            <a:off x="6457950" y="4767263"/>
            <a:ext cx="2057400" cy="273844"/>
          </a:xfrm>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457200" y="400050"/>
            <a:ext cx="2571750" cy="914400"/>
          </a:xfrm>
          <a:noFill/>
        </p:spPr>
        <p:txBody>
          <a:bodyPr lIns="0" tIns="0" rIns="0" bIns="0" anchor="t">
            <a:normAutofit/>
          </a:bodyPr>
          <a:lstStyle>
            <a:lvl1pPr marL="0" indent="0" algn="l">
              <a:lnSpc>
                <a:spcPct val="111000"/>
              </a:lnSpc>
              <a:spcBef>
                <a:spcPct val="0"/>
              </a:spcBef>
              <a:spcAft>
                <a:spcPct val="0"/>
              </a:spcAft>
              <a:buNone/>
              <a:defRPr sz="2700" b="0" spc="0">
                <a:solidFill>
                  <a:schemeClr val="tx1"/>
                </a:solidFill>
              </a:defRPr>
            </a:lvl1pPr>
          </a:lstStyle>
          <a:p>
            <a:r>
              <a:rPr lang="zh-CN" altLang="en-US"/>
              <a:t>单击此处添加标题</a:t>
            </a:r>
            <a:endParaRPr lang="zh-CN" altLang="en-US"/>
          </a:p>
        </p:txBody>
      </p:sp>
      <p:sp>
        <p:nvSpPr>
          <p:cNvPr id="7" name="文本占位符 6"/>
          <p:cNvSpPr>
            <a:spLocks noGrp="1"/>
          </p:cNvSpPr>
          <p:nvPr>
            <p:ph type="body" idx="16386" hasCustomPrompt="1"/>
            <p:custDataLst>
              <p:tags r:id="rId3"/>
            </p:custDataLst>
          </p:nvPr>
        </p:nvSpPr>
        <p:spPr>
          <a:xfrm>
            <a:off x="457200" y="1543050"/>
            <a:ext cx="2571750" cy="2971800"/>
          </a:xfrm>
          <a:noFill/>
        </p:spPr>
        <p:txBody>
          <a:bodyPr lIns="0" tIns="0" rIns="0" bIns="0" anchor="t">
            <a:normAutofit/>
          </a:bodyPr>
          <a:lstStyle>
            <a:lvl1pPr marL="0" indent="0" algn="l">
              <a:lnSpc>
                <a:spcPct val="125000"/>
              </a:lnSpc>
              <a:spcBef>
                <a:spcPct val="0"/>
              </a:spcBef>
              <a:spcAft>
                <a:spcPct val="0"/>
              </a:spcAft>
              <a:buNone/>
              <a:defRPr sz="1200" b="0" spc="0">
                <a:solidFill>
                  <a:schemeClr val="tx1"/>
                </a:solidFill>
              </a:defRPr>
            </a:lvl1pPr>
          </a:lstStyle>
          <a:p>
            <a:pPr lvl="0"/>
            <a:r>
              <a:rPr lang="zh-CN" altLang="en-US"/>
              <a:t>单击此处添加正文</a:t>
            </a:r>
            <a:endParaRPr lang="zh-CN" altLang="en-US"/>
          </a:p>
        </p:txBody>
      </p:sp>
      <p:sp>
        <p:nvSpPr>
          <p:cNvPr id="8" name="装饰  7"/>
          <p:cNvSpPr>
            <a:spLocks noGrp="1"/>
          </p:cNvSpPr>
          <p:nvPr>
            <p:ph type="body" idx="16393" hasCustomPrompt="1"/>
            <p:custDataLst>
              <p:tags r:id="rId4"/>
            </p:custDataLst>
          </p:nvPr>
        </p:nvSpPr>
        <p:spPr>
          <a:xfrm>
            <a:off x="3486150" y="457200"/>
            <a:ext cx="5200650" cy="1333500"/>
          </a:xfrm>
          <a:custGeom>
            <a:avLst/>
            <a:gdLst>
              <a:gd name="connisteX0" fmla="*/ 0 w 6934200"/>
              <a:gd name="connsiteY0" fmla="*/ 203200 h 1778000"/>
              <a:gd name="connisteX1" fmla="*/ 203200 w 6934200"/>
              <a:gd name="connsiteY1" fmla="*/ 0 h 1778000"/>
              <a:gd name="connisteX2" fmla="*/ 6731000 w 6934200"/>
              <a:gd name="connsiteY2" fmla="*/ 0 h 1778000"/>
              <a:gd name="connisteX3" fmla="*/ 6934200 w 6934200"/>
              <a:gd name="connsiteY3" fmla="*/ 203200 h 1778000"/>
              <a:gd name="connisteX4" fmla="*/ 6934200 w 6934200"/>
              <a:gd name="connsiteY4" fmla="*/ 1574800 h 1778000"/>
              <a:gd name="connisteX5" fmla="*/ 6731000 w 6934200"/>
              <a:gd name="connsiteY5" fmla="*/ 1778000 h 1778000"/>
              <a:gd name="connisteX6" fmla="*/ 203200 w 6934200"/>
              <a:gd name="connsiteY6" fmla="*/ 1778000 h 1778000"/>
              <a:gd name="connisteX7" fmla="*/ 0 w 6934200"/>
              <a:gd name="connsiteY7" fmla="*/ 1574800 h 1778000"/>
              <a:gd name="connisteX8" fmla="*/ 0 w 6934200"/>
              <a:gd name="connsiteY8" fmla="*/ 203200 h 177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6934200" h="1778000">
                <a:moveTo>
                  <a:pt x="0" y="203200"/>
                </a:moveTo>
                <a:cubicBezTo>
                  <a:pt x="0" y="90976"/>
                  <a:pt x="90976" y="0"/>
                  <a:pt x="203200" y="0"/>
                </a:cubicBezTo>
                <a:lnTo>
                  <a:pt x="6731000" y="0"/>
                </a:lnTo>
                <a:cubicBezTo>
                  <a:pt x="6843224" y="0"/>
                  <a:pt x="6934200" y="90976"/>
                  <a:pt x="6934200" y="203200"/>
                </a:cubicBezTo>
                <a:lnTo>
                  <a:pt x="6934200" y="1574800"/>
                </a:lnTo>
                <a:cubicBezTo>
                  <a:pt x="6934200" y="1687024"/>
                  <a:pt x="6843224" y="1778000"/>
                  <a:pt x="6731000" y="1778000"/>
                </a:cubicBezTo>
                <a:lnTo>
                  <a:pt x="203200" y="1778000"/>
                </a:lnTo>
                <a:cubicBezTo>
                  <a:pt x="90976" y="1778000"/>
                  <a:pt x="0" y="1687024"/>
                  <a:pt x="0" y="157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9" name="文本占位符 8"/>
          <p:cNvSpPr>
            <a:spLocks noGrp="1"/>
          </p:cNvSpPr>
          <p:nvPr>
            <p:ph type="body" idx="16387" hasCustomPrompt="1"/>
            <p:custDataLst>
              <p:tags r:id="rId5"/>
            </p:custDataLst>
          </p:nvPr>
        </p:nvSpPr>
        <p:spPr>
          <a:xfrm>
            <a:off x="3714750" y="685800"/>
            <a:ext cx="4743450" cy="304800"/>
          </a:xfrm>
          <a:noFill/>
        </p:spPr>
        <p:txBody>
          <a:bodyPr lIns="0" tIns="0" rIns="0" bIns="0" anchor="t">
            <a:normAutofit/>
          </a:bodyPr>
          <a:lstStyle>
            <a:lvl1pPr marL="0" indent="0" algn="l">
              <a:lnSpc>
                <a:spcPct val="111000"/>
              </a:lnSpc>
              <a:spcBef>
                <a:spcPct val="0"/>
              </a:spcBef>
              <a:spcAft>
                <a:spcPct val="0"/>
              </a:spcAft>
              <a:buNone/>
              <a:defRPr sz="1800" b="0" spc="0">
                <a:solidFill>
                  <a:schemeClr val="tx1"/>
                </a:solidFill>
              </a:defRPr>
            </a:lvl1pPr>
          </a:lstStyle>
          <a:p>
            <a:pPr lvl="0"/>
            <a:r>
              <a:rPr lang="zh-CN" altLang="en-US"/>
              <a:t>单击此处添加项标题</a:t>
            </a:r>
            <a:endParaRPr lang="zh-CN" altLang="en-US"/>
          </a:p>
        </p:txBody>
      </p:sp>
      <p:sp>
        <p:nvSpPr>
          <p:cNvPr id="10" name="文本占位符 9"/>
          <p:cNvSpPr>
            <a:spLocks noGrp="1"/>
          </p:cNvSpPr>
          <p:nvPr>
            <p:ph type="body" idx="16388" hasCustomPrompt="1"/>
            <p:custDataLst>
              <p:tags r:id="rId6"/>
            </p:custDataLst>
          </p:nvPr>
        </p:nvSpPr>
        <p:spPr>
          <a:xfrm>
            <a:off x="3714750" y="1104900"/>
            <a:ext cx="4743450" cy="457200"/>
          </a:xfrm>
          <a:noFill/>
        </p:spPr>
        <p:txBody>
          <a:bodyPr lIns="0" tIns="0" rIns="0" bIns="0" anchor="t">
            <a:normAutofit/>
          </a:bodyPr>
          <a:lstStyle>
            <a:lvl1pPr marL="0" indent="0" algn="l">
              <a:lnSpc>
                <a:spcPct val="125000"/>
              </a:lnSpc>
              <a:spcBef>
                <a:spcPct val="0"/>
              </a:spcBef>
              <a:spcAft>
                <a:spcPct val="0"/>
              </a:spcAft>
              <a:buNone/>
              <a:defRPr sz="1200" b="0" spc="0">
                <a:solidFill>
                  <a:schemeClr val="tx1"/>
                </a:solidFill>
              </a:defRPr>
            </a:lvl1pPr>
          </a:lstStyle>
          <a:p>
            <a:pPr lvl="0"/>
            <a:r>
              <a:rPr lang="zh-CN" altLang="en-US"/>
              <a:t>单击此处添加项正文</a:t>
            </a:r>
            <a:endParaRPr lang="zh-CN" altLang="en-US"/>
          </a:p>
        </p:txBody>
      </p:sp>
      <p:sp>
        <p:nvSpPr>
          <p:cNvPr id="11" name="装饰  0"/>
          <p:cNvSpPr>
            <a:spLocks noGrp="1"/>
          </p:cNvSpPr>
          <p:nvPr>
            <p:ph type="body" idx="16394" hasCustomPrompt="1"/>
            <p:custDataLst>
              <p:tags r:id="rId7"/>
            </p:custDataLst>
          </p:nvPr>
        </p:nvSpPr>
        <p:spPr>
          <a:xfrm>
            <a:off x="3486150" y="1905000"/>
            <a:ext cx="5200650" cy="1333500"/>
          </a:xfrm>
          <a:custGeom>
            <a:avLst/>
            <a:gdLst>
              <a:gd name="connisteX0" fmla="*/ 0 w 6934200"/>
              <a:gd name="connsiteY0" fmla="*/ 203200 h 1778000"/>
              <a:gd name="connisteX1" fmla="*/ 203200 w 6934200"/>
              <a:gd name="connsiteY1" fmla="*/ 0 h 1778000"/>
              <a:gd name="connisteX2" fmla="*/ 6731000 w 6934200"/>
              <a:gd name="connsiteY2" fmla="*/ 0 h 1778000"/>
              <a:gd name="connisteX3" fmla="*/ 6934200 w 6934200"/>
              <a:gd name="connsiteY3" fmla="*/ 203200 h 1778000"/>
              <a:gd name="connisteX4" fmla="*/ 6934200 w 6934200"/>
              <a:gd name="connsiteY4" fmla="*/ 1574800 h 1778000"/>
              <a:gd name="connisteX5" fmla="*/ 6731000 w 6934200"/>
              <a:gd name="connsiteY5" fmla="*/ 1778000 h 1778000"/>
              <a:gd name="connisteX6" fmla="*/ 203200 w 6934200"/>
              <a:gd name="connsiteY6" fmla="*/ 1778000 h 1778000"/>
              <a:gd name="connisteX7" fmla="*/ 0 w 6934200"/>
              <a:gd name="connsiteY7" fmla="*/ 1574800 h 1778000"/>
              <a:gd name="connisteX8" fmla="*/ 0 w 6934200"/>
              <a:gd name="connsiteY8" fmla="*/ 203200 h 177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6934200" h="1778000">
                <a:moveTo>
                  <a:pt x="0" y="203200"/>
                </a:moveTo>
                <a:cubicBezTo>
                  <a:pt x="0" y="90976"/>
                  <a:pt x="90976" y="0"/>
                  <a:pt x="203200" y="0"/>
                </a:cubicBezTo>
                <a:lnTo>
                  <a:pt x="6731000" y="0"/>
                </a:lnTo>
                <a:cubicBezTo>
                  <a:pt x="6843224" y="0"/>
                  <a:pt x="6934200" y="90976"/>
                  <a:pt x="6934200" y="203200"/>
                </a:cubicBezTo>
                <a:lnTo>
                  <a:pt x="6934200" y="1574800"/>
                </a:lnTo>
                <a:cubicBezTo>
                  <a:pt x="6934200" y="1687024"/>
                  <a:pt x="6843224" y="1778000"/>
                  <a:pt x="6731000" y="1778000"/>
                </a:cubicBezTo>
                <a:lnTo>
                  <a:pt x="203200" y="1778000"/>
                </a:lnTo>
                <a:cubicBezTo>
                  <a:pt x="90976" y="1778000"/>
                  <a:pt x="0" y="1687024"/>
                  <a:pt x="0" y="157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2" name="文本占位符 11"/>
          <p:cNvSpPr>
            <a:spLocks noGrp="1"/>
          </p:cNvSpPr>
          <p:nvPr>
            <p:ph type="body" idx="16389" hasCustomPrompt="1"/>
            <p:custDataLst>
              <p:tags r:id="rId8"/>
            </p:custDataLst>
          </p:nvPr>
        </p:nvSpPr>
        <p:spPr>
          <a:xfrm>
            <a:off x="3714750" y="2133600"/>
            <a:ext cx="4743450" cy="304800"/>
          </a:xfrm>
          <a:noFill/>
        </p:spPr>
        <p:txBody>
          <a:bodyPr lIns="0" tIns="0" rIns="0" bIns="0" anchor="t">
            <a:normAutofit/>
          </a:bodyPr>
          <a:lstStyle>
            <a:lvl1pPr marL="0" indent="0" algn="l">
              <a:lnSpc>
                <a:spcPct val="111000"/>
              </a:lnSpc>
              <a:spcBef>
                <a:spcPct val="0"/>
              </a:spcBef>
              <a:spcAft>
                <a:spcPct val="0"/>
              </a:spcAft>
              <a:buNone/>
              <a:defRPr sz="1800" b="0" spc="0">
                <a:solidFill>
                  <a:schemeClr val="tx1"/>
                </a:solidFill>
              </a:defRPr>
            </a:lvl1pPr>
          </a:lstStyle>
          <a:p>
            <a:pPr lvl="0"/>
            <a:r>
              <a:rPr lang="zh-CN" altLang="en-US"/>
              <a:t>单击此处添加项标题</a:t>
            </a:r>
            <a:endParaRPr lang="zh-CN" altLang="en-US"/>
          </a:p>
        </p:txBody>
      </p:sp>
      <p:sp>
        <p:nvSpPr>
          <p:cNvPr id="13" name="文本占位符 12"/>
          <p:cNvSpPr>
            <a:spLocks noGrp="1"/>
          </p:cNvSpPr>
          <p:nvPr>
            <p:ph type="body" idx="16390" hasCustomPrompt="1"/>
            <p:custDataLst>
              <p:tags r:id="rId9"/>
            </p:custDataLst>
          </p:nvPr>
        </p:nvSpPr>
        <p:spPr>
          <a:xfrm>
            <a:off x="3714750" y="2552700"/>
            <a:ext cx="4743450" cy="457200"/>
          </a:xfrm>
          <a:noFill/>
        </p:spPr>
        <p:txBody>
          <a:bodyPr lIns="0" tIns="0" rIns="0" bIns="0" anchor="t">
            <a:normAutofit/>
          </a:bodyPr>
          <a:lstStyle>
            <a:lvl1pPr marL="0" indent="0" algn="l">
              <a:lnSpc>
                <a:spcPct val="125000"/>
              </a:lnSpc>
              <a:spcBef>
                <a:spcPct val="0"/>
              </a:spcBef>
              <a:spcAft>
                <a:spcPct val="0"/>
              </a:spcAft>
              <a:buNone/>
              <a:defRPr sz="1200" b="0" spc="0">
                <a:solidFill>
                  <a:schemeClr val="tx1"/>
                </a:solidFill>
              </a:defRPr>
            </a:lvl1pPr>
          </a:lstStyle>
          <a:p>
            <a:pPr lvl="0"/>
            <a:r>
              <a:rPr lang="zh-CN" altLang="en-US"/>
              <a:t>单击此处添加项正文</a:t>
            </a:r>
            <a:endParaRPr lang="zh-CN" altLang="en-US"/>
          </a:p>
        </p:txBody>
      </p:sp>
      <p:sp>
        <p:nvSpPr>
          <p:cNvPr id="14" name="装饰  3"/>
          <p:cNvSpPr>
            <a:spLocks noGrp="1"/>
          </p:cNvSpPr>
          <p:nvPr>
            <p:ph type="body" idx="16395" hasCustomPrompt="1"/>
            <p:custDataLst>
              <p:tags r:id="rId10"/>
            </p:custDataLst>
          </p:nvPr>
        </p:nvSpPr>
        <p:spPr>
          <a:xfrm>
            <a:off x="3486150" y="3352800"/>
            <a:ext cx="5200650" cy="1333500"/>
          </a:xfrm>
          <a:custGeom>
            <a:avLst/>
            <a:gdLst>
              <a:gd name="connisteX0" fmla="*/ 0 w 6934200"/>
              <a:gd name="connsiteY0" fmla="*/ 203200 h 1778000"/>
              <a:gd name="connisteX1" fmla="*/ 203200 w 6934200"/>
              <a:gd name="connsiteY1" fmla="*/ 0 h 1778000"/>
              <a:gd name="connisteX2" fmla="*/ 6731000 w 6934200"/>
              <a:gd name="connsiteY2" fmla="*/ 0 h 1778000"/>
              <a:gd name="connisteX3" fmla="*/ 6934200 w 6934200"/>
              <a:gd name="connsiteY3" fmla="*/ 203200 h 1778000"/>
              <a:gd name="connisteX4" fmla="*/ 6934200 w 6934200"/>
              <a:gd name="connsiteY4" fmla="*/ 1574800 h 1778000"/>
              <a:gd name="connisteX5" fmla="*/ 6731000 w 6934200"/>
              <a:gd name="connsiteY5" fmla="*/ 1778000 h 1778000"/>
              <a:gd name="connisteX6" fmla="*/ 203200 w 6934200"/>
              <a:gd name="connsiteY6" fmla="*/ 1778000 h 1778000"/>
              <a:gd name="connisteX7" fmla="*/ 0 w 6934200"/>
              <a:gd name="connsiteY7" fmla="*/ 1574800 h 1778000"/>
              <a:gd name="connisteX8" fmla="*/ 0 w 6934200"/>
              <a:gd name="connsiteY8" fmla="*/ 203200 h 177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6934200" h="1778000">
                <a:moveTo>
                  <a:pt x="0" y="203200"/>
                </a:moveTo>
                <a:cubicBezTo>
                  <a:pt x="0" y="90976"/>
                  <a:pt x="90976" y="0"/>
                  <a:pt x="203200" y="0"/>
                </a:cubicBezTo>
                <a:lnTo>
                  <a:pt x="6731000" y="0"/>
                </a:lnTo>
                <a:cubicBezTo>
                  <a:pt x="6843224" y="0"/>
                  <a:pt x="6934200" y="90976"/>
                  <a:pt x="6934200" y="203200"/>
                </a:cubicBezTo>
                <a:lnTo>
                  <a:pt x="6934200" y="1574800"/>
                </a:lnTo>
                <a:cubicBezTo>
                  <a:pt x="6934200" y="1687024"/>
                  <a:pt x="6843224" y="1778000"/>
                  <a:pt x="6731000" y="1778000"/>
                </a:cubicBezTo>
                <a:lnTo>
                  <a:pt x="203200" y="1778000"/>
                </a:lnTo>
                <a:cubicBezTo>
                  <a:pt x="90976" y="1778000"/>
                  <a:pt x="0" y="1687024"/>
                  <a:pt x="0" y="157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5" name="文本占位符 14"/>
          <p:cNvSpPr>
            <a:spLocks noGrp="1"/>
          </p:cNvSpPr>
          <p:nvPr>
            <p:ph type="body" idx="16391" hasCustomPrompt="1"/>
            <p:custDataLst>
              <p:tags r:id="rId11"/>
            </p:custDataLst>
          </p:nvPr>
        </p:nvSpPr>
        <p:spPr>
          <a:xfrm>
            <a:off x="3714750" y="3581400"/>
            <a:ext cx="4743450" cy="304800"/>
          </a:xfrm>
          <a:noFill/>
        </p:spPr>
        <p:txBody>
          <a:bodyPr lIns="0" tIns="0" rIns="0" bIns="0" anchor="t">
            <a:normAutofit/>
          </a:bodyPr>
          <a:lstStyle>
            <a:lvl1pPr marL="0" indent="0" algn="l">
              <a:lnSpc>
                <a:spcPct val="111000"/>
              </a:lnSpc>
              <a:spcBef>
                <a:spcPct val="0"/>
              </a:spcBef>
              <a:spcAft>
                <a:spcPct val="0"/>
              </a:spcAft>
              <a:buNone/>
              <a:defRPr sz="1800" b="0" spc="0">
                <a:solidFill>
                  <a:schemeClr val="tx1"/>
                </a:solidFill>
              </a:defRPr>
            </a:lvl1pPr>
          </a:lstStyle>
          <a:p>
            <a:pPr lvl="0"/>
            <a:r>
              <a:rPr lang="zh-CN" altLang="en-US"/>
              <a:t>单击此处添加项标题</a:t>
            </a:r>
            <a:endParaRPr lang="zh-CN" altLang="en-US"/>
          </a:p>
        </p:txBody>
      </p:sp>
      <p:sp>
        <p:nvSpPr>
          <p:cNvPr id="16" name="文本占位符 15"/>
          <p:cNvSpPr>
            <a:spLocks noGrp="1"/>
          </p:cNvSpPr>
          <p:nvPr>
            <p:ph type="body" idx="16392" hasCustomPrompt="1"/>
            <p:custDataLst>
              <p:tags r:id="rId12"/>
            </p:custDataLst>
          </p:nvPr>
        </p:nvSpPr>
        <p:spPr>
          <a:xfrm>
            <a:off x="3714750" y="4000500"/>
            <a:ext cx="4743450" cy="457200"/>
          </a:xfrm>
          <a:noFill/>
        </p:spPr>
        <p:txBody>
          <a:bodyPr lIns="0" tIns="0" rIns="0" bIns="0" anchor="t">
            <a:normAutofit/>
          </a:bodyPr>
          <a:lstStyle>
            <a:lvl1pPr marL="0" indent="0" algn="l">
              <a:lnSpc>
                <a:spcPct val="125000"/>
              </a:lnSpc>
              <a:spcBef>
                <a:spcPct val="0"/>
              </a:spcBef>
              <a:spcAft>
                <a:spcPct val="0"/>
              </a:spcAft>
              <a:buNone/>
              <a:defRPr sz="1200" b="0" spc="0">
                <a:solidFill>
                  <a:schemeClr val="tx1"/>
                </a:solidFill>
              </a:defRPr>
            </a:lvl1pPr>
          </a:lstStyle>
          <a:p>
            <a:pPr lvl="0"/>
            <a:r>
              <a:rPr lang="zh-CN" altLang="en-US"/>
              <a:t>单击此处添加项正文</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1" Type="http://schemas.openxmlformats.org/officeDocument/2006/relationships/theme" Target="../theme/theme2.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alpha val="10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68576" tIns="34288" rIns="68576" bIns="3428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369219"/>
            <a:ext cx="7886700" cy="3263504"/>
          </a:xfrm>
          <a:prstGeom prst="rect">
            <a:avLst/>
          </a:prstGeom>
        </p:spPr>
        <p:txBody>
          <a:bodyPr vert="horz" lIns="68576" tIns="34288" rIns="68576" bIns="3428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4767265"/>
            <a:ext cx="2057400" cy="273844"/>
          </a:xfrm>
          <a:prstGeom prst="rect">
            <a:avLst/>
          </a:prstGeom>
        </p:spPr>
        <p:txBody>
          <a:bodyPr vert="horz" lIns="68576" tIns="34288" rIns="68576" bIns="34288" rtlCol="0" anchor="ctr"/>
          <a:lstStyle>
            <a:lvl1pPr algn="l">
              <a:defRPr sz="900">
                <a:solidFill>
                  <a:schemeClr val="tx1">
                    <a:tint val="75000"/>
                  </a:schemeClr>
                </a:solidFill>
              </a:defRPr>
            </a:lvl1pPr>
          </a:lstStyle>
          <a:p>
            <a:fld id="{9166FB0D-3649-4659-A4EA-16B622D04D18}" type="datetimeFigureOut">
              <a:rPr lang="zh-CN" altLang="en-US" smtClean="0"/>
            </a:fld>
            <a:endParaRPr lang="zh-CN" altLang="en-US"/>
          </a:p>
        </p:txBody>
      </p:sp>
      <p:sp>
        <p:nvSpPr>
          <p:cNvPr id="5" name="页脚占位符 4"/>
          <p:cNvSpPr>
            <a:spLocks noGrp="1"/>
          </p:cNvSpPr>
          <p:nvPr>
            <p:ph type="ftr" sz="quarter" idx="3"/>
          </p:nvPr>
        </p:nvSpPr>
        <p:spPr>
          <a:xfrm>
            <a:off x="3028950" y="4767265"/>
            <a:ext cx="3086100" cy="273844"/>
          </a:xfrm>
          <a:prstGeom prst="rect">
            <a:avLst/>
          </a:prstGeom>
        </p:spPr>
        <p:txBody>
          <a:bodyPr vert="horz" lIns="68576" tIns="34288" rIns="68576" bIns="34288"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5"/>
            <a:ext cx="2057400" cy="273844"/>
          </a:xfrm>
          <a:prstGeom prst="rect">
            <a:avLst/>
          </a:prstGeom>
        </p:spPr>
        <p:txBody>
          <a:bodyPr vert="horz" lIns="68576" tIns="34288" rIns="68576" bIns="34288" rtlCol="0" anchor="ctr"/>
          <a:lstStyle>
            <a:lvl1pPr algn="r">
              <a:defRPr sz="900">
                <a:solidFill>
                  <a:schemeClr val="tx1">
                    <a:tint val="75000"/>
                  </a:schemeClr>
                </a:solidFill>
              </a:defRPr>
            </a:lvl1pPr>
          </a:lstStyle>
          <a:p>
            <a:fld id="{85BC0CA1-3571-4BD4-9253-723F5D1C3D9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alpha val="10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68576" tIns="34288" rIns="68576" bIns="3428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369219"/>
            <a:ext cx="7886700" cy="3263504"/>
          </a:xfrm>
          <a:prstGeom prst="rect">
            <a:avLst/>
          </a:prstGeom>
        </p:spPr>
        <p:txBody>
          <a:bodyPr vert="horz" lIns="68576" tIns="34288" rIns="68576" bIns="3428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4767265"/>
            <a:ext cx="2057400" cy="273844"/>
          </a:xfrm>
          <a:prstGeom prst="rect">
            <a:avLst/>
          </a:prstGeom>
        </p:spPr>
        <p:txBody>
          <a:bodyPr vert="horz" lIns="68576" tIns="34288" rIns="68576" bIns="34288" rtlCol="0" anchor="ctr"/>
          <a:lstStyle>
            <a:lvl1pPr algn="l">
              <a:defRPr sz="900">
                <a:solidFill>
                  <a:schemeClr val="tx1">
                    <a:tint val="75000"/>
                  </a:schemeClr>
                </a:solidFill>
              </a:defRPr>
            </a:lvl1pPr>
          </a:lstStyle>
          <a:p>
            <a:fld id="{9166FB0D-3649-4659-A4EA-16B622D04D18}" type="datetimeFigureOut">
              <a:rPr lang="zh-CN" altLang="en-US" smtClean="0"/>
            </a:fld>
            <a:endParaRPr lang="zh-CN" altLang="en-US"/>
          </a:p>
        </p:txBody>
      </p:sp>
      <p:sp>
        <p:nvSpPr>
          <p:cNvPr id="5" name="页脚占位符 4"/>
          <p:cNvSpPr>
            <a:spLocks noGrp="1"/>
          </p:cNvSpPr>
          <p:nvPr>
            <p:ph type="ftr" sz="quarter" idx="3"/>
          </p:nvPr>
        </p:nvSpPr>
        <p:spPr>
          <a:xfrm>
            <a:off x="3028950" y="4767265"/>
            <a:ext cx="3086100" cy="273844"/>
          </a:xfrm>
          <a:prstGeom prst="rect">
            <a:avLst/>
          </a:prstGeom>
        </p:spPr>
        <p:txBody>
          <a:bodyPr vert="horz" lIns="68576" tIns="34288" rIns="68576" bIns="34288"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5"/>
            <a:ext cx="2057400" cy="273844"/>
          </a:xfrm>
          <a:prstGeom prst="rect">
            <a:avLst/>
          </a:prstGeom>
        </p:spPr>
        <p:txBody>
          <a:bodyPr vert="horz" lIns="68576" tIns="34288" rIns="68576" bIns="34288" rtlCol="0" anchor="ctr"/>
          <a:lstStyle>
            <a:lvl1pPr algn="r">
              <a:defRPr sz="900">
                <a:solidFill>
                  <a:schemeClr val="tx1">
                    <a:tint val="75000"/>
                  </a:schemeClr>
                </a:solidFill>
              </a:defRPr>
            </a:lvl1pPr>
          </a:lstStyle>
          <a:p>
            <a:fld id="{85BC0CA1-3571-4BD4-9253-723F5D1C3D9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image" Target="../media/image3.jpeg"/><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6" Type="http://schemas.openxmlformats.org/officeDocument/2006/relationships/notesSlide" Target="../notesSlides/notesSlide2.xml"/><Relationship Id="rId15" Type="http://schemas.openxmlformats.org/officeDocument/2006/relationships/slideLayout" Target="../slideLayouts/slideLayout2.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tags" Target="../tags/tag3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45.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tags" Target="../tags/tag44.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9.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tags" Target="../tags/tag47.xml"/><Relationship Id="rId1" Type="http://schemas.openxmlformats.org/officeDocument/2006/relationships/tags" Target="../tags/tag46.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54.xml"/><Relationship Id="rId7" Type="http://schemas.openxmlformats.org/officeDocument/2006/relationships/image" Target="../media/image11.png"/><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png"/><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4" Type="http://schemas.openxmlformats.org/officeDocument/2006/relationships/slideLayout" Target="../slideLayouts/slideLayout8.xml"/><Relationship Id="rId13" Type="http://schemas.openxmlformats.org/officeDocument/2006/relationships/image" Target="../media/image13.png"/><Relationship Id="rId12" Type="http://schemas.openxmlformats.org/officeDocument/2006/relationships/image" Target="../media/image11.png"/><Relationship Id="rId11" Type="http://schemas.openxmlformats.org/officeDocument/2006/relationships/image" Target="../media/image26.png"/><Relationship Id="rId10" Type="http://schemas.openxmlformats.org/officeDocument/2006/relationships/image" Target="../media/image25.pn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image" Target="../media/image34.png"/><Relationship Id="rId7" Type="http://schemas.openxmlformats.org/officeDocument/2006/relationships/image" Target="../media/image33.png"/><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jpeg"/><Relationship Id="rId3" Type="http://schemas.openxmlformats.org/officeDocument/2006/relationships/image" Target="../media/image29.jpeg"/><Relationship Id="rId2" Type="http://schemas.openxmlformats.org/officeDocument/2006/relationships/image" Target="../media/image28.jpeg"/><Relationship Id="rId17" Type="http://schemas.openxmlformats.org/officeDocument/2006/relationships/notesSlide" Target="../notesSlides/notesSlide5.xml"/><Relationship Id="rId16" Type="http://schemas.openxmlformats.org/officeDocument/2006/relationships/slideLayout" Target="../slideLayouts/slideLayout5.xml"/><Relationship Id="rId15" Type="http://schemas.openxmlformats.org/officeDocument/2006/relationships/image" Target="../media/image38.jpeg"/><Relationship Id="rId14" Type="http://schemas.openxmlformats.org/officeDocument/2006/relationships/tags" Target="../tags/tag57.xml"/><Relationship Id="rId13" Type="http://schemas.openxmlformats.org/officeDocument/2006/relationships/image" Target="../media/image37.png"/><Relationship Id="rId12" Type="http://schemas.openxmlformats.org/officeDocument/2006/relationships/tags" Target="../tags/tag56.xml"/><Relationship Id="rId11" Type="http://schemas.openxmlformats.org/officeDocument/2006/relationships/image" Target="../media/image36.png"/><Relationship Id="rId10" Type="http://schemas.openxmlformats.org/officeDocument/2006/relationships/tags" Target="../tags/tag55.xml"/><Relationship Id="rId1" Type="http://schemas.openxmlformats.org/officeDocument/2006/relationships/image" Target="../media/image27.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4" Type="http://schemas.openxmlformats.org/officeDocument/2006/relationships/notesSlide" Target="../notesSlides/notesSlide7.xml"/><Relationship Id="rId13" Type="http://schemas.openxmlformats.org/officeDocument/2006/relationships/slideLayout" Target="../slideLayouts/slideLayout2.xml"/><Relationship Id="rId12" Type="http://schemas.openxmlformats.org/officeDocument/2006/relationships/tags" Target="../tags/tag69.xml"/><Relationship Id="rId11" Type="http://schemas.openxmlformats.org/officeDocument/2006/relationships/tags" Target="../tags/tag68.xml"/><Relationship Id="rId10" Type="http://schemas.openxmlformats.org/officeDocument/2006/relationships/tags" Target="../tags/tag67.xml"/><Relationship Id="rId1" Type="http://schemas.openxmlformats.org/officeDocument/2006/relationships/tags" Target="../tags/tag58.xml"/></Relationships>
</file>

<file path=ppt/slides/_rels/slide14.xml.rels><?xml version="1.0" encoding="UTF-8" standalone="yes"?>
<Relationships xmlns="http://schemas.openxmlformats.org/package/2006/relationships"><Relationship Id="rId9" Type="http://schemas.openxmlformats.org/officeDocument/2006/relationships/image" Target="../media/image45.png"/><Relationship Id="rId8" Type="http://schemas.openxmlformats.org/officeDocument/2006/relationships/image" Target="../media/image44.png"/><Relationship Id="rId7" Type="http://schemas.openxmlformats.org/officeDocument/2006/relationships/image" Target="../media/image43.png"/><Relationship Id="rId6" Type="http://schemas.microsoft.com/office/2007/relationships/media" Target="../media/media1.mp4"/><Relationship Id="rId5" Type="http://schemas.openxmlformats.org/officeDocument/2006/relationships/video" Target="../media/media1.mp4"/><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tags" Target="../tags/tag70.xml"/><Relationship Id="rId12" Type="http://schemas.openxmlformats.org/officeDocument/2006/relationships/notesSlide" Target="../notesSlides/notesSlide8.xml"/><Relationship Id="rId11" Type="http://schemas.openxmlformats.org/officeDocument/2006/relationships/slideLayout" Target="../slideLayouts/slideLayout2.xml"/><Relationship Id="rId10" Type="http://schemas.openxmlformats.org/officeDocument/2006/relationships/image" Target="../media/image46.png"/><Relationship Id="rId1" Type="http://schemas.openxmlformats.org/officeDocument/2006/relationships/image" Target="../media/image40.jpeg"/></Relationships>
</file>

<file path=ppt/slides/_rels/slide15.xml.rels><?xml version="1.0" encoding="UTF-8" standalone="yes"?>
<Relationships xmlns="http://schemas.openxmlformats.org/package/2006/relationships"><Relationship Id="rId9" Type="http://schemas.microsoft.com/office/2007/relationships/media" Target="../media/media2.mp4"/><Relationship Id="rId8" Type="http://schemas.openxmlformats.org/officeDocument/2006/relationships/video" Target="../media/media2.mp4"/><Relationship Id="rId7" Type="http://schemas.openxmlformats.org/officeDocument/2006/relationships/image" Target="../media/image50.png"/><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3" Type="http://schemas.openxmlformats.org/officeDocument/2006/relationships/notesSlide" Target="../notesSlides/notesSlide9.xml"/><Relationship Id="rId12" Type="http://schemas.openxmlformats.org/officeDocument/2006/relationships/slideLayout" Target="../slideLayouts/slideLayout2.xml"/><Relationship Id="rId11" Type="http://schemas.openxmlformats.org/officeDocument/2006/relationships/image" Target="../media/image52.png"/><Relationship Id="rId10" Type="http://schemas.openxmlformats.org/officeDocument/2006/relationships/image" Target="../media/image51.png"/><Relationship Id="rId1" Type="http://schemas.openxmlformats.org/officeDocument/2006/relationships/tags" Target="../tags/tag71.xml"/></Relationships>
</file>

<file path=ppt/slides/_rels/slide16.xml.rels><?xml version="1.0" encoding="UTF-8" standalone="yes"?>
<Relationships xmlns="http://schemas.openxmlformats.org/package/2006/relationships"><Relationship Id="rId9" Type="http://schemas.microsoft.com/office/2007/relationships/media" Target="../media/media4.mp4"/><Relationship Id="rId8" Type="http://schemas.openxmlformats.org/officeDocument/2006/relationships/video" Target="../media/media4.mp4"/><Relationship Id="rId7" Type="http://schemas.openxmlformats.org/officeDocument/2006/relationships/image" Target="../media/image56.png"/><Relationship Id="rId6" Type="http://schemas.microsoft.com/office/2007/relationships/media" Target="../media/media3.mp4"/><Relationship Id="rId5" Type="http://schemas.openxmlformats.org/officeDocument/2006/relationships/video" Target="../media/media3.mp4"/><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image" Target="../media/image53.png"/><Relationship Id="rId12" Type="http://schemas.openxmlformats.org/officeDocument/2006/relationships/notesSlide" Target="../notesSlides/notesSlide10.xml"/><Relationship Id="rId11" Type="http://schemas.openxmlformats.org/officeDocument/2006/relationships/slideLayout" Target="../slideLayouts/slideLayout2.xml"/><Relationship Id="rId10" Type="http://schemas.openxmlformats.org/officeDocument/2006/relationships/image" Target="../media/image57.png"/><Relationship Id="rId1" Type="http://schemas.openxmlformats.org/officeDocument/2006/relationships/tags" Target="../tags/tag74.xml"/></Relationships>
</file>

<file path=ppt/slides/_rels/slide17.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6" Type="http://schemas.openxmlformats.org/officeDocument/2006/relationships/notesSlide" Target="../notesSlides/notesSlide11.xml"/><Relationship Id="rId25" Type="http://schemas.openxmlformats.org/officeDocument/2006/relationships/slideLayout" Target="../slideLayouts/slideLayout5.xml"/><Relationship Id="rId24" Type="http://schemas.openxmlformats.org/officeDocument/2006/relationships/tags" Target="../tags/tag97.xml"/><Relationship Id="rId23" Type="http://schemas.openxmlformats.org/officeDocument/2006/relationships/tags" Target="../tags/tag96.xml"/><Relationship Id="rId22" Type="http://schemas.openxmlformats.org/officeDocument/2006/relationships/tags" Target="../tags/tag95.xml"/><Relationship Id="rId21" Type="http://schemas.openxmlformats.org/officeDocument/2006/relationships/tags" Target="../tags/tag94.xml"/><Relationship Id="rId20" Type="http://schemas.openxmlformats.org/officeDocument/2006/relationships/tags" Target="../tags/tag93.xml"/><Relationship Id="rId2" Type="http://schemas.openxmlformats.org/officeDocument/2006/relationships/tags" Target="../tags/tag75.xml"/><Relationship Id="rId19" Type="http://schemas.openxmlformats.org/officeDocument/2006/relationships/tags" Target="../tags/tag92.xml"/><Relationship Id="rId18" Type="http://schemas.openxmlformats.org/officeDocument/2006/relationships/tags" Target="../tags/tag91.xml"/><Relationship Id="rId17" Type="http://schemas.openxmlformats.org/officeDocument/2006/relationships/tags" Target="../tags/tag90.xml"/><Relationship Id="rId16" Type="http://schemas.openxmlformats.org/officeDocument/2006/relationships/tags" Target="../tags/tag89.xml"/><Relationship Id="rId15" Type="http://schemas.openxmlformats.org/officeDocument/2006/relationships/tags" Target="../tags/tag88.xml"/><Relationship Id="rId14" Type="http://schemas.openxmlformats.org/officeDocument/2006/relationships/tags" Target="../tags/tag87.xml"/><Relationship Id="rId13" Type="http://schemas.openxmlformats.org/officeDocument/2006/relationships/tags" Target="../tags/tag86.xml"/><Relationship Id="rId12" Type="http://schemas.openxmlformats.org/officeDocument/2006/relationships/tags" Target="../tags/tag85.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image" Target="../media/image5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20.xml.rels><?xml version="1.0" encoding="UTF-8" standalone="yes"?>
<Relationships xmlns="http://schemas.openxmlformats.org/package/2006/relationships"><Relationship Id="rId9" Type="http://schemas.openxmlformats.org/officeDocument/2006/relationships/tags" Target="../tags/tag102.xml"/><Relationship Id="rId8" Type="http://schemas.openxmlformats.org/officeDocument/2006/relationships/image" Target="../media/image60.png"/><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image" Target="../media/image59.jpeg"/><Relationship Id="rId3" Type="http://schemas.microsoft.com/office/2007/relationships/media" Target="../media/media5.mp4"/><Relationship Id="rId24" Type="http://schemas.openxmlformats.org/officeDocument/2006/relationships/notesSlide" Target="../notesSlides/notesSlide14.xml"/><Relationship Id="rId23" Type="http://schemas.openxmlformats.org/officeDocument/2006/relationships/slideLayout" Target="../slideLayouts/slideLayout2.xml"/><Relationship Id="rId22" Type="http://schemas.openxmlformats.org/officeDocument/2006/relationships/image" Target="../media/image67.png"/><Relationship Id="rId21" Type="http://schemas.openxmlformats.org/officeDocument/2006/relationships/image" Target="../media/image66.png"/><Relationship Id="rId20" Type="http://schemas.openxmlformats.org/officeDocument/2006/relationships/image" Target="../media/image65.png"/><Relationship Id="rId2" Type="http://schemas.openxmlformats.org/officeDocument/2006/relationships/video" Target="../media/media5.mp4"/><Relationship Id="rId19" Type="http://schemas.openxmlformats.org/officeDocument/2006/relationships/tags" Target="../tags/tag108.xml"/><Relationship Id="rId18" Type="http://schemas.openxmlformats.org/officeDocument/2006/relationships/image" Target="../media/image64.png"/><Relationship Id="rId17" Type="http://schemas.openxmlformats.org/officeDocument/2006/relationships/tags" Target="../tags/tag107.xml"/><Relationship Id="rId16" Type="http://schemas.openxmlformats.org/officeDocument/2006/relationships/tags" Target="../tags/tag106.xml"/><Relationship Id="rId15" Type="http://schemas.openxmlformats.org/officeDocument/2006/relationships/tags" Target="../tags/tag105.xml"/><Relationship Id="rId14" Type="http://schemas.openxmlformats.org/officeDocument/2006/relationships/image" Target="../media/image63.png"/><Relationship Id="rId13" Type="http://schemas.openxmlformats.org/officeDocument/2006/relationships/tags" Target="../tags/tag104.xml"/><Relationship Id="rId12" Type="http://schemas.openxmlformats.org/officeDocument/2006/relationships/image" Target="../media/image62.png"/><Relationship Id="rId11" Type="http://schemas.openxmlformats.org/officeDocument/2006/relationships/tags" Target="../tags/tag103.xml"/><Relationship Id="rId10" Type="http://schemas.openxmlformats.org/officeDocument/2006/relationships/image" Target="../media/image61.png"/><Relationship Id="rId1" Type="http://schemas.openxmlformats.org/officeDocument/2006/relationships/tags" Target="../tags/tag98.xml"/></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2.xml"/><Relationship Id="rId7" Type="http://schemas.openxmlformats.org/officeDocument/2006/relationships/image" Target="../media/image73.png"/><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tags" Target="../tags/tag109.xml"/></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 Id="rId3" Type="http://schemas.openxmlformats.org/officeDocument/2006/relationships/tags" Target="../tags/tag111.xml"/><Relationship Id="rId2" Type="http://schemas.openxmlformats.org/officeDocument/2006/relationships/image" Target="../media/image74.png"/><Relationship Id="rId1" Type="http://schemas.openxmlformats.org/officeDocument/2006/relationships/tags" Target="../tags/tag110.xml"/></Relationships>
</file>

<file path=ppt/slides/_rels/slide23.xml.rels><?xml version="1.0" encoding="UTF-8" standalone="yes"?>
<Relationships xmlns="http://schemas.openxmlformats.org/package/2006/relationships"><Relationship Id="rId9" Type="http://schemas.openxmlformats.org/officeDocument/2006/relationships/image" Target="../media/image83.png"/><Relationship Id="rId8" Type="http://schemas.openxmlformats.org/officeDocument/2006/relationships/image" Target="../media/image82.png"/><Relationship Id="rId7" Type="http://schemas.openxmlformats.org/officeDocument/2006/relationships/image" Target="../media/image81.png"/><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tags" Target="../tags/tag113.xml"/><Relationship Id="rId3" Type="http://schemas.openxmlformats.org/officeDocument/2006/relationships/image" Target="../media/image78.png"/><Relationship Id="rId2" Type="http://schemas.openxmlformats.org/officeDocument/2006/relationships/tags" Target="../tags/tag112.xml"/><Relationship Id="rId11" Type="http://schemas.openxmlformats.org/officeDocument/2006/relationships/notesSlide" Target="../notesSlides/notesSlide17.xml"/><Relationship Id="rId10" Type="http://schemas.openxmlformats.org/officeDocument/2006/relationships/slideLayout" Target="../slideLayouts/slideLayout2.xml"/><Relationship Id="rId1" Type="http://schemas.openxmlformats.org/officeDocument/2006/relationships/image" Target="../media/image77.png"/></Relationships>
</file>

<file path=ppt/slides/_rels/slide24.xml.rels><?xml version="1.0" encoding="UTF-8" standalone="yes"?>
<Relationships xmlns="http://schemas.openxmlformats.org/package/2006/relationships"><Relationship Id="rId9" Type="http://schemas.openxmlformats.org/officeDocument/2006/relationships/image" Target="../media/image90.png"/><Relationship Id="rId8" Type="http://schemas.openxmlformats.org/officeDocument/2006/relationships/image" Target="../media/image89.png"/><Relationship Id="rId7" Type="http://schemas.openxmlformats.org/officeDocument/2006/relationships/image" Target="../media/image88.png"/><Relationship Id="rId6" Type="http://schemas.openxmlformats.org/officeDocument/2006/relationships/image" Target="../media/image87.png"/><Relationship Id="rId5" Type="http://schemas.openxmlformats.org/officeDocument/2006/relationships/tags" Target="../tags/tag115.xml"/><Relationship Id="rId4" Type="http://schemas.openxmlformats.org/officeDocument/2006/relationships/image" Target="../media/image86.png"/><Relationship Id="rId3" Type="http://schemas.openxmlformats.org/officeDocument/2006/relationships/image" Target="../media/image85.jpeg"/><Relationship Id="rId2" Type="http://schemas.openxmlformats.org/officeDocument/2006/relationships/tags" Target="../tags/tag114.xml"/><Relationship Id="rId12" Type="http://schemas.openxmlformats.org/officeDocument/2006/relationships/notesSlide" Target="../notesSlides/notesSlide18.xml"/><Relationship Id="rId11" Type="http://schemas.openxmlformats.org/officeDocument/2006/relationships/slideLayout" Target="../slideLayouts/slideLayout2.xml"/><Relationship Id="rId10" Type="http://schemas.openxmlformats.org/officeDocument/2006/relationships/image" Target="../media/image91.png"/><Relationship Id="rId1" Type="http://schemas.openxmlformats.org/officeDocument/2006/relationships/image" Target="../media/image84.png"/></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tags" Target="../tags/tag117.xml"/><Relationship Id="rId4" Type="http://schemas.openxmlformats.org/officeDocument/2006/relationships/image" Target="../media/image94.png"/><Relationship Id="rId3" Type="http://schemas.openxmlformats.org/officeDocument/2006/relationships/image" Target="../media/image93.png"/><Relationship Id="rId2" Type="http://schemas.openxmlformats.org/officeDocument/2006/relationships/tags" Target="../tags/tag116.xml"/><Relationship Id="rId1" Type="http://schemas.openxmlformats.org/officeDocument/2006/relationships/image" Target="../media/image92.png"/></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98.jpeg"/><Relationship Id="rId3" Type="http://schemas.openxmlformats.org/officeDocument/2006/relationships/image" Target="../media/image97.png"/><Relationship Id="rId2" Type="http://schemas.openxmlformats.org/officeDocument/2006/relationships/tags" Target="../tags/tag118.xml"/><Relationship Id="rId1" Type="http://schemas.openxmlformats.org/officeDocument/2006/relationships/image" Target="../media/image96.png"/></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6.png"/><Relationship Id="rId7" Type="http://schemas.openxmlformats.org/officeDocument/2006/relationships/image" Target="../media/image105.jpeg"/><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 Id="rId3" Type="http://schemas.openxmlformats.org/officeDocument/2006/relationships/image" Target="../media/image101.png"/><Relationship Id="rId2" Type="http://schemas.openxmlformats.org/officeDocument/2006/relationships/image" Target="../media/image100.png"/><Relationship Id="rId10" Type="http://schemas.openxmlformats.org/officeDocument/2006/relationships/notesSlide" Target="../notesSlides/notesSlide21.xml"/><Relationship Id="rId1" Type="http://schemas.openxmlformats.org/officeDocument/2006/relationships/tags" Target="../tags/tag119.xml"/></Relationships>
</file>

<file path=ppt/slides/_rels/slide28.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2.xml"/><Relationship Id="rId7" Type="http://schemas.openxmlformats.org/officeDocument/2006/relationships/image" Target="../media/image109.png"/><Relationship Id="rId6" Type="http://schemas.openxmlformats.org/officeDocument/2006/relationships/image" Target="../media/image108.png"/><Relationship Id="rId5" Type="http://schemas.microsoft.com/office/2007/relationships/media" Target="../media/media7.mp4"/><Relationship Id="rId4" Type="http://schemas.openxmlformats.org/officeDocument/2006/relationships/video" Target="../media/media7.mp4"/><Relationship Id="rId3" Type="http://schemas.openxmlformats.org/officeDocument/2006/relationships/image" Target="../media/image107.png"/><Relationship Id="rId2" Type="http://schemas.microsoft.com/office/2007/relationships/media" Target="../media/media6.mp4"/><Relationship Id="rId1" Type="http://schemas.openxmlformats.org/officeDocument/2006/relationships/video" Target="../media/media6.mp4"/></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14.jpeg"/><Relationship Id="rId4" Type="http://schemas.openxmlformats.org/officeDocument/2006/relationships/image" Target="../media/image113.png"/><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image" Target="../media/image110.png"/></Relationships>
</file>

<file path=ppt/slides/_rels/slide30.xml.rels><?xml version="1.0" encoding="UTF-8" standalone="yes"?>
<Relationships xmlns="http://schemas.openxmlformats.org/package/2006/relationships"><Relationship Id="rId9" Type="http://schemas.openxmlformats.org/officeDocument/2006/relationships/image" Target="../media/image122.png"/><Relationship Id="rId8" Type="http://schemas.openxmlformats.org/officeDocument/2006/relationships/image" Target="../media/image121.png"/><Relationship Id="rId7" Type="http://schemas.openxmlformats.org/officeDocument/2006/relationships/image" Target="../media/image120.png"/><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 Id="rId3" Type="http://schemas.openxmlformats.org/officeDocument/2006/relationships/image" Target="../media/image116.png"/><Relationship Id="rId22" Type="http://schemas.openxmlformats.org/officeDocument/2006/relationships/slideLayout" Target="../slideLayouts/slideLayout6.xml"/><Relationship Id="rId21" Type="http://schemas.openxmlformats.org/officeDocument/2006/relationships/tags" Target="../tags/tag121.xml"/><Relationship Id="rId20" Type="http://schemas.openxmlformats.org/officeDocument/2006/relationships/image" Target="../media/image8.png"/><Relationship Id="rId2" Type="http://schemas.openxmlformats.org/officeDocument/2006/relationships/image" Target="../media/image115.png"/><Relationship Id="rId19" Type="http://schemas.openxmlformats.org/officeDocument/2006/relationships/image" Target="../media/image132.png"/><Relationship Id="rId18" Type="http://schemas.openxmlformats.org/officeDocument/2006/relationships/image" Target="../media/image131.png"/><Relationship Id="rId17" Type="http://schemas.openxmlformats.org/officeDocument/2006/relationships/image" Target="../media/image130.png"/><Relationship Id="rId16" Type="http://schemas.openxmlformats.org/officeDocument/2006/relationships/image" Target="../media/image129.png"/><Relationship Id="rId15" Type="http://schemas.openxmlformats.org/officeDocument/2006/relationships/image" Target="../media/image128.png"/><Relationship Id="rId14" Type="http://schemas.openxmlformats.org/officeDocument/2006/relationships/image" Target="../media/image127.jpeg"/><Relationship Id="rId13" Type="http://schemas.openxmlformats.org/officeDocument/2006/relationships/image" Target="../media/image126.png"/><Relationship Id="rId12" Type="http://schemas.openxmlformats.org/officeDocument/2006/relationships/image" Target="../media/image125.png"/><Relationship Id="rId11" Type="http://schemas.openxmlformats.org/officeDocument/2006/relationships/image" Target="../media/image124.png"/><Relationship Id="rId10" Type="http://schemas.openxmlformats.org/officeDocument/2006/relationships/image" Target="../media/image123.png"/><Relationship Id="rId1" Type="http://schemas.openxmlformats.org/officeDocument/2006/relationships/tags" Target="../tags/tag120.xml"/></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5.xml"/><Relationship Id="rId7" Type="http://schemas.openxmlformats.org/officeDocument/2006/relationships/image" Target="../media/image8.png"/><Relationship Id="rId6" Type="http://schemas.openxmlformats.org/officeDocument/2006/relationships/image" Target="../media/image138.jpeg"/><Relationship Id="rId5" Type="http://schemas.openxmlformats.org/officeDocument/2006/relationships/image" Target="../media/image137.png"/><Relationship Id="rId4" Type="http://schemas.microsoft.com/office/2007/relationships/hdphoto" Target="../media/image136.wdp"/><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image" Target="../media/image133.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139.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lumMod val="95000"/>
            </a:schemeClr>
          </a:fgClr>
          <a:bgClr>
            <a:schemeClr val="bg1"/>
          </a:bgClr>
        </a:pattFill>
        <a:effectLst/>
      </p:bgPr>
    </p:bg>
    <p:spTree>
      <p:nvGrpSpPr>
        <p:cNvPr id="1" name=""/>
        <p:cNvGrpSpPr/>
        <p:nvPr/>
      </p:nvGrpSpPr>
      <p:grpSpPr>
        <a:xfrm>
          <a:off x="0" y="0"/>
          <a:ext cx="0" cy="0"/>
          <a:chOff x="0" y="0"/>
          <a:chExt cx="0" cy="0"/>
        </a:xfrm>
      </p:grpSpPr>
      <p:pic>
        <p:nvPicPr>
          <p:cNvPr id="12" name="Picture 2" descr="C:\Users\Administrator\Desktop\a.jpg"/>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bwMode="auto">
          <a:xfrm>
            <a:off x="0" y="2"/>
            <a:ext cx="9144004" cy="5143502"/>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0" y="0"/>
            <a:ext cx="9144000" cy="5143500"/>
          </a:xfrm>
          <a:prstGeom prst="rect">
            <a:avLst/>
          </a:prstGeom>
          <a:solidFill>
            <a:schemeClr val="accent1">
              <a:lumMod val="7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流程图: 数据 4"/>
          <p:cNvSpPr/>
          <p:nvPr/>
        </p:nvSpPr>
        <p:spPr>
          <a:xfrm>
            <a:off x="4677289" y="2"/>
            <a:ext cx="4292014" cy="3528127"/>
          </a:xfrm>
          <a:prstGeom prst="flowChartInputOutput">
            <a:avLst/>
          </a:prstGeom>
          <a:gradFill>
            <a:gsLst>
              <a:gs pos="52000">
                <a:srgbClr val="0070C0">
                  <a:alpha val="65000"/>
                </a:srgbClr>
              </a:gs>
              <a:gs pos="0">
                <a:srgbClr val="00B0F0">
                  <a:alpha val="65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流程图: 数据 21"/>
          <p:cNvSpPr/>
          <p:nvPr/>
        </p:nvSpPr>
        <p:spPr>
          <a:xfrm>
            <a:off x="4483666" y="1615375"/>
            <a:ext cx="4292014" cy="3528127"/>
          </a:xfrm>
          <a:prstGeom prst="flowChartInputOutput">
            <a:avLst/>
          </a:prstGeom>
          <a:solidFill>
            <a:srgbClr val="005EA4">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48715" y="1247775"/>
            <a:ext cx="6846570" cy="1729105"/>
          </a:xfrm>
          <a:prstGeom prst="rect">
            <a:avLst/>
          </a:prstGeom>
        </p:spPr>
        <p:txBody>
          <a:bodyPr wrap="square" lIns="68576" tIns="34288" rIns="68576" bIns="34288">
            <a:spAutoFit/>
          </a:bodyPr>
          <a:lstStyle/>
          <a:p>
            <a:pPr algn="ctr">
              <a:lnSpc>
                <a:spcPct val="150000"/>
              </a:lnSpc>
            </a:pPr>
            <a:r>
              <a:rPr lang="zh-CN" altLang="en-US" sz="3600" b="1" dirty="0">
                <a:solidFill>
                  <a:schemeClr val="bg1"/>
                </a:solidFill>
                <a:latin typeface="微软雅黑" panose="020B0503020204020204" pitchFamily="34" charset="-122"/>
                <a:ea typeface="微软雅黑" panose="020B0503020204020204" pitchFamily="34" charset="-122"/>
              </a:rPr>
              <a:t>基于</a:t>
            </a:r>
            <a:r>
              <a:rPr lang="en-US" altLang="zh-CN" sz="3600" b="1" dirty="0">
                <a:solidFill>
                  <a:schemeClr val="bg1"/>
                </a:solidFill>
                <a:latin typeface="微软雅黑" panose="020B0503020204020204" pitchFamily="34" charset="-122"/>
                <a:ea typeface="微软雅黑" panose="020B0503020204020204" pitchFamily="34" charset="-122"/>
              </a:rPr>
              <a:t>CV</a:t>
            </a:r>
            <a:r>
              <a:rPr lang="zh-CN" altLang="en-US" sz="3600" b="1" dirty="0">
                <a:solidFill>
                  <a:schemeClr val="bg1"/>
                </a:solidFill>
                <a:latin typeface="微软雅黑" panose="020B0503020204020204" pitchFamily="34" charset="-122"/>
                <a:ea typeface="微软雅黑" panose="020B0503020204020204" pitchFamily="34" charset="-122"/>
              </a:rPr>
              <a:t>大模型的</a:t>
            </a:r>
            <a:r>
              <a:rPr lang="zh-CN" altLang="en-US" sz="3600" b="1" dirty="0">
                <a:solidFill>
                  <a:schemeClr val="bg1"/>
                </a:solidFill>
                <a:latin typeface="微软雅黑" panose="020B0503020204020204" pitchFamily="34" charset="-122"/>
                <a:ea typeface="微软雅黑" panose="020B0503020204020204" pitchFamily="34" charset="-122"/>
                <a:sym typeface="+mn-ea"/>
              </a:rPr>
              <a:t>视觉感知再现</a:t>
            </a:r>
            <a:endParaRPr lang="en-US" altLang="zh-CN" sz="3600" b="1" dirty="0">
              <a:solidFill>
                <a:schemeClr val="bg1"/>
              </a:solidFill>
              <a:latin typeface="微软雅黑" panose="020B0503020204020204" pitchFamily="34" charset="-122"/>
              <a:ea typeface="微软雅黑" panose="020B0503020204020204" pitchFamily="34" charset="-122"/>
            </a:endParaRPr>
          </a:p>
          <a:p>
            <a:pPr algn="ctr">
              <a:lnSpc>
                <a:spcPct val="150000"/>
              </a:lnSpc>
            </a:pPr>
            <a:r>
              <a:rPr lang="zh-CN" altLang="en-US" sz="3600" b="1" dirty="0">
                <a:solidFill>
                  <a:schemeClr val="bg1"/>
                </a:solidFill>
                <a:latin typeface="微软雅黑" panose="020B0503020204020204" pitchFamily="34" charset="-122"/>
                <a:ea typeface="微软雅黑" panose="020B0503020204020204" pitchFamily="34" charset="-122"/>
              </a:rPr>
              <a:t>新技术研发与产业化</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067810" y="3703955"/>
            <a:ext cx="4193540" cy="460375"/>
          </a:xfrm>
          <a:prstGeom prst="rect">
            <a:avLst/>
          </a:prstGeom>
          <a:noFill/>
        </p:spPr>
        <p:txBody>
          <a:bodyPr wrap="square" rtlCol="0" anchor="t">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南京深眸智算科技有限公司</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548048" y="4209897"/>
            <a:ext cx="2041525" cy="368300"/>
          </a:xfrm>
          <a:prstGeom prst="rect">
            <a:avLst/>
          </a:prstGeom>
          <a:noFill/>
        </p:spPr>
        <p:txBody>
          <a:bodyPr wrap="square" rtlCol="0" anchor="t">
            <a:spAutoFit/>
          </a:bodyPr>
          <a:lstStyle/>
          <a:p>
            <a:pPr algn="ctr"/>
            <a:r>
              <a:rPr lang="en-US" altLang="zh-CN" sz="1800" b="1" dirty="0" smtClean="0">
                <a:solidFill>
                  <a:schemeClr val="bg1"/>
                </a:solidFill>
              </a:rPr>
              <a:t>2026.06</a:t>
            </a:r>
            <a:endParaRPr lang="en-US" altLang="zh-CN" sz="1800" b="1" dirty="0">
              <a:solidFill>
                <a:schemeClr val="bg1"/>
              </a:solidFill>
            </a:endParaRPr>
          </a:p>
        </p:txBody>
      </p:sp>
      <p:sp>
        <p:nvSpPr>
          <p:cNvPr id="6" name="文本框 5"/>
          <p:cNvSpPr txBox="1"/>
          <p:nvPr/>
        </p:nvSpPr>
        <p:spPr>
          <a:xfrm>
            <a:off x="3485515" y="3073400"/>
            <a:ext cx="2277745" cy="630555"/>
          </a:xfrm>
          <a:prstGeom prst="rect">
            <a:avLst/>
          </a:prstGeom>
          <a:noFill/>
        </p:spPr>
        <p:txBody>
          <a:bodyPr wrap="square" rtlCol="0" anchor="t">
            <a:no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人工智能</a:t>
            </a:r>
            <a:r>
              <a:rPr lang="en-US" altLang="zh-CN" sz="18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机器视觉</a:t>
            </a:r>
            <a:endParaRPr lang="zh-CN" altLang="en-US" sz="18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custDataLst>
              <p:tags r:id="rId1"/>
            </p:custDataLst>
          </p:nvPr>
        </p:nvGrpSpPr>
        <p:grpSpPr>
          <a:xfrm>
            <a:off x="1630045" y="748665"/>
            <a:ext cx="3907790" cy="521970"/>
            <a:chOff x="4805605" y="815069"/>
            <a:chExt cx="2850237" cy="522056"/>
          </a:xfrm>
        </p:grpSpPr>
        <p:sp>
          <p:nvSpPr>
            <p:cNvPr id="30" name="矩形 29"/>
            <p:cNvSpPr/>
            <p:nvPr>
              <p:custDataLst>
                <p:tags r:id="rId2"/>
              </p:custDataLst>
            </p:nvPr>
          </p:nvSpPr>
          <p:spPr>
            <a:xfrm rot="2700000">
              <a:off x="4890719" y="853555"/>
              <a:ext cx="365874" cy="365874"/>
            </a:xfrm>
            <a:prstGeom prst="rect">
              <a:avLst/>
            </a:prstGeom>
            <a:gradFill flip="none" rotWithShape="1">
              <a:gsLst>
                <a:gs pos="0">
                  <a:srgbClr val="0070C0"/>
                </a:gs>
                <a:gs pos="100000">
                  <a:srgbClr val="00B0F0"/>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
          <p:nvSpPr>
            <p:cNvPr id="47" name="文本框 46"/>
            <p:cNvSpPr txBox="1"/>
            <p:nvPr>
              <p:custDataLst>
                <p:tags r:id="rId3"/>
              </p:custDataLst>
            </p:nvPr>
          </p:nvSpPr>
          <p:spPr>
            <a:xfrm>
              <a:off x="4805605" y="815069"/>
              <a:ext cx="500063" cy="522056"/>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9" name="文本框 18"/>
            <p:cNvSpPr txBox="1"/>
            <p:nvPr>
              <p:custDataLst>
                <p:tags r:id="rId4"/>
              </p:custDataLst>
            </p:nvPr>
          </p:nvSpPr>
          <p:spPr>
            <a:xfrm>
              <a:off x="5386885" y="827273"/>
              <a:ext cx="2268957" cy="460451"/>
            </a:xfrm>
            <a:prstGeom prst="rect">
              <a:avLst/>
            </a:prstGeom>
            <a:noFill/>
          </p:spPr>
          <p:txBody>
            <a:bodyPr wrap="square" rtlCol="0">
              <a:spAutoFit/>
            </a:bodyPr>
            <a:lstStyle/>
            <a:p>
              <a:r>
                <a:rPr lang="zh-CN" altLang="en-US" sz="2400" b="1" dirty="0" smtClean="0">
                  <a:gradFill flip="none" rotWithShape="1">
                    <a:gsLst>
                      <a:gs pos="0">
                        <a:srgbClr val="00B0F0"/>
                      </a:gs>
                      <a:gs pos="63000">
                        <a:srgbClr val="0070C0">
                          <a:shade val="100000"/>
                          <a:satMod val="115000"/>
                        </a:srgbClr>
                      </a:gs>
                    </a:gsLst>
                    <a:lin ang="10800000" scaled="1"/>
                  </a:gradFill>
                  <a:latin typeface="微软雅黑" panose="020B0503020204020204" pitchFamily="34" charset="-122"/>
                  <a:ea typeface="微软雅黑" panose="020B0503020204020204" pitchFamily="34" charset="-122"/>
                </a:rPr>
                <a:t>公司</a:t>
              </a:r>
              <a:r>
                <a:rPr lang="zh-CN" altLang="en-US" sz="2400" b="1" dirty="0" smtClean="0">
                  <a:gradFill flip="none" rotWithShape="1">
                    <a:gsLst>
                      <a:gs pos="0">
                        <a:srgbClr val="00B0F0"/>
                      </a:gs>
                      <a:gs pos="63000">
                        <a:srgbClr val="0070C0">
                          <a:shade val="100000"/>
                          <a:satMod val="115000"/>
                        </a:srgbClr>
                      </a:gs>
                    </a:gsLst>
                    <a:lin ang="10800000" scaled="1"/>
                  </a:gradFill>
                  <a:latin typeface="微软雅黑" panose="020B0503020204020204" pitchFamily="34" charset="-122"/>
                  <a:ea typeface="微软雅黑" panose="020B0503020204020204" pitchFamily="34" charset="-122"/>
                </a:rPr>
                <a:t>简介</a:t>
              </a:r>
              <a:endParaRPr lang="zh-CN" altLang="en-US" sz="2400" b="1" dirty="0" smtClean="0">
                <a:gradFill flip="none" rotWithShape="1">
                  <a:gsLst>
                    <a:gs pos="0">
                      <a:srgbClr val="00B0F0"/>
                    </a:gs>
                    <a:gs pos="63000">
                      <a:srgbClr val="0070C0">
                        <a:shade val="100000"/>
                        <a:satMod val="115000"/>
                      </a:srgbClr>
                    </a:gs>
                  </a:gsLst>
                  <a:lin ang="10800000" scaled="1"/>
                </a:gradFill>
                <a:latin typeface="微软雅黑" panose="020B0503020204020204" pitchFamily="34" charset="-122"/>
                <a:ea typeface="微软雅黑" panose="020B0503020204020204" pitchFamily="34" charset="-122"/>
              </a:endParaRPr>
            </a:p>
          </p:txBody>
        </p:sp>
      </p:grpSp>
      <p:sp>
        <p:nvSpPr>
          <p:cNvPr id="12" name="直角三角形 11"/>
          <p:cNvSpPr/>
          <p:nvPr/>
        </p:nvSpPr>
        <p:spPr>
          <a:xfrm>
            <a:off x="-1" y="0"/>
            <a:ext cx="5612860" cy="5143502"/>
          </a:xfrm>
          <a:prstGeom prst="rtTriangle">
            <a:avLst/>
          </a:prstGeom>
          <a:blipFill dpi="0" rotWithShape="1">
            <a:blip r:embed="rId5" cstate="print">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13"/>
          <p:cNvSpPr txBox="1"/>
          <p:nvPr/>
        </p:nvSpPr>
        <p:spPr>
          <a:xfrm>
            <a:off x="763286" y="1929759"/>
            <a:ext cx="1045034" cy="577077"/>
          </a:xfrm>
          <a:prstGeom prst="rect">
            <a:avLst/>
          </a:prstGeom>
          <a:noFill/>
        </p:spPr>
        <p:txBody>
          <a:bodyPr wrap="square" lIns="68576" tIns="34288" rIns="68576" bIns="34288" rtlCol="0">
            <a:spAutoFit/>
          </a:bodyPr>
          <a:lstStyle/>
          <a:p>
            <a:r>
              <a:rPr lang="zh-CN" altLang="en-US" sz="3300">
                <a:solidFill>
                  <a:schemeClr val="bg1"/>
                </a:solidFill>
                <a:effectLst>
                  <a:outerShdw blurRad="50800" dist="88900" dir="2700000" algn="tl" rotWithShape="0">
                    <a:prstClr val="black">
                      <a:alpha val="40000"/>
                    </a:prstClr>
                  </a:outerShdw>
                </a:effectLst>
                <a:latin typeface="微软雅黑" panose="020B0503020204020204" pitchFamily="34" charset="-122"/>
                <a:ea typeface="微软雅黑" panose="020B0503020204020204" pitchFamily="34" charset="-122"/>
              </a:rPr>
              <a:t>目录</a:t>
            </a:r>
            <a:endParaRPr lang="zh-CN" altLang="en-US" sz="3300">
              <a:solidFill>
                <a:schemeClr val="bg1"/>
              </a:solidFill>
              <a:effectLst>
                <a:outerShdw blurRad="50800" dist="889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74" name="矩形 73"/>
          <p:cNvSpPr/>
          <p:nvPr/>
        </p:nvSpPr>
        <p:spPr>
          <a:xfrm>
            <a:off x="763286" y="2422354"/>
            <a:ext cx="2047218" cy="453966"/>
          </a:xfrm>
          <a:prstGeom prst="rect">
            <a:avLst/>
          </a:prstGeom>
        </p:spPr>
        <p:txBody>
          <a:bodyPr wrap="square" lIns="68576" tIns="34288" rIns="68576" bIns="34288">
            <a:spAutoFit/>
          </a:bodyPr>
          <a:lstStyle/>
          <a:p>
            <a:r>
              <a:rPr lang="en-US" altLang="zh-CN" sz="2500" b="1">
                <a:solidFill>
                  <a:schemeClr val="bg1"/>
                </a:solidFill>
                <a:effectLst>
                  <a:outerShdw blurRad="50800" dist="88900" dir="2700000" algn="tl" rotWithShape="0">
                    <a:prstClr val="black">
                      <a:alpha val="40000"/>
                    </a:prstClr>
                  </a:outerShdw>
                </a:effectLst>
                <a:latin typeface="微软雅黑" panose="020B0503020204020204" pitchFamily="34" charset="-122"/>
                <a:ea typeface="微软雅黑" panose="020B0503020204020204" pitchFamily="34" charset="-122"/>
              </a:rPr>
              <a:t>CONTENTS</a:t>
            </a:r>
            <a:endParaRPr lang="zh-CN" altLang="en-US" sz="2500" b="1">
              <a:solidFill>
                <a:schemeClr val="bg1"/>
              </a:solidFill>
              <a:effectLst>
                <a:outerShdw blurRad="50800" dist="889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grpSp>
        <p:nvGrpSpPr>
          <p:cNvPr id="18" name="组合 17"/>
          <p:cNvGrpSpPr/>
          <p:nvPr>
            <p:custDataLst>
              <p:tags r:id="rId6"/>
            </p:custDataLst>
          </p:nvPr>
        </p:nvGrpSpPr>
        <p:grpSpPr>
          <a:xfrm>
            <a:off x="3032705" y="1988240"/>
            <a:ext cx="3327416" cy="523544"/>
            <a:chOff x="4802104" y="1822796"/>
            <a:chExt cx="2982408" cy="523544"/>
          </a:xfrm>
        </p:grpSpPr>
        <p:sp>
          <p:nvSpPr>
            <p:cNvPr id="53" name="文本框 52"/>
            <p:cNvSpPr txBox="1"/>
            <p:nvPr>
              <p:custDataLst>
                <p:tags r:id="rId7"/>
              </p:custDataLst>
            </p:nvPr>
          </p:nvSpPr>
          <p:spPr>
            <a:xfrm>
              <a:off x="5386615" y="1822796"/>
              <a:ext cx="2397897" cy="460375"/>
            </a:xfrm>
            <a:prstGeom prst="rect">
              <a:avLst/>
            </a:prstGeom>
            <a:noFill/>
          </p:spPr>
          <p:txBody>
            <a:bodyPr wrap="square" rtlCol="0">
              <a:spAutoFit/>
            </a:bodyPr>
            <a:lstStyle/>
            <a:p>
              <a:pPr algn="l"/>
              <a:r>
                <a:rPr lang="zh-CN" altLang="en-US" sz="24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核</a:t>
              </a:r>
              <a:r>
                <a:rPr lang="zh-CN" altLang="en-US" sz="24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心技术</a:t>
              </a:r>
              <a:endParaRPr lang="zh-CN" altLang="en-US" sz="24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endParaRPr>
            </a:p>
          </p:txBody>
        </p:sp>
        <p:sp>
          <p:nvSpPr>
            <p:cNvPr id="78" name="矩形 77"/>
            <p:cNvSpPr/>
            <p:nvPr>
              <p:custDataLst>
                <p:tags r:id="rId8"/>
              </p:custDataLst>
            </p:nvPr>
          </p:nvSpPr>
          <p:spPr>
            <a:xfrm rot="2700000">
              <a:off x="4890719" y="1858861"/>
              <a:ext cx="365874" cy="365874"/>
            </a:xfrm>
            <a:prstGeom prst="rect">
              <a:avLst/>
            </a:prstGeom>
            <a:gradFill>
              <a:gsLst>
                <a:gs pos="0">
                  <a:srgbClr val="0070C0"/>
                </a:gs>
                <a:gs pos="100000">
                  <a:srgbClr val="00B0F0"/>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
          <p:nvSpPr>
            <p:cNvPr id="79" name="文本框 46"/>
            <p:cNvSpPr txBox="1"/>
            <p:nvPr>
              <p:custDataLst>
                <p:tags r:id="rId9"/>
              </p:custDataLst>
            </p:nvPr>
          </p:nvSpPr>
          <p:spPr>
            <a:xfrm>
              <a:off x="4802104" y="1823120"/>
              <a:ext cx="500063"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grpSp>
        <p:nvGrpSpPr>
          <p:cNvPr id="20" name="组合 19"/>
          <p:cNvGrpSpPr/>
          <p:nvPr>
            <p:custDataLst>
              <p:tags r:id="rId10"/>
            </p:custDataLst>
          </p:nvPr>
        </p:nvGrpSpPr>
        <p:grpSpPr>
          <a:xfrm>
            <a:off x="4363747" y="3109923"/>
            <a:ext cx="3530796" cy="560119"/>
            <a:chOff x="4823625" y="2798574"/>
            <a:chExt cx="3051218" cy="560119"/>
          </a:xfrm>
        </p:grpSpPr>
        <p:sp>
          <p:nvSpPr>
            <p:cNvPr id="33" name="文本框 32"/>
            <p:cNvSpPr txBox="1"/>
            <p:nvPr>
              <p:custDataLst>
                <p:tags r:id="rId11"/>
              </p:custDataLst>
            </p:nvPr>
          </p:nvSpPr>
          <p:spPr>
            <a:xfrm>
              <a:off x="5386614" y="2798574"/>
              <a:ext cx="2488229" cy="460375"/>
            </a:xfrm>
            <a:prstGeom prst="rect">
              <a:avLst/>
            </a:prstGeom>
            <a:noFill/>
          </p:spPr>
          <p:txBody>
            <a:bodyPr wrap="square" rtlCol="0">
              <a:spAutoFit/>
            </a:bodyPr>
            <a:lstStyle/>
            <a:p>
              <a:r>
                <a:rPr lang="zh-CN" altLang="en-US" sz="24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相关产品</a:t>
              </a:r>
              <a:endParaRPr lang="zh-CN" altLang="en-US" sz="24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endParaRPr>
            </a:p>
          </p:txBody>
        </p:sp>
        <p:sp>
          <p:nvSpPr>
            <p:cNvPr id="80" name="矩形 79"/>
            <p:cNvSpPr/>
            <p:nvPr>
              <p:custDataLst>
                <p:tags r:id="rId12"/>
              </p:custDataLst>
            </p:nvPr>
          </p:nvSpPr>
          <p:spPr>
            <a:xfrm rot="2700000">
              <a:off x="4890719" y="2852591"/>
              <a:ext cx="365874" cy="365874"/>
            </a:xfrm>
            <a:prstGeom prst="rect">
              <a:avLst/>
            </a:prstGeom>
            <a:gradFill>
              <a:gsLst>
                <a:gs pos="0">
                  <a:srgbClr val="0070C0"/>
                </a:gs>
                <a:gs pos="100000">
                  <a:srgbClr val="00B0F0"/>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
          <p:nvSpPr>
            <p:cNvPr id="81" name="文本框 46"/>
            <p:cNvSpPr txBox="1"/>
            <p:nvPr>
              <p:custDataLst>
                <p:tags r:id="rId13"/>
              </p:custDataLst>
            </p:nvPr>
          </p:nvSpPr>
          <p:spPr>
            <a:xfrm>
              <a:off x="4823625" y="2835473"/>
              <a:ext cx="500063"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71" name="文本框 46"/>
          <p:cNvSpPr txBox="1"/>
          <p:nvPr>
            <p:custDataLst>
              <p:tags r:id="rId14"/>
            </p:custDataLst>
          </p:nvPr>
        </p:nvSpPr>
        <p:spPr>
          <a:xfrm>
            <a:off x="5061385" y="3874430"/>
            <a:ext cx="444553"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4</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Click="0">
        <p14:prism isInverted="1"/>
      </p:transition>
    </mc:Choice>
    <mc:Fallback>
      <p:transition spd="slow" advClick="0">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18"/>
          <p:cNvSpPr txBox="1"/>
          <p:nvPr/>
        </p:nvSpPr>
        <p:spPr>
          <a:xfrm>
            <a:off x="3198495" y="3150235"/>
            <a:ext cx="2746375" cy="475615"/>
          </a:xfrm>
          <a:prstGeom prst="rect">
            <a:avLst/>
          </a:prstGeom>
          <a:noFill/>
        </p:spPr>
        <p:txBody>
          <a:bodyPr wrap="square" rtlCol="0">
            <a:spAutoFit/>
          </a:bodyPr>
          <a:lstStyle/>
          <a:p>
            <a:pPr algn="ctr"/>
            <a:r>
              <a:rPr lang="zh-CN" altLang="en-US" sz="25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公司简</a:t>
            </a:r>
            <a:r>
              <a:rPr lang="zh-CN" altLang="en-US" sz="25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介</a:t>
            </a:r>
            <a:endParaRPr lang="zh-CN" altLang="en-US" sz="25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sp>
        <p:nvSpPr>
          <p:cNvPr id="16" name="等腰三角形 15"/>
          <p:cNvSpPr/>
          <p:nvPr/>
        </p:nvSpPr>
        <p:spPr>
          <a:xfrm rot="10800000">
            <a:off x="4376319" y="2900078"/>
            <a:ext cx="391362" cy="174435"/>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205749"/>
            <a:ext cx="9144000" cy="1694329"/>
          </a:xfrm>
          <a:prstGeom prst="rect">
            <a:avLst/>
          </a:prstGeom>
        </p:spPr>
      </p:pic>
      <p:sp>
        <p:nvSpPr>
          <p:cNvPr id="32" name="文本框 46"/>
          <p:cNvSpPr txBox="1"/>
          <p:nvPr/>
        </p:nvSpPr>
        <p:spPr>
          <a:xfrm>
            <a:off x="3894824" y="1237305"/>
            <a:ext cx="1013695" cy="1631216"/>
          </a:xfrm>
          <a:prstGeom prst="rect">
            <a:avLst/>
          </a:prstGeom>
          <a:noFill/>
        </p:spPr>
        <p:txBody>
          <a:bodyPr wrap="square" rtlCol="0">
            <a:spAutoFit/>
          </a:bodyPr>
          <a:lstStyle/>
          <a:p>
            <a:pPr algn="ctr"/>
            <a:r>
              <a:rPr lang="en-US" altLang="zh-CN" sz="10000" b="1" i="1" dirty="0">
                <a:solidFill>
                  <a:schemeClr val="bg1"/>
                </a:solidFill>
                <a:effectLst>
                  <a:outerShdw blurRad="50800" dist="63500" dir="2700000" algn="tl" rotWithShape="0">
                    <a:prstClr val="black">
                      <a:alpha val="40000"/>
                    </a:prstClr>
                  </a:outerShdw>
                </a:effectLst>
                <a:latin typeface="微软雅黑" panose="020B0503020204020204" pitchFamily="34" charset="-122"/>
                <a:ea typeface="微软雅黑" panose="020B0503020204020204" pitchFamily="34" charset="-122"/>
              </a:rPr>
              <a:t>1</a:t>
            </a:r>
            <a:endParaRPr lang="zh-CN" altLang="en-US" sz="10000" b="1" i="1" dirty="0">
              <a:solidFill>
                <a:schemeClr val="bg1"/>
              </a:solidFill>
              <a:effectLst>
                <a:outerShdw blurRad="50800" dist="635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400" advClick="0">
        <p14:doors dir="vert"/>
      </p:transition>
    </mc:Choice>
    <mc:Fallback>
      <p:transition spd="slow" advClick="0">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5"/>
          <p:cNvSpPr txBox="1">
            <a:spLocks noGrp="1"/>
          </p:cNvSpPr>
          <p:nvPr>
            <p:ph type="title"/>
          </p:nvPr>
        </p:nvSpPr>
        <p:spPr>
          <a:xfrm>
            <a:off x="316865" y="172720"/>
            <a:ext cx="4394200" cy="344170"/>
          </a:xfrm>
          <a:prstGeom prst="rect">
            <a:avLst/>
          </a:prstGeom>
          <a:noFill/>
        </p:spPr>
        <p:txBody>
          <a:bodyPr wrap="square" rtlCol="0">
            <a:spAutoFit/>
          </a:bodyPr>
          <a:lstStyle/>
          <a:p>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1.</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公司简介</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endParaRPr>
          </a:p>
        </p:txBody>
      </p:sp>
      <p:sp>
        <p:nvSpPr>
          <p:cNvPr id="7" name="TextBox 9"/>
          <p:cNvSpPr txBox="1"/>
          <p:nvPr/>
        </p:nvSpPr>
        <p:spPr>
          <a:xfrm>
            <a:off x="441960" y="897890"/>
            <a:ext cx="4401820" cy="4034155"/>
          </a:xfrm>
          <a:prstGeom prst="rect">
            <a:avLst/>
          </a:prstGeom>
          <a:noFill/>
        </p:spPr>
        <p:txBody>
          <a:bodyPr wrap="square" rtlCol="0">
            <a:noAutofit/>
          </a:bodyPr>
          <a:lstStyle>
            <a:defPPr>
              <a:defRPr lang="zh-CN"/>
            </a:defPPr>
            <a:lvl1pPr defTabSz="609600">
              <a:defRPr sz="2135"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nSpc>
                <a:spcPct val="130000"/>
              </a:lnSpc>
            </a:pPr>
            <a:r>
              <a:rPr lang="en-US" altLang="zh-CN" sz="1600" dirty="0">
                <a:solidFill>
                  <a:schemeClr val="tx1"/>
                </a:solidFill>
              </a:rPr>
              <a:t> </a:t>
            </a:r>
            <a:r>
              <a:rPr lang="zh-CN" altLang="en-US" sz="1400" dirty="0">
                <a:solidFill>
                  <a:schemeClr val="tx1"/>
                </a:solidFill>
              </a:rPr>
              <a:t>      南京深眸智算科技有限公司</a:t>
            </a:r>
            <a:r>
              <a:rPr lang="en-US" altLang="zh-CN" sz="1400" dirty="0">
                <a:solidFill>
                  <a:schemeClr val="tx1"/>
                </a:solidFill>
              </a:rPr>
              <a:t>前身为南京头部高校</a:t>
            </a:r>
            <a:r>
              <a:rPr lang="zh-CN" altLang="en-US" sz="1400" dirty="0">
                <a:solidFill>
                  <a:schemeClr val="tx1"/>
                </a:solidFill>
              </a:rPr>
              <a:t>的学科实验室，拥有多项自主研发专利与软著并获得多项省级以上大奖。依托高校在计算机、电子等跨学科能力，研究方向为机器视觉、数字孪生、</a:t>
            </a:r>
            <a:r>
              <a:rPr lang="en-US" altLang="zh-CN" sz="1400" dirty="0">
                <a:solidFill>
                  <a:schemeClr val="tx1"/>
                </a:solidFill>
              </a:rPr>
              <a:t>AI</a:t>
            </a:r>
            <a:r>
              <a:rPr lang="zh-CN" altLang="en-US" sz="1400" dirty="0">
                <a:solidFill>
                  <a:schemeClr val="tx1"/>
                </a:solidFill>
              </a:rPr>
              <a:t>监控和预警、数字测量等。</a:t>
            </a:r>
            <a:r>
              <a:rPr lang="en-US" altLang="zh-CN" sz="1400" dirty="0">
                <a:solidFill>
                  <a:schemeClr val="tx1"/>
                </a:solidFill>
              </a:rPr>
              <a:t>   </a:t>
            </a:r>
            <a:endParaRPr lang="en-US" altLang="zh-CN" sz="1400" dirty="0">
              <a:solidFill>
                <a:schemeClr val="tx1"/>
              </a:solidFill>
            </a:endParaRPr>
          </a:p>
          <a:p>
            <a:pPr>
              <a:lnSpc>
                <a:spcPct val="130000"/>
              </a:lnSpc>
            </a:pPr>
            <a:r>
              <a:rPr lang="en-US" altLang="zh-CN" sz="1400" dirty="0">
                <a:solidFill>
                  <a:schemeClr val="tx1"/>
                </a:solidFill>
              </a:rPr>
              <a:t>      </a:t>
            </a:r>
            <a:r>
              <a:rPr lang="zh-CN" altLang="en-US" sz="1400" dirty="0">
                <a:solidFill>
                  <a:schemeClr val="tx1"/>
                </a:solidFill>
              </a:rPr>
              <a:t>目前，相关技术已</a:t>
            </a:r>
            <a:r>
              <a:rPr lang="zh-CN" altLang="en-US" sz="1400" dirty="0">
                <a:solidFill>
                  <a:srgbClr val="FF0000"/>
                </a:solidFill>
                <a:sym typeface="+mn-ea"/>
              </a:rPr>
              <a:t>在工业品生产全链智能检测</a:t>
            </a:r>
            <a:r>
              <a:rPr lang="zh-CN" altLang="en-US" sz="1400" dirty="0" smtClean="0">
                <a:solidFill>
                  <a:srgbClr val="FF0000"/>
                </a:solidFill>
                <a:sym typeface="+mn-ea"/>
              </a:rPr>
              <a:t>、</a:t>
            </a:r>
            <a:r>
              <a:rPr lang="zh-CN" altLang="zh-CN" sz="1400" dirty="0" smtClean="0">
                <a:solidFill>
                  <a:srgbClr val="FF0000"/>
                </a:solidFill>
                <a:sym typeface="+mn-ea"/>
              </a:rPr>
              <a:t>交通铁路轨道智能监控、交通桥梁船舶防碰撞系统、物流仓储行业的人工智能</a:t>
            </a:r>
            <a:r>
              <a:rPr lang="en-US" altLang="zh-CN" sz="1400" dirty="0" smtClean="0">
                <a:solidFill>
                  <a:srgbClr val="FF0000"/>
                </a:solidFill>
                <a:sym typeface="+mn-ea"/>
              </a:rPr>
              <a:t>+</a:t>
            </a:r>
            <a:r>
              <a:rPr lang="zh-CN" altLang="zh-CN" sz="1400" dirty="0" smtClean="0">
                <a:solidFill>
                  <a:srgbClr val="FF0000"/>
                </a:solidFill>
                <a:sym typeface="+mn-ea"/>
              </a:rPr>
              <a:t>机器视觉新运用、自动驾</a:t>
            </a:r>
            <a:r>
              <a:rPr lang="zh-CN" altLang="zh-CN" sz="1400" dirty="0" smtClean="0">
                <a:solidFill>
                  <a:srgbClr val="FF0000"/>
                </a:solidFill>
                <a:sym typeface="+mn-ea"/>
              </a:rPr>
              <a:t>驶</a:t>
            </a:r>
            <a:r>
              <a:rPr lang="zh-CN" altLang="en-US" sz="1400" dirty="0" smtClean="0">
                <a:solidFill>
                  <a:srgbClr val="FF0000"/>
                </a:solidFill>
                <a:sym typeface="+mn-ea"/>
              </a:rPr>
              <a:t>、</a:t>
            </a:r>
            <a:r>
              <a:rPr lang="en-US" altLang="zh-CN" sz="1400" dirty="0" err="1" smtClean="0">
                <a:solidFill>
                  <a:srgbClr val="FF0000"/>
                </a:solidFill>
                <a:sym typeface="+mn-ea"/>
              </a:rPr>
              <a:t>三维建模云系统</a:t>
            </a:r>
            <a:r>
              <a:rPr lang="zh-CN" altLang="en-US" sz="1400" dirty="0" smtClean="0">
                <a:solidFill>
                  <a:schemeClr val="tx1"/>
                </a:solidFill>
              </a:rPr>
              <a:t>等</a:t>
            </a:r>
            <a:r>
              <a:rPr lang="zh-CN" altLang="en-US" sz="1400" dirty="0">
                <a:solidFill>
                  <a:schemeClr val="tx1"/>
                </a:solidFill>
              </a:rPr>
              <a:t>项目上取得实际运用。</a:t>
            </a:r>
            <a:r>
              <a:rPr lang="en-US" altLang="zh-CN" sz="1400" dirty="0">
                <a:solidFill>
                  <a:schemeClr val="tx1"/>
                </a:solidFill>
              </a:rPr>
              <a:t>     </a:t>
            </a:r>
            <a:endParaRPr lang="en-US" altLang="zh-CN" sz="1400" dirty="0">
              <a:solidFill>
                <a:schemeClr val="tx1"/>
              </a:solidFill>
            </a:endParaRPr>
          </a:p>
          <a:p>
            <a:pPr>
              <a:lnSpc>
                <a:spcPct val="130000"/>
              </a:lnSpc>
            </a:pPr>
            <a:r>
              <a:rPr lang="en-US" altLang="zh-CN" sz="1400" dirty="0">
                <a:solidFill>
                  <a:schemeClr val="tx1"/>
                </a:solidFill>
              </a:rPr>
              <a:t>       2025</a:t>
            </a:r>
            <a:r>
              <a:rPr lang="zh-CN" altLang="en-US" sz="1400" dirty="0">
                <a:solidFill>
                  <a:schemeClr val="tx1"/>
                </a:solidFill>
              </a:rPr>
              <a:t>年，团队在六合区创业大赛中获得二等奖，并和当地经开区签约，作为重点引进推广项目。 </a:t>
            </a:r>
            <a:endParaRPr lang="zh-CN" altLang="en-US" sz="1400" dirty="0">
              <a:solidFill>
                <a:schemeClr val="tx1"/>
              </a:solidFill>
            </a:endParaRPr>
          </a:p>
          <a:p>
            <a:pPr>
              <a:lnSpc>
                <a:spcPct val="130000"/>
              </a:lnSpc>
            </a:pPr>
            <a:r>
              <a:rPr lang="zh-CN" altLang="en-US" sz="1400" dirty="0">
                <a:solidFill>
                  <a:schemeClr val="tx1"/>
                </a:solidFill>
              </a:rPr>
              <a:t>         </a:t>
            </a:r>
            <a:r>
              <a:rPr lang="zh-CN" altLang="en-US" sz="1600" dirty="0">
                <a:solidFill>
                  <a:schemeClr val="tx1"/>
                </a:solidFill>
              </a:rPr>
              <a:t>                                           </a:t>
            </a:r>
            <a:endParaRPr lang="zh-CN" altLang="en-US" sz="1600" dirty="0">
              <a:solidFill>
                <a:schemeClr val="tx1"/>
              </a:solidFill>
              <a:sym typeface="思源黑体 Bold" panose="02010600030101010101" charset="-122"/>
            </a:endParaRPr>
          </a:p>
        </p:txBody>
      </p:sp>
      <p:pic>
        <p:nvPicPr>
          <p:cNvPr id="9" name="图片 8"/>
          <p:cNvPicPr>
            <a:picLocks noChangeAspect="1"/>
          </p:cNvPicPr>
          <p:nvPr/>
        </p:nvPicPr>
        <p:blipFill>
          <a:blip r:embed="rId1" cstate="print"/>
          <a:stretch>
            <a:fillRect/>
          </a:stretch>
        </p:blipFill>
        <p:spPr>
          <a:xfrm>
            <a:off x="5290185" y="989330"/>
            <a:ext cx="3398520" cy="2266315"/>
          </a:xfrm>
          <a:prstGeom prst="rect">
            <a:avLst/>
          </a:prstGeom>
        </p:spPr>
      </p:pic>
      <p:pic>
        <p:nvPicPr>
          <p:cNvPr id="12" name="图片 11"/>
          <p:cNvPicPr>
            <a:picLocks noChangeAspect="1"/>
          </p:cNvPicPr>
          <p:nvPr/>
        </p:nvPicPr>
        <p:blipFill>
          <a:blip r:embed="rId2" cstate="print"/>
          <a:stretch>
            <a:fillRect/>
          </a:stretch>
        </p:blipFill>
        <p:spPr>
          <a:xfrm>
            <a:off x="5290185" y="3255645"/>
            <a:ext cx="1698625" cy="1562735"/>
          </a:xfrm>
          <a:prstGeom prst="rect">
            <a:avLst/>
          </a:prstGeom>
        </p:spPr>
      </p:pic>
      <p:pic>
        <p:nvPicPr>
          <p:cNvPr id="13" name="图片 12"/>
          <p:cNvPicPr>
            <a:picLocks noChangeAspect="1"/>
          </p:cNvPicPr>
          <p:nvPr/>
        </p:nvPicPr>
        <p:blipFill>
          <a:blip r:embed="rId3" cstate="print"/>
          <a:stretch>
            <a:fillRect/>
          </a:stretch>
        </p:blipFill>
        <p:spPr>
          <a:xfrm>
            <a:off x="7248525" y="3432175"/>
            <a:ext cx="1440180" cy="1313815"/>
          </a:xfrm>
          <a:prstGeom prst="rect">
            <a:avLst/>
          </a:prstGeom>
        </p:spPr>
      </p:pic>
      <p:cxnSp>
        <p:nvCxnSpPr>
          <p:cNvPr id="5" name="直接连接符 4"/>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276470" y="56261"/>
            <a:ext cx="7886700" cy="633095"/>
          </a:xfrm>
        </p:spPr>
        <p:txBody>
          <a:bodyPr/>
          <a:lstStyle/>
          <a:p>
            <a:pPr algn="l">
              <a:lnSpc>
                <a:spcPct val="100000"/>
              </a:lnSpc>
              <a:buClrTx/>
              <a:buSzTx/>
              <a:buFontTx/>
            </a:pPr>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mn-cs"/>
              </a:rPr>
              <a:t>1.</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mn-cs"/>
              </a:rPr>
              <a:t>公司简介</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104140" y="831215"/>
            <a:ext cx="5323840" cy="1495425"/>
          </a:xfrm>
          <a:prstGeom prst="rect">
            <a:avLst/>
          </a:prstGeom>
          <a:noFill/>
        </p:spPr>
        <p:txBody>
          <a:bodyPr wrap="square" rtlCol="0" anchor="t">
            <a:noAutofit/>
          </a:bodyPr>
          <a:lstStyle/>
          <a:p>
            <a:pPr marL="0" lvl="0">
              <a:lnSpc>
                <a:spcPct val="150000"/>
              </a:lnSpc>
              <a:spcBef>
                <a:spcPct val="0"/>
              </a:spcBef>
              <a:spcAft>
                <a:spcPct val="0"/>
              </a:spcAft>
            </a:pPr>
            <a:r>
              <a:rPr lang="en-US" altLang="zh-CN" sz="1200" dirty="0">
                <a:latin typeface="微软雅黑" panose="020B0503020204020204" pitchFamily="34" charset="-122"/>
                <a:ea typeface="微软雅黑" panose="020B0503020204020204" pitchFamily="34" charset="-122"/>
                <a:sym typeface="+mn-ea"/>
              </a:rPr>
              <a:t>       </a:t>
            </a:r>
            <a:r>
              <a:rPr lang="zh-CN" altLang="en-US" sz="1300" b="1" dirty="0">
                <a:latin typeface="微软雅黑" panose="020B0503020204020204" pitchFamily="34" charset="-122"/>
                <a:ea typeface="微软雅黑" panose="020B0503020204020204" pitchFamily="34" charset="-122"/>
                <a:sym typeface="+mn-ea"/>
              </a:rPr>
              <a:t>南京深眸智算科技有</a:t>
            </a:r>
            <a:r>
              <a:rPr lang="zh-CN" altLang="en-US" sz="1300" b="1" dirty="0">
                <a:solidFill>
                  <a:schemeClr val="tx1"/>
                </a:solidFill>
                <a:latin typeface="微软雅黑" panose="020B0503020204020204" pitchFamily="34" charset="-122"/>
                <a:ea typeface="微软雅黑" panose="020B0503020204020204" pitchFamily="34" charset="-122"/>
                <a:sym typeface="+mn-ea"/>
              </a:rPr>
              <a:t>限公司</a:t>
            </a:r>
            <a:r>
              <a:rPr lang="zh-CN" altLang="en-US" sz="1300" b="1" dirty="0">
                <a:solidFill>
                  <a:srgbClr val="FF0000"/>
                </a:solidFill>
                <a:latin typeface="微软雅黑" panose="020B0503020204020204" pitchFamily="34" charset="-122"/>
                <a:ea typeface="微软雅黑" panose="020B0503020204020204" pitchFamily="34" charset="-122"/>
                <a:sym typeface="+mn-ea"/>
              </a:rPr>
              <a:t>202</a:t>
            </a:r>
            <a:r>
              <a:rPr lang="en-US" altLang="zh-CN" sz="1300" b="1" dirty="0">
                <a:solidFill>
                  <a:srgbClr val="FF0000"/>
                </a:solidFill>
                <a:latin typeface="微软雅黑" panose="020B0503020204020204" pitchFamily="34" charset="-122"/>
                <a:ea typeface="微软雅黑" panose="020B0503020204020204" pitchFamily="34" charset="-122"/>
                <a:sym typeface="+mn-ea"/>
              </a:rPr>
              <a:t>6</a:t>
            </a:r>
            <a:r>
              <a:rPr lang="zh-CN" altLang="en-US" sz="1300" b="1" dirty="0">
                <a:solidFill>
                  <a:srgbClr val="FF0000"/>
                </a:solidFill>
                <a:latin typeface="微软雅黑" panose="020B0503020204020204" pitchFamily="34" charset="-122"/>
                <a:ea typeface="微软雅黑" panose="020B0503020204020204" pitchFamily="34" charset="-122"/>
                <a:sym typeface="+mn-ea"/>
              </a:rPr>
              <a:t>年</a:t>
            </a:r>
            <a:r>
              <a:rPr lang="en-US" altLang="zh-CN" sz="1300" b="1" dirty="0">
                <a:solidFill>
                  <a:srgbClr val="FF0000"/>
                </a:solidFill>
                <a:latin typeface="微软雅黑" panose="020B0503020204020204" pitchFamily="34" charset="-122"/>
                <a:ea typeface="微软雅黑" panose="020B0503020204020204" pitchFamily="34" charset="-122"/>
                <a:sym typeface="+mn-ea"/>
              </a:rPr>
              <a:t>3</a:t>
            </a:r>
            <a:r>
              <a:rPr lang="zh-CN" altLang="en-US" sz="1300" b="1" dirty="0">
                <a:solidFill>
                  <a:srgbClr val="FF0000"/>
                </a:solidFill>
                <a:latin typeface="微软雅黑" panose="020B0503020204020204" pitchFamily="34" charset="-122"/>
                <a:ea typeface="微软雅黑" panose="020B0503020204020204" pitchFamily="34" charset="-122"/>
                <a:sym typeface="+mn-ea"/>
              </a:rPr>
              <a:t>月落地六合经济开发区，注册资本金</a:t>
            </a:r>
            <a:r>
              <a:rPr lang="en-US" altLang="zh-CN" sz="1300" b="1" dirty="0">
                <a:solidFill>
                  <a:srgbClr val="FF0000"/>
                </a:solidFill>
                <a:latin typeface="微软雅黑" panose="020B0503020204020204" pitchFamily="34" charset="-122"/>
                <a:ea typeface="微软雅黑" panose="020B0503020204020204" pitchFamily="34" charset="-122"/>
                <a:sym typeface="+mn-ea"/>
              </a:rPr>
              <a:t>500</a:t>
            </a:r>
            <a:r>
              <a:rPr lang="zh-CN" altLang="en-US" sz="1300" b="1" dirty="0">
                <a:solidFill>
                  <a:srgbClr val="FF0000"/>
                </a:solidFill>
                <a:latin typeface="微软雅黑" panose="020B0503020204020204" pitchFamily="34" charset="-122"/>
                <a:ea typeface="微软雅黑" panose="020B0503020204020204" pitchFamily="34" charset="-122"/>
                <a:sym typeface="+mn-ea"/>
              </a:rPr>
              <a:t>万元</a:t>
            </a:r>
            <a:r>
              <a:rPr lang="zh-CN" altLang="en-US" sz="1300" b="1" dirty="0">
                <a:latin typeface="微软雅黑" panose="020B0503020204020204" pitchFamily="34" charset="-122"/>
                <a:ea typeface="微软雅黑" panose="020B0503020204020204" pitchFamily="34" charset="-122"/>
                <a:sym typeface="+mn-ea"/>
              </a:rPr>
              <a:t>，前期规划建设1200㎡场地，其中包括办公室300 ㎡ 、机器视觉科研实验室200 ㎡ 、研发平台600 ㎡ 、产品展览厅100 ㎡等。</a:t>
            </a:r>
            <a:endParaRPr lang="zh-CN" altLang="en-US" sz="1300" b="1" dirty="0">
              <a:latin typeface="微软雅黑" panose="020B0503020204020204" pitchFamily="34" charset="-122"/>
              <a:ea typeface="微软雅黑" panose="020B0503020204020204" pitchFamily="34" charset="-122"/>
              <a:sym typeface="+mn-ea"/>
            </a:endParaRPr>
          </a:p>
          <a:p>
            <a:pPr marL="0" lvl="0">
              <a:lnSpc>
                <a:spcPct val="150000"/>
              </a:lnSpc>
              <a:spcBef>
                <a:spcPct val="0"/>
              </a:spcBef>
              <a:spcAft>
                <a:spcPct val="0"/>
              </a:spcAft>
            </a:pPr>
            <a:r>
              <a:rPr lang="en-US" altLang="zh-CN" sz="1300" b="1" dirty="0">
                <a:latin typeface="微软雅黑" panose="020B0503020204020204" pitchFamily="34" charset="-122"/>
                <a:ea typeface="微软雅黑" panose="020B0503020204020204" pitchFamily="34" charset="-122"/>
                <a:sym typeface="+mn-ea"/>
              </a:rPr>
              <a:t>      </a:t>
            </a:r>
            <a:r>
              <a:rPr lang="zh-CN" altLang="en-US" sz="1300" b="1" dirty="0">
                <a:latin typeface="微软雅黑" panose="020B0503020204020204" pitchFamily="34" charset="-122"/>
                <a:ea typeface="微软雅黑" panose="020B0503020204020204" pitchFamily="34" charset="-122"/>
                <a:sym typeface="+mn-ea"/>
              </a:rPr>
              <a:t>在未来五年内，依托已有的技术积累和产品化基础，持续深化基于</a:t>
            </a:r>
            <a:r>
              <a:rPr lang="en-US" altLang="zh-CN" sz="1300" b="1" dirty="0">
                <a:latin typeface="微软雅黑" panose="020B0503020204020204" pitchFamily="34" charset="-122"/>
                <a:ea typeface="微软雅黑" panose="020B0503020204020204" pitchFamily="34" charset="-122"/>
                <a:sym typeface="+mn-ea"/>
              </a:rPr>
              <a:t>CV</a:t>
            </a:r>
            <a:r>
              <a:rPr lang="zh-CN" altLang="en-US" sz="1300" b="1" dirty="0">
                <a:latin typeface="微软雅黑" panose="020B0503020204020204" pitchFamily="34" charset="-122"/>
                <a:ea typeface="微软雅黑" panose="020B0503020204020204" pitchFamily="34" charset="-122"/>
                <a:sym typeface="+mn-ea"/>
              </a:rPr>
              <a:t>大模型的视觉感知再现核心技术研发与产业化应用。</a:t>
            </a:r>
            <a:r>
              <a:rPr lang="en-US" altLang="zh-CN" sz="1300" b="1" dirty="0">
                <a:latin typeface="微软雅黑" panose="020B0503020204020204" pitchFamily="34" charset="-122"/>
                <a:ea typeface="微软雅黑" panose="020B0503020204020204" pitchFamily="34" charset="-122"/>
                <a:sym typeface="+mn-ea"/>
              </a:rPr>
              <a:t>1-2</a:t>
            </a:r>
            <a:r>
              <a:rPr lang="zh-CN" altLang="en-US" sz="1300" b="1" dirty="0">
                <a:latin typeface="微软雅黑" panose="020B0503020204020204" pitchFamily="34" charset="-122"/>
                <a:ea typeface="微软雅黑" panose="020B0503020204020204" pitchFamily="34" charset="-122"/>
                <a:sym typeface="+mn-ea"/>
              </a:rPr>
              <a:t>年完成核心模块标准化与示范扩面，完善专利</a:t>
            </a:r>
            <a:r>
              <a:rPr lang="en-US" altLang="zh-CN" sz="1300" b="1" dirty="0">
                <a:latin typeface="微软雅黑" panose="020B0503020204020204" pitchFamily="34" charset="-122"/>
                <a:ea typeface="微软雅黑" panose="020B0503020204020204" pitchFamily="34" charset="-122"/>
                <a:sym typeface="+mn-ea"/>
              </a:rPr>
              <a:t>/</a:t>
            </a:r>
            <a:r>
              <a:rPr lang="zh-CN" altLang="en-US" sz="1300" b="1" dirty="0">
                <a:latin typeface="微软雅黑" panose="020B0503020204020204" pitchFamily="34" charset="-122"/>
                <a:ea typeface="微软雅黑" panose="020B0503020204020204" pitchFamily="34" charset="-122"/>
                <a:sym typeface="+mn-ea"/>
              </a:rPr>
              <a:t>软著布局与测试评估体系，实现核心算法在更多复杂交通场景下的适应性优化，初步建立品牌影响力。</a:t>
            </a:r>
            <a:r>
              <a:rPr lang="en-US" altLang="zh-CN" sz="1300" b="1" dirty="0">
                <a:latin typeface="微软雅黑" panose="020B0503020204020204" pitchFamily="34" charset="-122"/>
                <a:ea typeface="微软雅黑" panose="020B0503020204020204" pitchFamily="34" charset="-122"/>
                <a:sym typeface="+mn-ea"/>
              </a:rPr>
              <a:t>3-4</a:t>
            </a:r>
            <a:r>
              <a:rPr lang="zh-CN" altLang="en-US" sz="1300" b="1" dirty="0">
                <a:latin typeface="微软雅黑" panose="020B0503020204020204" pitchFamily="34" charset="-122"/>
                <a:ea typeface="微软雅黑" panose="020B0503020204020204" pitchFamily="34" charset="-122"/>
                <a:sym typeface="+mn-ea"/>
              </a:rPr>
              <a:t>年重点复制工业检测、卡口计量、场景安全监测、车辆健康检测等成熟产品，推进</a:t>
            </a:r>
            <a:r>
              <a:rPr lang="en-US" altLang="zh-CN" sz="1300" b="1" dirty="0">
                <a:latin typeface="微软雅黑" panose="020B0503020204020204" pitchFamily="34" charset="-122"/>
                <a:ea typeface="微软雅黑" panose="020B0503020204020204" pitchFamily="34" charset="-122"/>
                <a:sym typeface="+mn-ea"/>
              </a:rPr>
              <a:t>SaaS</a:t>
            </a:r>
            <a:r>
              <a:rPr lang="zh-CN" altLang="en-US" sz="1300" b="1" dirty="0">
                <a:latin typeface="微软雅黑" panose="020B0503020204020204" pitchFamily="34" charset="-122"/>
                <a:ea typeface="微软雅黑" panose="020B0503020204020204" pitchFamily="34" charset="-122"/>
                <a:sym typeface="+mn-ea"/>
              </a:rPr>
              <a:t>订阅与</a:t>
            </a:r>
            <a:r>
              <a:rPr lang="en-US" altLang="zh-CN" sz="1300" b="1" dirty="0">
                <a:latin typeface="微软雅黑" panose="020B0503020204020204" pitchFamily="34" charset="-122"/>
                <a:ea typeface="微软雅黑" panose="020B0503020204020204" pitchFamily="34" charset="-122"/>
                <a:sym typeface="+mn-ea"/>
              </a:rPr>
              <a:t>API</a:t>
            </a:r>
            <a:r>
              <a:rPr lang="zh-CN" altLang="en-US" sz="1300" b="1" dirty="0">
                <a:latin typeface="微软雅黑" panose="020B0503020204020204" pitchFamily="34" charset="-122"/>
                <a:ea typeface="微软雅黑" panose="020B0503020204020204" pitchFamily="34" charset="-122"/>
                <a:sym typeface="+mn-ea"/>
              </a:rPr>
              <a:t>服务，力争实现营收的快速增长。第</a:t>
            </a:r>
            <a:r>
              <a:rPr lang="en-US" altLang="zh-CN" sz="1300" b="1" dirty="0">
                <a:latin typeface="微软雅黑" panose="020B0503020204020204" pitchFamily="34" charset="-122"/>
                <a:ea typeface="微软雅黑" panose="020B0503020204020204" pitchFamily="34" charset="-122"/>
                <a:sym typeface="+mn-ea"/>
              </a:rPr>
              <a:t>5</a:t>
            </a:r>
            <a:r>
              <a:rPr lang="zh-CN" altLang="en-US" sz="1300" b="1" dirty="0">
                <a:latin typeface="微软雅黑" panose="020B0503020204020204" pitchFamily="34" charset="-122"/>
                <a:ea typeface="微软雅黑" panose="020B0503020204020204" pitchFamily="34" charset="-122"/>
                <a:sym typeface="+mn-ea"/>
              </a:rPr>
              <a:t>年形成</a:t>
            </a:r>
            <a:r>
              <a:rPr lang="en-US" altLang="zh-CN" sz="1300" b="1" dirty="0">
                <a:latin typeface="微软雅黑" panose="020B0503020204020204" pitchFamily="34" charset="-122"/>
                <a:ea typeface="微软雅黑" panose="020B0503020204020204" pitchFamily="34" charset="-122"/>
                <a:sym typeface="+mn-ea"/>
              </a:rPr>
              <a:t>“</a:t>
            </a:r>
            <a:r>
              <a:rPr lang="zh-CN" altLang="en-US" sz="1300" b="1" dirty="0">
                <a:latin typeface="微软雅黑" panose="020B0503020204020204" pitchFamily="34" charset="-122"/>
                <a:ea typeface="微软雅黑" panose="020B0503020204020204" pitchFamily="34" charset="-122"/>
                <a:sym typeface="+mn-ea"/>
              </a:rPr>
              <a:t>视觉感知</a:t>
            </a:r>
            <a:r>
              <a:rPr lang="en-US" altLang="zh-CN" sz="1300" b="1" dirty="0">
                <a:latin typeface="微软雅黑" panose="020B0503020204020204" pitchFamily="34" charset="-122"/>
                <a:ea typeface="微软雅黑" panose="020B0503020204020204" pitchFamily="34" charset="-122"/>
                <a:sym typeface="+mn-ea"/>
              </a:rPr>
              <a:t>—</a:t>
            </a:r>
            <a:r>
              <a:rPr lang="zh-CN" altLang="en-US" sz="1300" b="1" dirty="0">
                <a:latin typeface="微软雅黑" panose="020B0503020204020204" pitchFamily="34" charset="-122"/>
                <a:ea typeface="微软雅黑" panose="020B0503020204020204" pitchFamily="34" charset="-122"/>
                <a:sym typeface="+mn-ea"/>
              </a:rPr>
              <a:t>再现</a:t>
            </a:r>
            <a:r>
              <a:rPr lang="en-US" altLang="zh-CN" sz="1300" b="1" dirty="0">
                <a:latin typeface="微软雅黑" panose="020B0503020204020204" pitchFamily="34" charset="-122"/>
                <a:ea typeface="微软雅黑" panose="020B0503020204020204" pitchFamily="34" charset="-122"/>
                <a:sym typeface="+mn-ea"/>
              </a:rPr>
              <a:t>—</a:t>
            </a:r>
            <a:r>
              <a:rPr lang="zh-CN" altLang="en-US" sz="1300" b="1" dirty="0">
                <a:latin typeface="微软雅黑" panose="020B0503020204020204" pitchFamily="34" charset="-122"/>
                <a:ea typeface="微软雅黑" panose="020B0503020204020204" pitchFamily="34" charset="-122"/>
                <a:sym typeface="+mn-ea"/>
              </a:rPr>
              <a:t>数据服务</a:t>
            </a:r>
            <a:r>
              <a:rPr lang="en-US" altLang="zh-CN" sz="1300" b="1" dirty="0">
                <a:latin typeface="微软雅黑" panose="020B0503020204020204" pitchFamily="34" charset="-122"/>
                <a:ea typeface="微软雅黑" panose="020B0503020204020204" pitchFamily="34" charset="-122"/>
                <a:sym typeface="+mn-ea"/>
              </a:rPr>
              <a:t>”</a:t>
            </a:r>
            <a:r>
              <a:rPr lang="zh-CN" altLang="en-US" sz="1300" b="1" dirty="0">
                <a:latin typeface="微软雅黑" panose="020B0503020204020204" pitchFamily="34" charset="-122"/>
                <a:ea typeface="微软雅黑" panose="020B0503020204020204" pitchFamily="34" charset="-122"/>
                <a:sym typeface="+mn-ea"/>
              </a:rPr>
              <a:t>平台与模型库，支撑更大范围产业化落地与生态合作，探索与上下游企业的战略合作，构建产业生态，并开拓国外市场，</a:t>
            </a:r>
            <a:r>
              <a:rPr lang="zh-CN" altLang="en-US" sz="1300" b="1" dirty="0">
                <a:solidFill>
                  <a:srgbClr val="FF0000"/>
                </a:solidFill>
                <a:latin typeface="微软雅黑" panose="020B0503020204020204" pitchFamily="34" charset="-122"/>
                <a:ea typeface="微软雅黑" panose="020B0503020204020204" pitchFamily="34" charset="-122"/>
                <a:sym typeface="+mn-ea"/>
              </a:rPr>
              <a:t>成为基于</a:t>
            </a:r>
            <a:r>
              <a:rPr lang="en-US" altLang="zh-CN" sz="1300" b="1" dirty="0">
                <a:solidFill>
                  <a:srgbClr val="FF0000"/>
                </a:solidFill>
                <a:latin typeface="微软雅黑" panose="020B0503020204020204" pitchFamily="34" charset="-122"/>
                <a:ea typeface="微软雅黑" panose="020B0503020204020204" pitchFamily="34" charset="-122"/>
                <a:sym typeface="+mn-ea"/>
              </a:rPr>
              <a:t>CV</a:t>
            </a:r>
            <a:r>
              <a:rPr lang="zh-CN" altLang="en-US" sz="1300" b="1" dirty="0">
                <a:solidFill>
                  <a:srgbClr val="FF0000"/>
                </a:solidFill>
                <a:latin typeface="微软雅黑" panose="020B0503020204020204" pitchFamily="34" charset="-122"/>
                <a:ea typeface="微软雅黑" panose="020B0503020204020204" pitchFamily="34" charset="-122"/>
                <a:sym typeface="+mn-ea"/>
              </a:rPr>
              <a:t>大模型的视觉感知再现新技术的成长型企业。</a:t>
            </a:r>
            <a:endParaRPr lang="zh-CN" altLang="en-US" sz="1300" b="1" dirty="0">
              <a:solidFill>
                <a:srgbClr val="FF0000"/>
              </a:solidFill>
              <a:latin typeface="微软雅黑" panose="020B0503020204020204" pitchFamily="34" charset="-122"/>
              <a:ea typeface="微软雅黑" panose="020B0503020204020204" pitchFamily="34" charset="-122"/>
              <a:sym typeface="+mn-ea"/>
            </a:endParaRPr>
          </a:p>
        </p:txBody>
      </p:sp>
      <p:pic>
        <p:nvPicPr>
          <p:cNvPr id="6" name="图片 5" descr="图标&#10;&#10;AI 生成的内容可能不正确。"/>
          <p:cNvPicPr>
            <a:picLocks noChangeAspect="1"/>
          </p:cNvPicPr>
          <p:nvPr/>
        </p:nvPicPr>
        <p:blipFill>
          <a:blip r:embed="rId2" cstate="print"/>
          <a:stretch>
            <a:fillRect/>
          </a:stretch>
        </p:blipFill>
        <p:spPr>
          <a:xfrm>
            <a:off x="0" y="-11625"/>
            <a:ext cx="331373" cy="557090"/>
          </a:xfrm>
          <a:prstGeom prst="rect">
            <a:avLst/>
          </a:prstGeom>
        </p:spPr>
      </p:pic>
      <p:cxnSp>
        <p:nvCxnSpPr>
          <p:cNvPr id="5" name="直接连接符 4"/>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nvPicPr>
        <p:blipFill>
          <a:blip r:embed="rId3" cstate="print"/>
          <a:stretch>
            <a:fillRect/>
          </a:stretch>
        </p:blipFill>
        <p:spPr>
          <a:xfrm>
            <a:off x="5522595" y="1511935"/>
            <a:ext cx="3510915" cy="254571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
          <p:cNvSpPr txBox="1"/>
          <p:nvPr/>
        </p:nvSpPr>
        <p:spPr>
          <a:xfrm>
            <a:off x="181928" y="126842"/>
            <a:ext cx="7600469" cy="540000"/>
          </a:xfrm>
          <a:prstGeom prst="roundRect">
            <a:avLst>
              <a:gd name="adj" fmla="val 0"/>
            </a:avLst>
          </a:prstGeom>
          <a:gradFill>
            <a:gsLst>
              <a:gs pos="0">
                <a:schemeClr val="bg1">
                  <a:alpha val="0"/>
                </a:schemeClr>
              </a:gs>
              <a:gs pos="60000">
                <a:schemeClr val="bg1"/>
              </a:gs>
            </a:gsLst>
            <a:lin ang="10800000" scaled="0"/>
          </a:gradFill>
          <a:ln w="12700" cap="sq">
            <a:noFill/>
            <a:miter/>
          </a:ln>
          <a:effectLst>
            <a:outerShdw blurRad="165100" sx="102000" sy="102000" algn="ctr" rotWithShape="0">
              <a:srgbClr val="000000">
                <a:alpha val="10000"/>
              </a:srgbClr>
            </a:outerShdw>
          </a:effectLst>
        </p:spPr>
        <p:txBody>
          <a:bodyPr vert="horz" wrap="square" lIns="68580" tIns="34290" rIns="68580" bIns="34290" rtlCol="0" anchor="ctr"/>
          <a:lstStyle/>
          <a:p>
            <a:pPr algn="ctr">
              <a:lnSpc>
                <a:spcPct val="110000"/>
              </a:lnSpc>
            </a:pPr>
            <a:endParaRPr kumimoji="1" lang="zh-CN" altLang="en-US" sz="1350"/>
          </a:p>
        </p:txBody>
      </p:sp>
      <p:sp>
        <p:nvSpPr>
          <p:cNvPr id="17" name="标题 1"/>
          <p:cNvSpPr txBox="1"/>
          <p:nvPr/>
        </p:nvSpPr>
        <p:spPr>
          <a:xfrm>
            <a:off x="182245" y="281940"/>
            <a:ext cx="6779260" cy="323850"/>
          </a:xfrm>
          <a:prstGeom prst="rect">
            <a:avLst/>
          </a:prstGeom>
        </p:spPr>
        <p:txBody>
          <a:bodyPr vert="horz" wrap="square" lIns="0" tIns="0" rIns="0" bIns="0" rtlCol="0" anchor="ctr"/>
          <a:lstStyle/>
          <a:p>
            <a:pPr algn="l">
              <a:lnSpc>
                <a:spcPct val="110000"/>
              </a:lnSpc>
            </a:pPr>
            <a:r>
              <a:rPr lang="en-US" altLang="zh-CN"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2.</a:t>
            </a:r>
            <a:r>
              <a:rPr lang="zh-CN" altLang="en-US"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首席</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科学家</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endParaRPr>
          </a:p>
        </p:txBody>
      </p:sp>
      <p:sp>
        <p:nvSpPr>
          <p:cNvPr id="21" name="文本框 20"/>
          <p:cNvSpPr txBox="1"/>
          <p:nvPr/>
        </p:nvSpPr>
        <p:spPr>
          <a:xfrm>
            <a:off x="182245" y="3107690"/>
            <a:ext cx="1909445" cy="1057275"/>
          </a:xfrm>
          <a:prstGeom prst="rect">
            <a:avLst/>
          </a:prstGeom>
        </p:spPr>
        <p:txBody>
          <a:bodyPr wrap="none" rtlCol="0">
            <a:noAutofit/>
          </a:bodyPr>
          <a:lstStyle/>
          <a:p>
            <a:pPr algn="ctr">
              <a:lnSpc>
                <a:spcPct val="200000"/>
              </a:lnSpc>
              <a:spcBef>
                <a:spcPts val="0"/>
              </a:spcBef>
              <a:spcAft>
                <a:spcPts val="0"/>
              </a:spcAft>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徐鹏</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博士</a:t>
            </a:r>
            <a:endParaRPr lang="en-US" altLang="zh-CN" sz="600" b="1" dirty="0">
              <a:solidFill>
                <a:srgbClr val="00447C"/>
              </a:solidFill>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200000"/>
              </a:lnSpc>
              <a:spcBef>
                <a:spcPts val="0"/>
              </a:spcBef>
              <a:spcAft>
                <a:spcPts val="0"/>
              </a:spcAft>
            </a:pPr>
            <a:r>
              <a:rPr lang="zh-CN" altLang="en-US" sz="1200" b="1" dirty="0">
                <a:solidFill>
                  <a:srgbClr val="00447C"/>
                </a:solidFill>
                <a:latin typeface="微软雅黑" panose="020B0503020204020204" pitchFamily="34" charset="-122"/>
                <a:ea typeface="微软雅黑" panose="020B0503020204020204" pitchFamily="34" charset="-122"/>
              </a:rPr>
              <a:t>创始人及董事长</a:t>
            </a:r>
            <a:endParaRPr lang="en-US" altLang="zh-CN" sz="1200" b="1" dirty="0">
              <a:solidFill>
                <a:srgbClr val="00447C"/>
              </a:solidFill>
              <a:latin typeface="微软雅黑" panose="020B0503020204020204" pitchFamily="34" charset="-122"/>
              <a:ea typeface="微软雅黑" panose="020B0503020204020204" pitchFamily="34" charset="-122"/>
            </a:endParaRPr>
          </a:p>
        </p:txBody>
      </p:sp>
      <p:sp>
        <p:nvSpPr>
          <p:cNvPr id="42" name="任意多边形: 形状 41"/>
          <p:cNvSpPr/>
          <p:nvPr/>
        </p:nvSpPr>
        <p:spPr>
          <a:xfrm>
            <a:off x="2573655" y="1246505"/>
            <a:ext cx="6182995" cy="1120140"/>
          </a:xfrm>
          <a:custGeom>
            <a:avLst/>
            <a:gdLst/>
            <a:ahLst/>
            <a:cxnLst/>
            <a:rect l="0" t="0" r="0" b="0"/>
            <a:pathLst>
              <a:path w="10747613" h="1774467">
                <a:moveTo>
                  <a:pt x="2702257" y="0"/>
                </a:moveTo>
                <a:lnTo>
                  <a:pt x="10620612" y="0"/>
                </a:lnTo>
                <a:cubicBezTo>
                  <a:pt x="10690716" y="0"/>
                  <a:pt x="10747612" y="56896"/>
                  <a:pt x="10747612" y="127000"/>
                </a:cubicBezTo>
                <a:lnTo>
                  <a:pt x="10747612" y="1647466"/>
                </a:lnTo>
                <a:cubicBezTo>
                  <a:pt x="10747612" y="1717570"/>
                  <a:pt x="10690716" y="1774466"/>
                  <a:pt x="10620612" y="1774466"/>
                </a:cubicBezTo>
                <a:lnTo>
                  <a:pt x="0" y="1774466"/>
                </a:lnTo>
              </a:path>
            </a:pathLst>
          </a:custGeom>
          <a:noFill/>
          <a:ln w="9525">
            <a:solidFill>
              <a:schemeClr val="accent1">
                <a:lumMod val="75000"/>
              </a:schemeClr>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24" name="任意多边形: 形状 41"/>
          <p:cNvSpPr/>
          <p:nvPr/>
        </p:nvSpPr>
        <p:spPr>
          <a:xfrm>
            <a:off x="2441575" y="2945130"/>
            <a:ext cx="6315710" cy="1428750"/>
          </a:xfrm>
          <a:custGeom>
            <a:avLst/>
            <a:gdLst/>
            <a:ahLst/>
            <a:cxnLst/>
            <a:rect l="0" t="0" r="0" b="0"/>
            <a:pathLst>
              <a:path w="10747613" h="1774467">
                <a:moveTo>
                  <a:pt x="2702257" y="0"/>
                </a:moveTo>
                <a:lnTo>
                  <a:pt x="10620612" y="0"/>
                </a:lnTo>
                <a:cubicBezTo>
                  <a:pt x="10690716" y="0"/>
                  <a:pt x="10747612" y="56896"/>
                  <a:pt x="10747612" y="127000"/>
                </a:cubicBezTo>
                <a:lnTo>
                  <a:pt x="10747612" y="1647466"/>
                </a:lnTo>
                <a:cubicBezTo>
                  <a:pt x="10747612" y="1717570"/>
                  <a:pt x="10690716" y="1774466"/>
                  <a:pt x="10620612" y="1774466"/>
                </a:cubicBezTo>
                <a:lnTo>
                  <a:pt x="0" y="1774466"/>
                </a:lnTo>
              </a:path>
            </a:pathLst>
          </a:custGeom>
          <a:noFill/>
          <a:ln w="9525">
            <a:solidFill>
              <a:schemeClr val="accent1">
                <a:lumMod val="75000"/>
              </a:schemeClr>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latin typeface="汉仪旗黑-55简" panose="00020600040101010101" pitchFamily="18" charset="-122"/>
              <a:ea typeface="汉仪旗黑-55简" panose="00020600040101010101" pitchFamily="18" charset="-122"/>
              <a:sym typeface="汉仪旗黑-55简" panose="00020600040101010101" pitchFamily="18" charset="-122"/>
            </a:endParaRPr>
          </a:p>
        </p:txBody>
      </p:sp>
      <p:sp>
        <p:nvSpPr>
          <p:cNvPr id="40" name="文本框 39"/>
          <p:cNvSpPr txBox="1">
            <a:spLocks noChangeArrowheads="1"/>
          </p:cNvSpPr>
          <p:nvPr>
            <p:custDataLst>
              <p:tags r:id="rId1"/>
            </p:custDataLst>
          </p:nvPr>
        </p:nvSpPr>
        <p:spPr bwMode="auto">
          <a:xfrm>
            <a:off x="2519998" y="898525"/>
            <a:ext cx="1384300" cy="356552"/>
          </a:xfrm>
          <a:prstGeom prst="rect">
            <a:avLst/>
          </a:prstGeom>
          <a:solidFill>
            <a:srgbClr val="5765C9"/>
          </a:solidFill>
          <a:ln>
            <a:noFill/>
          </a:ln>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spcAft>
                <a:spcPts val="200"/>
              </a:spcAft>
              <a:buFontTx/>
              <a:buNone/>
            </a:pPr>
            <a:r>
              <a:rPr lang="zh-CN" altLang="en-US" sz="2000" b="1" dirty="0">
                <a:solidFill>
                  <a:schemeClr val="bg1"/>
                </a:solidFill>
                <a:latin typeface="微软雅黑" panose="020B0503020204020204" pitchFamily="34" charset="-122"/>
                <a:ea typeface="微软雅黑" panose="020B0503020204020204" pitchFamily="34" charset="-122"/>
              </a:rPr>
              <a:t>学习经历</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7" name="文本框 26"/>
          <p:cNvSpPr txBox="1">
            <a:spLocks noChangeArrowheads="1"/>
          </p:cNvSpPr>
          <p:nvPr>
            <p:custDataLst>
              <p:tags r:id="rId2"/>
            </p:custDataLst>
          </p:nvPr>
        </p:nvSpPr>
        <p:spPr bwMode="auto">
          <a:xfrm>
            <a:off x="2500630" y="2516697"/>
            <a:ext cx="1403985" cy="429101"/>
          </a:xfrm>
          <a:prstGeom prst="rect">
            <a:avLst/>
          </a:prstGeom>
          <a:solidFill>
            <a:srgbClr val="5765C9"/>
          </a:solidFill>
          <a:ln>
            <a:noFill/>
          </a:ln>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spcAft>
                <a:spcPts val="200"/>
              </a:spcAft>
              <a:buFontTx/>
              <a:buNone/>
            </a:pPr>
            <a:r>
              <a:rPr lang="zh-CN" altLang="en-US" sz="2000" b="1" dirty="0">
                <a:solidFill>
                  <a:schemeClr val="bg1"/>
                </a:solidFill>
                <a:latin typeface="微软雅黑" panose="020B0503020204020204" pitchFamily="34" charset="-122"/>
                <a:ea typeface="微软雅黑" panose="020B0503020204020204" pitchFamily="34" charset="-122"/>
              </a:rPr>
              <a:t>工作经历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2519680" y="1255395"/>
            <a:ext cx="5800090" cy="1061720"/>
          </a:xfrm>
          <a:prstGeom prst="rect">
            <a:avLst/>
          </a:prstGeom>
        </p:spPr>
        <p:txBody>
          <a:bodyPr wrap="none" rtlCol="0">
            <a:noAutofit/>
          </a:bodyPr>
          <a:lstStyle/>
          <a:p>
            <a:pPr>
              <a:lnSpc>
                <a:spcPct val="130000"/>
              </a:lnSpc>
            </a:pP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1994.09-1998.06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南京财经大学                </a:t>
            </a:r>
            <a:r>
              <a:rPr lang="zh-CN" altLang="en-US" sz="1200" kern="0" spc="-20" dirty="0">
                <a:solidFill>
                  <a:srgbClr val="262626">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地理信息系统</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本科</a:t>
            </a:r>
            <a:endPar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spcBef>
                <a:spcPts val="0"/>
              </a:spcBef>
              <a:spcAft>
                <a:spcPts val="0"/>
              </a:spcAft>
            </a:pP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1998.09-2001.06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南京师范大学</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sz="1200" kern="0" spc="-20" dirty="0">
                <a:solidFill>
                  <a:srgbClr val="262626">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地理信息系统</a:t>
            </a:r>
            <a:r>
              <a:rPr lang="en-US" sz="1200" kern="0" spc="-20" dirty="0">
                <a:solidFill>
                  <a:srgbClr val="262626">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硕士</a:t>
            </a:r>
            <a:endPar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spcBef>
                <a:spcPts val="0"/>
              </a:spcBef>
              <a:spcAft>
                <a:spcPts val="0"/>
              </a:spcAft>
            </a:pP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2004.03-2009.12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河海大学</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管理科学与工程</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博士</a:t>
            </a:r>
            <a:endPar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spcBef>
                <a:spcPts val="0"/>
              </a:spcBef>
              <a:spcAft>
                <a:spcPts val="0"/>
              </a:spcAft>
            </a:pP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2014.07-2015.07                 </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美国伊州理工</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人工智能</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访问学者</a:t>
            </a:r>
            <a:endPar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9" name="文本框 28"/>
          <p:cNvSpPr txBox="1"/>
          <p:nvPr/>
        </p:nvSpPr>
        <p:spPr>
          <a:xfrm>
            <a:off x="2573655" y="2865120"/>
            <a:ext cx="5800090" cy="1442085"/>
          </a:xfrm>
          <a:prstGeom prst="rect">
            <a:avLst/>
          </a:prstGeom>
        </p:spPr>
        <p:txBody>
          <a:bodyPr wrap="none" rtlCol="0">
            <a:noAutofit/>
          </a:bodyPr>
          <a:lstStyle/>
          <a:p>
            <a:pPr algn="l">
              <a:lnSpc>
                <a:spcPct val="130000"/>
              </a:lnSpc>
              <a:spcBef>
                <a:spcPts val="0"/>
              </a:spcBef>
              <a:spcAft>
                <a:spcPts val="0"/>
              </a:spcAft>
            </a:pP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spcBef>
                <a:spcPts val="0"/>
              </a:spcBef>
              <a:spcAft>
                <a:spcPts val="0"/>
              </a:spcAft>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2001.07-2003.04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东南大学</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教师</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spcBef>
                <a:spcPts val="0"/>
              </a:spcBef>
              <a:spcAft>
                <a:spcPts val="0"/>
              </a:spcAft>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2010.01-2026.03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河海大学</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教授</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spcBef>
                <a:spcPts val="0"/>
              </a:spcBef>
              <a:spcAft>
                <a:spcPts val="0"/>
              </a:spcAft>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2022.02-2025.11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南京冠鹏科技有限公司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技术总监</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spcBef>
                <a:spcPts val="0"/>
              </a:spcBef>
              <a:spcAft>
                <a:spcPts val="0"/>
              </a:spcAft>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2026.03-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至今</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南京深眸智算科技有限公司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董事长</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p:cNvSpPr txBox="1"/>
          <p:nvPr/>
        </p:nvSpPr>
        <p:spPr>
          <a:xfrm>
            <a:off x="322184" y="4596493"/>
            <a:ext cx="8302023" cy="337185"/>
          </a:xfrm>
          <a:prstGeom prst="rect">
            <a:avLst/>
          </a:prstGeom>
          <a:noFill/>
          <a:ln w="12700">
            <a:solidFill>
              <a:schemeClr val="accent3">
                <a:lumMod val="50000"/>
              </a:schemeClr>
            </a:solidFill>
            <a:prstDash val="dash"/>
          </a:ln>
        </p:spPr>
        <p:txBody>
          <a:bodyPr wrap="square" rtlCol="0">
            <a:spAutoFit/>
          </a:bodyPr>
          <a:lstStyle/>
          <a:p>
            <a:pPr algn="ctr"/>
            <a:r>
              <a:rPr sz="1600" b="1" kern="0" spc="90" dirty="0">
                <a:solidFill>
                  <a:srgbClr val="065EA3">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研究方向：</a:t>
            </a:r>
            <a:r>
              <a:rPr sz="1600" b="1" kern="0" spc="-370" dirty="0">
                <a:solidFill>
                  <a:srgbClr val="065EA3">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b="1" kern="0" spc="90" dirty="0">
                <a:solidFill>
                  <a:srgbClr val="065EA3">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智能运输系统（</a:t>
            </a:r>
            <a:r>
              <a:rPr sz="1600" b="1" kern="0" dirty="0">
                <a:solidFill>
                  <a:srgbClr val="065EA3">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ITS</a:t>
            </a:r>
            <a:r>
              <a:rPr sz="1600" b="1" kern="0" spc="90" dirty="0">
                <a:solidFill>
                  <a:srgbClr val="065EA3">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b="1" kern="0" spc="-380" dirty="0">
                <a:solidFill>
                  <a:srgbClr val="065EA3">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b="1" kern="0" spc="90" dirty="0">
                <a:solidFill>
                  <a:srgbClr val="065EA3">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计算机视觉与数字孪生、</a:t>
            </a:r>
            <a:r>
              <a:rPr sz="1600" b="1" kern="0" spc="-390" dirty="0">
                <a:solidFill>
                  <a:srgbClr val="065EA3">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b="1" kern="0" spc="90" dirty="0">
                <a:solidFill>
                  <a:srgbClr val="065EA3">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人工智能与自动驾驶</a:t>
            </a:r>
            <a:endParaRPr lang="zh-CN" altLang="en-US" sz="1600" b="1" kern="1700" spc="200" dirty="0">
              <a:solidFill>
                <a:schemeClr val="accent3">
                  <a:lumMod val="50000"/>
                </a:schemeClr>
              </a:solidFill>
              <a:latin typeface="黑体" panose="02010609060101010101" charset="-122"/>
              <a:ea typeface="黑体" panose="02010609060101010101" charset="-122"/>
            </a:endParaRPr>
          </a:p>
        </p:txBody>
      </p:sp>
      <p:cxnSp>
        <p:nvCxnSpPr>
          <p:cNvPr id="9" name="直接连接符 8"/>
          <p:cNvCxnSpPr/>
          <p:nvPr/>
        </p:nvCxnSpPr>
        <p:spPr>
          <a:xfrm>
            <a:off x="283028" y="714209"/>
            <a:ext cx="8577943"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cstate="print"/>
          <a:stretch>
            <a:fillRect/>
          </a:stretch>
        </p:blipFill>
        <p:spPr>
          <a:xfrm>
            <a:off x="283210" y="988060"/>
            <a:ext cx="1808480" cy="2120265"/>
          </a:xfrm>
          <a:prstGeom prst="rect">
            <a:avLst/>
          </a:prstGeom>
          <a:ln>
            <a:noFill/>
          </a:ln>
          <a:effectLst>
            <a:outerShdw blurRad="292100" dist="139700" dir="2700000" algn="tl" rotWithShape="0">
              <a:srgbClr val="333333">
                <a:alpha val="65000"/>
              </a:srgbClr>
            </a:outerShdw>
          </a:effectLst>
        </p:spPr>
      </p:pic>
      <p:pic>
        <p:nvPicPr>
          <p:cNvPr id="626" name="picture 626"/>
          <p:cNvPicPr>
            <a:picLocks noChangeAspect="1"/>
          </p:cNvPicPr>
          <p:nvPr/>
        </p:nvPicPr>
        <p:blipFill>
          <a:blip r:embed="rId4" cstate="print"/>
          <a:stretch>
            <a:fillRect/>
          </a:stretch>
        </p:blipFill>
        <p:spPr>
          <a:xfrm rot="21600000">
            <a:off x="0" y="120396"/>
            <a:ext cx="286511" cy="480059"/>
          </a:xfrm>
          <a:prstGeom prst="rect">
            <a:avLst/>
          </a:prstGeom>
        </p:spPr>
      </p:pic>
      <p:grpSp>
        <p:nvGrpSpPr>
          <p:cNvPr id="3" name="组合 2"/>
          <p:cNvGrpSpPr/>
          <p:nvPr/>
        </p:nvGrpSpPr>
        <p:grpSpPr>
          <a:xfrm>
            <a:off x="8858242" y="4593948"/>
            <a:ext cx="285757" cy="479147"/>
            <a:chOff x="8858242" y="4593948"/>
            <a:chExt cx="285757" cy="479147"/>
          </a:xfrm>
        </p:grpSpPr>
        <p:sp>
          <p:nvSpPr>
            <p:cNvPr id="4" name="等腰三角形 3"/>
            <p:cNvSpPr/>
            <p:nvPr/>
          </p:nvSpPr>
          <p:spPr>
            <a:xfrm rot="16200000">
              <a:off x="8805440" y="4646750"/>
              <a:ext cx="391362" cy="285757"/>
            </a:xfrm>
            <a:prstGeom prst="triangle">
              <a:avLst/>
            </a:prstGeom>
            <a:gradFill>
              <a:gsLst>
                <a:gs pos="0">
                  <a:srgbClr val="0070C0"/>
                </a:gs>
                <a:gs pos="100000">
                  <a:srgbClr val="00B0F0"/>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nvSpPr>
          <p:spPr>
            <a:xfrm rot="16200000">
              <a:off x="8805440" y="4734535"/>
              <a:ext cx="391362" cy="285757"/>
            </a:xfrm>
            <a:prstGeom prst="triangle">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
          <p:cNvSpPr txBox="1"/>
          <p:nvPr/>
        </p:nvSpPr>
        <p:spPr>
          <a:xfrm>
            <a:off x="154940" y="173990"/>
            <a:ext cx="7710170" cy="539750"/>
          </a:xfrm>
          <a:prstGeom prst="roundRect">
            <a:avLst>
              <a:gd name="adj" fmla="val 0"/>
            </a:avLst>
          </a:prstGeom>
          <a:gradFill>
            <a:gsLst>
              <a:gs pos="0">
                <a:schemeClr val="bg1">
                  <a:alpha val="0"/>
                </a:schemeClr>
              </a:gs>
              <a:gs pos="60000">
                <a:schemeClr val="bg1"/>
              </a:gs>
            </a:gsLst>
            <a:lin ang="10800000" scaled="0"/>
          </a:gradFill>
          <a:ln w="12700" cap="sq">
            <a:noFill/>
            <a:miter/>
          </a:ln>
          <a:effectLst>
            <a:outerShdw blurRad="165100" sx="102000" sy="102000" algn="ctr" rotWithShape="0">
              <a:srgbClr val="000000">
                <a:alpha val="10000"/>
              </a:srgbClr>
            </a:outerShdw>
          </a:effectLst>
        </p:spPr>
        <p:txBody>
          <a:bodyPr vert="horz" wrap="square" lIns="68580" tIns="34290" rIns="68580" bIns="34290" rtlCol="0" anchor="ctr"/>
          <a:lstStyle/>
          <a:p>
            <a:pPr algn="l">
              <a:lnSpc>
                <a:spcPct val="110000"/>
              </a:lnSpc>
            </a:pPr>
            <a:r>
              <a:rPr kumimoji="1" lang="en-US" altLang="zh-CN" sz="2000" dirty="0">
                <a:ln w="12700">
                  <a:noFill/>
                </a:ln>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rPr>
              <a:t>首</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rPr>
              <a:t>席科学家</a:t>
            </a:r>
            <a:endParaRPr kumimoji="1"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文本框 6"/>
          <p:cNvSpPr txBox="1">
            <a:spLocks noChangeArrowheads="1"/>
          </p:cNvSpPr>
          <p:nvPr>
            <p:custDataLst>
              <p:tags r:id="rId1"/>
            </p:custDataLst>
          </p:nvPr>
        </p:nvSpPr>
        <p:spPr bwMode="auto">
          <a:xfrm>
            <a:off x="243521" y="1923415"/>
            <a:ext cx="915035" cy="466090"/>
          </a:xfrm>
          <a:prstGeom prst="rect">
            <a:avLst/>
          </a:prstGeom>
          <a:solidFill>
            <a:schemeClr val="accent1">
              <a:lumMod val="75000"/>
            </a:schemeClr>
          </a:solidFill>
          <a:ln>
            <a:noFill/>
          </a:ln>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spcAft>
                <a:spcPts val="200"/>
              </a:spcAft>
              <a:buFontTx/>
              <a:buNone/>
            </a:pPr>
            <a:r>
              <a:rPr lang="zh-CN" altLang="en-US" sz="2200" b="1" dirty="0">
                <a:solidFill>
                  <a:schemeClr val="bg1"/>
                </a:solidFill>
                <a:latin typeface="微软雅黑" panose="020B0503020204020204" pitchFamily="34" charset="-122"/>
                <a:ea typeface="微软雅黑" panose="020B0503020204020204" pitchFamily="34" charset="-122"/>
              </a:rPr>
              <a:t>科创</a:t>
            </a:r>
            <a:endParaRPr lang="zh-CN" altLang="en-US" sz="2200" b="1" dirty="0">
              <a:solidFill>
                <a:schemeClr val="bg1"/>
              </a:solidFill>
              <a:latin typeface="微软雅黑" panose="020B0503020204020204" pitchFamily="34" charset="-122"/>
              <a:ea typeface="微软雅黑" panose="020B0503020204020204" pitchFamily="34" charset="-122"/>
            </a:endParaRPr>
          </a:p>
        </p:txBody>
      </p:sp>
      <p:sp>
        <p:nvSpPr>
          <p:cNvPr id="14" name="文本框 4"/>
          <p:cNvSpPr txBox="1">
            <a:spLocks noChangeArrowheads="1"/>
          </p:cNvSpPr>
          <p:nvPr>
            <p:custDataLst>
              <p:tags r:id="rId2"/>
            </p:custDataLst>
          </p:nvPr>
        </p:nvSpPr>
        <p:spPr bwMode="auto">
          <a:xfrm>
            <a:off x="243522" y="851535"/>
            <a:ext cx="884555" cy="506730"/>
          </a:xfrm>
          <a:prstGeom prst="rect">
            <a:avLst/>
          </a:prstGeom>
          <a:solidFill>
            <a:schemeClr val="accent1">
              <a:lumMod val="75000"/>
            </a:schemeClr>
          </a:solidFill>
          <a:ln>
            <a:noFill/>
          </a:ln>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spcAft>
                <a:spcPts val="200"/>
              </a:spcAft>
              <a:buNone/>
            </a:pPr>
            <a:r>
              <a:rPr lang="zh-CN" altLang="en-US" sz="2200" b="1" dirty="0">
                <a:solidFill>
                  <a:schemeClr val="bg1"/>
                </a:solidFill>
                <a:latin typeface="微软雅黑" panose="020B0503020204020204" pitchFamily="34" charset="-122"/>
                <a:ea typeface="微软雅黑" panose="020B0503020204020204" pitchFamily="34" charset="-122"/>
              </a:rPr>
              <a:t>科研</a:t>
            </a:r>
            <a:endParaRPr lang="zh-CN" altLang="en-US" sz="2200" b="1" dirty="0">
              <a:solidFill>
                <a:schemeClr val="bg1"/>
              </a:solidFill>
              <a:latin typeface="微软雅黑" panose="020B0503020204020204" pitchFamily="34" charset="-122"/>
              <a:ea typeface="微软雅黑" panose="020B0503020204020204" pitchFamily="34" charset="-122"/>
            </a:endParaRPr>
          </a:p>
        </p:txBody>
      </p:sp>
      <p:sp>
        <p:nvSpPr>
          <p:cNvPr id="15" name="矩形 4"/>
          <p:cNvSpPr>
            <a:spLocks noChangeArrowheads="1"/>
          </p:cNvSpPr>
          <p:nvPr>
            <p:custDataLst>
              <p:tags r:id="rId3"/>
            </p:custDataLst>
          </p:nvPr>
        </p:nvSpPr>
        <p:spPr bwMode="auto">
          <a:xfrm>
            <a:off x="1265365" y="845860"/>
            <a:ext cx="7202360" cy="1262261"/>
          </a:xfrm>
          <a:prstGeom prst="rect">
            <a:avLst/>
          </a:prstGeom>
          <a:noFill/>
          <a:ln w="9525">
            <a:noFill/>
            <a:prstDash val="solid"/>
            <a:miter lim="800000"/>
          </a:ln>
          <a:extLst>
            <a:ext uri="{909E8E84-426E-40DD-AFC4-6F175D3DCCD1}">
              <a14:hiddenFill xmlns:a14="http://schemas.microsoft.com/office/drawing/2010/main">
                <a:solidFill>
                  <a:srgbClr val="FFFFFF"/>
                </a:solidFill>
              </a14:hiddenFill>
            </a:ext>
          </a:extLst>
        </p:spPr>
        <p:txBody>
          <a:bodyPr wrap="square">
            <a:noAutofit/>
          </a:bodyPr>
          <a:lstStyle>
            <a:lvl1pPr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171450" indent="-171450">
              <a:lnSpc>
                <a:spcPct val="130000"/>
              </a:lnSpc>
              <a:spcBef>
                <a:spcPts val="600"/>
              </a:spcBef>
            </a:pP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多年来一直从事智能运输系统</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(ITS)</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、机器视觉与数字孪生、人工智能与自动驾驶等方面的研究。曾参与电厂和供电局的《</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114</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查号系统》、《电话故障申告系统》、《话务营收与计费系统》的研发。</a:t>
            </a:r>
            <a:endPar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nSpc>
                <a:spcPct val="130000"/>
              </a:lnSpc>
              <a:spcBef>
                <a:spcPts val="600"/>
              </a:spcBef>
            </a:pP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美国伊州理工访问学者、</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中国计算机学会</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CCF</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智慧交通分会执行委员、中国汽车工程学会会员、中国公路学会会员等。    </a:t>
            </a:r>
            <a:endPar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30000"/>
              </a:lnSpc>
              <a:spcBef>
                <a:spcPts val="600"/>
              </a:spcBef>
              <a:buNone/>
            </a:pP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矩形 4"/>
          <p:cNvSpPr>
            <a:spLocks noChangeArrowheads="1"/>
          </p:cNvSpPr>
          <p:nvPr>
            <p:custDataLst>
              <p:tags r:id="rId4"/>
            </p:custDataLst>
          </p:nvPr>
        </p:nvSpPr>
        <p:spPr bwMode="auto">
          <a:xfrm>
            <a:off x="1265555" y="1793240"/>
            <a:ext cx="7202170" cy="1772920"/>
          </a:xfrm>
          <a:prstGeom prst="rect">
            <a:avLst/>
          </a:prstGeom>
          <a:noFill/>
          <a:ln w="9525">
            <a:noFill/>
            <a:prstDash val="solid"/>
            <a:miter lim="800000"/>
          </a:ln>
          <a:extLst>
            <a:ext uri="{909E8E84-426E-40DD-AFC4-6F175D3DCCD1}">
              <a14:hiddenFill xmlns:a14="http://schemas.microsoft.com/office/drawing/2010/main">
                <a:solidFill>
                  <a:srgbClr val="FFFFFF"/>
                </a:solidFill>
              </a14:hiddenFill>
            </a:ext>
          </a:extLst>
        </p:spPr>
        <p:txBody>
          <a:bodyPr wrap="square">
            <a:noAutofit/>
          </a:bodyPr>
          <a:lstStyle>
            <a:lvl1pPr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171450" indent="-171450">
              <a:lnSpc>
                <a:spcPct val="130000"/>
              </a:lnSpc>
              <a:spcBef>
                <a:spcPts val="600"/>
              </a:spcBef>
            </a:pP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国内外期刊和学术会议发表学术论文</a:t>
            </a:r>
            <a:r>
              <a:rPr lang="zh-CN" altLang="en-US" sz="1050" b="1" dirty="0">
                <a:solidFill>
                  <a:srgbClr val="FF0000"/>
                </a:solidFill>
                <a:latin typeface="微软雅黑" panose="020B0503020204020204" pitchFamily="34" charset="-122"/>
                <a:ea typeface="微软雅黑" panose="020B0503020204020204" pitchFamily="34" charset="-122"/>
              </a:rPr>
              <a:t>三十余</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篇</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其中</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SCI</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检索</a:t>
            </a:r>
            <a:r>
              <a:rPr lang="en-US" altLang="zh-CN" sz="1050" b="1" dirty="0">
                <a:solidFill>
                  <a:srgbClr val="FF0000"/>
                </a:solidFill>
                <a:latin typeface="微软雅黑" panose="020B0503020204020204" pitchFamily="34" charset="-122"/>
                <a:ea typeface="微软雅黑" panose="020B0503020204020204" pitchFamily="34" charset="-122"/>
              </a:rPr>
              <a:t>6</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篇，</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 EI</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检索</a:t>
            </a:r>
            <a:r>
              <a:rPr lang="en-US" altLang="zh-CN" sz="1050" b="1" dirty="0">
                <a:solidFill>
                  <a:srgbClr val="FF0000"/>
                </a:solidFill>
                <a:latin typeface="微软雅黑" panose="020B0503020204020204" pitchFamily="34" charset="-122"/>
                <a:ea typeface="微软雅黑" panose="020B0503020204020204" pitchFamily="34" charset="-122"/>
              </a:rPr>
              <a:t>8</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篇</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，发明专利</a:t>
            </a:r>
            <a:r>
              <a:rPr lang="en-US" altLang="zh-CN" sz="1050" b="1" dirty="0">
                <a:solidFill>
                  <a:srgbClr val="FF0000"/>
                </a:solidFill>
                <a:latin typeface="微软雅黑" panose="020B0503020204020204" pitchFamily="34" charset="-122"/>
                <a:ea typeface="微软雅黑" panose="020B0503020204020204" pitchFamily="34" charset="-122"/>
              </a:rPr>
              <a:t>20</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项</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a:t>
            </a:r>
            <a:endPar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ct val="130000"/>
              </a:lnSpc>
              <a:spcBef>
                <a:spcPts val="600"/>
              </a:spcBef>
            </a:pPr>
            <a:r>
              <a:rPr lang="zh-CN" altLang="en-US" sz="1050" b="1" dirty="0" smtClean="0">
                <a:solidFill>
                  <a:schemeClr val="tx1">
                    <a:lumMod val="85000"/>
                    <a:lumOff val="15000"/>
                  </a:schemeClr>
                </a:solidFill>
                <a:latin typeface="微软雅黑" panose="020B0503020204020204" pitchFamily="34" charset="-122"/>
                <a:ea typeface="微软雅黑" panose="020B0503020204020204" pitchFamily="34" charset="-122"/>
              </a:rPr>
              <a:t>创立</a:t>
            </a:r>
            <a:r>
              <a:rPr lang="zh-CN" altLang="en-US" sz="1050" b="1" dirty="0" smtClean="0">
                <a:solidFill>
                  <a:schemeClr val="tx1">
                    <a:lumMod val="85000"/>
                    <a:lumOff val="15000"/>
                  </a:schemeClr>
                </a:solidFill>
                <a:latin typeface="微软雅黑" panose="020B0503020204020204" pitchFamily="34" charset="-122"/>
                <a:ea typeface="微软雅黑" panose="020B0503020204020204" pitchFamily="34" charset="-122"/>
              </a:rPr>
              <a:t>南</a:t>
            </a:r>
            <a:r>
              <a:rPr lang="zh-CN" altLang="en-US" sz="1050" b="1" dirty="0" smtClean="0">
                <a:solidFill>
                  <a:schemeClr val="tx1">
                    <a:lumMod val="85000"/>
                    <a:lumOff val="15000"/>
                  </a:schemeClr>
                </a:solidFill>
                <a:latin typeface="微软雅黑" panose="020B0503020204020204" pitchFamily="34" charset="-122"/>
                <a:ea typeface="微软雅黑" panose="020B0503020204020204" pitchFamily="34" charset="-122"/>
              </a:rPr>
              <a:t>京深眸智算</a:t>
            </a:r>
            <a:r>
              <a:rPr lang="zh-CN" altLang="en-US" sz="1050" b="1" dirty="0" smtClean="0">
                <a:solidFill>
                  <a:schemeClr val="tx1">
                    <a:lumMod val="85000"/>
                    <a:lumOff val="15000"/>
                  </a:schemeClr>
                </a:solidFill>
                <a:latin typeface="微软雅黑" panose="020B0503020204020204" pitchFamily="34" charset="-122"/>
                <a:ea typeface="微软雅黑" panose="020B0503020204020204" pitchFamily="34" charset="-122"/>
              </a:rPr>
              <a:t>科</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技有限公司 。</a:t>
            </a:r>
            <a:endPar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0" name="矩形 4"/>
          <p:cNvSpPr>
            <a:spLocks noChangeArrowheads="1"/>
          </p:cNvSpPr>
          <p:nvPr>
            <p:custDataLst>
              <p:tags r:id="rId5"/>
            </p:custDataLst>
          </p:nvPr>
        </p:nvSpPr>
        <p:spPr bwMode="auto">
          <a:xfrm>
            <a:off x="1265555" y="2700020"/>
            <a:ext cx="5927725" cy="2442845"/>
          </a:xfrm>
          <a:prstGeom prst="rect">
            <a:avLst/>
          </a:prstGeom>
          <a:noFill/>
          <a:ln w="9525">
            <a:noFill/>
            <a:prstDash val="solid"/>
            <a:miter lim="800000"/>
          </a:ln>
          <a:extLst>
            <a:ext uri="{909E8E84-426E-40DD-AFC4-6F175D3DCCD1}">
              <a14:hiddenFill xmlns:a14="http://schemas.microsoft.com/office/drawing/2010/main">
                <a:solidFill>
                  <a:srgbClr val="FFFFFF"/>
                </a:solidFill>
              </a14:hiddenFill>
            </a:ext>
          </a:extLst>
        </p:spPr>
        <p:txBody>
          <a:bodyPr wrap="square">
            <a:noAutofit/>
          </a:bodyPr>
          <a:lstStyle>
            <a:lvl1pPr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171450" indent="-171450">
              <a:lnSpc>
                <a:spcPct val="130000"/>
              </a:lnSpc>
              <a:spcBef>
                <a:spcPts val="600"/>
              </a:spcBef>
            </a:pP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江苏省交通厅，（科技计划）基于物联网技术的水上</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ETC</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系统运用研究；</a:t>
            </a:r>
            <a:endPar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ct val="130000"/>
              </a:lnSpc>
              <a:spcBef>
                <a:spcPts val="600"/>
              </a:spcBef>
            </a:pP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广东省交通厅，（科技计划）广东省水运信息化发展研究；</a:t>
            </a:r>
            <a:endPar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ct val="130000"/>
              </a:lnSpc>
              <a:spcBef>
                <a:spcPts val="600"/>
              </a:spcBef>
            </a:pP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国家电网，（科技项目）电力通信系统</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N-2</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反措网络模型分析；</a:t>
            </a:r>
            <a:endPar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ct val="130000"/>
              </a:lnSpc>
              <a:spcBef>
                <a:spcPts val="600"/>
              </a:spcBef>
            </a:pP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无锡市建设局，（科技项目）基于</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LBS</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的车载路口预报装置研究；</a:t>
            </a:r>
            <a:endPar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ct val="130000"/>
              </a:lnSpc>
              <a:spcBef>
                <a:spcPts val="600"/>
              </a:spcBef>
            </a:pP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冀北电力有限公司</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通信调度运维系统</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自适应通信资源管理系统</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研发；</a:t>
            </a:r>
            <a:endPar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ct val="130000"/>
              </a:lnSpc>
              <a:spcBef>
                <a:spcPts val="600"/>
              </a:spcBef>
            </a:pP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长江通信导航局</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长江通信导航局通信资源管理系统</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研发；</a:t>
            </a:r>
            <a:endPar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ct val="130000"/>
              </a:lnSpc>
              <a:spcBef>
                <a:spcPts val="600"/>
              </a:spcBef>
            </a:pP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江苏省交通厅执法局</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桥梁防撞预警系统</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研发；</a:t>
            </a:r>
            <a:endPar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ct val="130000"/>
              </a:lnSpc>
              <a:spcBef>
                <a:spcPts val="600"/>
              </a:spcBef>
            </a:pP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江苏省水利厅科技项目</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基于</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AI</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的防储中心关键技术研究</a:t>
            </a:r>
            <a:r>
              <a:rPr lang="en-US" altLang="zh-CN" sz="105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rPr>
              <a:t>。</a:t>
            </a:r>
            <a:endParaRPr lang="zh-CN" altLang="en-US" sz="105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7" name="文本框 4"/>
          <p:cNvSpPr txBox="1">
            <a:spLocks noChangeArrowheads="1"/>
          </p:cNvSpPr>
          <p:nvPr>
            <p:custDataLst>
              <p:tags r:id="rId6"/>
            </p:custDataLst>
          </p:nvPr>
        </p:nvSpPr>
        <p:spPr bwMode="auto">
          <a:xfrm>
            <a:off x="243332" y="3091022"/>
            <a:ext cx="884555" cy="506730"/>
          </a:xfrm>
          <a:prstGeom prst="rect">
            <a:avLst/>
          </a:prstGeom>
          <a:solidFill>
            <a:schemeClr val="accent1">
              <a:lumMod val="75000"/>
            </a:schemeClr>
          </a:solidFill>
          <a:ln>
            <a:noFill/>
          </a:ln>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spcAft>
                <a:spcPts val="200"/>
              </a:spcAft>
              <a:buNone/>
            </a:pPr>
            <a:r>
              <a:rPr lang="zh-CN" altLang="en-US" sz="2200" b="1" dirty="0">
                <a:solidFill>
                  <a:schemeClr val="bg1"/>
                </a:solidFill>
                <a:latin typeface="微软雅黑" panose="020B0503020204020204" pitchFamily="34" charset="-122"/>
                <a:ea typeface="微软雅黑" panose="020B0503020204020204" pitchFamily="34" charset="-122"/>
              </a:rPr>
              <a:t>业绩</a:t>
            </a:r>
            <a:endParaRPr lang="zh-CN" altLang="en-US" sz="2200" b="1" dirty="0">
              <a:solidFill>
                <a:schemeClr val="bg1"/>
              </a:solidFill>
              <a:latin typeface="微软雅黑" panose="020B0503020204020204" pitchFamily="34" charset="-122"/>
              <a:ea typeface="微软雅黑" panose="020B0503020204020204" pitchFamily="34" charset="-122"/>
            </a:endParaRPr>
          </a:p>
        </p:txBody>
      </p:sp>
      <p:cxnSp>
        <p:nvCxnSpPr>
          <p:cNvPr id="42" name="直接连接符 41"/>
          <p:cNvCxnSpPr/>
          <p:nvPr/>
        </p:nvCxnSpPr>
        <p:spPr>
          <a:xfrm>
            <a:off x="283028" y="714209"/>
            <a:ext cx="8577943" cy="0"/>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2" name="组合 27"/>
          <p:cNvGrpSpPr/>
          <p:nvPr/>
        </p:nvGrpSpPr>
        <p:grpSpPr>
          <a:xfrm>
            <a:off x="8858242" y="4593948"/>
            <a:ext cx="285757" cy="479147"/>
            <a:chOff x="8858242" y="4593948"/>
            <a:chExt cx="285757" cy="479147"/>
          </a:xfrm>
        </p:grpSpPr>
        <p:sp>
          <p:nvSpPr>
            <p:cNvPr id="29" name="等腰三角形 28"/>
            <p:cNvSpPr/>
            <p:nvPr/>
          </p:nvSpPr>
          <p:spPr>
            <a:xfrm rot="16200000">
              <a:off x="8805440" y="4646750"/>
              <a:ext cx="391362" cy="285757"/>
            </a:xfrm>
            <a:prstGeom prst="triangle">
              <a:avLst/>
            </a:prstGeom>
            <a:gradFill>
              <a:gsLst>
                <a:gs pos="0">
                  <a:srgbClr val="0070C0"/>
                </a:gs>
                <a:gs pos="100000">
                  <a:srgbClr val="00B0F0"/>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nvSpPr>
          <p:spPr>
            <a:xfrm rot="16200000">
              <a:off x="8805440" y="4734535"/>
              <a:ext cx="391362" cy="285757"/>
            </a:xfrm>
            <a:prstGeom prst="triangle">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26" name="picture 626"/>
          <p:cNvPicPr>
            <a:picLocks noChangeAspect="1"/>
          </p:cNvPicPr>
          <p:nvPr/>
        </p:nvPicPr>
        <p:blipFill>
          <a:blip r:embed="rId7" cstate="print"/>
          <a:stretch>
            <a:fillRect/>
          </a:stretch>
        </p:blipFill>
        <p:spPr>
          <a:xfrm rot="21600000">
            <a:off x="0" y="120396"/>
            <a:ext cx="286511" cy="480059"/>
          </a:xfrm>
          <a:prstGeom prst="rect">
            <a:avLst/>
          </a:prstGeom>
        </p:spPr>
      </p:pic>
    </p:spTree>
    <p:custDataLst>
      <p:tags r:id="rId8"/>
    </p:custDataLst>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 name="rect 596"/>
          <p:cNvSpPr/>
          <p:nvPr/>
        </p:nvSpPr>
        <p:spPr>
          <a:xfrm>
            <a:off x="0" y="-17821"/>
            <a:ext cx="9144000" cy="5143500"/>
          </a:xfrm>
          <a:prstGeom prst="rect">
            <a:avLst/>
          </a:prstGeom>
          <a:solidFill>
            <a:srgbClr val="F2F2F2">
              <a:alpha val="10196"/>
            </a:srgbClr>
          </a:solidFill>
          <a:ln w="0" cap="flat">
            <a:noFill/>
            <a:prstDash val="solid"/>
            <a:miter lim="0"/>
          </a:ln>
        </p:spPr>
        <p:txBody>
          <a:bodyPr rtlCol="0"/>
          <a:lstStyle/>
          <a:p>
            <a:pPr algn="ctr"/>
            <a:endParaRPr lang="zh-CN" altLang="en-US"/>
          </a:p>
        </p:txBody>
      </p:sp>
      <p:pic>
        <p:nvPicPr>
          <p:cNvPr id="598" name="picture 598"/>
          <p:cNvPicPr>
            <a:picLocks noChangeAspect="1"/>
          </p:cNvPicPr>
          <p:nvPr/>
        </p:nvPicPr>
        <p:blipFill>
          <a:blip r:embed="rId1" cstate="print"/>
          <a:stretch>
            <a:fillRect/>
          </a:stretch>
        </p:blipFill>
        <p:spPr>
          <a:xfrm rot="21600000">
            <a:off x="0" y="769265"/>
            <a:ext cx="9144000" cy="2565919"/>
          </a:xfrm>
          <a:prstGeom prst="rect">
            <a:avLst/>
          </a:prstGeom>
        </p:spPr>
      </p:pic>
      <p:sp>
        <p:nvSpPr>
          <p:cNvPr id="600" name="textbox 600"/>
          <p:cNvSpPr/>
          <p:nvPr/>
        </p:nvSpPr>
        <p:spPr>
          <a:xfrm>
            <a:off x="441299" y="858164"/>
            <a:ext cx="6755130" cy="1840229"/>
          </a:xfrm>
          <a:prstGeom prst="rect">
            <a:avLst/>
          </a:prstGeom>
          <a:noFill/>
          <a:ln w="0" cap="flat">
            <a:noFill/>
            <a:prstDash val="solid"/>
            <a:miter lim="0"/>
          </a:ln>
        </p:spPr>
        <p:txBody>
          <a:bodyPr vert="horz" wrap="square" lIns="0" tIns="0" rIns="0" bIns="0"/>
          <a:lstStyle/>
          <a:p>
            <a:pPr marL="12700" algn="l" rtl="0" eaLnBrk="0"/>
            <a:r>
              <a:rPr lang="en-US" sz="1600" b="1" kern="0" spc="10" baseline="6000" dirty="0" err="1">
                <a:solidFill>
                  <a:srgbClr val="FF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00" b="1" kern="0" spc="10" baseline="6000" dirty="0" err="1">
                <a:solidFill>
                  <a:srgbClr val="FF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东南大学交通工程博士</a:t>
            </a:r>
            <a:r>
              <a:rPr sz="1600" b="1" kern="0" spc="-1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spcBef>
                <a:spcPts val="835"/>
              </a:spcBef>
            </a:pPr>
            <a:r>
              <a:rPr sz="1050" kern="0" spc="0" dirty="0">
                <a:solidFill>
                  <a:srgbClr val="000000">
                    <a:alpha val="100000"/>
                  </a:srgbClr>
                </a:solidFill>
                <a:latin typeface="Wingdings" panose="05000000000000000000"/>
                <a:ea typeface="Wingdings" panose="05000000000000000000"/>
                <a:cs typeface="Wingdings" panose="05000000000000000000"/>
              </a:rPr>
              <a:t>u</a:t>
            </a:r>
            <a:r>
              <a:rPr lang="zh-CN" sz="1050"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主要从事</a:t>
            </a:r>
            <a:r>
              <a:rPr sz="1050"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交通信息与控制；交通大数据；人工智能算法研究。</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spcBef>
                <a:spcPts val="835"/>
              </a:spcBef>
            </a:pPr>
            <a:r>
              <a:rPr sz="1050" kern="0" spc="0" dirty="0">
                <a:solidFill>
                  <a:srgbClr val="000000">
                    <a:alpha val="100000"/>
                  </a:srgbClr>
                </a:solidFill>
                <a:latin typeface="Wingdings" panose="05000000000000000000"/>
                <a:ea typeface="Wingdings" panose="05000000000000000000"/>
                <a:cs typeface="Wingdings" panose="05000000000000000000"/>
              </a:rPr>
              <a:t>u</a:t>
            </a:r>
            <a:r>
              <a:rPr sz="1050"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主持国家自然基金、江苏省博士后科研资助计划等多项纵横向科研项目。</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p>
            <a:pPr marL="178435" indent="-165735" algn="l" rtl="0" eaLnBrk="0">
              <a:spcBef>
                <a:spcPts val="650"/>
              </a:spcBef>
            </a:pPr>
            <a:r>
              <a:rPr sz="1050" kern="0" spc="-10" dirty="0">
                <a:solidFill>
                  <a:srgbClr val="000000">
                    <a:alpha val="100000"/>
                  </a:srgbClr>
                </a:solidFill>
                <a:latin typeface="Wingdings" panose="05000000000000000000"/>
                <a:ea typeface="Wingdings" panose="05000000000000000000"/>
                <a:cs typeface="Wingdings" panose="05000000000000000000"/>
              </a:rPr>
              <a:t>u</a:t>
            </a:r>
            <a:r>
              <a:rPr sz="105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发表《</a:t>
            </a:r>
            <a:r>
              <a:rPr sz="1050" b="1" kern="0" spc="-1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Physica A》、《Advanced in</a:t>
            </a:r>
            <a:r>
              <a:rPr sz="1050" b="1" kern="0" spc="1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Mechanical</a:t>
            </a:r>
            <a:r>
              <a:rPr sz="1050" b="1" kern="0" spc="1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Engineering》等学术论文十余篇</a:t>
            </a:r>
            <a:r>
              <a:rPr sz="1050" b="1" kern="0" spc="-2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，其中</a:t>
            </a:r>
            <a:r>
              <a:rPr sz="1050"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SCI检索6篇</a:t>
            </a:r>
            <a:r>
              <a:rPr sz="1050" b="1" kern="0" spc="-2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050" b="1" kern="0" spc="-2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EI</a:t>
            </a:r>
            <a:r>
              <a:rPr sz="1050"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检索4篇。</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endParaRPr sz="1050" dirty="0">
              <a:latin typeface="Arial" panose="020B0604020202020204"/>
              <a:ea typeface="Arial" panose="020B0604020202020204"/>
              <a:cs typeface="Arial" panose="020B0604020202020204"/>
            </a:endParaRPr>
          </a:p>
          <a:p>
            <a:pPr marL="12700" algn="l" rtl="0" eaLnBrk="0">
              <a:spcBef>
                <a:spcPts val="5"/>
              </a:spcBef>
            </a:pPr>
            <a:r>
              <a:rPr sz="1050" kern="0" spc="0" dirty="0">
                <a:solidFill>
                  <a:srgbClr val="000000">
                    <a:alpha val="100000"/>
                  </a:srgbClr>
                </a:solidFill>
                <a:latin typeface="Wingdings" panose="05000000000000000000"/>
                <a:ea typeface="Wingdings" panose="05000000000000000000"/>
                <a:cs typeface="Wingdings" panose="05000000000000000000"/>
              </a:rPr>
              <a:t>u</a:t>
            </a:r>
            <a:r>
              <a:rPr sz="1050"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主持“城市快速路车速诱导控制系统”项目的规划与建设。</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02" name="textbox 602"/>
          <p:cNvSpPr/>
          <p:nvPr/>
        </p:nvSpPr>
        <p:spPr>
          <a:xfrm>
            <a:off x="263871" y="3592048"/>
            <a:ext cx="8540115" cy="1212214"/>
          </a:xfrm>
          <a:prstGeom prst="rect">
            <a:avLst/>
          </a:prstGeom>
          <a:solidFill>
            <a:srgbClr val="FFFFFF">
              <a:alpha val="99607"/>
            </a:srgbClr>
          </a:solidFill>
          <a:ln w="0" cap="flat">
            <a:noFill/>
            <a:prstDash val="solid"/>
            <a:miter lim="0"/>
          </a:ln>
        </p:spPr>
        <p:txBody>
          <a:bodyPr vert="horz" wrap="square" lIns="0" tIns="0" rIns="0" bIns="0"/>
          <a:lstStyle/>
          <a:p>
            <a:pPr algn="l" rtl="0" eaLnBrk="0">
              <a:lnSpc>
                <a:spcPct val="101000"/>
              </a:lnSpc>
            </a:pPr>
            <a:endParaRPr sz="1050" dirty="0">
              <a:latin typeface="Arial" panose="020B0604020202020204"/>
              <a:ea typeface="Arial" panose="020B0604020202020204"/>
              <a:cs typeface="Arial" panose="020B0604020202020204"/>
            </a:endParaRPr>
          </a:p>
          <a:p>
            <a:pPr marL="1843405" algn="l" rtl="0" eaLnBrk="0">
              <a:lnSpc>
                <a:spcPct val="92000"/>
              </a:lnSpc>
              <a:spcBef>
                <a:spcPts val="5"/>
              </a:spcBef>
            </a:pPr>
            <a:r>
              <a:rPr lang="en-US" sz="1050" b="1" kern="0" spc="0" dirty="0">
                <a:solidFill>
                  <a:srgbClr val="FF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kern="0" spc="0" dirty="0">
                <a:solidFill>
                  <a:srgbClr val="FF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东南大学交通工程博士</a:t>
            </a:r>
            <a:r>
              <a:rPr sz="1050" b="1" kern="0" spc="-210" dirty="0">
                <a:solidFill>
                  <a:srgbClr val="FF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endParaRPr sz="1050" b="1" kern="0" spc="-210" dirty="0">
              <a:solidFill>
                <a:srgbClr val="FF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843405" algn="l" rtl="0" eaLnBrk="0">
              <a:lnSpc>
                <a:spcPct val="92000"/>
              </a:lnSpc>
              <a:spcBef>
                <a:spcPts val="5"/>
              </a:spcBef>
            </a:pPr>
            <a:endParaRPr sz="1050" b="1" kern="0" spc="0" dirty="0">
              <a:solidFill>
                <a:srgbClr val="FF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843405" algn="l" rtl="0" eaLnBrk="0">
              <a:lnSpc>
                <a:spcPct val="92000"/>
              </a:lnSpc>
              <a:spcBef>
                <a:spcPts val="5"/>
              </a:spcBef>
            </a:pPr>
            <a:r>
              <a:rPr sz="1050" kern="0" dirty="0">
                <a:solidFill>
                  <a:srgbClr val="000000">
                    <a:alpha val="100000"/>
                  </a:srgbClr>
                </a:solidFill>
                <a:latin typeface="Wingdings" panose="05000000000000000000"/>
                <a:ea typeface="Wingdings" panose="05000000000000000000"/>
                <a:cs typeface="Wingdings" panose="05000000000000000000"/>
                <a:sym typeface="+mn-ea"/>
              </a:rPr>
              <a:t>u</a:t>
            </a:r>
            <a:r>
              <a:rPr sz="1050"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从事区域和城市物流系统、企业物流系统优</a:t>
            </a:r>
            <a:r>
              <a:rPr sz="105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化与设计等方面的研究。</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p>
            <a:pPr marL="1843405" algn="l" rtl="0" eaLnBrk="0">
              <a:lnSpc>
                <a:spcPct val="92000"/>
              </a:lnSpc>
              <a:spcBef>
                <a:spcPts val="835"/>
              </a:spcBef>
            </a:pPr>
            <a:r>
              <a:rPr sz="1050" kern="0" spc="0" dirty="0">
                <a:solidFill>
                  <a:srgbClr val="000000">
                    <a:alpha val="100000"/>
                  </a:srgbClr>
                </a:solidFill>
                <a:latin typeface="Wingdings" panose="05000000000000000000"/>
                <a:ea typeface="Wingdings" panose="05000000000000000000"/>
                <a:cs typeface="Wingdings" panose="05000000000000000000"/>
              </a:rPr>
              <a:t>u</a:t>
            </a:r>
            <a:r>
              <a:rPr sz="1050"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曾在北京宅急送快运股份有限公司、上海光明乳业股份有限公司物流事业部</a:t>
            </a:r>
            <a:r>
              <a:rPr lang="zh-CN" sz="1050"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就职。</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6000"/>
              </a:lnSpc>
            </a:pPr>
            <a:endParaRPr sz="1050" dirty="0">
              <a:latin typeface="Arial" panose="020B0604020202020204"/>
              <a:ea typeface="Arial" panose="020B0604020202020204"/>
              <a:cs typeface="Arial" panose="020B0604020202020204"/>
            </a:endParaRPr>
          </a:p>
          <a:p>
            <a:pPr marL="1843405" algn="l" rtl="0" eaLnBrk="0">
              <a:lnSpc>
                <a:spcPts val="1580"/>
              </a:lnSpc>
              <a:spcBef>
                <a:spcPts val="0"/>
              </a:spcBef>
            </a:pPr>
            <a:r>
              <a:rPr sz="1050" kern="0" spc="0" dirty="0">
                <a:solidFill>
                  <a:srgbClr val="000000">
                    <a:alpha val="100000"/>
                  </a:srgbClr>
                </a:solidFill>
                <a:latin typeface="Wingdings" panose="05000000000000000000"/>
                <a:ea typeface="Wingdings" panose="05000000000000000000"/>
                <a:cs typeface="Wingdings" panose="05000000000000000000"/>
              </a:rPr>
              <a:t>u</a:t>
            </a:r>
            <a:r>
              <a:rPr sz="1050"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2011-至今河海大学土木与交通学院</a:t>
            </a:r>
            <a:r>
              <a:rPr sz="1050" b="1" kern="0" spc="-2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，研究方向为区域和城市物流</a:t>
            </a:r>
            <a:r>
              <a:rPr sz="105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系统规划和企业物流系统</a:t>
            </a:r>
            <a:r>
              <a:rPr lang="zh-CN" sz="105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105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04" name="path 604"/>
          <p:cNvSpPr/>
          <p:nvPr/>
        </p:nvSpPr>
        <p:spPr>
          <a:xfrm>
            <a:off x="0" y="4925567"/>
            <a:ext cx="9144000" cy="217932"/>
          </a:xfrm>
          <a:custGeom>
            <a:avLst/>
            <a:gdLst/>
            <a:ahLst/>
            <a:cxnLst/>
            <a:rect l="0" t="0" r="0" b="0"/>
            <a:pathLst>
              <a:path w="14400" h="343">
                <a:moveTo>
                  <a:pt x="0" y="0"/>
                </a:moveTo>
                <a:lnTo>
                  <a:pt x="14400" y="0"/>
                </a:lnTo>
                <a:lnTo>
                  <a:pt x="14400" y="343"/>
                </a:lnTo>
                <a:lnTo>
                  <a:pt x="0" y="343"/>
                </a:lnTo>
                <a:lnTo>
                  <a:pt x="0" y="0"/>
                </a:lnTo>
                <a:close/>
              </a:path>
            </a:pathLst>
          </a:custGeom>
          <a:solidFill>
            <a:srgbClr val="2B6EA9">
              <a:alpha val="100000"/>
            </a:srgbClr>
          </a:solidFill>
          <a:ln w="0" cap="flat">
            <a:noFill/>
            <a:prstDash val="solid"/>
            <a:miter lim="0"/>
          </a:ln>
        </p:spPr>
        <p:txBody>
          <a:bodyPr rtlCol="0"/>
          <a:lstStyle/>
          <a:p>
            <a:pPr algn="ctr"/>
            <a:endParaRPr lang="zh-CN" altLang="en-US"/>
          </a:p>
        </p:txBody>
      </p:sp>
      <p:pic>
        <p:nvPicPr>
          <p:cNvPr id="608" name="picture 608"/>
          <p:cNvPicPr>
            <a:picLocks noChangeAspect="1"/>
          </p:cNvPicPr>
          <p:nvPr/>
        </p:nvPicPr>
        <p:blipFill>
          <a:blip r:embed="rId2" cstate="print"/>
          <a:stretch>
            <a:fillRect/>
          </a:stretch>
        </p:blipFill>
        <p:spPr>
          <a:xfrm rot="21600000">
            <a:off x="8859506" y="4593335"/>
            <a:ext cx="286511" cy="480059"/>
          </a:xfrm>
          <a:prstGeom prst="rect">
            <a:avLst/>
          </a:prstGeom>
        </p:spPr>
      </p:pic>
      <p:grpSp>
        <p:nvGrpSpPr>
          <p:cNvPr id="2" name="group 28"/>
          <p:cNvGrpSpPr/>
          <p:nvPr/>
        </p:nvGrpSpPr>
        <p:grpSpPr>
          <a:xfrm rot="21600000">
            <a:off x="520484" y="3360077"/>
            <a:ext cx="1464754" cy="1420291"/>
            <a:chOff x="0" y="0"/>
            <a:chExt cx="1464754" cy="1420291"/>
          </a:xfrm>
        </p:grpSpPr>
        <p:sp>
          <p:nvSpPr>
            <p:cNvPr id="610" name="path 610"/>
            <p:cNvSpPr/>
            <p:nvPr/>
          </p:nvSpPr>
          <p:spPr>
            <a:xfrm>
              <a:off x="0" y="0"/>
              <a:ext cx="1464754" cy="1420291"/>
            </a:xfrm>
            <a:custGeom>
              <a:avLst/>
              <a:gdLst/>
              <a:ahLst/>
              <a:cxnLst/>
              <a:rect l="0" t="0" r="0" b="0"/>
              <a:pathLst>
                <a:path w="2306" h="2236">
                  <a:moveTo>
                    <a:pt x="1" y="1118"/>
                  </a:moveTo>
                  <a:cubicBezTo>
                    <a:pt x="0" y="500"/>
                    <a:pt x="516" y="0"/>
                    <a:pt x="1153" y="0"/>
                  </a:cubicBezTo>
                  <a:cubicBezTo>
                    <a:pt x="1790" y="0"/>
                    <a:pt x="2306" y="500"/>
                    <a:pt x="2306" y="1118"/>
                  </a:cubicBezTo>
                  <a:cubicBezTo>
                    <a:pt x="2306" y="1735"/>
                    <a:pt x="1790" y="2236"/>
                    <a:pt x="1153" y="2236"/>
                  </a:cubicBezTo>
                  <a:cubicBezTo>
                    <a:pt x="516" y="2236"/>
                    <a:pt x="0" y="1735"/>
                    <a:pt x="1" y="1118"/>
                  </a:cubicBezTo>
                </a:path>
              </a:pathLst>
            </a:custGeom>
            <a:solidFill>
              <a:srgbClr val="5B9BD5">
                <a:alpha val="100000"/>
              </a:srgbClr>
            </a:solidFill>
            <a:ln w="0" cap="flat">
              <a:noFill/>
              <a:prstDash val="solid"/>
              <a:miter lim="0"/>
            </a:ln>
          </p:spPr>
          <p:txBody>
            <a:bodyPr rtlCol="0"/>
            <a:lstStyle/>
            <a:p>
              <a:pPr algn="ctr"/>
              <a:endParaRPr lang="zh-CN" altLang="en-US"/>
            </a:p>
          </p:txBody>
        </p:sp>
        <p:sp>
          <p:nvSpPr>
            <p:cNvPr id="612" name="textbox 612"/>
            <p:cNvSpPr/>
            <p:nvPr/>
          </p:nvSpPr>
          <p:spPr>
            <a:xfrm>
              <a:off x="-12700" y="-12700"/>
              <a:ext cx="1490344" cy="1457325"/>
            </a:xfrm>
            <a:prstGeom prst="rect">
              <a:avLst/>
            </a:prstGeom>
            <a:noFill/>
            <a:ln w="0" cap="flat">
              <a:noFill/>
              <a:prstDash val="solid"/>
              <a:miter lim="0"/>
            </a:ln>
          </p:spPr>
          <p:txBody>
            <a:bodyPr vert="horz" wrap="square" lIns="0" tIns="0" rIns="0" bIns="0"/>
            <a:lstStyle/>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marL="716915" algn="l" rtl="0" eaLnBrk="0">
                <a:lnSpc>
                  <a:spcPts val="590"/>
                </a:lnSpc>
                <a:spcBef>
                  <a:spcPts val="5"/>
                </a:spcBef>
              </a:pPr>
              <a:r>
                <a:rPr sz="1000" kern="0" spc="-10" dirty="0">
                  <a:solidFill>
                    <a:srgbClr val="FFFFFF">
                      <a:alpha val="100000"/>
                    </a:srgbClr>
                  </a:solidFill>
                  <a:latin typeface="Calibri" panose="020F0502020204030204"/>
                  <a:ea typeface="Calibri" panose="020F0502020204030204"/>
                  <a:cs typeface="Calibri" panose="020F0502020204030204"/>
                </a:rPr>
                <a:t>v</a:t>
              </a:r>
              <a:endParaRPr sz="1000" dirty="0">
                <a:latin typeface="Calibri" panose="020F0502020204030204"/>
                <a:ea typeface="Calibri" panose="020F0502020204030204"/>
                <a:cs typeface="Calibri" panose="020F0502020204030204"/>
              </a:endParaRPr>
            </a:p>
          </p:txBody>
        </p:sp>
      </p:grpSp>
      <p:pic>
        <p:nvPicPr>
          <p:cNvPr id="614" name="picture 614"/>
          <p:cNvPicPr>
            <a:picLocks noChangeAspect="1"/>
          </p:cNvPicPr>
          <p:nvPr/>
        </p:nvPicPr>
        <p:blipFill>
          <a:blip r:embed="rId3" cstate="print"/>
          <a:stretch>
            <a:fillRect/>
          </a:stretch>
        </p:blipFill>
        <p:spPr>
          <a:xfrm rot="21600000">
            <a:off x="546459" y="3057755"/>
            <a:ext cx="1439312" cy="1723032"/>
          </a:xfrm>
          <a:prstGeom prst="rect">
            <a:avLst/>
          </a:prstGeom>
        </p:spPr>
      </p:pic>
      <p:grpSp>
        <p:nvGrpSpPr>
          <p:cNvPr id="5" name="group 30"/>
          <p:cNvGrpSpPr/>
          <p:nvPr/>
        </p:nvGrpSpPr>
        <p:grpSpPr>
          <a:xfrm rot="21600000">
            <a:off x="6864977" y="422789"/>
            <a:ext cx="1789370" cy="2104410"/>
            <a:chOff x="-246507" y="-412067"/>
            <a:chExt cx="1711833" cy="1832346"/>
          </a:xfrm>
        </p:grpSpPr>
        <p:sp>
          <p:nvSpPr>
            <p:cNvPr id="616" name="path 616"/>
            <p:cNvSpPr/>
            <p:nvPr/>
          </p:nvSpPr>
          <p:spPr>
            <a:xfrm>
              <a:off x="0" y="0"/>
              <a:ext cx="1465326" cy="1420279"/>
            </a:xfrm>
            <a:custGeom>
              <a:avLst/>
              <a:gdLst/>
              <a:ahLst/>
              <a:cxnLst/>
              <a:rect l="0" t="0" r="0" b="0"/>
              <a:pathLst>
                <a:path w="2307" h="2236">
                  <a:moveTo>
                    <a:pt x="0" y="1118"/>
                  </a:moveTo>
                  <a:cubicBezTo>
                    <a:pt x="0" y="500"/>
                    <a:pt x="517" y="0"/>
                    <a:pt x="1154" y="0"/>
                  </a:cubicBezTo>
                  <a:cubicBezTo>
                    <a:pt x="1791" y="0"/>
                    <a:pt x="2307" y="500"/>
                    <a:pt x="2307" y="1118"/>
                  </a:cubicBezTo>
                  <a:cubicBezTo>
                    <a:pt x="2307" y="1735"/>
                    <a:pt x="1791" y="2236"/>
                    <a:pt x="1154" y="2236"/>
                  </a:cubicBezTo>
                  <a:cubicBezTo>
                    <a:pt x="517" y="2236"/>
                    <a:pt x="0" y="1735"/>
                    <a:pt x="0" y="1118"/>
                  </a:cubicBezTo>
                </a:path>
              </a:pathLst>
            </a:custGeom>
            <a:solidFill>
              <a:srgbClr val="5B9BD5">
                <a:alpha val="100000"/>
              </a:srgbClr>
            </a:solidFill>
            <a:ln w="0" cap="flat">
              <a:noFill/>
              <a:prstDash val="solid"/>
              <a:miter lim="0"/>
            </a:ln>
          </p:spPr>
          <p:txBody>
            <a:bodyPr rtlCol="0"/>
            <a:lstStyle/>
            <a:p>
              <a:pPr algn="ctr"/>
              <a:endParaRPr lang="zh-CN" altLang="en-US"/>
            </a:p>
          </p:txBody>
        </p:sp>
        <p:sp>
          <p:nvSpPr>
            <p:cNvPr id="618" name="textbox 618"/>
            <p:cNvSpPr/>
            <p:nvPr/>
          </p:nvSpPr>
          <p:spPr>
            <a:xfrm>
              <a:off x="-246507" y="-412067"/>
              <a:ext cx="1490980" cy="1457325"/>
            </a:xfrm>
            <a:prstGeom prst="rect">
              <a:avLst/>
            </a:prstGeom>
            <a:noFill/>
            <a:ln w="0" cap="flat">
              <a:noFill/>
              <a:prstDash val="solid"/>
              <a:miter lim="0"/>
            </a:ln>
          </p:spPr>
          <p:txBody>
            <a:bodyPr vert="horz" wrap="square" lIns="0" tIns="0" rIns="0" bIns="0"/>
            <a:lstStyle/>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marL="717550" algn="l" rtl="0" eaLnBrk="0">
                <a:lnSpc>
                  <a:spcPts val="590"/>
                </a:lnSpc>
                <a:spcBef>
                  <a:spcPts val="5"/>
                </a:spcBef>
              </a:pPr>
              <a:r>
                <a:rPr sz="1000" kern="0" spc="-10" dirty="0">
                  <a:solidFill>
                    <a:srgbClr val="FFFFFF">
                      <a:alpha val="100000"/>
                    </a:srgbClr>
                  </a:solidFill>
                  <a:latin typeface="Calibri" panose="020F0502020204030204"/>
                  <a:ea typeface="Calibri" panose="020F0502020204030204"/>
                  <a:cs typeface="Calibri" panose="020F0502020204030204"/>
                </a:rPr>
                <a:t>v</a:t>
              </a:r>
              <a:endParaRPr sz="1000" dirty="0">
                <a:latin typeface="Calibri" panose="020F0502020204030204"/>
                <a:ea typeface="Calibri" panose="020F0502020204030204"/>
                <a:cs typeface="Calibri" panose="020F0502020204030204"/>
              </a:endParaRPr>
            </a:p>
          </p:txBody>
        </p:sp>
      </p:grpSp>
      <p:pic>
        <p:nvPicPr>
          <p:cNvPr id="620" name="picture 620"/>
          <p:cNvPicPr>
            <a:picLocks noChangeAspect="1"/>
          </p:cNvPicPr>
          <p:nvPr/>
        </p:nvPicPr>
        <p:blipFill>
          <a:blip r:embed="rId4" cstate="print"/>
          <a:stretch>
            <a:fillRect/>
          </a:stretch>
        </p:blipFill>
        <p:spPr>
          <a:xfrm rot="21600000">
            <a:off x="7234201" y="806240"/>
            <a:ext cx="1330950" cy="1720959"/>
          </a:xfrm>
          <a:prstGeom prst="rect">
            <a:avLst/>
          </a:prstGeom>
        </p:spPr>
      </p:pic>
      <p:sp>
        <p:nvSpPr>
          <p:cNvPr id="624" name="textbox 624"/>
          <p:cNvSpPr/>
          <p:nvPr/>
        </p:nvSpPr>
        <p:spPr>
          <a:xfrm>
            <a:off x="2017699" y="3446005"/>
            <a:ext cx="1789370" cy="252729"/>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eaLnBrk="0">
              <a:lnSpc>
                <a:spcPct val="88000"/>
              </a:lnSpc>
            </a:pPr>
            <a:r>
              <a:rPr sz="1700" b="1" kern="0" spc="140" dirty="0" err="1">
                <a:solidFill>
                  <a:srgbClr val="01518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汤希峰</a:t>
            </a:r>
            <a:r>
              <a:rPr lang="en-US" sz="1700" b="1" kern="0" spc="140" dirty="0">
                <a:solidFill>
                  <a:srgbClr val="01518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1050" b="1" dirty="0">
                <a:latin typeface="微软雅黑" panose="020B0503020204020204" pitchFamily="34" charset="-122"/>
                <a:ea typeface="微软雅黑" panose="020B0503020204020204" pitchFamily="34" charset="-122"/>
              </a:rPr>
              <a:t>项目总监</a:t>
            </a:r>
            <a:endParaRPr sz="105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26" name="picture 626"/>
          <p:cNvPicPr>
            <a:picLocks noChangeAspect="1"/>
          </p:cNvPicPr>
          <p:nvPr/>
        </p:nvPicPr>
        <p:blipFill>
          <a:blip r:embed="rId5" cstate="print"/>
          <a:stretch>
            <a:fillRect/>
          </a:stretch>
        </p:blipFill>
        <p:spPr>
          <a:xfrm rot="21600000">
            <a:off x="0" y="120396"/>
            <a:ext cx="286511" cy="480059"/>
          </a:xfrm>
          <a:prstGeom prst="rect">
            <a:avLst/>
          </a:prstGeom>
        </p:spPr>
      </p:pic>
      <p:sp>
        <p:nvSpPr>
          <p:cNvPr id="17" name="标题 1"/>
          <p:cNvSpPr txBox="1"/>
          <p:nvPr/>
        </p:nvSpPr>
        <p:spPr>
          <a:xfrm>
            <a:off x="343535" y="281940"/>
            <a:ext cx="6779260" cy="323850"/>
          </a:xfrm>
          <a:prstGeom prst="rect">
            <a:avLst/>
          </a:prstGeom>
        </p:spPr>
        <p:txBody>
          <a:bodyPr vert="horz" wrap="square" lIns="0" tIns="0" rIns="0" bIns="0" rtlCol="0" anchor="ctr"/>
          <a:lstStyle/>
          <a:p>
            <a:pPr algn="l">
              <a:lnSpc>
                <a:spcPct val="110000"/>
              </a:lnSpc>
            </a:pPr>
            <a:r>
              <a:rPr lang="en-US" altLang="zh-CN" sz="21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1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rPr>
              <a:t>联</a:t>
            </a:r>
            <a:r>
              <a:rPr lang="zh-CN" altLang="en-US" sz="21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rPr>
              <a:t>合创始人</a:t>
            </a:r>
            <a:endParaRPr lang="zh-CN" altLang="en-US" sz="21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textbox 624"/>
          <p:cNvSpPr/>
          <p:nvPr/>
        </p:nvSpPr>
        <p:spPr>
          <a:xfrm>
            <a:off x="7196429" y="2510311"/>
            <a:ext cx="1789370" cy="217932"/>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eaLnBrk="0">
              <a:lnSpc>
                <a:spcPct val="88000"/>
              </a:lnSpc>
            </a:pPr>
            <a:r>
              <a:rPr lang="zh-CN" altLang="en-US" sz="1700" b="1" kern="0" spc="140" dirty="0">
                <a:solidFill>
                  <a:srgbClr val="01518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杨海飞</a:t>
            </a:r>
            <a:r>
              <a:rPr lang="en-US" sz="1700" b="1" kern="0" spc="140" dirty="0">
                <a:solidFill>
                  <a:srgbClr val="01518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050" b="1" kern="0" spc="140" dirty="0">
                <a:latin typeface="微软雅黑" panose="020B0503020204020204" pitchFamily="34" charset="-122"/>
                <a:ea typeface="微软雅黑" panose="020B0503020204020204" pitchFamily="34" charset="-122"/>
                <a:cs typeface="微软雅黑" panose="020B0503020204020204" pitchFamily="34" charset="-122"/>
              </a:rPr>
              <a:t>技术</a:t>
            </a:r>
            <a:r>
              <a:rPr lang="zh-CN" altLang="zh-CN" sz="1050" b="1" dirty="0">
                <a:latin typeface="微软雅黑" panose="020B0503020204020204" pitchFamily="34" charset="-122"/>
                <a:ea typeface="微软雅黑" panose="020B0503020204020204" pitchFamily="34" charset="-122"/>
              </a:rPr>
              <a:t>总监</a:t>
            </a:r>
            <a:endParaRPr sz="1050" b="1" dirty="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4" name="直接连接符 3"/>
          <p:cNvCxnSpPr/>
          <p:nvPr/>
        </p:nvCxnSpPr>
        <p:spPr>
          <a:xfrm>
            <a:off x="283028" y="714209"/>
            <a:ext cx="8577943"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 name="rect 628"/>
          <p:cNvSpPr/>
          <p:nvPr/>
        </p:nvSpPr>
        <p:spPr>
          <a:xfrm>
            <a:off x="0" y="0"/>
            <a:ext cx="9144000" cy="5143500"/>
          </a:xfrm>
          <a:prstGeom prst="rect">
            <a:avLst/>
          </a:prstGeom>
          <a:solidFill>
            <a:srgbClr val="F2F2F2">
              <a:alpha val="10196"/>
            </a:srgbClr>
          </a:solidFill>
          <a:ln w="0" cap="flat">
            <a:noFill/>
            <a:prstDash val="solid"/>
            <a:miter lim="0"/>
          </a:ln>
        </p:spPr>
        <p:txBody>
          <a:bodyPr rtlCol="0"/>
          <a:lstStyle/>
          <a:p>
            <a:pPr algn="ctr"/>
            <a:endParaRPr lang="zh-CN" altLang="en-US"/>
          </a:p>
        </p:txBody>
      </p:sp>
      <p:sp>
        <p:nvSpPr>
          <p:cNvPr id="630" name="textbox 630"/>
          <p:cNvSpPr/>
          <p:nvPr/>
        </p:nvSpPr>
        <p:spPr>
          <a:xfrm>
            <a:off x="6156533" y="3755294"/>
            <a:ext cx="2611754" cy="125920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92000"/>
              </a:lnSpc>
              <a:tabLst>
                <a:tab pos="102235" algn="l"/>
              </a:tabLst>
            </a:pPr>
            <a:r>
              <a:rPr sz="900" b="1"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专注于前沿技术研发与复杂系统架构。</a:t>
            </a:r>
            <a:endParaRPr sz="900" dirty="0">
              <a:latin typeface="微软雅黑" panose="020B0503020204020204" pitchFamily="34" charset="-122"/>
              <a:ea typeface="微软雅黑" panose="020B0503020204020204" pitchFamily="34" charset="-122"/>
              <a:cs typeface="微软雅黑" panose="020B0503020204020204" pitchFamily="34" charset="-122"/>
            </a:endParaRPr>
          </a:p>
          <a:p>
            <a:pPr marL="175895" indent="-163830" algn="l" rtl="0" eaLnBrk="0">
              <a:lnSpc>
                <a:spcPct val="122000"/>
              </a:lnSpc>
              <a:spcBef>
                <a:spcPts val="450"/>
              </a:spcBef>
              <a:tabLst>
                <a:tab pos="102235" algn="l"/>
              </a:tabLst>
            </a:pPr>
            <a:r>
              <a:rPr sz="900" b="1"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曾主持开发长江桥梁防碰撞系统、</a:t>
            </a:r>
            <a:r>
              <a:rPr sz="900" b="1" kern="0" spc="-1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上海</a:t>
            </a:r>
            <a:r>
              <a:rPr sz="900" b="1"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铁路</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局轨道智能监测机器人</a:t>
            </a:r>
            <a:r>
              <a:rPr sz="900" b="1" kern="0" spc="-1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900" b="1" kern="0" spc="-16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以及应用于交通与</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医疗等领域的非侵入式眼动追踪智能体。</a:t>
            </a:r>
            <a:endParaRPr sz="9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2000"/>
              </a:lnSpc>
            </a:pPr>
            <a:endParaRPr sz="300" dirty="0">
              <a:latin typeface="Arial" panose="020B0604020202020204"/>
              <a:ea typeface="Arial" panose="020B0604020202020204"/>
              <a:cs typeface="Arial" panose="020B0604020202020204"/>
            </a:endParaRPr>
          </a:p>
          <a:p>
            <a:pPr marL="177800" indent="-165100" algn="l" rtl="0" eaLnBrk="0">
              <a:lnSpc>
                <a:spcPct val="122000"/>
              </a:lnSpc>
              <a:tabLst>
                <a:tab pos="102235" algn="l"/>
              </a:tabLst>
            </a:pPr>
            <a:r>
              <a:rPr sz="900" b="1"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具备全链路开发与系统优化能力</a:t>
            </a:r>
            <a:r>
              <a:rPr sz="900" b="1" kern="0" spc="-1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，长期致力</a:t>
            </a:r>
            <a:r>
              <a:rPr sz="900" b="1" kern="0" spc="1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于大数据与人工智能技术</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应用</a:t>
            </a:r>
            <a:r>
              <a:rPr sz="900" b="1" kern="0" spc="-1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，擅长运用</a:t>
            </a:r>
            <a:r>
              <a:rPr sz="900" b="1"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AI</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工具构建智能模型与系</a:t>
            </a:r>
            <a:r>
              <a:rPr sz="900" b="1"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统。</a:t>
            </a:r>
            <a:endParaRPr sz="9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32" name="picture 632"/>
          <p:cNvPicPr>
            <a:picLocks noChangeAspect="1"/>
          </p:cNvPicPr>
          <p:nvPr/>
        </p:nvPicPr>
        <p:blipFill>
          <a:blip r:embed="rId1" cstate="print"/>
          <a:stretch>
            <a:fillRect/>
          </a:stretch>
        </p:blipFill>
        <p:spPr>
          <a:xfrm rot="21600000">
            <a:off x="6169233" y="4508739"/>
            <a:ext cx="90098" cy="82642"/>
          </a:xfrm>
          <a:prstGeom prst="rect">
            <a:avLst/>
          </a:prstGeom>
        </p:spPr>
      </p:pic>
      <p:pic>
        <p:nvPicPr>
          <p:cNvPr id="634" name="picture 634"/>
          <p:cNvPicPr>
            <a:picLocks noChangeAspect="1"/>
          </p:cNvPicPr>
          <p:nvPr/>
        </p:nvPicPr>
        <p:blipFill>
          <a:blip r:embed="rId1" cstate="print"/>
          <a:stretch>
            <a:fillRect/>
          </a:stretch>
        </p:blipFill>
        <p:spPr>
          <a:xfrm rot="21600000">
            <a:off x="6169233" y="3960099"/>
            <a:ext cx="90098" cy="82642"/>
          </a:xfrm>
          <a:prstGeom prst="rect">
            <a:avLst/>
          </a:prstGeom>
        </p:spPr>
      </p:pic>
      <p:pic>
        <p:nvPicPr>
          <p:cNvPr id="636" name="picture 636"/>
          <p:cNvPicPr>
            <a:picLocks noChangeAspect="1"/>
          </p:cNvPicPr>
          <p:nvPr/>
        </p:nvPicPr>
        <p:blipFill>
          <a:blip r:embed="rId1" cstate="print"/>
          <a:stretch>
            <a:fillRect/>
          </a:stretch>
        </p:blipFill>
        <p:spPr>
          <a:xfrm rot="21600000">
            <a:off x="6169233" y="3777219"/>
            <a:ext cx="90098" cy="82642"/>
          </a:xfrm>
          <a:prstGeom prst="rect">
            <a:avLst/>
          </a:prstGeom>
        </p:spPr>
      </p:pic>
      <p:pic>
        <p:nvPicPr>
          <p:cNvPr id="638" name="picture 638"/>
          <p:cNvPicPr>
            <a:picLocks noChangeAspect="1"/>
          </p:cNvPicPr>
          <p:nvPr/>
        </p:nvPicPr>
        <p:blipFill>
          <a:blip r:embed="rId2" cstate="print"/>
          <a:stretch>
            <a:fillRect/>
          </a:stretch>
        </p:blipFill>
        <p:spPr>
          <a:xfrm rot="21600000">
            <a:off x="4405134" y="2192616"/>
            <a:ext cx="76200" cy="1228724"/>
          </a:xfrm>
          <a:prstGeom prst="rect">
            <a:avLst/>
          </a:prstGeom>
        </p:spPr>
      </p:pic>
      <p:pic>
        <p:nvPicPr>
          <p:cNvPr id="640" name="picture 640"/>
          <p:cNvPicPr>
            <a:picLocks noChangeAspect="1"/>
          </p:cNvPicPr>
          <p:nvPr/>
        </p:nvPicPr>
        <p:blipFill>
          <a:blip r:embed="rId3" cstate="print"/>
          <a:stretch>
            <a:fillRect/>
          </a:stretch>
        </p:blipFill>
        <p:spPr>
          <a:xfrm rot="21600000">
            <a:off x="3585971" y="623315"/>
            <a:ext cx="1804416" cy="1741932"/>
          </a:xfrm>
          <a:prstGeom prst="rect">
            <a:avLst/>
          </a:prstGeom>
        </p:spPr>
      </p:pic>
      <p:sp>
        <p:nvSpPr>
          <p:cNvPr id="642" name="textbox 642"/>
          <p:cNvSpPr/>
          <p:nvPr/>
        </p:nvSpPr>
        <p:spPr>
          <a:xfrm>
            <a:off x="3283158" y="3809143"/>
            <a:ext cx="2473325" cy="1259205"/>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a:ea typeface="Arial" panose="020B0604020202020204"/>
              <a:cs typeface="Arial" panose="020B0604020202020204"/>
            </a:endParaRPr>
          </a:p>
          <a:p>
            <a:pPr marL="175895" indent="-163830" algn="l" rtl="0" eaLnBrk="0">
              <a:lnSpc>
                <a:spcPct val="122000"/>
              </a:lnSpc>
              <a:tabLst>
                <a:tab pos="102235" algn="l"/>
              </a:tabLst>
            </a:pPr>
            <a:r>
              <a:rPr sz="900" b="1"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7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曾先后在市场营销、</a:t>
            </a:r>
            <a:r>
              <a:rPr sz="900" b="1" kern="0" spc="-1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法律服务、</a:t>
            </a:r>
            <a:r>
              <a:rPr sz="900" b="1" kern="0" spc="-16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金融证券</a:t>
            </a:r>
            <a:r>
              <a:rPr sz="900" b="1" kern="0" spc="7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等多领域</a:t>
            </a:r>
            <a:r>
              <a:rPr sz="900" b="1" kern="0" spc="-1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7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，服务过初创民企、</a:t>
            </a:r>
            <a:r>
              <a:rPr sz="900" b="1" kern="0" spc="-1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7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大型国企、</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五百强外企等多类型企业</a:t>
            </a:r>
            <a:r>
              <a:rPr sz="900" b="1"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9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49000"/>
              </a:lnSpc>
            </a:pPr>
            <a:endParaRPr sz="200" dirty="0">
              <a:latin typeface="Arial" panose="020B0604020202020204"/>
              <a:ea typeface="Arial" panose="020B0604020202020204"/>
              <a:cs typeface="Arial" panose="020B0604020202020204"/>
            </a:endParaRPr>
          </a:p>
          <a:p>
            <a:pPr marL="175260" indent="-162560" algn="l" rtl="0" eaLnBrk="0">
              <a:lnSpc>
                <a:spcPct val="125000"/>
              </a:lnSpc>
              <a:spcBef>
                <a:spcPts val="0"/>
              </a:spcBef>
              <a:tabLst>
                <a:tab pos="102235" algn="l"/>
              </a:tabLst>
            </a:pPr>
            <a:r>
              <a:rPr sz="900" b="1"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熟悉资本和企业对接的操作流程</a:t>
            </a:r>
            <a:r>
              <a:rPr sz="900" b="1" kern="0" spc="-1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，实行精</a:t>
            </a:r>
            <a:r>
              <a:rPr sz="900" b="1"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准有效链接</a:t>
            </a:r>
            <a:r>
              <a:rPr sz="900" b="1" kern="0" spc="-6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，达到合作双赢。</a:t>
            </a:r>
            <a:r>
              <a:rPr sz="900" b="1" kern="0" spc="-1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具备企业上</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市的法律知识</a:t>
            </a:r>
            <a:r>
              <a:rPr sz="900" b="1" kern="0" spc="-1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，为企业的发展提供法律层面的保驾护航</a:t>
            </a:r>
            <a:endParaRPr sz="9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44" name="picture 644"/>
          <p:cNvPicPr>
            <a:picLocks noChangeAspect="1"/>
          </p:cNvPicPr>
          <p:nvPr/>
        </p:nvPicPr>
        <p:blipFill>
          <a:blip r:embed="rId4" cstate="print"/>
          <a:stretch>
            <a:fillRect/>
          </a:stretch>
        </p:blipFill>
        <p:spPr>
          <a:xfrm rot="21600000">
            <a:off x="3295858" y="4379834"/>
            <a:ext cx="90098" cy="82642"/>
          </a:xfrm>
          <a:prstGeom prst="rect">
            <a:avLst/>
          </a:prstGeom>
        </p:spPr>
      </p:pic>
      <p:pic>
        <p:nvPicPr>
          <p:cNvPr id="646" name="picture 646"/>
          <p:cNvPicPr>
            <a:picLocks noChangeAspect="1"/>
          </p:cNvPicPr>
          <p:nvPr/>
        </p:nvPicPr>
        <p:blipFill>
          <a:blip r:embed="rId5" cstate="print"/>
          <a:stretch>
            <a:fillRect/>
          </a:stretch>
        </p:blipFill>
        <p:spPr>
          <a:xfrm rot="21600000">
            <a:off x="3295858" y="3831194"/>
            <a:ext cx="90098" cy="82642"/>
          </a:xfrm>
          <a:prstGeom prst="rect">
            <a:avLst/>
          </a:prstGeom>
        </p:spPr>
      </p:pic>
      <p:pic>
        <p:nvPicPr>
          <p:cNvPr id="648" name="picture 648"/>
          <p:cNvPicPr>
            <a:picLocks noChangeAspect="1"/>
          </p:cNvPicPr>
          <p:nvPr/>
        </p:nvPicPr>
        <p:blipFill>
          <a:blip r:embed="rId6" cstate="print"/>
          <a:stretch>
            <a:fillRect/>
          </a:stretch>
        </p:blipFill>
        <p:spPr>
          <a:xfrm rot="21600000">
            <a:off x="7183843" y="2192616"/>
            <a:ext cx="76200" cy="1228724"/>
          </a:xfrm>
          <a:prstGeom prst="rect">
            <a:avLst/>
          </a:prstGeom>
        </p:spPr>
      </p:pic>
      <p:pic>
        <p:nvPicPr>
          <p:cNvPr id="650" name="picture 650"/>
          <p:cNvPicPr>
            <a:picLocks noChangeAspect="1"/>
          </p:cNvPicPr>
          <p:nvPr/>
        </p:nvPicPr>
        <p:blipFill>
          <a:blip r:embed="rId7" cstate="print"/>
          <a:stretch>
            <a:fillRect/>
          </a:stretch>
        </p:blipFill>
        <p:spPr>
          <a:xfrm rot="21600000">
            <a:off x="6445250" y="728979"/>
            <a:ext cx="1539875" cy="1557705"/>
          </a:xfrm>
          <a:prstGeom prst="rect">
            <a:avLst/>
          </a:prstGeom>
        </p:spPr>
      </p:pic>
      <p:pic>
        <p:nvPicPr>
          <p:cNvPr id="652" name="picture 652"/>
          <p:cNvPicPr>
            <a:picLocks noChangeAspect="1"/>
          </p:cNvPicPr>
          <p:nvPr/>
        </p:nvPicPr>
        <p:blipFill>
          <a:blip r:embed="rId8" cstate="print"/>
          <a:stretch>
            <a:fillRect/>
          </a:stretch>
        </p:blipFill>
        <p:spPr>
          <a:xfrm rot="21600000">
            <a:off x="1600415" y="2192616"/>
            <a:ext cx="76199" cy="1228724"/>
          </a:xfrm>
          <a:prstGeom prst="rect">
            <a:avLst/>
          </a:prstGeom>
        </p:spPr>
      </p:pic>
      <p:pic>
        <p:nvPicPr>
          <p:cNvPr id="654" name="picture 654"/>
          <p:cNvPicPr>
            <a:picLocks noChangeAspect="1"/>
          </p:cNvPicPr>
          <p:nvPr/>
        </p:nvPicPr>
        <p:blipFill>
          <a:blip r:embed="rId9" cstate="print"/>
          <a:stretch>
            <a:fillRect/>
          </a:stretch>
        </p:blipFill>
        <p:spPr>
          <a:xfrm rot="21600000">
            <a:off x="894588" y="783335"/>
            <a:ext cx="1519427" cy="1508760"/>
          </a:xfrm>
          <a:prstGeom prst="rect">
            <a:avLst/>
          </a:prstGeom>
        </p:spPr>
      </p:pic>
      <p:sp>
        <p:nvSpPr>
          <p:cNvPr id="656" name="textbox 656"/>
          <p:cNvSpPr/>
          <p:nvPr/>
        </p:nvSpPr>
        <p:spPr>
          <a:xfrm>
            <a:off x="484078" y="3809269"/>
            <a:ext cx="2219325" cy="710565"/>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77800" indent="-165100" algn="l" rtl="0" eaLnBrk="0">
              <a:lnSpc>
                <a:spcPct val="116000"/>
              </a:lnSpc>
              <a:tabLst>
                <a:tab pos="102235" algn="l"/>
              </a:tabLst>
            </a:pPr>
            <a:r>
              <a:rPr sz="900" b="1"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从事信息化、</a:t>
            </a:r>
            <a:r>
              <a:rPr sz="900" b="1" kern="0" spc="-1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智能化领域开发、</a:t>
            </a:r>
            <a:r>
              <a:rPr sz="900" b="1" kern="0" spc="-1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市场营销及管理工作多年。</a:t>
            </a:r>
            <a:endParaRPr sz="9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3000"/>
              </a:lnSpc>
            </a:pPr>
            <a:endParaRPr sz="300" dirty="0">
              <a:latin typeface="Arial" panose="020B0604020202020204"/>
              <a:ea typeface="Arial" panose="020B0604020202020204"/>
              <a:cs typeface="Arial" panose="020B0604020202020204"/>
            </a:endParaRPr>
          </a:p>
          <a:p>
            <a:pPr marL="177800" indent="-165100" algn="l" rtl="0" eaLnBrk="0">
              <a:lnSpc>
                <a:spcPct val="116000"/>
              </a:lnSpc>
              <a:spcBef>
                <a:spcPts val="5"/>
              </a:spcBef>
              <a:tabLst>
                <a:tab pos="102235" algn="l"/>
              </a:tabLst>
            </a:pPr>
            <a:r>
              <a:rPr sz="900" b="1"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900" b="1"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国企和外资企业负责江苏区域市场运</a:t>
            </a:r>
            <a:r>
              <a:rPr sz="900" b="1"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营。</a:t>
            </a:r>
            <a:endParaRPr sz="9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58" name="picture 658"/>
          <p:cNvPicPr>
            <a:picLocks noChangeAspect="1"/>
          </p:cNvPicPr>
          <p:nvPr/>
        </p:nvPicPr>
        <p:blipFill>
          <a:blip r:embed="rId4" cstate="print"/>
          <a:stretch>
            <a:fillRect/>
          </a:stretch>
        </p:blipFill>
        <p:spPr>
          <a:xfrm rot="21600000">
            <a:off x="496778" y="4196954"/>
            <a:ext cx="90098" cy="82642"/>
          </a:xfrm>
          <a:prstGeom prst="rect">
            <a:avLst/>
          </a:prstGeom>
        </p:spPr>
      </p:pic>
      <p:pic>
        <p:nvPicPr>
          <p:cNvPr id="660" name="picture 660"/>
          <p:cNvPicPr>
            <a:picLocks noChangeAspect="1"/>
          </p:cNvPicPr>
          <p:nvPr/>
        </p:nvPicPr>
        <p:blipFill>
          <a:blip r:embed="rId5" cstate="print"/>
          <a:stretch>
            <a:fillRect/>
          </a:stretch>
        </p:blipFill>
        <p:spPr>
          <a:xfrm rot="21600000">
            <a:off x="496778" y="3831194"/>
            <a:ext cx="90098" cy="82642"/>
          </a:xfrm>
          <a:prstGeom prst="rect">
            <a:avLst/>
          </a:prstGeom>
        </p:spPr>
      </p:pic>
      <p:grpSp>
        <p:nvGrpSpPr>
          <p:cNvPr id="4" name="group 32"/>
          <p:cNvGrpSpPr/>
          <p:nvPr/>
        </p:nvGrpSpPr>
        <p:grpSpPr>
          <a:xfrm rot="21600000">
            <a:off x="594359" y="2711195"/>
            <a:ext cx="2087879" cy="435864"/>
            <a:chOff x="0" y="0"/>
            <a:chExt cx="2087879" cy="435864"/>
          </a:xfrm>
        </p:grpSpPr>
        <p:sp>
          <p:nvSpPr>
            <p:cNvPr id="662" name="path 662"/>
            <p:cNvSpPr/>
            <p:nvPr/>
          </p:nvSpPr>
          <p:spPr>
            <a:xfrm>
              <a:off x="0" y="0"/>
              <a:ext cx="2087879" cy="435864"/>
            </a:xfrm>
            <a:custGeom>
              <a:avLst/>
              <a:gdLst/>
              <a:ahLst/>
              <a:cxnLst/>
              <a:rect l="0" t="0" r="0" b="0"/>
              <a:pathLst>
                <a:path w="3287" h="686">
                  <a:moveTo>
                    <a:pt x="0" y="0"/>
                  </a:moveTo>
                  <a:lnTo>
                    <a:pt x="2944" y="0"/>
                  </a:lnTo>
                  <a:lnTo>
                    <a:pt x="3287" y="343"/>
                  </a:lnTo>
                  <a:lnTo>
                    <a:pt x="2944" y="686"/>
                  </a:lnTo>
                  <a:lnTo>
                    <a:pt x="0" y="686"/>
                  </a:lnTo>
                  <a:lnTo>
                    <a:pt x="343" y="343"/>
                  </a:lnTo>
                  <a:lnTo>
                    <a:pt x="0" y="0"/>
                  </a:lnTo>
                </a:path>
              </a:pathLst>
            </a:custGeom>
            <a:solidFill>
              <a:srgbClr val="0070C0">
                <a:alpha val="100000"/>
              </a:srgbClr>
            </a:solidFill>
            <a:ln w="0" cap="flat">
              <a:noFill/>
              <a:prstDash val="solid"/>
              <a:miter lim="0"/>
            </a:ln>
          </p:spPr>
          <p:txBody>
            <a:bodyPr rtlCol="0"/>
            <a:lstStyle/>
            <a:p>
              <a:pPr algn="ctr"/>
              <a:endParaRPr lang="zh-CN" altLang="en-US"/>
            </a:p>
          </p:txBody>
        </p:sp>
        <p:sp>
          <p:nvSpPr>
            <p:cNvPr id="664" name="textbox 664"/>
            <p:cNvSpPr/>
            <p:nvPr/>
          </p:nvSpPr>
          <p:spPr>
            <a:xfrm>
              <a:off x="-12700" y="-12700"/>
              <a:ext cx="2113279" cy="462915"/>
            </a:xfrm>
            <a:prstGeom prst="rect">
              <a:avLst/>
            </a:prstGeom>
            <a:noFill/>
            <a:ln w="0" cap="flat">
              <a:noFill/>
              <a:prstDash val="solid"/>
              <a:miter lim="0"/>
            </a:ln>
          </p:spPr>
          <p:txBody>
            <a:bodyPr vert="horz" wrap="square" lIns="0" tIns="0" rIns="0" bIns="0"/>
            <a:lstStyle/>
            <a:p>
              <a:pPr algn="l" rtl="0" eaLnBrk="0">
                <a:lnSpc>
                  <a:spcPct val="108000"/>
                </a:lnSpc>
              </a:pPr>
              <a:endParaRPr sz="700" dirty="0">
                <a:latin typeface="Arial" panose="020B0604020202020204"/>
                <a:ea typeface="Arial" panose="020B0604020202020204"/>
                <a:cs typeface="Arial" panose="020B0604020202020204"/>
              </a:endParaRPr>
            </a:p>
            <a:p>
              <a:pPr marL="716280" algn="l" rtl="0" eaLnBrk="0">
                <a:lnSpc>
                  <a:spcPct val="87000"/>
                </a:lnSpc>
                <a:spcBef>
                  <a:spcPts val="0"/>
                </a:spcBef>
              </a:pPr>
              <a:r>
                <a:rPr sz="1700" b="1"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贾新强</a:t>
              </a:r>
              <a:endParaRPr sz="17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5" name="group 34"/>
          <p:cNvGrpSpPr/>
          <p:nvPr/>
        </p:nvGrpSpPr>
        <p:grpSpPr>
          <a:xfrm rot="21600000">
            <a:off x="6175248" y="2711195"/>
            <a:ext cx="2087879" cy="435864"/>
            <a:chOff x="0" y="0"/>
            <a:chExt cx="2087879" cy="435864"/>
          </a:xfrm>
        </p:grpSpPr>
        <p:sp>
          <p:nvSpPr>
            <p:cNvPr id="666" name="path 666"/>
            <p:cNvSpPr/>
            <p:nvPr/>
          </p:nvSpPr>
          <p:spPr>
            <a:xfrm>
              <a:off x="0" y="0"/>
              <a:ext cx="2087879" cy="435864"/>
            </a:xfrm>
            <a:custGeom>
              <a:avLst/>
              <a:gdLst/>
              <a:ahLst/>
              <a:cxnLst/>
              <a:rect l="0" t="0" r="0" b="0"/>
              <a:pathLst>
                <a:path w="3287" h="686">
                  <a:moveTo>
                    <a:pt x="0" y="0"/>
                  </a:moveTo>
                  <a:lnTo>
                    <a:pt x="2947" y="0"/>
                  </a:lnTo>
                  <a:lnTo>
                    <a:pt x="3287" y="343"/>
                  </a:lnTo>
                  <a:lnTo>
                    <a:pt x="2947" y="686"/>
                  </a:lnTo>
                  <a:lnTo>
                    <a:pt x="0" y="686"/>
                  </a:lnTo>
                  <a:lnTo>
                    <a:pt x="343" y="343"/>
                  </a:lnTo>
                  <a:lnTo>
                    <a:pt x="0" y="0"/>
                  </a:lnTo>
                </a:path>
              </a:pathLst>
            </a:custGeom>
            <a:solidFill>
              <a:srgbClr val="0070C0">
                <a:alpha val="100000"/>
              </a:srgbClr>
            </a:solidFill>
            <a:ln w="0" cap="flat">
              <a:noFill/>
              <a:prstDash val="solid"/>
              <a:miter lim="0"/>
            </a:ln>
          </p:spPr>
          <p:txBody>
            <a:bodyPr rtlCol="0"/>
            <a:lstStyle/>
            <a:p>
              <a:pPr algn="ctr"/>
              <a:endParaRPr lang="zh-CN" altLang="en-US"/>
            </a:p>
          </p:txBody>
        </p:sp>
        <p:sp>
          <p:nvSpPr>
            <p:cNvPr id="668" name="textbox 668"/>
            <p:cNvSpPr/>
            <p:nvPr/>
          </p:nvSpPr>
          <p:spPr>
            <a:xfrm>
              <a:off x="-12700" y="-12700"/>
              <a:ext cx="2113279" cy="461644"/>
            </a:xfrm>
            <a:prstGeom prst="rect">
              <a:avLst/>
            </a:prstGeom>
            <a:noFill/>
            <a:ln w="0" cap="flat">
              <a:noFill/>
              <a:prstDash val="solid"/>
              <a:miter lim="0"/>
            </a:ln>
          </p:spPr>
          <p:txBody>
            <a:bodyPr vert="horz" wrap="square" lIns="0" tIns="0" rIns="0" bIns="0"/>
            <a:lstStyle/>
            <a:p>
              <a:pPr algn="l" rtl="0" eaLnBrk="0">
                <a:lnSpc>
                  <a:spcPct val="105000"/>
                </a:lnSpc>
              </a:pPr>
              <a:endParaRPr sz="7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720090" algn="l" rtl="0" eaLnBrk="0">
                <a:lnSpc>
                  <a:spcPct val="88000"/>
                </a:lnSpc>
              </a:pPr>
              <a:r>
                <a:rPr sz="1700" b="1"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王文斐</a:t>
              </a:r>
              <a:endParaRPr sz="1700" dirty="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670" name="path 670"/>
          <p:cNvSpPr/>
          <p:nvPr/>
        </p:nvSpPr>
        <p:spPr>
          <a:xfrm>
            <a:off x="3462528" y="2712720"/>
            <a:ext cx="2087879" cy="435863"/>
          </a:xfrm>
          <a:custGeom>
            <a:avLst/>
            <a:gdLst/>
            <a:ahLst/>
            <a:cxnLst/>
            <a:rect l="0" t="0" r="0" b="0"/>
            <a:pathLst>
              <a:path w="3287" h="686">
                <a:moveTo>
                  <a:pt x="0" y="0"/>
                </a:moveTo>
                <a:lnTo>
                  <a:pt x="2944" y="0"/>
                </a:lnTo>
                <a:lnTo>
                  <a:pt x="3287" y="343"/>
                </a:lnTo>
                <a:lnTo>
                  <a:pt x="2944" y="686"/>
                </a:lnTo>
                <a:lnTo>
                  <a:pt x="0" y="686"/>
                </a:lnTo>
                <a:lnTo>
                  <a:pt x="343" y="343"/>
                </a:lnTo>
                <a:lnTo>
                  <a:pt x="0" y="0"/>
                </a:lnTo>
              </a:path>
            </a:pathLst>
          </a:custGeom>
          <a:solidFill>
            <a:srgbClr val="0070C0">
              <a:alpha val="100000"/>
            </a:srgbClr>
          </a:solidFill>
          <a:ln w="0" cap="flat">
            <a:noFill/>
            <a:prstDash val="solid"/>
            <a:miter lim="0"/>
          </a:ln>
        </p:spPr>
        <p:txBody>
          <a:bodyPr rtlCol="0"/>
          <a:lstStyle/>
          <a:p>
            <a:pPr algn="ctr"/>
            <a:endParaRPr lang="zh-CN" altLang="en-US"/>
          </a:p>
        </p:txBody>
      </p:sp>
      <p:pic>
        <p:nvPicPr>
          <p:cNvPr id="674" name="picture 674"/>
          <p:cNvPicPr>
            <a:picLocks noChangeAspect="1"/>
          </p:cNvPicPr>
          <p:nvPr/>
        </p:nvPicPr>
        <p:blipFill>
          <a:blip r:embed="rId10" cstate="print"/>
          <a:stretch>
            <a:fillRect/>
          </a:stretch>
        </p:blipFill>
        <p:spPr>
          <a:xfrm rot="21600000">
            <a:off x="6745147" y="3504628"/>
            <a:ext cx="947470" cy="186055"/>
          </a:xfrm>
          <a:prstGeom prst="rect">
            <a:avLst/>
          </a:prstGeom>
        </p:spPr>
      </p:pic>
      <p:pic>
        <p:nvPicPr>
          <p:cNvPr id="678" name="picture 678"/>
          <p:cNvPicPr>
            <a:picLocks noChangeAspect="1"/>
          </p:cNvPicPr>
          <p:nvPr/>
        </p:nvPicPr>
        <p:blipFill>
          <a:blip r:embed="rId11" cstate="print"/>
          <a:stretch>
            <a:fillRect/>
          </a:stretch>
        </p:blipFill>
        <p:spPr>
          <a:xfrm rot="21600000">
            <a:off x="1265250" y="3505263"/>
            <a:ext cx="942454" cy="185420"/>
          </a:xfrm>
          <a:prstGeom prst="rect">
            <a:avLst/>
          </a:prstGeom>
        </p:spPr>
      </p:pic>
      <p:pic>
        <p:nvPicPr>
          <p:cNvPr id="680" name="picture 680"/>
          <p:cNvPicPr>
            <a:picLocks noChangeAspect="1"/>
          </p:cNvPicPr>
          <p:nvPr/>
        </p:nvPicPr>
        <p:blipFill>
          <a:blip r:embed="rId12" cstate="print"/>
          <a:stretch>
            <a:fillRect/>
          </a:stretch>
        </p:blipFill>
        <p:spPr>
          <a:xfrm rot="21600000">
            <a:off x="0" y="120396"/>
            <a:ext cx="286511" cy="480059"/>
          </a:xfrm>
          <a:prstGeom prst="rect">
            <a:avLst/>
          </a:prstGeom>
        </p:spPr>
      </p:pic>
      <p:pic>
        <p:nvPicPr>
          <p:cNvPr id="682" name="picture 682"/>
          <p:cNvPicPr>
            <a:picLocks noChangeAspect="1"/>
          </p:cNvPicPr>
          <p:nvPr/>
        </p:nvPicPr>
        <p:blipFill>
          <a:blip r:embed="rId13" cstate="print"/>
          <a:stretch>
            <a:fillRect/>
          </a:stretch>
        </p:blipFill>
        <p:spPr>
          <a:xfrm rot="21600000">
            <a:off x="8857488" y="4593335"/>
            <a:ext cx="286511" cy="480059"/>
          </a:xfrm>
          <a:prstGeom prst="rect">
            <a:avLst/>
          </a:prstGeom>
        </p:spPr>
      </p:pic>
      <p:sp>
        <p:nvSpPr>
          <p:cNvPr id="684" name="textbox 684"/>
          <p:cNvSpPr/>
          <p:nvPr/>
        </p:nvSpPr>
        <p:spPr>
          <a:xfrm>
            <a:off x="4265955" y="2801594"/>
            <a:ext cx="481330" cy="25082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87000"/>
              </a:lnSpc>
            </a:pPr>
            <a:r>
              <a:rPr sz="1700" b="1"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周全</a:t>
            </a:r>
            <a:endParaRPr sz="1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标题 1"/>
          <p:cNvSpPr txBox="1"/>
          <p:nvPr/>
        </p:nvSpPr>
        <p:spPr>
          <a:xfrm>
            <a:off x="182245" y="281940"/>
            <a:ext cx="6779260" cy="323850"/>
          </a:xfrm>
          <a:prstGeom prst="rect">
            <a:avLst/>
          </a:prstGeom>
        </p:spPr>
        <p:txBody>
          <a:bodyPr vert="horz" wrap="square" lIns="0" tIns="0" rIns="0" bIns="0" rtlCol="0" anchor="ctr"/>
          <a:lstStyle/>
          <a:p>
            <a:pPr algn="l">
              <a:lnSpc>
                <a:spcPct val="110000"/>
              </a:lnSpc>
            </a:pPr>
            <a:r>
              <a:rPr lang="en-US" altLang="zh-CN" sz="21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1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rPr>
              <a:t>核</a:t>
            </a:r>
            <a:r>
              <a:rPr lang="zh-CN" altLang="en-US" sz="21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rPr>
              <a:t>心成员</a:t>
            </a:r>
            <a:endParaRPr lang="zh-CN" altLang="en-US" sz="21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3" name="直接连接符 2"/>
          <p:cNvCxnSpPr/>
          <p:nvPr/>
        </p:nvCxnSpPr>
        <p:spPr>
          <a:xfrm>
            <a:off x="192362" y="623314"/>
            <a:ext cx="857794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848735" y="3353435"/>
            <a:ext cx="1446530" cy="337185"/>
          </a:xfrm>
          <a:prstGeom prst="rect">
            <a:avLst/>
          </a:prstGeom>
          <a:noFill/>
        </p:spPr>
        <p:txBody>
          <a:bodyPr wrap="square" rtlCol="0" anchor="t">
            <a:spAutoFit/>
          </a:bodyPr>
          <a:lstStyle/>
          <a:p>
            <a:r>
              <a:rPr lang="zh-CN" altLang="en-US" sz="16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rPr>
              <a:t>运营负责人</a:t>
            </a:r>
            <a:endParaRPr lang="zh-CN" altLang="en-US" sz="16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7450455" y="643890"/>
            <a:ext cx="1637030" cy="1017270"/>
            <a:chOff x="10870" y="971"/>
            <a:chExt cx="2946" cy="1830"/>
          </a:xfrm>
        </p:grpSpPr>
        <p:pic>
          <p:nvPicPr>
            <p:cNvPr id="17" name="图片 16" descr="图示&#10;&#10;低可信度描述已自动生成"/>
            <p:cNvPicPr>
              <a:picLocks noChangeAspect="1"/>
            </p:cNvPicPr>
            <p:nvPr/>
          </p:nvPicPr>
          <p:blipFill>
            <a:blip r:embed="rId1" cstate="print">
              <a:extLst>
                <a:ext uri="{28A0092B-C50C-407E-A947-70E740481C1C}">
                  <a14:useLocalDpi xmlns:a14="http://schemas.microsoft.com/office/drawing/2010/main" val="0"/>
                </a:ext>
              </a:extLst>
            </a:blip>
            <a:srcRect r="3138" b="8975"/>
            <a:stretch>
              <a:fillRect/>
            </a:stretch>
          </p:blipFill>
          <p:spPr>
            <a:xfrm>
              <a:off x="12478" y="990"/>
              <a:ext cx="1339" cy="1782"/>
            </a:xfrm>
            <a:prstGeom prst="rect">
              <a:avLst/>
            </a:prstGeom>
            <a:ln w="28575">
              <a:solidFill>
                <a:srgbClr val="C00000"/>
              </a:solidFill>
            </a:ln>
          </p:spPr>
        </p:pic>
        <p:pic>
          <p:nvPicPr>
            <p:cNvPr id="15" name="图片 14" descr="文本, 信件&#10;&#10;描述已自动生成"/>
            <p:cNvPicPr>
              <a:picLocks noChangeAspect="1"/>
            </p:cNvPicPr>
            <p:nvPr/>
          </p:nvPicPr>
          <p:blipFill>
            <a:blip r:embed="rId2" cstate="print">
              <a:extLst>
                <a:ext uri="{28A0092B-C50C-407E-A947-70E740481C1C}">
                  <a14:useLocalDpi xmlns:a14="http://schemas.microsoft.com/office/drawing/2010/main" val="0"/>
                </a:ext>
              </a:extLst>
            </a:blip>
            <a:srcRect b="5937"/>
            <a:stretch>
              <a:fillRect/>
            </a:stretch>
          </p:blipFill>
          <p:spPr>
            <a:xfrm>
              <a:off x="12186" y="990"/>
              <a:ext cx="1340" cy="1782"/>
            </a:xfrm>
            <a:prstGeom prst="rect">
              <a:avLst/>
            </a:prstGeom>
            <a:ln w="28575">
              <a:solidFill>
                <a:srgbClr val="C00000"/>
              </a:solidFill>
            </a:ln>
          </p:spPr>
        </p:pic>
        <p:pic>
          <p:nvPicPr>
            <p:cNvPr id="13" name="图片 12" descr="图形用户界面&#10;&#10;中度可信度描述已自动生成"/>
            <p:cNvPicPr>
              <a:picLocks noChangeAspect="1"/>
            </p:cNvPicPr>
            <p:nvPr/>
          </p:nvPicPr>
          <p:blipFill>
            <a:blip r:embed="rId3" cstate="print">
              <a:extLst>
                <a:ext uri="{28A0092B-C50C-407E-A947-70E740481C1C}">
                  <a14:useLocalDpi xmlns:a14="http://schemas.microsoft.com/office/drawing/2010/main" val="0"/>
                </a:ext>
              </a:extLst>
            </a:blip>
            <a:srcRect b="11837"/>
            <a:stretch>
              <a:fillRect/>
            </a:stretch>
          </p:blipFill>
          <p:spPr>
            <a:xfrm>
              <a:off x="11846" y="990"/>
              <a:ext cx="1380" cy="1797"/>
            </a:xfrm>
            <a:prstGeom prst="rect">
              <a:avLst/>
            </a:prstGeom>
            <a:ln w="28575">
              <a:solidFill>
                <a:srgbClr val="C00000"/>
              </a:solidFill>
            </a:ln>
          </p:spPr>
        </p:pic>
        <p:pic>
          <p:nvPicPr>
            <p:cNvPr id="160" name="图片 159" descr="文本, 信件&#10;&#10;描述已自动生成"/>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38" y="990"/>
              <a:ext cx="1267" cy="1792"/>
            </a:xfrm>
            <a:prstGeom prst="rect">
              <a:avLst/>
            </a:prstGeom>
            <a:ln w="28575">
              <a:solidFill>
                <a:srgbClr val="C00000"/>
              </a:solidFill>
            </a:ln>
          </p:spPr>
        </p:pic>
        <p:pic>
          <p:nvPicPr>
            <p:cNvPr id="158" name="图片 157" descr="文本&#10;&#10;中度可信度描述已自动生成"/>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318" y="990"/>
              <a:ext cx="1276" cy="1792"/>
            </a:xfrm>
            <a:prstGeom prst="rect">
              <a:avLst/>
            </a:prstGeom>
            <a:blipFill>
              <a:blip r:embed="rId6" cstate="print"/>
              <a:stretch>
                <a:fillRect/>
              </a:stretch>
            </a:blipFill>
            <a:ln w="28575">
              <a:solidFill>
                <a:srgbClr val="C00000"/>
              </a:solidFill>
            </a:ln>
          </p:spPr>
        </p:pic>
        <p:sp>
          <p:nvSpPr>
            <p:cNvPr id="18" name="Freeform 18"/>
            <p:cNvSpPr/>
            <p:nvPr/>
          </p:nvSpPr>
          <p:spPr>
            <a:xfrm>
              <a:off x="10870" y="971"/>
              <a:ext cx="1403" cy="1831"/>
            </a:xfrm>
            <a:custGeom>
              <a:avLst/>
              <a:gdLst/>
              <a:ahLst/>
              <a:cxnLst/>
              <a:rect l="l" t="t" r="r" b="b"/>
              <a:pathLst>
                <a:path w="3177009" h="4215130">
                  <a:moveTo>
                    <a:pt x="0" y="0"/>
                  </a:moveTo>
                  <a:lnTo>
                    <a:pt x="3177009" y="0"/>
                  </a:lnTo>
                  <a:lnTo>
                    <a:pt x="3177009" y="4215130"/>
                  </a:lnTo>
                  <a:lnTo>
                    <a:pt x="0" y="4215130"/>
                  </a:lnTo>
                  <a:lnTo>
                    <a:pt x="0" y="0"/>
                  </a:lnTo>
                  <a:close/>
                </a:path>
              </a:pathLst>
            </a:custGeom>
            <a:blipFill>
              <a:blip r:embed="rId7" cstate="print"/>
              <a:stretch>
                <a:fillRect/>
              </a:stretch>
            </a:blipFill>
          </p:spPr>
          <p:txBody>
            <a:bodyPr/>
            <a:lstStyle/>
            <a:p>
              <a:endParaRPr lang="zh-CN" altLang="en-US" sz="700"/>
            </a:p>
          </p:txBody>
        </p:sp>
      </p:grpSp>
      <p:sp>
        <p:nvSpPr>
          <p:cNvPr id="25" name="TextBox 25"/>
          <p:cNvSpPr txBox="1"/>
          <p:nvPr/>
        </p:nvSpPr>
        <p:spPr>
          <a:xfrm>
            <a:off x="388620" y="1835150"/>
            <a:ext cx="5890260" cy="264795"/>
          </a:xfrm>
          <a:prstGeom prst="rect">
            <a:avLst/>
          </a:prstGeom>
        </p:spPr>
        <p:txBody>
          <a:bodyPr wrap="square" lIns="0" tIns="0" rIns="0" bIns="0" rtlCol="0" anchor="t">
            <a:noAutofit/>
          </a:bodyPr>
          <a:lstStyle/>
          <a:p>
            <a:pPr>
              <a:lnSpc>
                <a:spcPts val="1680"/>
              </a:lnSpc>
              <a:spcBef>
                <a:spcPct val="0"/>
              </a:spcBef>
            </a:pPr>
            <a:r>
              <a:rPr lang="zh-CN" altLang="en-US" sz="1100" b="1" dirty="0">
                <a:solidFill>
                  <a:srgbClr val="0070C0"/>
                </a:solidFill>
                <a:latin typeface="微软雅黑" panose="020B0503020204020204" pitchFamily="34" charset="-122"/>
                <a:ea typeface="微软雅黑" panose="020B0503020204020204" pitchFamily="34" charset="-122"/>
                <a:cs typeface="华文宋体" panose="02010600040101010101" charset="-122"/>
              </a:rPr>
              <a:t>面向</a:t>
            </a:r>
            <a:r>
              <a:rPr lang="zh-CN" altLang="en-US" sz="1100" b="1" u="sng" dirty="0">
                <a:solidFill>
                  <a:srgbClr val="FF0000"/>
                </a:solidFill>
                <a:latin typeface="微软雅黑" panose="020B0503020204020204" pitchFamily="34" charset="-122"/>
                <a:ea typeface="微软雅黑" panose="020B0503020204020204" pitchFamily="34" charset="-122"/>
                <a:cs typeface="华文宋体" panose="02010600040101010101" charset="-122"/>
              </a:rPr>
              <a:t>复杂目标识别与复杂事件推理</a:t>
            </a:r>
            <a:r>
              <a:rPr lang="zh-CN" altLang="en-US" sz="1100" b="1" dirty="0">
                <a:solidFill>
                  <a:srgbClr val="FF0000"/>
                </a:solidFill>
                <a:latin typeface="微软雅黑" panose="020B0503020204020204" pitchFamily="34" charset="-122"/>
                <a:ea typeface="微软雅黑" panose="020B0503020204020204" pitchFamily="34" charset="-122"/>
                <a:cs typeface="华文宋体" panose="02010600040101010101" charset="-122"/>
              </a:rPr>
              <a:t>、</a:t>
            </a:r>
            <a:r>
              <a:rPr lang="zh-CN" altLang="en-US" sz="1100" b="1" u="sng" dirty="0">
                <a:solidFill>
                  <a:srgbClr val="FF0000"/>
                </a:solidFill>
                <a:latin typeface="微软雅黑" panose="020B0503020204020204" pitchFamily="34" charset="-122"/>
                <a:ea typeface="微软雅黑" panose="020B0503020204020204" pitchFamily="34" charset="-122"/>
                <a:cs typeface="华文宋体" panose="02010600040101010101" charset="-122"/>
              </a:rPr>
              <a:t>视觉解算及三维快速轻量化</a:t>
            </a:r>
            <a:r>
              <a:rPr lang="zh-CN" altLang="en-US" sz="1100" b="1" dirty="0">
                <a:solidFill>
                  <a:srgbClr val="0070C0"/>
                </a:solidFill>
                <a:latin typeface="微软雅黑" panose="020B0503020204020204" pitchFamily="34" charset="-122"/>
                <a:ea typeface="微软雅黑" panose="020B0503020204020204" pitchFamily="34" charset="-122"/>
                <a:cs typeface="华文宋体" panose="02010600040101010101" charset="-122"/>
              </a:rPr>
              <a:t>形成了</a:t>
            </a:r>
            <a:r>
              <a:rPr lang="en-US" altLang="zh-CN" sz="1100" b="1" dirty="0">
                <a:solidFill>
                  <a:srgbClr val="FF0000"/>
                </a:solidFill>
                <a:latin typeface="微软雅黑" panose="020B0503020204020204" pitchFamily="34" charset="-122"/>
                <a:ea typeface="微软雅黑" panose="020B0503020204020204" pitchFamily="34" charset="-122"/>
                <a:cs typeface="华文宋体" panose="02010600040101010101" charset="-122"/>
              </a:rPr>
              <a:t>20+</a:t>
            </a:r>
            <a:r>
              <a:rPr lang="zh-CN" altLang="en-US" sz="1100" b="1" dirty="0">
                <a:solidFill>
                  <a:srgbClr val="0070C0"/>
                </a:solidFill>
                <a:latin typeface="微软雅黑" panose="020B0503020204020204" pitchFamily="34" charset="-122"/>
                <a:ea typeface="微软雅黑" panose="020B0503020204020204" pitchFamily="34" charset="-122"/>
                <a:cs typeface="华文宋体" panose="02010600040101010101" charset="-122"/>
              </a:rPr>
              <a:t>专利与软著</a:t>
            </a:r>
            <a:endParaRPr lang="en-US" sz="1100" b="1" dirty="0">
              <a:solidFill>
                <a:srgbClr val="0070C0"/>
              </a:solidFill>
              <a:latin typeface="微软雅黑" panose="020B0503020204020204" pitchFamily="34" charset="-122"/>
              <a:ea typeface="微软雅黑" panose="020B0503020204020204" pitchFamily="34" charset="-122"/>
              <a:cs typeface="思源黑体 Bold"/>
              <a:sym typeface="思源黑体 Bold"/>
            </a:endParaRPr>
          </a:p>
        </p:txBody>
      </p:sp>
      <p:grpSp>
        <p:nvGrpSpPr>
          <p:cNvPr id="7" name="组合 32"/>
          <p:cNvGrpSpPr/>
          <p:nvPr/>
        </p:nvGrpSpPr>
        <p:grpSpPr>
          <a:xfrm>
            <a:off x="401722" y="2051223"/>
            <a:ext cx="3179484" cy="1644846"/>
            <a:chOff x="3458047" y="3904862"/>
            <a:chExt cx="3179484" cy="1644846"/>
          </a:xfrm>
        </p:grpSpPr>
        <p:sp>
          <p:nvSpPr>
            <p:cNvPr id="35" name="TextBox 35"/>
            <p:cNvSpPr txBox="1"/>
            <p:nvPr/>
          </p:nvSpPr>
          <p:spPr>
            <a:xfrm>
              <a:off x="3458047" y="3904862"/>
              <a:ext cx="344366" cy="160621"/>
            </a:xfrm>
            <a:prstGeom prst="rect">
              <a:avLst/>
            </a:prstGeom>
          </p:spPr>
          <p:txBody>
            <a:bodyPr wrap="square" lIns="0" tIns="0" rIns="0" bIns="0" rtlCol="0" anchor="t">
              <a:spAutoFit/>
            </a:bodyPr>
            <a:lstStyle/>
            <a:p>
              <a:pPr>
                <a:lnSpc>
                  <a:spcPts val="1440"/>
                </a:lnSpc>
              </a:pPr>
              <a:r>
                <a:rPr lang="en-US" sz="900" b="1" dirty="0" err="1">
                  <a:solidFill>
                    <a:srgbClr val="3A5DFD"/>
                  </a:solidFill>
                  <a:latin typeface="微软雅黑" panose="020B0503020204020204" pitchFamily="34" charset="-122"/>
                  <a:ea typeface="微软雅黑" panose="020B0503020204020204" pitchFamily="34" charset="-122"/>
                  <a:cs typeface="思源黑体 Bold"/>
                  <a:sym typeface="思源黑体 Bold"/>
                </a:rPr>
                <a:t>软著</a:t>
              </a:r>
              <a:r>
                <a:rPr lang="en-US" sz="900" b="1" dirty="0">
                  <a:solidFill>
                    <a:srgbClr val="3A5DFD"/>
                  </a:solidFill>
                  <a:latin typeface="思源黑体 Bold"/>
                  <a:ea typeface="思源黑体 Bold"/>
                  <a:cs typeface="思源黑体 Bold"/>
                  <a:sym typeface="思源黑体 Bold"/>
                </a:rPr>
                <a:t>：</a:t>
              </a:r>
              <a:endParaRPr lang="en-US" sz="900" dirty="0">
                <a:solidFill>
                  <a:srgbClr val="000000"/>
                </a:solidFill>
                <a:latin typeface="思源黑体"/>
                <a:ea typeface="思源黑体"/>
                <a:cs typeface="思源黑体"/>
                <a:sym typeface="思源黑体"/>
              </a:endParaRPr>
            </a:p>
          </p:txBody>
        </p:sp>
        <p:sp>
          <p:nvSpPr>
            <p:cNvPr id="36" name="TextBox 36"/>
            <p:cNvSpPr txBox="1"/>
            <p:nvPr/>
          </p:nvSpPr>
          <p:spPr>
            <a:xfrm>
              <a:off x="3741931" y="3954335"/>
              <a:ext cx="2895600" cy="1595373"/>
            </a:xfrm>
            <a:prstGeom prst="rect">
              <a:avLst/>
            </a:prstGeom>
          </p:spPr>
          <p:txBody>
            <a:bodyPr wrap="square" lIns="0" tIns="0" rIns="0" bIns="0" rtlCol="0" anchor="t">
              <a:spAutoFit/>
            </a:bodyPr>
            <a:lstStyle/>
            <a:p>
              <a:pPr marL="142875" indent="-142875">
                <a:lnSpc>
                  <a:spcPts val="1440"/>
                </a:lnSpc>
                <a:buFont typeface="Wingdings" panose="05000000000000000000" pitchFamily="2" charset="2"/>
                <a:buChar char="Ø"/>
              </a:pPr>
              <a:r>
                <a:rPr lang="en-US" sz="800" b="1" dirty="0">
                  <a:solidFill>
                    <a:srgbClr val="000000"/>
                  </a:solidFill>
                  <a:latin typeface="微软雅黑" panose="020B0503020204020204" pitchFamily="34" charset="-122"/>
                  <a:ea typeface="微软雅黑" panose="020B0503020204020204" pitchFamily="34" charset="-122"/>
                  <a:sym typeface="思源黑体"/>
                </a:rPr>
                <a:t>用于眼动追踪及分析的智能眼镜空内实验程序v1.0</a:t>
              </a:r>
              <a:endParaRPr lang="en-US" sz="800" b="1" dirty="0">
                <a:solidFill>
                  <a:srgbClr val="000000"/>
                </a:solidFill>
                <a:latin typeface="微软雅黑" panose="020B0503020204020204" pitchFamily="34" charset="-122"/>
                <a:ea typeface="微软雅黑" panose="020B0503020204020204" pitchFamily="34" charset="-122"/>
                <a:sym typeface="思源黑体"/>
              </a:endParaRPr>
            </a:p>
            <a:p>
              <a:pPr marL="142875" indent="-142875">
                <a:lnSpc>
                  <a:spcPts val="1440"/>
                </a:lnSpc>
                <a:buFont typeface="Wingdings" panose="05000000000000000000" pitchFamily="2" charset="2"/>
                <a:buChar char="Ø"/>
              </a:pPr>
              <a:r>
                <a:rPr lang="zh-CN" altLang="en-US" sz="800" b="1" dirty="0">
                  <a:solidFill>
                    <a:srgbClr val="000000"/>
                  </a:solidFill>
                  <a:latin typeface="微软雅黑" panose="020B0503020204020204" pitchFamily="34" charset="-122"/>
                  <a:ea typeface="微软雅黑" panose="020B0503020204020204" pitchFamily="34" charset="-122"/>
                </a:rPr>
                <a:t>复杂目标智能识别与分析系统</a:t>
              </a:r>
              <a:r>
                <a:rPr lang="en-US" altLang="zh-CN" sz="800" b="1" dirty="0">
                  <a:solidFill>
                    <a:srgbClr val="000000"/>
                  </a:solidFill>
                  <a:latin typeface="微软雅黑" panose="020B0503020204020204" pitchFamily="34" charset="-122"/>
                  <a:ea typeface="微软雅黑" panose="020B0503020204020204" pitchFamily="34" charset="-122"/>
                  <a:sym typeface="思源黑体"/>
                </a:rPr>
                <a:t>v1.0</a:t>
              </a:r>
              <a:endParaRPr lang="en-US" altLang="zh-CN" sz="800" b="1" dirty="0">
                <a:solidFill>
                  <a:srgbClr val="000000"/>
                </a:solidFill>
                <a:latin typeface="微软雅黑" panose="020B0503020204020204" pitchFamily="34" charset="-122"/>
                <a:ea typeface="微软雅黑" panose="020B0503020204020204" pitchFamily="34" charset="-122"/>
                <a:sym typeface="思源黑体"/>
              </a:endParaRPr>
            </a:p>
            <a:p>
              <a:pPr marL="142875" indent="-142875">
                <a:lnSpc>
                  <a:spcPts val="1440"/>
                </a:lnSpc>
                <a:buFont typeface="Wingdings" panose="05000000000000000000" pitchFamily="2" charset="2"/>
                <a:buChar char="Ø"/>
              </a:pPr>
              <a:r>
                <a:rPr lang="zh-CN" altLang="en-US" sz="800" b="1" dirty="0">
                  <a:solidFill>
                    <a:srgbClr val="000000"/>
                  </a:solidFill>
                  <a:latin typeface="微软雅黑" panose="020B0503020204020204" pitchFamily="34" charset="-122"/>
                  <a:ea typeface="微软雅黑" panose="020B0503020204020204" pitchFamily="34" charset="-122"/>
                </a:rPr>
                <a:t>大规模三维模型快速轻量化处理系统</a:t>
              </a:r>
              <a:r>
                <a:rPr lang="en-US" altLang="zh-CN" sz="800" b="1" dirty="0">
                  <a:solidFill>
                    <a:srgbClr val="000000"/>
                  </a:solidFill>
                  <a:latin typeface="微软雅黑" panose="020B0503020204020204" pitchFamily="34" charset="-122"/>
                  <a:ea typeface="微软雅黑" panose="020B0503020204020204" pitchFamily="34" charset="-122"/>
                  <a:sym typeface="思源黑体"/>
                </a:rPr>
                <a:t>v1.0</a:t>
              </a:r>
              <a:endParaRPr lang="en-US" altLang="zh-CN" sz="800" b="1" dirty="0">
                <a:solidFill>
                  <a:srgbClr val="000000"/>
                </a:solidFill>
                <a:latin typeface="微软雅黑" panose="020B0503020204020204" pitchFamily="34" charset="-122"/>
                <a:ea typeface="微软雅黑" panose="020B0503020204020204" pitchFamily="34" charset="-122"/>
                <a:sym typeface="思源黑体"/>
              </a:endParaRPr>
            </a:p>
            <a:p>
              <a:pPr marL="142875" indent="-142875">
                <a:lnSpc>
                  <a:spcPts val="1440"/>
                </a:lnSpc>
                <a:buFont typeface="Wingdings" panose="05000000000000000000" pitchFamily="2" charset="2"/>
                <a:buChar char="Ø"/>
              </a:pPr>
              <a:r>
                <a:rPr lang="zh-CN" altLang="en-US" sz="800" b="1" dirty="0">
                  <a:solidFill>
                    <a:srgbClr val="000000"/>
                  </a:solidFill>
                  <a:latin typeface="微软雅黑" panose="020B0503020204020204" pitchFamily="34" charset="-122"/>
                  <a:ea typeface="微软雅黑" panose="020B0503020204020204" pitchFamily="34" charset="-122"/>
                  <a:sym typeface="思源黑体"/>
                </a:rPr>
                <a:t>一种基于</a:t>
              </a:r>
              <a:r>
                <a:rPr lang="en-US" altLang="zh-CN" sz="800" b="1" dirty="0">
                  <a:solidFill>
                    <a:srgbClr val="000000"/>
                  </a:solidFill>
                  <a:latin typeface="微软雅黑" panose="020B0503020204020204" pitchFamily="34" charset="-122"/>
                  <a:ea typeface="微软雅黑" panose="020B0503020204020204" pitchFamily="34" charset="-122"/>
                  <a:sym typeface="思源黑体"/>
                </a:rPr>
                <a:t>unity</a:t>
              </a:r>
              <a:r>
                <a:rPr lang="zh-CN" altLang="en-US" sz="800" b="1" dirty="0">
                  <a:solidFill>
                    <a:srgbClr val="000000"/>
                  </a:solidFill>
                  <a:latin typeface="微软雅黑" panose="020B0503020204020204" pitchFamily="34" charset="-122"/>
                  <a:ea typeface="微软雅黑" panose="020B0503020204020204" pitchFamily="34" charset="-122"/>
                  <a:sym typeface="思源黑体"/>
                </a:rPr>
                <a:t>的多场景驾驶模拟软件</a:t>
              </a:r>
              <a:r>
                <a:rPr lang="en-US" altLang="zh-CN" sz="800" b="1" dirty="0">
                  <a:solidFill>
                    <a:srgbClr val="000000"/>
                  </a:solidFill>
                  <a:latin typeface="微软雅黑" panose="020B0503020204020204" pitchFamily="34" charset="-122"/>
                  <a:ea typeface="微软雅黑" panose="020B0503020204020204" pitchFamily="34" charset="-122"/>
                  <a:sym typeface="思源黑体"/>
                </a:rPr>
                <a:t>v1.0</a:t>
              </a:r>
              <a:endParaRPr lang="en-US" altLang="zh-CN" sz="800" b="1" dirty="0">
                <a:solidFill>
                  <a:srgbClr val="000000"/>
                </a:solidFill>
                <a:latin typeface="微软雅黑" panose="020B0503020204020204" pitchFamily="34" charset="-122"/>
                <a:ea typeface="微软雅黑" panose="020B0503020204020204" pitchFamily="34" charset="-122"/>
                <a:sym typeface="思源黑体"/>
              </a:endParaRPr>
            </a:p>
            <a:p>
              <a:pPr marL="142875" indent="-142875">
                <a:lnSpc>
                  <a:spcPts val="1440"/>
                </a:lnSpc>
                <a:buFont typeface="Wingdings" panose="05000000000000000000" pitchFamily="2" charset="2"/>
                <a:buChar char="Ø"/>
              </a:pPr>
              <a:r>
                <a:rPr lang="zh-CN" altLang="en-US" sz="800" b="1" dirty="0">
                  <a:solidFill>
                    <a:srgbClr val="000000"/>
                  </a:solidFill>
                  <a:latin typeface="微软雅黑" panose="020B0503020204020204" pitchFamily="34" charset="-122"/>
                  <a:ea typeface="微软雅黑" panose="020B0503020204020204" pitchFamily="34" charset="-122"/>
                </a:rPr>
                <a:t>实时视频流目标识别与事件检测软件</a:t>
              </a:r>
              <a:r>
                <a:rPr lang="en-US" altLang="zh-CN" sz="800" b="1" dirty="0">
                  <a:solidFill>
                    <a:srgbClr val="000000"/>
                  </a:solidFill>
                  <a:latin typeface="微软雅黑" panose="020B0503020204020204" pitchFamily="34" charset="-122"/>
                  <a:ea typeface="微软雅黑" panose="020B0503020204020204" pitchFamily="34" charset="-122"/>
                </a:rPr>
                <a:t>v1.0</a:t>
              </a:r>
              <a:endParaRPr lang="en-US" altLang="zh-CN" sz="800" b="1" dirty="0">
                <a:solidFill>
                  <a:srgbClr val="000000"/>
                </a:solidFill>
                <a:latin typeface="微软雅黑" panose="020B0503020204020204" pitchFamily="34" charset="-122"/>
                <a:ea typeface="微软雅黑" panose="020B0503020204020204" pitchFamily="34" charset="-122"/>
              </a:endParaRPr>
            </a:p>
            <a:p>
              <a:pPr marL="142875" indent="-142875">
                <a:lnSpc>
                  <a:spcPts val="1440"/>
                </a:lnSpc>
                <a:buFont typeface="Wingdings" panose="05000000000000000000" pitchFamily="2" charset="2"/>
                <a:buChar char="Ø"/>
              </a:pPr>
              <a:r>
                <a:rPr lang="zh-CN" altLang="en-US" sz="800" b="1" dirty="0">
                  <a:solidFill>
                    <a:srgbClr val="000000"/>
                  </a:solidFill>
                  <a:latin typeface="微软雅黑" panose="020B0503020204020204" pitchFamily="34" charset="-122"/>
                  <a:ea typeface="微软雅黑" panose="020B0503020204020204" pitchFamily="34" charset="-122"/>
                  <a:sym typeface="思源黑体"/>
                </a:rPr>
                <a:t>一种</a:t>
              </a:r>
              <a:r>
                <a:rPr lang="zh-CN" altLang="en-US" sz="800" b="1" dirty="0">
                  <a:solidFill>
                    <a:srgbClr val="000000"/>
                  </a:solidFill>
                  <a:latin typeface="微软雅黑" panose="020B0503020204020204" pitchFamily="34" charset="-122"/>
                  <a:ea typeface="微软雅黑" panose="020B0503020204020204" pitchFamily="34" charset="-122"/>
                </a:rPr>
                <a:t>三维场景构建与轻量化发布平台</a:t>
              </a:r>
              <a:r>
                <a:rPr lang="en-US" altLang="zh-CN" sz="800" b="1" dirty="0">
                  <a:solidFill>
                    <a:srgbClr val="000000"/>
                  </a:solidFill>
                  <a:latin typeface="微软雅黑" panose="020B0503020204020204" pitchFamily="34" charset="-122"/>
                  <a:ea typeface="微软雅黑" panose="020B0503020204020204" pitchFamily="34" charset="-122"/>
                </a:rPr>
                <a:t>v1.0</a:t>
              </a:r>
              <a:endParaRPr lang="en-US" altLang="zh-CN" sz="800" b="1" dirty="0">
                <a:solidFill>
                  <a:srgbClr val="000000"/>
                </a:solidFill>
                <a:latin typeface="微软雅黑" panose="020B0503020204020204" pitchFamily="34" charset="-122"/>
                <a:ea typeface="微软雅黑" panose="020B0503020204020204" pitchFamily="34" charset="-122"/>
              </a:endParaRPr>
            </a:p>
            <a:p>
              <a:pPr marL="142875" indent="-142875">
                <a:lnSpc>
                  <a:spcPts val="1440"/>
                </a:lnSpc>
                <a:buFont typeface="Wingdings" panose="05000000000000000000" pitchFamily="2" charset="2"/>
                <a:buChar char="Ø"/>
              </a:pPr>
              <a:r>
                <a:rPr lang="zh-CN" altLang="en-US" sz="800" b="1" dirty="0">
                  <a:solidFill>
                    <a:srgbClr val="000000"/>
                  </a:solidFill>
                  <a:latin typeface="微软雅黑" panose="020B0503020204020204" pitchFamily="34" charset="-122"/>
                  <a:ea typeface="微软雅黑" panose="020B0503020204020204" pitchFamily="34" charset="-122"/>
                  <a:sym typeface="思源黑体"/>
                </a:rPr>
                <a:t>一种</a:t>
              </a:r>
              <a:r>
                <a:rPr lang="zh-CN" altLang="en-US" sz="800" b="1" dirty="0">
                  <a:solidFill>
                    <a:srgbClr val="000000"/>
                  </a:solidFill>
                  <a:latin typeface="微软雅黑" panose="020B0503020204020204" pitchFamily="34" charset="-122"/>
                  <a:ea typeface="微软雅黑" panose="020B0503020204020204" pitchFamily="34" charset="-122"/>
                </a:rPr>
                <a:t>云端协同的三维模型轻量化服务系统</a:t>
              </a:r>
              <a:r>
                <a:rPr lang="en-US" altLang="zh-CN" sz="800" b="1" dirty="0">
                  <a:solidFill>
                    <a:srgbClr val="000000"/>
                  </a:solidFill>
                  <a:latin typeface="微软雅黑" panose="020B0503020204020204" pitchFamily="34" charset="-122"/>
                  <a:ea typeface="微软雅黑" panose="020B0503020204020204" pitchFamily="34" charset="-122"/>
                </a:rPr>
                <a:t>v1.0</a:t>
              </a:r>
              <a:endParaRPr lang="en-US" altLang="zh-CN" sz="800" b="1" dirty="0">
                <a:solidFill>
                  <a:srgbClr val="000000"/>
                </a:solidFill>
                <a:latin typeface="微软雅黑" panose="020B0503020204020204" pitchFamily="34" charset="-122"/>
                <a:ea typeface="微软雅黑" panose="020B0503020204020204" pitchFamily="34" charset="-122"/>
              </a:endParaRPr>
            </a:p>
            <a:p>
              <a:pPr marL="142875" indent="-142875">
                <a:lnSpc>
                  <a:spcPts val="1440"/>
                </a:lnSpc>
                <a:buFont typeface="Wingdings" panose="05000000000000000000" pitchFamily="2" charset="2"/>
                <a:buChar char="Ø"/>
              </a:pPr>
              <a:r>
                <a:rPr lang="zh-CN" altLang="en-US" sz="800" b="1" dirty="0">
                  <a:solidFill>
                    <a:srgbClr val="000000"/>
                  </a:solidFill>
                  <a:latin typeface="微软雅黑" panose="020B0503020204020204" pitchFamily="34" charset="-122"/>
                  <a:ea typeface="微软雅黑" panose="020B0503020204020204" pitchFamily="34" charset="-122"/>
                  <a:sym typeface="思源黑体"/>
                </a:rPr>
                <a:t>一种</a:t>
              </a:r>
              <a:r>
                <a:rPr lang="zh-CN" altLang="en-US" sz="800" b="1" dirty="0">
                  <a:solidFill>
                    <a:srgbClr val="000000"/>
                  </a:solidFill>
                  <a:latin typeface="微软雅黑" panose="020B0503020204020204" pitchFamily="34" charset="-122"/>
                  <a:ea typeface="微软雅黑" panose="020B0503020204020204" pitchFamily="34" charset="-122"/>
                </a:rPr>
                <a:t>全域态势感知与推理决策支持平台</a:t>
              </a:r>
              <a:r>
                <a:rPr lang="en-US" altLang="zh-CN" sz="800" b="1" dirty="0">
                  <a:solidFill>
                    <a:srgbClr val="000000"/>
                  </a:solidFill>
                  <a:latin typeface="微软雅黑" panose="020B0503020204020204" pitchFamily="34" charset="-122"/>
                  <a:ea typeface="微软雅黑" panose="020B0503020204020204" pitchFamily="34" charset="-122"/>
                </a:rPr>
                <a:t>v1.0</a:t>
              </a:r>
              <a:endParaRPr lang="en-US" altLang="zh-CN" sz="800" b="1" dirty="0">
                <a:solidFill>
                  <a:srgbClr val="000000"/>
                </a:solidFill>
                <a:latin typeface="微软雅黑" panose="020B0503020204020204" pitchFamily="34" charset="-122"/>
                <a:ea typeface="微软雅黑" panose="020B0503020204020204" pitchFamily="34" charset="-122"/>
                <a:sym typeface="思源黑体"/>
              </a:endParaRPr>
            </a:p>
            <a:p>
              <a:pPr marL="142875" indent="-142875">
                <a:lnSpc>
                  <a:spcPts val="1440"/>
                </a:lnSpc>
                <a:buFont typeface="Wingdings" panose="05000000000000000000" pitchFamily="2" charset="2"/>
                <a:buChar char="Ø"/>
              </a:pPr>
              <a:r>
                <a:rPr lang="en-US" altLang="zh-CN" sz="800" b="1" dirty="0">
                  <a:latin typeface="微软雅黑" panose="020B0503020204020204" pitchFamily="34" charset="-122"/>
                  <a:ea typeface="微软雅黑" panose="020B0503020204020204" pitchFamily="34" charset="-122"/>
                </a:rPr>
                <a:t>······</a:t>
              </a:r>
              <a:endParaRPr lang="zh-CN" altLang="en-US" sz="800" b="1" dirty="0">
                <a:latin typeface="微软雅黑" panose="020B0503020204020204" pitchFamily="34" charset="-122"/>
                <a:ea typeface="微软雅黑" panose="020B0503020204020204" pitchFamily="34" charset="-122"/>
              </a:endParaRPr>
            </a:p>
          </p:txBody>
        </p:sp>
      </p:grpSp>
      <p:grpSp>
        <p:nvGrpSpPr>
          <p:cNvPr id="8" name="组合 31"/>
          <p:cNvGrpSpPr/>
          <p:nvPr/>
        </p:nvGrpSpPr>
        <p:grpSpPr>
          <a:xfrm>
            <a:off x="3489359" y="2000871"/>
            <a:ext cx="2980008" cy="2101922"/>
            <a:chOff x="3563574" y="2008295"/>
            <a:chExt cx="2980008" cy="2101922"/>
          </a:xfrm>
        </p:grpSpPr>
        <p:sp>
          <p:nvSpPr>
            <p:cNvPr id="27" name="TextBox 27"/>
            <p:cNvSpPr txBox="1"/>
            <p:nvPr/>
          </p:nvSpPr>
          <p:spPr>
            <a:xfrm>
              <a:off x="3563574" y="2075152"/>
              <a:ext cx="344366" cy="160621"/>
            </a:xfrm>
            <a:prstGeom prst="rect">
              <a:avLst/>
            </a:prstGeom>
          </p:spPr>
          <p:txBody>
            <a:bodyPr wrap="square" lIns="0" tIns="0" rIns="0" bIns="0" rtlCol="0" anchor="t">
              <a:spAutoFit/>
            </a:bodyPr>
            <a:lstStyle/>
            <a:p>
              <a:pPr>
                <a:lnSpc>
                  <a:spcPts val="1440"/>
                </a:lnSpc>
              </a:pPr>
              <a:r>
                <a:rPr lang="en-US" sz="900" b="1" dirty="0" err="1">
                  <a:solidFill>
                    <a:srgbClr val="3A5DFD"/>
                  </a:solidFill>
                  <a:latin typeface="微软雅黑" panose="020B0503020204020204" pitchFamily="34" charset="-122"/>
                  <a:ea typeface="微软雅黑" panose="020B0503020204020204" pitchFamily="34" charset="-122"/>
                  <a:cs typeface="思源黑体 Bold"/>
                  <a:sym typeface="思源黑体 Bold"/>
                </a:rPr>
                <a:t>专利</a:t>
              </a:r>
              <a:r>
                <a:rPr lang="en-US" sz="900" b="1" dirty="0">
                  <a:solidFill>
                    <a:srgbClr val="3A5DFD"/>
                  </a:solidFill>
                  <a:latin typeface="思源黑体 Bold"/>
                  <a:ea typeface="思源黑体 Bold"/>
                  <a:cs typeface="思源黑体 Bold"/>
                  <a:sym typeface="思源黑体 Bold"/>
                </a:rPr>
                <a:t>：</a:t>
              </a:r>
              <a:endParaRPr lang="en-US" sz="800" b="1" dirty="0">
                <a:solidFill>
                  <a:srgbClr val="000000"/>
                </a:solidFill>
                <a:latin typeface="思源黑体 Bold"/>
                <a:ea typeface="思源黑体 Bold"/>
                <a:sym typeface="思源黑体"/>
              </a:endParaRPr>
            </a:p>
          </p:txBody>
        </p:sp>
        <p:sp>
          <p:nvSpPr>
            <p:cNvPr id="43" name="文本框 42"/>
            <p:cNvSpPr txBox="1"/>
            <p:nvPr/>
          </p:nvSpPr>
          <p:spPr>
            <a:xfrm>
              <a:off x="3835953" y="2008295"/>
              <a:ext cx="2707629" cy="2101922"/>
            </a:xfrm>
            <a:prstGeom prst="rect">
              <a:avLst/>
            </a:prstGeom>
            <a:noFill/>
          </p:spPr>
          <p:txBody>
            <a:bodyPr wrap="square" rtlCol="0">
              <a:spAutoFit/>
            </a:bodyPr>
            <a:lstStyle/>
            <a:p>
              <a:pPr marL="142875" indent="-142875">
                <a:lnSpc>
                  <a:spcPct val="150000"/>
                </a:lnSpc>
                <a:buFont typeface="Wingdings" panose="05000000000000000000" pitchFamily="2" charset="2"/>
                <a:buChar char="Ø"/>
              </a:pPr>
              <a:r>
                <a:rPr lang="en-US" altLang="zh-CN" sz="800" b="1" dirty="0" err="1">
                  <a:solidFill>
                    <a:srgbClr val="000000"/>
                  </a:solidFill>
                  <a:latin typeface="微软雅黑" panose="020B0503020204020204" pitchFamily="34" charset="-122"/>
                  <a:ea typeface="微软雅黑" panose="020B0503020204020204" pitchFamily="34" charset="-122"/>
                  <a:sym typeface="思源黑体"/>
                </a:rPr>
                <a:t>一种基于视觉暂留原理的超速预警提示交通标志牌</a:t>
              </a:r>
              <a:endParaRPr lang="en-US" altLang="zh-CN" sz="800" b="1" dirty="0">
                <a:solidFill>
                  <a:srgbClr val="000000"/>
                </a:solidFill>
                <a:latin typeface="微软雅黑" panose="020B0503020204020204" pitchFamily="34" charset="-122"/>
                <a:ea typeface="微软雅黑" panose="020B0503020204020204" pitchFamily="34" charset="-122"/>
                <a:sym typeface="思源黑体"/>
              </a:endParaRPr>
            </a:p>
            <a:p>
              <a:pPr marL="142875" indent="-142875">
                <a:lnSpc>
                  <a:spcPct val="150000"/>
                </a:lnSpc>
                <a:buFont typeface="Wingdings" panose="05000000000000000000" pitchFamily="2" charset="2"/>
                <a:buChar char="Ø"/>
              </a:pPr>
              <a:r>
                <a:rPr lang="en-US" altLang="zh-CN" sz="800" b="1" dirty="0" err="1">
                  <a:solidFill>
                    <a:srgbClr val="000000"/>
                  </a:solidFill>
                  <a:latin typeface="微软雅黑" panose="020B0503020204020204" pitchFamily="34" charset="-122"/>
                  <a:ea typeface="微软雅黑" panose="020B0503020204020204" pitchFamily="34" charset="-122"/>
                  <a:sym typeface="思源黑体"/>
                </a:rPr>
                <a:t>一种单目位姿估计的方法</a:t>
              </a:r>
              <a:endParaRPr lang="en-US" altLang="zh-CN" sz="800" b="1" dirty="0">
                <a:solidFill>
                  <a:srgbClr val="000000"/>
                </a:solidFill>
                <a:latin typeface="微软雅黑" panose="020B0503020204020204" pitchFamily="34" charset="-122"/>
                <a:ea typeface="微软雅黑" panose="020B0503020204020204" pitchFamily="34" charset="-122"/>
                <a:sym typeface="思源黑体"/>
              </a:endParaRPr>
            </a:p>
            <a:p>
              <a:pPr marL="142875" indent="-142875">
                <a:lnSpc>
                  <a:spcPct val="150000"/>
                </a:lnSpc>
                <a:buFont typeface="Wingdings" panose="05000000000000000000" pitchFamily="2" charset="2"/>
                <a:buChar char="Ø"/>
              </a:pPr>
              <a:r>
                <a:rPr lang="zh-CN" altLang="en-US" sz="800" b="1" dirty="0">
                  <a:solidFill>
                    <a:srgbClr val="000000"/>
                  </a:solidFill>
                  <a:latin typeface="微软雅黑" panose="020B0503020204020204" pitchFamily="34" charset="-122"/>
                  <a:ea typeface="微软雅黑" panose="020B0503020204020204" pitchFamily="34" charset="-122"/>
                  <a:sym typeface="+mn-ea"/>
                </a:rPr>
                <a:t>一种基于单目视觉的平面上目标定位方法</a:t>
              </a:r>
              <a:endParaRPr lang="en-US" altLang="zh-CN" sz="800" b="1" dirty="0">
                <a:solidFill>
                  <a:srgbClr val="000000"/>
                </a:solidFill>
                <a:latin typeface="微软雅黑" panose="020B0503020204020204" pitchFamily="34" charset="-122"/>
                <a:ea typeface="微软雅黑" panose="020B0503020204020204" pitchFamily="34" charset="-122"/>
                <a:sym typeface="+mn-ea"/>
              </a:endParaRPr>
            </a:p>
            <a:p>
              <a:pPr marL="142875" indent="-142875">
                <a:lnSpc>
                  <a:spcPct val="150000"/>
                </a:lnSpc>
                <a:buFont typeface="Wingdings" panose="05000000000000000000" pitchFamily="2" charset="2"/>
                <a:buChar char="Ø"/>
              </a:pPr>
              <a:r>
                <a:rPr lang="en-US" altLang="zh-CN" sz="800" b="1" dirty="0" err="1">
                  <a:solidFill>
                    <a:srgbClr val="000000"/>
                  </a:solidFill>
                  <a:latin typeface="微软雅黑" panose="020B0503020204020204" pitchFamily="34" charset="-122"/>
                  <a:ea typeface="微软雅黑" panose="020B0503020204020204" pitchFamily="34" charset="-122"/>
                  <a:sym typeface="思源黑体"/>
                </a:rPr>
                <a:t>一种基于眼动追踪的驾驶员疲劳监测方法</a:t>
              </a:r>
              <a:endParaRPr lang="en-US" altLang="zh-CN" sz="800" b="1" dirty="0">
                <a:solidFill>
                  <a:srgbClr val="000000"/>
                </a:solidFill>
                <a:latin typeface="微软雅黑" panose="020B0503020204020204" pitchFamily="34" charset="-122"/>
                <a:ea typeface="微软雅黑" panose="020B0503020204020204" pitchFamily="34" charset="-122"/>
                <a:sym typeface="思源黑体"/>
              </a:endParaRPr>
            </a:p>
            <a:p>
              <a:pPr marL="142875" indent="-142875">
                <a:lnSpc>
                  <a:spcPct val="150000"/>
                </a:lnSpc>
                <a:buFont typeface="Wingdings" panose="05000000000000000000" pitchFamily="2" charset="2"/>
                <a:buChar char="Ø"/>
              </a:pPr>
              <a:r>
                <a:rPr lang="zh-CN" altLang="en-US" sz="800" b="1" dirty="0">
                  <a:solidFill>
                    <a:srgbClr val="000000"/>
                  </a:solidFill>
                  <a:latin typeface="微软雅黑" panose="020B0503020204020204" pitchFamily="34" charset="-122"/>
                  <a:ea typeface="微软雅黑" panose="020B0503020204020204" pitchFamily="34" charset="-122"/>
                </a:rPr>
                <a:t>基于多模态融合的复杂事件层次化推理方法与系统</a:t>
              </a:r>
              <a:endParaRPr lang="en-US" altLang="zh-CN" sz="800" b="1" dirty="0">
                <a:solidFill>
                  <a:srgbClr val="000000"/>
                </a:solidFill>
                <a:latin typeface="微软雅黑" panose="020B0503020204020204" pitchFamily="34" charset="-122"/>
                <a:ea typeface="微软雅黑" panose="020B0503020204020204" pitchFamily="34" charset="-122"/>
              </a:endParaRPr>
            </a:p>
            <a:p>
              <a:pPr marL="142875" indent="-142875">
                <a:lnSpc>
                  <a:spcPct val="150000"/>
                </a:lnSpc>
                <a:buFont typeface="Wingdings" panose="05000000000000000000" pitchFamily="2" charset="2"/>
                <a:buChar char="Ø"/>
              </a:pPr>
              <a:r>
                <a:rPr lang="zh-CN" altLang="en-US" sz="800" b="1" dirty="0">
                  <a:solidFill>
                    <a:srgbClr val="000000"/>
                  </a:solidFill>
                  <a:latin typeface="微软雅黑" panose="020B0503020204020204" pitchFamily="34" charset="-122"/>
                  <a:ea typeface="微软雅黑" panose="020B0503020204020204" pitchFamily="34" charset="-122"/>
                </a:rPr>
                <a:t>面向流式数据的复杂目标识别与实时视觉解算方法</a:t>
              </a:r>
              <a:endParaRPr lang="en-US" altLang="zh-CN" sz="800" b="1" dirty="0">
                <a:solidFill>
                  <a:srgbClr val="000000"/>
                </a:solidFill>
                <a:latin typeface="微软雅黑" panose="020B0503020204020204" pitchFamily="34" charset="-122"/>
                <a:ea typeface="微软雅黑" panose="020B0503020204020204" pitchFamily="34" charset="-122"/>
              </a:endParaRPr>
            </a:p>
            <a:p>
              <a:pPr marL="142875" indent="-142875">
                <a:lnSpc>
                  <a:spcPct val="150000"/>
                </a:lnSpc>
                <a:buFont typeface="Wingdings" panose="05000000000000000000" pitchFamily="2" charset="2"/>
                <a:buChar char="Ø"/>
              </a:pPr>
              <a:r>
                <a:rPr lang="zh-CN" altLang="en-US" sz="800" b="1" dirty="0">
                  <a:solidFill>
                    <a:srgbClr val="000000"/>
                  </a:solidFill>
                  <a:latin typeface="微软雅黑" panose="020B0503020204020204" pitchFamily="34" charset="-122"/>
                  <a:ea typeface="微软雅黑" panose="020B0503020204020204" pitchFamily="34" charset="-122"/>
                </a:rPr>
                <a:t>一种大场景三维模型的快速轻量化与自适应渲染方法</a:t>
              </a:r>
              <a:endParaRPr lang="en-US" altLang="zh-CN" sz="800" b="1" dirty="0">
                <a:solidFill>
                  <a:srgbClr val="000000"/>
                </a:solidFill>
                <a:latin typeface="微软雅黑" panose="020B0503020204020204" pitchFamily="34" charset="-122"/>
                <a:ea typeface="微软雅黑" panose="020B0503020204020204" pitchFamily="34" charset="-122"/>
              </a:endParaRPr>
            </a:p>
            <a:p>
              <a:pPr marL="142875" indent="-142875">
                <a:lnSpc>
                  <a:spcPct val="150000"/>
                </a:lnSpc>
                <a:buFont typeface="Wingdings" panose="05000000000000000000" pitchFamily="2" charset="2"/>
                <a:buChar char="Ø"/>
              </a:pPr>
              <a:r>
                <a:rPr lang="en-US" altLang="zh-CN" sz="800" b="1" dirty="0" err="1">
                  <a:solidFill>
                    <a:srgbClr val="000000"/>
                  </a:solidFill>
                  <a:latin typeface="微软雅黑" panose="020B0503020204020204" pitchFamily="34" charset="-122"/>
                  <a:ea typeface="微软雅黑" panose="020B0503020204020204" pitchFamily="34" charset="-122"/>
                  <a:sym typeface="思源黑体"/>
                </a:rPr>
                <a:t>一种基于眼动的交通信号优化设计方法</a:t>
              </a:r>
              <a:endParaRPr lang="en-US" altLang="zh-CN" sz="800" b="1" dirty="0">
                <a:solidFill>
                  <a:srgbClr val="000000"/>
                </a:solidFill>
                <a:latin typeface="微软雅黑" panose="020B0503020204020204" pitchFamily="34" charset="-122"/>
                <a:ea typeface="微软雅黑" panose="020B0503020204020204" pitchFamily="34" charset="-122"/>
                <a:sym typeface="思源黑体"/>
              </a:endParaRPr>
            </a:p>
            <a:p>
              <a:pPr marL="142875" indent="-142875">
                <a:lnSpc>
                  <a:spcPct val="150000"/>
                </a:lnSpc>
                <a:buFont typeface="Wingdings" panose="05000000000000000000" pitchFamily="2" charset="2"/>
                <a:buChar char="Ø"/>
              </a:pPr>
              <a:r>
                <a:rPr lang="zh-CN" altLang="en-US" sz="800" b="1" dirty="0">
                  <a:solidFill>
                    <a:srgbClr val="000000"/>
                  </a:solidFill>
                  <a:latin typeface="微软雅黑" panose="020B0503020204020204" pitchFamily="34" charset="-122"/>
                  <a:ea typeface="微软雅黑" panose="020B0503020204020204" pitchFamily="34" charset="-122"/>
                </a:rPr>
                <a:t>用于边缘计算的三维模型轻量化与快速加载方法</a:t>
              </a:r>
              <a:endParaRPr lang="en-US" altLang="zh-CN" sz="800" b="1" dirty="0">
                <a:solidFill>
                  <a:srgbClr val="000000"/>
                </a:solidFill>
                <a:latin typeface="微软雅黑" panose="020B0503020204020204" pitchFamily="34" charset="-122"/>
                <a:ea typeface="微软雅黑" panose="020B0503020204020204" pitchFamily="34" charset="-122"/>
              </a:endParaRPr>
            </a:p>
            <a:p>
              <a:pPr marL="142875" indent="-142875">
                <a:lnSpc>
                  <a:spcPct val="150000"/>
                </a:lnSpc>
                <a:buFont typeface="Wingdings" panose="05000000000000000000" pitchFamily="2" charset="2"/>
                <a:buChar char="Ø"/>
              </a:pPr>
              <a:r>
                <a:rPr lang="zh-CN" altLang="en-US" sz="800" b="1" dirty="0">
                  <a:solidFill>
                    <a:srgbClr val="000000"/>
                  </a:solidFill>
                  <a:latin typeface="微软雅黑" panose="020B0503020204020204" pitchFamily="34" charset="-122"/>
                  <a:ea typeface="微软雅黑" panose="020B0503020204020204" pitchFamily="34" charset="-122"/>
                </a:rPr>
                <a:t>基于神经渲染的三维场景快速重建与轻量化方法</a:t>
              </a:r>
              <a:endParaRPr lang="en-US" altLang="zh-CN" sz="800" b="1" dirty="0">
                <a:solidFill>
                  <a:srgbClr val="000000"/>
                </a:solidFill>
                <a:latin typeface="微软雅黑" panose="020B0503020204020204" pitchFamily="34" charset="-122"/>
                <a:ea typeface="微软雅黑" panose="020B0503020204020204" pitchFamily="34" charset="-122"/>
                <a:sym typeface="思源黑体"/>
              </a:endParaRPr>
            </a:p>
            <a:p>
              <a:pPr marL="142875" indent="-142875">
                <a:lnSpc>
                  <a:spcPct val="150000"/>
                </a:lnSpc>
                <a:buFont typeface="Wingdings" panose="05000000000000000000" pitchFamily="2" charset="2"/>
                <a:buChar char="Ø"/>
              </a:pPr>
              <a:r>
                <a:rPr lang="en-US" altLang="zh-CN" sz="800" b="1" dirty="0">
                  <a:latin typeface="微软雅黑" panose="020B0503020204020204" pitchFamily="34" charset="-122"/>
                  <a:ea typeface="微软雅黑" panose="020B0503020204020204" pitchFamily="34" charset="-122"/>
                </a:rPr>
                <a:t>······</a:t>
              </a:r>
              <a:endParaRPr lang="zh-CN" altLang="en-US" sz="800" b="1" dirty="0">
                <a:latin typeface="微软雅黑" panose="020B0503020204020204" pitchFamily="34" charset="-122"/>
                <a:ea typeface="微软雅黑" panose="020B0503020204020204" pitchFamily="34" charset="-122"/>
              </a:endParaRPr>
            </a:p>
          </p:txBody>
        </p:sp>
      </p:grpSp>
      <p:grpSp>
        <p:nvGrpSpPr>
          <p:cNvPr id="9" name="组合 6"/>
          <p:cNvGrpSpPr/>
          <p:nvPr/>
        </p:nvGrpSpPr>
        <p:grpSpPr>
          <a:xfrm>
            <a:off x="3296920" y="566420"/>
            <a:ext cx="4192905" cy="1155065"/>
            <a:chOff x="3368" y="990"/>
            <a:chExt cx="7167" cy="1921"/>
          </a:xfrm>
        </p:grpSpPr>
        <p:sp>
          <p:nvSpPr>
            <p:cNvPr id="119" name="Freeform 13"/>
            <p:cNvSpPr/>
            <p:nvPr/>
          </p:nvSpPr>
          <p:spPr>
            <a:xfrm>
              <a:off x="3368" y="1000"/>
              <a:ext cx="1383" cy="1900"/>
            </a:xfrm>
            <a:custGeom>
              <a:avLst/>
              <a:gdLst/>
              <a:ahLst/>
              <a:cxnLst/>
              <a:rect l="l" t="t" r="r" b="b"/>
              <a:pathLst>
                <a:path w="3351043" h="4723057">
                  <a:moveTo>
                    <a:pt x="0" y="0"/>
                  </a:moveTo>
                  <a:lnTo>
                    <a:pt x="3351043" y="0"/>
                  </a:lnTo>
                  <a:lnTo>
                    <a:pt x="3351043" y="4723057"/>
                  </a:lnTo>
                  <a:lnTo>
                    <a:pt x="0" y="4723057"/>
                  </a:lnTo>
                  <a:lnTo>
                    <a:pt x="0" y="0"/>
                  </a:lnTo>
                  <a:close/>
                </a:path>
              </a:pathLst>
            </a:custGeom>
            <a:blipFill>
              <a:blip r:embed="rId8" cstate="print"/>
              <a:stretch>
                <a:fillRect/>
              </a:stretch>
            </a:blipFill>
          </p:spPr>
          <p:txBody>
            <a:bodyPr/>
            <a:lstStyle/>
            <a:p>
              <a:endParaRPr lang="zh-CN" altLang="en-US" sz="700"/>
            </a:p>
          </p:txBody>
        </p:sp>
        <p:sp>
          <p:nvSpPr>
            <p:cNvPr id="120" name="Freeform 13"/>
            <p:cNvSpPr/>
            <p:nvPr/>
          </p:nvSpPr>
          <p:spPr>
            <a:xfrm>
              <a:off x="3850" y="990"/>
              <a:ext cx="1383" cy="1900"/>
            </a:xfrm>
            <a:custGeom>
              <a:avLst/>
              <a:gdLst/>
              <a:ahLst/>
              <a:cxnLst/>
              <a:rect l="l" t="t" r="r" b="b"/>
              <a:pathLst>
                <a:path w="3351043" h="4723057">
                  <a:moveTo>
                    <a:pt x="0" y="0"/>
                  </a:moveTo>
                  <a:lnTo>
                    <a:pt x="3351043" y="0"/>
                  </a:lnTo>
                  <a:lnTo>
                    <a:pt x="3351043" y="4723057"/>
                  </a:lnTo>
                  <a:lnTo>
                    <a:pt x="0" y="4723057"/>
                  </a:lnTo>
                  <a:lnTo>
                    <a:pt x="0" y="0"/>
                  </a:lnTo>
                  <a:close/>
                </a:path>
              </a:pathLst>
            </a:custGeom>
            <a:blipFill>
              <a:blip r:embed="rId8" cstate="print"/>
              <a:stretch>
                <a:fillRect/>
              </a:stretch>
            </a:blipFill>
          </p:spPr>
          <p:txBody>
            <a:bodyPr/>
            <a:lstStyle/>
            <a:p>
              <a:endParaRPr lang="zh-CN" altLang="en-US" sz="700"/>
            </a:p>
          </p:txBody>
        </p:sp>
        <p:sp>
          <p:nvSpPr>
            <p:cNvPr id="121" name="Freeform 13"/>
            <p:cNvSpPr/>
            <p:nvPr/>
          </p:nvSpPr>
          <p:spPr>
            <a:xfrm>
              <a:off x="4332" y="998"/>
              <a:ext cx="1383" cy="1900"/>
            </a:xfrm>
            <a:custGeom>
              <a:avLst/>
              <a:gdLst/>
              <a:ahLst/>
              <a:cxnLst/>
              <a:rect l="l" t="t" r="r" b="b"/>
              <a:pathLst>
                <a:path w="3351043" h="4723057">
                  <a:moveTo>
                    <a:pt x="0" y="0"/>
                  </a:moveTo>
                  <a:lnTo>
                    <a:pt x="3351043" y="0"/>
                  </a:lnTo>
                  <a:lnTo>
                    <a:pt x="3351043" y="4723057"/>
                  </a:lnTo>
                  <a:lnTo>
                    <a:pt x="0" y="4723057"/>
                  </a:lnTo>
                  <a:lnTo>
                    <a:pt x="0" y="0"/>
                  </a:lnTo>
                  <a:close/>
                </a:path>
              </a:pathLst>
            </a:custGeom>
            <a:blipFill>
              <a:blip r:embed="rId8" cstate="print"/>
              <a:stretch>
                <a:fillRect/>
              </a:stretch>
            </a:blipFill>
          </p:spPr>
          <p:txBody>
            <a:bodyPr/>
            <a:lstStyle/>
            <a:p>
              <a:endParaRPr lang="zh-CN" altLang="en-US" sz="700"/>
            </a:p>
          </p:txBody>
        </p:sp>
        <p:sp>
          <p:nvSpPr>
            <p:cNvPr id="122" name="Freeform 13"/>
            <p:cNvSpPr/>
            <p:nvPr/>
          </p:nvSpPr>
          <p:spPr>
            <a:xfrm>
              <a:off x="4814" y="1000"/>
              <a:ext cx="1383" cy="1900"/>
            </a:xfrm>
            <a:custGeom>
              <a:avLst/>
              <a:gdLst/>
              <a:ahLst/>
              <a:cxnLst/>
              <a:rect l="l" t="t" r="r" b="b"/>
              <a:pathLst>
                <a:path w="3351043" h="4723057">
                  <a:moveTo>
                    <a:pt x="0" y="0"/>
                  </a:moveTo>
                  <a:lnTo>
                    <a:pt x="3351043" y="0"/>
                  </a:lnTo>
                  <a:lnTo>
                    <a:pt x="3351043" y="4723057"/>
                  </a:lnTo>
                  <a:lnTo>
                    <a:pt x="0" y="4723057"/>
                  </a:lnTo>
                  <a:lnTo>
                    <a:pt x="0" y="0"/>
                  </a:lnTo>
                  <a:close/>
                </a:path>
              </a:pathLst>
            </a:custGeom>
            <a:blipFill>
              <a:blip r:embed="rId8" cstate="print"/>
              <a:stretch>
                <a:fillRect/>
              </a:stretch>
            </a:blipFill>
          </p:spPr>
          <p:txBody>
            <a:bodyPr/>
            <a:lstStyle/>
            <a:p>
              <a:endParaRPr lang="zh-CN" altLang="en-US" sz="700"/>
            </a:p>
          </p:txBody>
        </p:sp>
        <p:sp>
          <p:nvSpPr>
            <p:cNvPr id="123" name="Freeform 13"/>
            <p:cNvSpPr/>
            <p:nvPr/>
          </p:nvSpPr>
          <p:spPr>
            <a:xfrm>
              <a:off x="5296" y="998"/>
              <a:ext cx="1383" cy="1900"/>
            </a:xfrm>
            <a:custGeom>
              <a:avLst/>
              <a:gdLst/>
              <a:ahLst/>
              <a:cxnLst/>
              <a:rect l="l" t="t" r="r" b="b"/>
              <a:pathLst>
                <a:path w="3351043" h="4723057">
                  <a:moveTo>
                    <a:pt x="0" y="0"/>
                  </a:moveTo>
                  <a:lnTo>
                    <a:pt x="3351043" y="0"/>
                  </a:lnTo>
                  <a:lnTo>
                    <a:pt x="3351043" y="4723057"/>
                  </a:lnTo>
                  <a:lnTo>
                    <a:pt x="0" y="4723057"/>
                  </a:lnTo>
                  <a:lnTo>
                    <a:pt x="0" y="0"/>
                  </a:lnTo>
                  <a:close/>
                </a:path>
              </a:pathLst>
            </a:custGeom>
            <a:blipFill>
              <a:blip r:embed="rId8" cstate="print"/>
              <a:stretch>
                <a:fillRect/>
              </a:stretch>
            </a:blipFill>
          </p:spPr>
          <p:txBody>
            <a:bodyPr/>
            <a:lstStyle/>
            <a:p>
              <a:endParaRPr lang="zh-CN" altLang="en-US" sz="700"/>
            </a:p>
          </p:txBody>
        </p:sp>
        <p:sp>
          <p:nvSpPr>
            <p:cNvPr id="136" name="Freeform 13"/>
            <p:cNvSpPr/>
            <p:nvPr/>
          </p:nvSpPr>
          <p:spPr>
            <a:xfrm>
              <a:off x="5778" y="1011"/>
              <a:ext cx="1383" cy="1900"/>
            </a:xfrm>
            <a:custGeom>
              <a:avLst/>
              <a:gdLst/>
              <a:ahLst/>
              <a:cxnLst/>
              <a:rect l="l" t="t" r="r" b="b"/>
              <a:pathLst>
                <a:path w="3351043" h="4723057">
                  <a:moveTo>
                    <a:pt x="0" y="0"/>
                  </a:moveTo>
                  <a:lnTo>
                    <a:pt x="3351043" y="0"/>
                  </a:lnTo>
                  <a:lnTo>
                    <a:pt x="3351043" y="4723057"/>
                  </a:lnTo>
                  <a:lnTo>
                    <a:pt x="0" y="4723057"/>
                  </a:lnTo>
                  <a:lnTo>
                    <a:pt x="0" y="0"/>
                  </a:lnTo>
                  <a:close/>
                </a:path>
              </a:pathLst>
            </a:custGeom>
            <a:blipFill>
              <a:blip r:embed="rId8" cstate="print"/>
              <a:stretch>
                <a:fillRect/>
              </a:stretch>
            </a:blipFill>
          </p:spPr>
          <p:txBody>
            <a:bodyPr/>
            <a:lstStyle/>
            <a:p>
              <a:endParaRPr lang="zh-CN" altLang="en-US" sz="700"/>
            </a:p>
          </p:txBody>
        </p:sp>
        <p:sp>
          <p:nvSpPr>
            <p:cNvPr id="137" name="Freeform 13"/>
            <p:cNvSpPr/>
            <p:nvPr/>
          </p:nvSpPr>
          <p:spPr>
            <a:xfrm>
              <a:off x="6260" y="999"/>
              <a:ext cx="1383" cy="1900"/>
            </a:xfrm>
            <a:custGeom>
              <a:avLst/>
              <a:gdLst/>
              <a:ahLst/>
              <a:cxnLst/>
              <a:rect l="l" t="t" r="r" b="b"/>
              <a:pathLst>
                <a:path w="3351043" h="4723057">
                  <a:moveTo>
                    <a:pt x="0" y="0"/>
                  </a:moveTo>
                  <a:lnTo>
                    <a:pt x="3351043" y="0"/>
                  </a:lnTo>
                  <a:lnTo>
                    <a:pt x="3351043" y="4723057"/>
                  </a:lnTo>
                  <a:lnTo>
                    <a:pt x="0" y="4723057"/>
                  </a:lnTo>
                  <a:lnTo>
                    <a:pt x="0" y="0"/>
                  </a:lnTo>
                  <a:close/>
                </a:path>
              </a:pathLst>
            </a:custGeom>
            <a:blipFill>
              <a:blip r:embed="rId8" cstate="print"/>
              <a:stretch>
                <a:fillRect/>
              </a:stretch>
            </a:blipFill>
          </p:spPr>
          <p:txBody>
            <a:bodyPr/>
            <a:lstStyle/>
            <a:p>
              <a:endParaRPr lang="zh-CN" altLang="en-US" sz="700"/>
            </a:p>
          </p:txBody>
        </p:sp>
        <p:sp>
          <p:nvSpPr>
            <p:cNvPr id="138" name="Freeform 13"/>
            <p:cNvSpPr/>
            <p:nvPr/>
          </p:nvSpPr>
          <p:spPr>
            <a:xfrm>
              <a:off x="6742" y="999"/>
              <a:ext cx="1383" cy="1900"/>
            </a:xfrm>
            <a:custGeom>
              <a:avLst/>
              <a:gdLst/>
              <a:ahLst/>
              <a:cxnLst/>
              <a:rect l="l" t="t" r="r" b="b"/>
              <a:pathLst>
                <a:path w="3351043" h="4723057">
                  <a:moveTo>
                    <a:pt x="0" y="0"/>
                  </a:moveTo>
                  <a:lnTo>
                    <a:pt x="3351043" y="0"/>
                  </a:lnTo>
                  <a:lnTo>
                    <a:pt x="3351043" y="4723057"/>
                  </a:lnTo>
                  <a:lnTo>
                    <a:pt x="0" y="4723057"/>
                  </a:lnTo>
                  <a:lnTo>
                    <a:pt x="0" y="0"/>
                  </a:lnTo>
                  <a:close/>
                </a:path>
              </a:pathLst>
            </a:custGeom>
            <a:blipFill>
              <a:blip r:embed="rId8" cstate="print"/>
              <a:stretch>
                <a:fillRect/>
              </a:stretch>
            </a:blipFill>
          </p:spPr>
          <p:txBody>
            <a:bodyPr/>
            <a:lstStyle/>
            <a:p>
              <a:endParaRPr lang="zh-CN" altLang="en-US" sz="700"/>
            </a:p>
          </p:txBody>
        </p:sp>
        <p:sp>
          <p:nvSpPr>
            <p:cNvPr id="139" name="Freeform 13"/>
            <p:cNvSpPr/>
            <p:nvPr/>
          </p:nvSpPr>
          <p:spPr>
            <a:xfrm>
              <a:off x="7224" y="999"/>
              <a:ext cx="1383" cy="1900"/>
            </a:xfrm>
            <a:custGeom>
              <a:avLst/>
              <a:gdLst/>
              <a:ahLst/>
              <a:cxnLst/>
              <a:rect l="l" t="t" r="r" b="b"/>
              <a:pathLst>
                <a:path w="3351043" h="4723057">
                  <a:moveTo>
                    <a:pt x="0" y="0"/>
                  </a:moveTo>
                  <a:lnTo>
                    <a:pt x="3351043" y="0"/>
                  </a:lnTo>
                  <a:lnTo>
                    <a:pt x="3351043" y="4723057"/>
                  </a:lnTo>
                  <a:lnTo>
                    <a:pt x="0" y="4723057"/>
                  </a:lnTo>
                  <a:lnTo>
                    <a:pt x="0" y="0"/>
                  </a:lnTo>
                  <a:close/>
                </a:path>
              </a:pathLst>
            </a:custGeom>
            <a:blipFill>
              <a:blip r:embed="rId8" cstate="print"/>
              <a:stretch>
                <a:fillRect/>
              </a:stretch>
            </a:blipFill>
          </p:spPr>
          <p:txBody>
            <a:bodyPr/>
            <a:lstStyle/>
            <a:p>
              <a:endParaRPr lang="zh-CN" altLang="en-US" sz="700"/>
            </a:p>
          </p:txBody>
        </p:sp>
        <p:sp>
          <p:nvSpPr>
            <p:cNvPr id="140" name="Freeform 13"/>
            <p:cNvSpPr/>
            <p:nvPr/>
          </p:nvSpPr>
          <p:spPr>
            <a:xfrm>
              <a:off x="7706" y="999"/>
              <a:ext cx="1383" cy="1900"/>
            </a:xfrm>
            <a:custGeom>
              <a:avLst/>
              <a:gdLst/>
              <a:ahLst/>
              <a:cxnLst/>
              <a:rect l="l" t="t" r="r" b="b"/>
              <a:pathLst>
                <a:path w="3351043" h="4723057">
                  <a:moveTo>
                    <a:pt x="0" y="0"/>
                  </a:moveTo>
                  <a:lnTo>
                    <a:pt x="3351043" y="0"/>
                  </a:lnTo>
                  <a:lnTo>
                    <a:pt x="3351043" y="4723057"/>
                  </a:lnTo>
                  <a:lnTo>
                    <a:pt x="0" y="4723057"/>
                  </a:lnTo>
                  <a:lnTo>
                    <a:pt x="0" y="0"/>
                  </a:lnTo>
                  <a:close/>
                </a:path>
              </a:pathLst>
            </a:custGeom>
            <a:blipFill>
              <a:blip r:embed="rId8" cstate="print"/>
              <a:stretch>
                <a:fillRect/>
              </a:stretch>
            </a:blipFill>
          </p:spPr>
          <p:txBody>
            <a:bodyPr/>
            <a:lstStyle/>
            <a:p>
              <a:endParaRPr lang="zh-CN" altLang="en-US" sz="700"/>
            </a:p>
          </p:txBody>
        </p:sp>
        <p:sp>
          <p:nvSpPr>
            <p:cNvPr id="141" name="Freeform 13"/>
            <p:cNvSpPr/>
            <p:nvPr/>
          </p:nvSpPr>
          <p:spPr>
            <a:xfrm>
              <a:off x="8189" y="999"/>
              <a:ext cx="1383" cy="1900"/>
            </a:xfrm>
            <a:custGeom>
              <a:avLst/>
              <a:gdLst/>
              <a:ahLst/>
              <a:cxnLst/>
              <a:rect l="l" t="t" r="r" b="b"/>
              <a:pathLst>
                <a:path w="3351043" h="4723057">
                  <a:moveTo>
                    <a:pt x="0" y="0"/>
                  </a:moveTo>
                  <a:lnTo>
                    <a:pt x="3351043" y="0"/>
                  </a:lnTo>
                  <a:lnTo>
                    <a:pt x="3351043" y="4723057"/>
                  </a:lnTo>
                  <a:lnTo>
                    <a:pt x="0" y="4723057"/>
                  </a:lnTo>
                  <a:lnTo>
                    <a:pt x="0" y="0"/>
                  </a:lnTo>
                  <a:close/>
                </a:path>
              </a:pathLst>
            </a:custGeom>
            <a:blipFill>
              <a:blip r:embed="rId8" cstate="print"/>
              <a:stretch>
                <a:fillRect/>
              </a:stretch>
            </a:blipFill>
          </p:spPr>
          <p:txBody>
            <a:bodyPr/>
            <a:lstStyle/>
            <a:p>
              <a:endParaRPr lang="zh-CN" altLang="en-US" sz="700"/>
            </a:p>
          </p:txBody>
        </p:sp>
        <p:sp>
          <p:nvSpPr>
            <p:cNvPr id="142" name="Freeform 13"/>
            <p:cNvSpPr/>
            <p:nvPr/>
          </p:nvSpPr>
          <p:spPr>
            <a:xfrm>
              <a:off x="8671" y="999"/>
              <a:ext cx="1383" cy="1900"/>
            </a:xfrm>
            <a:custGeom>
              <a:avLst/>
              <a:gdLst/>
              <a:ahLst/>
              <a:cxnLst/>
              <a:rect l="l" t="t" r="r" b="b"/>
              <a:pathLst>
                <a:path w="3351043" h="4723057">
                  <a:moveTo>
                    <a:pt x="0" y="0"/>
                  </a:moveTo>
                  <a:lnTo>
                    <a:pt x="3351043" y="0"/>
                  </a:lnTo>
                  <a:lnTo>
                    <a:pt x="3351043" y="4723057"/>
                  </a:lnTo>
                  <a:lnTo>
                    <a:pt x="0" y="4723057"/>
                  </a:lnTo>
                  <a:lnTo>
                    <a:pt x="0" y="0"/>
                  </a:lnTo>
                  <a:close/>
                </a:path>
              </a:pathLst>
            </a:custGeom>
            <a:blipFill>
              <a:blip r:embed="rId8" cstate="print"/>
              <a:stretch>
                <a:fillRect/>
              </a:stretch>
            </a:blipFill>
          </p:spPr>
          <p:txBody>
            <a:bodyPr/>
            <a:lstStyle/>
            <a:p>
              <a:endParaRPr lang="zh-CN" altLang="en-US" sz="700"/>
            </a:p>
          </p:txBody>
        </p:sp>
        <p:sp>
          <p:nvSpPr>
            <p:cNvPr id="143" name="Freeform 13"/>
            <p:cNvSpPr/>
            <p:nvPr/>
          </p:nvSpPr>
          <p:spPr>
            <a:xfrm>
              <a:off x="9153" y="999"/>
              <a:ext cx="1383" cy="1900"/>
            </a:xfrm>
            <a:custGeom>
              <a:avLst/>
              <a:gdLst/>
              <a:ahLst/>
              <a:cxnLst/>
              <a:rect l="l" t="t" r="r" b="b"/>
              <a:pathLst>
                <a:path w="3351043" h="4723057">
                  <a:moveTo>
                    <a:pt x="0" y="0"/>
                  </a:moveTo>
                  <a:lnTo>
                    <a:pt x="3351043" y="0"/>
                  </a:lnTo>
                  <a:lnTo>
                    <a:pt x="3351043" y="4723057"/>
                  </a:lnTo>
                  <a:lnTo>
                    <a:pt x="0" y="4723057"/>
                  </a:lnTo>
                  <a:lnTo>
                    <a:pt x="0" y="0"/>
                  </a:lnTo>
                  <a:close/>
                </a:path>
              </a:pathLst>
            </a:custGeom>
            <a:blipFill>
              <a:blip r:embed="rId8" cstate="print"/>
              <a:stretch>
                <a:fillRect/>
              </a:stretch>
            </a:blipFill>
          </p:spPr>
          <p:txBody>
            <a:bodyPr/>
            <a:lstStyle/>
            <a:p>
              <a:endParaRPr lang="zh-CN" altLang="en-US" sz="700"/>
            </a:p>
          </p:txBody>
        </p:sp>
      </p:grpSp>
      <p:sp>
        <p:nvSpPr>
          <p:cNvPr id="146" name="Freeform 16"/>
          <p:cNvSpPr/>
          <p:nvPr/>
        </p:nvSpPr>
        <p:spPr>
          <a:xfrm>
            <a:off x="462204" y="3684733"/>
            <a:ext cx="892105" cy="1300577"/>
          </a:xfrm>
          <a:custGeom>
            <a:avLst/>
            <a:gdLst/>
            <a:ahLst/>
            <a:cxnLst/>
            <a:rect l="l" t="t" r="r" b="b"/>
            <a:pathLst>
              <a:path w="3044843" h="4784753">
                <a:moveTo>
                  <a:pt x="0" y="0"/>
                </a:moveTo>
                <a:lnTo>
                  <a:pt x="3044843" y="0"/>
                </a:lnTo>
                <a:lnTo>
                  <a:pt x="3044843" y="4784753"/>
                </a:lnTo>
                <a:lnTo>
                  <a:pt x="0" y="4784753"/>
                </a:lnTo>
                <a:lnTo>
                  <a:pt x="0" y="0"/>
                </a:lnTo>
                <a:close/>
              </a:path>
            </a:pathLst>
          </a:custGeom>
          <a:blipFill>
            <a:blip r:embed="rId9" cstate="print"/>
            <a:stretch>
              <a:fillRect/>
            </a:stretch>
          </a:blipFill>
        </p:spPr>
        <p:txBody>
          <a:bodyPr/>
          <a:lstStyle/>
          <a:p>
            <a:endParaRPr lang="zh-CN" altLang="en-US" sz="700"/>
          </a:p>
        </p:txBody>
      </p:sp>
      <p:sp>
        <p:nvSpPr>
          <p:cNvPr id="147" name="Freeform 16"/>
          <p:cNvSpPr/>
          <p:nvPr/>
        </p:nvSpPr>
        <p:spPr>
          <a:xfrm>
            <a:off x="752337" y="3684733"/>
            <a:ext cx="892105" cy="1300577"/>
          </a:xfrm>
          <a:custGeom>
            <a:avLst/>
            <a:gdLst/>
            <a:ahLst/>
            <a:cxnLst/>
            <a:rect l="l" t="t" r="r" b="b"/>
            <a:pathLst>
              <a:path w="3044843" h="4784753">
                <a:moveTo>
                  <a:pt x="0" y="0"/>
                </a:moveTo>
                <a:lnTo>
                  <a:pt x="3044843" y="0"/>
                </a:lnTo>
                <a:lnTo>
                  <a:pt x="3044843" y="4784753"/>
                </a:lnTo>
                <a:lnTo>
                  <a:pt x="0" y="4784753"/>
                </a:lnTo>
                <a:lnTo>
                  <a:pt x="0" y="0"/>
                </a:lnTo>
                <a:close/>
              </a:path>
            </a:pathLst>
          </a:custGeom>
          <a:blipFill>
            <a:blip r:embed="rId9" cstate="print"/>
            <a:stretch>
              <a:fillRect/>
            </a:stretch>
          </a:blipFill>
        </p:spPr>
        <p:txBody>
          <a:bodyPr/>
          <a:lstStyle/>
          <a:p>
            <a:endParaRPr lang="zh-CN" altLang="en-US" sz="700"/>
          </a:p>
        </p:txBody>
      </p:sp>
      <p:sp>
        <p:nvSpPr>
          <p:cNvPr id="148" name="Freeform 16"/>
          <p:cNvSpPr/>
          <p:nvPr/>
        </p:nvSpPr>
        <p:spPr>
          <a:xfrm>
            <a:off x="1042470" y="3684733"/>
            <a:ext cx="892105" cy="1300577"/>
          </a:xfrm>
          <a:custGeom>
            <a:avLst/>
            <a:gdLst/>
            <a:ahLst/>
            <a:cxnLst/>
            <a:rect l="l" t="t" r="r" b="b"/>
            <a:pathLst>
              <a:path w="3044843" h="4784753">
                <a:moveTo>
                  <a:pt x="0" y="0"/>
                </a:moveTo>
                <a:lnTo>
                  <a:pt x="3044843" y="0"/>
                </a:lnTo>
                <a:lnTo>
                  <a:pt x="3044843" y="4784753"/>
                </a:lnTo>
                <a:lnTo>
                  <a:pt x="0" y="4784753"/>
                </a:lnTo>
                <a:lnTo>
                  <a:pt x="0" y="0"/>
                </a:lnTo>
                <a:close/>
              </a:path>
            </a:pathLst>
          </a:custGeom>
          <a:blipFill>
            <a:blip r:embed="rId9" cstate="print"/>
            <a:stretch>
              <a:fillRect/>
            </a:stretch>
          </a:blipFill>
        </p:spPr>
        <p:txBody>
          <a:bodyPr/>
          <a:lstStyle/>
          <a:p>
            <a:endParaRPr lang="zh-CN" altLang="en-US" sz="700"/>
          </a:p>
        </p:txBody>
      </p:sp>
      <p:sp>
        <p:nvSpPr>
          <p:cNvPr id="149" name="Freeform 16"/>
          <p:cNvSpPr/>
          <p:nvPr/>
        </p:nvSpPr>
        <p:spPr>
          <a:xfrm>
            <a:off x="1332603" y="3684733"/>
            <a:ext cx="892105" cy="1300577"/>
          </a:xfrm>
          <a:custGeom>
            <a:avLst/>
            <a:gdLst/>
            <a:ahLst/>
            <a:cxnLst/>
            <a:rect l="l" t="t" r="r" b="b"/>
            <a:pathLst>
              <a:path w="3044843" h="4784753">
                <a:moveTo>
                  <a:pt x="0" y="0"/>
                </a:moveTo>
                <a:lnTo>
                  <a:pt x="3044843" y="0"/>
                </a:lnTo>
                <a:lnTo>
                  <a:pt x="3044843" y="4784753"/>
                </a:lnTo>
                <a:lnTo>
                  <a:pt x="0" y="4784753"/>
                </a:lnTo>
                <a:lnTo>
                  <a:pt x="0" y="0"/>
                </a:lnTo>
                <a:close/>
              </a:path>
            </a:pathLst>
          </a:custGeom>
          <a:blipFill>
            <a:blip r:embed="rId9" cstate="print"/>
            <a:stretch>
              <a:fillRect/>
            </a:stretch>
          </a:blipFill>
        </p:spPr>
        <p:txBody>
          <a:bodyPr/>
          <a:lstStyle/>
          <a:p>
            <a:endParaRPr lang="zh-CN" altLang="en-US" sz="700"/>
          </a:p>
        </p:txBody>
      </p:sp>
      <p:sp>
        <p:nvSpPr>
          <p:cNvPr id="150" name="Freeform 16"/>
          <p:cNvSpPr/>
          <p:nvPr/>
        </p:nvSpPr>
        <p:spPr>
          <a:xfrm>
            <a:off x="1622736" y="3684733"/>
            <a:ext cx="892105" cy="1300577"/>
          </a:xfrm>
          <a:custGeom>
            <a:avLst/>
            <a:gdLst/>
            <a:ahLst/>
            <a:cxnLst/>
            <a:rect l="l" t="t" r="r" b="b"/>
            <a:pathLst>
              <a:path w="3044843" h="4784753">
                <a:moveTo>
                  <a:pt x="0" y="0"/>
                </a:moveTo>
                <a:lnTo>
                  <a:pt x="3044843" y="0"/>
                </a:lnTo>
                <a:lnTo>
                  <a:pt x="3044843" y="4784753"/>
                </a:lnTo>
                <a:lnTo>
                  <a:pt x="0" y="4784753"/>
                </a:lnTo>
                <a:lnTo>
                  <a:pt x="0" y="0"/>
                </a:lnTo>
                <a:close/>
              </a:path>
            </a:pathLst>
          </a:custGeom>
          <a:blipFill>
            <a:blip r:embed="rId9" cstate="print"/>
            <a:stretch>
              <a:fillRect/>
            </a:stretch>
          </a:blipFill>
        </p:spPr>
        <p:txBody>
          <a:bodyPr/>
          <a:lstStyle/>
          <a:p>
            <a:endParaRPr lang="zh-CN" altLang="en-US" sz="700"/>
          </a:p>
        </p:txBody>
      </p:sp>
      <p:sp>
        <p:nvSpPr>
          <p:cNvPr id="151" name="Freeform 16"/>
          <p:cNvSpPr/>
          <p:nvPr/>
        </p:nvSpPr>
        <p:spPr>
          <a:xfrm>
            <a:off x="1912869" y="3684733"/>
            <a:ext cx="892105" cy="1300577"/>
          </a:xfrm>
          <a:custGeom>
            <a:avLst/>
            <a:gdLst/>
            <a:ahLst/>
            <a:cxnLst/>
            <a:rect l="l" t="t" r="r" b="b"/>
            <a:pathLst>
              <a:path w="3044843" h="4784753">
                <a:moveTo>
                  <a:pt x="0" y="0"/>
                </a:moveTo>
                <a:lnTo>
                  <a:pt x="3044843" y="0"/>
                </a:lnTo>
                <a:lnTo>
                  <a:pt x="3044843" y="4784753"/>
                </a:lnTo>
                <a:lnTo>
                  <a:pt x="0" y="4784753"/>
                </a:lnTo>
                <a:lnTo>
                  <a:pt x="0" y="0"/>
                </a:lnTo>
                <a:close/>
              </a:path>
            </a:pathLst>
          </a:custGeom>
          <a:blipFill>
            <a:blip r:embed="rId9" cstate="print"/>
            <a:stretch>
              <a:fillRect/>
            </a:stretch>
          </a:blipFill>
        </p:spPr>
        <p:txBody>
          <a:bodyPr/>
          <a:lstStyle/>
          <a:p>
            <a:endParaRPr lang="zh-CN" altLang="en-US" sz="700"/>
          </a:p>
        </p:txBody>
      </p:sp>
      <p:sp>
        <p:nvSpPr>
          <p:cNvPr id="152" name="Freeform 16"/>
          <p:cNvSpPr/>
          <p:nvPr/>
        </p:nvSpPr>
        <p:spPr>
          <a:xfrm>
            <a:off x="2203002" y="3684733"/>
            <a:ext cx="892105" cy="1300577"/>
          </a:xfrm>
          <a:custGeom>
            <a:avLst/>
            <a:gdLst/>
            <a:ahLst/>
            <a:cxnLst/>
            <a:rect l="l" t="t" r="r" b="b"/>
            <a:pathLst>
              <a:path w="3044843" h="4784753">
                <a:moveTo>
                  <a:pt x="0" y="0"/>
                </a:moveTo>
                <a:lnTo>
                  <a:pt x="3044843" y="0"/>
                </a:lnTo>
                <a:lnTo>
                  <a:pt x="3044843" y="4784753"/>
                </a:lnTo>
                <a:lnTo>
                  <a:pt x="0" y="4784753"/>
                </a:lnTo>
                <a:lnTo>
                  <a:pt x="0" y="0"/>
                </a:lnTo>
                <a:close/>
              </a:path>
            </a:pathLst>
          </a:custGeom>
          <a:blipFill>
            <a:blip r:embed="rId9" cstate="print"/>
            <a:stretch>
              <a:fillRect/>
            </a:stretch>
          </a:blipFill>
        </p:spPr>
        <p:txBody>
          <a:bodyPr/>
          <a:lstStyle/>
          <a:p>
            <a:endParaRPr lang="zh-CN" altLang="en-US" sz="700"/>
          </a:p>
        </p:txBody>
      </p:sp>
      <p:sp>
        <p:nvSpPr>
          <p:cNvPr id="153" name="Freeform 16"/>
          <p:cNvSpPr/>
          <p:nvPr/>
        </p:nvSpPr>
        <p:spPr>
          <a:xfrm>
            <a:off x="2493134" y="3684733"/>
            <a:ext cx="892105" cy="1300577"/>
          </a:xfrm>
          <a:custGeom>
            <a:avLst/>
            <a:gdLst/>
            <a:ahLst/>
            <a:cxnLst/>
            <a:rect l="l" t="t" r="r" b="b"/>
            <a:pathLst>
              <a:path w="3044843" h="4784753">
                <a:moveTo>
                  <a:pt x="0" y="0"/>
                </a:moveTo>
                <a:lnTo>
                  <a:pt x="3044843" y="0"/>
                </a:lnTo>
                <a:lnTo>
                  <a:pt x="3044843" y="4784753"/>
                </a:lnTo>
                <a:lnTo>
                  <a:pt x="0" y="4784753"/>
                </a:lnTo>
                <a:lnTo>
                  <a:pt x="0" y="0"/>
                </a:lnTo>
                <a:close/>
              </a:path>
            </a:pathLst>
          </a:custGeom>
          <a:blipFill>
            <a:blip r:embed="rId9" cstate="print"/>
            <a:stretch>
              <a:fillRect/>
            </a:stretch>
          </a:blipFill>
        </p:spPr>
        <p:txBody>
          <a:bodyPr/>
          <a:lstStyle/>
          <a:p>
            <a:endParaRPr lang="zh-CN" altLang="en-US" sz="700"/>
          </a:p>
        </p:txBody>
      </p:sp>
      <p:sp>
        <p:nvSpPr>
          <p:cNvPr id="154" name="文本框 153"/>
          <p:cNvSpPr txBox="1"/>
          <p:nvPr/>
        </p:nvSpPr>
        <p:spPr>
          <a:xfrm>
            <a:off x="6552287" y="1998469"/>
            <a:ext cx="2543998" cy="2197781"/>
          </a:xfrm>
          <a:prstGeom prst="rect">
            <a:avLst/>
          </a:prstGeom>
          <a:noFill/>
        </p:spPr>
        <p:txBody>
          <a:bodyPr wrap="square" rtlCol="0">
            <a:spAutoFit/>
          </a:bodyPr>
          <a:lstStyle/>
          <a:p>
            <a:pPr marL="171450" indent="-171450" fontAlgn="auto">
              <a:lnSpc>
                <a:spcPct val="120000"/>
              </a:lnSpc>
              <a:spcBef>
                <a:spcPts val="700"/>
              </a:spcBef>
              <a:buFont typeface="Wingdings" panose="05000000000000000000" pitchFamily="2" charset="2"/>
              <a:buChar char="Ø"/>
            </a:pPr>
            <a:r>
              <a:rPr lang="zh-CN" altLang="en-US" sz="1000" b="1" dirty="0">
                <a:latin typeface="微软雅黑" panose="020B0503020204020204" pitchFamily="34" charset="-122"/>
                <a:ea typeface="微软雅黑" panose="020B0503020204020204" pitchFamily="34" charset="-122"/>
                <a:cs typeface="华文宋体" panose="02010600040101010101" charset="-122"/>
              </a:rPr>
              <a:t>专利</a:t>
            </a:r>
            <a:r>
              <a:rPr lang="zh-CN" altLang="en-US" sz="1000" b="1" dirty="0">
                <a:latin typeface="微软雅黑" panose="020B0503020204020204" pitchFamily="34" charset="-122"/>
                <a:ea typeface="微软雅黑" panose="020B0503020204020204" pitchFamily="34" charset="-122"/>
                <a:cs typeface="华文宋体" panose="02010600040101010101" charset="-122"/>
                <a:sym typeface="+mn-ea"/>
              </a:rPr>
              <a:t>一种基于眼动追踪的驾驶员注意力分布检测方法、基于眼动追踪的驾驶员疲劳监测方法等实现了</a:t>
            </a:r>
            <a:r>
              <a:rPr lang="zh-CN" altLang="en-US" sz="1000" b="1" u="sng" dirty="0">
                <a:solidFill>
                  <a:srgbClr val="FF0000"/>
                </a:solidFill>
                <a:latin typeface="微软雅黑" panose="020B0503020204020204" pitchFamily="34" charset="-122"/>
                <a:ea typeface="微软雅黑" panose="020B0503020204020204" pitchFamily="34" charset="-122"/>
                <a:cs typeface="华文宋体" panose="02010600040101010101" charset="-122"/>
                <a:sym typeface="+mn-ea"/>
              </a:rPr>
              <a:t>较远距离的视瞳小目标捕捉，</a:t>
            </a:r>
            <a:r>
              <a:rPr lang="en-US" altLang="zh-CN" sz="1000" b="1" dirty="0">
                <a:latin typeface="微软雅黑" panose="020B0503020204020204" pitchFamily="34" charset="-122"/>
                <a:ea typeface="微软雅黑" panose="020B0503020204020204" pitchFamily="34" charset="-122"/>
                <a:cs typeface="华文宋体" panose="02010600040101010101" charset="-122"/>
                <a:sym typeface="+mn-ea"/>
              </a:rPr>
              <a:t>1</a:t>
            </a:r>
            <a:r>
              <a:rPr lang="zh-CN" altLang="en-US" sz="1000" b="1" dirty="0">
                <a:latin typeface="微软雅黑" panose="020B0503020204020204" pitchFamily="34" charset="-122"/>
                <a:ea typeface="微软雅黑" panose="020B0503020204020204" pitchFamily="34" charset="-122"/>
                <a:cs typeface="华文宋体" panose="02010600040101010101" charset="-122"/>
                <a:sym typeface="+mn-ea"/>
              </a:rPr>
              <a:t>米感知距离下定位精度国内领先，目前已和某公司联合开发，投入医院导医屏视觉导引工作。</a:t>
            </a:r>
            <a:endParaRPr lang="zh-CN" altLang="en-US" sz="1000" b="1" dirty="0">
              <a:latin typeface="微软雅黑" panose="020B0503020204020204" pitchFamily="34" charset="-122"/>
              <a:ea typeface="微软雅黑" panose="020B0503020204020204" pitchFamily="34" charset="-122"/>
              <a:cs typeface="华文宋体" panose="02010600040101010101" charset="-122"/>
              <a:sym typeface="+mn-ea"/>
            </a:endParaRPr>
          </a:p>
          <a:p>
            <a:pPr marL="171450" indent="-171450" fontAlgn="auto">
              <a:lnSpc>
                <a:spcPct val="120000"/>
              </a:lnSpc>
              <a:spcBef>
                <a:spcPts val="700"/>
              </a:spcBef>
              <a:buFont typeface="Wingdings" panose="05000000000000000000" pitchFamily="2" charset="2"/>
              <a:buChar char="Ø"/>
            </a:pPr>
            <a:r>
              <a:rPr lang="zh-CN" altLang="en-US" sz="1000" b="1" dirty="0">
                <a:latin typeface="微软雅黑" panose="020B0503020204020204" pitchFamily="34" charset="-122"/>
                <a:ea typeface="微软雅黑" panose="020B0503020204020204" pitchFamily="34" charset="-122"/>
                <a:cs typeface="华文宋体" panose="02010600040101010101" charset="-122"/>
                <a:sym typeface="+mn-ea"/>
              </a:rPr>
              <a:t>一种基于单目视觉的平面上目标定位方法等专利实现了</a:t>
            </a:r>
            <a:r>
              <a:rPr lang="zh-CN" altLang="en-US" sz="1000" b="1" u="sng" dirty="0">
                <a:solidFill>
                  <a:srgbClr val="FF0000"/>
                </a:solidFill>
                <a:latin typeface="微软雅黑" panose="020B0503020204020204" pitchFamily="34" charset="-122"/>
                <a:ea typeface="微软雅黑" panose="020B0503020204020204" pitchFamily="34" charset="-122"/>
                <a:cs typeface="华文宋体" panose="02010600040101010101" charset="-122"/>
                <a:sym typeface="+mn-ea"/>
              </a:rPr>
              <a:t>空间中物体三维外参关系快速标定。</a:t>
            </a:r>
            <a:r>
              <a:rPr lang="zh-CN" altLang="en-US" sz="1000" b="1" dirty="0">
                <a:solidFill>
                  <a:srgbClr val="FF0000"/>
                </a:solidFill>
                <a:latin typeface="微软雅黑" panose="020B0503020204020204" pitchFamily="34" charset="-122"/>
                <a:ea typeface="微软雅黑" panose="020B0503020204020204" pitchFamily="34" charset="-122"/>
                <a:cs typeface="华文宋体" panose="02010600040101010101" charset="-122"/>
                <a:sym typeface="+mn-ea"/>
              </a:rPr>
              <a:t>在一定质量保证下构建速度国内领先，已在南京玄武湖三维构建中投入使用。</a:t>
            </a:r>
            <a:r>
              <a:rPr lang="en-US" altLang="zh-CN" sz="1000" b="1" dirty="0">
                <a:latin typeface="微软雅黑" panose="020B0503020204020204" pitchFamily="34" charset="-122"/>
                <a:ea typeface="微软雅黑" panose="020B0503020204020204" pitchFamily="34" charset="-122"/>
                <a:cs typeface="华文宋体" panose="02010600040101010101" charset="-122"/>
              </a:rPr>
              <a:t> </a:t>
            </a:r>
            <a:endParaRPr lang="en-US" altLang="zh-CN" sz="1000" b="1" dirty="0">
              <a:latin typeface="微软雅黑" panose="020B0503020204020204" pitchFamily="34" charset="-122"/>
              <a:ea typeface="微软雅黑" panose="020B0503020204020204" pitchFamily="34" charset="-122"/>
              <a:cs typeface="华文宋体" panose="02010600040101010101" charset="-122"/>
            </a:endParaRPr>
          </a:p>
        </p:txBody>
      </p:sp>
      <p:sp>
        <p:nvSpPr>
          <p:cNvPr id="155" name="TextBox 35"/>
          <p:cNvSpPr txBox="1"/>
          <p:nvPr/>
        </p:nvSpPr>
        <p:spPr>
          <a:xfrm>
            <a:off x="3515417" y="3946851"/>
            <a:ext cx="322387" cy="344005"/>
          </a:xfrm>
          <a:prstGeom prst="rect">
            <a:avLst/>
          </a:prstGeom>
        </p:spPr>
        <p:txBody>
          <a:bodyPr wrap="square" lIns="0" tIns="0" rIns="0" bIns="0" rtlCol="0" anchor="t">
            <a:spAutoFit/>
          </a:bodyPr>
          <a:lstStyle/>
          <a:p>
            <a:pPr>
              <a:lnSpc>
                <a:spcPts val="1440"/>
              </a:lnSpc>
            </a:pPr>
            <a:r>
              <a:rPr lang="zh-CN" altLang="en-US" sz="900" b="1" dirty="0">
                <a:solidFill>
                  <a:srgbClr val="3A5DFD"/>
                </a:solidFill>
                <a:latin typeface="微软雅黑" panose="020B0503020204020204" pitchFamily="34" charset="-122"/>
                <a:ea typeface="微软雅黑" panose="020B0503020204020204" pitchFamily="34" charset="-122"/>
                <a:sym typeface="思源黑体 Bold"/>
              </a:rPr>
              <a:t>论文</a:t>
            </a:r>
            <a:r>
              <a:rPr lang="en-US" sz="900" b="1" dirty="0">
                <a:solidFill>
                  <a:srgbClr val="3A5DFD"/>
                </a:solidFill>
                <a:latin typeface="思源黑体 Bold"/>
                <a:ea typeface="思源黑体 Bold"/>
                <a:cs typeface="思源黑体 Bold"/>
                <a:sym typeface="思源黑体 Bold"/>
              </a:rPr>
              <a:t>：</a:t>
            </a:r>
            <a:endParaRPr lang="en-US" sz="900" dirty="0">
              <a:solidFill>
                <a:srgbClr val="000000"/>
              </a:solidFill>
              <a:latin typeface="思源黑体"/>
              <a:ea typeface="思源黑体"/>
              <a:cs typeface="思源黑体"/>
              <a:sym typeface="思源黑体"/>
            </a:endParaRPr>
          </a:p>
        </p:txBody>
      </p:sp>
      <p:sp>
        <p:nvSpPr>
          <p:cNvPr id="156" name="TextBox 36"/>
          <p:cNvSpPr txBox="1"/>
          <p:nvPr/>
        </p:nvSpPr>
        <p:spPr>
          <a:xfrm>
            <a:off x="3735831" y="4191544"/>
            <a:ext cx="4889357" cy="881075"/>
          </a:xfrm>
          <a:prstGeom prst="rect">
            <a:avLst/>
          </a:prstGeom>
        </p:spPr>
        <p:txBody>
          <a:bodyPr wrap="square" lIns="0" tIns="0" rIns="0" bIns="0" rtlCol="0" anchor="t">
            <a:spAutoFit/>
          </a:bodyPr>
          <a:lstStyle/>
          <a:p>
            <a:pPr marL="142875" indent="-142875">
              <a:lnSpc>
                <a:spcPts val="1440"/>
              </a:lnSpc>
              <a:buFont typeface="Wingdings" panose="05000000000000000000" pitchFamily="2" charset="2"/>
              <a:buChar char="Ø"/>
            </a:pPr>
            <a:r>
              <a:rPr lang="en-US" altLang="zh-CN" sz="800" b="1" dirty="0">
                <a:latin typeface="微软雅黑" panose="020B0503020204020204" pitchFamily="34" charset="-122"/>
                <a:ea typeface="微软雅黑" panose="020B0503020204020204" pitchFamily="34" charset="-122"/>
                <a:cs typeface="Times New Roman" panose="02020603050405020304" pitchFamily="18" charset="0"/>
              </a:rPr>
              <a:t>Multimodal attention prediction technology based on human visual cognition is applied to multi-scene collision warning</a:t>
            </a:r>
            <a:endParaRPr lang="en-US" altLang="zh-CN" sz="800" b="1" dirty="0">
              <a:latin typeface="微软雅黑" panose="020B0503020204020204" pitchFamily="34" charset="-122"/>
              <a:ea typeface="微软雅黑" panose="020B0503020204020204" pitchFamily="34" charset="-122"/>
              <a:cs typeface="Times New Roman" panose="02020603050405020304" pitchFamily="18" charset="0"/>
            </a:endParaRPr>
          </a:p>
          <a:p>
            <a:pPr marL="142875" indent="-142875">
              <a:lnSpc>
                <a:spcPts val="1440"/>
              </a:lnSpc>
              <a:buFont typeface="Wingdings" panose="05000000000000000000" pitchFamily="2" charset="2"/>
              <a:buChar char="Ø"/>
            </a:pPr>
            <a:r>
              <a:rPr lang="zh-CN" altLang="en-US" sz="800" b="1" dirty="0">
                <a:solidFill>
                  <a:srgbClr val="000000"/>
                </a:solidFill>
                <a:latin typeface="微软雅黑" panose="020B0503020204020204" pitchFamily="34" charset="-122"/>
                <a:ea typeface="微软雅黑" panose="020B0503020204020204" pitchFamily="34" charset="-122"/>
                <a:sym typeface="思源黑体"/>
              </a:rPr>
              <a:t>基于人类视觉认知的时间序列预测技术在交叉口危险感知领域的应用</a:t>
            </a:r>
            <a:endParaRPr lang="en-US" altLang="zh-CN" sz="800" b="1" dirty="0">
              <a:solidFill>
                <a:srgbClr val="000000"/>
              </a:solidFill>
              <a:latin typeface="微软雅黑" panose="020B0503020204020204" pitchFamily="34" charset="-122"/>
              <a:ea typeface="微软雅黑" panose="020B0503020204020204" pitchFamily="34" charset="-122"/>
              <a:sym typeface="思源黑体"/>
            </a:endParaRPr>
          </a:p>
          <a:p>
            <a:pPr marL="142875" indent="-142875">
              <a:lnSpc>
                <a:spcPts val="1440"/>
              </a:lnSpc>
              <a:buFont typeface="Wingdings" panose="05000000000000000000" pitchFamily="2" charset="2"/>
              <a:buChar char="Ø"/>
            </a:pPr>
            <a:r>
              <a:rPr lang="zh-CN" altLang="en-US" sz="800" b="1" dirty="0">
                <a:solidFill>
                  <a:srgbClr val="000000"/>
                </a:solidFill>
                <a:latin typeface="微软雅黑" panose="020B0503020204020204" pitchFamily="34" charset="-122"/>
                <a:ea typeface="微软雅黑" panose="020B0503020204020204" pitchFamily="34" charset="-122"/>
                <a:sym typeface="思源黑体"/>
              </a:rPr>
              <a:t>基于</a:t>
            </a:r>
            <a:r>
              <a:rPr lang="en-US" altLang="zh-CN" sz="800" b="1" dirty="0">
                <a:solidFill>
                  <a:srgbClr val="000000"/>
                </a:solidFill>
                <a:latin typeface="微软雅黑" panose="020B0503020204020204" pitchFamily="34" charset="-122"/>
                <a:ea typeface="微软雅黑" panose="020B0503020204020204" pitchFamily="34" charset="-122"/>
                <a:sym typeface="思源黑体"/>
              </a:rPr>
              <a:t>Top-down</a:t>
            </a:r>
            <a:r>
              <a:rPr lang="zh-CN" altLang="en-US" sz="800" b="1" dirty="0">
                <a:solidFill>
                  <a:srgbClr val="000000"/>
                </a:solidFill>
                <a:latin typeface="微软雅黑" panose="020B0503020204020204" pitchFamily="34" charset="-122"/>
                <a:ea typeface="微软雅黑" panose="020B0503020204020204" pitchFamily="34" charset="-122"/>
                <a:sym typeface="思源黑体"/>
              </a:rPr>
              <a:t>策略的铁路驼峰螺栓松动自动化检测方法</a:t>
            </a:r>
            <a:endParaRPr lang="en-US" altLang="zh-CN" sz="800" b="1" dirty="0">
              <a:solidFill>
                <a:srgbClr val="000000"/>
              </a:solidFill>
              <a:latin typeface="微软雅黑" panose="020B0503020204020204" pitchFamily="34" charset="-122"/>
              <a:ea typeface="微软雅黑" panose="020B0503020204020204" pitchFamily="34" charset="-122"/>
              <a:sym typeface="思源黑体"/>
            </a:endParaRPr>
          </a:p>
          <a:p>
            <a:pPr marL="142875" indent="-142875">
              <a:lnSpc>
                <a:spcPct val="150000"/>
              </a:lnSpc>
              <a:buFont typeface="Wingdings" panose="05000000000000000000" pitchFamily="2" charset="2"/>
              <a:buChar char="Ø"/>
            </a:pPr>
            <a:r>
              <a:rPr lang="en-US" altLang="zh-CN" sz="800" b="1" dirty="0">
                <a:latin typeface="微软雅黑" panose="020B0503020204020204" pitchFamily="34" charset="-122"/>
                <a:ea typeface="微软雅黑" panose="020B0503020204020204" pitchFamily="34" charset="-122"/>
              </a:rPr>
              <a:t>······</a:t>
            </a:r>
            <a:endParaRPr lang="zh-CN" altLang="en-US" sz="800" b="1" dirty="0">
              <a:latin typeface="微软雅黑" panose="020B0503020204020204" pitchFamily="34" charset="-122"/>
              <a:ea typeface="微软雅黑" panose="020B0503020204020204" pitchFamily="34" charset="-122"/>
            </a:endParaRPr>
          </a:p>
        </p:txBody>
      </p:sp>
      <p:grpSp>
        <p:nvGrpSpPr>
          <p:cNvPr id="10" name="组合 11"/>
          <p:cNvGrpSpPr/>
          <p:nvPr/>
        </p:nvGrpSpPr>
        <p:grpSpPr>
          <a:xfrm>
            <a:off x="-2" y="120703"/>
            <a:ext cx="285757" cy="479147"/>
            <a:chOff x="-2" y="120703"/>
            <a:chExt cx="285757" cy="479147"/>
          </a:xfrm>
        </p:grpSpPr>
        <p:sp>
          <p:nvSpPr>
            <p:cNvPr id="14" name="等腰三角形 13"/>
            <p:cNvSpPr/>
            <p:nvPr/>
          </p:nvSpPr>
          <p:spPr>
            <a:xfrm rot="5400000">
              <a:off x="-52804" y="173505"/>
              <a:ext cx="391362" cy="285757"/>
            </a:xfrm>
            <a:prstGeom prst="triangle">
              <a:avLst/>
            </a:prstGeom>
            <a:gradFill>
              <a:gsLst>
                <a:gs pos="0">
                  <a:srgbClr val="0070C0"/>
                </a:gs>
                <a:gs pos="100000">
                  <a:srgbClr val="00B0F0"/>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52804" y="261290"/>
              <a:ext cx="391362" cy="285757"/>
            </a:xfrm>
            <a:prstGeom prst="triangle">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27"/>
          <p:cNvGrpSpPr/>
          <p:nvPr/>
        </p:nvGrpSpPr>
        <p:grpSpPr>
          <a:xfrm>
            <a:off x="8858242" y="4593948"/>
            <a:ext cx="285757" cy="479147"/>
            <a:chOff x="8858242" y="4593948"/>
            <a:chExt cx="285757" cy="479147"/>
          </a:xfrm>
        </p:grpSpPr>
        <p:sp>
          <p:nvSpPr>
            <p:cNvPr id="29" name="等腰三角形 28"/>
            <p:cNvSpPr/>
            <p:nvPr/>
          </p:nvSpPr>
          <p:spPr>
            <a:xfrm rot="16200000">
              <a:off x="8805440" y="4646750"/>
              <a:ext cx="391362" cy="285757"/>
            </a:xfrm>
            <a:prstGeom prst="triangle">
              <a:avLst/>
            </a:prstGeom>
            <a:gradFill>
              <a:gsLst>
                <a:gs pos="0">
                  <a:srgbClr val="0070C0"/>
                </a:gs>
                <a:gs pos="100000">
                  <a:srgbClr val="00B0F0"/>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nvSpPr>
          <p:spPr>
            <a:xfrm rot="16200000">
              <a:off x="8805440" y="4734535"/>
              <a:ext cx="391362" cy="285757"/>
            </a:xfrm>
            <a:prstGeom prst="triangle">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框 15"/>
          <p:cNvSpPr txBox="1"/>
          <p:nvPr/>
        </p:nvSpPr>
        <p:spPr>
          <a:xfrm>
            <a:off x="324485" y="19050"/>
            <a:ext cx="7564755" cy="430887"/>
          </a:xfrm>
          <a:prstGeom prst="rect">
            <a:avLst/>
          </a:prstGeom>
          <a:noFill/>
        </p:spPr>
        <p:txBody>
          <a:bodyPr wrap="square" rtlCol="0">
            <a:spAutoFit/>
          </a:bodyPr>
          <a:lstStyle/>
          <a:p>
            <a:pPr algn="l">
              <a:lnSpc>
                <a:spcPct val="110000"/>
              </a:lnSpc>
            </a:pPr>
            <a:r>
              <a:rPr lang="en-US" altLang="zh-CN"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rPr>
              <a:t>相关</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rPr>
              <a:t>荣誉、专利、软著、论文</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2" name="直接连接符 1"/>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custDataLst>
              <p:tags r:id="rId10"/>
            </p:custDataLst>
          </p:nvPr>
        </p:nvPicPr>
        <p:blipFill>
          <a:blip r:embed="rId11" cstate="print"/>
          <a:srcRect t="13321"/>
          <a:stretch>
            <a:fillRect/>
          </a:stretch>
        </p:blipFill>
        <p:spPr>
          <a:xfrm>
            <a:off x="87630" y="644525"/>
            <a:ext cx="955040" cy="1045845"/>
          </a:xfrm>
          <a:prstGeom prst="rect">
            <a:avLst/>
          </a:prstGeom>
        </p:spPr>
      </p:pic>
      <p:pic>
        <p:nvPicPr>
          <p:cNvPr id="6" name="图片 5"/>
          <p:cNvPicPr>
            <a:picLocks noChangeAspect="1"/>
          </p:cNvPicPr>
          <p:nvPr>
            <p:custDataLst>
              <p:tags r:id="rId12"/>
            </p:custDataLst>
          </p:nvPr>
        </p:nvPicPr>
        <p:blipFill>
          <a:blip r:embed="rId13" cstate="print"/>
          <a:stretch>
            <a:fillRect/>
          </a:stretch>
        </p:blipFill>
        <p:spPr>
          <a:xfrm>
            <a:off x="951230" y="633095"/>
            <a:ext cx="960755" cy="1057910"/>
          </a:xfrm>
          <a:prstGeom prst="rect">
            <a:avLst/>
          </a:prstGeom>
        </p:spPr>
      </p:pic>
      <p:pic>
        <p:nvPicPr>
          <p:cNvPr id="4" name="图片 3" descr="三维获奖证书"/>
          <p:cNvPicPr>
            <a:picLocks noChangeAspect="1"/>
          </p:cNvPicPr>
          <p:nvPr>
            <p:custDataLst>
              <p:tags r:id="rId14"/>
            </p:custDataLst>
          </p:nvPr>
        </p:nvPicPr>
        <p:blipFill>
          <a:blip r:embed="rId15" cstate="print"/>
          <a:stretch>
            <a:fillRect/>
          </a:stretch>
        </p:blipFill>
        <p:spPr>
          <a:xfrm>
            <a:off x="1810385" y="633095"/>
            <a:ext cx="1531620" cy="11144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2"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right)">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5"/>
          <p:cNvSpPr txBox="1">
            <a:spLocks noGrp="1"/>
          </p:cNvSpPr>
          <p:nvPr>
            <p:ph type="title"/>
          </p:nvPr>
        </p:nvSpPr>
        <p:spPr>
          <a:xfrm>
            <a:off x="316865" y="172720"/>
            <a:ext cx="4394200" cy="344170"/>
          </a:xfrm>
          <a:prstGeom prst="rect">
            <a:avLst/>
          </a:prstGeom>
          <a:noFill/>
        </p:spPr>
        <p:txBody>
          <a:bodyPr wrap="square" rtlCol="0">
            <a:spAutoFit/>
          </a:bodyPr>
          <a:lstStyle/>
          <a:p>
            <a:r>
              <a:rPr lang="en-US" altLang="zh-CN"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6.</a:t>
            </a:r>
            <a:r>
              <a:rPr lang="zh-CN" altLang="en-US"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股</a:t>
            </a:r>
            <a:r>
              <a:rPr lang="zh-CN" altLang="en-US"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权及架构</a:t>
            </a:r>
            <a:r>
              <a:rPr lang="en-US" altLang="zh-CN"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a:t>
            </a:r>
            <a:r>
              <a:rPr lang="zh-CN" altLang="en-US"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组织架构</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pic>
        <p:nvPicPr>
          <p:cNvPr id="115" name="图片 2"/>
          <p:cNvPicPr>
            <a:picLocks noChangeAspect="1"/>
          </p:cNvPicPr>
          <p:nvPr/>
        </p:nvPicPr>
        <p:blipFill>
          <a:blip r:embed="rId1" cstate="print"/>
          <a:stretch>
            <a:fillRect/>
          </a:stretch>
        </p:blipFill>
        <p:spPr>
          <a:xfrm>
            <a:off x="741680" y="478790"/>
            <a:ext cx="7956550" cy="459994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18"/>
          <p:cNvSpPr txBox="1"/>
          <p:nvPr/>
        </p:nvSpPr>
        <p:spPr>
          <a:xfrm>
            <a:off x="3198495" y="3107055"/>
            <a:ext cx="2746375" cy="475615"/>
          </a:xfrm>
          <a:prstGeom prst="rect">
            <a:avLst/>
          </a:prstGeom>
          <a:noFill/>
        </p:spPr>
        <p:txBody>
          <a:bodyPr wrap="square" rtlCol="0">
            <a:spAutoFit/>
          </a:bodyPr>
          <a:lstStyle/>
          <a:p>
            <a:pPr algn="ctr"/>
            <a:r>
              <a:rPr lang="zh-CN" altLang="en-US" sz="25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核</a:t>
            </a:r>
            <a:r>
              <a:rPr lang="zh-CN" altLang="en-US" sz="25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心</a:t>
            </a:r>
            <a:r>
              <a:rPr lang="zh-CN" altLang="en-US" sz="25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技术</a:t>
            </a:r>
            <a:endParaRPr lang="zh-CN" altLang="en-US" sz="25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sp>
        <p:nvSpPr>
          <p:cNvPr id="16" name="等腰三角形 15"/>
          <p:cNvSpPr/>
          <p:nvPr/>
        </p:nvSpPr>
        <p:spPr>
          <a:xfrm rot="10800000">
            <a:off x="4376319" y="2900078"/>
            <a:ext cx="391362" cy="174435"/>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205749"/>
            <a:ext cx="9144000" cy="1694329"/>
          </a:xfrm>
          <a:prstGeom prst="rect">
            <a:avLst/>
          </a:prstGeom>
        </p:spPr>
      </p:pic>
      <p:sp>
        <p:nvSpPr>
          <p:cNvPr id="32" name="文本框 46"/>
          <p:cNvSpPr txBox="1"/>
          <p:nvPr/>
        </p:nvSpPr>
        <p:spPr>
          <a:xfrm>
            <a:off x="3894824" y="1237305"/>
            <a:ext cx="1013695" cy="1630045"/>
          </a:xfrm>
          <a:prstGeom prst="rect">
            <a:avLst/>
          </a:prstGeom>
          <a:noFill/>
        </p:spPr>
        <p:txBody>
          <a:bodyPr wrap="square" rtlCol="0">
            <a:spAutoFit/>
          </a:bodyPr>
          <a:lstStyle/>
          <a:p>
            <a:pPr algn="ctr"/>
            <a:r>
              <a:rPr lang="en-US" altLang="zh-CN" sz="10000" b="1" i="1" dirty="0" smtClean="0">
                <a:solidFill>
                  <a:schemeClr val="bg1"/>
                </a:solidFill>
                <a:effectLst>
                  <a:outerShdw blurRad="50800" dist="63500" dir="2700000" algn="tl" rotWithShape="0">
                    <a:prstClr val="black">
                      <a:alpha val="40000"/>
                    </a:prstClr>
                  </a:outerShdw>
                </a:effectLst>
                <a:latin typeface="微软雅黑" panose="020B0503020204020204" pitchFamily="34" charset="-122"/>
                <a:ea typeface="微软雅黑" panose="020B0503020204020204" pitchFamily="34" charset="-122"/>
              </a:rPr>
              <a:t>2</a:t>
            </a:r>
            <a:endParaRPr lang="zh-CN" altLang="en-US" sz="10000" b="1" i="1" dirty="0">
              <a:solidFill>
                <a:schemeClr val="bg1"/>
              </a:solidFill>
              <a:effectLst>
                <a:outerShdw blurRad="50800" dist="635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400" advClick="0">
        <p14:doors dir="vert"/>
      </p:transition>
    </mc:Choice>
    <mc:Fallback>
      <p:transition spd="slow" advClick="0">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15"/>
          <p:cNvSpPr txBox="1"/>
          <p:nvPr/>
        </p:nvSpPr>
        <p:spPr>
          <a:xfrm>
            <a:off x="247650" y="146685"/>
            <a:ext cx="6330950" cy="398780"/>
          </a:xfrm>
          <a:prstGeom prst="rect">
            <a:avLst/>
          </a:prstGeom>
          <a:noFill/>
        </p:spPr>
        <p:txBody>
          <a:bodyPr wrap="square" rtlCol="0">
            <a:spAutoFit/>
          </a:bodyPr>
          <a:lstStyle/>
          <a:p>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1</a:t>
            </a:r>
            <a:r>
              <a:rPr lang="en-US" altLang="zh-CN"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a:t>
            </a:r>
            <a:r>
              <a:rPr lang="zh-CN" altLang="en-US"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 四</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步骤</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grpSp>
        <p:nvGrpSpPr>
          <p:cNvPr id="3" name="组合 2"/>
          <p:cNvGrpSpPr/>
          <p:nvPr>
            <p:custDataLst>
              <p:tags r:id="rId1"/>
            </p:custDataLst>
          </p:nvPr>
        </p:nvGrpSpPr>
        <p:grpSpPr>
          <a:xfrm rot="10800000">
            <a:off x="139051" y="1352407"/>
            <a:ext cx="894629" cy="729261"/>
            <a:chOff x="3456897" y="3211271"/>
            <a:chExt cx="1232193" cy="1004428"/>
          </a:xfrm>
        </p:grpSpPr>
        <p:sp>
          <p:nvSpPr>
            <p:cNvPr id="4" name="Freeform 70"/>
            <p:cNvSpPr>
              <a:spLocks noChangeAspect="1"/>
            </p:cNvSpPr>
            <p:nvPr>
              <p:custDataLst>
                <p:tags r:id="rId2"/>
              </p:custDataLst>
            </p:nvPr>
          </p:nvSpPr>
          <p:spPr bwMode="auto">
            <a:xfrm>
              <a:off x="3456897" y="3211271"/>
              <a:ext cx="1232193" cy="1004428"/>
            </a:xfrm>
            <a:custGeom>
              <a:avLst/>
              <a:gdLst>
                <a:gd name="T0" fmla="*/ 1210 w 1210"/>
                <a:gd name="T1" fmla="*/ 491 h 986"/>
                <a:gd name="T2" fmla="*/ 982 w 1210"/>
                <a:gd name="T3" fmla="*/ 424 h 986"/>
                <a:gd name="T4" fmla="*/ 494 w 1210"/>
                <a:gd name="T5" fmla="*/ 0 h 986"/>
                <a:gd name="T6" fmla="*/ 0 w 1210"/>
                <a:gd name="T7" fmla="*/ 493 h 986"/>
                <a:gd name="T8" fmla="*/ 494 w 1210"/>
                <a:gd name="T9" fmla="*/ 986 h 986"/>
                <a:gd name="T10" fmla="*/ 983 w 1210"/>
                <a:gd name="T11" fmla="*/ 557 h 986"/>
                <a:gd name="T12" fmla="*/ 1210 w 1210"/>
                <a:gd name="T13" fmla="*/ 491 h 986"/>
              </a:gdLst>
              <a:ahLst/>
              <a:cxnLst>
                <a:cxn ang="0">
                  <a:pos x="T0" y="T1"/>
                </a:cxn>
                <a:cxn ang="0">
                  <a:pos x="T2" y="T3"/>
                </a:cxn>
                <a:cxn ang="0">
                  <a:pos x="T4" y="T5"/>
                </a:cxn>
                <a:cxn ang="0">
                  <a:pos x="T6" y="T7"/>
                </a:cxn>
                <a:cxn ang="0">
                  <a:pos x="T8" y="T9"/>
                </a:cxn>
                <a:cxn ang="0">
                  <a:pos x="T10" y="T11"/>
                </a:cxn>
                <a:cxn ang="0">
                  <a:pos x="T12" y="T13"/>
                </a:cxn>
              </a:cxnLst>
              <a:rect l="0" t="0" r="r" b="b"/>
              <a:pathLst>
                <a:path w="1210" h="985">
                  <a:moveTo>
                    <a:pt x="1210" y="491"/>
                  </a:moveTo>
                  <a:cubicBezTo>
                    <a:pt x="982" y="424"/>
                    <a:pt x="982" y="424"/>
                    <a:pt x="982" y="424"/>
                  </a:cubicBezTo>
                  <a:cubicBezTo>
                    <a:pt x="949" y="184"/>
                    <a:pt x="743" y="0"/>
                    <a:pt x="494" y="0"/>
                  </a:cubicBezTo>
                  <a:cubicBezTo>
                    <a:pt x="221" y="0"/>
                    <a:pt x="0" y="221"/>
                    <a:pt x="0" y="493"/>
                  </a:cubicBezTo>
                  <a:cubicBezTo>
                    <a:pt x="0" y="766"/>
                    <a:pt x="221" y="986"/>
                    <a:pt x="494" y="986"/>
                  </a:cubicBezTo>
                  <a:cubicBezTo>
                    <a:pt x="745" y="986"/>
                    <a:pt x="952" y="799"/>
                    <a:pt x="983" y="557"/>
                  </a:cubicBezTo>
                  <a:lnTo>
                    <a:pt x="1210" y="491"/>
                  </a:ln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5" name="椭圆 4"/>
            <p:cNvSpPr/>
            <p:nvPr>
              <p:custDataLst>
                <p:tags r:id="rId3"/>
              </p:custDataLst>
            </p:nvPr>
          </p:nvSpPr>
          <p:spPr>
            <a:xfrm>
              <a:off x="3561365" y="3313435"/>
              <a:ext cx="800100" cy="8001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p:custDataLst>
              <p:tags r:id="rId4"/>
            </p:custDataLst>
          </p:nvPr>
        </p:nvSpPr>
        <p:spPr>
          <a:xfrm>
            <a:off x="369873" y="1547495"/>
            <a:ext cx="569647" cy="306705"/>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认知</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custDataLst>
              <p:tags r:id="rId5"/>
            </p:custDataLst>
          </p:nvPr>
        </p:nvSpPr>
        <p:spPr>
          <a:xfrm>
            <a:off x="1054100" y="1363345"/>
            <a:ext cx="4062095" cy="368300"/>
          </a:xfrm>
          <a:prstGeom prst="rect">
            <a:avLst/>
          </a:prstGeom>
          <a:noFill/>
        </p:spPr>
        <p:txBody>
          <a:bodyPr wrap="square" rtlCol="0">
            <a:spAutoFit/>
          </a:bodyPr>
          <a:lstStyle/>
          <a:p>
            <a:r>
              <a:rPr lang="zh-CN" altLang="en-US" sz="18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复杂目标识别与复杂事件推理技术群</a:t>
            </a:r>
            <a:endParaRPr lang="zh-CN" altLang="en-US" sz="18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grpSp>
        <p:nvGrpSpPr>
          <p:cNvPr id="11" name="组合 10"/>
          <p:cNvGrpSpPr/>
          <p:nvPr>
            <p:custDataLst>
              <p:tags r:id="rId6"/>
            </p:custDataLst>
          </p:nvPr>
        </p:nvGrpSpPr>
        <p:grpSpPr>
          <a:xfrm rot="10800000">
            <a:off x="139051" y="3059514"/>
            <a:ext cx="894629" cy="729261"/>
            <a:chOff x="3456897" y="3211271"/>
            <a:chExt cx="1232193" cy="1004428"/>
          </a:xfrm>
        </p:grpSpPr>
        <p:sp>
          <p:nvSpPr>
            <p:cNvPr id="12" name="Freeform 70"/>
            <p:cNvSpPr>
              <a:spLocks noChangeAspect="1"/>
            </p:cNvSpPr>
            <p:nvPr>
              <p:custDataLst>
                <p:tags r:id="rId7"/>
              </p:custDataLst>
            </p:nvPr>
          </p:nvSpPr>
          <p:spPr bwMode="auto">
            <a:xfrm>
              <a:off x="3456897" y="3211271"/>
              <a:ext cx="1232193" cy="1004428"/>
            </a:xfrm>
            <a:custGeom>
              <a:avLst/>
              <a:gdLst>
                <a:gd name="T0" fmla="*/ 1210 w 1210"/>
                <a:gd name="T1" fmla="*/ 491 h 986"/>
                <a:gd name="T2" fmla="*/ 982 w 1210"/>
                <a:gd name="T3" fmla="*/ 424 h 986"/>
                <a:gd name="T4" fmla="*/ 494 w 1210"/>
                <a:gd name="T5" fmla="*/ 0 h 986"/>
                <a:gd name="T6" fmla="*/ 0 w 1210"/>
                <a:gd name="T7" fmla="*/ 493 h 986"/>
                <a:gd name="T8" fmla="*/ 494 w 1210"/>
                <a:gd name="T9" fmla="*/ 986 h 986"/>
                <a:gd name="T10" fmla="*/ 983 w 1210"/>
                <a:gd name="T11" fmla="*/ 557 h 986"/>
                <a:gd name="T12" fmla="*/ 1210 w 1210"/>
                <a:gd name="T13" fmla="*/ 491 h 986"/>
              </a:gdLst>
              <a:ahLst/>
              <a:cxnLst>
                <a:cxn ang="0">
                  <a:pos x="T0" y="T1"/>
                </a:cxn>
                <a:cxn ang="0">
                  <a:pos x="T2" y="T3"/>
                </a:cxn>
                <a:cxn ang="0">
                  <a:pos x="T4" y="T5"/>
                </a:cxn>
                <a:cxn ang="0">
                  <a:pos x="T6" y="T7"/>
                </a:cxn>
                <a:cxn ang="0">
                  <a:pos x="T8" y="T9"/>
                </a:cxn>
                <a:cxn ang="0">
                  <a:pos x="T10" y="T11"/>
                </a:cxn>
                <a:cxn ang="0">
                  <a:pos x="T12" y="T13"/>
                </a:cxn>
              </a:cxnLst>
              <a:rect l="0" t="0" r="r" b="b"/>
              <a:pathLst>
                <a:path w="1210" h="985">
                  <a:moveTo>
                    <a:pt x="1210" y="491"/>
                  </a:moveTo>
                  <a:cubicBezTo>
                    <a:pt x="982" y="424"/>
                    <a:pt x="982" y="424"/>
                    <a:pt x="982" y="424"/>
                  </a:cubicBezTo>
                  <a:cubicBezTo>
                    <a:pt x="949" y="184"/>
                    <a:pt x="743" y="0"/>
                    <a:pt x="494" y="0"/>
                  </a:cubicBezTo>
                  <a:cubicBezTo>
                    <a:pt x="221" y="0"/>
                    <a:pt x="0" y="221"/>
                    <a:pt x="0" y="493"/>
                  </a:cubicBezTo>
                  <a:cubicBezTo>
                    <a:pt x="0" y="766"/>
                    <a:pt x="221" y="986"/>
                    <a:pt x="494" y="986"/>
                  </a:cubicBezTo>
                  <a:cubicBezTo>
                    <a:pt x="745" y="986"/>
                    <a:pt x="952" y="799"/>
                    <a:pt x="983" y="557"/>
                  </a:cubicBezTo>
                  <a:lnTo>
                    <a:pt x="1210" y="491"/>
                  </a:ln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13" name="椭圆 12"/>
            <p:cNvSpPr/>
            <p:nvPr>
              <p:custDataLst>
                <p:tags r:id="rId8"/>
              </p:custDataLst>
            </p:nvPr>
          </p:nvSpPr>
          <p:spPr>
            <a:xfrm>
              <a:off x="3561365" y="3313435"/>
              <a:ext cx="800100" cy="800100"/>
            </a:xfrm>
            <a:prstGeom prst="ellipse">
              <a:avLst/>
            </a:prstGeom>
            <a:solidFill>
              <a:srgbClr val="53B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custDataLst>
              <p:tags r:id="rId9"/>
            </p:custDataLst>
          </p:nvPr>
        </p:nvSpPr>
        <p:spPr>
          <a:xfrm>
            <a:off x="369874" y="3264579"/>
            <a:ext cx="569647" cy="306705"/>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再现</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5" name="矩形 14"/>
          <p:cNvSpPr/>
          <p:nvPr>
            <p:custDataLst>
              <p:tags r:id="rId10"/>
            </p:custDataLst>
          </p:nvPr>
        </p:nvSpPr>
        <p:spPr>
          <a:xfrm>
            <a:off x="1054100" y="3190240"/>
            <a:ext cx="4276725" cy="368300"/>
          </a:xfrm>
          <a:prstGeom prst="rect">
            <a:avLst/>
          </a:prstGeom>
          <a:noFill/>
        </p:spPr>
        <p:txBody>
          <a:bodyPr wrap="square" rtlCol="0">
            <a:spAutoFit/>
          </a:bodyPr>
          <a:lstStyle/>
          <a:p>
            <a:r>
              <a:rPr lang="zh-CN" altLang="en-US" sz="18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视觉解算及三维轻量化快速构建技术群</a:t>
            </a:r>
            <a:endParaRPr lang="zh-CN" altLang="en-US" sz="18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sp>
        <p:nvSpPr>
          <p:cNvPr id="16" name="矩形 15"/>
          <p:cNvSpPr/>
          <p:nvPr>
            <p:custDataLst>
              <p:tags r:id="rId11"/>
            </p:custDataLst>
          </p:nvPr>
        </p:nvSpPr>
        <p:spPr>
          <a:xfrm>
            <a:off x="1054100" y="1631315"/>
            <a:ext cx="7857490" cy="1476375"/>
          </a:xfrm>
          <a:prstGeom prst="rect">
            <a:avLst/>
          </a:prstGeom>
          <a:noFill/>
        </p:spPr>
        <p:txBody>
          <a:bodyPr wrap="square" rtlCol="0">
            <a:spAutoFit/>
          </a:bodyPr>
          <a:lstStyle/>
          <a:p>
            <a:pPr>
              <a:lnSpc>
                <a:spcPct val="150000"/>
              </a:lnSpc>
            </a:pPr>
            <a:r>
              <a:rPr lang="zh-CN" altLang="en-US" sz="1500" b="1" dirty="0">
                <a:latin typeface="微软雅黑" panose="020B0503020204020204" pitchFamily="34" charset="-122"/>
                <a:ea typeface="微软雅黑" panose="020B0503020204020204" pitchFamily="34" charset="-122"/>
              </a:rPr>
              <a:t>在业界已实现的常规感知的基础上，</a:t>
            </a:r>
            <a:r>
              <a:rPr lang="zh-CN" altLang="en-US" sz="1500" b="1" dirty="0">
                <a:latin typeface="微软雅黑" panose="020B0503020204020204" pitchFamily="34" charset="-122"/>
                <a:ea typeface="微软雅黑" panose="020B0503020204020204" pitchFamily="34" charset="-122"/>
                <a:sym typeface="+mn-ea"/>
              </a:rPr>
              <a:t>实现对复杂环境的认知，保证团队产品的竞争优势。</a:t>
            </a:r>
            <a:endParaRPr lang="zh-CN" altLang="en-US" sz="1500" dirty="0">
              <a:latin typeface="微软雅黑" panose="020B0503020204020204" pitchFamily="34" charset="-122"/>
              <a:ea typeface="微软雅黑" panose="020B0503020204020204" pitchFamily="34" charset="-122"/>
            </a:endParaRPr>
          </a:p>
          <a:p>
            <a:pPr>
              <a:lnSpc>
                <a:spcPct val="150000"/>
              </a:lnSpc>
            </a:pPr>
            <a:r>
              <a:rPr lang="zh-CN" altLang="en-US" sz="1500" b="1" dirty="0">
                <a:latin typeface="微软雅黑" panose="020B0503020204020204" pitchFamily="34" charset="-122"/>
                <a:ea typeface="微软雅黑" panose="020B0503020204020204" pitchFamily="34" charset="-122"/>
              </a:rPr>
              <a:t>复杂目标识别：实现</a:t>
            </a:r>
            <a:r>
              <a:rPr lang="zh-CN" altLang="en-US" sz="1500" b="1" u="sng" dirty="0">
                <a:solidFill>
                  <a:srgbClr val="FF0000"/>
                </a:solidFill>
                <a:latin typeface="微软雅黑" panose="020B0503020204020204" pitchFamily="34" charset="-122"/>
                <a:ea typeface="微软雅黑" panose="020B0503020204020204" pitchFamily="34" charset="-122"/>
              </a:rPr>
              <a:t>小目标、模糊目标、被遮挡目标</a:t>
            </a:r>
            <a:r>
              <a:rPr lang="zh-CN" altLang="en-US" sz="1500" b="1" dirty="0">
                <a:latin typeface="微软雅黑" panose="020B0503020204020204" pitchFamily="34" charset="-122"/>
                <a:ea typeface="微软雅黑" panose="020B0503020204020204" pitchFamily="34" charset="-122"/>
              </a:rPr>
              <a:t>等复杂目标识别。。</a:t>
            </a:r>
            <a:endParaRPr lang="zh-CN" altLang="en-US" sz="1500" b="1" dirty="0">
              <a:latin typeface="微软雅黑" panose="020B0503020204020204" pitchFamily="34" charset="-122"/>
              <a:ea typeface="微软雅黑" panose="020B0503020204020204" pitchFamily="34" charset="-122"/>
            </a:endParaRPr>
          </a:p>
          <a:p>
            <a:pPr>
              <a:lnSpc>
                <a:spcPct val="150000"/>
              </a:lnSpc>
            </a:pPr>
            <a:r>
              <a:rPr lang="zh-CN" altLang="en-US" sz="1500" b="1" dirty="0">
                <a:latin typeface="微软雅黑" panose="020B0503020204020204" pitchFamily="34" charset="-122"/>
                <a:ea typeface="微软雅黑" panose="020B0503020204020204" pitchFamily="34" charset="-122"/>
              </a:rPr>
              <a:t>复杂事件推理：面对由子事件组合的复杂事件，通过前步子事件，</a:t>
            </a:r>
            <a:r>
              <a:rPr lang="zh-CN" altLang="en-US" sz="1500" b="1" dirty="0">
                <a:solidFill>
                  <a:srgbClr val="FF0000"/>
                </a:solidFill>
                <a:latin typeface="微软雅黑" panose="020B0503020204020204" pitchFamily="34" charset="-122"/>
                <a:ea typeface="微软雅黑" panose="020B0503020204020204" pitchFamily="34" charset="-122"/>
              </a:rPr>
              <a:t>实现从感知已知事件到预测未知事件，防患于未然</a:t>
            </a:r>
            <a:r>
              <a:rPr lang="zh-CN" altLang="en-US" sz="1500" b="1" dirty="0">
                <a:latin typeface="微软雅黑" panose="020B0503020204020204" pitchFamily="34" charset="-122"/>
                <a:ea typeface="微软雅黑" panose="020B0503020204020204" pitchFamily="34" charset="-122"/>
              </a:rPr>
              <a:t>；基于对复合事件结构的理解，监督事件过程中顺序错位。</a:t>
            </a:r>
            <a:endParaRPr lang="zh-CN" altLang="en-US" sz="1500" b="1" dirty="0">
              <a:latin typeface="微软雅黑" panose="020B0503020204020204" pitchFamily="34" charset="-122"/>
              <a:ea typeface="微软雅黑" panose="020B0503020204020204" pitchFamily="34" charset="-122"/>
            </a:endParaRPr>
          </a:p>
        </p:txBody>
      </p:sp>
      <p:sp>
        <p:nvSpPr>
          <p:cNvPr id="17" name="矩形 16"/>
          <p:cNvSpPr/>
          <p:nvPr>
            <p:custDataLst>
              <p:tags r:id="rId12"/>
            </p:custDataLst>
          </p:nvPr>
        </p:nvSpPr>
        <p:spPr>
          <a:xfrm>
            <a:off x="1054100" y="3488690"/>
            <a:ext cx="7541895" cy="1476375"/>
          </a:xfrm>
          <a:prstGeom prst="rect">
            <a:avLst/>
          </a:prstGeom>
          <a:noFill/>
        </p:spPr>
        <p:txBody>
          <a:bodyPr wrap="square" rtlCol="0">
            <a:spAutoFit/>
          </a:bodyPr>
          <a:lstStyle/>
          <a:p>
            <a:pPr>
              <a:lnSpc>
                <a:spcPct val="150000"/>
              </a:lnSpc>
            </a:pPr>
            <a:r>
              <a:rPr lang="zh-CN" altLang="en-US" sz="1500" b="1" dirty="0">
                <a:latin typeface="微软雅黑" panose="020B0503020204020204" pitchFamily="34" charset="-122"/>
                <a:ea typeface="微软雅黑" panose="020B0503020204020204" pitchFamily="34" charset="-122"/>
              </a:rPr>
              <a:t>对环境数字化再现，提供更多的信息参考和用户体验，支撑决策。特色如下：</a:t>
            </a:r>
            <a:endParaRPr lang="zh-CN" altLang="en-US" sz="1500" b="1" dirty="0">
              <a:latin typeface="微软雅黑" panose="020B0503020204020204" pitchFamily="34" charset="-122"/>
              <a:ea typeface="微软雅黑" panose="020B0503020204020204" pitchFamily="34" charset="-122"/>
            </a:endParaRPr>
          </a:p>
          <a:p>
            <a:pPr>
              <a:lnSpc>
                <a:spcPct val="150000"/>
              </a:lnSpc>
            </a:pPr>
            <a:r>
              <a:rPr lang="zh-CN" altLang="en-US" sz="1500" b="1" dirty="0">
                <a:latin typeface="微软雅黑" panose="020B0503020204020204" pitchFamily="34" charset="-122"/>
                <a:ea typeface="微软雅黑" panose="020B0503020204020204" pitchFamily="34" charset="-122"/>
              </a:rPr>
              <a:t>实现对目标</a:t>
            </a:r>
            <a:r>
              <a:rPr lang="zh-CN" altLang="en-US" sz="1500" b="1" u="sng" dirty="0">
                <a:solidFill>
                  <a:srgbClr val="FF0000"/>
                </a:solidFill>
                <a:latin typeface="微软雅黑" panose="020B0503020204020204" pitchFamily="34" charset="-122"/>
                <a:ea typeface="微软雅黑" panose="020B0503020204020204" pitchFamily="34" charset="-122"/>
              </a:rPr>
              <a:t>位置、姿态、体量、速度、轨迹</a:t>
            </a:r>
            <a:r>
              <a:rPr lang="zh-CN" altLang="en-US" sz="1500" b="1" dirty="0">
                <a:latin typeface="微软雅黑" panose="020B0503020204020204" pitchFamily="34" charset="-122"/>
                <a:ea typeface="微软雅黑" panose="020B0503020204020204" pitchFamily="34" charset="-122"/>
              </a:rPr>
              <a:t>的便捷、高精度测量。</a:t>
            </a:r>
            <a:endParaRPr lang="zh-CN" altLang="en-US" sz="1500" b="1" dirty="0">
              <a:latin typeface="微软雅黑" panose="020B0503020204020204" pitchFamily="34" charset="-122"/>
              <a:ea typeface="微软雅黑" panose="020B0503020204020204" pitchFamily="34" charset="-122"/>
            </a:endParaRPr>
          </a:p>
          <a:p>
            <a:pPr>
              <a:lnSpc>
                <a:spcPct val="150000"/>
              </a:lnSpc>
            </a:pPr>
            <a:r>
              <a:rPr lang="zh-CN" altLang="en-US" sz="1500" b="1" dirty="0">
                <a:latin typeface="微软雅黑" panose="020B0503020204020204" pitchFamily="34" charset="-122"/>
                <a:ea typeface="微软雅黑" panose="020B0503020204020204" pitchFamily="34" charset="-122"/>
              </a:rPr>
              <a:t>在保证生成质量的前提下，设计适合轻量化采集的模型，提升</a:t>
            </a:r>
            <a:r>
              <a:rPr lang="zh-CN" altLang="en-US" sz="1500" b="1" dirty="0">
                <a:solidFill>
                  <a:srgbClr val="FF0000"/>
                </a:solidFill>
                <a:latin typeface="微软雅黑" panose="020B0503020204020204" pitchFamily="34" charset="-122"/>
                <a:ea typeface="微软雅黑" panose="020B0503020204020204" pitchFamily="34" charset="-122"/>
              </a:rPr>
              <a:t>采集便捷</a:t>
            </a:r>
            <a:r>
              <a:rPr lang="zh-CN" altLang="en-US" sz="1500" b="1" dirty="0">
                <a:latin typeface="微软雅黑" panose="020B0503020204020204" pitchFamily="34" charset="-122"/>
                <a:ea typeface="微软雅黑" panose="020B0503020204020204" pitchFamily="34" charset="-122"/>
              </a:rPr>
              <a:t>度；</a:t>
            </a:r>
            <a:endParaRPr lang="zh-CN" altLang="en-US" sz="1500" b="1" dirty="0">
              <a:latin typeface="微软雅黑" panose="020B0503020204020204" pitchFamily="34" charset="-122"/>
              <a:ea typeface="微软雅黑" panose="020B0503020204020204" pitchFamily="34" charset="-122"/>
            </a:endParaRPr>
          </a:p>
          <a:p>
            <a:pPr>
              <a:lnSpc>
                <a:spcPct val="150000"/>
              </a:lnSpc>
            </a:pPr>
            <a:r>
              <a:rPr lang="zh-CN" altLang="en-US" sz="1500" b="1" dirty="0">
                <a:latin typeface="微软雅黑" panose="020B0503020204020204" pitchFamily="34" charset="-122"/>
                <a:ea typeface="微软雅黑" panose="020B0503020204020204" pitchFamily="34" charset="-122"/>
              </a:rPr>
              <a:t>改进模型，提升生成速度，实现较大三维场景的</a:t>
            </a:r>
            <a:r>
              <a:rPr lang="zh-CN" altLang="en-US" sz="1500" b="1" dirty="0">
                <a:solidFill>
                  <a:srgbClr val="FF0000"/>
                </a:solidFill>
                <a:latin typeface="微软雅黑" panose="020B0503020204020204" pitchFamily="34" charset="-122"/>
                <a:ea typeface="微软雅黑" panose="020B0503020204020204" pitchFamily="34" charset="-122"/>
              </a:rPr>
              <a:t>分钟级生成</a:t>
            </a:r>
            <a:r>
              <a:rPr lang="zh-CN" altLang="en-US" sz="1500" b="1" dirty="0">
                <a:latin typeface="微软雅黑" panose="020B0503020204020204" pitchFamily="34" charset="-122"/>
                <a:ea typeface="微软雅黑" panose="020B0503020204020204" pitchFamily="34" charset="-122"/>
              </a:rPr>
              <a:t>，极大拓展了应用场景。</a:t>
            </a:r>
            <a:endParaRPr lang="zh-CN" altLang="en-US" sz="1500" b="1" dirty="0">
              <a:latin typeface="微软雅黑" panose="020B0503020204020204" pitchFamily="34" charset="-122"/>
              <a:ea typeface="微软雅黑" panose="020B0503020204020204" pitchFamily="34" charset="-122"/>
            </a:endParaRPr>
          </a:p>
        </p:txBody>
      </p:sp>
      <p:sp>
        <p:nvSpPr>
          <p:cNvPr id="18" name="文本框 17"/>
          <p:cNvSpPr txBox="1"/>
          <p:nvPr/>
        </p:nvSpPr>
        <p:spPr>
          <a:xfrm>
            <a:off x="931386" y="775409"/>
            <a:ext cx="1503327" cy="440934"/>
          </a:xfrm>
          <a:prstGeom prst="roundRect">
            <a:avLst/>
          </a:prstGeom>
          <a:solidFill>
            <a:schemeClr val="accent5">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rgbClr r="0" g="0" b="0"/>
          </a:lnRef>
          <a:fillRef idx="0">
            <a:scrgbClr r="0" g="0" b="0"/>
          </a:fillRef>
          <a:effectRef idx="0">
            <a:scrgbClr r="0" g="0" b="0"/>
          </a:effectRef>
          <a:fontRef idx="minor">
            <a:schemeClr val="lt1"/>
          </a:fontRef>
        </p:style>
        <p:txBody>
          <a:bodyPr spcFirstLastPara="0" vert="horz" wrap="square" lIns="43815" tIns="43815" rIns="43815" bIns="43815" numCol="1" spcCol="1270" anchor="ctr" anchorCtr="0">
            <a:noAutofit/>
          </a:bodyPr>
          <a:lstStyle/>
          <a:p>
            <a:pPr marL="0" lvl="0" indent="0" algn="ctr" defTabSz="1022350">
              <a:lnSpc>
                <a:spcPct val="90000"/>
              </a:lnSpc>
              <a:spcBef>
                <a:spcPct val="0"/>
              </a:spcBef>
              <a:spcAft>
                <a:spcPct val="5000"/>
              </a:spcAft>
              <a:buNone/>
            </a:pPr>
            <a:r>
              <a:rPr lang="zh-CN" altLang="en-US" sz="1600" b="1" kern="1200" dirty="0">
                <a:solidFill>
                  <a:srgbClr val="FFFF00"/>
                </a:solidFill>
                <a:latin typeface="微软雅黑" panose="020B0503020204020204" pitchFamily="34" charset="-122"/>
                <a:ea typeface="微软雅黑" panose="020B0503020204020204" pitchFamily="34" charset="-122"/>
              </a:rPr>
              <a:t>认知</a:t>
            </a:r>
            <a:endParaRPr lang="zh-CN" altLang="en-US" sz="1600" b="1" kern="1200" dirty="0">
              <a:solidFill>
                <a:srgbClr val="FFFF00"/>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2912904" y="771208"/>
            <a:ext cx="1503327" cy="440934"/>
          </a:xfrm>
          <a:prstGeom prst="roundRect">
            <a:avLst/>
          </a:prstGeom>
          <a:solidFill>
            <a:schemeClr val="accent5">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rgbClr r="0" g="0" b="0"/>
          </a:lnRef>
          <a:fillRef idx="0">
            <a:scrgbClr r="0" g="0" b="0"/>
          </a:fillRef>
          <a:effectRef idx="0">
            <a:scrgbClr r="0" g="0" b="0"/>
          </a:effectRef>
          <a:fontRef idx="minor">
            <a:schemeClr val="lt1"/>
          </a:fontRef>
        </p:style>
        <p:txBody>
          <a:bodyPr spcFirstLastPara="0" vert="horz" wrap="square" lIns="43815" tIns="43815" rIns="43815" bIns="43815" numCol="1" spcCol="1270" anchor="ctr" anchorCtr="0">
            <a:noAutofit/>
          </a:bodyPr>
          <a:lstStyle/>
          <a:p>
            <a:pPr marL="0" lvl="0" indent="0" algn="ctr" defTabSz="1022350">
              <a:lnSpc>
                <a:spcPct val="90000"/>
              </a:lnSpc>
              <a:spcBef>
                <a:spcPct val="0"/>
              </a:spcBef>
              <a:spcAft>
                <a:spcPct val="5000"/>
              </a:spcAft>
              <a:buNone/>
            </a:pPr>
            <a:r>
              <a:rPr lang="zh-CN" altLang="en-US" sz="1600" b="1" kern="1200" dirty="0">
                <a:solidFill>
                  <a:srgbClr val="FFFF00"/>
                </a:solidFill>
                <a:latin typeface="微软雅黑" panose="020B0503020204020204" pitchFamily="34" charset="-122"/>
                <a:ea typeface="微软雅黑" panose="020B0503020204020204" pitchFamily="34" charset="-122"/>
              </a:rPr>
              <a:t>检测</a:t>
            </a:r>
            <a:endParaRPr lang="zh-CN" altLang="en-US" sz="1600" b="1" kern="1200" dirty="0">
              <a:solidFill>
                <a:srgbClr val="FFFF00"/>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4894739" y="775653"/>
            <a:ext cx="1503327" cy="440934"/>
          </a:xfrm>
          <a:prstGeom prst="roundRect">
            <a:avLst/>
          </a:prstGeom>
          <a:solidFill>
            <a:schemeClr val="accent5">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rgbClr r="0" g="0" b="0"/>
          </a:lnRef>
          <a:fillRef idx="0">
            <a:scrgbClr r="0" g="0" b="0"/>
          </a:fillRef>
          <a:effectRef idx="0">
            <a:scrgbClr r="0" g="0" b="0"/>
          </a:effectRef>
          <a:fontRef idx="minor">
            <a:schemeClr val="lt1"/>
          </a:fontRef>
        </p:style>
        <p:txBody>
          <a:bodyPr spcFirstLastPara="0" vert="horz" wrap="square" lIns="43815" tIns="43815" rIns="43815" bIns="43815" numCol="1" spcCol="1270" anchor="ctr" anchorCtr="0">
            <a:noAutofit/>
          </a:bodyPr>
          <a:lstStyle/>
          <a:p>
            <a:pPr marL="0" lvl="0" indent="0" algn="ctr" defTabSz="1022350">
              <a:lnSpc>
                <a:spcPct val="90000"/>
              </a:lnSpc>
              <a:spcBef>
                <a:spcPct val="0"/>
              </a:spcBef>
              <a:spcAft>
                <a:spcPct val="5000"/>
              </a:spcAft>
              <a:buNone/>
            </a:pPr>
            <a:r>
              <a:rPr lang="zh-CN" altLang="en-US" sz="1600" b="1" dirty="0">
                <a:solidFill>
                  <a:srgbClr val="FFFF00"/>
                </a:solidFill>
                <a:latin typeface="微软雅黑" panose="020B0503020204020204" pitchFamily="34" charset="-122"/>
                <a:ea typeface="微软雅黑" panose="020B0503020204020204" pitchFamily="34" charset="-122"/>
              </a:rPr>
              <a:t>重构</a:t>
            </a:r>
            <a:endParaRPr lang="zh-CN" altLang="en-US" sz="1600" b="1" dirty="0">
              <a:solidFill>
                <a:srgbClr val="FFFF00"/>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6876574" y="775018"/>
            <a:ext cx="1503327" cy="440934"/>
          </a:xfrm>
          <a:prstGeom prst="roundRect">
            <a:avLst/>
          </a:prstGeom>
          <a:solidFill>
            <a:schemeClr val="accent5">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rgbClr r="0" g="0" b="0"/>
          </a:lnRef>
          <a:fillRef idx="0">
            <a:scrgbClr r="0" g="0" b="0"/>
          </a:fillRef>
          <a:effectRef idx="0">
            <a:scrgbClr r="0" g="0" b="0"/>
          </a:effectRef>
          <a:fontRef idx="minor">
            <a:schemeClr val="lt1"/>
          </a:fontRef>
        </p:style>
        <p:txBody>
          <a:bodyPr spcFirstLastPara="0" vert="horz" wrap="square" lIns="43815" tIns="43815" rIns="43815" bIns="43815" numCol="1" spcCol="1270" anchor="ctr" anchorCtr="0">
            <a:noAutofit/>
          </a:bodyPr>
          <a:lstStyle/>
          <a:p>
            <a:pPr marL="0" lvl="0" indent="0" algn="ctr" defTabSz="1022350">
              <a:lnSpc>
                <a:spcPct val="90000"/>
              </a:lnSpc>
              <a:spcBef>
                <a:spcPct val="0"/>
              </a:spcBef>
              <a:spcAft>
                <a:spcPct val="5000"/>
              </a:spcAft>
              <a:buNone/>
            </a:pPr>
            <a:r>
              <a:rPr lang="zh-CN" altLang="en-US" sz="1600" b="1" dirty="0">
                <a:latin typeface="微软雅黑" panose="020B0503020204020204" pitchFamily="34" charset="-122"/>
                <a:ea typeface="微软雅黑" panose="020B0503020204020204" pitchFamily="34" charset="-122"/>
              </a:rPr>
              <a:t>生成</a:t>
            </a:r>
            <a:endParaRPr lang="zh-CN" altLang="en-US" sz="1600" b="1" dirty="0">
              <a:latin typeface="微软雅黑" panose="020B0503020204020204" pitchFamily="34" charset="-122"/>
              <a:ea typeface="微软雅黑" panose="020B0503020204020204" pitchFamily="34" charset="-122"/>
            </a:endParaRPr>
          </a:p>
        </p:txBody>
      </p:sp>
      <p:cxnSp>
        <p:nvCxnSpPr>
          <p:cNvPr id="2" name="直接连接符 1"/>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p:nvPr/>
        </p:nvPicPr>
        <p:blipFill>
          <a:blip r:embed="rId1" cstate="print"/>
          <a:stretch>
            <a:fillRect/>
          </a:stretch>
        </p:blipFill>
        <p:spPr>
          <a:xfrm>
            <a:off x="8150225" y="2944495"/>
            <a:ext cx="899795" cy="1007745"/>
          </a:xfrm>
          <a:prstGeom prst="rect">
            <a:avLst/>
          </a:prstGeom>
        </p:spPr>
      </p:pic>
      <p:sp>
        <p:nvSpPr>
          <p:cNvPr id="32" name="文本框 15"/>
          <p:cNvSpPr txBox="1"/>
          <p:nvPr/>
        </p:nvSpPr>
        <p:spPr>
          <a:xfrm>
            <a:off x="247650" y="146685"/>
            <a:ext cx="6702425" cy="398780"/>
          </a:xfrm>
          <a:prstGeom prst="rect">
            <a:avLst/>
          </a:prstGeom>
          <a:noFill/>
        </p:spPr>
        <p:txBody>
          <a:bodyPr wrap="square" rtlCol="0">
            <a:spAutoFit/>
          </a:bodyPr>
          <a:lstStyle/>
          <a:p>
            <a:r>
              <a:rPr lang="en-US" altLang="zh-CN"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2.</a:t>
            </a:r>
            <a:r>
              <a:rPr lang="zh-CN" altLang="en-US"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复</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杂目标与复合行为监测</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sp>
        <p:nvSpPr>
          <p:cNvPr id="2" name="内容占位符 2"/>
          <p:cNvSpPr txBox="1"/>
          <p:nvPr>
            <p:custDataLst>
              <p:tags r:id="rId2"/>
            </p:custDataLst>
          </p:nvPr>
        </p:nvSpPr>
        <p:spPr>
          <a:xfrm>
            <a:off x="247650" y="682625"/>
            <a:ext cx="5587365" cy="3232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285750" indent="-285750">
              <a:lnSpc>
                <a:spcPct val="120000"/>
              </a:lnSpc>
              <a:spcBef>
                <a:spcPts val="1000"/>
              </a:spcBef>
              <a:buFont typeface="Wingdings" panose="05000000000000000000" pitchFamily="2" charset="2"/>
              <a:buChar char="Ø"/>
              <a:defRPr sz="2800">
                <a:latin typeface="+mn-ea"/>
                <a:ea typeface="+mn-ea"/>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zh-CN" altLang="en-US" sz="1600" b="1" dirty="0">
                <a:latin typeface="微软雅黑" panose="020B0503020204020204" pitchFamily="34" charset="-122"/>
                <a:ea typeface="微软雅黑" panose="020B0503020204020204" pitchFamily="34" charset="-122"/>
                <a:sym typeface="+mn-ea"/>
              </a:rPr>
              <a:t>视线捕捉是驾驶行为监测的行业难题。本团队构建的预测模型，可</a:t>
            </a:r>
            <a:r>
              <a:rPr lang="zh-CN" altLang="en-US" sz="1600" b="1" dirty="0">
                <a:solidFill>
                  <a:srgbClr val="FF0000"/>
                </a:solidFill>
                <a:latin typeface="微软雅黑" panose="020B0503020204020204" pitchFamily="34" charset="-122"/>
                <a:ea typeface="微软雅黑" panose="020B0503020204020204" pitchFamily="34" charset="-122"/>
                <a:sym typeface="+mn-ea"/>
              </a:rPr>
              <a:t>实现</a:t>
            </a:r>
            <a:r>
              <a:rPr lang="en-US" altLang="zh-CN" sz="1600" b="1" dirty="0">
                <a:solidFill>
                  <a:srgbClr val="FF0000"/>
                </a:solidFill>
                <a:latin typeface="微软雅黑" panose="020B0503020204020204" pitchFamily="34" charset="-122"/>
                <a:ea typeface="微软雅黑" panose="020B0503020204020204" pitchFamily="34" charset="-122"/>
                <a:sym typeface="+mn-ea"/>
              </a:rPr>
              <a:t>1</a:t>
            </a:r>
            <a:r>
              <a:rPr lang="zh-CN" altLang="en-US" sz="1600" b="1" dirty="0">
                <a:solidFill>
                  <a:srgbClr val="FF0000"/>
                </a:solidFill>
                <a:latin typeface="微软雅黑" panose="020B0503020204020204" pitchFamily="34" charset="-122"/>
                <a:ea typeface="微软雅黑" panose="020B0503020204020204" pitchFamily="34" charset="-122"/>
                <a:sym typeface="+mn-ea"/>
              </a:rPr>
              <a:t>米外眼动轨迹捕捉</a:t>
            </a:r>
            <a:r>
              <a:rPr lang="zh-CN" altLang="en-US" sz="1600" b="1" dirty="0">
                <a:latin typeface="微软雅黑" panose="020B0503020204020204" pitchFamily="34" charset="-122"/>
                <a:ea typeface="微软雅黑" panose="020B0503020204020204" pitchFamily="34" charset="-122"/>
                <a:sym typeface="+mn-ea"/>
              </a:rPr>
              <a:t>，极大拓展了人机交互、行为分析应用。</a:t>
            </a:r>
            <a:endParaRPr lang="zh-CN" altLang="en-US" sz="1600" b="1" dirty="0">
              <a:solidFill>
                <a:schemeClr val="tx1"/>
              </a:solidFill>
              <a:latin typeface="微软雅黑" panose="020B0503020204020204" pitchFamily="34" charset="-122"/>
              <a:ea typeface="微软雅黑" panose="020B0503020204020204" pitchFamily="34" charset="-122"/>
              <a:sym typeface="+mn-ea"/>
            </a:endParaRPr>
          </a:p>
          <a:p>
            <a:r>
              <a:rPr lang="zh-CN" altLang="en-US" sz="1600" b="1" dirty="0">
                <a:solidFill>
                  <a:schemeClr val="tx1"/>
                </a:solidFill>
                <a:latin typeface="微软雅黑" panose="020B0503020204020204" pitchFamily="34" charset="-122"/>
                <a:ea typeface="微软雅黑" panose="020B0503020204020204" pitchFamily="34" charset="-122"/>
                <a:sym typeface="+mn-ea"/>
              </a:rPr>
              <a:t>交通检测多为露天场景，光线条件复杂，采集条件苛刻，团队模型改进</a:t>
            </a:r>
            <a:r>
              <a:rPr lang="en-US" altLang="zh-CN" sz="1600" b="1" dirty="0">
                <a:solidFill>
                  <a:schemeClr val="tx1"/>
                </a:solidFill>
                <a:latin typeface="微软雅黑" panose="020B0503020204020204" pitchFamily="34" charset="-122"/>
                <a:ea typeface="微软雅黑" panose="020B0503020204020204" pitchFamily="34" charset="-122"/>
                <a:sym typeface="+mn-ea"/>
              </a:rPr>
              <a:t>transformer</a:t>
            </a:r>
            <a:r>
              <a:rPr lang="zh-CN" altLang="en-US" sz="1600" b="1" dirty="0">
                <a:solidFill>
                  <a:schemeClr val="tx1"/>
                </a:solidFill>
                <a:latin typeface="微软雅黑" panose="020B0503020204020204" pitchFamily="34" charset="-122"/>
                <a:ea typeface="微软雅黑" panose="020B0503020204020204" pitchFamily="34" charset="-122"/>
                <a:sym typeface="+mn-ea"/>
              </a:rPr>
              <a:t>模型，实现了</a:t>
            </a:r>
            <a:r>
              <a:rPr lang="zh-CN" altLang="en-US" sz="1600" b="1" dirty="0">
                <a:solidFill>
                  <a:srgbClr val="FF0000"/>
                </a:solidFill>
                <a:latin typeface="微软雅黑" panose="020B0503020204020204" pitchFamily="34" charset="-122"/>
                <a:ea typeface="微软雅黑" panose="020B0503020204020204" pitchFamily="34" charset="-122"/>
                <a:sym typeface="+mn-ea"/>
              </a:rPr>
              <a:t>复杂背景下的目标识别与统计</a:t>
            </a:r>
            <a:r>
              <a:rPr lang="zh-CN" altLang="en-US" sz="1600" b="1" dirty="0">
                <a:solidFill>
                  <a:schemeClr val="tx1"/>
                </a:solidFill>
                <a:latin typeface="微软雅黑" panose="020B0503020204020204" pitchFamily="34" charset="-122"/>
                <a:ea typeface="微软雅黑" panose="020B0503020204020204" pitchFamily="34" charset="-122"/>
                <a:sym typeface="+mn-ea"/>
              </a:rPr>
              <a:t>。</a:t>
            </a:r>
            <a:endParaRPr lang="zh-CN" altLang="en-US" sz="1600" b="1" dirty="0">
              <a:solidFill>
                <a:schemeClr val="tx1"/>
              </a:solidFill>
              <a:latin typeface="微软雅黑" panose="020B0503020204020204" pitchFamily="34" charset="-122"/>
              <a:ea typeface="微软雅黑" panose="020B0503020204020204" pitchFamily="34" charset="-122"/>
              <a:sym typeface="+mn-ea"/>
            </a:endParaRPr>
          </a:p>
          <a:p>
            <a:r>
              <a:rPr lang="zh-CN" altLang="en-US" sz="1600" b="1" dirty="0">
                <a:solidFill>
                  <a:schemeClr val="tx1"/>
                </a:solidFill>
                <a:latin typeface="微软雅黑" panose="020B0503020204020204" pitchFamily="34" charset="-122"/>
                <a:ea typeface="微软雅黑" panose="020B0503020204020204" pitchFamily="34" charset="-122"/>
                <a:sym typeface="+mn-ea"/>
              </a:rPr>
              <a:t>复杂事件往往是复合事件，由</a:t>
            </a:r>
            <a:r>
              <a:rPr lang="zh-CN" altLang="en-US" sz="1600" b="1" dirty="0">
                <a:latin typeface="微软雅黑" panose="020B0503020204020204" pitchFamily="34" charset="-122"/>
                <a:ea typeface="微软雅黑" panose="020B0503020204020204" pitchFamily="34" charset="-122"/>
                <a:sym typeface="+mn-ea"/>
              </a:rPr>
              <a:t>多环节子事件构成</a:t>
            </a:r>
            <a:r>
              <a:rPr lang="zh-CN" altLang="en-US" sz="1600" b="1" dirty="0">
                <a:solidFill>
                  <a:schemeClr val="tx1"/>
                </a:solidFill>
                <a:latin typeface="微软雅黑" panose="020B0503020204020204" pitchFamily="34" charset="-122"/>
                <a:ea typeface="微软雅黑" panose="020B0503020204020204" pitchFamily="34" charset="-122"/>
                <a:sym typeface="+mn-ea"/>
              </a:rPr>
              <a:t>，团队摈弃高开销且长序判断差的</a:t>
            </a:r>
            <a:r>
              <a:rPr lang="en-US" altLang="zh-CN" sz="1600" b="1" dirty="0">
                <a:solidFill>
                  <a:schemeClr val="tx1"/>
                </a:solidFill>
                <a:latin typeface="微软雅黑" panose="020B0503020204020204" pitchFamily="34" charset="-122"/>
                <a:ea typeface="微软雅黑" panose="020B0503020204020204" pitchFamily="34" charset="-122"/>
                <a:sym typeface="+mn-ea"/>
              </a:rPr>
              <a:t>slowfast</a:t>
            </a:r>
            <a:r>
              <a:rPr lang="zh-CN" altLang="en-US" sz="1600" b="1" dirty="0">
                <a:solidFill>
                  <a:schemeClr val="tx1"/>
                </a:solidFill>
                <a:latin typeface="微软雅黑" panose="020B0503020204020204" pitchFamily="34" charset="-122"/>
                <a:ea typeface="微软雅黑" panose="020B0503020204020204" pitchFamily="34" charset="-122"/>
                <a:sym typeface="+mn-ea"/>
              </a:rPr>
              <a:t>模型，通过显式要素拆解与时空锚定结合</a:t>
            </a:r>
            <a:r>
              <a:rPr lang="en-US" altLang="zh-CN" sz="1600" b="1" dirty="0">
                <a:solidFill>
                  <a:schemeClr val="tx1"/>
                </a:solidFill>
                <a:latin typeface="微软雅黑" panose="020B0503020204020204" pitchFamily="34" charset="-122"/>
                <a:ea typeface="微软雅黑" panose="020B0503020204020204" pitchFamily="34" charset="-122"/>
                <a:sym typeface="+mn-ea"/>
              </a:rPr>
              <a:t>FCM</a:t>
            </a:r>
            <a:r>
              <a:rPr lang="zh-CN" altLang="en-US" sz="1600" b="1" dirty="0">
                <a:solidFill>
                  <a:schemeClr val="tx1"/>
                </a:solidFill>
                <a:latin typeface="微软雅黑" panose="020B0503020204020204" pitchFamily="34" charset="-122"/>
                <a:ea typeface="微软雅黑" panose="020B0503020204020204" pitchFamily="34" charset="-122"/>
                <a:sym typeface="+mn-ea"/>
              </a:rPr>
              <a:t>，实现</a:t>
            </a:r>
            <a:r>
              <a:rPr lang="zh-CN" altLang="en-US" sz="1600" b="1" dirty="0">
                <a:solidFill>
                  <a:srgbClr val="FF0000"/>
                </a:solidFill>
                <a:latin typeface="微软雅黑" panose="020B0503020204020204" pitchFamily="34" charset="-122"/>
                <a:ea typeface="微软雅黑" panose="020B0503020204020204" pitchFamily="34" charset="-122"/>
                <a:sym typeface="+mn-ea"/>
              </a:rPr>
              <a:t>过程性事件的推理预测和错误监督</a:t>
            </a:r>
            <a:r>
              <a:rPr lang="zh-CN" altLang="en-US" sz="1600" b="1" dirty="0">
                <a:solidFill>
                  <a:schemeClr val="tx1"/>
                </a:solidFill>
                <a:latin typeface="微软雅黑" panose="020B0503020204020204" pitchFamily="34" charset="-122"/>
                <a:ea typeface="微软雅黑" panose="020B0503020204020204" pitchFamily="34" charset="-122"/>
                <a:sym typeface="+mn-ea"/>
              </a:rPr>
              <a:t>。</a:t>
            </a:r>
            <a:endParaRPr lang="zh-CN" altLang="en-US" sz="1600" b="1" dirty="0">
              <a:solidFill>
                <a:schemeClr val="tx1"/>
              </a:solidFill>
              <a:latin typeface="微软雅黑" panose="020B0503020204020204" pitchFamily="34" charset="-122"/>
              <a:ea typeface="微软雅黑" panose="020B0503020204020204" pitchFamily="34" charset="-122"/>
              <a:sym typeface="+mn-ea"/>
            </a:endParaRPr>
          </a:p>
        </p:txBody>
      </p:sp>
      <p:pic>
        <p:nvPicPr>
          <p:cNvPr id="5" name="图片 4"/>
          <p:cNvPicPr/>
          <p:nvPr/>
        </p:nvPicPr>
        <p:blipFill>
          <a:blip r:embed="rId3" cstate="print"/>
          <a:srcRect l="4615" t="14309" r="4439" b="55136"/>
          <a:stretch>
            <a:fillRect/>
          </a:stretch>
        </p:blipFill>
        <p:spPr>
          <a:xfrm>
            <a:off x="81280" y="3985260"/>
            <a:ext cx="4279900" cy="958850"/>
          </a:xfrm>
          <a:prstGeom prst="rect">
            <a:avLst/>
          </a:prstGeom>
        </p:spPr>
      </p:pic>
      <p:pic>
        <p:nvPicPr>
          <p:cNvPr id="6" name="图片 5"/>
          <p:cNvPicPr/>
          <p:nvPr/>
        </p:nvPicPr>
        <p:blipFill>
          <a:blip r:embed="rId3" cstate="print"/>
          <a:srcRect l="2907" t="56111" r="4154" b="14407"/>
          <a:stretch>
            <a:fillRect/>
          </a:stretch>
        </p:blipFill>
        <p:spPr>
          <a:xfrm>
            <a:off x="4361180" y="3952240"/>
            <a:ext cx="4688840" cy="991870"/>
          </a:xfrm>
          <a:prstGeom prst="rect">
            <a:avLst/>
          </a:prstGeom>
        </p:spPr>
      </p:pic>
      <p:pic>
        <p:nvPicPr>
          <p:cNvPr id="4" name="图片 3"/>
          <p:cNvPicPr>
            <a:picLocks noChangeAspect="1"/>
          </p:cNvPicPr>
          <p:nvPr/>
        </p:nvPicPr>
        <p:blipFill>
          <a:blip r:embed="rId4" cstate="print"/>
          <a:stretch>
            <a:fillRect/>
          </a:stretch>
        </p:blipFill>
        <p:spPr>
          <a:xfrm>
            <a:off x="5834380" y="736600"/>
            <a:ext cx="1536700" cy="1127125"/>
          </a:xfrm>
          <a:prstGeom prst="rect">
            <a:avLst/>
          </a:prstGeom>
        </p:spPr>
      </p:pic>
      <p:pic>
        <p:nvPicPr>
          <p:cNvPr id="12" name="小苏">
            <a:hlinkClick r:id="" action="ppaction://media"/>
          </p:cNvPr>
          <p:cNvPicPr/>
          <p:nvPr>
            <a:videoFile r:link="rId5"/>
            <p:extLst>
              <p:ext uri="{DAA4B4D4-6D71-4841-9C94-3DE7FCFB9230}">
                <p14:media xmlns:p14="http://schemas.microsoft.com/office/powerpoint/2010/main" r:embed="rId6"/>
              </p:ext>
            </p:extLst>
          </p:nvPr>
        </p:nvPicPr>
        <p:blipFill>
          <a:blip r:embed="rId7" cstate="print"/>
          <a:stretch>
            <a:fillRect/>
          </a:stretch>
        </p:blipFill>
        <p:spPr>
          <a:xfrm>
            <a:off x="7353300" y="601980"/>
            <a:ext cx="1696720" cy="1273175"/>
          </a:xfrm>
          <a:prstGeom prst="rect">
            <a:avLst/>
          </a:prstGeom>
        </p:spPr>
      </p:pic>
      <p:pic>
        <p:nvPicPr>
          <p:cNvPr id="15" name="图片 14"/>
          <p:cNvPicPr>
            <a:picLocks noChangeAspect="1"/>
          </p:cNvPicPr>
          <p:nvPr/>
        </p:nvPicPr>
        <p:blipFill>
          <a:blip r:embed="rId8" cstate="print"/>
          <a:stretch>
            <a:fillRect/>
          </a:stretch>
        </p:blipFill>
        <p:spPr>
          <a:xfrm>
            <a:off x="7371080" y="1925955"/>
            <a:ext cx="1688465" cy="1103630"/>
          </a:xfrm>
          <a:prstGeom prst="rect">
            <a:avLst/>
          </a:prstGeom>
        </p:spPr>
      </p:pic>
      <p:pic>
        <p:nvPicPr>
          <p:cNvPr id="16" name="图片 15"/>
          <p:cNvPicPr>
            <a:picLocks noChangeAspect="1"/>
          </p:cNvPicPr>
          <p:nvPr/>
        </p:nvPicPr>
        <p:blipFill>
          <a:blip r:embed="rId9" cstate="print"/>
          <a:stretch>
            <a:fillRect/>
          </a:stretch>
        </p:blipFill>
        <p:spPr>
          <a:xfrm>
            <a:off x="5812790" y="3101975"/>
            <a:ext cx="2425065" cy="726440"/>
          </a:xfrm>
          <a:prstGeom prst="rect">
            <a:avLst/>
          </a:prstGeom>
        </p:spPr>
      </p:pic>
      <p:pic>
        <p:nvPicPr>
          <p:cNvPr id="7" name="图片 6"/>
          <p:cNvPicPr>
            <a:picLocks noChangeAspect="1"/>
          </p:cNvPicPr>
          <p:nvPr/>
        </p:nvPicPr>
        <p:blipFill>
          <a:blip r:embed="rId10" cstate="print"/>
          <a:stretch>
            <a:fillRect/>
          </a:stretch>
        </p:blipFill>
        <p:spPr>
          <a:xfrm>
            <a:off x="5742940" y="1921510"/>
            <a:ext cx="1720215" cy="1118870"/>
          </a:xfrm>
          <a:prstGeom prst="rect">
            <a:avLst/>
          </a:prstGeom>
        </p:spPr>
      </p:pic>
      <p:cxnSp>
        <p:nvCxnSpPr>
          <p:cNvPr id="3" name="直接连接符 2"/>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childTnLst>
            <p:video>
              <p:cMediaNode>
                <p:cTn id="2" fill="hold" display="1">
                  <p:stCondLst>
                    <p:cond delay="indefinite"/>
                  </p:stCondLst>
                </p:cTn>
                <p:tgtEl>
                  <p:spTgt spid="12"/>
                </p:tgtEl>
              </p:cMediaNode>
            </p:video>
            <p:seq concurrent="1" nextAc="seek">
              <p:cTn id="3" restart="whenNotActive" fill="hold" evtFilter="cancelBubble" nodeType="interactiveSeq">
                <p:stCondLst>
                  <p:cond evt="onClick" delay="0">
                    <p:tgtEl>
                      <p:spTgt spid="12"/>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5"/>
          <p:cNvSpPr txBox="1"/>
          <p:nvPr/>
        </p:nvSpPr>
        <p:spPr>
          <a:xfrm>
            <a:off x="247650" y="146685"/>
            <a:ext cx="6151880" cy="398780"/>
          </a:xfrm>
          <a:prstGeom prst="rect">
            <a:avLst/>
          </a:prstGeom>
          <a:noFill/>
        </p:spPr>
        <p:txBody>
          <a:bodyPr wrap="square" rtlCol="0">
            <a:spAutoFit/>
          </a:bodyPr>
          <a:lstStyle/>
          <a:p>
            <a:pPr>
              <a:lnSpc>
                <a:spcPct val="100000"/>
              </a:lnSpc>
            </a:pPr>
            <a:r>
              <a:rPr lang="en-US" altLang="zh-CN"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3.</a:t>
            </a:r>
            <a:r>
              <a:rPr lang="zh-CN" altLang="en-US"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目</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标高精度视觉测量</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endParaRPr>
          </a:p>
        </p:txBody>
      </p:sp>
      <p:sp>
        <p:nvSpPr>
          <p:cNvPr id="35" name="文本框 34"/>
          <p:cNvSpPr txBox="1"/>
          <p:nvPr>
            <p:custDataLst>
              <p:tags r:id="rId1"/>
            </p:custDataLst>
          </p:nvPr>
        </p:nvSpPr>
        <p:spPr>
          <a:xfrm>
            <a:off x="215900" y="704985"/>
            <a:ext cx="8592185" cy="702310"/>
          </a:xfrm>
          <a:prstGeom prst="rect">
            <a:avLst/>
          </a:prstGeom>
          <a:noFill/>
        </p:spPr>
        <p:txBody>
          <a:bodyPr wrap="square" rtlCol="0" anchor="t">
            <a:noAutofit/>
          </a:bodyPr>
          <a:lstStyle/>
          <a:p>
            <a:r>
              <a:rPr lang="zh-CN" altLang="en-US" sz="1600" b="1"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在智慧监测中，不光有事件感知，还有大量</a:t>
            </a:r>
            <a:r>
              <a:rPr lang="zh-CN" altLang="en-US" sz="1600" b="1" dirty="0">
                <a:solidFill>
                  <a:schemeClr val="accent1"/>
                </a:solidFill>
                <a:latin typeface="微软雅黑" panose="020B0503020204020204" pitchFamily="34" charset="-122"/>
                <a:ea typeface="微软雅黑" panose="020B0503020204020204" pitchFamily="34" charset="-122"/>
                <a:cs typeface="宋体" panose="02010600030101010101" pitchFamily="2" charset="-122"/>
                <a:sym typeface="+mn-ea"/>
              </a:rPr>
              <a:t>位、姿、体、速、轨迹等</a:t>
            </a:r>
            <a:r>
              <a:rPr lang="zh-CN" altLang="en-US" sz="1600" b="1"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方面的计算需求，用以支持高级分析，常规监控系统在此方面比较薄弱。</a:t>
            </a:r>
            <a:endParaRPr lang="zh-CN" altLang="en-US" sz="1600" b="1"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p:txBody>
      </p:sp>
      <p:pic>
        <p:nvPicPr>
          <p:cNvPr id="17" name="图片 16"/>
          <p:cNvPicPr>
            <a:picLocks noChangeAspect="1"/>
          </p:cNvPicPr>
          <p:nvPr/>
        </p:nvPicPr>
        <p:blipFill>
          <a:blip r:embed="rId2" cstate="print"/>
          <a:srcRect r="3817"/>
          <a:stretch>
            <a:fillRect/>
          </a:stretch>
        </p:blipFill>
        <p:spPr>
          <a:xfrm>
            <a:off x="5407660" y="2710815"/>
            <a:ext cx="1924050" cy="1114425"/>
          </a:xfrm>
          <a:prstGeom prst="rect">
            <a:avLst/>
          </a:prstGeom>
        </p:spPr>
      </p:pic>
      <p:pic>
        <p:nvPicPr>
          <p:cNvPr id="2" name="图片 1"/>
          <p:cNvPicPr>
            <a:picLocks noChangeAspect="1"/>
          </p:cNvPicPr>
          <p:nvPr/>
        </p:nvPicPr>
        <p:blipFill>
          <a:blip r:embed="rId3" cstate="print"/>
          <a:stretch>
            <a:fillRect/>
          </a:stretch>
        </p:blipFill>
        <p:spPr>
          <a:xfrm>
            <a:off x="5407660" y="3825240"/>
            <a:ext cx="1869440" cy="1062990"/>
          </a:xfrm>
          <a:prstGeom prst="rect">
            <a:avLst/>
          </a:prstGeom>
        </p:spPr>
      </p:pic>
      <p:pic>
        <p:nvPicPr>
          <p:cNvPr id="3" name="图片 2"/>
          <p:cNvPicPr>
            <a:picLocks noChangeAspect="1"/>
          </p:cNvPicPr>
          <p:nvPr/>
        </p:nvPicPr>
        <p:blipFill>
          <a:blip r:embed="rId4" cstate="print"/>
          <a:srcRect l="10547" t="12844" b="14489"/>
          <a:stretch>
            <a:fillRect/>
          </a:stretch>
        </p:blipFill>
        <p:spPr>
          <a:xfrm>
            <a:off x="7204075" y="2708910"/>
            <a:ext cx="1913255" cy="1114425"/>
          </a:xfrm>
          <a:prstGeom prst="rect">
            <a:avLst/>
          </a:prstGeom>
        </p:spPr>
      </p:pic>
      <p:sp>
        <p:nvSpPr>
          <p:cNvPr id="10" name="内容占位符 2"/>
          <p:cNvSpPr txBox="1"/>
          <p:nvPr>
            <p:custDataLst>
              <p:tags r:id="rId5"/>
            </p:custDataLst>
          </p:nvPr>
        </p:nvSpPr>
        <p:spPr>
          <a:xfrm>
            <a:off x="215900" y="1278890"/>
            <a:ext cx="5191760" cy="3232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285750" indent="-285750">
              <a:lnSpc>
                <a:spcPct val="120000"/>
              </a:lnSpc>
              <a:spcBef>
                <a:spcPts val="1000"/>
              </a:spcBef>
              <a:buFont typeface="Wingdings" panose="05000000000000000000" pitchFamily="2" charset="2"/>
              <a:buChar char="Ø"/>
              <a:defRPr sz="2800">
                <a:latin typeface="+mn-ea"/>
                <a:ea typeface="+mn-ea"/>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zh-CN" altLang="en-US" sz="1600" b="1" dirty="0">
                <a:latin typeface="微软雅黑" panose="020B0503020204020204" pitchFamily="34" charset="-122"/>
                <a:ea typeface="微软雅黑" panose="020B0503020204020204" pitchFamily="34" charset="-122"/>
                <a:sym typeface="+mn-ea"/>
              </a:rPr>
              <a:t>基于河海大学的专业特色，对广域目标的视觉测量有优势，获批</a:t>
            </a:r>
            <a:r>
              <a:rPr lang="en-US" altLang="zh-CN" sz="1600" b="1" dirty="0">
                <a:latin typeface="微软雅黑" panose="020B0503020204020204" pitchFamily="34" charset="-122"/>
                <a:ea typeface="微软雅黑" panose="020B0503020204020204" pitchFamily="34" charset="-122"/>
                <a:sym typeface="+mn-ea"/>
              </a:rPr>
              <a:t>“</a:t>
            </a:r>
            <a:r>
              <a:rPr lang="zh-CN" altLang="en-US" sz="1600" b="1" dirty="0">
                <a:latin typeface="微软雅黑" panose="020B0503020204020204" pitchFamily="34" charset="-122"/>
                <a:ea typeface="微软雅黑" panose="020B0503020204020204" pitchFamily="34" charset="-122"/>
                <a:sym typeface="+mn-ea"/>
              </a:rPr>
              <a:t>一种基于单目视觉的平面目标定位方法</a:t>
            </a:r>
            <a:r>
              <a:rPr lang="en-US" altLang="zh-CN" sz="1600" b="1" dirty="0">
                <a:latin typeface="微软雅黑" panose="020B0503020204020204" pitchFamily="34" charset="-122"/>
                <a:ea typeface="微软雅黑" panose="020B0503020204020204" pitchFamily="34" charset="-122"/>
                <a:sym typeface="+mn-ea"/>
              </a:rPr>
              <a:t>”</a:t>
            </a:r>
            <a:r>
              <a:rPr lang="zh-CN" altLang="en-US" sz="1600" b="1" dirty="0">
                <a:latin typeface="微软雅黑" panose="020B0503020204020204" pitchFamily="34" charset="-122"/>
                <a:ea typeface="微软雅黑" panose="020B0503020204020204" pitchFamily="34" charset="-122"/>
                <a:sym typeface="+mn-ea"/>
              </a:rPr>
              <a:t>等专利，在大范围远程定位精度、视觉</a:t>
            </a:r>
            <a:r>
              <a:rPr lang="zh-CN" altLang="en-US" sz="1600" b="1" dirty="0">
                <a:solidFill>
                  <a:srgbClr val="FF0000"/>
                </a:solidFill>
                <a:latin typeface="微软雅黑" panose="020B0503020204020204" pitchFamily="34" charset="-122"/>
                <a:ea typeface="微软雅黑" panose="020B0503020204020204" pitchFamily="34" charset="-122"/>
                <a:sym typeface="+mn-ea"/>
              </a:rPr>
              <a:t>轻量化、便捷部署与维护</a:t>
            </a:r>
            <a:r>
              <a:rPr lang="zh-CN" altLang="en-US" sz="1600" b="1" dirty="0">
                <a:latin typeface="微软雅黑" panose="020B0503020204020204" pitchFamily="34" charset="-122"/>
                <a:ea typeface="微软雅黑" panose="020B0503020204020204" pitchFamily="34" charset="-122"/>
                <a:sym typeface="+mn-ea"/>
              </a:rPr>
              <a:t>等方面效果显著。已实现</a:t>
            </a:r>
            <a:r>
              <a:rPr lang="en-US" altLang="zh-CN" sz="1600" b="1" dirty="0">
                <a:latin typeface="微软雅黑" panose="020B0503020204020204" pitchFamily="34" charset="-122"/>
                <a:ea typeface="微软雅黑" panose="020B0503020204020204" pitchFamily="34" charset="-122"/>
                <a:sym typeface="+mn-ea"/>
              </a:rPr>
              <a:t>1500</a:t>
            </a:r>
            <a:r>
              <a:rPr lang="zh-CN" altLang="en-US" sz="1600" b="1" dirty="0">
                <a:latin typeface="微软雅黑" panose="020B0503020204020204" pitchFamily="34" charset="-122"/>
                <a:ea typeface="微软雅黑" panose="020B0503020204020204" pitchFamily="34" charset="-122"/>
                <a:sym typeface="+mn-ea"/>
              </a:rPr>
              <a:t>米外船舶单目视觉定位误差在</a:t>
            </a:r>
            <a:r>
              <a:rPr lang="en-US" altLang="zh-CN" sz="1600" b="1" dirty="0">
                <a:latin typeface="微软雅黑" panose="020B0503020204020204" pitchFamily="34" charset="-122"/>
                <a:ea typeface="微软雅黑" panose="020B0503020204020204" pitchFamily="34" charset="-122"/>
                <a:sym typeface="+mn-ea"/>
              </a:rPr>
              <a:t>5</a:t>
            </a:r>
            <a:r>
              <a:rPr lang="zh-CN" altLang="en-US" sz="1600" b="1" dirty="0">
                <a:latin typeface="微软雅黑" panose="020B0503020204020204" pitchFamily="34" charset="-122"/>
                <a:ea typeface="微软雅黑" panose="020B0503020204020204" pitchFamily="34" charset="-122"/>
                <a:sym typeface="+mn-ea"/>
              </a:rPr>
              <a:t>米以内，</a:t>
            </a:r>
            <a:r>
              <a:rPr lang="zh-CN" altLang="en-US" sz="1600" b="1" dirty="0">
                <a:solidFill>
                  <a:srgbClr val="FF0000"/>
                </a:solidFill>
                <a:latin typeface="微软雅黑" panose="020B0503020204020204" pitchFamily="34" charset="-122"/>
                <a:ea typeface="微软雅黑" panose="020B0503020204020204" pitchFamily="34" charset="-122"/>
                <a:sym typeface="+mn-ea"/>
              </a:rPr>
              <a:t>国内领先</a:t>
            </a:r>
            <a:r>
              <a:rPr lang="zh-CN" altLang="en-US" sz="1600" b="1" dirty="0">
                <a:latin typeface="微软雅黑" panose="020B0503020204020204" pitchFamily="34" charset="-122"/>
                <a:ea typeface="微软雅黑" panose="020B0503020204020204" pitchFamily="34" charset="-122"/>
                <a:sym typeface="+mn-ea"/>
              </a:rPr>
              <a:t>。</a:t>
            </a:r>
            <a:endParaRPr lang="zh-CN" altLang="en-US" sz="1600" b="1" dirty="0">
              <a:latin typeface="微软雅黑" panose="020B0503020204020204" pitchFamily="34" charset="-122"/>
              <a:ea typeface="微软雅黑" panose="020B0503020204020204" pitchFamily="34" charset="-122"/>
              <a:sym typeface="+mn-ea"/>
            </a:endParaRPr>
          </a:p>
          <a:p>
            <a:r>
              <a:rPr lang="zh-CN" altLang="en-US" sz="1600" b="1" dirty="0">
                <a:latin typeface="微软雅黑" panose="020B0503020204020204" pitchFamily="34" charset="-122"/>
                <a:ea typeface="微软雅黑" panose="020B0503020204020204" pitchFamily="34" charset="-122"/>
                <a:sym typeface="+mn-ea"/>
              </a:rPr>
              <a:t>在精细化测量方面，通过团队大模型，实现</a:t>
            </a:r>
            <a:r>
              <a:rPr lang="en-US" altLang="zh-CN" sz="1600" b="1" dirty="0">
                <a:solidFill>
                  <a:srgbClr val="FF0000"/>
                </a:solidFill>
                <a:latin typeface="微软雅黑" panose="020B0503020204020204" pitchFamily="34" charset="-122"/>
                <a:ea typeface="微软雅黑" panose="020B0503020204020204" pitchFamily="34" charset="-122"/>
                <a:sym typeface="+mn-ea"/>
              </a:rPr>
              <a:t>12</a:t>
            </a:r>
            <a:r>
              <a:rPr lang="zh-CN" altLang="en-US" sz="1600" b="1" dirty="0">
                <a:solidFill>
                  <a:srgbClr val="FF0000"/>
                </a:solidFill>
                <a:latin typeface="微软雅黑" panose="020B0503020204020204" pitchFamily="34" charset="-122"/>
                <a:ea typeface="微软雅黑" panose="020B0503020204020204" pitchFamily="34" charset="-122"/>
                <a:sym typeface="+mn-ea"/>
              </a:rPr>
              <a:t>米外铁轨开距检测误差</a:t>
            </a:r>
            <a:r>
              <a:rPr lang="en-US" altLang="zh-CN" sz="1600" b="1" dirty="0">
                <a:solidFill>
                  <a:srgbClr val="FF0000"/>
                </a:solidFill>
                <a:latin typeface="微软雅黑" panose="020B0503020204020204" pitchFamily="34" charset="-122"/>
                <a:ea typeface="微软雅黑" panose="020B0503020204020204" pitchFamily="34" charset="-122"/>
                <a:sym typeface="+mn-ea"/>
              </a:rPr>
              <a:t>2</a:t>
            </a:r>
            <a:r>
              <a:rPr lang="zh-CN" altLang="en-US" sz="1600" b="1" dirty="0">
                <a:solidFill>
                  <a:srgbClr val="FF0000"/>
                </a:solidFill>
                <a:latin typeface="微软雅黑" panose="020B0503020204020204" pitchFamily="34" charset="-122"/>
                <a:ea typeface="微软雅黑" panose="020B0503020204020204" pitchFamily="34" charset="-122"/>
                <a:sym typeface="+mn-ea"/>
              </a:rPr>
              <a:t>毫米以内，螺丝松动检测误差</a:t>
            </a:r>
            <a:r>
              <a:rPr lang="en-US" altLang="zh-CN" sz="1600" b="1" dirty="0">
                <a:solidFill>
                  <a:srgbClr val="FF0000"/>
                </a:solidFill>
                <a:latin typeface="微软雅黑" panose="020B0503020204020204" pitchFamily="34" charset="-122"/>
                <a:ea typeface="微软雅黑" panose="020B0503020204020204" pitchFamily="34" charset="-122"/>
                <a:sym typeface="+mn-ea"/>
              </a:rPr>
              <a:t>1</a:t>
            </a:r>
            <a:r>
              <a:rPr lang="zh-CN" altLang="en-US" sz="1600" b="1" dirty="0">
                <a:solidFill>
                  <a:srgbClr val="FF0000"/>
                </a:solidFill>
                <a:latin typeface="微软雅黑" panose="020B0503020204020204" pitchFamily="34" charset="-122"/>
                <a:ea typeface="微软雅黑" panose="020B0503020204020204" pitchFamily="34" charset="-122"/>
                <a:sym typeface="+mn-ea"/>
              </a:rPr>
              <a:t>°</a:t>
            </a:r>
            <a:r>
              <a:rPr lang="zh-CN" altLang="en-US" sz="1600" b="1" dirty="0">
                <a:latin typeface="微软雅黑" panose="020B0503020204020204" pitchFamily="34" charset="-122"/>
                <a:ea typeface="微软雅黑" panose="020B0503020204020204" pitchFamily="34" charset="-122"/>
                <a:sym typeface="+mn-ea"/>
              </a:rPr>
              <a:t>。该技术还可广泛用于大量工业检测场景。</a:t>
            </a:r>
            <a:endParaRPr lang="zh-CN" altLang="en-US" sz="1600" b="1" dirty="0">
              <a:solidFill>
                <a:schemeClr val="tx1"/>
              </a:solidFill>
              <a:latin typeface="微软雅黑" panose="020B0503020204020204" pitchFamily="34" charset="-122"/>
              <a:ea typeface="微软雅黑" panose="020B0503020204020204" pitchFamily="34" charset="-122"/>
              <a:sym typeface="+mn-ea"/>
            </a:endParaRPr>
          </a:p>
          <a:p>
            <a:r>
              <a:rPr lang="zh-CN" altLang="en-US" sz="1600" b="1" u="sng" dirty="0">
                <a:solidFill>
                  <a:srgbClr val="FF0000"/>
                </a:solidFill>
                <a:latin typeface="微软雅黑" panose="020B0503020204020204" pitchFamily="34" charset="-122"/>
                <a:ea typeface="微软雅黑" panose="020B0503020204020204" pitchFamily="34" charset="-122"/>
                <a:cs typeface="思源黑体" panose="020B0500000000000000" charset="-122"/>
                <a:sym typeface="思源黑体" panose="020B0500000000000000" charset="-122"/>
              </a:rPr>
              <a:t>位姿测量</a:t>
            </a:r>
            <a:r>
              <a:rPr lang="zh-CN" altLang="en-US" sz="1600" b="1" u="sng" dirty="0">
                <a:solidFill>
                  <a:schemeClr val="tx1"/>
                </a:solidFill>
                <a:latin typeface="微软雅黑" panose="020B0503020204020204" pitchFamily="34" charset="-122"/>
                <a:ea typeface="微软雅黑" panose="020B0503020204020204" pitchFamily="34" charset="-122"/>
                <a:cs typeface="思源黑体" panose="020B0500000000000000" charset="-122"/>
                <a:sym typeface="思源黑体" panose="020B0500000000000000" charset="-122"/>
              </a:rPr>
              <a:t>与</a:t>
            </a:r>
            <a:r>
              <a:rPr lang="zh-CN" altLang="en-US" sz="1600" b="1" u="sng" dirty="0">
                <a:solidFill>
                  <a:srgbClr val="FF0000"/>
                </a:solidFill>
                <a:latin typeface="微软雅黑" panose="020B0503020204020204" pitchFamily="34" charset="-122"/>
                <a:ea typeface="微软雅黑" panose="020B0503020204020204" pitchFamily="34" charset="-122"/>
                <a:cs typeface="思源黑体" panose="020B0500000000000000" charset="-122"/>
                <a:sym typeface="思源黑体" panose="020B0500000000000000" charset="-122"/>
              </a:rPr>
              <a:t>目标检测</a:t>
            </a:r>
            <a:r>
              <a:rPr lang="zh-CN" altLang="en-US" sz="1600" b="1" u="sng" dirty="0">
                <a:solidFill>
                  <a:schemeClr val="tx1"/>
                </a:solidFill>
                <a:latin typeface="微软雅黑" panose="020B0503020204020204" pitchFamily="34" charset="-122"/>
                <a:ea typeface="微软雅黑" panose="020B0503020204020204" pitchFamily="34" charset="-122"/>
                <a:cs typeface="思源黑体" panose="020B0500000000000000" charset="-122"/>
                <a:sym typeface="思源黑体" panose="020B0500000000000000" charset="-122"/>
              </a:rPr>
              <a:t>结合</a:t>
            </a:r>
            <a:r>
              <a:rPr lang="zh-CN" altLang="en-US" sz="1600" b="1" dirty="0">
                <a:latin typeface="微软雅黑" panose="020B0503020204020204" pitchFamily="34" charset="-122"/>
                <a:ea typeface="微软雅黑" panose="020B0503020204020204" pitchFamily="34" charset="-122"/>
                <a:cs typeface="思源黑体" panose="020B0500000000000000" charset="-122"/>
                <a:sym typeface="思源黑体" panose="020B0500000000000000" charset="-122"/>
              </a:rPr>
              <a:t>，不但知道发生了什么，还知道目标位姿，对周边影响如何，实现了</a:t>
            </a:r>
            <a:r>
              <a:rPr lang="zh-CN" altLang="en-US" sz="1600" b="1" u="sng" dirty="0">
                <a:solidFill>
                  <a:srgbClr val="FF0000"/>
                </a:solidFill>
                <a:latin typeface="微软雅黑" panose="020B0503020204020204" pitchFamily="34" charset="-122"/>
                <a:ea typeface="微软雅黑" panose="020B0503020204020204" pitchFamily="34" charset="-122"/>
                <a:cs typeface="思源黑体" panose="020B0500000000000000" charset="-122"/>
                <a:sym typeface="思源黑体" panose="020B0500000000000000" charset="-122"/>
              </a:rPr>
              <a:t>入侵检测跟踪、</a:t>
            </a:r>
            <a:r>
              <a:rPr lang="en-US" altLang="zh-CN" sz="1600" b="1" u="sng" dirty="0">
                <a:solidFill>
                  <a:srgbClr val="FF0000"/>
                </a:solidFill>
                <a:latin typeface="微软雅黑" panose="020B0503020204020204" pitchFamily="34" charset="-122"/>
                <a:ea typeface="微软雅黑" panose="020B0503020204020204" pitchFamily="34" charset="-122"/>
                <a:cs typeface="思源黑体" panose="020B0500000000000000" charset="-122"/>
                <a:sym typeface="思源黑体" panose="020B0500000000000000" charset="-122"/>
              </a:rPr>
              <a:t>‌</a:t>
            </a:r>
            <a:r>
              <a:rPr lang="zh-CN" altLang="en-US" sz="1600" b="1" u="sng" dirty="0">
                <a:solidFill>
                  <a:srgbClr val="FF0000"/>
                </a:solidFill>
                <a:latin typeface="微软雅黑" panose="020B0503020204020204" pitchFamily="34" charset="-122"/>
                <a:ea typeface="微软雅黑" panose="020B0503020204020204" pitchFamily="34" charset="-122"/>
                <a:cs typeface="思源黑体" panose="020B0500000000000000" charset="-122"/>
                <a:sym typeface="思源黑体" panose="020B0500000000000000" charset="-122"/>
              </a:rPr>
              <a:t>低空防御、隐式异常预测</a:t>
            </a:r>
            <a:r>
              <a:rPr lang="zh-CN" altLang="en-US" sz="1600" b="1" dirty="0">
                <a:latin typeface="微软雅黑" panose="020B0503020204020204" pitchFamily="34" charset="-122"/>
                <a:ea typeface="微软雅黑" panose="020B0503020204020204" pitchFamily="34" charset="-122"/>
                <a:cs typeface="思源黑体" panose="020B0500000000000000" charset="-122"/>
                <a:sym typeface="思源黑体" panose="020B0500000000000000" charset="-122"/>
              </a:rPr>
              <a:t>等高阶认知功能。</a:t>
            </a:r>
            <a:endParaRPr lang="zh-CN" altLang="en-US" sz="1600" b="1" dirty="0">
              <a:solidFill>
                <a:schemeClr val="tx1"/>
              </a:solidFill>
              <a:latin typeface="微软雅黑" panose="020B0503020204020204" pitchFamily="34" charset="-122"/>
              <a:ea typeface="微软雅黑" panose="020B0503020204020204" pitchFamily="34" charset="-122"/>
              <a:sym typeface="+mn-ea"/>
            </a:endParaRPr>
          </a:p>
          <a:p>
            <a:endParaRPr lang="zh-CN" altLang="en-US" sz="1600" b="1" dirty="0">
              <a:solidFill>
                <a:schemeClr val="tx1"/>
              </a:solidFill>
              <a:latin typeface="微软雅黑" panose="020B0503020204020204" pitchFamily="34" charset="-122"/>
              <a:ea typeface="微软雅黑" panose="020B0503020204020204" pitchFamily="34" charset="-122"/>
              <a:sym typeface="+mn-ea"/>
            </a:endParaRPr>
          </a:p>
        </p:txBody>
      </p:sp>
      <p:pic>
        <p:nvPicPr>
          <p:cNvPr id="11" name="图片 10"/>
          <p:cNvPicPr>
            <a:picLocks noChangeAspect="1"/>
          </p:cNvPicPr>
          <p:nvPr>
            <p:custDataLst>
              <p:tags r:id="rId6"/>
            </p:custDataLst>
          </p:nvPr>
        </p:nvPicPr>
        <p:blipFill>
          <a:blip r:embed="rId7" cstate="print"/>
          <a:stretch>
            <a:fillRect/>
          </a:stretch>
        </p:blipFill>
        <p:spPr>
          <a:xfrm>
            <a:off x="5407660" y="1343660"/>
            <a:ext cx="1678940" cy="1367155"/>
          </a:xfrm>
          <a:prstGeom prst="rect">
            <a:avLst/>
          </a:prstGeom>
        </p:spPr>
      </p:pic>
      <p:pic>
        <p:nvPicPr>
          <p:cNvPr id="47" name="稳定检测">
            <a:hlinkClick r:id="" action="ppaction://media"/>
          </p:cNvPr>
          <p:cNvPicPr/>
          <p:nvPr>
            <a:videoFile r:link="rId8"/>
            <p:extLst>
              <p:ext uri="{DAA4B4D4-6D71-4841-9C94-3DE7FCFB9230}">
                <p14:media xmlns:p14="http://schemas.microsoft.com/office/powerpoint/2010/main" r:embed="rId9"/>
              </p:ext>
            </p:extLst>
          </p:nvPr>
        </p:nvPicPr>
        <p:blipFill>
          <a:blip r:embed="rId10" cstate="print"/>
          <a:stretch>
            <a:fillRect/>
          </a:stretch>
        </p:blipFill>
        <p:spPr>
          <a:xfrm>
            <a:off x="7086600" y="1343025"/>
            <a:ext cx="2030730" cy="1363980"/>
          </a:xfrm>
          <a:prstGeom prst="rect">
            <a:avLst/>
          </a:prstGeom>
        </p:spPr>
      </p:pic>
      <p:pic>
        <p:nvPicPr>
          <p:cNvPr id="21" name="图片 20"/>
          <p:cNvPicPr>
            <a:picLocks noChangeAspect="1"/>
          </p:cNvPicPr>
          <p:nvPr/>
        </p:nvPicPr>
        <p:blipFill>
          <a:blip r:embed="rId11" cstate="print"/>
          <a:srcRect t="9104" r="30274" b="33929"/>
          <a:stretch>
            <a:fillRect/>
          </a:stretch>
        </p:blipFill>
        <p:spPr>
          <a:xfrm>
            <a:off x="7277100" y="3825240"/>
            <a:ext cx="1835150" cy="1064895"/>
          </a:xfrm>
          <a:prstGeom prst="rect">
            <a:avLst/>
          </a:prstGeom>
        </p:spPr>
      </p:pic>
      <p:cxnSp>
        <p:nvCxnSpPr>
          <p:cNvPr id="22" name="直接箭头连接符 21"/>
          <p:cNvCxnSpPr/>
          <p:nvPr/>
        </p:nvCxnSpPr>
        <p:spPr>
          <a:xfrm>
            <a:off x="8170545" y="4523740"/>
            <a:ext cx="223520" cy="325755"/>
          </a:xfrm>
          <a:prstGeom prst="straightConnector1">
            <a:avLst/>
          </a:prstGeom>
          <a:ln w="28575" cmpd="sng">
            <a:solidFill>
              <a:srgbClr val="FF0000"/>
            </a:solidFill>
            <a:prstDash val="solid"/>
            <a:tailEnd type="arrow" w="med" len="med"/>
          </a:ln>
        </p:spPr>
        <p:style>
          <a:lnRef idx="3">
            <a:schemeClr val="accent1"/>
          </a:lnRef>
          <a:fillRef idx="0">
            <a:srgbClr val="FFFFFF"/>
          </a:fillRef>
          <a:effectRef idx="0">
            <a:srgbClr val="FFFFFF"/>
          </a:effectRef>
          <a:fontRef idx="minor">
            <a:schemeClr val="tx1"/>
          </a:fontRef>
        </p:style>
      </p:cxnSp>
      <p:cxnSp>
        <p:nvCxnSpPr>
          <p:cNvPr id="28" name="直接箭头连接符 27"/>
          <p:cNvCxnSpPr/>
          <p:nvPr/>
        </p:nvCxnSpPr>
        <p:spPr>
          <a:xfrm>
            <a:off x="8793480" y="4421505"/>
            <a:ext cx="9525" cy="400050"/>
          </a:xfrm>
          <a:prstGeom prst="straightConnector1">
            <a:avLst/>
          </a:prstGeom>
          <a:ln w="28575" cmpd="sng">
            <a:solidFill>
              <a:srgbClr val="FF0000"/>
            </a:solidFill>
            <a:prstDash val="solid"/>
            <a:tailEnd type="arrow" w="med" len="med"/>
          </a:ln>
        </p:spPr>
        <p:style>
          <a:lnRef idx="3">
            <a:schemeClr val="accent1"/>
          </a:lnRef>
          <a:fillRef idx="0">
            <a:srgbClr val="FFFFFF"/>
          </a:fillRef>
          <a:effectRef idx="0">
            <a:srgbClr val="FFFFFF"/>
          </a:effectRef>
          <a:fontRef idx="minor">
            <a:schemeClr val="tx1"/>
          </a:fontRef>
        </p:style>
      </p:cxnSp>
      <p:cxnSp>
        <p:nvCxnSpPr>
          <p:cNvPr id="5" name="直接连接符 4"/>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additive="base">
                                        <p:cTn id="6" dur="1" fill="hold"/>
                                        <p:tgtEl>
                                          <p:spTgt spid="47"/>
                                        </p:tgtEl>
                                      </p:cBhvr>
                                    </p:cmd>
                                  </p:childTnLst>
                                </p:cTn>
                              </p:par>
                            </p:childTnLst>
                          </p:cTn>
                        </p:par>
                      </p:childTnLst>
                    </p:cTn>
                  </p:par>
                </p:childTnLst>
              </p:cTn>
              <p:nextCondLst>
                <p:cond evt="onClick" delay="0">
                  <p:tgtEl>
                    <p:spTgt spid="47"/>
                  </p:tgtEl>
                </p:cond>
              </p:nextCondLst>
            </p:seq>
            <p:video>
              <p:cMediaNode>
                <p:cTn id="7" fill="hold" display="1">
                  <p:stCondLst>
                    <p:cond delay="indefinite"/>
                  </p:stCondLst>
                </p:cTn>
                <p:tgtEl>
                  <p:spTgt spid="47"/>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cstate="print"/>
          <a:srcRect r="5577"/>
          <a:stretch>
            <a:fillRect/>
          </a:stretch>
        </p:blipFill>
        <p:spPr>
          <a:xfrm>
            <a:off x="327026" y="1557020"/>
            <a:ext cx="2359904" cy="1139825"/>
          </a:xfrm>
          <a:prstGeom prst="rect">
            <a:avLst/>
          </a:prstGeom>
        </p:spPr>
      </p:pic>
      <p:pic>
        <p:nvPicPr>
          <p:cNvPr id="8" name="图片 7"/>
          <p:cNvPicPr>
            <a:picLocks noChangeAspect="1"/>
          </p:cNvPicPr>
          <p:nvPr/>
        </p:nvPicPr>
        <p:blipFill>
          <a:blip r:embed="rId3" cstate="print"/>
          <a:stretch>
            <a:fillRect/>
          </a:stretch>
        </p:blipFill>
        <p:spPr>
          <a:xfrm>
            <a:off x="2756535" y="1480185"/>
            <a:ext cx="3796665" cy="1216660"/>
          </a:xfrm>
          <a:prstGeom prst="rect">
            <a:avLst/>
          </a:prstGeom>
        </p:spPr>
      </p:pic>
      <p:sp>
        <p:nvSpPr>
          <p:cNvPr id="3" name="文本框 15"/>
          <p:cNvSpPr txBox="1"/>
          <p:nvPr/>
        </p:nvSpPr>
        <p:spPr>
          <a:xfrm>
            <a:off x="247650" y="146685"/>
            <a:ext cx="7142480" cy="398780"/>
          </a:xfrm>
          <a:prstGeom prst="rect">
            <a:avLst/>
          </a:prstGeom>
          <a:noFill/>
        </p:spPr>
        <p:txBody>
          <a:bodyPr wrap="square" rtlCol="0">
            <a:spAutoFit/>
          </a:bodyPr>
          <a:lstStyle/>
          <a:p>
            <a:r>
              <a:rPr lang="en-US" altLang="zh-CN"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4.</a:t>
            </a:r>
            <a:r>
              <a:rPr lang="zh-CN" altLang="en-US"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便</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捷快速轻量化三维建模</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4" cstate="print"/>
          <a:stretch>
            <a:fillRect/>
          </a:stretch>
        </p:blipFill>
        <p:spPr>
          <a:xfrm>
            <a:off x="6750686" y="609924"/>
            <a:ext cx="2199249" cy="1229898"/>
          </a:xfrm>
          <a:prstGeom prst="rect">
            <a:avLst/>
          </a:prstGeom>
        </p:spPr>
      </p:pic>
      <p:sp>
        <p:nvSpPr>
          <p:cNvPr id="4" name="矩形 3"/>
          <p:cNvSpPr/>
          <p:nvPr/>
        </p:nvSpPr>
        <p:spPr>
          <a:xfrm>
            <a:off x="327026" y="634047"/>
            <a:ext cx="6423660" cy="4239260"/>
          </a:xfrm>
          <a:prstGeom prst="rect">
            <a:avLst/>
          </a:prstGeom>
        </p:spPr>
        <p:txBody>
          <a:bodyPr wrap="square">
            <a:noAutofit/>
          </a:bodyPr>
          <a:lstStyle/>
          <a:p>
            <a:pPr indent="0" fontAlgn="auto">
              <a:lnSpc>
                <a:spcPct val="127000"/>
              </a:lnSpc>
              <a:buNone/>
            </a:pPr>
            <a:r>
              <a:rPr lang="en-US" altLang="zh-CN" sz="1500" b="1"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500" b="1" dirty="0">
                <a:latin typeface="微软雅黑" panose="020B0503020204020204" pitchFamily="34" charset="-122"/>
                <a:ea typeface="微软雅黑" panose="020B0503020204020204" pitchFamily="34" charset="-122"/>
                <a:cs typeface="微软雅黑" panose="020B0503020204020204" pitchFamily="34" charset="-122"/>
                <a:sym typeface="+mn-ea"/>
              </a:rPr>
              <a:t>、传统三维构建需要多视角采集场景，成本高、时间长</a:t>
            </a:r>
            <a:r>
              <a:rPr lang="en-US" altLang="zh-CN" sz="15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500" b="1" dirty="0">
                <a:latin typeface="微软雅黑" panose="020B0503020204020204" pitchFamily="34" charset="-122"/>
                <a:ea typeface="微软雅黑" panose="020B0503020204020204" pitchFamily="34" charset="-122"/>
                <a:cs typeface="微软雅黑" panose="020B0503020204020204" pitchFamily="34" charset="-122"/>
                <a:sym typeface="+mn-ea"/>
              </a:rPr>
              <a:t>在面对遮挡区域无法处理。本模型基于有限视角</a:t>
            </a:r>
            <a:r>
              <a:rPr lang="en-US" altLang="zh-CN" sz="15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5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通过生成式模型，实现高质量、完整的三维补齐。</a:t>
            </a:r>
            <a:endParaRPr lang="zh-CN" altLang="en-US" sz="15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endParaRPr>
          </a:p>
          <a:p>
            <a:pPr indent="0" fontAlgn="auto">
              <a:lnSpc>
                <a:spcPct val="127000"/>
              </a:lnSpc>
              <a:buNone/>
            </a:pPr>
            <a:endParaRPr lang="zh-CN" altLang="en-US" sz="1500" b="1" noProof="1">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27000"/>
              </a:lnSpc>
              <a:buNone/>
            </a:pPr>
            <a:endPar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27000"/>
              </a:lnSpc>
              <a:buNone/>
            </a:pPr>
            <a:endParaRPr lang="en-US" altLang="zh-CN" sz="1500" b="1" noProof="1">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27000"/>
              </a:lnSpc>
              <a:buNone/>
            </a:pPr>
            <a:endParaRPr lang="en-US" altLang="zh-CN" sz="1500" b="1" noProof="1">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27000"/>
              </a:lnSpc>
              <a:buNone/>
            </a:pPr>
            <a:r>
              <a:rPr lang="en-US" altLang="zh-CN" sz="1500" b="1" noProof="1">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rPr>
              <a:t>、构建适宜轻量化采集的算法，</a:t>
            </a:r>
            <a:r>
              <a:rPr lang="zh-CN" altLang="en-US" sz="1500" b="1" noProof="1">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提升了使用便捷度、拓展了应用场景</a:t>
            </a:r>
            <a:r>
              <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27000"/>
              </a:lnSpc>
              <a:buNone/>
            </a:pPr>
            <a:r>
              <a:rPr lang="en-US" altLang="zh-CN" sz="1500" b="1" noProof="1">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1500" b="1" noProof="1">
                <a:latin typeface="微软雅黑" panose="020B0503020204020204" pitchFamily="34" charset="-122"/>
                <a:ea typeface="微软雅黑" panose="020B0503020204020204" pitchFamily="34" charset="-122"/>
                <a:cs typeface="微软雅黑" panose="020B0503020204020204" pitchFamily="34" charset="-122"/>
              </a:rPr>
              <a:t>sfm</a:t>
            </a:r>
            <a:r>
              <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rPr>
              <a:t>从图像序列中恢复三维场景结构过程中，自动剔除匹配失败图像帧，</a:t>
            </a:r>
            <a:r>
              <a:rPr lang="zh-CN" altLang="en-US" sz="1500" b="1" noProof="1">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提升重建速度</a:t>
            </a:r>
            <a:r>
              <a:rPr lang="zh-CN" altLang="en-US" sz="1500" b="1" noProof="1">
                <a:latin typeface="微软雅黑" panose="020B0503020204020204" pitchFamily="34" charset="-122"/>
                <a:ea typeface="微软雅黑" panose="020B0503020204020204" pitchFamily="34" charset="-122"/>
              </a:rPr>
              <a:t>。</a:t>
            </a:r>
            <a:endParaRPr lang="zh-CN" altLang="en-US" sz="1500" b="1" noProof="1">
              <a:latin typeface="微软雅黑" panose="020B0503020204020204" pitchFamily="34" charset="-122"/>
              <a:ea typeface="微软雅黑" panose="020B0503020204020204" pitchFamily="34" charset="-122"/>
            </a:endParaRPr>
          </a:p>
          <a:p>
            <a:pPr indent="0" fontAlgn="auto">
              <a:lnSpc>
                <a:spcPct val="127000"/>
              </a:lnSpc>
              <a:buNone/>
            </a:pPr>
            <a:r>
              <a:rPr lang="en-US" altLang="zh-CN" sz="1500" b="1" noProof="1">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rPr>
              <a:t>、在重建框架中引入级联成本体积与</a:t>
            </a:r>
            <a:r>
              <a:rPr lang="en-US" altLang="zh-CN" sz="1500" b="1" noProof="1">
                <a:latin typeface="微软雅黑" panose="020B0503020204020204" pitchFamily="34" charset="-122"/>
                <a:ea typeface="微软雅黑" panose="020B0503020204020204" pitchFamily="34" charset="-122"/>
                <a:cs typeface="微软雅黑" panose="020B0503020204020204" pitchFamily="34" charset="-122"/>
              </a:rPr>
              <a:t>GRU</a:t>
            </a:r>
            <a:r>
              <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rPr>
              <a:t>模块，通过级联结构实线多尺度几何信息渐进优化，并利用</a:t>
            </a:r>
            <a:r>
              <a:rPr lang="en-US" altLang="zh-CN" sz="1500" b="1" noProof="1">
                <a:latin typeface="微软雅黑" panose="020B0503020204020204" pitchFamily="34" charset="-122"/>
                <a:ea typeface="微软雅黑" panose="020B0503020204020204" pitchFamily="34" charset="-122"/>
                <a:cs typeface="微软雅黑" panose="020B0503020204020204" pitchFamily="34" charset="-122"/>
              </a:rPr>
              <a:t>GRU</a:t>
            </a:r>
            <a:r>
              <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rPr>
              <a:t>的迭代抑制误差传播，</a:t>
            </a:r>
            <a:r>
              <a:rPr lang="zh-CN" altLang="en-US" sz="1500" b="1" noProof="1">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提升重建鲁棒性和质量</a:t>
            </a:r>
            <a:r>
              <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27000"/>
              </a:lnSpc>
              <a:buNone/>
            </a:pPr>
            <a:r>
              <a:rPr lang="en-US" altLang="zh-CN" sz="1500" b="1" noProof="1">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rPr>
              <a:t>、实现面向</a:t>
            </a:r>
            <a:r>
              <a:rPr lang="en-US" altLang="zh-CN" sz="1500" b="1" noProof="1">
                <a:latin typeface="微软雅黑" panose="020B0503020204020204" pitchFamily="34" charset="-122"/>
                <a:ea typeface="微软雅黑" panose="020B0503020204020204" pitchFamily="34" charset="-122"/>
                <a:cs typeface="微软雅黑" panose="020B0503020204020204" pitchFamily="34" charset="-122"/>
              </a:rPr>
              <a:t>3D</a:t>
            </a:r>
            <a:r>
              <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rPr>
              <a:t>生成通用解耦式压缩框架，减少高斯基元，</a:t>
            </a:r>
            <a:r>
              <a:rPr lang="zh-CN" altLang="en-US" sz="1500" b="1" noProof="1">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降低内存占用</a:t>
            </a:r>
            <a:r>
              <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rPr>
              <a:t>，通过隐式补偿算法，实现孔洞补全，</a:t>
            </a:r>
            <a:r>
              <a:rPr lang="zh-CN" altLang="en-US" sz="1500" b="1" noProof="1">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保证渲染质量</a:t>
            </a:r>
            <a:r>
              <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500" b="1" noProof="1">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提高了生成速度</a:t>
            </a:r>
            <a:r>
              <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500" b="1" noProof="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 name="WeChat_20250605051507">
            <a:hlinkClick r:id="" action="ppaction://media"/>
          </p:cNvPr>
          <p:cNvPicPr/>
          <p:nvPr>
            <a:videoFile r:link="rId5"/>
            <p:extLst>
              <p:ext uri="{DAA4B4D4-6D71-4841-9C94-3DE7FCFB9230}">
                <p14:media xmlns:p14="http://schemas.microsoft.com/office/powerpoint/2010/main" r:embed="rId6"/>
              </p:ext>
            </p:extLst>
          </p:nvPr>
        </p:nvPicPr>
        <p:blipFill>
          <a:blip r:embed="rId7" cstate="print"/>
          <a:stretch>
            <a:fillRect/>
          </a:stretch>
        </p:blipFill>
        <p:spPr>
          <a:xfrm>
            <a:off x="6750686" y="1961339"/>
            <a:ext cx="2199249" cy="150784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9" name="WeChat_20250605051455">
            <a:hlinkClick r:id="" action="ppaction://media"/>
          </p:cNvPr>
          <p:cNvPicPr/>
          <p:nvPr>
            <a:videoFile r:link="rId8"/>
            <p:extLst>
              <p:ext uri="{DAA4B4D4-6D71-4841-9C94-3DE7FCFB9230}">
                <p14:media xmlns:p14="http://schemas.microsoft.com/office/powerpoint/2010/main" r:embed="rId9"/>
              </p:ext>
            </p:extLst>
          </p:nvPr>
        </p:nvPicPr>
        <p:blipFill>
          <a:blip r:embed="rId10" cstate="print"/>
          <a:stretch>
            <a:fillRect/>
          </a:stretch>
        </p:blipFill>
        <p:spPr>
          <a:xfrm>
            <a:off x="6750686" y="3590698"/>
            <a:ext cx="2241745" cy="130673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cxnSp>
        <p:nvCxnSpPr>
          <p:cNvPr id="5" name="直接连接符 4"/>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childTnLst>
            <p:video>
              <p:cMediaNode>
                <p:cTn id="2" fill="hold" display="1">
                  <p:stCondLst>
                    <p:cond delay="indefinite"/>
                  </p:stCondLst>
                </p:cTn>
                <p:tgtEl>
                  <p:spTgt spid="7"/>
                </p:tgtEl>
              </p:cMediaNode>
            </p:video>
            <p:video>
              <p:cMediaNode>
                <p:cTn id="3" fill="hold" display="1">
                  <p:stCondLst>
                    <p:cond delay="indefinite"/>
                  </p:stCondLst>
                </p:cTn>
                <p:tgtEl>
                  <p:spTgt spid="9"/>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文本&#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391400" y="133350"/>
            <a:ext cx="1638300" cy="552036"/>
          </a:xfrm>
          <a:prstGeom prst="rect">
            <a:avLst/>
          </a:prstGeom>
        </p:spPr>
      </p:pic>
      <p:sp>
        <p:nvSpPr>
          <p:cNvPr id="5" name="文本框 15"/>
          <p:cNvSpPr txBox="1"/>
          <p:nvPr/>
        </p:nvSpPr>
        <p:spPr>
          <a:xfrm>
            <a:off x="247650" y="146685"/>
            <a:ext cx="7270750" cy="398780"/>
          </a:xfrm>
          <a:prstGeom prst="rect">
            <a:avLst/>
          </a:prstGeom>
          <a:noFill/>
        </p:spPr>
        <p:txBody>
          <a:bodyPr wrap="square" rtlCol="0">
            <a:spAutoFit/>
          </a:bodyPr>
          <a:lstStyle/>
          <a:p>
            <a:r>
              <a:rPr lang="en-US" altLang="zh-CN"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5.</a:t>
            </a:r>
            <a:r>
              <a:rPr lang="zh-CN" altLang="en-US"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核</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心优势</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grpSp>
        <p:nvGrpSpPr>
          <p:cNvPr id="104" name="组合 103"/>
          <p:cNvGrpSpPr/>
          <p:nvPr>
            <p:custDataLst>
              <p:tags r:id="rId2"/>
            </p:custDataLst>
          </p:nvPr>
        </p:nvGrpSpPr>
        <p:grpSpPr>
          <a:xfrm>
            <a:off x="182058" y="663322"/>
            <a:ext cx="2119124" cy="4055555"/>
            <a:chOff x="182058" y="725270"/>
            <a:chExt cx="2119124" cy="4055555"/>
          </a:xfrm>
        </p:grpSpPr>
        <p:sp>
          <p:nvSpPr>
            <p:cNvPr id="35" name="矩形: 圆角 34"/>
            <p:cNvSpPr/>
            <p:nvPr>
              <p:custDataLst>
                <p:tags r:id="rId3"/>
              </p:custDataLst>
            </p:nvPr>
          </p:nvSpPr>
          <p:spPr>
            <a:xfrm>
              <a:off x="182058" y="725270"/>
              <a:ext cx="2119124" cy="4055555"/>
            </a:xfrm>
            <a:prstGeom prst="roundRect">
              <a:avLst>
                <a:gd name="adj" fmla="val 7586"/>
              </a:avLst>
            </a:prstGeom>
            <a:solidFill>
              <a:srgbClr val="FAFDFF"/>
            </a:solidFill>
            <a:ln>
              <a:noFill/>
            </a:ln>
            <a:effectLst>
              <a:outerShdw blurRad="228600" dist="254000" dir="8100000" algn="tr" rotWithShape="0">
                <a:srgbClr val="D9EDFF"/>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00" dirty="0"/>
            </a:p>
          </p:txBody>
        </p:sp>
        <p:cxnSp>
          <p:nvCxnSpPr>
            <p:cNvPr id="39" name="直接连接符 38"/>
            <p:cNvCxnSpPr/>
            <p:nvPr>
              <p:custDataLst>
                <p:tags r:id="rId4"/>
              </p:custDataLst>
            </p:nvPr>
          </p:nvCxnSpPr>
          <p:spPr>
            <a:xfrm>
              <a:off x="278645" y="1356864"/>
              <a:ext cx="1925947" cy="0"/>
            </a:xfrm>
            <a:prstGeom prst="line">
              <a:avLst/>
            </a:prstGeom>
            <a:ln w="19050">
              <a:gradFill>
                <a:gsLst>
                  <a:gs pos="0">
                    <a:schemeClr val="accent1">
                      <a:lumMod val="5000"/>
                      <a:lumOff val="95000"/>
                    </a:schemeClr>
                  </a:gs>
                  <a:gs pos="55000">
                    <a:srgbClr val="259FFD"/>
                  </a:gs>
                  <a:gs pos="100000">
                    <a:srgbClr val="FFFFFF"/>
                  </a:gs>
                </a:gsLst>
                <a:lin ang="6000000" scaled="0"/>
              </a:gradFill>
            </a:ln>
          </p:spPr>
          <p:style>
            <a:lnRef idx="1">
              <a:schemeClr val="accent1"/>
            </a:lnRef>
            <a:fillRef idx="0">
              <a:schemeClr val="accent1"/>
            </a:fillRef>
            <a:effectRef idx="0">
              <a:schemeClr val="accent1"/>
            </a:effectRef>
            <a:fontRef idx="minor">
              <a:schemeClr val="tx1"/>
            </a:fontRef>
          </p:style>
        </p:cxnSp>
        <p:sp>
          <p:nvSpPr>
            <p:cNvPr id="101" name="文本框 100"/>
            <p:cNvSpPr txBox="1"/>
            <p:nvPr>
              <p:custDataLst>
                <p:tags r:id="rId5"/>
              </p:custDataLst>
            </p:nvPr>
          </p:nvSpPr>
          <p:spPr>
            <a:xfrm>
              <a:off x="540579" y="739546"/>
              <a:ext cx="1402080" cy="583565"/>
            </a:xfrm>
            <a:prstGeom prst="rect">
              <a:avLst/>
            </a:prstGeom>
            <a:noFill/>
          </p:spPr>
          <p:txBody>
            <a:bodyPr wrap="none" rtlCol="0">
              <a:spAutoFit/>
            </a:bodyPr>
            <a:lstStyle/>
            <a:p>
              <a:pPr algn="ctr"/>
              <a:r>
                <a:rPr lang="zh-CN" altLang="en-US" sz="1600" b="1" dirty="0">
                  <a:solidFill>
                    <a:srgbClr val="0070C0"/>
                  </a:solidFill>
                  <a:latin typeface="微软雅黑" panose="020B0503020204020204" pitchFamily="34" charset="-122"/>
                  <a:ea typeface="微软雅黑" panose="020B0503020204020204" pitchFamily="34" charset="-122"/>
                </a:rPr>
                <a:t>在关注领域</a:t>
              </a:r>
              <a:endParaRPr lang="zh-CN" altLang="en-US" sz="1600" b="1" dirty="0">
                <a:solidFill>
                  <a:srgbClr val="0070C0"/>
                </a:solidFill>
                <a:latin typeface="微软雅黑" panose="020B0503020204020204" pitchFamily="34" charset="-122"/>
                <a:ea typeface="微软雅黑" panose="020B0503020204020204" pitchFamily="34" charset="-122"/>
              </a:endParaRPr>
            </a:p>
            <a:p>
              <a:pPr algn="ctr"/>
              <a:r>
                <a:rPr lang="zh-CN" altLang="en-US" sz="1600" b="1" dirty="0">
                  <a:solidFill>
                    <a:srgbClr val="0070C0"/>
                  </a:solidFill>
                  <a:latin typeface="微软雅黑" panose="020B0503020204020204" pitchFamily="34" charset="-122"/>
                  <a:ea typeface="微软雅黑" panose="020B0503020204020204" pitchFamily="34" charset="-122"/>
                </a:rPr>
                <a:t>拥有自主产权</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103" name="文本框 102"/>
            <p:cNvSpPr txBox="1"/>
            <p:nvPr>
              <p:custDataLst>
                <p:tags r:id="rId6"/>
              </p:custDataLst>
            </p:nvPr>
          </p:nvSpPr>
          <p:spPr>
            <a:xfrm>
              <a:off x="278645" y="1470004"/>
              <a:ext cx="1925947" cy="2462213"/>
            </a:xfrm>
            <a:prstGeom prst="rect">
              <a:avLst/>
            </a:prstGeom>
            <a:noFill/>
          </p:spPr>
          <p:txBody>
            <a:bodyPr wrap="square">
              <a:spAutoFit/>
            </a:bodyPr>
            <a:lstStyle/>
            <a:p>
              <a:pPr algn="just"/>
              <a:r>
                <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rPr>
                <a:t>AI-Scope</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rPr>
                <a:t>大模型实现在高阶认知与较大场景轻量化与快速生成。技术</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覆盖机器视觉、激光雷达、微波雷达、惯导测量、传感数据采集、BIM建模与数字孪生等领域。</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rPr>
                <a:t>拥有自主知识产权。发明专利</a:t>
              </a:r>
              <a:r>
                <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rPr>
                <a:t>20</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rPr>
                <a:t>件以上，软件著作权</a:t>
              </a:r>
              <a:r>
                <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rPr>
                <a:t>15</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rPr>
                <a:t>件以上。</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05" name="组合 104"/>
          <p:cNvGrpSpPr/>
          <p:nvPr>
            <p:custDataLst>
              <p:tags r:id="rId7"/>
            </p:custDataLst>
          </p:nvPr>
        </p:nvGrpSpPr>
        <p:grpSpPr>
          <a:xfrm>
            <a:off x="2402311" y="663322"/>
            <a:ext cx="2119124" cy="4055555"/>
            <a:chOff x="182058" y="725270"/>
            <a:chExt cx="2119124" cy="4055555"/>
          </a:xfrm>
        </p:grpSpPr>
        <p:sp>
          <p:nvSpPr>
            <p:cNvPr id="106" name="矩形: 圆角 105"/>
            <p:cNvSpPr/>
            <p:nvPr>
              <p:custDataLst>
                <p:tags r:id="rId8"/>
              </p:custDataLst>
            </p:nvPr>
          </p:nvSpPr>
          <p:spPr>
            <a:xfrm>
              <a:off x="182058" y="725270"/>
              <a:ext cx="2119124" cy="4055555"/>
            </a:xfrm>
            <a:prstGeom prst="roundRect">
              <a:avLst>
                <a:gd name="adj" fmla="val 7586"/>
              </a:avLst>
            </a:prstGeom>
            <a:solidFill>
              <a:srgbClr val="FAFDFF"/>
            </a:solidFill>
            <a:ln>
              <a:noFill/>
            </a:ln>
            <a:effectLst>
              <a:outerShdw blurRad="228600" dist="254000" dir="8100000" algn="tr" rotWithShape="0">
                <a:srgbClr val="D9EDFF"/>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00" dirty="0"/>
            </a:p>
          </p:txBody>
        </p:sp>
        <p:cxnSp>
          <p:nvCxnSpPr>
            <p:cNvPr id="108" name="直接连接符 107"/>
            <p:cNvCxnSpPr/>
            <p:nvPr>
              <p:custDataLst>
                <p:tags r:id="rId9"/>
              </p:custDataLst>
            </p:nvPr>
          </p:nvCxnSpPr>
          <p:spPr>
            <a:xfrm>
              <a:off x="278645" y="1356864"/>
              <a:ext cx="1925947" cy="0"/>
            </a:xfrm>
            <a:prstGeom prst="line">
              <a:avLst/>
            </a:prstGeom>
            <a:ln w="19050">
              <a:gradFill>
                <a:gsLst>
                  <a:gs pos="0">
                    <a:schemeClr val="accent1">
                      <a:lumMod val="5000"/>
                      <a:lumOff val="95000"/>
                    </a:schemeClr>
                  </a:gs>
                  <a:gs pos="55000">
                    <a:srgbClr val="259FFD"/>
                  </a:gs>
                  <a:gs pos="100000">
                    <a:srgbClr val="FFFFFF"/>
                  </a:gs>
                </a:gsLst>
                <a:lin ang="6000000" scaled="0"/>
              </a:gradFill>
            </a:ln>
          </p:spPr>
          <p:style>
            <a:lnRef idx="1">
              <a:schemeClr val="accent1"/>
            </a:lnRef>
            <a:fillRef idx="0">
              <a:schemeClr val="accent1"/>
            </a:fillRef>
            <a:effectRef idx="0">
              <a:schemeClr val="accent1"/>
            </a:effectRef>
            <a:fontRef idx="minor">
              <a:schemeClr val="tx1"/>
            </a:fontRef>
          </p:style>
        </p:cxnSp>
        <p:sp>
          <p:nvSpPr>
            <p:cNvPr id="109" name="文本框 108"/>
            <p:cNvSpPr txBox="1"/>
            <p:nvPr>
              <p:custDataLst>
                <p:tags r:id="rId10"/>
              </p:custDataLst>
            </p:nvPr>
          </p:nvSpPr>
          <p:spPr>
            <a:xfrm>
              <a:off x="509227" y="747334"/>
              <a:ext cx="1402080" cy="583565"/>
            </a:xfrm>
            <a:prstGeom prst="rect">
              <a:avLst/>
            </a:prstGeom>
            <a:noFill/>
          </p:spPr>
          <p:txBody>
            <a:bodyPr wrap="none" rtlCol="0">
              <a:spAutoFit/>
            </a:bodyPr>
            <a:lstStyle/>
            <a:p>
              <a:pPr algn="ctr"/>
              <a:r>
                <a:rPr lang="zh-CN" altLang="en-US" sz="1600" b="1" dirty="0">
                  <a:solidFill>
                    <a:srgbClr val="0070C0"/>
                  </a:solidFill>
                  <a:latin typeface="微软雅黑" panose="020B0503020204020204" pitchFamily="34" charset="-122"/>
                  <a:ea typeface="微软雅黑" panose="020B0503020204020204" pitchFamily="34" charset="-122"/>
                </a:rPr>
                <a:t>着力选定</a:t>
              </a:r>
              <a:endParaRPr lang="zh-CN" altLang="en-US" sz="1600" b="1" dirty="0">
                <a:solidFill>
                  <a:srgbClr val="0070C0"/>
                </a:solidFill>
                <a:latin typeface="微软雅黑" panose="020B0503020204020204" pitchFamily="34" charset="-122"/>
                <a:ea typeface="微软雅黑" panose="020B0503020204020204" pitchFamily="34" charset="-122"/>
              </a:endParaRPr>
            </a:p>
            <a:p>
              <a:pPr algn="ctr"/>
              <a:r>
                <a:rPr lang="zh-CN" altLang="en-US" sz="1600" b="1" dirty="0">
                  <a:solidFill>
                    <a:srgbClr val="0070C0"/>
                  </a:solidFill>
                  <a:latin typeface="微软雅黑" panose="020B0503020204020204" pitchFamily="34" charset="-122"/>
                  <a:ea typeface="微软雅黑" panose="020B0503020204020204" pitchFamily="34" charset="-122"/>
                </a:rPr>
                <a:t>赛道前景广阔</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113" name="文本框 112"/>
            <p:cNvSpPr txBox="1"/>
            <p:nvPr>
              <p:custDataLst>
                <p:tags r:id="rId11"/>
              </p:custDataLst>
            </p:nvPr>
          </p:nvSpPr>
          <p:spPr>
            <a:xfrm>
              <a:off x="278645" y="1470004"/>
              <a:ext cx="1925947" cy="1168400"/>
            </a:xfrm>
            <a:prstGeom prst="rect">
              <a:avLst/>
            </a:prstGeom>
            <a:noFill/>
          </p:spPr>
          <p:txBody>
            <a:bodyPr wrap="square">
              <a:spAutoFit/>
            </a:bodyPr>
            <a:lstStyle/>
            <a:p>
              <a:pPr algn="just"/>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rPr>
                <a:t>专注交通领域高阶认知与较大场景便捷快速生成，形成赛道选择优势，竞争小，前景大。</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技术全国领先。</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14" name="组合 113"/>
          <p:cNvGrpSpPr/>
          <p:nvPr>
            <p:custDataLst>
              <p:tags r:id="rId12"/>
            </p:custDataLst>
          </p:nvPr>
        </p:nvGrpSpPr>
        <p:grpSpPr>
          <a:xfrm>
            <a:off x="4622564" y="663322"/>
            <a:ext cx="2119124" cy="4055555"/>
            <a:chOff x="182058" y="725270"/>
            <a:chExt cx="2119124" cy="4055555"/>
          </a:xfrm>
        </p:grpSpPr>
        <p:sp>
          <p:nvSpPr>
            <p:cNvPr id="115" name="矩形: 圆角 114"/>
            <p:cNvSpPr/>
            <p:nvPr>
              <p:custDataLst>
                <p:tags r:id="rId13"/>
              </p:custDataLst>
            </p:nvPr>
          </p:nvSpPr>
          <p:spPr>
            <a:xfrm>
              <a:off x="182058" y="725270"/>
              <a:ext cx="2119124" cy="4055555"/>
            </a:xfrm>
            <a:prstGeom prst="roundRect">
              <a:avLst>
                <a:gd name="adj" fmla="val 7586"/>
              </a:avLst>
            </a:prstGeom>
            <a:solidFill>
              <a:srgbClr val="FAFDFF"/>
            </a:solidFill>
            <a:ln>
              <a:noFill/>
            </a:ln>
            <a:effectLst>
              <a:outerShdw blurRad="228600" dist="254000" dir="8100000" algn="tr" rotWithShape="0">
                <a:srgbClr val="D9EDFF"/>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00" dirty="0"/>
            </a:p>
          </p:txBody>
        </p:sp>
        <p:cxnSp>
          <p:nvCxnSpPr>
            <p:cNvPr id="117" name="直接连接符 116"/>
            <p:cNvCxnSpPr/>
            <p:nvPr>
              <p:custDataLst>
                <p:tags r:id="rId14"/>
              </p:custDataLst>
            </p:nvPr>
          </p:nvCxnSpPr>
          <p:spPr>
            <a:xfrm>
              <a:off x="278645" y="1356864"/>
              <a:ext cx="1925947" cy="0"/>
            </a:xfrm>
            <a:prstGeom prst="line">
              <a:avLst/>
            </a:prstGeom>
            <a:ln w="19050">
              <a:gradFill>
                <a:gsLst>
                  <a:gs pos="0">
                    <a:schemeClr val="accent1">
                      <a:lumMod val="5000"/>
                      <a:lumOff val="95000"/>
                    </a:schemeClr>
                  </a:gs>
                  <a:gs pos="55000">
                    <a:srgbClr val="259FFD"/>
                  </a:gs>
                  <a:gs pos="100000">
                    <a:srgbClr val="FFFFFF"/>
                  </a:gs>
                </a:gsLst>
                <a:lin ang="6000000" scaled="0"/>
              </a:gradFill>
            </a:ln>
          </p:spPr>
          <p:style>
            <a:lnRef idx="1">
              <a:schemeClr val="accent1"/>
            </a:lnRef>
            <a:fillRef idx="0">
              <a:schemeClr val="accent1"/>
            </a:fillRef>
            <a:effectRef idx="0">
              <a:schemeClr val="accent1"/>
            </a:effectRef>
            <a:fontRef idx="minor">
              <a:schemeClr val="tx1"/>
            </a:fontRef>
          </p:style>
        </p:cxnSp>
        <p:sp>
          <p:nvSpPr>
            <p:cNvPr id="118" name="文本框 117"/>
            <p:cNvSpPr txBox="1"/>
            <p:nvPr>
              <p:custDataLst>
                <p:tags r:id="rId15"/>
              </p:custDataLst>
            </p:nvPr>
          </p:nvSpPr>
          <p:spPr>
            <a:xfrm>
              <a:off x="533732" y="736479"/>
              <a:ext cx="1415772" cy="584775"/>
            </a:xfrm>
            <a:prstGeom prst="rect">
              <a:avLst/>
            </a:prstGeom>
            <a:noFill/>
          </p:spPr>
          <p:txBody>
            <a:bodyPr wrap="none" rtlCol="0">
              <a:spAutoFit/>
            </a:bodyPr>
            <a:lstStyle/>
            <a:p>
              <a:pPr algn="ctr"/>
              <a:r>
                <a:rPr lang="zh-CN" altLang="en-US" sz="1600" b="1" dirty="0">
                  <a:solidFill>
                    <a:srgbClr val="0070C0"/>
                  </a:solidFill>
                  <a:latin typeface="微软雅黑" panose="020B0503020204020204" pitchFamily="34" charset="-122"/>
                  <a:ea typeface="微软雅黑" panose="020B0503020204020204" pitchFamily="34" charset="-122"/>
                </a:rPr>
                <a:t>学企结合</a:t>
              </a:r>
              <a:endParaRPr lang="en-US" altLang="zh-CN" sz="1600" b="1" dirty="0">
                <a:solidFill>
                  <a:srgbClr val="0070C0"/>
                </a:solidFill>
                <a:latin typeface="微软雅黑" panose="020B0503020204020204" pitchFamily="34" charset="-122"/>
                <a:ea typeface="微软雅黑" panose="020B0503020204020204" pitchFamily="34" charset="-122"/>
              </a:endParaRPr>
            </a:p>
            <a:p>
              <a:pPr algn="ctr"/>
              <a:r>
                <a:rPr lang="zh-CN" altLang="en-US" sz="1600" b="1" dirty="0">
                  <a:solidFill>
                    <a:srgbClr val="0070C0"/>
                  </a:solidFill>
                  <a:latin typeface="微软雅黑" panose="020B0503020204020204" pitchFamily="34" charset="-122"/>
                  <a:ea typeface="微软雅黑" panose="020B0503020204020204" pitchFamily="34" charset="-122"/>
                </a:rPr>
                <a:t>团队稳定高效</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119" name="文本框 118"/>
            <p:cNvSpPr txBox="1"/>
            <p:nvPr>
              <p:custDataLst>
                <p:tags r:id="rId16"/>
              </p:custDataLst>
            </p:nvPr>
          </p:nvSpPr>
          <p:spPr>
            <a:xfrm>
              <a:off x="278645" y="1470004"/>
              <a:ext cx="1925947" cy="953135"/>
            </a:xfrm>
            <a:prstGeom prst="rect">
              <a:avLst/>
            </a:prstGeom>
            <a:noFill/>
          </p:spPr>
          <p:txBody>
            <a:bodyPr wrap="square">
              <a:spAutoFit/>
            </a:bodyPr>
            <a:lstStyle/>
            <a:p>
              <a:pPr algn="just"/>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rPr>
                <a:t>依托高校，有持续的研究输出。</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mn-ea"/>
                </a:rPr>
                <a:t>管理和融资方面的丰富经验，保障了企业成功率。</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20" name="组合 119"/>
          <p:cNvGrpSpPr/>
          <p:nvPr>
            <p:custDataLst>
              <p:tags r:id="rId17"/>
            </p:custDataLst>
          </p:nvPr>
        </p:nvGrpSpPr>
        <p:grpSpPr>
          <a:xfrm>
            <a:off x="6842818" y="663322"/>
            <a:ext cx="2119124" cy="4055555"/>
            <a:chOff x="182058" y="725270"/>
            <a:chExt cx="2119124" cy="4055555"/>
          </a:xfrm>
        </p:grpSpPr>
        <p:sp>
          <p:nvSpPr>
            <p:cNvPr id="121" name="矩形: 圆角 120"/>
            <p:cNvSpPr/>
            <p:nvPr>
              <p:custDataLst>
                <p:tags r:id="rId18"/>
              </p:custDataLst>
            </p:nvPr>
          </p:nvSpPr>
          <p:spPr>
            <a:xfrm>
              <a:off x="182058" y="725270"/>
              <a:ext cx="2119124" cy="4055555"/>
            </a:xfrm>
            <a:prstGeom prst="roundRect">
              <a:avLst>
                <a:gd name="adj" fmla="val 7586"/>
              </a:avLst>
            </a:prstGeom>
            <a:solidFill>
              <a:srgbClr val="FAFDFF"/>
            </a:solidFill>
            <a:ln>
              <a:noFill/>
            </a:ln>
            <a:effectLst>
              <a:outerShdw blurRad="228600" dist="254000" dir="8100000" algn="tr" rotWithShape="0">
                <a:srgbClr val="D9EDFF"/>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00" dirty="0"/>
            </a:p>
          </p:txBody>
        </p:sp>
        <p:cxnSp>
          <p:nvCxnSpPr>
            <p:cNvPr id="123" name="直接连接符 122"/>
            <p:cNvCxnSpPr/>
            <p:nvPr>
              <p:custDataLst>
                <p:tags r:id="rId19"/>
              </p:custDataLst>
            </p:nvPr>
          </p:nvCxnSpPr>
          <p:spPr>
            <a:xfrm>
              <a:off x="278645" y="1356864"/>
              <a:ext cx="1925947" cy="0"/>
            </a:xfrm>
            <a:prstGeom prst="line">
              <a:avLst/>
            </a:prstGeom>
            <a:ln w="19050">
              <a:gradFill>
                <a:gsLst>
                  <a:gs pos="0">
                    <a:schemeClr val="accent1">
                      <a:lumMod val="5000"/>
                      <a:lumOff val="95000"/>
                    </a:schemeClr>
                  </a:gs>
                  <a:gs pos="55000">
                    <a:srgbClr val="259FFD"/>
                  </a:gs>
                  <a:gs pos="100000">
                    <a:srgbClr val="FFFFFF"/>
                  </a:gs>
                </a:gsLst>
                <a:lin ang="6000000" scaled="0"/>
              </a:gradFill>
            </a:ln>
          </p:spPr>
          <p:style>
            <a:lnRef idx="1">
              <a:schemeClr val="accent1"/>
            </a:lnRef>
            <a:fillRef idx="0">
              <a:schemeClr val="accent1"/>
            </a:fillRef>
            <a:effectRef idx="0">
              <a:schemeClr val="accent1"/>
            </a:effectRef>
            <a:fontRef idx="minor">
              <a:schemeClr val="tx1"/>
            </a:fontRef>
          </p:style>
        </p:cxnSp>
        <p:sp>
          <p:nvSpPr>
            <p:cNvPr id="124" name="文本框 123"/>
            <p:cNvSpPr txBox="1"/>
            <p:nvPr>
              <p:custDataLst>
                <p:tags r:id="rId20"/>
              </p:custDataLst>
            </p:nvPr>
          </p:nvSpPr>
          <p:spPr>
            <a:xfrm>
              <a:off x="533732" y="734160"/>
              <a:ext cx="1415772" cy="584775"/>
            </a:xfrm>
            <a:prstGeom prst="rect">
              <a:avLst/>
            </a:prstGeom>
            <a:noFill/>
          </p:spPr>
          <p:txBody>
            <a:bodyPr wrap="none" rtlCol="0">
              <a:spAutoFit/>
            </a:bodyPr>
            <a:lstStyle/>
            <a:p>
              <a:pPr algn="ctr"/>
              <a:r>
                <a:rPr lang="zh-CN" altLang="en-US" sz="1600" b="1" dirty="0">
                  <a:solidFill>
                    <a:srgbClr val="0070C0"/>
                  </a:solidFill>
                  <a:latin typeface="微软雅黑" panose="020B0503020204020204" pitchFamily="34" charset="-122"/>
                  <a:ea typeface="微软雅黑" panose="020B0503020204020204" pitchFamily="34" charset="-122"/>
                </a:rPr>
                <a:t>成本可控</a:t>
              </a:r>
              <a:endParaRPr lang="en-US" altLang="zh-CN" sz="1600" b="1" dirty="0">
                <a:solidFill>
                  <a:srgbClr val="0070C0"/>
                </a:solidFill>
                <a:latin typeface="微软雅黑" panose="020B0503020204020204" pitchFamily="34" charset="-122"/>
                <a:ea typeface="微软雅黑" panose="020B0503020204020204" pitchFamily="34" charset="-122"/>
              </a:endParaRPr>
            </a:p>
            <a:p>
              <a:pPr algn="ctr"/>
              <a:r>
                <a:rPr lang="zh-CN" altLang="en-US" sz="1600" b="1" dirty="0">
                  <a:solidFill>
                    <a:srgbClr val="0070C0"/>
                  </a:solidFill>
                  <a:latin typeface="微软雅黑" panose="020B0503020204020204" pitchFamily="34" charset="-122"/>
                  <a:ea typeface="微软雅黑" panose="020B0503020204020204" pitchFamily="34" charset="-122"/>
                </a:rPr>
                <a:t>模型质效兼优</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125" name="文本框 124"/>
            <p:cNvSpPr txBox="1"/>
            <p:nvPr>
              <p:custDataLst>
                <p:tags r:id="rId21"/>
              </p:custDataLst>
            </p:nvPr>
          </p:nvSpPr>
          <p:spPr>
            <a:xfrm>
              <a:off x="375165" y="1469439"/>
              <a:ext cx="1925947" cy="1383665"/>
            </a:xfrm>
            <a:prstGeom prst="rect">
              <a:avLst/>
            </a:prstGeom>
            <a:noFill/>
          </p:spPr>
          <p:txBody>
            <a:bodyPr wrap="square">
              <a:spAutoFit/>
            </a:bodyPr>
            <a:lstStyle/>
            <a:p>
              <a:pPr indent="0" algn="just" fontAlgn="auto">
                <a:lnSpc>
                  <a:spcPct val="100000"/>
                </a:lnSpc>
              </a:pP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rPr>
                <a:t>AI-Scope</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rPr>
                <a:t>大模型认知与快速三维重构技术，部署便捷，系统维护方便，成本低。</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endParaRPr>
            </a:p>
            <a:p>
              <a:pPr indent="0" algn="just" fontAlgn="auto">
                <a:lnSpc>
                  <a:spcPct val="100000"/>
                </a:lnSpc>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rPr>
                <a:t>高校</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rPr>
                <a:t>+</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rPr>
                <a:t>外聘结合，人力成本有优势。</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sym typeface="Gill Sans" charset="0"/>
              </a:endParaRPr>
            </a:p>
          </p:txBody>
        </p:sp>
      </p:grpSp>
      <p:grpSp>
        <p:nvGrpSpPr>
          <p:cNvPr id="126" name="组合 125"/>
          <p:cNvGrpSpPr/>
          <p:nvPr/>
        </p:nvGrpSpPr>
        <p:grpSpPr>
          <a:xfrm>
            <a:off x="-2" y="120703"/>
            <a:ext cx="285757" cy="479147"/>
            <a:chOff x="-2" y="120703"/>
            <a:chExt cx="285757" cy="479147"/>
          </a:xfrm>
        </p:grpSpPr>
        <p:sp>
          <p:nvSpPr>
            <p:cNvPr id="127" name="等腰三角形 126"/>
            <p:cNvSpPr/>
            <p:nvPr/>
          </p:nvSpPr>
          <p:spPr>
            <a:xfrm rot="5400000">
              <a:off x="-52804" y="173505"/>
              <a:ext cx="391362" cy="285757"/>
            </a:xfrm>
            <a:prstGeom prst="triangle">
              <a:avLst/>
            </a:prstGeom>
            <a:gradFill>
              <a:gsLst>
                <a:gs pos="0">
                  <a:srgbClr val="0070C0"/>
                </a:gs>
                <a:gs pos="100000">
                  <a:srgbClr val="00B0F0"/>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等腰三角形 127"/>
            <p:cNvSpPr/>
            <p:nvPr/>
          </p:nvSpPr>
          <p:spPr>
            <a:xfrm rot="5400000">
              <a:off x="-52804" y="261290"/>
              <a:ext cx="391362" cy="285757"/>
            </a:xfrm>
            <a:prstGeom prst="triangle">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9" name="组合 128"/>
          <p:cNvGrpSpPr/>
          <p:nvPr>
            <p:custDataLst>
              <p:tags r:id="rId22"/>
            </p:custDataLst>
          </p:nvPr>
        </p:nvGrpSpPr>
        <p:grpSpPr>
          <a:xfrm>
            <a:off x="8858242" y="4593948"/>
            <a:ext cx="285757" cy="479147"/>
            <a:chOff x="8858242" y="4593948"/>
            <a:chExt cx="285757" cy="479147"/>
          </a:xfrm>
        </p:grpSpPr>
        <p:sp>
          <p:nvSpPr>
            <p:cNvPr id="130" name="等腰三角形 129"/>
            <p:cNvSpPr/>
            <p:nvPr>
              <p:custDataLst>
                <p:tags r:id="rId23"/>
              </p:custDataLst>
            </p:nvPr>
          </p:nvSpPr>
          <p:spPr>
            <a:xfrm rot="16200000">
              <a:off x="8805440" y="4646750"/>
              <a:ext cx="391362" cy="285757"/>
            </a:xfrm>
            <a:prstGeom prst="triangle">
              <a:avLst/>
            </a:prstGeom>
            <a:gradFill>
              <a:gsLst>
                <a:gs pos="0">
                  <a:srgbClr val="0070C0"/>
                </a:gs>
                <a:gs pos="100000">
                  <a:srgbClr val="00B0F0"/>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等腰三角形 130"/>
            <p:cNvSpPr/>
            <p:nvPr>
              <p:custDataLst>
                <p:tags r:id="rId24"/>
              </p:custDataLst>
            </p:nvPr>
          </p:nvSpPr>
          <p:spPr>
            <a:xfrm rot="16200000">
              <a:off x="8805440" y="4734535"/>
              <a:ext cx="391362" cy="285757"/>
            </a:xfrm>
            <a:prstGeom prst="triangle">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7" name="直接连接符 6"/>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wipe(left)">
                                      <p:cBhvr>
                                        <p:cTn id="7" dur="500"/>
                                        <p:tgtEl>
                                          <p:spTgt spid="126"/>
                                        </p:tgtEl>
                                      </p:cBhvr>
                                    </p:animEffect>
                                  </p:childTnLst>
                                </p:cTn>
                              </p:par>
                              <p:par>
                                <p:cTn id="8" presetID="22" presetClass="entr" presetSubtype="2" fill="hold" nodeType="withEffect">
                                  <p:stCondLst>
                                    <p:cond delay="0"/>
                                  </p:stCondLst>
                                  <p:childTnLst>
                                    <p:set>
                                      <p:cBhvr>
                                        <p:cTn id="9" dur="1" fill="hold">
                                          <p:stCondLst>
                                            <p:cond delay="0"/>
                                          </p:stCondLst>
                                        </p:cTn>
                                        <p:tgtEl>
                                          <p:spTgt spid="129"/>
                                        </p:tgtEl>
                                        <p:attrNameLst>
                                          <p:attrName>style.visibility</p:attrName>
                                        </p:attrNameLst>
                                      </p:cBhvr>
                                      <p:to>
                                        <p:strVal val="visible"/>
                                      </p:to>
                                    </p:set>
                                    <p:animEffect transition="in" filter="wipe(right)">
                                      <p:cBhvr>
                                        <p:cTn id="10"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301337" y="737750"/>
          <a:ext cx="8520544" cy="4158031"/>
        </p:xfrm>
        <a:graphic>
          <a:graphicData uri="http://schemas.openxmlformats.org/drawingml/2006/table">
            <a:tbl>
              <a:tblPr firstRow="1" bandRow="1">
                <a:tableStyleId>{5C22544A-7EE6-4342-B048-85BDC9FD1C3A}</a:tableStyleId>
              </a:tblPr>
              <a:tblGrid>
                <a:gridCol w="837557"/>
                <a:gridCol w="2458985"/>
                <a:gridCol w="2738172"/>
                <a:gridCol w="2485830"/>
              </a:tblGrid>
              <a:tr h="311732">
                <a:tc>
                  <a:txBody>
                    <a:bodyPr/>
                    <a:lstStyle/>
                    <a:p>
                      <a:pPr algn="dist"/>
                      <a:r>
                        <a:rPr lang="zh-CN" altLang="en-US" sz="1200" b="1" dirty="0">
                          <a:latin typeface="黑体" panose="02010609060101010101" charset="-122"/>
                          <a:ea typeface="黑体" panose="02010609060101010101" charset="-122"/>
                        </a:rPr>
                        <a:t>公司名称</a:t>
                      </a:r>
                      <a:endParaRPr lang="zh-CN" altLang="en-US" sz="1200" b="1" dirty="0">
                        <a:latin typeface="黑体" panose="02010609060101010101" charset="-122"/>
                        <a:ea typeface="黑体" panose="02010609060101010101" charset="-122"/>
                      </a:endParaRPr>
                    </a:p>
                  </a:txBody>
                  <a:tcPr/>
                </a:tc>
                <a:tc>
                  <a:txBody>
                    <a:bodyPr/>
                    <a:lstStyle/>
                    <a:p>
                      <a:pPr algn="ctr"/>
                      <a:r>
                        <a:rPr lang="zh-CN" altLang="en-US" sz="1200" b="1" dirty="0"/>
                        <a:t>奥</a:t>
                      </a:r>
                      <a:r>
                        <a:rPr lang="en-US" altLang="zh-CN" sz="1200" b="1" dirty="0"/>
                        <a:t>XX</a:t>
                      </a:r>
                      <a:r>
                        <a:rPr lang="zh-CN" altLang="en-US" sz="1200" b="1" dirty="0"/>
                        <a:t>光</a:t>
                      </a:r>
                      <a:endParaRPr lang="zh-CN" altLang="en-US" sz="1200" b="1" dirty="0"/>
                    </a:p>
                  </a:txBody>
                  <a:tcPr/>
                </a:tc>
                <a:tc>
                  <a:txBody>
                    <a:bodyPr/>
                    <a:lstStyle/>
                    <a:p>
                      <a:pPr algn="ctr"/>
                      <a:r>
                        <a:rPr lang="zh-CN" altLang="en-US" sz="1200" b="1" dirty="0"/>
                        <a:t>虹</a:t>
                      </a:r>
                      <a:r>
                        <a:rPr lang="en-US" altLang="zh-CN" sz="1200" b="1" dirty="0"/>
                        <a:t>XX</a:t>
                      </a:r>
                      <a:r>
                        <a:rPr lang="zh-CN" altLang="en-US" sz="1200" b="1" dirty="0"/>
                        <a:t>技</a:t>
                      </a:r>
                      <a:endParaRPr lang="zh-CN" altLang="en-US" sz="1200" b="1" dirty="0"/>
                    </a:p>
                  </a:txBody>
                  <a:tcPr/>
                </a:tc>
                <a:tc>
                  <a:txBody>
                    <a:bodyPr/>
                    <a:lstStyle/>
                    <a:p>
                      <a:pPr algn="ctr"/>
                      <a:r>
                        <a:rPr lang="en-US" altLang="zh-CN" sz="1400" b="0" dirty="0">
                          <a:solidFill>
                            <a:srgbClr val="FF0000"/>
                          </a:solidFill>
                        </a:rPr>
                        <a:t>AI-Scope</a:t>
                      </a:r>
                      <a:endParaRPr lang="en-US" altLang="zh-CN" sz="1400" b="0" dirty="0">
                        <a:solidFill>
                          <a:srgbClr val="FF0000"/>
                        </a:solidFill>
                      </a:endParaRPr>
                    </a:p>
                  </a:txBody>
                  <a:tcPr/>
                </a:tc>
              </a:tr>
              <a:tr h="637771">
                <a:tc>
                  <a:txBody>
                    <a:bodyPr/>
                    <a:lstStyle/>
                    <a:p>
                      <a:pPr algn="l"/>
                      <a:r>
                        <a:rPr lang="zh-CN" altLang="en-US" sz="1050" b="1" dirty="0"/>
                        <a:t>主要产品与业务</a:t>
                      </a:r>
                      <a:endParaRPr lang="zh-CN" altLang="en-US" sz="1050" b="1" dirty="0"/>
                    </a:p>
                  </a:txBody>
                  <a:tcPr/>
                </a:tc>
                <a:tc>
                  <a:txBody>
                    <a:bodyPr/>
                    <a:lstStyle/>
                    <a:p>
                      <a:pPr algn="l"/>
                      <a:r>
                        <a:rPr lang="en-US" altLang="zh-CN" sz="1050" b="1" i="0" kern="1200" dirty="0">
                          <a:solidFill>
                            <a:schemeClr val="dk1"/>
                          </a:solidFill>
                          <a:effectLst/>
                          <a:latin typeface="+mn-lt"/>
                          <a:ea typeface="+mn-ea"/>
                          <a:cs typeface="+mn-cs"/>
                        </a:rPr>
                        <a:t>3D </a:t>
                      </a:r>
                      <a:r>
                        <a:rPr lang="zh-CN" altLang="en-US" sz="1050" b="1" i="0" kern="1200" dirty="0">
                          <a:solidFill>
                            <a:schemeClr val="dk1"/>
                          </a:solidFill>
                          <a:effectLst/>
                          <a:latin typeface="+mn-lt"/>
                          <a:ea typeface="+mn-ea"/>
                          <a:cs typeface="+mn-cs"/>
                        </a:rPr>
                        <a:t>视觉传感器，专注于 </a:t>
                      </a:r>
                      <a:r>
                        <a:rPr lang="en-US" altLang="zh-CN" sz="1050" b="1" i="0" kern="1200" dirty="0">
                          <a:solidFill>
                            <a:schemeClr val="dk1"/>
                          </a:solidFill>
                          <a:effectLst/>
                          <a:latin typeface="+mn-lt"/>
                          <a:ea typeface="+mn-ea"/>
                          <a:cs typeface="+mn-cs"/>
                        </a:rPr>
                        <a:t>3D </a:t>
                      </a:r>
                      <a:r>
                        <a:rPr lang="zh-CN" altLang="en-US" sz="1050" b="1" i="0" kern="1200" dirty="0">
                          <a:solidFill>
                            <a:schemeClr val="dk1"/>
                          </a:solidFill>
                          <a:effectLst/>
                          <a:latin typeface="+mn-lt"/>
                          <a:ea typeface="+mn-ea"/>
                          <a:cs typeface="+mn-cs"/>
                        </a:rPr>
                        <a:t>视觉感知技术，为机器人提供环境感知、智能导航等技术支持</a:t>
                      </a:r>
                      <a:endParaRPr lang="zh-CN" altLang="en-US" sz="1050" b="1" dirty="0"/>
                    </a:p>
                  </a:txBody>
                  <a:tcPr/>
                </a:tc>
                <a:tc>
                  <a:txBody>
                    <a:bodyPr/>
                    <a:lstStyle/>
                    <a:p>
                      <a:pPr algn="l"/>
                      <a:r>
                        <a:rPr lang="zh-CN" altLang="en-US" sz="1050" b="1" i="0" kern="1200" dirty="0">
                          <a:solidFill>
                            <a:schemeClr val="dk1"/>
                          </a:solidFill>
                          <a:effectLst/>
                          <a:latin typeface="+mn-lt"/>
                          <a:ea typeface="+mn-ea"/>
                          <a:cs typeface="+mn-cs"/>
                        </a:rPr>
                        <a:t>手机视觉算法、车载视觉技术等，为智能设备提供视觉技术解决方案</a:t>
                      </a:r>
                      <a:endParaRPr lang="zh-CN" altLang="en-US" sz="1050" b="1" dirty="0"/>
                    </a:p>
                  </a:txBody>
                  <a:tcPr/>
                </a:tc>
                <a:tc>
                  <a:txBody>
                    <a:bodyPr/>
                    <a:lstStyle/>
                    <a:p>
                      <a:pPr algn="l"/>
                      <a:r>
                        <a:rPr lang="zh-CN" altLang="en-US" sz="1050" b="1" dirty="0">
                          <a:solidFill>
                            <a:srgbClr val="FF0000"/>
                          </a:solidFill>
                        </a:rPr>
                        <a:t>复杂目标与事件推理技术群</a:t>
                      </a:r>
                      <a:r>
                        <a:rPr lang="en-US" altLang="zh-CN" sz="1050" b="1" dirty="0">
                          <a:solidFill>
                            <a:srgbClr val="FF0000"/>
                          </a:solidFill>
                        </a:rPr>
                        <a:t>+</a:t>
                      </a:r>
                      <a:r>
                        <a:rPr lang="zh-CN" altLang="en-US" sz="1050" b="1" dirty="0">
                          <a:solidFill>
                            <a:srgbClr val="FF0000"/>
                          </a:solidFill>
                        </a:rPr>
                        <a:t>立体视觉及三维轻量化快速构建技术群。解决复杂事件认知与场景再现需求</a:t>
                      </a:r>
                      <a:endParaRPr lang="zh-CN" altLang="en-US" sz="1050" b="1" dirty="0">
                        <a:solidFill>
                          <a:srgbClr val="FF0000"/>
                        </a:solidFill>
                      </a:endParaRPr>
                    </a:p>
                  </a:txBody>
                  <a:tcPr/>
                </a:tc>
              </a:tr>
              <a:tr h="687843">
                <a:tc>
                  <a:txBody>
                    <a:bodyPr/>
                    <a:lstStyle/>
                    <a:p>
                      <a:pPr algn="l"/>
                      <a:r>
                        <a:rPr lang="zh-CN" altLang="en-US" sz="1050" b="1" dirty="0"/>
                        <a:t>技术优势</a:t>
                      </a:r>
                      <a:endParaRPr lang="zh-CN" altLang="en-US" sz="1050" b="1" dirty="0"/>
                    </a:p>
                  </a:txBody>
                  <a:tcPr/>
                </a:tc>
                <a:tc>
                  <a:txBody>
                    <a:bodyPr/>
                    <a:lstStyle/>
                    <a:p>
                      <a:pPr algn="l"/>
                      <a:r>
                        <a:rPr lang="zh-CN" altLang="en-US" sz="1050" b="1" i="0" kern="1200" dirty="0">
                          <a:solidFill>
                            <a:schemeClr val="dk1"/>
                          </a:solidFill>
                          <a:effectLst/>
                          <a:latin typeface="+mn-lt"/>
                          <a:ea typeface="+mn-ea"/>
                          <a:cs typeface="+mn-cs"/>
                        </a:rPr>
                        <a:t>全技术链覆盖，拥有深度引擎芯片等核心部件，功耗较低，且与华为、英伟达等有合作</a:t>
                      </a:r>
                      <a:endParaRPr lang="zh-CN" altLang="en-US" sz="1050" b="1" dirty="0"/>
                    </a:p>
                  </a:txBody>
                  <a:tcPr/>
                </a:tc>
                <a:tc>
                  <a:txBody>
                    <a:bodyPr/>
                    <a:lstStyle/>
                    <a:p>
                      <a:pPr algn="l"/>
                      <a:r>
                        <a:rPr lang="zh-CN" altLang="en-US" sz="1050" b="1" i="0" kern="1200" dirty="0">
                          <a:solidFill>
                            <a:schemeClr val="dk1"/>
                          </a:solidFill>
                          <a:effectLst/>
                          <a:latin typeface="+mn-lt"/>
                          <a:ea typeface="+mn-ea"/>
                          <a:cs typeface="+mn-cs"/>
                        </a:rPr>
                        <a:t>手机视觉算法领域技术深厚，可实现高精度人脸检测等功能，车载视觉技术成熟，能提供驾驶员状态监测等功能</a:t>
                      </a:r>
                      <a:endParaRPr lang="zh-CN" altLang="en-US" sz="1050" b="1" dirty="0"/>
                    </a:p>
                  </a:txBody>
                  <a:tcPr/>
                </a:tc>
                <a:tc>
                  <a:txBody>
                    <a:bodyPr/>
                    <a:lstStyle/>
                    <a:p>
                      <a:pPr algn="l"/>
                      <a:r>
                        <a:rPr lang="zh-CN" altLang="en-US" sz="1050" b="1" dirty="0">
                          <a:solidFill>
                            <a:srgbClr val="FF0000"/>
                          </a:solidFill>
                        </a:rPr>
                        <a:t>安防复杂事件监督和预测，远距视瞳捕捉，立体场景快速便捷生成，自然场景下非规目标统计产品化。</a:t>
                      </a:r>
                      <a:endParaRPr lang="zh-CN" altLang="en-US" sz="1050" b="1" dirty="0">
                        <a:solidFill>
                          <a:srgbClr val="FF0000"/>
                        </a:solidFill>
                      </a:endParaRPr>
                    </a:p>
                  </a:txBody>
                  <a:tcPr/>
                </a:tc>
              </a:tr>
              <a:tr h="624248">
                <a:tc>
                  <a:txBody>
                    <a:bodyPr/>
                    <a:lstStyle/>
                    <a:p>
                      <a:pPr algn="l"/>
                      <a:r>
                        <a:rPr lang="zh-CN" altLang="en-US" sz="1050" b="1" dirty="0"/>
                        <a:t>市场定位</a:t>
                      </a:r>
                      <a:endParaRPr lang="zh-CN" altLang="en-US" sz="1050" b="1" dirty="0"/>
                    </a:p>
                  </a:txBody>
                  <a:tcPr/>
                </a:tc>
                <a:tc>
                  <a:txBody>
                    <a:bodyPr/>
                    <a:lstStyle/>
                    <a:p>
                      <a:pPr algn="l"/>
                      <a:r>
                        <a:rPr lang="zh-CN" altLang="en-US" sz="1050" b="1" i="0" kern="1200" dirty="0">
                          <a:solidFill>
                            <a:schemeClr val="dk1"/>
                          </a:solidFill>
                          <a:effectLst/>
                          <a:latin typeface="+mn-lt"/>
                          <a:ea typeface="+mn-ea"/>
                          <a:cs typeface="+mn-cs"/>
                        </a:rPr>
                        <a:t>聚焦 </a:t>
                      </a:r>
                      <a:r>
                        <a:rPr lang="en-US" altLang="zh-CN" sz="1050" b="1" i="0" kern="1200" dirty="0">
                          <a:solidFill>
                            <a:schemeClr val="dk1"/>
                          </a:solidFill>
                          <a:effectLst/>
                          <a:latin typeface="+mn-lt"/>
                          <a:ea typeface="+mn-ea"/>
                          <a:cs typeface="+mn-cs"/>
                        </a:rPr>
                        <a:t>3D </a:t>
                      </a:r>
                      <a:r>
                        <a:rPr lang="zh-CN" altLang="en-US" sz="1050" b="1" i="0" kern="1200" dirty="0">
                          <a:solidFill>
                            <a:schemeClr val="dk1"/>
                          </a:solidFill>
                          <a:effectLst/>
                          <a:latin typeface="+mn-lt"/>
                          <a:ea typeface="+mn-ea"/>
                          <a:cs typeface="+mn-cs"/>
                        </a:rPr>
                        <a:t>视觉感知，在服务机器人视觉领域占据领先地位，同时面向工业检测等领域</a:t>
                      </a:r>
                      <a:endParaRPr lang="zh-CN" altLang="en-US" sz="1050" b="1" dirty="0"/>
                    </a:p>
                  </a:txBody>
                  <a:tcPr/>
                </a:tc>
                <a:tc>
                  <a:txBody>
                    <a:bodyPr/>
                    <a:lstStyle/>
                    <a:p>
                      <a:pPr algn="l"/>
                      <a:r>
                        <a:rPr lang="zh-CN" altLang="en-US" sz="1050" b="1" i="0" kern="1200" dirty="0">
                          <a:solidFill>
                            <a:schemeClr val="dk1"/>
                          </a:solidFill>
                          <a:effectLst/>
                          <a:latin typeface="+mn-lt"/>
                          <a:ea typeface="+mn-ea"/>
                          <a:cs typeface="+mn-cs"/>
                        </a:rPr>
                        <a:t>主要面向智能设备厂商，尤其是手机厂商和汽车厂商，为其提供视觉技术支持，在手机拍照和车载视觉市场有较高份额</a:t>
                      </a:r>
                      <a:endParaRPr lang="zh-CN" altLang="en-US" sz="1050" b="1" dirty="0"/>
                    </a:p>
                  </a:txBody>
                  <a:tcPr/>
                </a:tc>
                <a:tc>
                  <a:txBody>
                    <a:bodyPr/>
                    <a:lstStyle/>
                    <a:p>
                      <a:pPr algn="l"/>
                      <a:r>
                        <a:rPr lang="zh-CN" altLang="en-US" sz="1050" b="1" dirty="0">
                          <a:solidFill>
                            <a:srgbClr val="FF0000"/>
                          </a:solidFill>
                        </a:rPr>
                        <a:t>面向工业检测、高阶安防认知、智慧生活领域，提供轻量化、准实时解决方案</a:t>
                      </a:r>
                      <a:endParaRPr lang="zh-CN" altLang="en-US" sz="1050" b="1" dirty="0">
                        <a:solidFill>
                          <a:srgbClr val="FF0000"/>
                        </a:solidFill>
                      </a:endParaRPr>
                    </a:p>
                  </a:txBody>
                  <a:tcPr/>
                </a:tc>
              </a:tr>
              <a:tr h="660406">
                <a:tc>
                  <a:txBody>
                    <a:bodyPr/>
                    <a:lstStyle/>
                    <a:p>
                      <a:pPr algn="l"/>
                      <a:r>
                        <a:rPr lang="zh-CN" altLang="en-US" sz="1050" b="1" dirty="0"/>
                        <a:t>竞争优势</a:t>
                      </a:r>
                      <a:endParaRPr lang="zh-CN" altLang="en-US" sz="1050" b="1" dirty="0"/>
                    </a:p>
                  </a:txBody>
                  <a:tcPr/>
                </a:tc>
                <a:tc>
                  <a:txBody>
                    <a:bodyPr/>
                    <a:lstStyle/>
                    <a:p>
                      <a:pPr algn="l"/>
                      <a:r>
                        <a:rPr lang="zh-CN" altLang="en-US" sz="1050" b="1" i="0" kern="1200" dirty="0">
                          <a:solidFill>
                            <a:schemeClr val="dk1"/>
                          </a:solidFill>
                          <a:effectLst/>
                          <a:latin typeface="+mn-lt"/>
                          <a:ea typeface="+mn-ea"/>
                          <a:cs typeface="+mn-cs"/>
                        </a:rPr>
                        <a:t>全技术路线 </a:t>
                      </a:r>
                      <a:r>
                        <a:rPr lang="en-US" altLang="zh-CN" sz="1050" b="1" i="0" kern="1200" dirty="0">
                          <a:solidFill>
                            <a:schemeClr val="dk1"/>
                          </a:solidFill>
                          <a:effectLst/>
                          <a:latin typeface="+mn-lt"/>
                          <a:ea typeface="+mn-ea"/>
                          <a:cs typeface="+mn-cs"/>
                        </a:rPr>
                        <a:t>3D </a:t>
                      </a:r>
                      <a:r>
                        <a:rPr lang="zh-CN" altLang="en-US" sz="1050" b="1" i="0" kern="1200" dirty="0">
                          <a:solidFill>
                            <a:schemeClr val="dk1"/>
                          </a:solidFill>
                          <a:effectLst/>
                          <a:latin typeface="+mn-lt"/>
                          <a:ea typeface="+mn-ea"/>
                          <a:cs typeface="+mn-cs"/>
                        </a:rPr>
                        <a:t>视觉传感器体系完善，产品矩阵丰富，有微软等知名合作伙伴</a:t>
                      </a:r>
                      <a:endParaRPr lang="zh-CN" altLang="en-US" sz="1050" b="1" dirty="0"/>
                    </a:p>
                  </a:txBody>
                  <a:tcPr/>
                </a:tc>
                <a:tc>
                  <a:txBody>
                    <a:bodyPr/>
                    <a:lstStyle/>
                    <a:p>
                      <a:pPr algn="l"/>
                      <a:r>
                        <a:rPr lang="zh-CN" altLang="en-US" sz="1050" b="1" dirty="0"/>
                        <a:t>在视觉算法领域深耕多年，技术积累深厚，与众多知名厂商合作紧密，客户资源丰富，能快速响应市场需求</a:t>
                      </a:r>
                      <a:endParaRPr lang="zh-CN" altLang="en-US" sz="1050" b="1" dirty="0"/>
                    </a:p>
                  </a:txBody>
                  <a:tcPr/>
                </a:tc>
                <a:tc>
                  <a:txBody>
                    <a:bodyPr/>
                    <a:lstStyle/>
                    <a:p>
                      <a:pPr algn="l"/>
                      <a:r>
                        <a:rPr lang="zh-CN" altLang="en-US" sz="1050" b="1" dirty="0">
                          <a:solidFill>
                            <a:srgbClr val="FF0000"/>
                          </a:solidFill>
                        </a:rPr>
                        <a:t>事件认知方面高阶算法引领</a:t>
                      </a:r>
                      <a:r>
                        <a:rPr lang="en-US" altLang="zh-CN" sz="1050" b="1" dirty="0">
                          <a:solidFill>
                            <a:srgbClr val="FF0000"/>
                          </a:solidFill>
                        </a:rPr>
                        <a:t>AI</a:t>
                      </a:r>
                      <a:r>
                        <a:rPr lang="zh-CN" altLang="en-US" sz="1050" b="1" dirty="0">
                          <a:solidFill>
                            <a:srgbClr val="FF0000"/>
                          </a:solidFill>
                        </a:rPr>
                        <a:t>发展，场景再现方面，突出产品易用性，便于拓展应用迅速占领中低端市场</a:t>
                      </a:r>
                      <a:endParaRPr lang="zh-CN" altLang="en-US" sz="1050" b="1" dirty="0">
                        <a:solidFill>
                          <a:srgbClr val="FF0000"/>
                        </a:solidFill>
                      </a:endParaRPr>
                    </a:p>
                  </a:txBody>
                  <a:tcPr/>
                </a:tc>
              </a:tr>
              <a:tr h="676279">
                <a:tc>
                  <a:txBody>
                    <a:bodyPr/>
                    <a:lstStyle/>
                    <a:p>
                      <a:pPr algn="l"/>
                      <a:r>
                        <a:rPr lang="zh-CN" altLang="en-US" sz="1050" b="1" dirty="0"/>
                        <a:t>竞争劣势</a:t>
                      </a:r>
                      <a:endParaRPr lang="zh-CN" altLang="en-US" sz="1050" b="1" dirty="0"/>
                    </a:p>
                  </a:txBody>
                  <a:tcPr/>
                </a:tc>
                <a:tc>
                  <a:txBody>
                    <a:bodyPr/>
                    <a:lstStyle/>
                    <a:p>
                      <a:pPr algn="l"/>
                      <a:r>
                        <a:rPr lang="zh-CN" altLang="en-US" sz="1050" b="1" i="0" kern="1200" dirty="0">
                          <a:solidFill>
                            <a:schemeClr val="dk1"/>
                          </a:solidFill>
                          <a:effectLst/>
                          <a:latin typeface="+mn-lt"/>
                          <a:ea typeface="+mn-ea"/>
                          <a:cs typeface="+mn-cs"/>
                        </a:rPr>
                        <a:t>在高端消费电子市场面对面临苹果、索尼等国际巨头垄断竞争，工业检测方面整体品牌影响力仍需提升</a:t>
                      </a:r>
                      <a:endParaRPr lang="zh-CN" altLang="en-US" sz="1050" b="1" dirty="0"/>
                    </a:p>
                  </a:txBody>
                  <a:tcPr/>
                </a:tc>
                <a:tc>
                  <a:txBody>
                    <a:bodyPr/>
                    <a:lstStyle/>
                    <a:p>
                      <a:pPr algn="l"/>
                      <a:r>
                        <a:rPr lang="zh-CN" altLang="en-US" sz="1050" b="1" dirty="0"/>
                        <a:t>业务相对集中在视觉算法软件层面，硬件相关业务较少，面临其他算法厂商和集成商的竞争，市场拓展受限于合作厂商的需求和发展</a:t>
                      </a:r>
                      <a:endParaRPr lang="zh-CN" altLang="en-US" sz="1050" b="1" dirty="0"/>
                    </a:p>
                  </a:txBody>
                  <a:tcPr/>
                </a:tc>
                <a:tc>
                  <a:txBody>
                    <a:bodyPr/>
                    <a:lstStyle/>
                    <a:p>
                      <a:pPr algn="l"/>
                      <a:r>
                        <a:rPr lang="zh-CN" altLang="en-US" sz="1050" b="1" dirty="0">
                          <a:solidFill>
                            <a:srgbClr val="FF0000"/>
                          </a:solidFill>
                        </a:rPr>
                        <a:t>团队缺乏包装，知名度有待增强；技术门槛有待于加强以保持领域领先；初创企业资源欠缺</a:t>
                      </a:r>
                      <a:endParaRPr lang="zh-CN" altLang="en-US" sz="1050" b="1" dirty="0">
                        <a:solidFill>
                          <a:srgbClr val="FF0000"/>
                        </a:solidFill>
                      </a:endParaRPr>
                    </a:p>
                  </a:txBody>
                  <a:tcPr/>
                </a:tc>
              </a:tr>
              <a:tr h="504511">
                <a:tc>
                  <a:txBody>
                    <a:bodyPr/>
                    <a:lstStyle/>
                    <a:p>
                      <a:pPr algn="l"/>
                      <a:r>
                        <a:rPr lang="zh-CN" altLang="en-US" sz="1050" b="1" dirty="0"/>
                        <a:t>应用场景</a:t>
                      </a:r>
                      <a:endParaRPr lang="zh-CN" altLang="en-US" sz="1050" b="1" dirty="0"/>
                    </a:p>
                  </a:txBody>
                  <a:tcPr/>
                </a:tc>
                <a:tc>
                  <a:txBody>
                    <a:bodyPr/>
                    <a:lstStyle/>
                    <a:p>
                      <a:pPr algn="l"/>
                      <a:r>
                        <a:rPr lang="zh-CN" altLang="en-US" sz="1050" b="1" i="0" kern="1200" dirty="0">
                          <a:solidFill>
                            <a:schemeClr val="dk1"/>
                          </a:solidFill>
                          <a:effectLst/>
                          <a:latin typeface="+mn-lt"/>
                          <a:ea typeface="+mn-ea"/>
                          <a:cs typeface="+mn-cs"/>
                        </a:rPr>
                        <a:t>服务机器人、工业自动化、人形机器人、</a:t>
                      </a:r>
                      <a:r>
                        <a:rPr lang="en-US" altLang="zh-CN" sz="1050" b="1" i="0" kern="1200" dirty="0">
                          <a:solidFill>
                            <a:schemeClr val="dk1"/>
                          </a:solidFill>
                          <a:effectLst/>
                          <a:latin typeface="+mn-lt"/>
                          <a:ea typeface="+mn-ea"/>
                          <a:cs typeface="+mn-cs"/>
                        </a:rPr>
                        <a:t>3D </a:t>
                      </a:r>
                      <a:r>
                        <a:rPr lang="zh-CN" altLang="en-US" sz="1050" b="1" i="0" kern="1200" dirty="0">
                          <a:solidFill>
                            <a:schemeClr val="dk1"/>
                          </a:solidFill>
                          <a:effectLst/>
                          <a:latin typeface="+mn-lt"/>
                          <a:ea typeface="+mn-ea"/>
                          <a:cs typeface="+mn-cs"/>
                        </a:rPr>
                        <a:t>扫描、生物识别等领域</a:t>
                      </a:r>
                      <a:endParaRPr lang="zh-CN" altLang="en-US" sz="1050" b="1" dirty="0"/>
                    </a:p>
                  </a:txBody>
                  <a:tcPr/>
                </a:tc>
                <a:tc>
                  <a:txBody>
                    <a:bodyPr/>
                    <a:lstStyle/>
                    <a:p>
                      <a:pPr algn="l"/>
                      <a:r>
                        <a:rPr lang="zh-CN" altLang="en-US" sz="1050" b="1" dirty="0"/>
                        <a:t>手机拍照、美颜、车载视觉、智能硬件等场景</a:t>
                      </a:r>
                      <a:endParaRPr lang="zh-CN" altLang="en-US" sz="1050" b="1" dirty="0"/>
                    </a:p>
                  </a:txBody>
                  <a:tcPr/>
                </a:tc>
                <a:tc>
                  <a:txBody>
                    <a:bodyPr/>
                    <a:lstStyle/>
                    <a:p>
                      <a:pPr algn="l"/>
                      <a:r>
                        <a:rPr lang="zh-CN" altLang="en-US" sz="1050" b="1" dirty="0">
                          <a:solidFill>
                            <a:srgbClr val="FF0000"/>
                          </a:solidFill>
                        </a:rPr>
                        <a:t>行动障碍者视线交互、重要场景</a:t>
                      </a:r>
                      <a:r>
                        <a:rPr lang="en-US" altLang="zh-CN" sz="1050" b="1" dirty="0">
                          <a:solidFill>
                            <a:srgbClr val="FF0000"/>
                          </a:solidFill>
                        </a:rPr>
                        <a:t>3D/4D</a:t>
                      </a:r>
                      <a:r>
                        <a:rPr lang="zh-CN" altLang="en-US" sz="1050" b="1" dirty="0">
                          <a:solidFill>
                            <a:srgbClr val="FF0000"/>
                          </a:solidFill>
                        </a:rPr>
                        <a:t>记录、工业场景工件检测和工序监测</a:t>
                      </a:r>
                      <a:endParaRPr lang="zh-CN" altLang="en-US" sz="1050" b="1" dirty="0">
                        <a:solidFill>
                          <a:srgbClr val="FF0000"/>
                        </a:solidFill>
                      </a:endParaRPr>
                    </a:p>
                  </a:txBody>
                  <a:tcPr/>
                </a:tc>
              </a:tr>
            </a:tbl>
          </a:graphicData>
        </a:graphic>
      </p:graphicFrame>
      <p:sp>
        <p:nvSpPr>
          <p:cNvPr id="6" name="文本框 15"/>
          <p:cNvSpPr txBox="1"/>
          <p:nvPr/>
        </p:nvSpPr>
        <p:spPr>
          <a:xfrm>
            <a:off x="247650" y="146685"/>
            <a:ext cx="2205990" cy="398780"/>
          </a:xfrm>
          <a:prstGeom prst="rect">
            <a:avLst/>
          </a:prstGeom>
          <a:noFill/>
        </p:spPr>
        <p:txBody>
          <a:bodyPr wrap="square" rtlCol="0">
            <a:spAutoFit/>
          </a:bodyPr>
          <a:lstStyle/>
          <a:p>
            <a:r>
              <a:rPr lang="en-US" altLang="zh-CN"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6.</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友</a:t>
            </a:r>
            <a:r>
              <a:rPr lang="zh-CN" altLang="en-US"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商</a:t>
            </a:r>
            <a:r>
              <a:rPr lang="zh-CN" altLang="en-US"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比对</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cxnSp>
        <p:nvCxnSpPr>
          <p:cNvPr id="2" name="直接连接符 1"/>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等腰三角形 16"/>
          <p:cNvSpPr/>
          <p:nvPr/>
        </p:nvSpPr>
        <p:spPr>
          <a:xfrm rot="10800000">
            <a:off x="4376319" y="2900078"/>
            <a:ext cx="391362" cy="174435"/>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205749"/>
            <a:ext cx="9144000" cy="1694329"/>
          </a:xfrm>
          <a:prstGeom prst="rect">
            <a:avLst/>
          </a:prstGeom>
        </p:spPr>
      </p:pic>
      <p:sp>
        <p:nvSpPr>
          <p:cNvPr id="21" name="文本框 46"/>
          <p:cNvSpPr txBox="1"/>
          <p:nvPr/>
        </p:nvSpPr>
        <p:spPr>
          <a:xfrm>
            <a:off x="3894824" y="1237305"/>
            <a:ext cx="1013695" cy="1630045"/>
          </a:xfrm>
          <a:prstGeom prst="rect">
            <a:avLst/>
          </a:prstGeom>
          <a:noFill/>
        </p:spPr>
        <p:txBody>
          <a:bodyPr wrap="square" rtlCol="0">
            <a:spAutoFit/>
          </a:bodyPr>
          <a:lstStyle/>
          <a:p>
            <a:pPr algn="ctr"/>
            <a:r>
              <a:rPr lang="en-US" altLang="zh-CN" sz="10000" b="1" i="1" dirty="0">
                <a:solidFill>
                  <a:schemeClr val="bg1"/>
                </a:solidFill>
                <a:effectLst>
                  <a:outerShdw blurRad="50800" dist="63500" dir="2700000" algn="tl" rotWithShape="0">
                    <a:prstClr val="black">
                      <a:alpha val="40000"/>
                    </a:prstClr>
                  </a:outerShdw>
                </a:effectLst>
                <a:latin typeface="微软雅黑" panose="020B0503020204020204" pitchFamily="34" charset="-122"/>
                <a:ea typeface="微软雅黑" panose="020B0503020204020204" pitchFamily="34" charset="-122"/>
              </a:rPr>
              <a:t>3</a:t>
            </a:r>
            <a:endParaRPr lang="zh-CN" altLang="en-US" sz="10000" b="1" i="1" dirty="0">
              <a:solidFill>
                <a:schemeClr val="bg1"/>
              </a:solidFill>
              <a:effectLst>
                <a:outerShdw blurRad="50800" dist="635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31" name="文本框 18"/>
          <p:cNvSpPr txBox="1"/>
          <p:nvPr/>
        </p:nvSpPr>
        <p:spPr>
          <a:xfrm>
            <a:off x="2993339" y="3106857"/>
            <a:ext cx="3156782" cy="475615"/>
          </a:xfrm>
          <a:prstGeom prst="rect">
            <a:avLst/>
          </a:prstGeom>
          <a:noFill/>
        </p:spPr>
        <p:txBody>
          <a:bodyPr wrap="square" rtlCol="0">
            <a:spAutoFit/>
          </a:bodyPr>
          <a:lstStyle/>
          <a:p>
            <a:pPr algn="ctr"/>
            <a:r>
              <a:rPr lang="zh-CN" altLang="en-US" sz="25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相关产品</a:t>
            </a:r>
            <a:endParaRPr lang="zh-CN" altLang="en-US" sz="25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400" advClick="0">
        <p14:doors dir="vert"/>
      </p:transition>
    </mc:Choice>
    <mc:Fallback>
      <p:transition spd="slow" advClick="0">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15"/>
          <p:cNvSpPr txBox="1"/>
          <p:nvPr/>
        </p:nvSpPr>
        <p:spPr>
          <a:xfrm>
            <a:off x="247650" y="146685"/>
            <a:ext cx="6702425" cy="398780"/>
          </a:xfrm>
          <a:prstGeom prst="rect">
            <a:avLst/>
          </a:prstGeom>
          <a:noFill/>
        </p:spPr>
        <p:txBody>
          <a:bodyPr wrap="square" rtlCol="0">
            <a:spAutoFit/>
          </a:bodyPr>
          <a:lstStyle/>
          <a:p>
            <a:pPr>
              <a:lnSpc>
                <a:spcPct val="100000"/>
              </a:lnSpc>
            </a:pPr>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1.</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辅助驾驶及作业</a:t>
            </a:r>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避障</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sp>
        <p:nvSpPr>
          <p:cNvPr id="2" name="内容占位符 2"/>
          <p:cNvSpPr txBox="1"/>
          <p:nvPr>
            <p:custDataLst>
              <p:tags r:id="rId1"/>
            </p:custDataLst>
          </p:nvPr>
        </p:nvSpPr>
        <p:spPr>
          <a:xfrm>
            <a:off x="0" y="1197610"/>
            <a:ext cx="5055235" cy="3705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285750" indent="-285750">
              <a:lnSpc>
                <a:spcPct val="120000"/>
              </a:lnSpc>
              <a:spcBef>
                <a:spcPts val="1000"/>
              </a:spcBef>
              <a:buFont typeface="Wingdings" panose="05000000000000000000" pitchFamily="2" charset="2"/>
              <a:buChar char="Ø"/>
              <a:defRPr sz="2800">
                <a:latin typeface="+mn-ea"/>
                <a:ea typeface="+mn-ea"/>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zh-CN" altLang="en-US" sz="1600" dirty="0">
                <a:latin typeface="微软雅黑" panose="020B0503020204020204" pitchFamily="34" charset="-122"/>
                <a:ea typeface="微软雅黑" panose="020B0503020204020204" pitchFamily="34" charset="-122"/>
                <a:sym typeface="+mn-ea"/>
              </a:rPr>
              <a:t>多数人不放心复杂场景下自动驾驶，人驾驶必将在很长时间内是驾驶主流。</a:t>
            </a:r>
            <a:endParaRPr lang="zh-CN" altLang="en-US" sz="1600" dirty="0">
              <a:latin typeface="微软雅黑" panose="020B0503020204020204" pitchFamily="34" charset="-122"/>
              <a:ea typeface="微软雅黑" panose="020B0503020204020204" pitchFamily="34" charset="-122"/>
              <a:sym typeface="+mn-ea"/>
            </a:endParaRPr>
          </a:p>
          <a:p>
            <a:r>
              <a:rPr lang="zh-CN" altLang="en-US" sz="1600" dirty="0">
                <a:latin typeface="微软雅黑" panose="020B0503020204020204" pitchFamily="34" charset="-122"/>
                <a:ea typeface="微软雅黑" panose="020B0503020204020204" pitchFamily="34" charset="-122"/>
                <a:sym typeface="+mn-ea"/>
              </a:rPr>
              <a:t>无需戴眼镜，摄像头捕捉视线感知驾驶员注意力变化，判断疲劳驾驶、酒驾。识别周围车辆、行人、道路线形、标志标线等</a:t>
            </a:r>
            <a:r>
              <a:rPr lang="en-US" altLang="zh-CN" sz="1600" dirty="0">
                <a:latin typeface="微软雅黑" panose="020B0503020204020204" pitchFamily="34" charset="-122"/>
                <a:ea typeface="微软雅黑" panose="020B0503020204020204" pitchFamily="34" charset="-122"/>
                <a:sym typeface="+mn-ea"/>
              </a:rPr>
              <a:t>;</a:t>
            </a:r>
            <a:r>
              <a:rPr lang="zh-CN" altLang="en-US" sz="1600" dirty="0">
                <a:latin typeface="微软雅黑" panose="020B0503020204020204" pitchFamily="34" charset="-122"/>
                <a:ea typeface="微软雅黑" panose="020B0503020204020204" pitchFamily="34" charset="-122"/>
                <a:sym typeface="+mn-ea"/>
              </a:rPr>
              <a:t>分析目标运动过程，判断碰撞、压线驾驶、危险变道、追尾等。</a:t>
            </a:r>
            <a:endParaRPr lang="zh-CN" altLang="en-US" sz="1600" dirty="0">
              <a:latin typeface="微软雅黑" panose="020B0503020204020204" pitchFamily="34" charset="-122"/>
              <a:ea typeface="微软雅黑" panose="020B0503020204020204" pitchFamily="34" charset="-122"/>
              <a:sym typeface="+mn-ea"/>
            </a:endParaRPr>
          </a:p>
          <a:p>
            <a:r>
              <a:rPr lang="zh-CN" altLang="en-US" sz="1600" dirty="0">
                <a:solidFill>
                  <a:schemeClr val="tx1"/>
                </a:solidFill>
                <a:latin typeface="微软雅黑" panose="020B0503020204020204" pitchFamily="34" charset="-122"/>
                <a:ea typeface="微软雅黑" panose="020B0503020204020204" pitchFamily="34" charset="-122"/>
                <a:sym typeface="+mn-ea"/>
              </a:rPr>
              <a:t>国内首款</a:t>
            </a:r>
            <a:r>
              <a:rPr lang="en-US" altLang="zh-CN" sz="1600" dirty="0">
                <a:solidFill>
                  <a:schemeClr val="tx1"/>
                </a:solidFill>
                <a:latin typeface="微软雅黑" panose="020B0503020204020204" pitchFamily="34" charset="-122"/>
                <a:ea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sym typeface="+mn-ea"/>
              </a:rPr>
              <a:t>感知外界异常</a:t>
            </a:r>
            <a:r>
              <a:rPr lang="en-US" altLang="zh-CN" sz="1600" dirty="0">
                <a:solidFill>
                  <a:schemeClr val="tx1"/>
                </a:solidFill>
                <a:latin typeface="微软雅黑" panose="020B0503020204020204" pitchFamily="34" charset="-122"/>
                <a:ea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sym typeface="+mn-ea"/>
              </a:rPr>
              <a:t>检测司机异常</a:t>
            </a:r>
            <a:r>
              <a:rPr lang="en-US" altLang="zh-CN" sz="1600" dirty="0">
                <a:solidFill>
                  <a:schemeClr val="tx1"/>
                </a:solidFill>
                <a:latin typeface="微软雅黑" panose="020B0503020204020204" pitchFamily="34" charset="-122"/>
                <a:ea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sym typeface="+mn-ea"/>
              </a:rPr>
              <a:t>分析司机面对外界变化的认知</a:t>
            </a:r>
            <a:r>
              <a:rPr lang="en-US" altLang="zh-CN" sz="1600" dirty="0">
                <a:solidFill>
                  <a:schemeClr val="tx1"/>
                </a:solidFill>
                <a:latin typeface="微软雅黑" panose="020B0503020204020204" pitchFamily="34" charset="-122"/>
                <a:ea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sym typeface="+mn-ea"/>
              </a:rPr>
              <a:t>产品，提供更精准的预警。</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r>
              <a:rPr lang="zh-CN" altLang="en-US" sz="1600" dirty="0">
                <a:solidFill>
                  <a:schemeClr val="tx1"/>
                </a:solidFill>
                <a:latin typeface="微软雅黑" panose="020B0503020204020204" pitchFamily="34" charset="-122"/>
                <a:ea typeface="微软雅黑" panose="020B0503020204020204" pitchFamily="34" charset="-122"/>
                <a:sym typeface="+mn-ea"/>
              </a:rPr>
              <a:t>其中，视线捕捉技术还用于人群非侵入注意力调查、作为交互手段提供重</a:t>
            </a:r>
            <a:r>
              <a:rPr lang="zh-CN" altLang="en-US" sz="1600" dirty="0">
                <a:solidFill>
                  <a:srgbClr val="FF0000"/>
                </a:solidFill>
                <a:latin typeface="微软雅黑" panose="020B0503020204020204" pitchFamily="34" charset="-122"/>
                <a:ea typeface="微软雅黑" panose="020B0503020204020204" pitchFamily="34" charset="-122"/>
                <a:sym typeface="+mn-ea"/>
              </a:rPr>
              <a:t>病人需求表达、虚拟视境交互、心理分析</a:t>
            </a:r>
            <a:r>
              <a:rPr lang="zh-CN" altLang="en-US" sz="1600" dirty="0">
                <a:solidFill>
                  <a:schemeClr val="tx1"/>
                </a:solidFill>
                <a:latin typeface="微软雅黑" panose="020B0503020204020204" pitchFamily="34" charset="-122"/>
                <a:ea typeface="微软雅黑" panose="020B0503020204020204" pitchFamily="34" charset="-122"/>
                <a:sym typeface="+mn-ea"/>
              </a:rPr>
              <a:t>，有广阔的延申市场空间。</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pic>
        <p:nvPicPr>
          <p:cNvPr id="12" name="Picture 8">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cstate="print"/>
          <a:srcRect t="1572" b="1572"/>
          <a:stretch>
            <a:fillRect/>
          </a:stretch>
        </p:blipFill>
        <p:spPr>
          <a:xfrm>
            <a:off x="5022215" y="511175"/>
            <a:ext cx="3862705" cy="2214880"/>
          </a:xfrm>
          <a:prstGeom prst="rect">
            <a:avLst/>
          </a:prstGeom>
        </p:spPr>
      </p:pic>
      <p:grpSp>
        <p:nvGrpSpPr>
          <p:cNvPr id="5" name="组合 102"/>
          <p:cNvGrpSpPr/>
          <p:nvPr/>
        </p:nvGrpSpPr>
        <p:grpSpPr>
          <a:xfrm>
            <a:off x="5215528" y="2716549"/>
            <a:ext cx="2076352" cy="1500689"/>
            <a:chOff x="698526" y="1834032"/>
            <a:chExt cx="2076352" cy="1500689"/>
          </a:xfrm>
        </p:grpSpPr>
        <p:sp>
          <p:nvSpPr>
            <p:cNvPr id="58" name="矩形: 圆角 57"/>
            <p:cNvSpPr/>
            <p:nvPr>
              <p:custDataLst>
                <p:tags r:id="rId5"/>
              </p:custDataLst>
            </p:nvPr>
          </p:nvSpPr>
          <p:spPr>
            <a:xfrm>
              <a:off x="707700" y="1834032"/>
              <a:ext cx="2067178" cy="1500689"/>
            </a:xfrm>
            <a:prstGeom prst="roundRect">
              <a:avLst>
                <a:gd name="adj" fmla="val 8256"/>
              </a:avLst>
            </a:prstGeom>
            <a:solidFill>
              <a:schemeClr val="bg1">
                <a:alpha val="95000"/>
              </a:schemeClr>
            </a:solidFill>
            <a:ln w="17336"/>
            <a:effectLst>
              <a:outerShdw blurRad="46228" dist="34671" dir="2699998"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83210" tIns="41605" rIns="83210" bIns="41605" rtlCol="0" anchor="ctr"/>
            <a:lstStyle/>
            <a:p>
              <a:pPr algn="ctr"/>
              <a:endParaRPr lang="zh-CN" altLang="en-US" sz="1640"/>
            </a:p>
          </p:txBody>
        </p:sp>
        <p:sp>
          <p:nvSpPr>
            <p:cNvPr id="59" name="矩形: 圆顶角 58"/>
            <p:cNvSpPr/>
            <p:nvPr>
              <p:custDataLst>
                <p:tags r:id="rId6"/>
              </p:custDataLst>
            </p:nvPr>
          </p:nvSpPr>
          <p:spPr>
            <a:xfrm>
              <a:off x="707699" y="1911907"/>
              <a:ext cx="2067178" cy="382972"/>
            </a:xfrm>
            <a:prstGeom prst="round2SameRect">
              <a:avLst/>
            </a:prstGeom>
            <a:gradFill>
              <a:gsLst>
                <a:gs pos="0">
                  <a:srgbClr val="2E5590">
                    <a:lumMod val="63000"/>
                  </a:srgbClr>
                </a:gs>
                <a:gs pos="100000">
                  <a:srgbClr val="2D5592"/>
                </a:gs>
              </a:gsLst>
              <a:lin ang="2700000" scaled="1"/>
            </a:gradFill>
            <a:ln>
              <a:noFill/>
            </a:ln>
            <a:effectLst>
              <a:outerShdw blurRad="46228" dist="46228" dir="5400000" algn="ctr" rotWithShape="0">
                <a:srgbClr val="234374"/>
              </a:outerShdw>
            </a:effectLst>
          </p:spPr>
          <p:style>
            <a:lnRef idx="2">
              <a:schemeClr val="accent1">
                <a:shade val="15000"/>
              </a:schemeClr>
            </a:lnRef>
            <a:fillRef idx="1">
              <a:schemeClr val="accent1"/>
            </a:fillRef>
            <a:effectRef idx="0">
              <a:schemeClr val="accent1"/>
            </a:effectRef>
            <a:fontRef idx="minor">
              <a:schemeClr val="lt1"/>
            </a:fontRef>
          </p:style>
          <p:txBody>
            <a:bodyPr lIns="83210" tIns="41605" rIns="83210" bIns="41605" rtlCol="0" anchor="ctr"/>
            <a:lstStyle/>
            <a:p>
              <a:pPr algn="ctr"/>
              <a:endParaRPr lang="zh-CN" altLang="en-US" sz="1640"/>
            </a:p>
          </p:txBody>
        </p:sp>
        <p:sp>
          <p:nvSpPr>
            <p:cNvPr id="60" name="文本框 59"/>
            <p:cNvSpPr txBox="1"/>
            <p:nvPr/>
          </p:nvSpPr>
          <p:spPr>
            <a:xfrm>
              <a:off x="907754" y="1945071"/>
              <a:ext cx="1671928" cy="308084"/>
            </a:xfrm>
            <a:prstGeom prst="rect">
              <a:avLst/>
            </a:prstGeom>
            <a:noFill/>
            <a:effectLst/>
          </p:spPr>
          <p:txBody>
            <a:bodyPr wrap="square" lIns="83210" tIns="41605" rIns="83210" bIns="41605" rtlCol="0">
              <a:spAutoFit/>
            </a:bodyPr>
            <a:lstStyle/>
            <a:p>
              <a:pPr algn="ctr"/>
              <a:r>
                <a:rPr lang="zh-CN" altLang="en-US" sz="1455" b="1" dirty="0">
                  <a:solidFill>
                    <a:schemeClr val="bg1"/>
                  </a:solidFill>
                </a:rPr>
                <a:t>监测功能</a:t>
              </a:r>
              <a:endParaRPr lang="zh-CN" altLang="en-US" sz="1455" b="1" dirty="0">
                <a:solidFill>
                  <a:schemeClr val="bg1"/>
                </a:solidFill>
              </a:endParaRPr>
            </a:p>
          </p:txBody>
        </p:sp>
        <p:sp>
          <p:nvSpPr>
            <p:cNvPr id="64" name="文本框 63"/>
            <p:cNvSpPr txBox="1"/>
            <p:nvPr/>
          </p:nvSpPr>
          <p:spPr>
            <a:xfrm>
              <a:off x="698526" y="2309552"/>
              <a:ext cx="1992300" cy="555562"/>
            </a:xfrm>
            <a:prstGeom prst="rect">
              <a:avLst/>
            </a:prstGeom>
            <a:noFill/>
            <a:effectLst/>
          </p:spPr>
          <p:txBody>
            <a:bodyPr wrap="square" lIns="83210" tIns="41605" rIns="83210" bIns="41605">
              <a:spAutoFit/>
            </a:bodyPr>
            <a:lstStyle/>
            <a:p>
              <a:pPr algn="ctr">
                <a:lnSpc>
                  <a:spcPct val="120000"/>
                </a:lnSpc>
              </a:pPr>
              <a:r>
                <a:rPr lang="zh-CN" altLang="en-US" sz="1275" b="1" dirty="0"/>
                <a:t>非侵入式测量被试者注视方向，精度达到</a:t>
              </a:r>
              <a:r>
                <a:rPr lang="en-US" altLang="zh-CN" sz="1400" b="1" dirty="0">
                  <a:solidFill>
                    <a:srgbClr val="FF0000"/>
                  </a:solidFill>
                </a:rPr>
                <a:t>3°</a:t>
              </a:r>
              <a:endParaRPr lang="zh-CN" altLang="en-US" sz="1275" b="1" dirty="0">
                <a:solidFill>
                  <a:srgbClr val="FF0000"/>
                </a:solidFill>
              </a:endParaRPr>
            </a:p>
          </p:txBody>
        </p:sp>
        <p:pic>
          <p:nvPicPr>
            <p:cNvPr id="19" name="图片 18"/>
            <p:cNvPicPr>
              <a:picLocks noChangeAspect="1"/>
            </p:cNvPicPr>
            <p:nvPr>
              <p:custDataLst>
                <p:tags r:id="rId7"/>
              </p:custDataLst>
            </p:nvPr>
          </p:nvPicPr>
          <p:blipFill>
            <a:blip r:embed="rId8" cstate="print"/>
            <a:stretch>
              <a:fillRect/>
            </a:stretch>
          </p:blipFill>
          <p:spPr>
            <a:xfrm>
              <a:off x="779568" y="2831758"/>
              <a:ext cx="625120" cy="404760"/>
            </a:xfrm>
            <a:prstGeom prst="roundRect">
              <a:avLst/>
            </a:prstGeom>
            <a:ln w="8668">
              <a:solidFill>
                <a:srgbClr val="4F81BD">
                  <a:shade val="15000"/>
                </a:srgbClr>
              </a:solidFill>
            </a:ln>
            <a:effectLst/>
          </p:spPr>
        </p:pic>
        <p:pic>
          <p:nvPicPr>
            <p:cNvPr id="65" name="图片 64"/>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rcRect t="6986" b="6986"/>
            <a:stretch>
              <a:fillRect/>
            </a:stretch>
          </p:blipFill>
          <p:spPr>
            <a:xfrm>
              <a:off x="1447906" y="2831758"/>
              <a:ext cx="625120" cy="404760"/>
            </a:xfrm>
            <a:prstGeom prst="roundRect">
              <a:avLst/>
            </a:prstGeom>
            <a:ln w="8668">
              <a:solidFill>
                <a:srgbClr val="4F81BD">
                  <a:shade val="15000"/>
                </a:srgbClr>
              </a:solidFill>
            </a:ln>
            <a:effectLst/>
          </p:spPr>
        </p:pic>
        <p:sp>
          <p:nvSpPr>
            <p:cNvPr id="14" name="Freeform 9"/>
            <p:cNvSpPr/>
            <p:nvPr>
              <p:custDataLst>
                <p:tags r:id="rId11"/>
              </p:custDataLst>
            </p:nvPr>
          </p:nvSpPr>
          <p:spPr>
            <a:xfrm>
              <a:off x="2116244" y="2831758"/>
              <a:ext cx="606063" cy="415848"/>
            </a:xfrm>
            <a:prstGeom prst="roundRect">
              <a:avLst>
                <a:gd name="adj" fmla="val 16667"/>
              </a:avLst>
            </a:prstGeom>
            <a:blipFill>
              <a:blip r:embed="rId12" cstate="print"/>
              <a:stretch>
                <a:fillRect t="-126613"/>
              </a:stretch>
            </a:blipFill>
            <a:ln w="8668">
              <a:solidFill>
                <a:srgbClr val="4F81BD">
                  <a:shade val="15000"/>
                </a:srgbClr>
              </a:solidFill>
            </a:ln>
            <a:effectLst/>
          </p:spPr>
          <p:txBody>
            <a:bodyPr lIns="83210" tIns="41605" rIns="83210" bIns="41605"/>
            <a:lstStyle/>
            <a:p>
              <a:endParaRPr lang="zh-CN" altLang="en-US" sz="1640" dirty="0">
                <a:solidFill>
                  <a:prstClr val="black"/>
                </a:solidFill>
                <a:latin typeface="Calibri" panose="020F0502020204030204"/>
                <a:ea typeface="宋体" panose="02010600030101010101" pitchFamily="2" charset="-122"/>
              </a:endParaRPr>
            </a:p>
          </p:txBody>
        </p:sp>
      </p:grpSp>
      <p:pic>
        <p:nvPicPr>
          <p:cNvPr id="182" name="图片 181"/>
          <p:cNvPicPr preferRelativeResize="0"/>
          <p:nvPr>
            <p:custDataLst>
              <p:tags r:id="rId13"/>
            </p:custDataLst>
          </p:nvPr>
        </p:nvPicPr>
        <p:blipFill>
          <a:blip r:embed="rId14" cstate="print">
            <a:extLst>
              <a:ext uri="{28A0092B-C50C-407E-A947-70E740481C1C}">
                <a14:useLocalDpi xmlns:a14="http://schemas.microsoft.com/office/drawing/2010/main" val="0"/>
              </a:ext>
            </a:extLst>
          </a:blip>
          <a:srcRect l="11617" r="16711"/>
          <a:stretch>
            <a:fillRect/>
          </a:stretch>
        </p:blipFill>
        <p:spPr>
          <a:xfrm rot="300000">
            <a:off x="7591085" y="2759016"/>
            <a:ext cx="1399686" cy="1399686"/>
          </a:xfrm>
          <a:prstGeom prst="ellipse">
            <a:avLst/>
          </a:prstGeom>
          <a:ln w="8668">
            <a:solidFill>
              <a:srgbClr val="4F81BD">
                <a:shade val="15000"/>
              </a:srgbClr>
            </a:solidFill>
          </a:ln>
          <a:effectLst/>
        </p:spPr>
      </p:pic>
      <p:grpSp>
        <p:nvGrpSpPr>
          <p:cNvPr id="8" name="组合 103"/>
          <p:cNvGrpSpPr/>
          <p:nvPr/>
        </p:nvGrpSpPr>
        <p:grpSpPr>
          <a:xfrm>
            <a:off x="6793057" y="3500774"/>
            <a:ext cx="2088787" cy="1500689"/>
            <a:chOff x="3574024" y="1834032"/>
            <a:chExt cx="2088787" cy="1500689"/>
          </a:xfrm>
        </p:grpSpPr>
        <p:sp>
          <p:nvSpPr>
            <p:cNvPr id="68" name="矩形: 圆角 67"/>
            <p:cNvSpPr/>
            <p:nvPr>
              <p:custDataLst>
                <p:tags r:id="rId15"/>
              </p:custDataLst>
            </p:nvPr>
          </p:nvSpPr>
          <p:spPr>
            <a:xfrm>
              <a:off x="3574025" y="1834032"/>
              <a:ext cx="2067178" cy="1500689"/>
            </a:xfrm>
            <a:prstGeom prst="roundRect">
              <a:avLst>
                <a:gd name="adj" fmla="val 8256"/>
              </a:avLst>
            </a:prstGeom>
            <a:solidFill>
              <a:schemeClr val="bg1">
                <a:alpha val="95000"/>
              </a:schemeClr>
            </a:solidFill>
            <a:ln w="17336"/>
            <a:effectLst>
              <a:outerShdw blurRad="46228" dist="34671" dir="2699998"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83210" tIns="41605" rIns="83210" bIns="41605" rtlCol="0" anchor="ctr"/>
            <a:lstStyle/>
            <a:p>
              <a:pPr algn="ctr"/>
              <a:endParaRPr lang="zh-CN" altLang="en-US" sz="1640"/>
            </a:p>
          </p:txBody>
        </p:sp>
        <p:sp>
          <p:nvSpPr>
            <p:cNvPr id="69" name="矩形: 圆顶角 68"/>
            <p:cNvSpPr/>
            <p:nvPr>
              <p:custDataLst>
                <p:tags r:id="rId16"/>
              </p:custDataLst>
            </p:nvPr>
          </p:nvSpPr>
          <p:spPr>
            <a:xfrm>
              <a:off x="3574024" y="1911907"/>
              <a:ext cx="2067178" cy="382972"/>
            </a:xfrm>
            <a:prstGeom prst="round2SameRect">
              <a:avLst/>
            </a:prstGeom>
            <a:gradFill>
              <a:gsLst>
                <a:gs pos="0">
                  <a:srgbClr val="2E5590">
                    <a:lumMod val="63000"/>
                  </a:srgbClr>
                </a:gs>
                <a:gs pos="100000">
                  <a:srgbClr val="2D5592"/>
                </a:gs>
              </a:gsLst>
              <a:lin ang="2700000" scaled="1"/>
            </a:gradFill>
            <a:ln>
              <a:noFill/>
            </a:ln>
            <a:effectLst>
              <a:outerShdw blurRad="46228" dist="46228" dir="5400000" algn="ctr" rotWithShape="0">
                <a:srgbClr val="234374"/>
              </a:outerShdw>
            </a:effectLst>
          </p:spPr>
          <p:style>
            <a:lnRef idx="2">
              <a:schemeClr val="accent1">
                <a:shade val="15000"/>
              </a:schemeClr>
            </a:lnRef>
            <a:fillRef idx="1">
              <a:schemeClr val="accent1"/>
            </a:fillRef>
            <a:effectRef idx="0">
              <a:schemeClr val="accent1"/>
            </a:effectRef>
            <a:fontRef idx="minor">
              <a:schemeClr val="lt1"/>
            </a:fontRef>
          </p:style>
          <p:txBody>
            <a:bodyPr lIns="83210" tIns="41605" rIns="83210" bIns="41605" rtlCol="0" anchor="ctr"/>
            <a:lstStyle/>
            <a:p>
              <a:pPr algn="ctr"/>
              <a:endParaRPr lang="zh-CN" altLang="en-US" sz="1640"/>
            </a:p>
          </p:txBody>
        </p:sp>
        <p:sp>
          <p:nvSpPr>
            <p:cNvPr id="70" name="文本框 69"/>
            <p:cNvSpPr txBox="1"/>
            <p:nvPr/>
          </p:nvSpPr>
          <p:spPr>
            <a:xfrm>
              <a:off x="3774079" y="1945071"/>
              <a:ext cx="1671928" cy="308084"/>
            </a:xfrm>
            <a:prstGeom prst="rect">
              <a:avLst/>
            </a:prstGeom>
            <a:noFill/>
            <a:effectLst/>
          </p:spPr>
          <p:txBody>
            <a:bodyPr wrap="square" lIns="83210" tIns="41605" rIns="83210" bIns="41605" rtlCol="0">
              <a:spAutoFit/>
            </a:bodyPr>
            <a:lstStyle/>
            <a:p>
              <a:pPr algn="ctr"/>
              <a:r>
                <a:rPr lang="zh-CN" altLang="en-US" sz="1455" b="1" dirty="0">
                  <a:solidFill>
                    <a:schemeClr val="bg1"/>
                  </a:solidFill>
                </a:rPr>
                <a:t>适配场景</a:t>
              </a:r>
              <a:endParaRPr lang="zh-CN" altLang="en-US" sz="1455" b="1" dirty="0">
                <a:solidFill>
                  <a:schemeClr val="bg1"/>
                </a:solidFill>
              </a:endParaRPr>
            </a:p>
          </p:txBody>
        </p:sp>
        <p:sp>
          <p:nvSpPr>
            <p:cNvPr id="71" name="文本框 70"/>
            <p:cNvSpPr txBox="1"/>
            <p:nvPr/>
          </p:nvSpPr>
          <p:spPr>
            <a:xfrm>
              <a:off x="3670511" y="2309552"/>
              <a:ext cx="1992300" cy="534246"/>
            </a:xfrm>
            <a:prstGeom prst="rect">
              <a:avLst/>
            </a:prstGeom>
            <a:noFill/>
            <a:effectLst/>
          </p:spPr>
          <p:txBody>
            <a:bodyPr wrap="square" lIns="83210" tIns="41605" rIns="83210" bIns="41605">
              <a:spAutoFit/>
            </a:bodyPr>
            <a:lstStyle/>
            <a:p>
              <a:pPr algn="ctr">
                <a:lnSpc>
                  <a:spcPct val="120000"/>
                </a:lnSpc>
              </a:pPr>
              <a:r>
                <a:rPr lang="zh-CN" altLang="en-US" sz="1275" b="1" dirty="0"/>
                <a:t>适配于</a:t>
              </a:r>
              <a:r>
                <a:rPr lang="zh-CN" altLang="en-US" sz="1275" b="1" dirty="0">
                  <a:solidFill>
                    <a:srgbClr val="C00000"/>
                  </a:solidFill>
                </a:rPr>
                <a:t>驾驶监测、导诊、避障</a:t>
              </a:r>
              <a:r>
                <a:rPr lang="zh-CN" altLang="en-US" sz="1275" b="1" dirty="0"/>
                <a:t>等多种场景</a:t>
              </a:r>
              <a:endParaRPr lang="zh-CN" altLang="en-US" sz="1275" b="1" dirty="0"/>
            </a:p>
          </p:txBody>
        </p:sp>
        <p:pic>
          <p:nvPicPr>
            <p:cNvPr id="3" name="图片 2"/>
            <p:cNvPicPr>
              <a:picLocks noChangeAspect="1"/>
            </p:cNvPicPr>
            <p:nvPr>
              <p:custDataLst>
                <p:tags r:id="rId17"/>
              </p:custDataLst>
            </p:nvPr>
          </p:nvPicPr>
          <p:blipFill>
            <a:blip r:embed="rId18" cstate="print"/>
            <a:stretch>
              <a:fillRect/>
            </a:stretch>
          </p:blipFill>
          <p:spPr>
            <a:xfrm>
              <a:off x="3645893" y="2831758"/>
              <a:ext cx="625120" cy="404760"/>
            </a:xfrm>
            <a:prstGeom prst="roundRect">
              <a:avLst/>
            </a:prstGeom>
            <a:ln w="8668">
              <a:solidFill>
                <a:srgbClr val="4F81BD">
                  <a:shade val="15000"/>
                </a:srgbClr>
              </a:solidFill>
            </a:ln>
            <a:effectLst/>
          </p:spPr>
        </p:pic>
        <p:pic>
          <p:nvPicPr>
            <p:cNvPr id="33" name="图片 32" descr="手里拿着手机&#10;&#10;AI 生成的内容可能不正确。"/>
            <p:cNvPicPr>
              <a:picLocks noChangeAspect="1"/>
            </p:cNvPicPr>
            <p:nvPr>
              <p:custDataLst>
                <p:tags r:id="rId19"/>
              </p:custDataLst>
            </p:nvPr>
          </p:nvPicPr>
          <p:blipFill>
            <a:blip r:embed="rId20" cstate="print"/>
            <a:srcRect b="31852"/>
            <a:stretch>
              <a:fillRect/>
            </a:stretch>
          </p:blipFill>
          <p:spPr>
            <a:xfrm>
              <a:off x="4314231" y="2831758"/>
              <a:ext cx="625120" cy="404760"/>
            </a:xfrm>
            <a:prstGeom prst="roundRect">
              <a:avLst/>
            </a:prstGeom>
            <a:ln w="8668">
              <a:solidFill>
                <a:srgbClr val="4F81BD">
                  <a:shade val="15000"/>
                </a:srgbClr>
              </a:solidFill>
            </a:ln>
            <a:effectLst/>
          </p:spPr>
        </p:pic>
        <p:pic>
          <p:nvPicPr>
            <p:cNvPr id="34" name="Picture 4" descr="眼睛小就不能用小鹏NGP？驾驶员监测系统为何频频帮倒忙_凤凰网汽车_凤凰网"/>
            <p:cNvPicPr>
              <a:picLocks noChangeArrowheads="1"/>
            </p:cNvPicPr>
            <p:nvPr/>
          </p:nvPicPr>
          <p:blipFill rotWithShape="1">
            <a:blip r:embed="rId21" cstate="print">
              <a:extLst>
                <a:ext uri="{28A0092B-C50C-407E-A947-70E740481C1C}">
                  <a14:useLocalDpi xmlns:a14="http://schemas.microsoft.com/office/drawing/2010/main" val="0"/>
                </a:ext>
              </a:extLst>
            </a:blip>
            <a:srcRect t="7436" r="19865" b="6945"/>
            <a:stretch>
              <a:fillRect/>
            </a:stretch>
          </p:blipFill>
          <p:spPr bwMode="auto">
            <a:xfrm>
              <a:off x="4982568" y="2831758"/>
              <a:ext cx="606063" cy="415848"/>
            </a:xfrm>
            <a:prstGeom prst="rect">
              <a:avLst/>
            </a:prstGeom>
            <a:blipFill>
              <a:blip r:embed="rId12" cstate="print"/>
              <a:stretch>
                <a:fillRect t="-126613"/>
              </a:stretch>
            </a:blipFill>
            <a:ln w="8668">
              <a:solidFill>
                <a:srgbClr val="4F81BD">
                  <a:shade val="15000"/>
                </a:srgbClr>
              </a:solidFill>
            </a:ln>
            <a:effectLst/>
          </p:spPr>
        </p:pic>
      </p:grpSp>
      <p:pic>
        <p:nvPicPr>
          <p:cNvPr id="6" name="图片 5"/>
          <p:cNvPicPr>
            <a:picLocks noChangeAspect="1"/>
          </p:cNvPicPr>
          <p:nvPr/>
        </p:nvPicPr>
        <p:blipFill>
          <a:blip r:embed="rId22" cstate="print"/>
          <a:stretch>
            <a:fillRect/>
          </a:stretch>
        </p:blipFill>
        <p:spPr>
          <a:xfrm>
            <a:off x="4933315" y="3961765"/>
            <a:ext cx="1554480" cy="1057910"/>
          </a:xfrm>
          <a:prstGeom prst="rect">
            <a:avLst/>
          </a:prstGeom>
        </p:spPr>
      </p:pic>
      <p:sp>
        <p:nvSpPr>
          <p:cNvPr id="7" name="文本框 6"/>
          <p:cNvSpPr txBox="1"/>
          <p:nvPr/>
        </p:nvSpPr>
        <p:spPr>
          <a:xfrm>
            <a:off x="424180" y="640715"/>
            <a:ext cx="3763645" cy="399415"/>
          </a:xfrm>
          <a:prstGeom prst="rect">
            <a:avLst/>
          </a:prstGeom>
          <a:noFill/>
        </p:spPr>
        <p:txBody>
          <a:bodyPr wrap="square" rtlCol="0">
            <a:noAutofit/>
          </a:bodyPr>
          <a:lstStyle/>
          <a:p>
            <a:r>
              <a:rPr lang="zh-CN" altLang="en-US" sz="2000" b="1"/>
              <a:t>驾驶辅助与视线交互应用延申</a:t>
            </a:r>
            <a:endParaRPr lang="zh-CN" altLang="en-US" sz="2000" b="1"/>
          </a:p>
        </p:txBody>
      </p:sp>
      <p:cxnSp>
        <p:nvCxnSpPr>
          <p:cNvPr id="4" name="直接连接符 3"/>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childTnLst>
            <p:video>
              <p:cMediaNode vol="100000">
                <p:cTn id="2" fill="hold" display="0">
                  <p:stCondLst>
                    <p:cond delay="indefinite"/>
                  </p:stCondLst>
                </p:cTn>
                <p:tgtEl>
                  <p:spTgt spid="12"/>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15"/>
          <p:cNvSpPr txBox="1"/>
          <p:nvPr/>
        </p:nvSpPr>
        <p:spPr>
          <a:xfrm>
            <a:off x="247650" y="146685"/>
            <a:ext cx="6702425" cy="398780"/>
          </a:xfrm>
          <a:prstGeom prst="rect">
            <a:avLst/>
          </a:prstGeom>
          <a:noFill/>
        </p:spPr>
        <p:txBody>
          <a:bodyPr wrap="square" rtlCol="0">
            <a:spAutoFit/>
          </a:bodyPr>
          <a:lstStyle/>
          <a:p>
            <a:pPr>
              <a:lnSpc>
                <a:spcPct val="100000"/>
              </a:lnSpc>
            </a:pPr>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1.</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辅助驾驶及作业</a:t>
            </a:r>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避障</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sp>
        <p:nvSpPr>
          <p:cNvPr id="2" name="内容占位符 2"/>
          <p:cNvSpPr txBox="1"/>
          <p:nvPr>
            <p:custDataLst>
              <p:tags r:id="rId1"/>
            </p:custDataLst>
          </p:nvPr>
        </p:nvSpPr>
        <p:spPr>
          <a:xfrm>
            <a:off x="117475" y="1038860"/>
            <a:ext cx="5139055" cy="386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285750" indent="-285750">
              <a:lnSpc>
                <a:spcPct val="120000"/>
              </a:lnSpc>
              <a:spcBef>
                <a:spcPts val="1000"/>
              </a:spcBef>
              <a:buFont typeface="Wingdings" panose="05000000000000000000" pitchFamily="2" charset="2"/>
              <a:buChar char="Ø"/>
              <a:defRPr sz="2800">
                <a:latin typeface="+mn-ea"/>
                <a:ea typeface="+mn-ea"/>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zh-CN" altLang="en-US" sz="1600" dirty="0">
                <a:solidFill>
                  <a:schemeClr val="tx1"/>
                </a:solidFill>
                <a:latin typeface="微软雅黑" panose="020B0503020204020204" pitchFamily="34" charset="-122"/>
                <a:ea typeface="微软雅黑" panose="020B0503020204020204" pitchFamily="34" charset="-122"/>
                <a:sym typeface="+mn-ea"/>
              </a:rPr>
              <a:t>市场上的视线捕捉距离在</a:t>
            </a:r>
            <a:r>
              <a:rPr lang="en-US" altLang="zh-CN" sz="1600" dirty="0">
                <a:solidFill>
                  <a:schemeClr val="tx1"/>
                </a:solidFill>
                <a:latin typeface="微软雅黑" panose="020B0503020204020204" pitchFamily="34" charset="-122"/>
                <a:ea typeface="微软雅黑" panose="020B0503020204020204" pitchFamily="34" charset="-122"/>
                <a:sym typeface="+mn-ea"/>
              </a:rPr>
              <a:t>60cm</a:t>
            </a:r>
            <a:r>
              <a:rPr lang="zh-CN" altLang="en-US" sz="1600" dirty="0">
                <a:solidFill>
                  <a:schemeClr val="tx1"/>
                </a:solidFill>
                <a:latin typeface="微软雅黑" panose="020B0503020204020204" pitchFamily="34" charset="-122"/>
                <a:ea typeface="微软雅黑" panose="020B0503020204020204" pitchFamily="34" charset="-122"/>
                <a:sym typeface="+mn-ea"/>
              </a:rPr>
              <a:t>左右，团队技术实现了</a:t>
            </a:r>
            <a:r>
              <a:rPr lang="en-US" altLang="zh-CN" sz="1600" dirty="0">
                <a:solidFill>
                  <a:schemeClr val="tx1"/>
                </a:solidFill>
                <a:latin typeface="微软雅黑" panose="020B0503020204020204" pitchFamily="34" charset="-122"/>
                <a:ea typeface="微软雅黑" panose="020B0503020204020204" pitchFamily="34" charset="-122"/>
                <a:sym typeface="+mn-ea"/>
              </a:rPr>
              <a:t>1</a:t>
            </a:r>
            <a:r>
              <a:rPr lang="zh-CN" altLang="en-US" sz="1600" dirty="0">
                <a:solidFill>
                  <a:schemeClr val="tx1"/>
                </a:solidFill>
                <a:latin typeface="微软雅黑" panose="020B0503020204020204" pitchFamily="34" charset="-122"/>
                <a:ea typeface="微软雅黑" panose="020B0503020204020204" pitchFamily="34" charset="-122"/>
                <a:sym typeface="+mn-ea"/>
              </a:rPr>
              <a:t>米外的捕捉，使得农机与工程车辆安装成为可能。</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r>
              <a:rPr lang="zh-CN" altLang="en-US" sz="1600" dirty="0">
                <a:latin typeface="微软雅黑" panose="020B0503020204020204" pitchFamily="34" charset="-122"/>
                <a:ea typeface="微软雅黑" panose="020B0503020204020204" pitchFamily="34" charset="-122"/>
                <a:sym typeface="+mn-ea"/>
              </a:rPr>
              <a:t>工程作业场景环境复杂，车身易失稳，倒车率高</a:t>
            </a:r>
            <a:r>
              <a:rPr lang="en-US" altLang="zh-CN" sz="1600" dirty="0">
                <a:latin typeface="微软雅黑" panose="020B0503020204020204" pitchFamily="34" charset="-122"/>
                <a:ea typeface="微软雅黑" panose="020B0503020204020204" pitchFamily="34" charset="-122"/>
                <a:sym typeface="+mn-ea"/>
              </a:rPr>
              <a:t>,</a:t>
            </a:r>
            <a:r>
              <a:rPr lang="zh-CN" altLang="en-US" sz="1600" dirty="0">
                <a:latin typeface="微软雅黑" panose="020B0503020204020204" pitchFamily="34" charset="-122"/>
                <a:ea typeface="微软雅黑" panose="020B0503020204020204" pitchFamily="34" charset="-122"/>
                <a:sym typeface="+mn-ea"/>
              </a:rPr>
              <a:t>危险难以感知，是事故高发领域。</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r>
              <a:rPr lang="zh-CN" altLang="en-US" sz="1600" dirty="0">
                <a:latin typeface="微软雅黑" panose="020B0503020204020204" pitchFamily="34" charset="-122"/>
                <a:ea typeface="微软雅黑" panose="020B0503020204020204" pitchFamily="34" charset="-122"/>
                <a:sym typeface="+mn-ea"/>
              </a:rPr>
              <a:t>农田作业按照规划路径进行，但作物生长影响路径形态，按照原路径会压倒作物，需要识别，微调路径。</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r>
              <a:rPr lang="zh-CN" altLang="en-US" sz="1600" dirty="0">
                <a:solidFill>
                  <a:schemeClr val="tx1"/>
                </a:solidFill>
                <a:latin typeface="微软雅黑" panose="020B0503020204020204" pitchFamily="34" charset="-122"/>
                <a:ea typeface="微软雅黑" panose="020B0503020204020204" pitchFamily="34" charset="-122"/>
                <a:sym typeface="+mn-ea"/>
              </a:rPr>
              <a:t>团队与雅江水电工地合作，通过</a:t>
            </a:r>
            <a:r>
              <a:rPr lang="en-US" altLang="zh-CN" sz="1600" dirty="0">
                <a:solidFill>
                  <a:schemeClr val="tx1"/>
                </a:solidFill>
                <a:latin typeface="微软雅黑" panose="020B0503020204020204" pitchFamily="34" charset="-122"/>
                <a:ea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sym typeface="+mn-ea"/>
              </a:rPr>
              <a:t>环境三维</a:t>
            </a:r>
            <a:r>
              <a:rPr lang="en-US" altLang="zh-CN" sz="1600" dirty="0">
                <a:solidFill>
                  <a:schemeClr val="tx1"/>
                </a:solidFill>
                <a:latin typeface="微软雅黑" panose="020B0503020204020204" pitchFamily="34" charset="-122"/>
                <a:ea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sym typeface="+mn-ea"/>
              </a:rPr>
              <a:t>目标识别</a:t>
            </a:r>
            <a:r>
              <a:rPr lang="en-US" altLang="zh-CN" sz="1600" dirty="0">
                <a:solidFill>
                  <a:schemeClr val="tx1"/>
                </a:solidFill>
                <a:latin typeface="微软雅黑" panose="020B0503020204020204" pitchFamily="34" charset="-122"/>
                <a:ea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sym typeface="+mn-ea"/>
              </a:rPr>
              <a:t>司机认知分析</a:t>
            </a:r>
            <a:r>
              <a:rPr lang="en-US" altLang="zh-CN" sz="1600" dirty="0">
                <a:solidFill>
                  <a:schemeClr val="tx1"/>
                </a:solidFill>
                <a:latin typeface="微软雅黑" panose="020B0503020204020204" pitchFamily="34" charset="-122"/>
                <a:ea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sym typeface="+mn-ea"/>
              </a:rPr>
              <a:t>，实现对作业车辆的安全辅助、路径调整。</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r>
              <a:rPr lang="zh-CN" altLang="en-US" sz="1600" dirty="0">
                <a:solidFill>
                  <a:schemeClr val="tx1"/>
                </a:solidFill>
                <a:latin typeface="微软雅黑" panose="020B0503020204020204" pitchFamily="34" charset="-122"/>
                <a:ea typeface="微软雅黑" panose="020B0503020204020204" pitchFamily="34" charset="-122"/>
                <a:sym typeface="+mn-ea"/>
              </a:rPr>
              <a:t>与工程机械厂商进行了磋商，将作为其所售品牌标配搭载销售，市场空间巨大。</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pic>
        <p:nvPicPr>
          <p:cNvPr id="22" name="图片 21"/>
          <p:cNvPicPr>
            <a:picLocks noChangeAspect="1"/>
          </p:cNvPicPr>
          <p:nvPr/>
        </p:nvPicPr>
        <p:blipFill>
          <a:blip r:embed="rId2" cstate="print"/>
          <a:srcRect r="13934"/>
          <a:stretch>
            <a:fillRect/>
          </a:stretch>
        </p:blipFill>
        <p:spPr>
          <a:xfrm>
            <a:off x="5195570" y="1040130"/>
            <a:ext cx="1726565" cy="1193800"/>
          </a:xfrm>
          <a:prstGeom prst="rect">
            <a:avLst/>
          </a:prstGeom>
        </p:spPr>
      </p:pic>
      <p:pic>
        <p:nvPicPr>
          <p:cNvPr id="30" name="图片 29"/>
          <p:cNvPicPr>
            <a:picLocks noChangeAspect="1"/>
          </p:cNvPicPr>
          <p:nvPr/>
        </p:nvPicPr>
        <p:blipFill>
          <a:blip r:embed="rId3" cstate="print"/>
          <a:stretch>
            <a:fillRect/>
          </a:stretch>
        </p:blipFill>
        <p:spPr>
          <a:xfrm>
            <a:off x="7055485" y="2484120"/>
            <a:ext cx="2039620" cy="1210310"/>
          </a:xfrm>
          <a:prstGeom prst="rect">
            <a:avLst/>
          </a:prstGeom>
        </p:spPr>
      </p:pic>
      <p:pic>
        <p:nvPicPr>
          <p:cNvPr id="11" name="图片 10"/>
          <p:cNvPicPr>
            <a:picLocks noChangeAspect="1"/>
          </p:cNvPicPr>
          <p:nvPr/>
        </p:nvPicPr>
        <p:blipFill>
          <a:blip r:embed="rId4" cstate="print"/>
          <a:stretch>
            <a:fillRect/>
          </a:stretch>
        </p:blipFill>
        <p:spPr>
          <a:xfrm>
            <a:off x="6997065" y="3820160"/>
            <a:ext cx="2098040" cy="1009015"/>
          </a:xfrm>
          <a:prstGeom prst="rect">
            <a:avLst/>
          </a:prstGeom>
        </p:spPr>
      </p:pic>
      <p:pic>
        <p:nvPicPr>
          <p:cNvPr id="31" name="图片 30"/>
          <p:cNvPicPr>
            <a:picLocks noChangeAspect="1"/>
          </p:cNvPicPr>
          <p:nvPr/>
        </p:nvPicPr>
        <p:blipFill>
          <a:blip r:embed="rId5" cstate="print"/>
          <a:stretch>
            <a:fillRect/>
          </a:stretch>
        </p:blipFill>
        <p:spPr>
          <a:xfrm>
            <a:off x="5271770" y="3833495"/>
            <a:ext cx="1650365" cy="1004570"/>
          </a:xfrm>
          <a:prstGeom prst="rect">
            <a:avLst/>
          </a:prstGeom>
        </p:spPr>
      </p:pic>
      <p:sp>
        <p:nvSpPr>
          <p:cNvPr id="3" name="文本框 2"/>
          <p:cNvSpPr txBox="1"/>
          <p:nvPr/>
        </p:nvSpPr>
        <p:spPr>
          <a:xfrm>
            <a:off x="424180" y="640715"/>
            <a:ext cx="3763645" cy="399415"/>
          </a:xfrm>
          <a:prstGeom prst="rect">
            <a:avLst/>
          </a:prstGeom>
          <a:noFill/>
        </p:spPr>
        <p:txBody>
          <a:bodyPr wrap="square" rtlCol="0">
            <a:noAutofit/>
          </a:bodyPr>
          <a:lstStyle/>
          <a:p>
            <a:r>
              <a:rPr lang="zh-CN" altLang="en-US" sz="2000" b="1"/>
              <a:t>农机与工程车作业情势监测系统</a:t>
            </a:r>
            <a:endParaRPr lang="zh-CN" altLang="en-US" sz="2000" b="1"/>
          </a:p>
        </p:txBody>
      </p:sp>
      <p:pic>
        <p:nvPicPr>
          <p:cNvPr id="18" name="图片 17"/>
          <p:cNvPicPr>
            <a:picLocks noChangeAspect="1"/>
          </p:cNvPicPr>
          <p:nvPr/>
        </p:nvPicPr>
        <p:blipFill>
          <a:blip r:embed="rId6" cstate="print"/>
          <a:srcRect l="44211" r="9218" b="47382"/>
          <a:stretch>
            <a:fillRect/>
          </a:stretch>
        </p:blipFill>
        <p:spPr>
          <a:xfrm>
            <a:off x="5222875" y="2451100"/>
            <a:ext cx="1832610" cy="1243330"/>
          </a:xfrm>
          <a:prstGeom prst="rect">
            <a:avLst/>
          </a:prstGeom>
        </p:spPr>
      </p:pic>
      <p:pic>
        <p:nvPicPr>
          <p:cNvPr id="5" name="图片 4"/>
          <p:cNvPicPr>
            <a:picLocks noChangeAspect="1"/>
          </p:cNvPicPr>
          <p:nvPr/>
        </p:nvPicPr>
        <p:blipFill>
          <a:blip r:embed="rId7" cstate="print"/>
          <a:srcRect l="10699"/>
          <a:stretch>
            <a:fillRect/>
          </a:stretch>
        </p:blipFill>
        <p:spPr>
          <a:xfrm>
            <a:off x="6922135" y="540385"/>
            <a:ext cx="2109470" cy="2012950"/>
          </a:xfrm>
          <a:prstGeom prst="rect">
            <a:avLst/>
          </a:prstGeom>
        </p:spPr>
      </p:pic>
      <p:cxnSp>
        <p:nvCxnSpPr>
          <p:cNvPr id="4" name="直接连接符 3"/>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lvl1pPr>
              <a:defRPr>
                <a:solidFill>
                  <a:schemeClr val="tx1"/>
                </a:solidFill>
                <a:latin typeface="Verdana" panose="020B0604030504040204" pitchFamily="34" charset="0"/>
                <a:ea typeface="微软雅黑" panose="020B0503020204020204" pitchFamily="34" charset="-122"/>
              </a:defRPr>
            </a:lvl1pPr>
            <a:lvl2pPr marL="742950" indent="-285750">
              <a:defRPr>
                <a:solidFill>
                  <a:schemeClr val="tx1"/>
                </a:solidFill>
                <a:latin typeface="Verdana" panose="020B0604030504040204" pitchFamily="34" charset="0"/>
                <a:ea typeface="微软雅黑" panose="020B0503020204020204" pitchFamily="34" charset="-122"/>
              </a:defRPr>
            </a:lvl2pPr>
            <a:lvl3pPr marL="1143000" indent="-228600">
              <a:defRPr>
                <a:solidFill>
                  <a:schemeClr val="tx1"/>
                </a:solidFill>
                <a:latin typeface="Verdana" panose="020B0604030504040204" pitchFamily="34" charset="0"/>
                <a:ea typeface="微软雅黑" panose="020B0503020204020204" pitchFamily="34" charset="-122"/>
              </a:defRPr>
            </a:lvl3pPr>
            <a:lvl4pPr marL="1600200" indent="-228600">
              <a:defRPr>
                <a:solidFill>
                  <a:schemeClr val="tx1"/>
                </a:solidFill>
                <a:latin typeface="Verdana" panose="020B0604030504040204" pitchFamily="34" charset="0"/>
                <a:ea typeface="微软雅黑" panose="020B0503020204020204" pitchFamily="34" charset="-122"/>
              </a:defRPr>
            </a:lvl4pPr>
            <a:lvl5pPr marL="2057400" indent="-228600">
              <a:defRPr>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微软雅黑" panose="020B0503020204020204" pitchFamily="34" charset="-122"/>
              </a:defRPr>
            </a:lvl9pPr>
          </a:lstStyle>
          <a:p>
            <a:fld id="{720EB9B4-7EF5-4834-AC6A-0E24A5025F7A}" type="slidenum">
              <a:rPr lang="zh-CN" altLang="en-US" sz="675"/>
            </a:fld>
            <a:r>
              <a:rPr lang="en-US" altLang="zh-CN" sz="675"/>
              <a:t>/14</a:t>
            </a:r>
            <a:endParaRPr lang="zh-CN" altLang="en-US" sz="675"/>
          </a:p>
        </p:txBody>
      </p:sp>
      <p:sp>
        <p:nvSpPr>
          <p:cNvPr id="6" name="文本框 1"/>
          <p:cNvSpPr txBox="1">
            <a:spLocks noChangeArrowheads="1"/>
          </p:cNvSpPr>
          <p:nvPr/>
        </p:nvSpPr>
        <p:spPr bwMode="auto">
          <a:xfrm>
            <a:off x="481013" y="658416"/>
            <a:ext cx="35013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eaLnBrk="1" hangingPunct="1">
              <a:lnSpc>
                <a:spcPct val="100000"/>
              </a:lnSpc>
              <a:buFontTx/>
              <a:buNone/>
              <a:defRPr sz="3600" b="1" spc="600"/>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zh-CN" altLang="en-US" sz="2000" spc="0"/>
              <a:t>交通设施巡检与路况危险识别</a:t>
            </a:r>
            <a:endParaRPr lang="zh-CN" altLang="en-US" sz="2000" dirty="0"/>
          </a:p>
        </p:txBody>
      </p:sp>
      <p:sp>
        <p:nvSpPr>
          <p:cNvPr id="7" name="内容占位符 2"/>
          <p:cNvSpPr txBox="1"/>
          <p:nvPr/>
        </p:nvSpPr>
        <p:spPr>
          <a:xfrm>
            <a:off x="163830" y="1057275"/>
            <a:ext cx="5080635" cy="2284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285750" indent="-285750">
              <a:lnSpc>
                <a:spcPct val="120000"/>
              </a:lnSpc>
              <a:spcBef>
                <a:spcPts val="1000"/>
              </a:spcBef>
              <a:buFont typeface="Wingdings" panose="05000000000000000000" pitchFamily="2" charset="2"/>
              <a:buChar char="Ø"/>
              <a:defRPr sz="2400">
                <a:latin typeface="+mn-ea"/>
                <a:ea typeface="+mn-ea"/>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zh-CN" altLang="en-US" sz="1600" dirty="0">
                <a:sym typeface="+mn-ea"/>
              </a:rPr>
              <a:t>通过巡逻车船上的拍摄视频，实时统计监测沿线的各类设施存在性，完好性和使用状态，改变以往人工巡线费时费力还统计有误的局面</a:t>
            </a:r>
            <a:r>
              <a:rPr lang="zh-CN" altLang="en-US" sz="1600" dirty="0"/>
              <a:t>。</a:t>
            </a:r>
            <a:endParaRPr lang="en-US" altLang="zh-CN" sz="1600" dirty="0"/>
          </a:p>
          <a:p>
            <a:r>
              <a:rPr lang="zh-CN" altLang="en-US" sz="1600" dirty="0"/>
              <a:t>固定摄像头群监控</a:t>
            </a:r>
            <a:r>
              <a:rPr lang="zh-CN" altLang="en-US" sz="1600" dirty="0">
                <a:sym typeface="+mn-ea"/>
              </a:rPr>
              <a:t>重点路段</a:t>
            </a:r>
            <a:r>
              <a:rPr lang="zh-CN" altLang="en-US" sz="1600" dirty="0"/>
              <a:t>，识别车辆的危险行为状态，</a:t>
            </a:r>
            <a:r>
              <a:rPr lang="zh-CN" altLang="en-US" sz="1600" dirty="0">
                <a:sym typeface="+mn-ea"/>
              </a:rPr>
              <a:t>如车辆掉物，危险行车。团队大模型监控基于复杂行为分析能力，已延申落地至多个厂家的安全监控和生产监控</a:t>
            </a:r>
            <a:r>
              <a:rPr lang="zh-CN" altLang="en-US" sz="1600" dirty="0"/>
              <a:t>。</a:t>
            </a:r>
            <a:endParaRPr lang="zh-CN" altLang="en-US" sz="1600" dirty="0"/>
          </a:p>
        </p:txBody>
      </p:sp>
      <p:pic>
        <p:nvPicPr>
          <p:cNvPr id="9" name="图片 8"/>
          <p:cNvPicPr>
            <a:picLocks noChangeAspect="1"/>
          </p:cNvPicPr>
          <p:nvPr>
            <p:custDataLst>
              <p:tags r:id="rId1"/>
            </p:custDataLst>
          </p:nvPr>
        </p:nvPicPr>
        <p:blipFill>
          <a:blip r:embed="rId2" cstate="print"/>
          <a:srcRect t="11054" r="40367"/>
          <a:stretch>
            <a:fillRect/>
          </a:stretch>
        </p:blipFill>
        <p:spPr>
          <a:xfrm>
            <a:off x="5160804" y="1149826"/>
            <a:ext cx="3670459" cy="1962150"/>
          </a:xfrm>
          <a:prstGeom prst="rect">
            <a:avLst/>
          </a:prstGeom>
        </p:spPr>
      </p:pic>
      <p:pic>
        <p:nvPicPr>
          <p:cNvPr id="10" name="图片 9"/>
          <p:cNvPicPr>
            <a:picLocks noChangeAspect="1"/>
          </p:cNvPicPr>
          <p:nvPr>
            <p:custDataLst>
              <p:tags r:id="rId3"/>
            </p:custDataLst>
          </p:nvPr>
        </p:nvPicPr>
        <p:blipFill>
          <a:blip r:embed="rId4" cstate="print"/>
          <a:srcRect b="11144"/>
          <a:stretch>
            <a:fillRect/>
          </a:stretch>
        </p:blipFill>
        <p:spPr>
          <a:xfrm>
            <a:off x="343376" y="3309461"/>
            <a:ext cx="4590098" cy="1731645"/>
          </a:xfrm>
          <a:prstGeom prst="rect">
            <a:avLst/>
          </a:prstGeom>
        </p:spPr>
      </p:pic>
      <p:sp>
        <p:nvSpPr>
          <p:cNvPr id="13" name="文本框 15"/>
          <p:cNvSpPr txBox="1"/>
          <p:nvPr/>
        </p:nvSpPr>
        <p:spPr>
          <a:xfrm>
            <a:off x="247650" y="146685"/>
            <a:ext cx="6702425" cy="398780"/>
          </a:xfrm>
          <a:prstGeom prst="rect">
            <a:avLst/>
          </a:prstGeom>
          <a:noFill/>
        </p:spPr>
        <p:txBody>
          <a:bodyPr wrap="square" rtlCol="0">
            <a:spAutoFit/>
          </a:bodyPr>
          <a:lstStyle/>
          <a:p>
            <a:pPr>
              <a:lnSpc>
                <a:spcPct val="100000"/>
              </a:lnSpc>
            </a:pPr>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2.</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交通场景安全监测</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endParaRPr>
          </a:p>
        </p:txBody>
      </p:sp>
      <p:pic>
        <p:nvPicPr>
          <p:cNvPr id="14" name="图片 13"/>
          <p:cNvPicPr>
            <a:picLocks noChangeAspect="1"/>
          </p:cNvPicPr>
          <p:nvPr/>
        </p:nvPicPr>
        <p:blipFill>
          <a:blip r:embed="rId5" cstate="print"/>
          <a:stretch>
            <a:fillRect/>
          </a:stretch>
        </p:blipFill>
        <p:spPr>
          <a:xfrm>
            <a:off x="4933315" y="3309620"/>
            <a:ext cx="3751580" cy="1725295"/>
          </a:xfrm>
          <a:prstGeom prst="rect">
            <a:avLst/>
          </a:prstGeom>
        </p:spPr>
      </p:pic>
      <p:cxnSp>
        <p:nvCxnSpPr>
          <p:cNvPr id="2" name="直接连接符 1"/>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5"/>
          <p:cNvSpPr txBox="1"/>
          <p:nvPr/>
        </p:nvSpPr>
        <p:spPr>
          <a:xfrm>
            <a:off x="247650" y="146685"/>
            <a:ext cx="6702425" cy="398780"/>
          </a:xfrm>
          <a:prstGeom prst="rect">
            <a:avLst/>
          </a:prstGeom>
          <a:noFill/>
        </p:spPr>
        <p:txBody>
          <a:bodyPr wrap="square" rtlCol="0">
            <a:spAutoFit/>
          </a:bodyPr>
          <a:lstStyle/>
          <a:p>
            <a:pPr>
              <a:lnSpc>
                <a:spcPct val="100000"/>
              </a:lnSpc>
            </a:pPr>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2.</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交通场景安全监测</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endParaRPr>
          </a:p>
        </p:txBody>
      </p:sp>
      <p:sp>
        <p:nvSpPr>
          <p:cNvPr id="11" name="文本框 1"/>
          <p:cNvSpPr txBox="1">
            <a:spLocks noChangeArrowheads="1"/>
          </p:cNvSpPr>
          <p:nvPr/>
        </p:nvSpPr>
        <p:spPr bwMode="auto">
          <a:xfrm>
            <a:off x="463074" y="580787"/>
            <a:ext cx="27355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eaLnBrk="1" hangingPunct="1">
              <a:lnSpc>
                <a:spcPct val="100000"/>
              </a:lnSpc>
              <a:buFontTx/>
              <a:buNone/>
              <a:defRPr sz="3600" b="1" spc="600"/>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pPr algn="l"/>
            <a:r>
              <a:rPr lang="zh-CN" altLang="en-US" sz="2000" spc="0"/>
              <a:t>桥梁防撞主动预警系统</a:t>
            </a:r>
            <a:endParaRPr lang="zh-CN" altLang="en-US" sz="1800" dirty="0"/>
          </a:p>
        </p:txBody>
      </p:sp>
      <p:pic>
        <p:nvPicPr>
          <p:cNvPr id="4" name="图片 3"/>
          <p:cNvPicPr>
            <a:picLocks noChangeAspect="1"/>
          </p:cNvPicPr>
          <p:nvPr/>
        </p:nvPicPr>
        <p:blipFill>
          <a:blip r:embed="rId1" cstate="print"/>
          <a:stretch>
            <a:fillRect/>
          </a:stretch>
        </p:blipFill>
        <p:spPr>
          <a:xfrm>
            <a:off x="78105" y="2157095"/>
            <a:ext cx="3120390" cy="1606550"/>
          </a:xfrm>
          <a:prstGeom prst="rect">
            <a:avLst/>
          </a:prstGeom>
        </p:spPr>
      </p:pic>
      <p:pic>
        <p:nvPicPr>
          <p:cNvPr id="14" name="图片 13"/>
          <p:cNvPicPr>
            <a:picLocks noChangeAspect="1"/>
          </p:cNvPicPr>
          <p:nvPr>
            <p:custDataLst>
              <p:tags r:id="rId2"/>
            </p:custDataLst>
          </p:nvPr>
        </p:nvPicPr>
        <p:blipFill>
          <a:blip r:embed="rId3" cstate="print"/>
          <a:stretch>
            <a:fillRect/>
          </a:stretch>
        </p:blipFill>
        <p:spPr>
          <a:xfrm>
            <a:off x="75565" y="3763645"/>
            <a:ext cx="1617980" cy="1316990"/>
          </a:xfrm>
          <a:prstGeom prst="rect">
            <a:avLst/>
          </a:prstGeom>
        </p:spPr>
      </p:pic>
      <p:pic>
        <p:nvPicPr>
          <p:cNvPr id="15" name="图片 14"/>
          <p:cNvPicPr>
            <a:picLocks noChangeAspect="1"/>
          </p:cNvPicPr>
          <p:nvPr>
            <p:custDataLst>
              <p:tags r:id="rId4"/>
            </p:custDataLst>
          </p:nvPr>
        </p:nvPicPr>
        <p:blipFill>
          <a:blip r:embed="rId5" cstate="print"/>
          <a:stretch>
            <a:fillRect/>
          </a:stretch>
        </p:blipFill>
        <p:spPr>
          <a:xfrm>
            <a:off x="5299075" y="3763645"/>
            <a:ext cx="1698625" cy="1316990"/>
          </a:xfrm>
          <a:prstGeom prst="rect">
            <a:avLst/>
          </a:prstGeom>
        </p:spPr>
      </p:pic>
      <p:sp>
        <p:nvSpPr>
          <p:cNvPr id="17" name="文本框 16"/>
          <p:cNvSpPr txBox="1"/>
          <p:nvPr/>
        </p:nvSpPr>
        <p:spPr>
          <a:xfrm>
            <a:off x="78105" y="911225"/>
            <a:ext cx="8803005" cy="1076325"/>
          </a:xfrm>
          <a:prstGeom prst="rect">
            <a:avLst/>
          </a:prstGeom>
          <a:noFill/>
        </p:spPr>
        <p:txBody>
          <a:bodyPr wrap="square" rtlCol="0">
            <a:spAutoFit/>
          </a:bodyPr>
          <a:lstStyle/>
          <a:p>
            <a:r>
              <a:rPr lang="zh-CN" altLang="en-US" sz="1600" dirty="0"/>
              <a:t>跨航道桥梁存在来自于船舶撞击导致桥梁结构损伤、倒塌的风险。团队融合物联网、人工智能等技术建立桥梁智能预警系统，已部署南京长江二桥等三座桥梁。</a:t>
            </a:r>
            <a:endParaRPr lang="zh-CN" altLang="en-US" sz="1600" dirty="0"/>
          </a:p>
          <a:p>
            <a:r>
              <a:rPr lang="zh-CN" altLang="en-US" sz="1600" dirty="0"/>
              <a:t>发送桥区信息给过桥船舶，分析船舶是否超高、超宽、偏航等，白天检测距离超过</a:t>
            </a:r>
            <a:r>
              <a:rPr lang="en-US" altLang="zh-CN" sz="1600" dirty="0"/>
              <a:t>5</a:t>
            </a:r>
            <a:r>
              <a:rPr lang="zh-CN" altLang="en-US" sz="1600" dirty="0"/>
              <a:t>公里，夜间达</a:t>
            </a:r>
            <a:r>
              <a:rPr lang="en-US" altLang="zh-CN" sz="1600" dirty="0"/>
              <a:t>1500</a:t>
            </a:r>
            <a:r>
              <a:rPr lang="zh-CN" altLang="en-US" sz="1600" dirty="0"/>
              <a:t>米，发现异常以</a:t>
            </a:r>
            <a:r>
              <a:rPr lang="en-US" altLang="zh-CN" sz="1600" dirty="0"/>
              <a:t>VHF</a:t>
            </a:r>
            <a:r>
              <a:rPr lang="zh-CN" altLang="en-US" sz="1600" dirty="0"/>
              <a:t>、</a:t>
            </a:r>
            <a:r>
              <a:rPr lang="en-US" altLang="zh-CN" sz="1600" dirty="0"/>
              <a:t>AIS</a:t>
            </a:r>
            <a:r>
              <a:rPr lang="zh-CN" altLang="en-US" sz="1600" dirty="0"/>
              <a:t>推送、声光、短信、电话等多形式通知各方</a:t>
            </a:r>
            <a:endParaRPr lang="zh-CN" altLang="en-US" sz="1600" dirty="0"/>
          </a:p>
        </p:txBody>
      </p:sp>
      <p:pic>
        <p:nvPicPr>
          <p:cNvPr id="18" name="图片 17"/>
          <p:cNvPicPr>
            <a:picLocks noChangeAspect="1"/>
          </p:cNvPicPr>
          <p:nvPr/>
        </p:nvPicPr>
        <p:blipFill>
          <a:blip r:embed="rId6" cstate="print"/>
          <a:stretch>
            <a:fillRect/>
          </a:stretch>
        </p:blipFill>
        <p:spPr>
          <a:xfrm>
            <a:off x="7182326" y="1710214"/>
            <a:ext cx="1784985" cy="3221355"/>
          </a:xfrm>
          <a:prstGeom prst="rect">
            <a:avLst/>
          </a:prstGeom>
        </p:spPr>
      </p:pic>
      <p:pic>
        <p:nvPicPr>
          <p:cNvPr id="19" name="图片 18"/>
          <p:cNvPicPr>
            <a:picLocks noChangeAspect="1"/>
          </p:cNvPicPr>
          <p:nvPr/>
        </p:nvPicPr>
        <p:blipFill>
          <a:blip r:embed="rId7" cstate="print"/>
          <a:srcRect l="17201"/>
          <a:stretch>
            <a:fillRect/>
          </a:stretch>
        </p:blipFill>
        <p:spPr>
          <a:xfrm>
            <a:off x="3198495" y="2156460"/>
            <a:ext cx="2148840" cy="1606550"/>
          </a:xfrm>
          <a:prstGeom prst="rect">
            <a:avLst/>
          </a:prstGeom>
        </p:spPr>
      </p:pic>
      <p:pic>
        <p:nvPicPr>
          <p:cNvPr id="20" name="图片 19"/>
          <p:cNvPicPr>
            <a:picLocks noChangeAspect="1"/>
          </p:cNvPicPr>
          <p:nvPr/>
        </p:nvPicPr>
        <p:blipFill>
          <a:blip r:embed="rId8" cstate="print"/>
          <a:srcRect l="3263" r="1508"/>
          <a:stretch>
            <a:fillRect/>
          </a:stretch>
        </p:blipFill>
        <p:spPr>
          <a:xfrm>
            <a:off x="1686560" y="3763645"/>
            <a:ext cx="3612515" cy="1316990"/>
          </a:xfrm>
          <a:prstGeom prst="rect">
            <a:avLst/>
          </a:prstGeom>
        </p:spPr>
      </p:pic>
      <p:pic>
        <p:nvPicPr>
          <p:cNvPr id="21" name="图片 20"/>
          <p:cNvPicPr>
            <a:picLocks noChangeAspect="1"/>
          </p:cNvPicPr>
          <p:nvPr/>
        </p:nvPicPr>
        <p:blipFill>
          <a:blip r:embed="rId9" cstate="print"/>
          <a:stretch>
            <a:fillRect/>
          </a:stretch>
        </p:blipFill>
        <p:spPr>
          <a:xfrm>
            <a:off x="5348605" y="2147570"/>
            <a:ext cx="1649095" cy="1615440"/>
          </a:xfrm>
          <a:prstGeom prst="rect">
            <a:avLst/>
          </a:prstGeom>
        </p:spPr>
      </p:pic>
      <p:cxnSp>
        <p:nvCxnSpPr>
          <p:cNvPr id="2" name="直接连接符 1"/>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 name="图片 3"/>
          <p:cNvPicPr>
            <a:picLocks noChangeAspect="1"/>
          </p:cNvPicPr>
          <p:nvPr/>
        </p:nvPicPr>
        <p:blipFill>
          <a:blip r:embed="rId1" cstate="print"/>
          <a:stretch>
            <a:fillRect/>
          </a:stretch>
        </p:blipFill>
        <p:spPr>
          <a:xfrm>
            <a:off x="5168265" y="415290"/>
            <a:ext cx="2166620" cy="1193800"/>
          </a:xfrm>
          <a:prstGeom prst="rect">
            <a:avLst/>
          </a:prstGeom>
        </p:spPr>
      </p:pic>
      <p:sp>
        <p:nvSpPr>
          <p:cNvPr id="32" name="文本框 15"/>
          <p:cNvSpPr txBox="1"/>
          <p:nvPr/>
        </p:nvSpPr>
        <p:spPr>
          <a:xfrm>
            <a:off x="247650" y="146685"/>
            <a:ext cx="6702425" cy="398780"/>
          </a:xfrm>
          <a:prstGeom prst="rect">
            <a:avLst/>
          </a:prstGeom>
          <a:noFill/>
        </p:spPr>
        <p:txBody>
          <a:bodyPr wrap="square" rtlCol="0">
            <a:spAutoFit/>
          </a:bodyPr>
          <a:lstStyle/>
          <a:p>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3.</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卡口计量、查超监测</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sp>
        <p:nvSpPr>
          <p:cNvPr id="2" name="内容占位符 2"/>
          <p:cNvSpPr txBox="1"/>
          <p:nvPr>
            <p:custDataLst>
              <p:tags r:id="rId2"/>
            </p:custDataLst>
          </p:nvPr>
        </p:nvSpPr>
        <p:spPr>
          <a:xfrm>
            <a:off x="158750" y="1042035"/>
            <a:ext cx="5055235" cy="3232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285750" indent="-285750">
              <a:lnSpc>
                <a:spcPct val="120000"/>
              </a:lnSpc>
              <a:spcBef>
                <a:spcPts val="1000"/>
              </a:spcBef>
              <a:buFont typeface="Wingdings" panose="05000000000000000000" pitchFamily="2" charset="2"/>
              <a:buChar char="Ø"/>
              <a:defRPr sz="2800">
                <a:latin typeface="+mn-ea"/>
                <a:ea typeface="+mn-ea"/>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zh-CN" altLang="en-US" sz="1600" dirty="0">
                <a:solidFill>
                  <a:schemeClr val="tx1"/>
                </a:solidFill>
                <a:latin typeface="微软雅黑" panose="020B0503020204020204" pitchFamily="34" charset="-122"/>
                <a:ea typeface="微软雅黑" panose="020B0503020204020204" pitchFamily="34" charset="-122"/>
                <a:sym typeface="+mn-ea"/>
              </a:rPr>
              <a:t>运输卡口、仓库和建筑工地，牵涉到大量</a:t>
            </a:r>
            <a:r>
              <a:rPr lang="zh-CN" altLang="en-US" sz="1600" b="1" dirty="0">
                <a:solidFill>
                  <a:srgbClr val="FF0000"/>
                </a:solidFill>
                <a:latin typeface="微软雅黑" panose="020B0503020204020204" pitchFamily="34" charset="-122"/>
                <a:ea typeface="微软雅黑" panose="020B0503020204020204" pitchFamily="34" charset="-122"/>
                <a:sym typeface="+mn-ea"/>
              </a:rPr>
              <a:t>板材</a:t>
            </a:r>
            <a:r>
              <a:rPr lang="zh-CN" altLang="en-US" sz="1600" dirty="0">
                <a:solidFill>
                  <a:schemeClr val="tx1"/>
                </a:solidFill>
                <a:latin typeface="微软雅黑" panose="020B0503020204020204" pitchFamily="34" charset="-122"/>
                <a:ea typeface="微软雅黑" panose="020B0503020204020204" pitchFamily="34" charset="-122"/>
                <a:sym typeface="+mn-ea"/>
              </a:rPr>
              <a:t>统计，板材厚薄不一，前后交错，清点不易。团队研发出产品板材手持扫描计数仪，</a:t>
            </a:r>
            <a:r>
              <a:rPr lang="zh-CN" altLang="en-US" sz="1600" b="1" dirty="0">
                <a:solidFill>
                  <a:srgbClr val="FF0000"/>
                </a:solidFill>
                <a:latin typeface="微软雅黑" panose="020B0503020204020204" pitchFamily="34" charset="-122"/>
                <a:ea typeface="微软雅黑" panose="020B0503020204020204" pitchFamily="34" charset="-122"/>
                <a:sym typeface="+mn-ea"/>
              </a:rPr>
              <a:t>目前产品无竞品</a:t>
            </a:r>
            <a:r>
              <a:rPr lang="zh-CN" altLang="en-US" sz="1600" dirty="0">
                <a:solidFill>
                  <a:schemeClr val="tx1"/>
                </a:solidFill>
                <a:latin typeface="微软雅黑" panose="020B0503020204020204" pitchFamily="34" charset="-122"/>
                <a:ea typeface="微软雅黑" panose="020B0503020204020204" pitchFamily="34" charset="-122"/>
                <a:sym typeface="+mn-ea"/>
              </a:rPr>
              <a:t>。定价</a:t>
            </a:r>
            <a:r>
              <a:rPr lang="en-US" altLang="zh-CN" sz="1600" dirty="0">
                <a:solidFill>
                  <a:schemeClr val="tx1"/>
                </a:solidFill>
                <a:latin typeface="微软雅黑" panose="020B0503020204020204" pitchFamily="34" charset="-122"/>
                <a:ea typeface="微软雅黑" panose="020B0503020204020204" pitchFamily="34" charset="-122"/>
                <a:sym typeface="+mn-ea"/>
              </a:rPr>
              <a:t>1</a:t>
            </a:r>
            <a:r>
              <a:rPr lang="zh-CN" altLang="en-US" sz="1600" dirty="0">
                <a:solidFill>
                  <a:schemeClr val="tx1"/>
                </a:solidFill>
                <a:latin typeface="微软雅黑" panose="020B0503020204020204" pitchFamily="34" charset="-122"/>
                <a:ea typeface="微软雅黑" panose="020B0503020204020204" pitchFamily="34" charset="-122"/>
                <a:sym typeface="+mn-ea"/>
              </a:rPr>
              <a:t>万元，预计年销量至少</a:t>
            </a:r>
            <a:r>
              <a:rPr lang="en-US" altLang="zh-CN" sz="1600" dirty="0">
                <a:solidFill>
                  <a:schemeClr val="tx1"/>
                </a:solidFill>
                <a:latin typeface="微软雅黑" panose="020B0503020204020204" pitchFamily="34" charset="-122"/>
                <a:ea typeface="微软雅黑" panose="020B0503020204020204" pitchFamily="34" charset="-122"/>
                <a:sym typeface="+mn-ea"/>
              </a:rPr>
              <a:t>5</a:t>
            </a:r>
            <a:r>
              <a:rPr lang="zh-CN" altLang="en-US" sz="1600" dirty="0">
                <a:solidFill>
                  <a:schemeClr val="tx1"/>
                </a:solidFill>
                <a:latin typeface="微软雅黑" panose="020B0503020204020204" pitchFamily="34" charset="-122"/>
                <a:ea typeface="微软雅黑" panose="020B0503020204020204" pitchFamily="34" charset="-122"/>
                <a:sym typeface="+mn-ea"/>
              </a:rPr>
              <a:t>千台。</a:t>
            </a:r>
            <a:endParaRPr lang="zh-CN" altLang="en-US" sz="1600" b="1" dirty="0">
              <a:solidFill>
                <a:schemeClr val="tx1"/>
              </a:solidFill>
              <a:latin typeface="微软雅黑" panose="020B0503020204020204" pitchFamily="34" charset="-122"/>
              <a:ea typeface="微软雅黑" panose="020B0503020204020204" pitchFamily="34" charset="-122"/>
              <a:sym typeface="+mn-ea"/>
            </a:endParaRPr>
          </a:p>
          <a:p>
            <a:r>
              <a:rPr lang="zh-CN" altLang="en-US" sz="1600" dirty="0">
                <a:solidFill>
                  <a:schemeClr val="tx1"/>
                </a:solidFill>
                <a:latin typeface="微软雅黑" panose="020B0503020204020204" pitchFamily="34" charset="-122"/>
                <a:ea typeface="微软雅黑" panose="020B0503020204020204" pitchFamily="34" charset="-122"/>
                <a:sym typeface="+mn-ea"/>
              </a:rPr>
              <a:t>在交通卡口，运载木材计量</a:t>
            </a:r>
            <a:r>
              <a:rPr lang="zh-CN" altLang="en-US" sz="1600" dirty="0">
                <a:latin typeface="微软雅黑" panose="020B0503020204020204" pitchFamily="34" charset="-122"/>
                <a:ea typeface="微软雅黑" panose="020B0503020204020204" pitchFamily="34" charset="-122"/>
                <a:sym typeface="+mn-ea"/>
              </a:rPr>
              <a:t>依赖人工检尺，单车次耗时长达</a:t>
            </a:r>
            <a:r>
              <a:rPr lang="en-US" altLang="zh-CN" sz="1600" dirty="0">
                <a:latin typeface="微软雅黑" panose="020B0503020204020204" pitchFamily="34" charset="-122"/>
                <a:ea typeface="微软雅黑" panose="020B0503020204020204" pitchFamily="34" charset="-122"/>
                <a:sym typeface="+mn-ea"/>
              </a:rPr>
              <a:t>30</a:t>
            </a:r>
            <a:r>
              <a:rPr lang="zh-CN" altLang="en-US" sz="1600" dirty="0">
                <a:latin typeface="微软雅黑" panose="020B0503020204020204" pitchFamily="34" charset="-122"/>
                <a:ea typeface="微软雅黑" panose="020B0503020204020204" pitchFamily="34" charset="-122"/>
                <a:sym typeface="+mn-ea"/>
              </a:rPr>
              <a:t>分钟以上。摄像机不可能放置路中间观测计数，只能在路侧观测，但原木装载前后交错，侧视无法拍到被遮挡截面。团队设置多视角相机，将各视角图像融合，并转置生成截面正视图，实现计数和计算体积，</a:t>
            </a:r>
            <a:r>
              <a:rPr lang="en-US" altLang="zh-CN" sz="1600" dirty="0">
                <a:latin typeface="微软雅黑" panose="020B0503020204020204" pitchFamily="34" charset="-122"/>
                <a:ea typeface="微软雅黑" panose="020B0503020204020204" pitchFamily="34" charset="-122"/>
                <a:sym typeface="+mn-ea"/>
              </a:rPr>
              <a:t>1</a:t>
            </a:r>
            <a:r>
              <a:rPr lang="zh-CN" altLang="en-US" sz="1600" dirty="0">
                <a:latin typeface="微软雅黑" panose="020B0503020204020204" pitchFamily="34" charset="-122"/>
                <a:ea typeface="微软雅黑" panose="020B0503020204020204" pitchFamily="34" charset="-122"/>
                <a:sym typeface="+mn-ea"/>
              </a:rPr>
              <a:t>分钟完成计量。</a:t>
            </a:r>
            <a:endParaRPr lang="zh-CN" altLang="en-US" sz="1600" dirty="0">
              <a:latin typeface="微软雅黑" panose="020B0503020204020204" pitchFamily="34" charset="-122"/>
              <a:ea typeface="微软雅黑" panose="020B0503020204020204" pitchFamily="34" charset="-122"/>
              <a:sym typeface="+mn-ea"/>
            </a:endParaRPr>
          </a:p>
          <a:p>
            <a:r>
              <a:rPr lang="zh-CN" altLang="en-US" sz="1600" dirty="0">
                <a:solidFill>
                  <a:schemeClr val="tx1"/>
                </a:solidFill>
                <a:latin typeface="微软雅黑" panose="020B0503020204020204" pitchFamily="34" charset="-122"/>
                <a:ea typeface="微软雅黑" panose="020B0503020204020204" pitchFamily="34" charset="-122"/>
                <a:sym typeface="+mn-ea"/>
              </a:rPr>
              <a:t>木检项目可用于其他</a:t>
            </a:r>
            <a:r>
              <a:rPr lang="zh-CN" altLang="en-US" sz="1600" b="1" dirty="0">
                <a:solidFill>
                  <a:srgbClr val="FF0000"/>
                </a:solidFill>
                <a:latin typeface="微软雅黑" panose="020B0503020204020204" pitchFamily="34" charset="-122"/>
                <a:ea typeface="微软雅黑" panose="020B0503020204020204" pitchFamily="34" charset="-122"/>
                <a:sym typeface="+mn-ea"/>
              </a:rPr>
              <a:t>管材</a:t>
            </a:r>
            <a:r>
              <a:rPr lang="zh-CN" altLang="en-US" sz="1600" dirty="0">
                <a:solidFill>
                  <a:schemeClr val="tx1"/>
                </a:solidFill>
                <a:latin typeface="微软雅黑" panose="020B0503020204020204" pitchFamily="34" charset="-122"/>
                <a:ea typeface="微软雅黑" panose="020B0503020204020204" pitchFamily="34" charset="-122"/>
                <a:sym typeface="+mn-ea"/>
              </a:rPr>
              <a:t>计量，是与</a:t>
            </a:r>
            <a:r>
              <a:rPr lang="zh-CN" altLang="en-US" sz="1600" b="1" dirty="0">
                <a:solidFill>
                  <a:srgbClr val="FF0000"/>
                </a:solidFill>
                <a:latin typeface="微软雅黑" panose="020B0503020204020204" pitchFamily="34" charset="-122"/>
                <a:ea typeface="微软雅黑" panose="020B0503020204020204" pitchFamily="34" charset="-122"/>
                <a:sym typeface="+mn-ea"/>
              </a:rPr>
              <a:t>亚马逊技术团队</a:t>
            </a:r>
            <a:r>
              <a:rPr lang="zh-CN" altLang="en-US" sz="1600" dirty="0">
                <a:solidFill>
                  <a:schemeClr val="tx1"/>
                </a:solidFill>
                <a:latin typeface="微软雅黑" panose="020B0503020204020204" pitchFamily="34" charset="-122"/>
                <a:ea typeface="微软雅黑" panose="020B0503020204020204" pitchFamily="34" charset="-122"/>
                <a:sym typeface="+mn-ea"/>
              </a:rPr>
              <a:t>合作研发，</a:t>
            </a:r>
            <a:r>
              <a:rPr lang="zh-CN" altLang="en-US" sz="1600" b="1" dirty="0">
                <a:solidFill>
                  <a:srgbClr val="FF0000"/>
                </a:solidFill>
                <a:latin typeface="微软雅黑" panose="020B0503020204020204" pitchFamily="34" charset="-122"/>
                <a:ea typeface="微软雅黑" panose="020B0503020204020204" pitchFamily="34" charset="-122"/>
                <a:sym typeface="+mn-ea"/>
              </a:rPr>
              <a:t>国际首创</a:t>
            </a:r>
            <a:r>
              <a:rPr lang="zh-CN" altLang="en-US" sz="1600" dirty="0">
                <a:solidFill>
                  <a:schemeClr val="tx1"/>
                </a:solidFill>
                <a:latin typeface="微软雅黑" panose="020B0503020204020204" pitchFamily="34" charset="-122"/>
                <a:ea typeface="微软雅黑" panose="020B0503020204020204" pitchFamily="34" charset="-122"/>
                <a:sym typeface="+mn-ea"/>
              </a:rPr>
              <a:t>。</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pic>
        <p:nvPicPr>
          <p:cNvPr id="14" name="图片 13"/>
          <p:cNvPicPr/>
          <p:nvPr/>
        </p:nvPicPr>
        <p:blipFill>
          <a:blip r:embed="rId3" cstate="print"/>
          <a:stretch>
            <a:fillRect/>
          </a:stretch>
        </p:blipFill>
        <p:spPr>
          <a:xfrm>
            <a:off x="8175625" y="415290"/>
            <a:ext cx="899795" cy="1195070"/>
          </a:xfrm>
          <a:prstGeom prst="rect">
            <a:avLst/>
          </a:prstGeom>
        </p:spPr>
      </p:pic>
      <p:pic>
        <p:nvPicPr>
          <p:cNvPr id="10" name="图片 9"/>
          <p:cNvPicPr>
            <a:picLocks noChangeAspect="1"/>
          </p:cNvPicPr>
          <p:nvPr/>
        </p:nvPicPr>
        <p:blipFill>
          <a:blip r:embed="rId4" cstate="print"/>
          <a:stretch>
            <a:fillRect/>
          </a:stretch>
        </p:blipFill>
        <p:spPr>
          <a:xfrm>
            <a:off x="6710045" y="1661160"/>
            <a:ext cx="2209800" cy="680085"/>
          </a:xfrm>
          <a:prstGeom prst="rect">
            <a:avLst/>
          </a:prstGeom>
        </p:spPr>
      </p:pic>
      <p:pic>
        <p:nvPicPr>
          <p:cNvPr id="31" name="图片 30"/>
          <p:cNvPicPr>
            <a:picLocks noChangeAspect="1"/>
          </p:cNvPicPr>
          <p:nvPr>
            <p:custDataLst>
              <p:tags r:id="rId5"/>
            </p:custDataLst>
          </p:nvPr>
        </p:nvPicPr>
        <p:blipFill>
          <a:blip r:embed="rId6" cstate="print"/>
          <a:stretch>
            <a:fillRect/>
          </a:stretch>
        </p:blipFill>
        <p:spPr>
          <a:xfrm>
            <a:off x="7334885" y="415290"/>
            <a:ext cx="840740" cy="1195705"/>
          </a:xfrm>
          <a:prstGeom prst="rect">
            <a:avLst/>
          </a:prstGeom>
          <a:noFill/>
          <a:ln>
            <a:noFill/>
          </a:ln>
        </p:spPr>
      </p:pic>
      <p:pic>
        <p:nvPicPr>
          <p:cNvPr id="4" name="图片 3"/>
          <p:cNvPicPr>
            <a:picLocks noChangeAspect="1"/>
          </p:cNvPicPr>
          <p:nvPr/>
        </p:nvPicPr>
        <p:blipFill>
          <a:blip r:embed="rId7" cstate="print"/>
          <a:stretch>
            <a:fillRect/>
          </a:stretch>
        </p:blipFill>
        <p:spPr>
          <a:xfrm>
            <a:off x="5544820" y="3340100"/>
            <a:ext cx="3136900" cy="1750060"/>
          </a:xfrm>
          <a:prstGeom prst="rect">
            <a:avLst/>
          </a:prstGeom>
        </p:spPr>
      </p:pic>
      <p:sp>
        <p:nvSpPr>
          <p:cNvPr id="11" name="文本框 1"/>
          <p:cNvSpPr txBox="1">
            <a:spLocks noChangeArrowheads="1"/>
          </p:cNvSpPr>
          <p:nvPr/>
        </p:nvSpPr>
        <p:spPr bwMode="auto">
          <a:xfrm>
            <a:off x="463074" y="580787"/>
            <a:ext cx="222504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eaLnBrk="1" hangingPunct="1">
              <a:lnSpc>
                <a:spcPct val="100000"/>
              </a:lnSpc>
              <a:buFontTx/>
              <a:buNone/>
              <a:defRPr sz="3600" b="1" spc="600"/>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pPr algn="l"/>
            <a:r>
              <a:rPr lang="zh-CN" altLang="en-US" sz="2000" spc="0"/>
              <a:t>公路卡口计费计量</a:t>
            </a:r>
            <a:endParaRPr lang="zh-CN" altLang="en-US" sz="2000" spc="0"/>
          </a:p>
        </p:txBody>
      </p:sp>
      <p:pic>
        <p:nvPicPr>
          <p:cNvPr id="5" name="图片 31" descr="4bda7ca4e8239b98df463b81d4e7f68a"/>
          <p:cNvPicPr>
            <a:picLocks noChangeAspect="1"/>
          </p:cNvPicPr>
          <p:nvPr/>
        </p:nvPicPr>
        <p:blipFill>
          <a:blip r:embed="rId8" cstate="print"/>
          <a:srcRect l="3998" t="9758" r="4167" b="5353"/>
          <a:stretch>
            <a:fillRect/>
          </a:stretch>
        </p:blipFill>
        <p:spPr>
          <a:xfrm>
            <a:off x="5194935" y="2373630"/>
            <a:ext cx="2650490" cy="964565"/>
          </a:xfrm>
          <a:prstGeom prst="rect">
            <a:avLst/>
          </a:prstGeom>
        </p:spPr>
      </p:pic>
      <p:pic>
        <p:nvPicPr>
          <p:cNvPr id="6" name="图片 5"/>
          <p:cNvPicPr>
            <a:picLocks noChangeAspect="1"/>
          </p:cNvPicPr>
          <p:nvPr/>
        </p:nvPicPr>
        <p:blipFill>
          <a:blip r:embed="rId9" cstate="print"/>
          <a:stretch>
            <a:fillRect/>
          </a:stretch>
        </p:blipFill>
        <p:spPr>
          <a:xfrm>
            <a:off x="5269865" y="1638300"/>
            <a:ext cx="1270635" cy="715645"/>
          </a:xfrm>
          <a:prstGeom prst="rect">
            <a:avLst/>
          </a:prstGeom>
        </p:spPr>
      </p:pic>
      <p:pic>
        <p:nvPicPr>
          <p:cNvPr id="7" name="图片 6"/>
          <p:cNvPicPr>
            <a:picLocks noChangeAspect="1"/>
          </p:cNvPicPr>
          <p:nvPr/>
        </p:nvPicPr>
        <p:blipFill>
          <a:blip r:embed="rId10" cstate="print"/>
          <a:stretch>
            <a:fillRect/>
          </a:stretch>
        </p:blipFill>
        <p:spPr>
          <a:xfrm>
            <a:off x="7971155" y="2364740"/>
            <a:ext cx="948690" cy="982345"/>
          </a:xfrm>
          <a:prstGeom prst="rect">
            <a:avLst/>
          </a:prstGeom>
        </p:spPr>
      </p:pic>
      <p:cxnSp>
        <p:nvCxnSpPr>
          <p:cNvPr id="3" name="直接连接符 2"/>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5"/>
          <p:cNvSpPr txBox="1"/>
          <p:nvPr/>
        </p:nvSpPr>
        <p:spPr>
          <a:xfrm>
            <a:off x="247650" y="146685"/>
            <a:ext cx="6702425" cy="398780"/>
          </a:xfrm>
          <a:prstGeom prst="rect">
            <a:avLst/>
          </a:prstGeom>
          <a:noFill/>
        </p:spPr>
        <p:txBody>
          <a:bodyPr wrap="square" rtlCol="0">
            <a:spAutoFit/>
          </a:bodyPr>
          <a:lstStyle/>
          <a:p>
            <a:pPr>
              <a:lnSpc>
                <a:spcPct val="100000"/>
              </a:lnSpc>
            </a:pPr>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3.</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卡口计量、查超监测</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endParaRPr>
          </a:p>
        </p:txBody>
      </p:sp>
      <p:sp>
        <p:nvSpPr>
          <p:cNvPr id="5" name="文本框 1"/>
          <p:cNvSpPr txBox="1">
            <a:spLocks noChangeArrowheads="1"/>
          </p:cNvSpPr>
          <p:nvPr/>
        </p:nvSpPr>
        <p:spPr bwMode="auto">
          <a:xfrm>
            <a:off x="481013" y="545386"/>
            <a:ext cx="35013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eaLnBrk="1" hangingPunct="1">
              <a:lnSpc>
                <a:spcPct val="100000"/>
              </a:lnSpc>
              <a:buFontTx/>
              <a:buNone/>
              <a:defRPr sz="3600" b="1" spc="600"/>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pPr algn="l"/>
            <a:r>
              <a:rPr lang="zh-CN" altLang="en-US" sz="2000" spc="0"/>
              <a:t>船名船号识别及水线高度识别</a:t>
            </a:r>
            <a:endParaRPr lang="zh-CN" altLang="en-US" sz="1600" dirty="0"/>
          </a:p>
        </p:txBody>
      </p:sp>
      <p:sp>
        <p:nvSpPr>
          <p:cNvPr id="19" name="文本框 18"/>
          <p:cNvSpPr txBox="1"/>
          <p:nvPr/>
        </p:nvSpPr>
        <p:spPr>
          <a:xfrm>
            <a:off x="456248" y="882650"/>
            <a:ext cx="8333105" cy="783590"/>
          </a:xfrm>
          <a:prstGeom prst="rect">
            <a:avLst/>
          </a:prstGeom>
          <a:noFill/>
        </p:spPr>
        <p:txBody>
          <a:bodyPr wrap="square" rtlCol="0">
            <a:spAutoFit/>
          </a:bodyPr>
          <a:lstStyle/>
          <a:p>
            <a:r>
              <a:rPr lang="en-US" altLang="zh-CN" sz="1500">
                <a:latin typeface="微软雅黑" panose="020B0503020204020204" pitchFamily="34" charset="-122"/>
                <a:ea typeface="微软雅黑" panose="020B0503020204020204" pitchFamily="34" charset="-122"/>
              </a:rPr>
              <a:t>1</a:t>
            </a:r>
            <a:r>
              <a:rPr lang="zh-CN" altLang="en-US" sz="1500">
                <a:latin typeface="微软雅黑" panose="020B0503020204020204" pitchFamily="34" charset="-122"/>
                <a:ea typeface="微软雅黑" panose="020B0503020204020204" pitchFamily="34" charset="-122"/>
              </a:rPr>
              <a:t>、</a:t>
            </a:r>
            <a:r>
              <a:rPr lang="zh-CN" sz="1500">
                <a:latin typeface="微软雅黑" panose="020B0503020204020204" pitchFamily="34" charset="-122"/>
                <a:ea typeface="微软雅黑" panose="020B0503020204020204" pitchFamily="34" charset="-122"/>
                <a:sym typeface="+mn-ea"/>
              </a:rPr>
              <a:t>识别船舶由水面到干舷的高度，据此判断船舶是否超载，目前</a:t>
            </a:r>
            <a:r>
              <a:rPr lang="en-US" altLang="zh-CN" sz="1500">
                <a:latin typeface="微软雅黑" panose="020B0503020204020204" pitchFamily="34" charset="-122"/>
                <a:ea typeface="微软雅黑" panose="020B0503020204020204" pitchFamily="34" charset="-122"/>
                <a:sym typeface="+mn-ea"/>
              </a:rPr>
              <a:t>80</a:t>
            </a:r>
            <a:r>
              <a:rPr lang="zh-CN" altLang="en-US" sz="1500">
                <a:latin typeface="微软雅黑" panose="020B0503020204020204" pitchFamily="34" charset="-122"/>
                <a:ea typeface="微软雅黑" panose="020B0503020204020204" pitchFamily="34" charset="-122"/>
                <a:sym typeface="+mn-ea"/>
              </a:rPr>
              <a:t>米外</a:t>
            </a:r>
            <a:r>
              <a:rPr lang="zh-CN" sz="1500">
                <a:latin typeface="微软雅黑" panose="020B0503020204020204" pitchFamily="34" charset="-122"/>
                <a:ea typeface="微软雅黑" panose="020B0503020204020204" pitchFamily="34" charset="-122"/>
                <a:sym typeface="+mn-ea"/>
              </a:rPr>
              <a:t>识别误差小于</a:t>
            </a:r>
            <a:r>
              <a:rPr lang="en-US" altLang="zh-CN" sz="1500">
                <a:latin typeface="微软雅黑" panose="020B0503020204020204" pitchFamily="34" charset="-122"/>
                <a:ea typeface="微软雅黑" panose="020B0503020204020204" pitchFamily="34" charset="-122"/>
                <a:sym typeface="+mn-ea"/>
              </a:rPr>
              <a:t>5</a:t>
            </a:r>
            <a:r>
              <a:rPr lang="zh-CN" altLang="en-US" sz="1500">
                <a:latin typeface="微软雅黑" panose="020B0503020204020204" pitchFamily="34" charset="-122"/>
                <a:ea typeface="微软雅黑" panose="020B0503020204020204" pitchFamily="34" charset="-122"/>
                <a:sym typeface="+mn-ea"/>
              </a:rPr>
              <a:t>厘米，优于其他家</a:t>
            </a:r>
            <a:r>
              <a:rPr lang="en-US" altLang="zh-CN" sz="1500">
                <a:latin typeface="微软雅黑" panose="020B0503020204020204" pitchFamily="34" charset="-122"/>
                <a:ea typeface="微软雅黑" panose="020B0503020204020204" pitchFamily="34" charset="-122"/>
                <a:sym typeface="+mn-ea"/>
              </a:rPr>
              <a:t>12-20</a:t>
            </a:r>
            <a:r>
              <a:rPr lang="zh-CN" altLang="en-US" sz="1500">
                <a:latin typeface="微软雅黑" panose="020B0503020204020204" pitchFamily="34" charset="-122"/>
                <a:ea typeface="微软雅黑" panose="020B0503020204020204" pitchFamily="34" charset="-122"/>
                <a:sym typeface="+mn-ea"/>
              </a:rPr>
              <a:t>厘米的检测误差。</a:t>
            </a:r>
            <a:endParaRPr lang="zh-CN" altLang="en-US" sz="1500">
              <a:latin typeface="微软雅黑" panose="020B0503020204020204" pitchFamily="34" charset="-122"/>
              <a:ea typeface="微软雅黑" panose="020B0503020204020204" pitchFamily="34" charset="-122"/>
            </a:endParaRPr>
          </a:p>
          <a:p>
            <a:r>
              <a:rPr lang="en-US" altLang="zh-CN" sz="1500">
                <a:latin typeface="微软雅黑" panose="020B0503020204020204" pitchFamily="34" charset="-122"/>
                <a:ea typeface="微软雅黑" panose="020B0503020204020204" pitchFamily="34" charset="-122"/>
              </a:rPr>
              <a:t>2</a:t>
            </a:r>
            <a:r>
              <a:rPr lang="zh-CN" altLang="en-US" sz="1500">
                <a:latin typeface="微软雅黑" panose="020B0503020204020204" pitchFamily="34" charset="-122"/>
                <a:ea typeface="微软雅黑" panose="020B0503020204020204" pitchFamily="34" charset="-122"/>
              </a:rPr>
              <a:t>、识别船舶的船名船号，通知有关方面和超载船舶接受处理。</a:t>
            </a:r>
            <a:endParaRPr lang="zh-CN" altLang="en-US" sz="1500">
              <a:latin typeface="微软雅黑" panose="020B0503020204020204" pitchFamily="34" charset="-122"/>
              <a:ea typeface="微软雅黑" panose="020B0503020204020204" pitchFamily="34" charset="-122"/>
            </a:endParaRPr>
          </a:p>
        </p:txBody>
      </p:sp>
      <p:pic>
        <p:nvPicPr>
          <p:cNvPr id="20" name="图片 19"/>
          <p:cNvPicPr>
            <a:picLocks noChangeAspect="1"/>
          </p:cNvPicPr>
          <p:nvPr/>
        </p:nvPicPr>
        <p:blipFill>
          <a:blip r:embed="rId1" cstate="print"/>
          <a:stretch>
            <a:fillRect/>
          </a:stretch>
        </p:blipFill>
        <p:spPr>
          <a:xfrm>
            <a:off x="6723380" y="1454150"/>
            <a:ext cx="2082800" cy="1117600"/>
          </a:xfrm>
          <a:prstGeom prst="rect">
            <a:avLst/>
          </a:prstGeom>
        </p:spPr>
      </p:pic>
      <p:pic>
        <p:nvPicPr>
          <p:cNvPr id="9" name="图片 8"/>
          <p:cNvPicPr>
            <a:picLocks noChangeAspect="1"/>
          </p:cNvPicPr>
          <p:nvPr>
            <p:custDataLst>
              <p:tags r:id="rId2"/>
            </p:custDataLst>
          </p:nvPr>
        </p:nvPicPr>
        <p:blipFill>
          <a:blip r:embed="rId3" cstate="print"/>
          <a:stretch>
            <a:fillRect/>
          </a:stretch>
        </p:blipFill>
        <p:spPr>
          <a:xfrm>
            <a:off x="6723380" y="2571750"/>
            <a:ext cx="2092325" cy="2353310"/>
          </a:xfrm>
          <a:prstGeom prst="rect">
            <a:avLst/>
          </a:prstGeom>
        </p:spPr>
      </p:pic>
      <p:grpSp>
        <p:nvGrpSpPr>
          <p:cNvPr id="3" name="组合 20"/>
          <p:cNvGrpSpPr/>
          <p:nvPr/>
        </p:nvGrpSpPr>
        <p:grpSpPr>
          <a:xfrm>
            <a:off x="153035" y="1666240"/>
            <a:ext cx="6569710" cy="3462655"/>
            <a:chOff x="0" y="1989"/>
            <a:chExt cx="11290" cy="5950"/>
          </a:xfrm>
        </p:grpSpPr>
        <p:pic>
          <p:nvPicPr>
            <p:cNvPr id="22" name="图片 21"/>
            <p:cNvPicPr>
              <a:picLocks noChangeAspect="1"/>
            </p:cNvPicPr>
            <p:nvPr/>
          </p:nvPicPr>
          <p:blipFill>
            <a:blip r:embed="rId4" cstate="print"/>
            <a:srcRect t="7652"/>
            <a:stretch>
              <a:fillRect/>
            </a:stretch>
          </p:blipFill>
          <p:spPr>
            <a:xfrm>
              <a:off x="0" y="1989"/>
              <a:ext cx="11291" cy="5950"/>
            </a:xfrm>
            <a:prstGeom prst="rect">
              <a:avLst/>
            </a:prstGeom>
          </p:spPr>
        </p:pic>
        <p:pic>
          <p:nvPicPr>
            <p:cNvPr id="23" name="图片 22"/>
            <p:cNvPicPr>
              <a:picLocks noChangeAspect="1"/>
            </p:cNvPicPr>
            <p:nvPr>
              <p:custDataLst>
                <p:tags r:id="rId5"/>
              </p:custDataLst>
            </p:nvPr>
          </p:nvPicPr>
          <p:blipFill>
            <a:blip r:embed="rId6" cstate="print"/>
            <a:stretch>
              <a:fillRect/>
            </a:stretch>
          </p:blipFill>
          <p:spPr>
            <a:xfrm>
              <a:off x="3081" y="3331"/>
              <a:ext cx="5208" cy="2970"/>
            </a:xfrm>
            <a:prstGeom prst="rect">
              <a:avLst/>
            </a:prstGeom>
          </p:spPr>
        </p:pic>
      </p:grpSp>
      <p:cxnSp>
        <p:nvCxnSpPr>
          <p:cNvPr id="2" name="直接连接符 1"/>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5"/>
          <p:cNvSpPr txBox="1"/>
          <p:nvPr/>
        </p:nvSpPr>
        <p:spPr>
          <a:xfrm>
            <a:off x="247650" y="146685"/>
            <a:ext cx="6702425" cy="398780"/>
          </a:xfrm>
          <a:prstGeom prst="rect">
            <a:avLst/>
          </a:prstGeom>
          <a:noFill/>
        </p:spPr>
        <p:txBody>
          <a:bodyPr wrap="square" rtlCol="0">
            <a:spAutoFit/>
          </a:bodyPr>
          <a:lstStyle/>
          <a:p>
            <a:pPr>
              <a:lnSpc>
                <a:spcPct val="100000"/>
              </a:lnSpc>
            </a:pPr>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4.</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交通目标测量与监控</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nvPicPr>
        <p:blipFill>
          <a:blip r:embed="rId1" cstate="print"/>
          <a:stretch>
            <a:fillRect/>
          </a:stretch>
        </p:blipFill>
        <p:spPr>
          <a:xfrm>
            <a:off x="6185535" y="2947035"/>
            <a:ext cx="2891155" cy="1777365"/>
          </a:xfrm>
          <a:prstGeom prst="rect">
            <a:avLst/>
          </a:prstGeom>
        </p:spPr>
      </p:pic>
      <p:sp>
        <p:nvSpPr>
          <p:cNvPr id="4" name="内容占位符 2"/>
          <p:cNvSpPr txBox="1"/>
          <p:nvPr>
            <p:custDataLst>
              <p:tags r:id="rId2"/>
            </p:custDataLst>
          </p:nvPr>
        </p:nvSpPr>
        <p:spPr>
          <a:xfrm>
            <a:off x="158750" y="1042035"/>
            <a:ext cx="5055235" cy="3827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285750" indent="-285750">
              <a:lnSpc>
                <a:spcPct val="120000"/>
              </a:lnSpc>
              <a:spcBef>
                <a:spcPts val="1000"/>
              </a:spcBef>
              <a:buFont typeface="Wingdings" panose="05000000000000000000" pitchFamily="2" charset="2"/>
              <a:buChar char="Ø"/>
              <a:defRPr sz="2800">
                <a:latin typeface="+mn-ea"/>
                <a:ea typeface="+mn-ea"/>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zh-CN" altLang="en-US" sz="1600" dirty="0">
                <a:latin typeface="微软雅黑" panose="020B0503020204020204" pitchFamily="34" charset="-122"/>
                <a:ea typeface="微软雅黑" panose="020B0503020204020204" pitchFamily="34" charset="-122"/>
                <a:sym typeface="+mn-ea"/>
              </a:rPr>
              <a:t>减速器是铁路货运</a:t>
            </a:r>
            <a:r>
              <a:rPr lang="zh-CN" altLang="en-US" sz="1600" dirty="0">
                <a:solidFill>
                  <a:schemeClr val="tx1"/>
                </a:solidFill>
                <a:latin typeface="微软雅黑" panose="020B0503020204020204" pitchFamily="34" charset="-122"/>
                <a:ea typeface="微软雅黑" panose="020B0503020204020204" pitchFamily="34" charset="-122"/>
                <a:sym typeface="+mn-ea"/>
              </a:rPr>
              <a:t>驼峰编组站的关键调速设备，制动轨通过高强度螺栓联接为整体受力框架。</a:t>
            </a:r>
            <a:r>
              <a:rPr lang="zh-CN" altLang="en-US" sz="1600" dirty="0">
                <a:solidFill>
                  <a:srgbClr val="FF0000"/>
                </a:solidFill>
                <a:latin typeface="微软雅黑" panose="020B0503020204020204" pitchFamily="34" charset="-122"/>
                <a:ea typeface="微软雅黑" panose="020B0503020204020204" pitchFamily="34" charset="-122"/>
                <a:sym typeface="+mn-ea"/>
              </a:rPr>
              <a:t>其开距和螺栓的紧固状态</a:t>
            </a:r>
            <a:r>
              <a:rPr lang="zh-CN" altLang="en-US" sz="1600" dirty="0">
                <a:solidFill>
                  <a:schemeClr val="tx1"/>
                </a:solidFill>
                <a:latin typeface="微软雅黑" panose="020B0503020204020204" pitchFamily="34" charset="-122"/>
                <a:ea typeface="微软雅黑" panose="020B0503020204020204" pitchFamily="34" charset="-122"/>
                <a:sym typeface="+mn-ea"/>
              </a:rPr>
              <a:t>决定了这一框架的动力学特性，开距过大和</a:t>
            </a:r>
            <a:r>
              <a:rPr lang="zh-CN" altLang="en-US" sz="1600" dirty="0">
                <a:latin typeface="微软雅黑" panose="020B0503020204020204" pitchFamily="34" charset="-122"/>
                <a:ea typeface="微软雅黑" panose="020B0503020204020204" pitchFamily="34" charset="-122"/>
                <a:sym typeface="+mn-ea"/>
              </a:rPr>
              <a:t>螺栓</a:t>
            </a:r>
            <a:r>
              <a:rPr lang="zh-CN" altLang="en-US" sz="1600" dirty="0">
                <a:solidFill>
                  <a:schemeClr val="tx1"/>
                </a:solidFill>
                <a:latin typeface="微软雅黑" panose="020B0503020204020204" pitchFamily="34" charset="-122"/>
                <a:ea typeface="微软雅黑" panose="020B0503020204020204" pitchFamily="34" charset="-122"/>
                <a:sym typeface="+mn-ea"/>
              </a:rPr>
              <a:t>松动会引发功能失效：</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r>
              <a:rPr lang="zh-CN" altLang="en-US" sz="1600" dirty="0">
                <a:solidFill>
                  <a:schemeClr val="tx1"/>
                </a:solidFill>
                <a:latin typeface="微软雅黑" panose="020B0503020204020204" pitchFamily="34" charset="-122"/>
                <a:ea typeface="微软雅黑" panose="020B0503020204020204" pitchFamily="34" charset="-122"/>
                <a:sym typeface="+mn-ea"/>
              </a:rPr>
              <a:t>由于编组站作业繁忙，设备检修时间窗口极为有限，当前为人工检测，存在难以及时掌握设备的真实运行状况、检测效率低、数据缺失等问题，团队通过模型实现高精度检测，技术国内领先。</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r>
              <a:rPr lang="zh-CN" altLang="en-US" sz="1600" dirty="0">
                <a:solidFill>
                  <a:schemeClr val="tx1"/>
                </a:solidFill>
                <a:latin typeface="微软雅黑" panose="020B0503020204020204" pitchFamily="34" charset="-122"/>
                <a:ea typeface="微软雅黑" panose="020B0503020204020204" pitchFamily="34" charset="-122"/>
                <a:sym typeface="+mn-ea"/>
              </a:rPr>
              <a:t>目前已通过路局验收，计划在路局范围内全面实施。</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r>
              <a:rPr lang="zh-CN" altLang="en-US" sz="1600" dirty="0">
                <a:solidFill>
                  <a:schemeClr val="tx1"/>
                </a:solidFill>
                <a:latin typeface="微软雅黑" panose="020B0503020204020204" pitchFamily="34" charset="-122"/>
                <a:ea typeface="微软雅黑" panose="020B0503020204020204" pitchFamily="34" charset="-122"/>
                <a:sym typeface="+mn-ea"/>
              </a:rPr>
              <a:t>该项技术可延申用于工业产品质检，实现外观、尺度、布局方面的监测，已落地</a:t>
            </a:r>
            <a:r>
              <a:rPr lang="zh-CN" altLang="en-US" sz="1600" b="1" dirty="0">
                <a:solidFill>
                  <a:srgbClr val="FF0000"/>
                </a:solidFill>
                <a:latin typeface="微软雅黑" panose="020B0503020204020204" pitchFamily="34" charset="-122"/>
                <a:ea typeface="微软雅黑" panose="020B0503020204020204" pitchFamily="34" charset="-122"/>
                <a:sym typeface="+mn-ea"/>
              </a:rPr>
              <a:t>比亚迪</a:t>
            </a:r>
            <a:r>
              <a:rPr lang="zh-CN" altLang="en-US" sz="1600" dirty="0">
                <a:solidFill>
                  <a:schemeClr val="tx1"/>
                </a:solidFill>
                <a:latin typeface="微软雅黑" panose="020B0503020204020204" pitchFamily="34" charset="-122"/>
                <a:ea typeface="微软雅黑" panose="020B0503020204020204" pitchFamily="34" charset="-122"/>
                <a:sym typeface="+mn-ea"/>
              </a:rPr>
              <a:t>门锁等</a:t>
            </a:r>
            <a:r>
              <a:rPr lang="en-US" altLang="zh-CN" sz="1600" dirty="0">
                <a:solidFill>
                  <a:schemeClr val="tx1"/>
                </a:solidFill>
                <a:latin typeface="微软雅黑" panose="020B0503020204020204" pitchFamily="34" charset="-122"/>
                <a:ea typeface="微软雅黑" panose="020B0503020204020204" pitchFamily="34" charset="-122"/>
                <a:sym typeface="+mn-ea"/>
              </a:rPr>
              <a:t>3</a:t>
            </a:r>
            <a:r>
              <a:rPr lang="zh-CN" altLang="en-US" sz="1600" dirty="0">
                <a:solidFill>
                  <a:schemeClr val="tx1"/>
                </a:solidFill>
                <a:latin typeface="微软雅黑" panose="020B0503020204020204" pitchFamily="34" charset="-122"/>
                <a:ea typeface="微软雅黑" panose="020B0503020204020204" pitchFamily="34" charset="-122"/>
                <a:sym typeface="+mn-ea"/>
              </a:rPr>
              <a:t>家企业产品检测。</a:t>
            </a:r>
            <a:endParaRPr lang="zh-CN" altLang="en-US" sz="1600" b="1" dirty="0">
              <a:solidFill>
                <a:schemeClr val="tx1"/>
              </a:solidFill>
              <a:latin typeface="微软雅黑" panose="020B0503020204020204" pitchFamily="34" charset="-122"/>
              <a:ea typeface="微软雅黑" panose="020B0503020204020204" pitchFamily="34" charset="-122"/>
              <a:sym typeface="+mn-ea"/>
            </a:endParaRPr>
          </a:p>
          <a:p>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sp>
        <p:nvSpPr>
          <p:cNvPr id="11" name="文本框 1"/>
          <p:cNvSpPr txBox="1">
            <a:spLocks noChangeArrowheads="1"/>
          </p:cNvSpPr>
          <p:nvPr/>
        </p:nvSpPr>
        <p:spPr bwMode="auto">
          <a:xfrm>
            <a:off x="463074" y="580787"/>
            <a:ext cx="35013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eaLnBrk="1" hangingPunct="1">
              <a:lnSpc>
                <a:spcPct val="100000"/>
              </a:lnSpc>
              <a:buFontTx/>
              <a:buNone/>
              <a:defRPr sz="3600" b="1" spc="600"/>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pPr algn="l"/>
            <a:r>
              <a:rPr lang="zh-CN" altLang="en-US" sz="2000" spc="0"/>
              <a:t>上海路局驼峰紧固性监测系统</a:t>
            </a:r>
            <a:endParaRPr lang="zh-CN" altLang="en-US" sz="2000" spc="0"/>
          </a:p>
        </p:txBody>
      </p:sp>
      <p:pic>
        <p:nvPicPr>
          <p:cNvPr id="5" name="图片 4"/>
          <p:cNvPicPr>
            <a:picLocks noChangeAspect="1"/>
          </p:cNvPicPr>
          <p:nvPr/>
        </p:nvPicPr>
        <p:blipFill>
          <a:blip r:embed="rId3" cstate="print"/>
          <a:stretch>
            <a:fillRect/>
          </a:stretch>
        </p:blipFill>
        <p:spPr>
          <a:xfrm>
            <a:off x="5111115" y="3725545"/>
            <a:ext cx="998220" cy="990600"/>
          </a:xfrm>
          <a:prstGeom prst="rect">
            <a:avLst/>
          </a:prstGeom>
        </p:spPr>
      </p:pic>
      <p:pic>
        <p:nvPicPr>
          <p:cNvPr id="1170956386" name="图片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5111115" y="2947035"/>
            <a:ext cx="1012825" cy="760730"/>
          </a:xfrm>
          <a:prstGeom prst="rect">
            <a:avLst/>
          </a:prstGeom>
          <a:noFill/>
          <a:ln>
            <a:noFill/>
          </a:ln>
        </p:spPr>
      </p:pic>
      <p:pic>
        <p:nvPicPr>
          <p:cNvPr id="4707968" name="图片 1"/>
          <p:cNvPicPr>
            <a:picLocks noChangeAspect="1" noChangeArrowheads="1"/>
          </p:cNvPicPr>
          <p:nvPr/>
        </p:nvPicPr>
        <p:blipFill>
          <a:blip r:embed="rId5" cstate="print">
            <a:extLst>
              <a:ext uri="{28A0092B-C50C-407E-A947-70E740481C1C}">
                <a14:useLocalDpi xmlns:a14="http://schemas.microsoft.com/office/drawing/2010/main" val="0"/>
              </a:ext>
            </a:extLst>
          </a:blip>
          <a:srcRect t="4983"/>
          <a:stretch>
            <a:fillRect/>
          </a:stretch>
        </p:blipFill>
        <p:spPr>
          <a:xfrm>
            <a:off x="5111115" y="656590"/>
            <a:ext cx="3966210" cy="2290445"/>
          </a:xfrm>
          <a:prstGeom prst="rect">
            <a:avLst/>
          </a:prstGeom>
          <a:noFill/>
          <a:ln>
            <a:noFill/>
          </a:ln>
        </p:spPr>
      </p:pic>
      <p:cxnSp>
        <p:nvCxnSpPr>
          <p:cNvPr id="3" name="直接连接符 2"/>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5"/>
          <p:cNvSpPr txBox="1"/>
          <p:nvPr/>
        </p:nvSpPr>
        <p:spPr>
          <a:xfrm>
            <a:off x="247650" y="146685"/>
            <a:ext cx="6702425" cy="398780"/>
          </a:xfrm>
          <a:prstGeom prst="rect">
            <a:avLst/>
          </a:prstGeom>
          <a:noFill/>
        </p:spPr>
        <p:txBody>
          <a:bodyPr wrap="square" rtlCol="0">
            <a:spAutoFit/>
          </a:bodyPr>
          <a:lstStyle/>
          <a:p>
            <a:pPr>
              <a:lnSpc>
                <a:spcPct val="100000"/>
              </a:lnSpc>
            </a:pPr>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5.</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交通复合行为分析与监测</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endParaRPr>
          </a:p>
        </p:txBody>
      </p:sp>
      <p:sp>
        <p:nvSpPr>
          <p:cNvPr id="4" name="内容占位符 2"/>
          <p:cNvSpPr txBox="1"/>
          <p:nvPr>
            <p:custDataLst>
              <p:tags r:id="rId1"/>
            </p:custDataLst>
          </p:nvPr>
        </p:nvSpPr>
        <p:spPr>
          <a:xfrm>
            <a:off x="158750" y="1135380"/>
            <a:ext cx="5055235" cy="3827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285750" indent="-285750">
              <a:lnSpc>
                <a:spcPct val="120000"/>
              </a:lnSpc>
              <a:spcBef>
                <a:spcPts val="1000"/>
              </a:spcBef>
              <a:buFont typeface="Wingdings" panose="05000000000000000000" pitchFamily="2" charset="2"/>
              <a:buChar char="Ø"/>
              <a:defRPr sz="2800">
                <a:latin typeface="+mn-ea"/>
                <a:ea typeface="+mn-ea"/>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zh-CN" altLang="en-US" sz="1600" dirty="0">
                <a:solidFill>
                  <a:schemeClr val="tx1"/>
                </a:solidFill>
                <a:latin typeface="微软雅黑" panose="020B0503020204020204" pitchFamily="34" charset="-122"/>
                <a:ea typeface="微软雅黑" panose="020B0503020204020204" pitchFamily="34" charset="-122"/>
                <a:sym typeface="+mn-ea"/>
              </a:rPr>
              <a:t>监测驾驶过程中人的行为，包括禁止哪些事，哪些要做的事做了没有、做的规范性、前后顺序等。</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r>
              <a:rPr lang="zh-CN" altLang="en-US" sz="1600" dirty="0">
                <a:solidFill>
                  <a:schemeClr val="tx1"/>
                </a:solidFill>
                <a:latin typeface="微软雅黑" panose="020B0503020204020204" pitchFamily="34" charset="-122"/>
                <a:ea typeface="微软雅黑" panose="020B0503020204020204" pitchFamily="34" charset="-122"/>
                <a:sym typeface="+mn-ea"/>
              </a:rPr>
              <a:t>右图展示通过</a:t>
            </a:r>
            <a:r>
              <a:rPr lang="zh-CN" altLang="en-US" sz="1600" dirty="0">
                <a:latin typeface="微软雅黑" panose="020B0503020204020204" pitchFamily="34" charset="-122"/>
                <a:ea typeface="微软雅黑" panose="020B0503020204020204" pitchFamily="34" charset="-122"/>
                <a:sym typeface="+mn-ea"/>
              </a:rPr>
              <a:t>时空联合建模，对</a:t>
            </a:r>
            <a:r>
              <a:rPr lang="zh-CN" altLang="en-US" sz="1600" dirty="0">
                <a:solidFill>
                  <a:schemeClr val="tx1"/>
                </a:solidFill>
                <a:latin typeface="微软雅黑" panose="020B0503020204020204" pitchFamily="34" charset="-122"/>
                <a:ea typeface="微软雅黑" panose="020B0503020204020204" pitchFamily="34" charset="-122"/>
                <a:sym typeface="+mn-ea"/>
              </a:rPr>
              <a:t>驾驶室场景中实时定位像档杆、手刹、点火区域、安全带卡扣等关键物体：基于有限状态机（</a:t>
            </a:r>
            <a:r>
              <a:rPr lang="en-US" altLang="zh-CN" sz="1600" dirty="0">
                <a:solidFill>
                  <a:schemeClr val="tx1"/>
                </a:solidFill>
                <a:latin typeface="微软雅黑" panose="020B0503020204020204" pitchFamily="34" charset="-122"/>
                <a:ea typeface="微软雅黑" panose="020B0503020204020204" pitchFamily="34" charset="-122"/>
                <a:sym typeface="+mn-ea"/>
              </a:rPr>
              <a:t>FSM</a:t>
            </a:r>
            <a:r>
              <a:rPr lang="zh-CN" altLang="en-US" sz="1600" dirty="0">
                <a:solidFill>
                  <a:schemeClr val="tx1"/>
                </a:solidFill>
                <a:latin typeface="微软雅黑" panose="020B0503020204020204" pitchFamily="34" charset="-122"/>
                <a:ea typeface="微软雅黑" panose="020B0503020204020204" pitchFamily="34" charset="-122"/>
                <a:sym typeface="+mn-ea"/>
              </a:rPr>
              <a:t>），通过预先定义好</a:t>
            </a:r>
            <a:r>
              <a:rPr lang="zh-CN" altLang="en-US" sz="1600" dirty="0">
                <a:latin typeface="微软雅黑" panose="020B0503020204020204" pitchFamily="34" charset="-122"/>
                <a:ea typeface="微软雅黑" panose="020B0503020204020204" pitchFamily="34" charset="-122"/>
                <a:sym typeface="+mn-ea"/>
              </a:rPr>
              <a:t>的</a:t>
            </a:r>
            <a:r>
              <a:rPr lang="zh-CN" altLang="en-US" sz="1600" dirty="0">
                <a:solidFill>
                  <a:schemeClr val="tx1"/>
                </a:solidFill>
                <a:latin typeface="微软雅黑" panose="020B0503020204020204" pitchFamily="34" charset="-122"/>
                <a:ea typeface="微软雅黑" panose="020B0503020204020204" pitchFamily="34" charset="-122"/>
                <a:sym typeface="+mn-ea"/>
              </a:rPr>
              <a:t>启动操作流程，实时检查交互顺序是否合规。</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r>
              <a:rPr lang="zh-CN" altLang="en-US" sz="1600" dirty="0">
                <a:solidFill>
                  <a:schemeClr val="tx1"/>
                </a:solidFill>
                <a:latin typeface="微软雅黑" panose="020B0503020204020204" pitchFamily="34" charset="-122"/>
                <a:ea typeface="微软雅黑" panose="020B0503020204020204" pitchFamily="34" charset="-122"/>
                <a:sym typeface="+mn-ea"/>
              </a:rPr>
              <a:t>目前项目正在某驾校进行实测。</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r>
              <a:rPr lang="zh-CN" altLang="en-US" sz="1600" dirty="0">
                <a:solidFill>
                  <a:schemeClr val="tx1"/>
                </a:solidFill>
                <a:latin typeface="微软雅黑" panose="020B0503020204020204" pitchFamily="34" charset="-122"/>
                <a:ea typeface="微软雅黑" panose="020B0503020204020204" pitchFamily="34" charset="-122"/>
                <a:sym typeface="+mn-ea"/>
              </a:rPr>
              <a:t>该技术还实施于某著名食品厂的进车间安全卫生穿戴及动作检查，以及某制药厂实验室的实验步骤规范性检查。</a:t>
            </a:r>
            <a:endParaRPr lang="zh-CN" altLang="en-US" sz="1600" b="1" dirty="0">
              <a:solidFill>
                <a:schemeClr val="tx1"/>
              </a:solidFill>
              <a:latin typeface="微软雅黑" panose="020B0503020204020204" pitchFamily="34" charset="-122"/>
              <a:ea typeface="微软雅黑" panose="020B0503020204020204" pitchFamily="34" charset="-122"/>
              <a:sym typeface="+mn-ea"/>
            </a:endParaRPr>
          </a:p>
          <a:p>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sp>
        <p:nvSpPr>
          <p:cNvPr id="11" name="文本框 1"/>
          <p:cNvSpPr txBox="1">
            <a:spLocks noChangeArrowheads="1"/>
          </p:cNvSpPr>
          <p:nvPr/>
        </p:nvSpPr>
        <p:spPr bwMode="auto">
          <a:xfrm>
            <a:off x="463074" y="580787"/>
            <a:ext cx="299085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eaLnBrk="1" hangingPunct="1">
              <a:lnSpc>
                <a:spcPct val="100000"/>
              </a:lnSpc>
              <a:buFontTx/>
              <a:buNone/>
              <a:defRPr sz="3600" b="1" spc="600"/>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pPr algn="l"/>
            <a:r>
              <a:rPr lang="zh-CN" altLang="en-US" sz="2000" spc="0"/>
              <a:t>驾校训练规范性监测系统</a:t>
            </a:r>
            <a:endParaRPr lang="zh-CN" altLang="en-US" sz="2000" spc="0"/>
          </a:p>
        </p:txBody>
      </p:sp>
      <p:pic>
        <p:nvPicPr>
          <p:cNvPr id="6" name="图片 5"/>
          <p:cNvPicPr>
            <a:picLocks noChangeAspect="1"/>
          </p:cNvPicPr>
          <p:nvPr/>
        </p:nvPicPr>
        <p:blipFill>
          <a:blip r:embed="rId2" cstate="print"/>
          <a:stretch>
            <a:fillRect/>
          </a:stretch>
        </p:blipFill>
        <p:spPr>
          <a:xfrm>
            <a:off x="5213985" y="1945640"/>
            <a:ext cx="1735455" cy="1476375"/>
          </a:xfrm>
          <a:prstGeom prst="rect">
            <a:avLst/>
          </a:prstGeom>
        </p:spPr>
      </p:pic>
      <p:pic>
        <p:nvPicPr>
          <p:cNvPr id="7" name="图片 6"/>
          <p:cNvPicPr>
            <a:picLocks noChangeAspect="1"/>
          </p:cNvPicPr>
          <p:nvPr/>
        </p:nvPicPr>
        <p:blipFill>
          <a:blip r:embed="rId3" cstate="print"/>
          <a:stretch>
            <a:fillRect/>
          </a:stretch>
        </p:blipFill>
        <p:spPr>
          <a:xfrm>
            <a:off x="5213985" y="581025"/>
            <a:ext cx="1803400" cy="1364615"/>
          </a:xfrm>
          <a:prstGeom prst="rect">
            <a:avLst/>
          </a:prstGeom>
        </p:spPr>
      </p:pic>
      <p:pic>
        <p:nvPicPr>
          <p:cNvPr id="8" name="图片 7"/>
          <p:cNvPicPr>
            <a:picLocks noChangeAspect="1"/>
          </p:cNvPicPr>
          <p:nvPr/>
        </p:nvPicPr>
        <p:blipFill>
          <a:blip r:embed="rId4" cstate="print"/>
          <a:srcRect r="3801"/>
          <a:stretch>
            <a:fillRect/>
          </a:stretch>
        </p:blipFill>
        <p:spPr>
          <a:xfrm>
            <a:off x="6928485" y="1945640"/>
            <a:ext cx="2009140" cy="1473200"/>
          </a:xfrm>
          <a:prstGeom prst="rect">
            <a:avLst/>
          </a:prstGeom>
        </p:spPr>
      </p:pic>
      <p:pic>
        <p:nvPicPr>
          <p:cNvPr id="10" name="图片 9"/>
          <p:cNvPicPr>
            <a:picLocks noChangeAspect="1"/>
          </p:cNvPicPr>
          <p:nvPr/>
        </p:nvPicPr>
        <p:blipFill>
          <a:blip r:embed="rId5" cstate="print"/>
          <a:stretch>
            <a:fillRect/>
          </a:stretch>
        </p:blipFill>
        <p:spPr>
          <a:xfrm>
            <a:off x="5200650" y="3418840"/>
            <a:ext cx="1714500" cy="1384935"/>
          </a:xfrm>
          <a:prstGeom prst="rect">
            <a:avLst/>
          </a:prstGeom>
        </p:spPr>
      </p:pic>
      <p:pic>
        <p:nvPicPr>
          <p:cNvPr id="14" name="图片 13"/>
          <p:cNvPicPr>
            <a:picLocks noChangeAspect="1"/>
          </p:cNvPicPr>
          <p:nvPr/>
        </p:nvPicPr>
        <p:blipFill>
          <a:blip r:embed="rId6" cstate="print"/>
          <a:stretch>
            <a:fillRect/>
          </a:stretch>
        </p:blipFill>
        <p:spPr>
          <a:xfrm>
            <a:off x="7017385" y="581025"/>
            <a:ext cx="1920240" cy="1364615"/>
          </a:xfrm>
          <a:prstGeom prst="rect">
            <a:avLst/>
          </a:prstGeom>
        </p:spPr>
      </p:pic>
      <p:pic>
        <p:nvPicPr>
          <p:cNvPr id="1544075149" name="图片 4"/>
          <p:cNvPicPr>
            <a:picLocks noChangeAspect="1" noChangeArrowheads="1"/>
          </p:cNvPicPr>
          <p:nvPr/>
        </p:nvPicPr>
        <p:blipFill>
          <a:blip r:embed="rId7" cstate="print">
            <a:extLst>
              <a:ext uri="{28A0092B-C50C-407E-A947-70E740481C1C}">
                <a14:useLocalDpi xmlns:a14="http://schemas.microsoft.com/office/drawing/2010/main" val="0"/>
              </a:ext>
            </a:extLst>
          </a:blip>
          <a:srcRect t="9949" b="9838"/>
          <a:stretch>
            <a:fillRect/>
          </a:stretch>
        </p:blipFill>
        <p:spPr>
          <a:xfrm>
            <a:off x="7035165" y="3418840"/>
            <a:ext cx="1237615" cy="1387475"/>
          </a:xfrm>
          <a:prstGeom prst="rect">
            <a:avLst/>
          </a:prstGeom>
          <a:noFill/>
          <a:ln>
            <a:noFill/>
          </a:ln>
        </p:spPr>
      </p:pic>
      <p:pic>
        <p:nvPicPr>
          <p:cNvPr id="16" name="图片 2"/>
          <p:cNvPicPr>
            <a:picLocks noChangeAspect="1"/>
          </p:cNvPicPr>
          <p:nvPr/>
        </p:nvPicPr>
        <p:blipFill>
          <a:blip r:embed="rId8" cstate="print"/>
          <a:srcRect l="31205" r="10772" b="12530"/>
          <a:stretch>
            <a:fillRect/>
          </a:stretch>
        </p:blipFill>
        <p:spPr>
          <a:xfrm>
            <a:off x="8272780" y="3418840"/>
            <a:ext cx="663575" cy="1387475"/>
          </a:xfrm>
          <a:prstGeom prst="rect">
            <a:avLst/>
          </a:prstGeom>
          <a:noFill/>
          <a:ln>
            <a:noFill/>
          </a:ln>
        </p:spPr>
      </p:pic>
      <p:cxnSp>
        <p:nvCxnSpPr>
          <p:cNvPr id="2" name="直接连接符 1"/>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15"/>
          <p:cNvSpPr txBox="1"/>
          <p:nvPr/>
        </p:nvSpPr>
        <p:spPr>
          <a:xfrm>
            <a:off x="247650" y="146685"/>
            <a:ext cx="3848100" cy="398780"/>
          </a:xfrm>
          <a:prstGeom prst="rect">
            <a:avLst/>
          </a:prstGeom>
          <a:noFill/>
        </p:spPr>
        <p:txBody>
          <a:bodyPr wrap="square" rtlCol="0">
            <a:spAutoFit/>
          </a:bodyPr>
          <a:lstStyle/>
          <a:p>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6.</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三维建模</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实践</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pic>
        <p:nvPicPr>
          <p:cNvPr id="12" name="d7e75458e958e63105966dc6f9d984f6">
            <a:hlinkClick r:id="" action="ppaction://media"/>
          </p:cNvPr>
          <p:cNvPicPr/>
          <p:nvPr>
            <a:videoFile r:link="rId1"/>
            <p:extLst>
              <p:ext uri="{DAA4B4D4-6D71-4841-9C94-3DE7FCFB9230}">
                <p14:media xmlns:p14="http://schemas.microsoft.com/office/powerpoint/2010/main" r:embed="rId2"/>
              </p:ext>
            </p:extLst>
          </p:nvPr>
        </p:nvPicPr>
        <p:blipFill>
          <a:blip r:embed="rId3" cstate="print"/>
          <a:stretch>
            <a:fillRect/>
          </a:stretch>
        </p:blipFill>
        <p:spPr>
          <a:xfrm>
            <a:off x="5537982" y="642292"/>
            <a:ext cx="3307982" cy="2017127"/>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2" name="775c897dcd7a017f8fcc53ffb39e2256">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cstate="print"/>
          <a:stretch>
            <a:fillRect/>
          </a:stretch>
        </p:blipFill>
        <p:spPr>
          <a:xfrm>
            <a:off x="5472332" y="2966205"/>
            <a:ext cx="3373632" cy="206901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6" name="图片 5"/>
          <p:cNvPicPr>
            <a:picLocks noChangeAspect="1"/>
          </p:cNvPicPr>
          <p:nvPr/>
        </p:nvPicPr>
        <p:blipFill>
          <a:blip r:embed="rId7" cstate="print"/>
          <a:stretch>
            <a:fillRect/>
          </a:stretch>
        </p:blipFill>
        <p:spPr>
          <a:xfrm>
            <a:off x="3824922" y="3605830"/>
            <a:ext cx="1494155" cy="1429385"/>
          </a:xfrm>
          <a:prstGeom prst="rect">
            <a:avLst/>
          </a:prstGeom>
        </p:spPr>
      </p:pic>
      <p:cxnSp>
        <p:nvCxnSpPr>
          <p:cNvPr id="3" name="直接连接符 2"/>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124107" y="642292"/>
            <a:ext cx="4827181" cy="4200419"/>
          </a:xfrm>
          <a:prstGeom prst="rect">
            <a:avLst/>
          </a:prstGeom>
          <a:noFill/>
        </p:spPr>
        <p:txBody>
          <a:bodyPr wrap="square" rtlCol="0" anchor="t">
            <a:noAutofit/>
          </a:bodyPr>
          <a:lstStyle/>
          <a:p>
            <a:pPr marL="285750" indent="-285750" fontAlgn="auto">
              <a:lnSpc>
                <a:spcPct val="200000"/>
              </a:lnSpc>
              <a:buFont typeface="Wingdings" panose="05000000000000000000" pitchFamily="2" charset="2"/>
              <a:buChar char="u"/>
            </a:pPr>
            <a:r>
              <a:rPr lang="zh-CN" altLang="en-US" sz="1200" dirty="0">
                <a:latin typeface="微软雅黑" panose="020B0503020204020204" pitchFamily="34" charset="-122"/>
                <a:ea typeface="微软雅黑" panose="020B0503020204020204" pitchFamily="34" charset="-122"/>
              </a:rPr>
              <a:t>对交通设施及动态环境建模，广泛用于事故反演、场景理解、尺度分析等领域。</a:t>
            </a:r>
            <a:endParaRPr lang="zh-CN" altLang="en-US" sz="1200" dirty="0">
              <a:latin typeface="微软雅黑" panose="020B0503020204020204" pitchFamily="34" charset="-122"/>
              <a:ea typeface="微软雅黑" panose="020B0503020204020204" pitchFamily="34" charset="-122"/>
            </a:endParaRPr>
          </a:p>
          <a:p>
            <a:pPr marL="285750" indent="-285750" fontAlgn="auto">
              <a:lnSpc>
                <a:spcPct val="200000"/>
              </a:lnSpc>
              <a:buFont typeface="Wingdings" panose="05000000000000000000" pitchFamily="2" charset="2"/>
              <a:buChar char="u"/>
            </a:pPr>
            <a:r>
              <a:rPr lang="zh-CN" altLang="en-US" sz="1200" dirty="0">
                <a:latin typeface="微软雅黑" panose="020B0503020204020204" pitchFamily="34" charset="-122"/>
                <a:ea typeface="微软雅黑" panose="020B0503020204020204" pitchFamily="34" charset="-122"/>
              </a:rPr>
              <a:t>传统三维建模使用工具</a:t>
            </a:r>
            <a:r>
              <a:rPr lang="zh-CN" altLang="en-US" sz="1200" dirty="0">
                <a:latin typeface="微软雅黑" panose="020B0503020204020204" pitchFamily="34" charset="-122"/>
                <a:ea typeface="微软雅黑" panose="020B0503020204020204" pitchFamily="34" charset="-122"/>
                <a:sym typeface="+mn-ea"/>
              </a:rPr>
              <a:t>软件</a:t>
            </a:r>
            <a:r>
              <a:rPr lang="zh-CN" altLang="en-US" sz="1200" dirty="0">
                <a:latin typeface="微软雅黑" panose="020B0503020204020204" pitchFamily="34" charset="-122"/>
                <a:ea typeface="微软雅黑" panose="020B0503020204020204" pitchFamily="34" charset="-122"/>
              </a:rPr>
              <a:t>实现</a:t>
            </a:r>
            <a:r>
              <a:rPr lang="zh-CN" altLang="en-US" sz="1200" dirty="0">
                <a:latin typeface="微软雅黑" panose="020B0503020204020204" pitchFamily="34" charset="-122"/>
                <a:ea typeface="微软雅黑" panose="020B0503020204020204" pitchFamily="34" charset="-122"/>
                <a:sym typeface="+mn-ea"/>
              </a:rPr>
              <a:t>三维参数化人工建模，工作量大更新不易，耗时长、费用高。</a:t>
            </a:r>
            <a:endParaRPr lang="zh-CN" altLang="en-US" sz="1200" dirty="0">
              <a:latin typeface="微软雅黑" panose="020B0503020204020204" pitchFamily="34" charset="-122"/>
              <a:ea typeface="微软雅黑" panose="020B0503020204020204" pitchFamily="34" charset="-122"/>
            </a:endParaRPr>
          </a:p>
          <a:p>
            <a:pPr marL="285750" indent="-285750" fontAlgn="auto">
              <a:lnSpc>
                <a:spcPct val="200000"/>
              </a:lnSpc>
              <a:buFont typeface="Wingdings" panose="05000000000000000000" pitchFamily="2" charset="2"/>
              <a:buChar char="u"/>
            </a:pPr>
            <a:r>
              <a:rPr lang="zh-CN" altLang="en-US" sz="1200" dirty="0">
                <a:latin typeface="微软雅黑" panose="020B0503020204020204" pitchFamily="34" charset="-122"/>
                <a:ea typeface="微软雅黑" panose="020B0503020204020204" pitchFamily="34" charset="-122"/>
              </a:rPr>
              <a:t>本团队最新的三维建模技术，只需一台摄像头，即可完成数据采集，凭借新型算法，500平场景几分钟完成三维建模。</a:t>
            </a:r>
            <a:endParaRPr lang="zh-CN" altLang="en-US" sz="1200" dirty="0">
              <a:latin typeface="微软雅黑" panose="020B0503020204020204" pitchFamily="34" charset="-122"/>
              <a:ea typeface="微软雅黑" panose="020B0503020204020204" pitchFamily="34" charset="-122"/>
            </a:endParaRPr>
          </a:p>
          <a:p>
            <a:pPr marL="285750" indent="-285750" fontAlgn="auto">
              <a:lnSpc>
                <a:spcPct val="200000"/>
              </a:lnSpc>
              <a:buFont typeface="Wingdings" panose="05000000000000000000" pitchFamily="2" charset="2"/>
              <a:buChar char="u"/>
            </a:pPr>
            <a:r>
              <a:rPr lang="zh-CN" altLang="en-US" sz="1200" b="1" dirty="0">
                <a:latin typeface="微软雅黑" panose="020B0503020204020204" pitchFamily="34" charset="-122"/>
                <a:ea typeface="微软雅黑" panose="020B0503020204020204" pitchFamily="34" charset="-122"/>
              </a:rPr>
              <a:t>目前尚无实际落地交通项目，但文化遗产数字化保护、沉浸式旅游体验方面已有项目。</a:t>
            </a:r>
            <a:endParaRPr lang="zh-CN" altLang="en-US" sz="1200" b="1" dirty="0">
              <a:latin typeface="微软雅黑" panose="020B0503020204020204" pitchFamily="34" charset="-122"/>
              <a:ea typeface="微软雅黑" panose="020B0503020204020204" pitchFamily="34" charset="-122"/>
            </a:endParaRPr>
          </a:p>
          <a:p>
            <a:pPr marL="285750" indent="-285750" fontAlgn="auto">
              <a:lnSpc>
                <a:spcPct val="200000"/>
              </a:lnSpc>
              <a:buFont typeface="Wingdings" panose="05000000000000000000" pitchFamily="2" charset="2"/>
              <a:buChar char="u"/>
            </a:pPr>
            <a:r>
              <a:rPr lang="zh-CN" altLang="en-US" sz="1200" b="1" dirty="0">
                <a:latin typeface="微软雅黑" panose="020B0503020204020204" pitchFamily="34" charset="-122"/>
                <a:ea typeface="微软雅黑" panose="020B0503020204020204" pitchFamily="34" charset="-122"/>
              </a:rPr>
              <a:t>该技术还可用于电商营销、</a:t>
            </a:r>
            <a:r>
              <a:rPr lang="en-US" altLang="zh-CN" sz="1200" b="1" dirty="0">
                <a:latin typeface="微软雅黑" panose="020B0503020204020204" pitchFamily="34" charset="-122"/>
                <a:ea typeface="微软雅黑" panose="020B0503020204020204" pitchFamily="34" charset="-122"/>
              </a:rPr>
              <a:t>AR/VR</a:t>
            </a:r>
            <a:r>
              <a:rPr lang="zh-CN" altLang="en-US" sz="1200" b="1" dirty="0">
                <a:latin typeface="微软雅黑" panose="020B0503020204020204" pitchFamily="34" charset="-122"/>
                <a:ea typeface="微软雅黑" panose="020B0503020204020204" pitchFamily="34" charset="-122"/>
              </a:rPr>
              <a:t>结合、其他</a:t>
            </a:r>
            <a:endParaRPr lang="en-US" altLang="zh-CN" sz="1200" b="1" dirty="0">
              <a:latin typeface="微软雅黑" panose="020B0503020204020204" pitchFamily="34" charset="-122"/>
              <a:ea typeface="微软雅黑" panose="020B0503020204020204" pitchFamily="34" charset="-122"/>
            </a:endParaRPr>
          </a:p>
          <a:p>
            <a:pPr fontAlgn="auto">
              <a:lnSpc>
                <a:spcPct val="200000"/>
              </a:lnSpc>
            </a:pPr>
            <a:r>
              <a:rPr lang="en-US" altLang="zh-CN" sz="1200" b="1" dirty="0">
                <a:latin typeface="微软雅黑" panose="020B0503020204020204" pitchFamily="34" charset="-122"/>
                <a:ea typeface="微软雅黑" panose="020B0503020204020204" pitchFamily="34" charset="-122"/>
              </a:rPr>
              <a:t>       BIM</a:t>
            </a:r>
            <a:r>
              <a:rPr lang="zh-CN" altLang="en-US" sz="1200" b="1" dirty="0">
                <a:latin typeface="微软雅黑" panose="020B0503020204020204" pitchFamily="34" charset="-122"/>
                <a:ea typeface="微软雅黑" panose="020B0503020204020204" pitchFamily="34" charset="-122"/>
              </a:rPr>
              <a:t>应用场景，成为传统技术的替代</a:t>
            </a:r>
            <a:endParaRPr lang="zh-CN" altLang="en-US" sz="1200" dirty="0">
              <a:latin typeface="微软雅黑" panose="020B0503020204020204" pitchFamily="34" charset="-122"/>
              <a:ea typeface="微软雅黑" panose="020B0503020204020204" pitchFamily="34" charset="-122"/>
            </a:endParaRPr>
          </a:p>
          <a:p>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childTnLst>
            <p:video>
              <p:cMediaNode>
                <p:cTn id="2" fill="hold" display="1">
                  <p:stCondLst>
                    <p:cond delay="indefinite"/>
                  </p:stCondLst>
                </p:cTn>
                <p:tgtEl>
                  <p:spTgt spid="12"/>
                </p:tgtEl>
              </p:cMediaNode>
            </p:video>
            <p:seq concurrent="1" nextAc="seek">
              <p:cTn id="3" restart="whenNotActive" fill="hold" evtFilter="cancelBubble" nodeType="interactiveSeq">
                <p:stCondLst>
                  <p:cond evt="onClick" delay="0">
                    <p:tgtEl>
                      <p:spTgt spid="2"/>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p:cTn id="7" dur="1" fill="hold"/>
                                        <p:tgtEl>
                                          <p:spTgt spid="2"/>
                                        </p:tgtEl>
                                      </p:cBhvr>
                                    </p:cmd>
                                  </p:childTnLst>
                                </p:cTn>
                              </p:par>
                            </p:childTnLst>
                          </p:cTn>
                        </p:par>
                      </p:childTnLst>
                    </p:cTn>
                  </p:par>
                </p:childTnLst>
              </p:cTn>
              <p:nextCondLst>
                <p:cond evt="onClick" delay="0">
                  <p:tgtEl>
                    <p:spTgt spid="2"/>
                  </p:tgtEl>
                </p:cond>
              </p:nextCondLst>
            </p:seq>
            <p:video>
              <p:cMediaNode vol="80000">
                <p:cTn id="8" fill="hold" display="0">
                  <p:stCondLst>
                    <p:cond delay="indefinite"/>
                  </p:stCondLst>
                </p:cTn>
                <p:tgtEl>
                  <p:spTgt spid="2"/>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8605" y="793115"/>
            <a:ext cx="4596130" cy="4123690"/>
          </a:xfrm>
        </p:spPr>
        <p:txBody>
          <a:bodyPr>
            <a:normAutofit fontScale="90000"/>
          </a:bodyPr>
          <a:lstStyle/>
          <a:p>
            <a:pPr fontAlgn="auto">
              <a:lnSpc>
                <a:spcPct val="100000"/>
              </a:lnSpc>
              <a:spcBef>
                <a:spcPts val="700"/>
              </a:spcBef>
            </a:pPr>
            <a:r>
              <a:rPr lang="zh-CN" altLang="en-US" sz="2000" b="1" u="sng" dirty="0">
                <a:solidFill>
                  <a:schemeClr val="tx1"/>
                </a:solidFill>
                <a:latin typeface="微软雅黑" panose="020B0503020204020204" pitchFamily="34" charset="-122"/>
                <a:ea typeface="微软雅黑" panose="020B0503020204020204" pitchFamily="34" charset="-122"/>
              </a:rPr>
              <a:t>与无忧洗车集团合作，研发车辆健康检测系统</a:t>
            </a:r>
            <a:r>
              <a:rPr lang="en-US" altLang="zh-CN" sz="2000" b="1" u="sng" dirty="0">
                <a:solidFill>
                  <a:schemeClr val="tx1"/>
                </a:solidFill>
                <a:latin typeface="微软雅黑" panose="020B0503020204020204" pitchFamily="34" charset="-122"/>
                <a:ea typeface="微软雅黑" panose="020B0503020204020204" pitchFamily="34" charset="-122"/>
              </a:rPr>
              <a:t>-</a:t>
            </a:r>
            <a:r>
              <a:rPr lang="zh-CN" altLang="en-US" sz="2000" b="1" u="sng" dirty="0">
                <a:solidFill>
                  <a:schemeClr val="tx1"/>
                </a:solidFill>
                <a:latin typeface="微软雅黑" panose="020B0503020204020204" pitchFamily="34" charset="-122"/>
                <a:ea typeface="微软雅黑" panose="020B0503020204020204" pitchFamily="34" charset="-122"/>
              </a:rPr>
              <a:t>视觉诊断子系统</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fontAlgn="auto">
              <a:lnSpc>
                <a:spcPct val="100000"/>
              </a:lnSpc>
              <a:spcBef>
                <a:spcPts val="700"/>
              </a:spcBef>
            </a:pPr>
            <a:r>
              <a:rPr lang="en-US" altLang="zh-CN" sz="18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、多光谱摄像头组，形成车身十三个面的探查。检测</a:t>
            </a:r>
            <a:r>
              <a:rPr lang="zh-CN" altLang="en-US" sz="1800" b="1" u="sng" dirty="0">
                <a:latin typeface="微软雅黑" panose="020B0503020204020204" pitchFamily="34" charset="-122"/>
                <a:ea typeface="微软雅黑" panose="020B0503020204020204" pitchFamily="34" charset="-122"/>
              </a:rPr>
              <a:t>擦痕、凹坑、开裂、脱落、生锈、变形</a:t>
            </a:r>
            <a:r>
              <a:rPr lang="zh-CN" altLang="en-US" sz="1800" dirty="0">
                <a:latin typeface="微软雅黑" panose="020B0503020204020204" pitchFamily="34" charset="-122"/>
                <a:ea typeface="微软雅黑" panose="020B0503020204020204" pitchFamily="34" charset="-122"/>
              </a:rPr>
              <a:t>等瑕疵，以及</a:t>
            </a:r>
            <a:r>
              <a:rPr lang="zh-CN" altLang="en-US" sz="1800" b="1" u="sng" dirty="0">
                <a:latin typeface="微软雅黑" panose="020B0503020204020204" pitchFamily="34" charset="-122"/>
                <a:ea typeface="微软雅黑" panose="020B0503020204020204" pitchFamily="34" charset="-122"/>
              </a:rPr>
              <a:t>轮胎磨损度</a:t>
            </a:r>
            <a:r>
              <a:rPr lang="zh-CN" altLang="en-US" sz="1800" dirty="0">
                <a:latin typeface="微软雅黑" panose="020B0503020204020204" pitchFamily="34" charset="-122"/>
                <a:ea typeface="微软雅黑" panose="020B0503020204020204" pitchFamily="34" charset="-122"/>
              </a:rPr>
              <a:t>测量。</a:t>
            </a:r>
            <a:r>
              <a:rPr lang="zh-CN" altLang="en-US" sz="1800" dirty="0">
                <a:latin typeface="微软雅黑" panose="020B0503020204020204" pitchFamily="34" charset="-122"/>
                <a:ea typeface="微软雅黑" panose="020B0503020204020204" pitchFamily="34" charset="-122"/>
                <a:sym typeface="+mn-ea"/>
              </a:rPr>
              <a:t>分为洗前扫描和洗后复检，避免服务过程中损坏争议。</a:t>
            </a:r>
            <a:endParaRPr lang="zh-CN" altLang="en-US" sz="1800" dirty="0">
              <a:latin typeface="微软雅黑" panose="020B0503020204020204" pitchFamily="34" charset="-122"/>
              <a:ea typeface="微软雅黑" panose="020B0503020204020204" pitchFamily="34" charset="-122"/>
            </a:endParaRPr>
          </a:p>
          <a:p>
            <a:pPr fontAlgn="auto">
              <a:lnSpc>
                <a:spcPct val="100000"/>
              </a:lnSpc>
              <a:spcBef>
                <a:spcPts val="700"/>
              </a:spcBef>
            </a:pPr>
            <a:r>
              <a:rPr lang="en-US" altLang="zh-CN" sz="18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、历史数据实现损伤溯源，完成洗车点（读写节点）、保险公司（验证节点）、车主（轻节点）的三层权限体系。保险增值</a:t>
            </a:r>
            <a:r>
              <a:rPr lang="zh-CN" altLang="en-US" sz="1800" dirty="0">
                <a:latin typeface="微软雅黑" panose="020B0503020204020204" pitchFamily="34" charset="-122"/>
                <a:ea typeface="微软雅黑" panose="020B0503020204020204" pitchFamily="34" charset="-122"/>
                <a:sym typeface="+mn-ea"/>
              </a:rPr>
              <a:t>服务</a:t>
            </a:r>
            <a:r>
              <a:rPr lang="zh-CN" altLang="en-US" sz="1800" dirty="0">
                <a:latin typeface="微软雅黑" panose="020B0503020204020204" pitchFamily="34" charset="-122"/>
                <a:ea typeface="微软雅黑" panose="020B0503020204020204" pitchFamily="34" charset="-122"/>
              </a:rPr>
              <a:t>：通过</a:t>
            </a:r>
            <a:r>
              <a:rPr lang="zh-CN" altLang="en-US" sz="1800" dirty="0">
                <a:latin typeface="微软雅黑" panose="020B0503020204020204" pitchFamily="34" charset="-122"/>
                <a:ea typeface="微软雅黑" panose="020B0503020204020204" pitchFamily="34" charset="-122"/>
                <a:sym typeface="+mn-ea"/>
              </a:rPr>
              <a:t>区块链</a:t>
            </a:r>
            <a:r>
              <a:rPr lang="zh-CN" altLang="en-US" sz="1800" dirty="0">
                <a:latin typeface="微软雅黑" panose="020B0503020204020204" pitchFamily="34" charset="-122"/>
                <a:ea typeface="微软雅黑" panose="020B0503020204020204" pitchFamily="34" charset="-122"/>
              </a:rPr>
              <a:t>将损伤特征与历史记录关联，支持保费浮动计算。</a:t>
            </a:r>
            <a:endParaRPr lang="zh-CN" altLang="en-US" sz="1800" dirty="0">
              <a:latin typeface="微软雅黑" panose="020B0503020204020204" pitchFamily="34" charset="-122"/>
              <a:ea typeface="微软雅黑" panose="020B0503020204020204" pitchFamily="34" charset="-122"/>
            </a:endParaRPr>
          </a:p>
          <a:p>
            <a:pPr fontAlgn="auto">
              <a:lnSpc>
                <a:spcPct val="100000"/>
              </a:lnSpc>
              <a:spcBef>
                <a:spcPts val="700"/>
              </a:spcBef>
            </a:pPr>
            <a:r>
              <a:rPr lang="en-US" altLang="zh-CN" sz="1800" dirty="0">
                <a:latin typeface="微软雅黑" panose="020B0503020204020204" pitchFamily="34" charset="-122"/>
                <a:ea typeface="微软雅黑" panose="020B0503020204020204" pitchFamily="34" charset="-122"/>
              </a:rPr>
              <a:t>3</a:t>
            </a:r>
            <a:r>
              <a:rPr lang="zh-CN" altLang="en-US" sz="1800" dirty="0">
                <a:latin typeface="微软雅黑" panose="020B0503020204020204" pitchFamily="34" charset="-122"/>
                <a:ea typeface="微软雅黑" panose="020B0503020204020204" pitchFamily="34" charset="-122"/>
              </a:rPr>
              <a:t>、自动驾驶</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自动洗车融合计划：</a:t>
            </a:r>
            <a:endParaRPr lang="zh-CN" altLang="en-US" sz="1800" dirty="0">
              <a:latin typeface="微软雅黑" panose="020B0503020204020204" pitchFamily="34" charset="-122"/>
              <a:ea typeface="微软雅黑" panose="020B0503020204020204" pitchFamily="34" charset="-122"/>
            </a:endParaRPr>
          </a:p>
          <a:p>
            <a:pPr fontAlgn="auto">
              <a:lnSpc>
                <a:spcPct val="100000"/>
              </a:lnSpc>
              <a:spcBef>
                <a:spcPts val="700"/>
              </a:spcBef>
            </a:pPr>
            <a:r>
              <a:rPr lang="en-US" altLang="zh-CN" sz="18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）车辆自主选择最近空闲洗车机，导航到洗车机完成洗车</a:t>
            </a:r>
            <a:endParaRPr lang="zh-CN" altLang="en-US" sz="1800" dirty="0">
              <a:latin typeface="微软雅黑" panose="020B0503020204020204" pitchFamily="34" charset="-122"/>
              <a:ea typeface="微软雅黑" panose="020B0503020204020204" pitchFamily="34" charset="-122"/>
            </a:endParaRPr>
          </a:p>
          <a:p>
            <a:pPr fontAlgn="auto">
              <a:lnSpc>
                <a:spcPct val="100000"/>
              </a:lnSpc>
              <a:spcBef>
                <a:spcPts val="700"/>
              </a:spcBef>
            </a:pPr>
            <a:r>
              <a:rPr lang="en-US" altLang="zh-CN" sz="18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）根据汽车健康状况制定维护、出车计划。</a:t>
            </a:r>
            <a:endParaRPr lang="zh-CN" altLang="en-US" sz="18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446405" y="142240"/>
            <a:ext cx="5690235" cy="398780"/>
          </a:xfrm>
          <a:prstGeom prst="rect">
            <a:avLst/>
          </a:prstGeom>
          <a:noFill/>
        </p:spPr>
        <p:txBody>
          <a:bodyPr wrap="square" rtlCol="0" anchor="t">
            <a:spAutoFit/>
          </a:bodyPr>
          <a:lstStyle/>
          <a:p>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7.</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rPr>
              <a:t>车辆外观健康检测</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sym typeface="+mn-ea"/>
            </a:endParaRPr>
          </a:p>
        </p:txBody>
      </p:sp>
      <p:pic>
        <p:nvPicPr>
          <p:cNvPr id="5" name="图片 1"/>
          <p:cNvPicPr>
            <a:picLocks noChangeAspect="1"/>
          </p:cNvPicPr>
          <p:nvPr/>
        </p:nvPicPr>
        <p:blipFill>
          <a:blip r:embed="rId1" cstate="print"/>
          <a:stretch>
            <a:fillRect/>
          </a:stretch>
        </p:blipFill>
        <p:spPr>
          <a:xfrm>
            <a:off x="5038090" y="793115"/>
            <a:ext cx="3794760" cy="1492885"/>
          </a:xfrm>
          <a:prstGeom prst="rect">
            <a:avLst/>
          </a:prstGeom>
          <a:noFill/>
          <a:ln>
            <a:noFill/>
          </a:ln>
        </p:spPr>
      </p:pic>
      <p:pic>
        <p:nvPicPr>
          <p:cNvPr id="6" name="图片 3"/>
          <p:cNvPicPr>
            <a:picLocks noChangeAspect="1"/>
          </p:cNvPicPr>
          <p:nvPr/>
        </p:nvPicPr>
        <p:blipFill>
          <a:blip r:embed="rId2" cstate="print"/>
          <a:srcRect t="14215"/>
          <a:stretch>
            <a:fillRect/>
          </a:stretch>
        </p:blipFill>
        <p:spPr>
          <a:xfrm>
            <a:off x="5038090" y="2286000"/>
            <a:ext cx="3794125" cy="1472565"/>
          </a:xfrm>
          <a:prstGeom prst="rect">
            <a:avLst/>
          </a:prstGeom>
          <a:noFill/>
          <a:ln>
            <a:noFill/>
          </a:ln>
        </p:spPr>
      </p:pic>
      <p:grpSp>
        <p:nvGrpSpPr>
          <p:cNvPr id="10" name="组合 9"/>
          <p:cNvGrpSpPr/>
          <p:nvPr/>
        </p:nvGrpSpPr>
        <p:grpSpPr>
          <a:xfrm>
            <a:off x="5037455" y="3748405"/>
            <a:ext cx="3795395" cy="1283335"/>
            <a:chOff x="7661" y="6063"/>
            <a:chExt cx="5977" cy="2021"/>
          </a:xfrm>
        </p:grpSpPr>
        <p:pic>
          <p:nvPicPr>
            <p:cNvPr id="7" name="图片 4"/>
            <p:cNvPicPr>
              <a:picLocks noChangeAspect="1"/>
            </p:cNvPicPr>
            <p:nvPr/>
          </p:nvPicPr>
          <p:blipFill>
            <a:blip r:embed="rId3" cstate="print"/>
            <a:srcRect t="5162"/>
            <a:stretch>
              <a:fillRect/>
            </a:stretch>
          </p:blipFill>
          <p:spPr>
            <a:xfrm>
              <a:off x="7661" y="6063"/>
              <a:ext cx="3273" cy="2021"/>
            </a:xfrm>
            <a:prstGeom prst="rect">
              <a:avLst/>
            </a:prstGeom>
            <a:noFill/>
            <a:ln>
              <a:noFill/>
            </a:ln>
          </p:spPr>
        </p:pic>
        <p:pic>
          <p:nvPicPr>
            <p:cNvPr id="8" name="图片 5"/>
            <p:cNvPicPr>
              <a:picLocks noChangeAspect="1"/>
            </p:cNvPicPr>
            <p:nvPr/>
          </p:nvPicPr>
          <p:blipFill>
            <a:blip r:embed="rId4" cstate="print"/>
            <a:srcRect b="5736"/>
            <a:stretch>
              <a:fillRect/>
            </a:stretch>
          </p:blipFill>
          <p:spPr>
            <a:xfrm>
              <a:off x="10934" y="6070"/>
              <a:ext cx="2704" cy="1216"/>
            </a:xfrm>
            <a:prstGeom prst="rect">
              <a:avLst/>
            </a:prstGeom>
            <a:noFill/>
            <a:ln>
              <a:noFill/>
            </a:ln>
          </p:spPr>
        </p:pic>
        <p:pic>
          <p:nvPicPr>
            <p:cNvPr id="9" name="图片 3"/>
            <p:cNvPicPr>
              <a:picLocks noChangeAspect="1"/>
            </p:cNvPicPr>
            <p:nvPr/>
          </p:nvPicPr>
          <p:blipFill>
            <a:blip r:embed="rId5" cstate="print"/>
            <a:stretch>
              <a:fillRect/>
            </a:stretch>
          </p:blipFill>
          <p:spPr>
            <a:xfrm>
              <a:off x="11009" y="7222"/>
              <a:ext cx="2629" cy="862"/>
            </a:xfrm>
            <a:prstGeom prst="rect">
              <a:avLst/>
            </a:prstGeom>
            <a:noFill/>
            <a:ln>
              <a:noFill/>
            </a:ln>
          </p:spPr>
        </p:pic>
      </p:grpSp>
      <p:cxnSp>
        <p:nvCxnSpPr>
          <p:cNvPr id="2" name="直接连接符 1"/>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349250" y="-37623"/>
            <a:ext cx="7886700" cy="669925"/>
          </a:xfrm>
        </p:spPr>
        <p:txBody>
          <a:bodyPr/>
          <a:lstStyle/>
          <a:p>
            <a:pPr algn="l">
              <a:lnSpc>
                <a:spcPct val="100000"/>
              </a:lnSpc>
              <a:buClrTx/>
              <a:buSzTx/>
              <a:buFontTx/>
            </a:pPr>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mn-cs"/>
              </a:rPr>
              <a:t>8</a:t>
            </a:r>
            <a:r>
              <a:rPr lang="en-US" altLang="zh-CN" sz="2000" b="1"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mn-cs"/>
              </a:rPr>
              <a:t>.</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mn-cs"/>
              </a:rPr>
              <a:t>部分</a:t>
            </a:r>
            <a:r>
              <a:rPr lang="en-US" altLang="zh-CN"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mn-cs"/>
              </a:rPr>
              <a:t>合作单位</a:t>
            </a:r>
            <a:r>
              <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mn-cs"/>
              </a:rPr>
              <a:t>与客户</a:t>
            </a:r>
            <a:endParaRPr lang="zh-CN" altLang="en-US" sz="2000" b="1"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cs typeface="+mn-cs"/>
            </a:endParaRPr>
          </a:p>
        </p:txBody>
      </p:sp>
      <p:pic>
        <p:nvPicPr>
          <p:cNvPr id="3" name="图片 2"/>
          <p:cNvPicPr>
            <a:picLocks noChangeAspect="1"/>
          </p:cNvPicPr>
          <p:nvPr/>
        </p:nvPicPr>
        <p:blipFill>
          <a:blip r:embed="rId2" cstate="print"/>
          <a:stretch>
            <a:fillRect/>
          </a:stretch>
        </p:blipFill>
        <p:spPr>
          <a:xfrm>
            <a:off x="1062038" y="2000726"/>
            <a:ext cx="1040130" cy="988695"/>
          </a:xfrm>
          <a:prstGeom prst="rect">
            <a:avLst/>
          </a:prstGeom>
        </p:spPr>
      </p:pic>
      <p:pic>
        <p:nvPicPr>
          <p:cNvPr id="4" name="图片 3"/>
          <p:cNvPicPr>
            <a:picLocks noChangeAspect="1"/>
          </p:cNvPicPr>
          <p:nvPr/>
        </p:nvPicPr>
        <p:blipFill>
          <a:blip r:embed="rId3" cstate="print"/>
          <a:stretch>
            <a:fillRect/>
          </a:stretch>
        </p:blipFill>
        <p:spPr>
          <a:xfrm>
            <a:off x="2102168" y="2057400"/>
            <a:ext cx="932021" cy="932021"/>
          </a:xfrm>
          <a:prstGeom prst="rect">
            <a:avLst/>
          </a:prstGeom>
        </p:spPr>
      </p:pic>
      <p:pic>
        <p:nvPicPr>
          <p:cNvPr id="5" name="图片 4"/>
          <p:cNvPicPr>
            <a:picLocks noChangeAspect="1"/>
          </p:cNvPicPr>
          <p:nvPr/>
        </p:nvPicPr>
        <p:blipFill>
          <a:blip r:embed="rId4" cstate="print"/>
          <a:stretch>
            <a:fillRect/>
          </a:stretch>
        </p:blipFill>
        <p:spPr>
          <a:xfrm>
            <a:off x="3034189" y="2000726"/>
            <a:ext cx="977741" cy="944404"/>
          </a:xfrm>
          <a:prstGeom prst="rect">
            <a:avLst/>
          </a:prstGeom>
        </p:spPr>
      </p:pic>
      <p:pic>
        <p:nvPicPr>
          <p:cNvPr id="7" name="图片 6"/>
          <p:cNvPicPr>
            <a:picLocks noChangeAspect="1"/>
          </p:cNvPicPr>
          <p:nvPr/>
        </p:nvPicPr>
        <p:blipFill>
          <a:blip r:embed="rId5" cstate="print"/>
          <a:stretch>
            <a:fillRect/>
          </a:stretch>
        </p:blipFill>
        <p:spPr>
          <a:xfrm>
            <a:off x="5085398" y="2000726"/>
            <a:ext cx="916781" cy="997268"/>
          </a:xfrm>
          <a:prstGeom prst="rect">
            <a:avLst/>
          </a:prstGeom>
        </p:spPr>
      </p:pic>
      <p:pic>
        <p:nvPicPr>
          <p:cNvPr id="8" name="图片 7"/>
          <p:cNvPicPr>
            <a:picLocks noChangeAspect="1"/>
          </p:cNvPicPr>
          <p:nvPr/>
        </p:nvPicPr>
        <p:blipFill>
          <a:blip r:embed="rId6" cstate="print"/>
          <a:stretch>
            <a:fillRect/>
          </a:stretch>
        </p:blipFill>
        <p:spPr>
          <a:xfrm>
            <a:off x="6012180" y="2000726"/>
            <a:ext cx="855345" cy="1065848"/>
          </a:xfrm>
          <a:prstGeom prst="rect">
            <a:avLst/>
          </a:prstGeom>
        </p:spPr>
      </p:pic>
      <p:pic>
        <p:nvPicPr>
          <p:cNvPr id="9" name="图片 8"/>
          <p:cNvPicPr>
            <a:picLocks noChangeAspect="1"/>
          </p:cNvPicPr>
          <p:nvPr/>
        </p:nvPicPr>
        <p:blipFill>
          <a:blip r:embed="rId7" cstate="print"/>
          <a:srcRect t="20394" b="10197"/>
          <a:stretch>
            <a:fillRect/>
          </a:stretch>
        </p:blipFill>
        <p:spPr>
          <a:xfrm>
            <a:off x="6200775" y="1263015"/>
            <a:ext cx="1143000" cy="626745"/>
          </a:xfrm>
          <a:prstGeom prst="rect">
            <a:avLst/>
          </a:prstGeom>
        </p:spPr>
      </p:pic>
      <p:pic>
        <p:nvPicPr>
          <p:cNvPr id="10" name="图片 9"/>
          <p:cNvPicPr>
            <a:picLocks noChangeAspect="1"/>
          </p:cNvPicPr>
          <p:nvPr/>
        </p:nvPicPr>
        <p:blipFill>
          <a:blip r:embed="rId8" cstate="print"/>
          <a:stretch>
            <a:fillRect/>
          </a:stretch>
        </p:blipFill>
        <p:spPr>
          <a:xfrm>
            <a:off x="1161098" y="3278029"/>
            <a:ext cx="811054" cy="811054"/>
          </a:xfrm>
          <a:prstGeom prst="rect">
            <a:avLst/>
          </a:prstGeom>
        </p:spPr>
      </p:pic>
      <p:pic>
        <p:nvPicPr>
          <p:cNvPr id="11" name="图片 10"/>
          <p:cNvPicPr>
            <a:picLocks noChangeAspect="1"/>
          </p:cNvPicPr>
          <p:nvPr/>
        </p:nvPicPr>
        <p:blipFill>
          <a:blip r:embed="rId9" cstate="print"/>
          <a:srcRect t="-3895" r="54250"/>
          <a:stretch>
            <a:fillRect/>
          </a:stretch>
        </p:blipFill>
        <p:spPr>
          <a:xfrm>
            <a:off x="2295525" y="3409474"/>
            <a:ext cx="2091690" cy="546259"/>
          </a:xfrm>
          <a:prstGeom prst="rect">
            <a:avLst/>
          </a:prstGeom>
        </p:spPr>
      </p:pic>
      <p:pic>
        <p:nvPicPr>
          <p:cNvPr id="12" name="图片 11"/>
          <p:cNvPicPr>
            <a:picLocks noChangeAspect="1"/>
          </p:cNvPicPr>
          <p:nvPr/>
        </p:nvPicPr>
        <p:blipFill>
          <a:blip r:embed="rId10" cstate="print"/>
          <a:srcRect r="12771"/>
          <a:stretch>
            <a:fillRect/>
          </a:stretch>
        </p:blipFill>
        <p:spPr>
          <a:xfrm>
            <a:off x="4547711" y="3249454"/>
            <a:ext cx="1649254" cy="839629"/>
          </a:xfrm>
          <a:prstGeom prst="rect">
            <a:avLst/>
          </a:prstGeom>
        </p:spPr>
      </p:pic>
      <p:grpSp>
        <p:nvGrpSpPr>
          <p:cNvPr id="15" name="组合 14"/>
          <p:cNvGrpSpPr/>
          <p:nvPr/>
        </p:nvGrpSpPr>
        <p:grpSpPr>
          <a:xfrm>
            <a:off x="6422708" y="3429953"/>
            <a:ext cx="1658779" cy="448628"/>
            <a:chOff x="14603" y="5676"/>
            <a:chExt cx="3483" cy="942"/>
          </a:xfrm>
        </p:grpSpPr>
        <p:pic>
          <p:nvPicPr>
            <p:cNvPr id="13" name="图片 12"/>
            <p:cNvPicPr>
              <a:picLocks noChangeAspect="1"/>
            </p:cNvPicPr>
            <p:nvPr/>
          </p:nvPicPr>
          <p:blipFill>
            <a:blip r:embed="rId11" cstate="print"/>
            <a:stretch>
              <a:fillRect/>
            </a:stretch>
          </p:blipFill>
          <p:spPr>
            <a:xfrm>
              <a:off x="14603" y="5676"/>
              <a:ext cx="965" cy="943"/>
            </a:xfrm>
            <a:prstGeom prst="rect">
              <a:avLst/>
            </a:prstGeom>
          </p:spPr>
        </p:pic>
        <p:sp>
          <p:nvSpPr>
            <p:cNvPr id="14" name="文本框 13"/>
            <p:cNvSpPr txBox="1"/>
            <p:nvPr/>
          </p:nvSpPr>
          <p:spPr>
            <a:xfrm>
              <a:off x="15558" y="5763"/>
              <a:ext cx="2528" cy="710"/>
            </a:xfrm>
            <a:prstGeom prst="rect">
              <a:avLst/>
            </a:prstGeom>
            <a:noFill/>
          </p:spPr>
          <p:txBody>
            <a:bodyPr wrap="square" rtlCol="0" anchor="t">
              <a:noAutofit/>
            </a:bodyPr>
            <a:lstStyle/>
            <a:p>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江苏交通</a:t>
              </a:r>
              <a:endPar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16" name="文本框 15"/>
          <p:cNvSpPr txBox="1"/>
          <p:nvPr/>
        </p:nvSpPr>
        <p:spPr>
          <a:xfrm>
            <a:off x="1062038" y="922338"/>
            <a:ext cx="6777038" cy="337185"/>
          </a:xfrm>
          <a:prstGeom prst="rect">
            <a:avLst/>
          </a:prstGeom>
          <a:noFill/>
        </p:spPr>
        <p:txBody>
          <a:bodyPr wrap="square" rtlCol="0" anchor="t">
            <a:spAutoFit/>
          </a:bodyPr>
          <a:lstStyle/>
          <a:p>
            <a:r>
              <a:rPr lang="zh-CN" altLang="en-US" sz="1600" b="1"/>
              <a:t>整合产学研用各方资源，探索通用人工智能产业化路径。</a:t>
            </a:r>
            <a:endParaRPr lang="zh-CN" altLang="en-US" sz="1600" b="1"/>
          </a:p>
        </p:txBody>
      </p:sp>
      <p:grpSp>
        <p:nvGrpSpPr>
          <p:cNvPr id="18" name="组合 17"/>
          <p:cNvGrpSpPr/>
          <p:nvPr/>
        </p:nvGrpSpPr>
        <p:grpSpPr>
          <a:xfrm>
            <a:off x="4101941" y="2068830"/>
            <a:ext cx="1228249" cy="905351"/>
            <a:chOff x="8613" y="4344"/>
            <a:chExt cx="2579" cy="1901"/>
          </a:xfrm>
        </p:grpSpPr>
        <p:pic>
          <p:nvPicPr>
            <p:cNvPr id="6" name="图片 5"/>
            <p:cNvPicPr>
              <a:picLocks noChangeAspect="1"/>
            </p:cNvPicPr>
            <p:nvPr/>
          </p:nvPicPr>
          <p:blipFill>
            <a:blip r:embed="rId12" cstate="print"/>
            <a:stretch>
              <a:fillRect/>
            </a:stretch>
          </p:blipFill>
          <p:spPr>
            <a:xfrm>
              <a:off x="8829" y="4344"/>
              <a:ext cx="1742" cy="1378"/>
            </a:xfrm>
            <a:prstGeom prst="rect">
              <a:avLst/>
            </a:prstGeom>
          </p:spPr>
        </p:pic>
        <p:sp>
          <p:nvSpPr>
            <p:cNvPr id="17" name="文本框 16"/>
            <p:cNvSpPr txBox="1"/>
            <p:nvPr/>
          </p:nvSpPr>
          <p:spPr>
            <a:xfrm>
              <a:off x="8613" y="5714"/>
              <a:ext cx="2579" cy="531"/>
            </a:xfrm>
            <a:prstGeom prst="rect">
              <a:avLst/>
            </a:prstGeom>
            <a:noFill/>
          </p:spPr>
          <p:txBody>
            <a:bodyPr wrap="square" rtlCol="0" anchor="t">
              <a:spAutoFit/>
            </a:bodyPr>
            <a:lstStyle/>
            <a:p>
              <a:r>
                <a:rPr lang="zh-CN" altLang="en-US" sz="1050" b="1">
                  <a:solidFill>
                    <a:schemeClr val="accent1">
                      <a:lumMod val="50000"/>
                    </a:schemeClr>
                  </a:solidFill>
                </a:rPr>
                <a:t>上海铁路局</a:t>
              </a:r>
              <a:endParaRPr lang="zh-CN" altLang="en-US" sz="1050" b="1">
                <a:solidFill>
                  <a:schemeClr val="accent1">
                    <a:lumMod val="50000"/>
                  </a:schemeClr>
                </a:solidFill>
              </a:endParaRPr>
            </a:p>
          </p:txBody>
        </p:sp>
      </p:grpSp>
      <p:grpSp>
        <p:nvGrpSpPr>
          <p:cNvPr id="21" name="组合 20"/>
          <p:cNvGrpSpPr/>
          <p:nvPr/>
        </p:nvGrpSpPr>
        <p:grpSpPr>
          <a:xfrm>
            <a:off x="1252538" y="4297680"/>
            <a:ext cx="2091214" cy="636270"/>
            <a:chOff x="2630" y="9024"/>
            <a:chExt cx="4391" cy="1336"/>
          </a:xfrm>
        </p:grpSpPr>
        <p:pic>
          <p:nvPicPr>
            <p:cNvPr id="19" name="图片 18" descr="dianxin"/>
            <p:cNvPicPr>
              <a:picLocks noChangeAspect="1"/>
            </p:cNvPicPr>
            <p:nvPr/>
          </p:nvPicPr>
          <p:blipFill>
            <a:blip r:embed="rId13" cstate="print"/>
            <a:srcRect r="64597" b="36532"/>
            <a:stretch>
              <a:fillRect/>
            </a:stretch>
          </p:blipFill>
          <p:spPr>
            <a:xfrm>
              <a:off x="2630" y="9024"/>
              <a:ext cx="1511" cy="1336"/>
            </a:xfrm>
            <a:prstGeom prst="rect">
              <a:avLst/>
            </a:prstGeom>
          </p:spPr>
        </p:pic>
        <p:sp>
          <p:nvSpPr>
            <p:cNvPr id="20" name="文本框 19"/>
            <p:cNvSpPr txBox="1"/>
            <p:nvPr/>
          </p:nvSpPr>
          <p:spPr>
            <a:xfrm>
              <a:off x="3763" y="9370"/>
              <a:ext cx="3258" cy="773"/>
            </a:xfrm>
            <a:prstGeom prst="rect">
              <a:avLst/>
            </a:prstGeom>
            <a:noFill/>
          </p:spPr>
          <p:txBody>
            <a:bodyPr wrap="square" rtlCol="0" anchor="t">
              <a:spAutoFit/>
            </a:bodyPr>
            <a:lstStyle/>
            <a:p>
              <a:r>
                <a:rPr lang="zh-CN" altLang="en-US" sz="1800" b="1">
                  <a:solidFill>
                    <a:schemeClr val="accent1">
                      <a:lumMod val="50000"/>
                    </a:schemeClr>
                  </a:solidFill>
                </a:rPr>
                <a:t>南京电信</a:t>
              </a:r>
              <a:endParaRPr lang="zh-CN" altLang="en-US" sz="1800" b="1">
                <a:solidFill>
                  <a:schemeClr val="accent1">
                    <a:lumMod val="50000"/>
                  </a:schemeClr>
                </a:solidFill>
              </a:endParaRPr>
            </a:p>
          </p:txBody>
        </p:sp>
      </p:grpSp>
      <p:pic>
        <p:nvPicPr>
          <p:cNvPr id="22" name="图片 21"/>
          <p:cNvPicPr/>
          <p:nvPr/>
        </p:nvPicPr>
        <p:blipFill>
          <a:blip r:embed="rId14" cstate="print"/>
          <a:stretch>
            <a:fillRect/>
          </a:stretch>
        </p:blipFill>
        <p:spPr>
          <a:xfrm>
            <a:off x="4870609" y="4138930"/>
            <a:ext cx="759619" cy="759619"/>
          </a:xfrm>
          <a:prstGeom prst="rect">
            <a:avLst/>
          </a:prstGeom>
        </p:spPr>
      </p:pic>
      <p:pic>
        <p:nvPicPr>
          <p:cNvPr id="23" name="图片 22"/>
          <p:cNvPicPr>
            <a:picLocks noChangeAspect="1"/>
          </p:cNvPicPr>
          <p:nvPr/>
        </p:nvPicPr>
        <p:blipFill>
          <a:blip r:embed="rId15" cstate="print"/>
          <a:stretch>
            <a:fillRect/>
          </a:stretch>
        </p:blipFill>
        <p:spPr>
          <a:xfrm>
            <a:off x="6041231" y="4177506"/>
            <a:ext cx="1797368" cy="605790"/>
          </a:xfrm>
          <a:prstGeom prst="rect">
            <a:avLst/>
          </a:prstGeom>
        </p:spPr>
      </p:pic>
      <p:pic>
        <p:nvPicPr>
          <p:cNvPr id="24" name="图片 23"/>
          <p:cNvPicPr>
            <a:picLocks noChangeAspect="1"/>
          </p:cNvPicPr>
          <p:nvPr/>
        </p:nvPicPr>
        <p:blipFill>
          <a:blip r:embed="rId16" cstate="print"/>
          <a:stretch>
            <a:fillRect/>
          </a:stretch>
        </p:blipFill>
        <p:spPr>
          <a:xfrm>
            <a:off x="7136765" y="2241550"/>
            <a:ext cx="765810" cy="605790"/>
          </a:xfrm>
          <a:prstGeom prst="rect">
            <a:avLst/>
          </a:prstGeom>
        </p:spPr>
      </p:pic>
      <p:pic>
        <p:nvPicPr>
          <p:cNvPr id="25" name="图片 24"/>
          <p:cNvPicPr>
            <a:picLocks noChangeAspect="1"/>
          </p:cNvPicPr>
          <p:nvPr/>
        </p:nvPicPr>
        <p:blipFill>
          <a:blip r:embed="rId17" cstate="print"/>
          <a:stretch>
            <a:fillRect/>
          </a:stretch>
        </p:blipFill>
        <p:spPr>
          <a:xfrm>
            <a:off x="4725670" y="1399540"/>
            <a:ext cx="1055370" cy="497840"/>
          </a:xfrm>
          <a:prstGeom prst="rect">
            <a:avLst/>
          </a:prstGeom>
        </p:spPr>
      </p:pic>
      <p:pic>
        <p:nvPicPr>
          <p:cNvPr id="26" name="图片 25"/>
          <p:cNvPicPr>
            <a:picLocks noChangeAspect="1"/>
          </p:cNvPicPr>
          <p:nvPr/>
        </p:nvPicPr>
        <p:blipFill>
          <a:blip r:embed="rId18" cstate="print"/>
          <a:stretch>
            <a:fillRect/>
          </a:stretch>
        </p:blipFill>
        <p:spPr>
          <a:xfrm>
            <a:off x="1252855" y="1464945"/>
            <a:ext cx="1496695" cy="535940"/>
          </a:xfrm>
          <a:prstGeom prst="rect">
            <a:avLst/>
          </a:prstGeom>
        </p:spPr>
      </p:pic>
      <p:pic>
        <p:nvPicPr>
          <p:cNvPr id="27" name="图片 26"/>
          <p:cNvPicPr>
            <a:picLocks noChangeAspect="1"/>
          </p:cNvPicPr>
          <p:nvPr/>
        </p:nvPicPr>
        <p:blipFill>
          <a:blip r:embed="rId19" cstate="print"/>
          <a:stretch>
            <a:fillRect/>
          </a:stretch>
        </p:blipFill>
        <p:spPr>
          <a:xfrm>
            <a:off x="3034030" y="1403985"/>
            <a:ext cx="1271905" cy="452755"/>
          </a:xfrm>
          <a:prstGeom prst="rect">
            <a:avLst/>
          </a:prstGeom>
        </p:spPr>
      </p:pic>
      <p:pic>
        <p:nvPicPr>
          <p:cNvPr id="28" name="图片 27" descr="dianxin"/>
          <p:cNvPicPr>
            <a:picLocks noChangeAspect="1"/>
          </p:cNvPicPr>
          <p:nvPr/>
        </p:nvPicPr>
        <p:blipFill>
          <a:blip r:embed="rId13" cstate="print"/>
          <a:srcRect r="64597" b="36532"/>
          <a:stretch>
            <a:fillRect/>
          </a:stretch>
        </p:blipFill>
        <p:spPr>
          <a:xfrm>
            <a:off x="2913063" y="4297680"/>
            <a:ext cx="719614" cy="636270"/>
          </a:xfrm>
          <a:prstGeom prst="rect">
            <a:avLst/>
          </a:prstGeom>
        </p:spPr>
      </p:pic>
      <p:sp>
        <p:nvSpPr>
          <p:cNvPr id="29" name="文本框 28"/>
          <p:cNvSpPr txBox="1"/>
          <p:nvPr/>
        </p:nvSpPr>
        <p:spPr>
          <a:xfrm>
            <a:off x="3516789" y="4455478"/>
            <a:ext cx="1551623" cy="368300"/>
          </a:xfrm>
          <a:prstGeom prst="rect">
            <a:avLst/>
          </a:prstGeom>
          <a:noFill/>
        </p:spPr>
        <p:txBody>
          <a:bodyPr wrap="square" rtlCol="0" anchor="t">
            <a:spAutoFit/>
          </a:bodyPr>
          <a:lstStyle/>
          <a:p>
            <a:r>
              <a:rPr lang="zh-CN" altLang="en-US" sz="1800" b="1">
                <a:solidFill>
                  <a:schemeClr val="accent1">
                    <a:lumMod val="50000"/>
                  </a:schemeClr>
                </a:solidFill>
              </a:rPr>
              <a:t>泰州电信</a:t>
            </a:r>
            <a:endParaRPr lang="zh-CN" altLang="en-US" sz="1800" b="1">
              <a:solidFill>
                <a:schemeClr val="accent1">
                  <a:lumMod val="50000"/>
                </a:schemeClr>
              </a:solidFill>
            </a:endParaRPr>
          </a:p>
        </p:txBody>
      </p:sp>
      <p:pic>
        <p:nvPicPr>
          <p:cNvPr id="32" name="图片 31" descr="图标&#10;&#10;AI 生成的内容可能不正确。"/>
          <p:cNvPicPr>
            <a:picLocks noChangeAspect="1"/>
          </p:cNvPicPr>
          <p:nvPr/>
        </p:nvPicPr>
        <p:blipFill>
          <a:blip r:embed="rId20" cstate="print"/>
          <a:stretch>
            <a:fillRect/>
          </a:stretch>
        </p:blipFill>
        <p:spPr>
          <a:xfrm>
            <a:off x="0" y="-11625"/>
            <a:ext cx="331373" cy="557090"/>
          </a:xfrm>
          <a:prstGeom prst="rect">
            <a:avLst/>
          </a:prstGeom>
        </p:spPr>
      </p:pic>
      <p:cxnSp>
        <p:nvCxnSpPr>
          <p:cNvPr id="30" name="直接连接符 29"/>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ustDataLst>
      <p:tags r:id="rId21"/>
    </p:custDataLst>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 空心 24"/>
          <p:cNvSpPr/>
          <p:nvPr/>
        </p:nvSpPr>
        <p:spPr>
          <a:xfrm>
            <a:off x="221381" y="222449"/>
            <a:ext cx="493508" cy="493508"/>
          </a:xfrm>
          <a:prstGeom prst="donut">
            <a:avLst>
              <a:gd name="adj" fmla="val 20889"/>
            </a:avLst>
          </a:prstGeom>
          <a:gradFill flip="none" rotWithShape="1">
            <a:gsLst>
              <a:gs pos="100000">
                <a:schemeClr val="bg1">
                  <a:alpha val="0"/>
                </a:schemeClr>
              </a:gs>
              <a:gs pos="0">
                <a:schemeClr val="bg1"/>
              </a:gs>
            </a:gsLst>
            <a:lin ang="0" scaled="1"/>
            <a:tileRect/>
          </a:gradFill>
          <a:ln w="9525"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1" i="0" u="none" strike="noStrike" kern="0" cap="none" spc="0" normalizeH="0" baseline="0" noProof="0">
              <a:ln>
                <a:noFill/>
              </a:ln>
              <a:solidFill>
                <a:schemeClr val="tx1"/>
              </a:solidFill>
              <a:effectLst/>
              <a:uLnTx/>
              <a:uFillTx/>
              <a:latin typeface="等线" panose="02010600030101010101" pitchFamily="2" charset="-122"/>
              <a:ea typeface="等线" panose="02010600030101010101" pitchFamily="2" charset="-122"/>
            </a:endParaRPr>
          </a:p>
        </p:txBody>
      </p:sp>
      <p:sp>
        <p:nvSpPr>
          <p:cNvPr id="30" name="文本框 29"/>
          <p:cNvSpPr txBox="1"/>
          <p:nvPr/>
        </p:nvSpPr>
        <p:spPr>
          <a:xfrm>
            <a:off x="388618" y="94884"/>
            <a:ext cx="1455026" cy="406110"/>
          </a:xfrm>
          <a:prstGeom prst="rect">
            <a:avLst/>
          </a:prstGeom>
          <a:noFill/>
          <a:effectLst/>
        </p:spPr>
        <p:txBody>
          <a:bodyPr wrap="none" lIns="97383" tIns="48691" rIns="97383" bIns="48691"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1" i="0" u="none" strike="noStrike" cap="none" spc="0" normalizeH="0" baseline="0" dirty="0" smtClean="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9.</a:t>
            </a:r>
            <a:r>
              <a:rPr kumimoji="0" lang="en-US" altLang="zh-CN" sz="2000" b="1" i="0" u="none" strike="noStrike" cap="none" spc="0" normalizeH="0" baseline="0"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rPr>
              <a:t>专家推荐</a:t>
            </a:r>
            <a:endParaRPr kumimoji="0" lang="en-US" altLang="zh-CN" sz="2000" b="1" i="0" u="none" strike="noStrike" cap="none" spc="0" normalizeH="0" baseline="0" dirty="0">
              <a:gradFill>
                <a:gsLst>
                  <a:gs pos="0">
                    <a:srgbClr val="00B0F0"/>
                  </a:gs>
                  <a:gs pos="63000">
                    <a:srgbClr val="0070C0">
                      <a:shade val="100000"/>
                      <a:satMod val="115000"/>
                    </a:srgbClr>
                  </a:gs>
                </a:gsLst>
                <a:lin ang="10800000" scaled="0"/>
              </a:gradFill>
              <a:latin typeface="微软雅黑" panose="020B0503020204020204" pitchFamily="34" charset="-122"/>
              <a:ea typeface="微软雅黑" panose="020B0503020204020204" pitchFamily="34" charset="-122"/>
            </a:endParaRPr>
          </a:p>
        </p:txBody>
      </p:sp>
      <p:pic>
        <p:nvPicPr>
          <p:cNvPr id="2" name="图片 1" descr="河海大学"/>
          <p:cNvPicPr>
            <a:picLocks noChangeAspect="1"/>
          </p:cNvPicPr>
          <p:nvPr/>
        </p:nvPicPr>
        <p:blipFill>
          <a:blip r:embed="rId1" cstate="print">
            <a:biLevel thresh="25000"/>
          </a:blip>
          <a:stretch>
            <a:fillRect/>
          </a:stretch>
        </p:blipFill>
        <p:spPr>
          <a:xfrm>
            <a:off x="7584288" y="260313"/>
            <a:ext cx="1339516" cy="595421"/>
          </a:xfrm>
          <a:prstGeom prst="rect">
            <a:avLst/>
          </a:prstGeom>
          <a:effectLst/>
        </p:spPr>
      </p:pic>
      <p:sp>
        <p:nvSpPr>
          <p:cNvPr id="52" name="文本框 51"/>
          <p:cNvSpPr txBox="1"/>
          <p:nvPr/>
        </p:nvSpPr>
        <p:spPr>
          <a:xfrm>
            <a:off x="1793875" y="735330"/>
            <a:ext cx="3476625" cy="1906905"/>
          </a:xfrm>
          <a:prstGeom prst="rect">
            <a:avLst/>
          </a:prstGeom>
          <a:noFill/>
        </p:spPr>
        <p:txBody>
          <a:bodyPr wrap="square" rtlCol="0">
            <a:spAutoFit/>
          </a:bodyPr>
          <a:lstStyle/>
          <a:p>
            <a:r>
              <a:rPr lang="zh-CN" altLang="en-US" sz="2000" b="1" dirty="0">
                <a:solidFill>
                  <a:schemeClr val="tx1"/>
                </a:solidFill>
                <a:latin typeface="+mj-ea"/>
                <a:ea typeface="+mj-ea"/>
              </a:rPr>
              <a:t>王卫杰</a:t>
            </a:r>
            <a:endParaRPr lang="zh-CN" altLang="en-US" sz="2000" b="1" dirty="0">
              <a:solidFill>
                <a:schemeClr val="tx1"/>
              </a:solidFill>
              <a:latin typeface="+mj-ea"/>
              <a:ea typeface="+mj-ea"/>
            </a:endParaRPr>
          </a:p>
          <a:p>
            <a:endParaRPr lang="zh-CN" altLang="en-US" b="1" dirty="0">
              <a:solidFill>
                <a:schemeClr val="tx1"/>
              </a:solidFill>
              <a:latin typeface="+mj-ea"/>
              <a:ea typeface="+mj-ea"/>
            </a:endParaRPr>
          </a:p>
          <a:p>
            <a:r>
              <a:rPr lang="zh-CN" altLang="en-US" b="1" dirty="0">
                <a:solidFill>
                  <a:schemeClr val="tx1"/>
                </a:solidFill>
                <a:latin typeface="+mj-ea"/>
                <a:ea typeface="+mj-ea"/>
              </a:rPr>
              <a:t>世界交通运输大会交通与运输安全技术委员会主席</a:t>
            </a:r>
            <a:endParaRPr lang="zh-CN" altLang="en-US" b="1" dirty="0">
              <a:solidFill>
                <a:schemeClr val="tx1"/>
              </a:solidFill>
              <a:latin typeface="+mj-ea"/>
              <a:ea typeface="+mj-ea"/>
            </a:endParaRPr>
          </a:p>
          <a:p>
            <a:endParaRPr lang="zh-CN" altLang="en-US" b="1" dirty="0">
              <a:solidFill>
                <a:schemeClr val="tx1"/>
              </a:solidFill>
              <a:latin typeface="+mj-ea"/>
              <a:ea typeface="+mj-ea"/>
            </a:endParaRPr>
          </a:p>
          <a:p>
            <a:r>
              <a:rPr lang="zh-CN" altLang="en-US" b="1" dirty="0">
                <a:solidFill>
                  <a:schemeClr val="tx1"/>
                </a:solidFill>
                <a:latin typeface="+mj-ea"/>
                <a:ea typeface="+mj-ea"/>
              </a:rPr>
              <a:t>亚洲交通运输学会国际学术委员会委员</a:t>
            </a:r>
            <a:endParaRPr lang="zh-CN" altLang="en-US" b="1" dirty="0">
              <a:solidFill>
                <a:schemeClr val="tx1"/>
              </a:solidFill>
              <a:latin typeface="+mj-ea"/>
              <a:ea typeface="+mj-ea"/>
            </a:endParaRPr>
          </a:p>
          <a:p>
            <a:endParaRPr lang="zh-CN" altLang="en-US" b="1" dirty="0">
              <a:solidFill>
                <a:schemeClr val="tx1"/>
              </a:solidFill>
              <a:latin typeface="+mj-ea"/>
              <a:ea typeface="+mj-ea"/>
            </a:endParaRPr>
          </a:p>
          <a:p>
            <a:r>
              <a:rPr lang="zh-CN" altLang="en-US" b="1" dirty="0">
                <a:solidFill>
                  <a:schemeClr val="tx1"/>
                </a:solidFill>
                <a:latin typeface="+mj-ea"/>
                <a:ea typeface="+mj-ea"/>
              </a:rPr>
              <a:t>中国公路学会自动驾驶工作委员会委员</a:t>
            </a:r>
            <a:endParaRPr lang="zh-CN" altLang="en-US" b="1" dirty="0">
              <a:solidFill>
                <a:schemeClr val="tx1"/>
              </a:solidFill>
              <a:latin typeface="+mj-ea"/>
              <a:ea typeface="+mj-ea"/>
            </a:endParaRPr>
          </a:p>
        </p:txBody>
      </p:sp>
      <p:sp>
        <p:nvSpPr>
          <p:cNvPr id="8" name="文本框 7"/>
          <p:cNvSpPr txBox="1"/>
          <p:nvPr/>
        </p:nvSpPr>
        <p:spPr>
          <a:xfrm>
            <a:off x="6378575" y="3214370"/>
            <a:ext cx="2188845" cy="1691640"/>
          </a:xfrm>
          <a:prstGeom prst="rect">
            <a:avLst/>
          </a:prstGeom>
          <a:noFill/>
        </p:spPr>
        <p:txBody>
          <a:bodyPr wrap="square" rtlCol="0" anchor="t">
            <a:spAutoFit/>
          </a:bodyPr>
          <a:lstStyle/>
          <a:p>
            <a:pPr algn="l">
              <a:buClrTx/>
              <a:buSzTx/>
              <a:buNone/>
            </a:pPr>
            <a:r>
              <a:rPr lang="zh-CN" altLang="en-US" sz="2000" b="1" dirty="0">
                <a:solidFill>
                  <a:schemeClr val="tx1"/>
                </a:solidFill>
                <a:latin typeface="+mj-ea"/>
                <a:ea typeface="+mj-ea"/>
              </a:rPr>
              <a:t>李玉民</a:t>
            </a:r>
            <a:endParaRPr lang="zh-CN" altLang="en-US" sz="2000" b="1" dirty="0">
              <a:solidFill>
                <a:schemeClr val="tx1"/>
              </a:solidFill>
              <a:latin typeface="+mj-ea"/>
              <a:ea typeface="+mj-ea"/>
            </a:endParaRPr>
          </a:p>
          <a:p>
            <a:pPr algn="l">
              <a:buClrTx/>
              <a:buSzTx/>
              <a:buNone/>
            </a:pPr>
            <a:endParaRPr lang="zh-CN" altLang="en-US" b="1" dirty="0">
              <a:solidFill>
                <a:schemeClr val="tx1"/>
              </a:solidFill>
              <a:latin typeface="+mj-ea"/>
              <a:ea typeface="+mj-ea"/>
            </a:endParaRPr>
          </a:p>
          <a:p>
            <a:pPr algn="l">
              <a:buClrTx/>
              <a:buSzTx/>
              <a:buNone/>
            </a:pPr>
            <a:r>
              <a:rPr lang="zh-CN" altLang="en-US" b="1" dirty="0">
                <a:solidFill>
                  <a:schemeClr val="tx1"/>
                </a:solidFill>
                <a:latin typeface="+mj-ea"/>
                <a:ea typeface="+mj-ea"/>
              </a:rPr>
              <a:t>中国物流学会常务理事</a:t>
            </a:r>
            <a:endParaRPr lang="zh-CN" altLang="en-US" b="1" dirty="0">
              <a:solidFill>
                <a:schemeClr val="tx1"/>
              </a:solidFill>
              <a:latin typeface="+mj-ea"/>
              <a:ea typeface="+mj-ea"/>
            </a:endParaRPr>
          </a:p>
          <a:p>
            <a:pPr algn="l">
              <a:buClrTx/>
              <a:buSzTx/>
              <a:buNone/>
            </a:pPr>
            <a:endParaRPr lang="zh-CN" altLang="en-US" b="1" dirty="0">
              <a:solidFill>
                <a:schemeClr val="tx1"/>
              </a:solidFill>
              <a:latin typeface="+mj-ea"/>
              <a:ea typeface="+mj-ea"/>
            </a:endParaRPr>
          </a:p>
          <a:p>
            <a:pPr algn="l">
              <a:buClrTx/>
              <a:buSzTx/>
              <a:buNone/>
            </a:pPr>
            <a:r>
              <a:rPr lang="zh-CN" altLang="en-US" b="1" dirty="0">
                <a:solidFill>
                  <a:schemeClr val="tx1"/>
                </a:solidFill>
                <a:latin typeface="+mj-ea"/>
                <a:ea typeface="+mj-ea"/>
              </a:rPr>
              <a:t>河南省物流学会会长</a:t>
            </a:r>
            <a:endParaRPr lang="zh-CN" altLang="en-US" b="1" dirty="0">
              <a:solidFill>
                <a:schemeClr val="tx1"/>
              </a:solidFill>
              <a:latin typeface="+mj-ea"/>
              <a:ea typeface="+mj-ea"/>
            </a:endParaRPr>
          </a:p>
          <a:p>
            <a:pPr algn="l">
              <a:buClrTx/>
              <a:buSzTx/>
              <a:buNone/>
            </a:pPr>
            <a:endParaRPr lang="zh-CN" altLang="en-US" b="1" dirty="0">
              <a:solidFill>
                <a:schemeClr val="tx1"/>
              </a:solidFill>
              <a:latin typeface="+mj-ea"/>
              <a:ea typeface="+mj-ea"/>
            </a:endParaRPr>
          </a:p>
          <a:p>
            <a:pPr algn="l">
              <a:buClrTx/>
              <a:buSzTx/>
              <a:buNone/>
            </a:pPr>
            <a:r>
              <a:rPr lang="zh-CN" altLang="en-US" b="1" dirty="0">
                <a:solidFill>
                  <a:schemeClr val="tx1"/>
                </a:solidFill>
                <a:latin typeface="+mj-ea"/>
                <a:ea typeface="+mj-ea"/>
              </a:rPr>
              <a:t>交通部运输物流专家</a:t>
            </a:r>
            <a:endParaRPr lang="zh-CN" altLang="en-US" b="1" dirty="0">
              <a:solidFill>
                <a:schemeClr val="tx1"/>
              </a:solidFill>
              <a:latin typeface="+mj-ea"/>
              <a:ea typeface="+mj-ea"/>
            </a:endParaRPr>
          </a:p>
        </p:txBody>
      </p:sp>
      <p:pic>
        <p:nvPicPr>
          <p:cNvPr id="11" name="图片 10"/>
          <p:cNvPicPr>
            <a:picLocks noChangeAspect="1"/>
          </p:cNvPicPr>
          <p:nvPr/>
        </p:nvPicPr>
        <p:blipFill>
          <a:blip r:embed="rId2" cstate="print"/>
          <a:srcRect t="15291" b="33159"/>
          <a:stretch>
            <a:fillRect/>
          </a:stretch>
        </p:blipFill>
        <p:spPr>
          <a:xfrm>
            <a:off x="584835" y="2641600"/>
            <a:ext cx="3428365" cy="2501900"/>
          </a:xfrm>
          <a:prstGeom prst="rect">
            <a:avLst/>
          </a:prstGeom>
          <a:scene3d>
            <a:camera prst="perspectiveRight"/>
            <a:lightRig rig="threePt" dir="t"/>
          </a:scene3d>
        </p:spPr>
      </p:pic>
      <p:grpSp>
        <p:nvGrpSpPr>
          <p:cNvPr id="13" name="组合 12"/>
          <p:cNvGrpSpPr/>
          <p:nvPr/>
        </p:nvGrpSpPr>
        <p:grpSpPr>
          <a:xfrm>
            <a:off x="422910" y="788670"/>
            <a:ext cx="1370965" cy="1781175"/>
            <a:chOff x="5285156" y="1140979"/>
            <a:chExt cx="1621681" cy="2107079"/>
          </a:xfrm>
        </p:grpSpPr>
        <p:sp>
          <p:nvSpPr>
            <p:cNvPr id="14" name="六边形 13"/>
            <p:cNvSpPr/>
            <p:nvPr/>
          </p:nvSpPr>
          <p:spPr>
            <a:xfrm rot="5400000">
              <a:off x="5291121" y="1632342"/>
              <a:ext cx="1609752" cy="1621679"/>
            </a:xfrm>
            <a:prstGeom prst="hexagon">
              <a:avLst>
                <a:gd name="adj" fmla="val 25000"/>
                <a:gd name="vf" fmla="val 115470"/>
              </a:avLst>
            </a:prstGeom>
            <a:gradFill flip="none" rotWithShape="1">
              <a:gsLst>
                <a:gs pos="0">
                  <a:srgbClr val="3F95F3">
                    <a:shade val="30000"/>
                    <a:satMod val="115000"/>
                  </a:srgbClr>
                </a:gs>
                <a:gs pos="50000">
                  <a:srgbClr val="3F95F3">
                    <a:shade val="67500"/>
                    <a:satMod val="115000"/>
                  </a:srgbClr>
                </a:gs>
                <a:gs pos="100000">
                  <a:srgbClr val="3F95F3">
                    <a:shade val="100000"/>
                    <a:satMod val="115000"/>
                  </a:srgb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p:cNvPicPr>
              <a:picLocks noChangeAspect="1"/>
            </p:cNvPicPr>
            <p:nvPr/>
          </p:nvPicPr>
          <p:blipFill>
            <a:blip r:embed="rId3" cstate="print">
              <a:extLst>
                <a:ext uri="{BEBA8EAE-BF5A-486C-A8C5-ECC9F3942E4B}">
                  <a14:imgProps xmlns:a14="http://schemas.microsoft.com/office/drawing/2010/main">
                    <a14:imgLayer r:embed="rId4">
                      <a14:imgEffect>
                        <a14:backgroundRemoval t="6283" b="96597" l="3061" r="96599">
                          <a14:foregroundMark x1="30952" y1="10209" x2="52381" y2="6545"/>
                          <a14:foregroundMark x1="52381" y1="6545" x2="69388" y2="10995"/>
                          <a14:foregroundMark x1="69388" y1="10995" x2="81293" y2="22775"/>
                          <a14:foregroundMark x1="81293" y1="22775" x2="67687" y2="10995"/>
                          <a14:foregroundMark x1="67687" y1="10995" x2="46599" y2="7592"/>
                          <a14:foregroundMark x1="46599" y1="7592" x2="66327" y2="12565"/>
                          <a14:foregroundMark x1="66327" y1="12565" x2="67687" y2="12565"/>
                          <a14:foregroundMark x1="35714" y1="7592" x2="51361" y2="6283"/>
                          <a14:foregroundMark x1="70748" y1="10733" x2="81293" y2="25131"/>
                          <a14:foregroundMark x1="81293" y1="25131" x2="81973" y2="30105"/>
                          <a14:foregroundMark x1="70408" y1="9948" x2="73469" y2="13351"/>
                          <a14:foregroundMark x1="48299" y1="6545" x2="51701" y2="6806"/>
                          <a14:foregroundMark x1="72449" y1="11518" x2="73129" y2="13351"/>
                          <a14:foregroundMark x1="14151" y1="78408" x2="8844" y2="81675"/>
                          <a14:foregroundMark x1="25850" y1="71204" x2="24765" y2="71872"/>
                          <a14:foregroundMark x1="23947" y1="77428" x2="26531" y2="76702"/>
                          <a14:foregroundMark x1="8844" y1="81675" x2="15435" y2="79822"/>
                          <a14:foregroundMark x1="26531" y1="76702" x2="34354" y2="90576"/>
                          <a14:foregroundMark x1="34354" y1="90576" x2="16327" y2="86649"/>
                          <a14:foregroundMark x1="16327" y1="86649" x2="44558" y2="91361"/>
                          <a14:foregroundMark x1="44558" y1="91361" x2="68707" y2="90052"/>
                          <a14:foregroundMark x1="68707" y1="90052" x2="70068" y2="74607"/>
                          <a14:foregroundMark x1="70068" y1="74607" x2="86735" y2="79058"/>
                          <a14:foregroundMark x1="86735" y1="79058" x2="98639" y2="90838"/>
                          <a14:foregroundMark x1="98639" y1="90838" x2="82313" y2="99215"/>
                          <a14:foregroundMark x1="82313" y1="99215" x2="7823" y2="96597"/>
                          <a14:foregroundMark x1="7823" y1="96597" x2="28571" y2="95550"/>
                          <a14:foregroundMark x1="28571" y1="95550" x2="45918" y2="98168"/>
                          <a14:foregroundMark x1="45918" y1="98168" x2="72109" y2="96859"/>
                          <a14:foregroundMark x1="72109" y1="96859" x2="78571" y2="83508"/>
                          <a14:foregroundMark x1="78571" y1="83508" x2="84354" y2="96335"/>
                          <a14:foregroundMark x1="84354" y1="96335" x2="93197" y2="83508"/>
                          <a14:foregroundMark x1="93197" y1="83508" x2="90136" y2="96597"/>
                          <a14:foregroundMark x1="90136" y1="96597" x2="53741" y2="91099"/>
                          <a14:foregroundMark x1="53741" y1="91099" x2="31293" y2="90576"/>
                          <a14:foregroundMark x1="31293" y1="90576" x2="32313" y2="88743"/>
                          <a14:foregroundMark x1="14286" y1="78796" x2="14528" y2="78656"/>
                          <a14:foregroundMark x1="8844" y1="81675" x2="7823" y2="96335"/>
                          <a14:foregroundMark x1="7823" y1="96335" x2="41497" y2="97906"/>
                          <a14:foregroundMark x1="41497" y1="97906" x2="73129" y2="96597"/>
                          <a14:foregroundMark x1="73129" y1="96597" x2="93197" y2="91099"/>
                          <a14:foregroundMark x1="93197" y1="91099" x2="43537" y2="95026"/>
                          <a14:foregroundMark x1="43537" y1="95026" x2="7823" y2="95026"/>
                          <a14:foregroundMark x1="7823" y1="95026" x2="15646" y2="95288"/>
                          <a14:foregroundMark x1="3401" y1="84817" x2="4422" y2="96597"/>
                          <a14:foregroundMark x1="96599" y1="84293" x2="95578" y2="94503"/>
                          <a14:backgroundMark x1="17007" y1="77225" x2="22789" y2="74346"/>
                          <a14:backgroundMark x1="24150" y1="71466" x2="13946" y2="78272"/>
                          <a14:backgroundMark x1="98980" y1="52618" x2="97619" y2="68325"/>
                          <a14:backgroundMark x1="97619" y1="68325" x2="99660" y2="66230"/>
                        </a14:backgroundRemoval>
                      </a14:imgEffect>
                    </a14:imgLayer>
                  </a14:imgProps>
                </a:ext>
              </a:extLst>
            </a:blip>
            <a:srcRect t="32190"/>
            <a:stretch>
              <a:fillRect/>
            </a:stretch>
          </p:blipFill>
          <p:spPr>
            <a:xfrm>
              <a:off x="5285156" y="1819251"/>
              <a:ext cx="1621679" cy="1428807"/>
            </a:xfrm>
            <a:custGeom>
              <a:avLst/>
              <a:gdLst>
                <a:gd name="connsiteX0" fmla="*/ 810839 w 1621679"/>
                <a:gd name="connsiteY0" fmla="*/ 0 h 1428807"/>
                <a:gd name="connsiteX1" fmla="*/ 1621679 w 1621679"/>
                <a:gd name="connsiteY1" fmla="*/ 361957 h 1428807"/>
                <a:gd name="connsiteX2" fmla="*/ 1621679 w 1621679"/>
                <a:gd name="connsiteY2" fmla="*/ 1085871 h 1428807"/>
                <a:gd name="connsiteX3" fmla="*/ 853448 w 1621679"/>
                <a:gd name="connsiteY3" fmla="*/ 1428807 h 1428807"/>
                <a:gd name="connsiteX4" fmla="*/ 768230 w 1621679"/>
                <a:gd name="connsiteY4" fmla="*/ 1428807 h 1428807"/>
                <a:gd name="connsiteX5" fmla="*/ 0 w 1621679"/>
                <a:gd name="connsiteY5" fmla="*/ 1085871 h 1428807"/>
                <a:gd name="connsiteX6" fmla="*/ 0 w 1621679"/>
                <a:gd name="connsiteY6" fmla="*/ 361956 h 1428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1679" h="1428807">
                  <a:moveTo>
                    <a:pt x="810839" y="0"/>
                  </a:moveTo>
                  <a:lnTo>
                    <a:pt x="1621679" y="361957"/>
                  </a:lnTo>
                  <a:lnTo>
                    <a:pt x="1621679" y="1085871"/>
                  </a:lnTo>
                  <a:lnTo>
                    <a:pt x="853448" y="1428807"/>
                  </a:lnTo>
                  <a:lnTo>
                    <a:pt x="768230" y="1428807"/>
                  </a:lnTo>
                  <a:lnTo>
                    <a:pt x="0" y="1085871"/>
                  </a:lnTo>
                  <a:lnTo>
                    <a:pt x="0" y="361956"/>
                  </a:lnTo>
                  <a:close/>
                </a:path>
              </a:pathLst>
            </a:custGeom>
          </p:spPr>
        </p:pic>
        <p:pic>
          <p:nvPicPr>
            <p:cNvPr id="17" name="图片 16"/>
            <p:cNvPicPr>
              <a:picLocks noChangeAspect="1"/>
            </p:cNvPicPr>
            <p:nvPr/>
          </p:nvPicPr>
          <p:blipFill>
            <a:blip r:embed="rId3" cstate="print">
              <a:extLst>
                <a:ext uri="{BEBA8EAE-BF5A-486C-A8C5-ECC9F3942E4B}">
                  <a14:imgProps xmlns:a14="http://schemas.microsoft.com/office/drawing/2010/main">
                    <a14:imgLayer r:embed="rId4">
                      <a14:imgEffect>
                        <a14:backgroundRemoval t="6283" b="96597" l="3061" r="96599">
                          <a14:foregroundMark x1="30952" y1="10209" x2="52381" y2="6545"/>
                          <a14:foregroundMark x1="52381" y1="6545" x2="69388" y2="10995"/>
                          <a14:foregroundMark x1="69388" y1="10995" x2="81293" y2="22775"/>
                          <a14:foregroundMark x1="81293" y1="22775" x2="67687" y2="10995"/>
                          <a14:foregroundMark x1="67687" y1="10995" x2="46599" y2="7592"/>
                          <a14:foregroundMark x1="46599" y1="7592" x2="66327" y2="12565"/>
                          <a14:foregroundMark x1="66327" y1="12565" x2="67687" y2="12565"/>
                          <a14:foregroundMark x1="35714" y1="7592" x2="51361" y2="6283"/>
                          <a14:foregroundMark x1="70748" y1="10733" x2="81293" y2="25131"/>
                          <a14:foregroundMark x1="81293" y1="25131" x2="81973" y2="30105"/>
                          <a14:foregroundMark x1="70408" y1="9948" x2="73469" y2="13351"/>
                          <a14:foregroundMark x1="48299" y1="6545" x2="51701" y2="6806"/>
                          <a14:foregroundMark x1="72449" y1="11518" x2="73129" y2="13351"/>
                          <a14:foregroundMark x1="14151" y1="78408" x2="8844" y2="81675"/>
                          <a14:foregroundMark x1="25850" y1="71204" x2="24765" y2="71872"/>
                          <a14:foregroundMark x1="23947" y1="77428" x2="26531" y2="76702"/>
                          <a14:foregroundMark x1="8844" y1="81675" x2="15435" y2="79822"/>
                          <a14:foregroundMark x1="26531" y1="76702" x2="34354" y2="90576"/>
                          <a14:foregroundMark x1="34354" y1="90576" x2="16327" y2="86649"/>
                          <a14:foregroundMark x1="16327" y1="86649" x2="44558" y2="91361"/>
                          <a14:foregroundMark x1="44558" y1="91361" x2="68707" y2="90052"/>
                          <a14:foregroundMark x1="68707" y1="90052" x2="70068" y2="74607"/>
                          <a14:foregroundMark x1="70068" y1="74607" x2="86735" y2="79058"/>
                          <a14:foregroundMark x1="86735" y1="79058" x2="98639" y2="90838"/>
                          <a14:foregroundMark x1="98639" y1="90838" x2="82313" y2="99215"/>
                          <a14:foregroundMark x1="82313" y1="99215" x2="7823" y2="96597"/>
                          <a14:foregroundMark x1="7823" y1="96597" x2="28571" y2="95550"/>
                          <a14:foregroundMark x1="28571" y1="95550" x2="45918" y2="98168"/>
                          <a14:foregroundMark x1="45918" y1="98168" x2="72109" y2="96859"/>
                          <a14:foregroundMark x1="72109" y1="96859" x2="78571" y2="83508"/>
                          <a14:foregroundMark x1="78571" y1="83508" x2="84354" y2="96335"/>
                          <a14:foregroundMark x1="84354" y1="96335" x2="93197" y2="83508"/>
                          <a14:foregroundMark x1="93197" y1="83508" x2="90136" y2="96597"/>
                          <a14:foregroundMark x1="90136" y1="96597" x2="53741" y2="91099"/>
                          <a14:foregroundMark x1="53741" y1="91099" x2="31293" y2="90576"/>
                          <a14:foregroundMark x1="31293" y1="90576" x2="32313" y2="88743"/>
                          <a14:foregroundMark x1="14286" y1="78796" x2="14528" y2="78656"/>
                          <a14:foregroundMark x1="8844" y1="81675" x2="7823" y2="96335"/>
                          <a14:foregroundMark x1="7823" y1="96335" x2="41497" y2="97906"/>
                          <a14:foregroundMark x1="41497" y1="97906" x2="73129" y2="96597"/>
                          <a14:foregroundMark x1="73129" y1="96597" x2="93197" y2="91099"/>
                          <a14:foregroundMark x1="93197" y1="91099" x2="43537" y2="95026"/>
                          <a14:foregroundMark x1="43537" y1="95026" x2="7823" y2="95026"/>
                          <a14:foregroundMark x1="7823" y1="95026" x2="15646" y2="95288"/>
                          <a14:foregroundMark x1="3401" y1="84817" x2="4422" y2="96597"/>
                          <a14:foregroundMark x1="96599" y1="84293" x2="95578" y2="94503"/>
                          <a14:backgroundMark x1="17007" y1="77225" x2="22789" y2="74346"/>
                          <a14:backgroundMark x1="24150" y1="71466" x2="13946" y2="78272"/>
                          <a14:backgroundMark x1="98980" y1="52618" x2="97619" y2="68325"/>
                          <a14:backgroundMark x1="97619" y1="68325" x2="99660" y2="66230"/>
                        </a14:backgroundRemoval>
                      </a14:imgEffect>
                    </a14:imgLayer>
                  </a14:imgProps>
                </a:ext>
              </a:extLst>
            </a:blip>
            <a:srcRect b="39329"/>
            <a:stretch>
              <a:fillRect/>
            </a:stretch>
          </p:blipFill>
          <p:spPr>
            <a:xfrm>
              <a:off x="5285158" y="1140979"/>
              <a:ext cx="1621679" cy="1278372"/>
            </a:xfrm>
            <a:prstGeom prst="rect">
              <a:avLst/>
            </a:prstGeom>
          </p:spPr>
        </p:pic>
      </p:grpSp>
      <p:grpSp>
        <p:nvGrpSpPr>
          <p:cNvPr id="21" name="组合 20"/>
          <p:cNvGrpSpPr/>
          <p:nvPr/>
        </p:nvGrpSpPr>
        <p:grpSpPr>
          <a:xfrm>
            <a:off x="4567555" y="2911475"/>
            <a:ext cx="1689100" cy="1922145"/>
            <a:chOff x="6725" y="4585"/>
            <a:chExt cx="2660" cy="3027"/>
          </a:xfrm>
        </p:grpSpPr>
        <p:sp>
          <p:nvSpPr>
            <p:cNvPr id="19" name="椭圆 18"/>
            <p:cNvSpPr/>
            <p:nvPr/>
          </p:nvSpPr>
          <p:spPr>
            <a:xfrm>
              <a:off x="6725" y="5062"/>
              <a:ext cx="2660" cy="2550"/>
            </a:xfrm>
            <a:prstGeom prst="ellipse">
              <a:avLst/>
            </a:prstGeom>
            <a:gradFill>
              <a:gsLst>
                <a:gs pos="54000">
                  <a:srgbClr val="6F97E6">
                    <a:alpha val="61000"/>
                  </a:srgbClr>
                </a:gs>
                <a:gs pos="40000">
                  <a:srgbClr val="4A76CC">
                    <a:alpha val="85000"/>
                  </a:srgbClr>
                </a:gs>
                <a:gs pos="0">
                  <a:schemeClr val="accent1">
                    <a:alpha val="70000"/>
                    <a:lumMod val="93000"/>
                  </a:schemeClr>
                </a:gs>
                <a:gs pos="100000">
                  <a:schemeClr val="accent1">
                    <a:lumMod val="30000"/>
                    <a:lumOff val="70000"/>
                    <a:alpha val="0"/>
                  </a:schemeClr>
                </a:gs>
              </a:gsLst>
              <a:lin ang="5400000" scaled="0"/>
            </a:gradFill>
            <a:ln w="34925">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chemeClr val="tx1"/>
                </a:solidFill>
              </a:endParaRPr>
            </a:p>
          </p:txBody>
        </p:sp>
        <p:pic>
          <p:nvPicPr>
            <p:cNvPr id="42" name="图片 41" descr="C:/Users/asus/Desktop/李.png李"/>
            <p:cNvPicPr>
              <a:picLocks noChangeAspect="1"/>
            </p:cNvPicPr>
            <p:nvPr/>
          </p:nvPicPr>
          <p:blipFill>
            <a:blip r:embed="rId5" cstate="print">
              <a:lum bright="-6000"/>
            </a:blip>
            <a:srcRect t="58" b="58"/>
            <a:stretch>
              <a:fillRect/>
            </a:stretch>
          </p:blipFill>
          <p:spPr>
            <a:xfrm>
              <a:off x="6901" y="4585"/>
              <a:ext cx="2273" cy="3027"/>
            </a:xfrm>
            <a:custGeom>
              <a:avLst/>
              <a:gdLst>
                <a:gd name="connsiteX0" fmla="*/ 0 w 1682704"/>
                <a:gd name="connsiteY0" fmla="*/ 2395199 h 2395200"/>
                <a:gd name="connsiteX1" fmla="*/ 834482 w 1682704"/>
                <a:gd name="connsiteY1" fmla="*/ 2395199 h 2395200"/>
                <a:gd name="connsiteX2" fmla="*/ 834505 w 1682704"/>
                <a:gd name="connsiteY2" fmla="*/ 2395200 h 2395200"/>
                <a:gd name="connsiteX3" fmla="*/ 0 w 1682704"/>
                <a:gd name="connsiteY3" fmla="*/ 2395200 h 2395200"/>
                <a:gd name="connsiteX4" fmla="*/ 1682704 w 1682704"/>
                <a:gd name="connsiteY4" fmla="*/ 1665054 h 2395200"/>
                <a:gd name="connsiteX5" fmla="*/ 1682704 w 1682704"/>
                <a:gd name="connsiteY5" fmla="*/ 2395200 h 2395200"/>
                <a:gd name="connsiteX6" fmla="*/ 834551 w 1682704"/>
                <a:gd name="connsiteY6" fmla="*/ 2395200 h 2395200"/>
                <a:gd name="connsiteX7" fmla="*/ 834574 w 1682704"/>
                <a:gd name="connsiteY7" fmla="*/ 2395199 h 2395200"/>
                <a:gd name="connsiteX8" fmla="*/ 1682703 w 1682704"/>
                <a:gd name="connsiteY8" fmla="*/ 2395199 h 2395200"/>
                <a:gd name="connsiteX9" fmla="*/ 1682703 w 1682704"/>
                <a:gd name="connsiteY9" fmla="*/ 1665072 h 2395200"/>
                <a:gd name="connsiteX10" fmla="*/ 0 w 1682704"/>
                <a:gd name="connsiteY10" fmla="*/ 0 h 2395200"/>
                <a:gd name="connsiteX11" fmla="*/ 1682703 w 1682704"/>
                <a:gd name="connsiteY11" fmla="*/ 0 h 2395200"/>
                <a:gd name="connsiteX12" fmla="*/ 1682703 w 1682704"/>
                <a:gd name="connsiteY12" fmla="*/ 1665072 h 2395200"/>
                <a:gd name="connsiteX13" fmla="*/ 1678852 w 1682704"/>
                <a:gd name="connsiteY13" fmla="*/ 1735101 h 2395200"/>
                <a:gd name="connsiteX14" fmla="*/ 921249 w 1682704"/>
                <a:gd name="connsiteY14" fmla="*/ 2391431 h 2395200"/>
                <a:gd name="connsiteX15" fmla="*/ 834574 w 1682704"/>
                <a:gd name="connsiteY15" fmla="*/ 2395199 h 2395200"/>
                <a:gd name="connsiteX16" fmla="*/ 834482 w 1682704"/>
                <a:gd name="connsiteY16" fmla="*/ 2395199 h 2395200"/>
                <a:gd name="connsiteX17" fmla="*/ 747807 w 1682704"/>
                <a:gd name="connsiteY17" fmla="*/ 2391431 h 2395200"/>
                <a:gd name="connsiteX18" fmla="*/ 3584 w 1682704"/>
                <a:gd name="connsiteY18" fmla="*/ 1812204 h 2395200"/>
                <a:gd name="connsiteX19" fmla="*/ 0 w 1682704"/>
                <a:gd name="connsiteY19" fmla="*/ 1791989 h 239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82704" h="2395200">
                  <a:moveTo>
                    <a:pt x="0" y="2395199"/>
                  </a:moveTo>
                  <a:lnTo>
                    <a:pt x="834482" y="2395199"/>
                  </a:lnTo>
                  <a:lnTo>
                    <a:pt x="834505" y="2395200"/>
                  </a:lnTo>
                  <a:lnTo>
                    <a:pt x="0" y="2395200"/>
                  </a:lnTo>
                  <a:close/>
                  <a:moveTo>
                    <a:pt x="1682704" y="1665054"/>
                  </a:moveTo>
                  <a:lnTo>
                    <a:pt x="1682704" y="2395200"/>
                  </a:lnTo>
                  <a:lnTo>
                    <a:pt x="834551" y="2395200"/>
                  </a:lnTo>
                  <a:lnTo>
                    <a:pt x="834574" y="2395199"/>
                  </a:lnTo>
                  <a:lnTo>
                    <a:pt x="1682703" y="2395199"/>
                  </a:lnTo>
                  <a:lnTo>
                    <a:pt x="1682703" y="1665072"/>
                  </a:lnTo>
                  <a:close/>
                  <a:moveTo>
                    <a:pt x="0" y="0"/>
                  </a:moveTo>
                  <a:lnTo>
                    <a:pt x="1682703" y="0"/>
                  </a:lnTo>
                  <a:lnTo>
                    <a:pt x="1682703" y="1665072"/>
                  </a:lnTo>
                  <a:lnTo>
                    <a:pt x="1678852" y="1735101"/>
                  </a:lnTo>
                  <a:cubicBezTo>
                    <a:pt x="1640618" y="2080899"/>
                    <a:pt x="1322217" y="2356378"/>
                    <a:pt x="921249" y="2391431"/>
                  </a:cubicBezTo>
                  <a:lnTo>
                    <a:pt x="834574" y="2395199"/>
                  </a:lnTo>
                  <a:lnTo>
                    <a:pt x="834482" y="2395199"/>
                  </a:lnTo>
                  <a:lnTo>
                    <a:pt x="747807" y="2391431"/>
                  </a:lnTo>
                  <a:cubicBezTo>
                    <a:pt x="377135" y="2359026"/>
                    <a:pt x="77024" y="2121154"/>
                    <a:pt x="3584" y="1812204"/>
                  </a:cubicBezTo>
                  <a:lnTo>
                    <a:pt x="0" y="1791989"/>
                  </a:lnTo>
                  <a:close/>
                </a:path>
              </a:pathLst>
            </a:custGeom>
          </p:spPr>
        </p:pic>
      </p:grpSp>
      <p:pic>
        <p:nvPicPr>
          <p:cNvPr id="26" name="图片 25" descr="推荐"/>
          <p:cNvPicPr>
            <a:picLocks noChangeAspect="1"/>
          </p:cNvPicPr>
          <p:nvPr/>
        </p:nvPicPr>
        <p:blipFill>
          <a:blip r:embed="rId6" cstate="print"/>
          <a:srcRect t="17800" b="7716"/>
          <a:stretch>
            <a:fillRect/>
          </a:stretch>
        </p:blipFill>
        <p:spPr>
          <a:xfrm>
            <a:off x="5681345" y="510540"/>
            <a:ext cx="2886075" cy="2657475"/>
          </a:xfrm>
          <a:prstGeom prst="roundRect">
            <a:avLst/>
          </a:prstGeom>
          <a:ln>
            <a:solidFill>
              <a:schemeClr val="accent1"/>
            </a:solidFill>
          </a:ln>
        </p:spPr>
      </p:pic>
      <p:cxnSp>
        <p:nvCxnSpPr>
          <p:cNvPr id="5" name="直接连接符 4"/>
          <p:cNvCxnSpPr/>
          <p:nvPr/>
        </p:nvCxnSpPr>
        <p:spPr>
          <a:xfrm flipV="1">
            <a:off x="0" y="545465"/>
            <a:ext cx="9144000" cy="20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图片 5" descr="图标&#10;&#10;AI 生成的内容可能不正确。"/>
          <p:cNvPicPr>
            <a:picLocks noChangeAspect="1"/>
          </p:cNvPicPr>
          <p:nvPr/>
        </p:nvPicPr>
        <p:blipFill>
          <a:blip r:embed="rId7" cstate="print"/>
          <a:stretch>
            <a:fillRect/>
          </a:stretch>
        </p:blipFill>
        <p:spPr>
          <a:xfrm>
            <a:off x="0" y="-11625"/>
            <a:ext cx="331373" cy="5570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dministrator\Desktop\a.jpg"/>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bwMode="auto">
          <a:xfrm>
            <a:off x="0" y="0"/>
            <a:ext cx="9144004" cy="5143502"/>
          </a:xfrm>
          <a:prstGeom prst="rect">
            <a:avLst/>
          </a:prstGeom>
          <a:noFill/>
          <a:extLst>
            <a:ext uri="{909E8E84-426E-40DD-AFC4-6F175D3DCCD1}">
              <a14:hiddenFill xmlns:a14="http://schemas.microsoft.com/office/drawing/2010/main">
                <a:solidFill>
                  <a:srgbClr val="FFFFFF"/>
                </a:solidFill>
              </a14:hiddenFill>
            </a:ext>
          </a:extLst>
        </p:spPr>
      </p:pic>
      <p:sp>
        <p:nvSpPr>
          <p:cNvPr id="13" name="流程图: 数据 12"/>
          <p:cNvSpPr/>
          <p:nvPr/>
        </p:nvSpPr>
        <p:spPr>
          <a:xfrm>
            <a:off x="4312435" y="2"/>
            <a:ext cx="4292014" cy="3528127"/>
          </a:xfrm>
          <a:prstGeom prst="flowChartInputOutput">
            <a:avLst/>
          </a:prstGeom>
          <a:gradFill>
            <a:gsLst>
              <a:gs pos="52000">
                <a:srgbClr val="0070C0">
                  <a:alpha val="65000"/>
                </a:srgbClr>
              </a:gs>
              <a:gs pos="0">
                <a:srgbClr val="00B0F0">
                  <a:alpha val="65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流程图: 数据 14"/>
          <p:cNvSpPr/>
          <p:nvPr/>
        </p:nvSpPr>
        <p:spPr>
          <a:xfrm>
            <a:off x="4118812" y="1615375"/>
            <a:ext cx="4292014" cy="3528127"/>
          </a:xfrm>
          <a:prstGeom prst="flowChartInputOutput">
            <a:avLst/>
          </a:prstGeom>
          <a:solidFill>
            <a:srgbClr val="005EA4">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3"/>
          <p:cNvSpPr txBox="1"/>
          <p:nvPr/>
        </p:nvSpPr>
        <p:spPr>
          <a:xfrm>
            <a:off x="4658270" y="2075546"/>
            <a:ext cx="2937381" cy="621030"/>
          </a:xfrm>
          <a:prstGeom prst="rect">
            <a:avLst/>
          </a:prstGeom>
          <a:noFill/>
        </p:spPr>
        <p:txBody>
          <a:bodyPr wrap="square" lIns="68576" tIns="34288" rIns="68576" bIns="34288" rtlCol="0">
            <a:spAutoFit/>
          </a:bodyPr>
          <a:lstStyle/>
          <a:p>
            <a:r>
              <a:rPr lang="zh-CN" altLang="en-US" sz="3600" b="1" dirty="0">
                <a:solidFill>
                  <a:schemeClr val="bg1"/>
                </a:solidFill>
                <a:latin typeface="微软雅黑" panose="020B0503020204020204" pitchFamily="34" charset="-122"/>
                <a:ea typeface="微软雅黑" panose="020B0503020204020204" pitchFamily="34" charset="-122"/>
              </a:rPr>
              <a:t>感谢听取汇报</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pic>
        <p:nvPicPr>
          <p:cNvPr id="3" name="图片 2" descr="1_1067000501_171_85_3_1065498782_26b3dd9591dfe34061b43a3a492131f4"/>
          <p:cNvPicPr>
            <a:picLocks noChangeAspect="1"/>
          </p:cNvPicPr>
          <p:nvPr/>
        </p:nvPicPr>
        <p:blipFill>
          <a:blip r:embed="rId2" cstate="print"/>
          <a:stretch>
            <a:fillRect/>
          </a:stretch>
        </p:blipFill>
        <p:spPr>
          <a:xfrm>
            <a:off x="6374765" y="3776345"/>
            <a:ext cx="1123950" cy="11239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Click="0">
        <p:blinds dir="vert"/>
      </p:transition>
    </mc:Choice>
    <mc:Fallback>
      <p:transition spd="slow" advClick="0">
        <p:blinds dir="vert"/>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BEAUTIFY_FLAG" val="#fgm#"/>
  <p:tag name="KSO_WM_FIGMA_FLAG" val="#fgm#"/>
  <p:tag name="KSO_WM_UNIT_INDEX" val="1"/>
  <p:tag name="KSO_WM_UNIT_TYPE" val="a"/>
  <p:tag name="KSO_WM_LAYOUT_CHECK_HASH" val="39d412734fe5acead59753df53e6bd17db3286df"/>
  <p:tag name="KSO_WM_NEWLAYOUT_GROUP_ID" val="layout_10021"/>
  <p:tag name="KSO_WM_NEWLAYOUT_ID" val="slide_d3e92e7295b144a1"/>
</p:tagLst>
</file>

<file path=ppt/tags/tag6.xml><?xml version="1.0" encoding="utf-8"?>
<p:tagLst xmlns:p="http://schemas.openxmlformats.org/presentationml/2006/main">
  <p:tag name="KSO_WM_BEAUTIFY_FLAG" val="#fgm#"/>
  <p:tag name="KSO_WM_FIGMA_FLAG" val="#fgm#"/>
  <p:tag name="KSO_WM_UNIT_INDEX" val="1"/>
  <p:tag name="KSO_WM_UNIT_TYPE" val="f"/>
</p:tagLst>
</file>

<file path=ppt/tags/tag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7.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BEAUTIFY_FLAG" val="#fgm#"/>
  <p:tag name="KSO_WM_FIGMA_FLAG" val="#fgm#"/>
  <p:tag name="KSO_WM_UNIT_INDEX" val="1"/>
  <p:tag name="KSO_WM_UNIT_TYPE" val="a"/>
  <p:tag name="KSO_WM_LAYOUT_CHECK_HASH" val="39d412734fe5acead59753df53e6bd17db3286df"/>
  <p:tag name="KSO_WM_NEWLAYOUT_GROUP_ID" val="layout_10021"/>
  <p:tag name="KSO_WM_NEWLAYOUT_ID" val="slide_d3e92e7295b144a1"/>
</p:tagLst>
</file>

<file path=ppt/tags/tag21.xml><?xml version="1.0" encoding="utf-8"?>
<p:tagLst xmlns:p="http://schemas.openxmlformats.org/presentationml/2006/main">
  <p:tag name="KSO_WM_BEAUTIFY_FLAG" val="#fgm#"/>
  <p:tag name="KSO_WM_FIGMA_FLAG" val="#fgm#"/>
  <p:tag name="KSO_WM_UNIT_INDEX" val="1"/>
  <p:tag name="KSO_WM_UNIT_TYPE" val="f"/>
</p:tagLst>
</file>

<file path=ppt/tags/tag2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1.xml><?xml version="1.0" encoding="utf-8"?>
<p:tagLst xmlns:p="http://schemas.openxmlformats.org/presentationml/2006/main">
  <p:tag name="KSO_WM_DIAGRAM_VIRTUALLY_FRAME" val="{&quot;height&quot;:282.4748031496063,&quot;left&quot;:128.3455118110236,&quot;top&quot;:58.95,&quot;width&quot;:686.4273228346458}"/>
</p:tagLst>
</file>

<file path=ppt/tags/tag32.xml><?xml version="1.0" encoding="utf-8"?>
<p:tagLst xmlns:p="http://schemas.openxmlformats.org/presentationml/2006/main">
  <p:tag name="KSO_WM_DIAGRAM_VIRTUALLY_FRAME" val="{&quot;height&quot;:282.4748031496063,&quot;left&quot;:128.3455118110236,&quot;top&quot;:58.95,&quot;width&quot;:686.4273228346458}"/>
</p:tagLst>
</file>

<file path=ppt/tags/tag33.xml><?xml version="1.0" encoding="utf-8"?>
<p:tagLst xmlns:p="http://schemas.openxmlformats.org/presentationml/2006/main">
  <p:tag name="KSO_WM_DIAGRAM_VIRTUALLY_FRAME" val="{&quot;height&quot;:282.4748031496063,&quot;left&quot;:128.3455118110236,&quot;top&quot;:58.95,&quot;width&quot;:686.4273228346458}"/>
</p:tagLst>
</file>

<file path=ppt/tags/tag34.xml><?xml version="1.0" encoding="utf-8"?>
<p:tagLst xmlns:p="http://schemas.openxmlformats.org/presentationml/2006/main">
  <p:tag name="KSO_WM_DIAGRAM_VIRTUALLY_FRAME" val="{&quot;height&quot;:282.4748031496063,&quot;left&quot;:128.3455118110236,&quot;top&quot;:58.95,&quot;width&quot;:686.4273228346458}"/>
</p:tagLst>
</file>

<file path=ppt/tags/tag35.xml><?xml version="1.0" encoding="utf-8"?>
<p:tagLst xmlns:p="http://schemas.openxmlformats.org/presentationml/2006/main">
  <p:tag name="KSO_WM_DIAGRAM_VIRTUALLY_FRAME" val="{&quot;height&quot;:282.4748031496063,&quot;left&quot;:128.3455118110236,&quot;top&quot;:58.95,&quot;width&quot;:686.4273228346458}"/>
</p:tagLst>
</file>

<file path=ppt/tags/tag36.xml><?xml version="1.0" encoding="utf-8"?>
<p:tagLst xmlns:p="http://schemas.openxmlformats.org/presentationml/2006/main">
  <p:tag name="KSO_WM_DIAGRAM_VIRTUALLY_FRAME" val="{&quot;height&quot;:282.4748031496063,&quot;left&quot;:128.3455118110236,&quot;top&quot;:58.95,&quot;width&quot;:686.4273228346458}"/>
</p:tagLst>
</file>

<file path=ppt/tags/tag37.xml><?xml version="1.0" encoding="utf-8"?>
<p:tagLst xmlns:p="http://schemas.openxmlformats.org/presentationml/2006/main">
  <p:tag name="KSO_WM_DIAGRAM_VIRTUALLY_FRAME" val="{&quot;height&quot;:282.4748031496063,&quot;left&quot;:128.3455118110236,&quot;top&quot;:58.95,&quot;width&quot;:686.4273228346458}"/>
</p:tagLst>
</file>

<file path=ppt/tags/tag38.xml><?xml version="1.0" encoding="utf-8"?>
<p:tagLst xmlns:p="http://schemas.openxmlformats.org/presentationml/2006/main">
  <p:tag name="KSO_WM_DIAGRAM_VIRTUALLY_FRAME" val="{&quot;height&quot;:282.4748031496063,&quot;left&quot;:128.3455118110236,&quot;top&quot;:58.95,&quot;width&quot;:686.4273228346458}"/>
</p:tagLst>
</file>

<file path=ppt/tags/tag39.xml><?xml version="1.0" encoding="utf-8"?>
<p:tagLst xmlns:p="http://schemas.openxmlformats.org/presentationml/2006/main">
  <p:tag name="KSO_WM_DIAGRAM_VIRTUALLY_FRAME" val="{&quot;height&quot;:282.4748031496063,&quot;left&quot;:128.3455118110236,&quot;top&quot;:58.95,&quot;width&quot;:686.4273228346458}"/>
</p:tagLst>
</file>

<file path=ppt/tags/tag40.xml><?xml version="1.0" encoding="utf-8"?>
<p:tagLst xmlns:p="http://schemas.openxmlformats.org/presentationml/2006/main">
  <p:tag name="KSO_WM_DIAGRAM_VIRTUALLY_FRAME" val="{&quot;height&quot;:282.4748031496063,&quot;left&quot;:128.3455118110236,&quot;top&quot;:58.95,&quot;width&quot;:686.4273228346458}"/>
</p:tagLst>
</file>

<file path=ppt/tags/tag41.xml><?xml version="1.0" encoding="utf-8"?>
<p:tagLst xmlns:p="http://schemas.openxmlformats.org/presentationml/2006/main">
  <p:tag name="KSO_WM_DIAGRAM_VIRTUALLY_FRAME" val="{&quot;height&quot;:282.4748031496063,&quot;left&quot;:128.3455118110236,&quot;top&quot;:58.95,&quot;width&quot;:686.4273228346458}"/>
</p:tagLst>
</file>

<file path=ppt/tags/tag42.xml><?xml version="1.0" encoding="utf-8"?>
<p:tagLst xmlns:p="http://schemas.openxmlformats.org/presentationml/2006/main">
  <p:tag name="KSO_WM_DIAGRAM_VIRTUALLY_FRAME" val="{&quot;height&quot;:282.4748031496063,&quot;left&quot;:128.3455118110236,&quot;top&quot;:58.95,&quot;width&quot;:686.4273228346458}"/>
</p:tagLst>
</file>

<file path=ppt/tags/tag43.xml><?xml version="1.0" encoding="utf-8"?>
<p:tagLst xmlns:p="http://schemas.openxmlformats.org/presentationml/2006/main">
  <p:tag name="KSO_WM_DIAGRAM_VIRTUALLY_FRAME" val="{&quot;height&quot;:282.4748031496063,&quot;left&quot;:128.3455118110236,&quot;top&quot;:58.95,&quot;width&quot;:686.4273228346458}"/>
</p:tagLst>
</file>

<file path=ppt/tags/tag4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45.xml><?xml version="1.0" encoding="utf-8"?>
<p:tagLst xmlns:p="http://schemas.openxmlformats.org/presentationml/2006/main">
  <p:tag name="KSO_WM_BEAUTIFY_FLAG" val="#wm#"/>
  <p:tag name="KSO_WM_TEMPLATE_CATEGORY" val="custom"/>
  <p:tag name="KSO_WM_TEMPLATE_INDEX" val="20234773"/>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d3e92e7295b144a1"/>
</p:tagLst>
</file>

<file path=ppt/tags/tag55.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56.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57.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58.xml><?xml version="1.0" encoding="utf-8"?>
<p:tagLst xmlns:p="http://schemas.openxmlformats.org/presentationml/2006/main">
  <p:tag name="KSO_WM_DIAGRAM_VIRTUALLY_FRAME" val="{&quot;height&quot;:390.20755905511817,&quot;left&quot;:7.310708661417323,&quot;top&quot;:82.71832020997374,&quot;width&quot;:911.1621522309712}"/>
</p:tagLst>
</file>

<file path=ppt/tags/tag59.xml><?xml version="1.0" encoding="utf-8"?>
<p:tagLst xmlns:p="http://schemas.openxmlformats.org/presentationml/2006/main">
  <p:tag name="KSO_WM_DIAGRAM_VIRTUALLY_FRAME" val="{&quot;height&quot;:390.20755905511817,&quot;left&quot;:7.310708661417323,&quot;top&quot;:82.71832020997374,&quot;width&quot;:911.1621522309712}"/>
</p:tagLst>
</file>

<file path=ppt/tags/tag60.xml><?xml version="1.0" encoding="utf-8"?>
<p:tagLst xmlns:p="http://schemas.openxmlformats.org/presentationml/2006/main">
  <p:tag name="KSO_WM_DIAGRAM_VIRTUALLY_FRAME" val="{&quot;height&quot;:390.20755905511817,&quot;left&quot;:7.310708661417323,&quot;top&quot;:82.71832020997374,&quot;width&quot;:911.1621522309712}"/>
</p:tagLst>
</file>

<file path=ppt/tags/tag61.xml><?xml version="1.0" encoding="utf-8"?>
<p:tagLst xmlns:p="http://schemas.openxmlformats.org/presentationml/2006/main">
  <p:tag name="KSO_WM_DIAGRAM_VIRTUALLY_FRAME" val="{&quot;height&quot;:390.20755905511817,&quot;left&quot;:7.310708661417323,&quot;top&quot;:82.71832020997374,&quot;width&quot;:911.1621522309712}"/>
</p:tagLst>
</file>

<file path=ppt/tags/tag62.xml><?xml version="1.0" encoding="utf-8"?>
<p:tagLst xmlns:p="http://schemas.openxmlformats.org/presentationml/2006/main">
  <p:tag name="KSO_WM_DIAGRAM_VIRTUALLY_FRAME" val="{&quot;height&quot;:390.20755905511817,&quot;left&quot;:7.310708661417323,&quot;top&quot;:82.71832020997374,&quot;width&quot;:911.1621522309712}"/>
</p:tagLst>
</file>

<file path=ppt/tags/tag63.xml><?xml version="1.0" encoding="utf-8"?>
<p:tagLst xmlns:p="http://schemas.openxmlformats.org/presentationml/2006/main">
  <p:tag name="KSO_WM_DIAGRAM_VIRTUALLY_FRAME" val="{&quot;height&quot;:390.20755905511817,&quot;left&quot;:7.310708661417323,&quot;top&quot;:82.71832020997374,&quot;width&quot;:911.1621522309712}"/>
</p:tagLst>
</file>

<file path=ppt/tags/tag64.xml><?xml version="1.0" encoding="utf-8"?>
<p:tagLst xmlns:p="http://schemas.openxmlformats.org/presentationml/2006/main">
  <p:tag name="KSO_WM_DIAGRAM_VIRTUALLY_FRAME" val="{&quot;height&quot;:390.20755905511817,&quot;left&quot;:7.310708661417323,&quot;top&quot;:82.71832020997374,&quot;width&quot;:911.1621522309712}"/>
</p:tagLst>
</file>

<file path=ppt/tags/tag65.xml><?xml version="1.0" encoding="utf-8"?>
<p:tagLst xmlns:p="http://schemas.openxmlformats.org/presentationml/2006/main">
  <p:tag name="KSO_WM_DIAGRAM_VIRTUALLY_FRAME" val="{&quot;height&quot;:390.20755905511817,&quot;left&quot;:7.310708661417323,&quot;top&quot;:82.71832020997374,&quot;width&quot;:911.1621522309712}"/>
</p:tagLst>
</file>

<file path=ppt/tags/tag66.xml><?xml version="1.0" encoding="utf-8"?>
<p:tagLst xmlns:p="http://schemas.openxmlformats.org/presentationml/2006/main">
  <p:tag name="KSO_WM_DIAGRAM_VIRTUALLY_FRAME" val="{&quot;height&quot;:390.20755905511817,&quot;left&quot;:7.310708661417323,&quot;top&quot;:82.71832020997374,&quot;width&quot;:911.1621522309712}"/>
</p:tagLst>
</file>

<file path=ppt/tags/tag67.xml><?xml version="1.0" encoding="utf-8"?>
<p:tagLst xmlns:p="http://schemas.openxmlformats.org/presentationml/2006/main">
  <p:tag name="KSO_WM_DIAGRAM_VIRTUALLY_FRAME" val="{&quot;height&quot;:390.20755905511817,&quot;left&quot;:7.310708661417323,&quot;top&quot;:82.71832020997374,&quot;width&quot;:911.1621522309712}"/>
</p:tagLst>
</file>

<file path=ppt/tags/tag68.xml><?xml version="1.0" encoding="utf-8"?>
<p:tagLst xmlns:p="http://schemas.openxmlformats.org/presentationml/2006/main">
  <p:tag name="KSO_WM_DIAGRAM_VIRTUALLY_FRAME" val="{&quot;height&quot;:390.20755905511817,&quot;left&quot;:7.310708661417323,&quot;top&quot;:82.71832020997374,&quot;width&quot;:911.1621522309712}"/>
</p:tagLst>
</file>

<file path=ppt/tags/tag69.xml><?xml version="1.0" encoding="utf-8"?>
<p:tagLst xmlns:p="http://schemas.openxmlformats.org/presentationml/2006/main">
  <p:tag name="KSO_WM_DIAGRAM_VIRTUALLY_FRAME" val="{&quot;height&quot;:390.20755905511817,&quot;left&quot;:7.310708661417323,&quot;top&quot;:82.71832020997374,&quot;width&quot;:911.1621522309712}"/>
</p:tagLst>
</file>

<file path=ppt/tags/tag70.xml><?xml version="1.0" encoding="utf-8"?>
<p:tagLst xmlns:p="http://schemas.openxmlformats.org/presentationml/2006/main">
  <p:tag name="KSO_WM_UNIT_INDEX" val="18"/>
  <p:tag name="KSO_WM_UNIT_TYPE" val="f"/>
  <p:tag name="KSO_WM_UNIT_SUBTYPE" val="a"/>
  <p:tag name="KSO_WM_BEAUTIFY_FLAG" val="#wm#"/>
</p:tagLst>
</file>

<file path=ppt/tags/tag71.xml><?xml version="1.0" encoding="utf-8"?>
<p:tagLst xmlns:p="http://schemas.openxmlformats.org/presentationml/2006/main">
  <p:tag name="KSO_WM_UNIT_INDEX" val="3"/>
  <p:tag name="KSO_WM_UNIT_TYPE" val="f"/>
  <p:tag name="KSO_WM_UNIT_SUBTYPE" val="a"/>
  <p:tag name="KSO_WM_BEAUTIFY_FLAG" val="#wm#"/>
</p:tagLst>
</file>

<file path=ppt/tags/tag72.xml><?xml version="1.0" encoding="utf-8"?>
<p:tagLst xmlns:p="http://schemas.openxmlformats.org/presentationml/2006/main">
  <p:tag name="KSO_WM_UNIT_INDEX" val="18"/>
  <p:tag name="KSO_WM_UNIT_TYPE" val="f"/>
  <p:tag name="KSO_WM_UNIT_SUBTYPE" val="a"/>
  <p:tag name="KSO_WM_BEAUTIFY_FLAG" val="#wm#"/>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UNIT_INDEX" val="3"/>
  <p:tag name="KSO_WM_UNIT_TYPE" val="j"/>
  <p:tag name="KSO_WM_BEAUTIFY_FLAG" val="#wm#"/>
</p:tagLst>
</file>

<file path=ppt/tags/tag75.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76.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77.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78.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79.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80.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81.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82.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83.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84.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85.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86.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87.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88.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89.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90.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91.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92.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93.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94.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95.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96.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97.xml><?xml version="1.0" encoding="utf-8"?>
<p:tagLst xmlns:p="http://schemas.openxmlformats.org/presentationml/2006/main">
  <p:tag name="KSO_WM_DIAGRAM_VIRTUALLY_FRAME" val="{&quot;height&quot;:425.1699212598425,&quot;left&quot;:14.33527559055118,&quot;top&quot;:52.23007874015745,&quot;width&quot;:705.6647244094488}"/>
</p:tagLst>
</file>

<file path=ppt/tags/tag98.xml><?xml version="1.0" encoding="utf-8"?>
<p:tagLst xmlns:p="http://schemas.openxmlformats.org/presentationml/2006/main">
  <p:tag name="KSO_WM_UNIT_INDEX" val="18"/>
  <p:tag name="KSO_WM_UNIT_TYPE" val="f"/>
  <p:tag name="KSO_WM_UNIT_SUBTYPE" val="a"/>
  <p:tag name="KSO_WM_BEAUTIFY_FLAG" val="#wm#"/>
</p:tagLst>
</file>

<file path=ppt/tags/tag99.xml><?xml version="1.0" encoding="utf-8"?>
<p:tagLst xmlns:p="http://schemas.openxmlformats.org/presentationml/2006/main">
  <p:tag name="ADJUSTMENTS" val="10.72051"/>
  <p:tag name="SHADOWSIZE" val="100"/>
</p:tagLst>
</file>

<file path=ppt/tags/tag100.xml><?xml version="1.0" encoding="utf-8"?>
<p:tagLst xmlns:p="http://schemas.openxmlformats.org/presentationml/2006/main">
  <p:tag name="SHADOWSIZE" val="100"/>
</p:tagLst>
</file>

<file path=ppt/tags/tag101.xml><?xml version="1.0" encoding="utf-8"?>
<p:tagLst xmlns:p="http://schemas.openxmlformats.org/presentationml/2006/main">
  <p:tag name="ADJUSTMENTS" val="5.837269"/>
</p:tagLst>
</file>

<file path=ppt/tags/tag102.xml><?xml version="1.0" encoding="utf-8"?>
<p:tagLst xmlns:p="http://schemas.openxmlformats.org/presentationml/2006/main">
  <p:tag name="ADJUSTMENTS" val="5.837269"/>
</p:tagLst>
</file>

<file path=ppt/tags/tag103.xml><?xml version="1.0" encoding="utf-8"?>
<p:tagLst xmlns:p="http://schemas.openxmlformats.org/presentationml/2006/main">
  <p:tag name="ADJUSTMENTS" val="5.99718"/>
</p:tagLst>
</file>

<file path=ppt/tags/tag104.xml><?xml version="1.0" encoding="utf-8"?>
<p:tagLst xmlns:p="http://schemas.openxmlformats.org/presentationml/2006/main">
  <p:tag name="ADJUSTMENTS" val="5.837269"/>
</p:tagLst>
</file>

<file path=ppt/tags/tag105.xml><?xml version="1.0" encoding="utf-8"?>
<p:tagLst xmlns:p="http://schemas.openxmlformats.org/presentationml/2006/main">
  <p:tag name="ADJUSTMENTS" val="10.72051"/>
  <p:tag name="SHADOWSIZE" val="100"/>
</p:tagLst>
</file>

<file path=ppt/tags/tag106.xml><?xml version="1.0" encoding="utf-8"?>
<p:tagLst xmlns:p="http://schemas.openxmlformats.org/presentationml/2006/main">
  <p:tag name="SHADOWSIZE" val="100"/>
</p:tagLst>
</file>

<file path=ppt/tags/tag107.xml><?xml version="1.0" encoding="utf-8"?>
<p:tagLst xmlns:p="http://schemas.openxmlformats.org/presentationml/2006/main">
  <p:tag name="ADJUSTMENTS" val="5.837269"/>
</p:tagLst>
</file>

<file path=ppt/tags/tag108.xml><?xml version="1.0" encoding="utf-8"?>
<p:tagLst xmlns:p="http://schemas.openxmlformats.org/presentationml/2006/main">
  <p:tag name="ADJUSTMENTS" val="5.837269"/>
</p:tagLst>
</file>

<file path=ppt/tags/tag109.xml><?xml version="1.0" encoding="utf-8"?>
<p:tagLst xmlns:p="http://schemas.openxmlformats.org/presentationml/2006/main">
  <p:tag name="KSO_WM_UNIT_INDEX" val="18"/>
  <p:tag name="KSO_WM_UNIT_TYPE" val="f"/>
  <p:tag name="KSO_WM_UNIT_SUBTYPE" val="a"/>
  <p:tag name="KSO_WM_BEAUTIFY_FLAG" val="#wm#"/>
</p:tagLst>
</file>

<file path=ppt/tags/tag110.xml><?xml version="1.0" encoding="utf-8"?>
<p:tagLst xmlns:p="http://schemas.openxmlformats.org/presentationml/2006/main">
  <p:tag name="KSO_WM_UNIT_PLACING_PICTURE_USER_VIEWPORT" val="{&quot;height&quot;:4632,&quot;width&quot;:12924}"/>
</p:tagLst>
</file>

<file path=ppt/tags/tag111.xml><?xml version="1.0" encoding="utf-8"?>
<p:tagLst xmlns:p="http://schemas.openxmlformats.org/presentationml/2006/main">
  <p:tag name="KSO_WM_UNIT_PLACING_PICTURE_USER_VIEWPORT" val="{&quot;height&quot;:3636,&quot;width&quot;:9638}"/>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UNIT_INDEX" val="18"/>
  <p:tag name="KSO_WM_UNIT_TYPE" val="f"/>
  <p:tag name="KSO_WM_UNIT_SUBTYPE" val="a"/>
  <p:tag name="KSO_WM_BEAUTIFY_FLAG" val="#wm#"/>
</p:tagLst>
</file>

<file path=ppt/tags/tag115.xml><?xml version="1.0" encoding="utf-8"?>
<p:tagLst xmlns:p="http://schemas.openxmlformats.org/presentationml/2006/main">
  <p:tag name="KSO_WM_UNIT_INDEX" val="3"/>
  <p:tag name="KSO_WM_UNIT_TYPE" val="j"/>
  <p:tag name="KSO_WM_BEAUTIFY_FLAG" val="#wm#"/>
</p:tagLst>
</file>

<file path=ppt/tags/tag116.xml><?xml version="1.0" encoding="utf-8"?>
<p:tagLst xmlns:p="http://schemas.openxmlformats.org/presentationml/2006/main">
  <p:tag name="KSO_WM_DIAGRAM_VIRTUALLY_FRAME" val="{&quot;height&quot;:404.2594488188976,&quot;left&quot;:48.398976377952756,&quot;top&quot;:92.89188976377952,&quot;width&quot;:863.2020472440945}"/>
</p:tagLst>
</file>

<file path=ppt/tags/tag117.xml><?xml version="1.0" encoding="utf-8"?>
<p:tagLst xmlns:p="http://schemas.openxmlformats.org/presentationml/2006/main">
  <p:tag name="KSO_WM_DIAGRAM_VIRTUALLY_FRAME" val="{&quot;height&quot;:404.2594488188976,&quot;left&quot;:48.398976377952756,&quot;top&quot;:92.89188976377952,&quot;width&quot;:863.2020472440945}"/>
</p:tagLst>
</file>

<file path=ppt/tags/tag118.xml><?xml version="1.0" encoding="utf-8"?>
<p:tagLst xmlns:p="http://schemas.openxmlformats.org/presentationml/2006/main">
  <p:tag name="KSO_WM_UNIT_INDEX" val="18"/>
  <p:tag name="KSO_WM_UNIT_TYPE" val="f"/>
  <p:tag name="KSO_WM_UNIT_SUBTYPE" val="a"/>
  <p:tag name="KSO_WM_BEAUTIFY_FLAG" val="#wm#"/>
</p:tagLst>
</file>

<file path=ppt/tags/tag119.xml><?xml version="1.0" encoding="utf-8"?>
<p:tagLst xmlns:p="http://schemas.openxmlformats.org/presentationml/2006/main">
  <p:tag name="KSO_WM_UNIT_INDEX" val="18"/>
  <p:tag name="KSO_WM_UNIT_TYPE" val="f"/>
  <p:tag name="KSO_WM_UNIT_SUBTYPE" val="a"/>
  <p:tag name="KSO_WM_BEAUTIFY_FLAG" val="#wm#"/>
</p:tagLst>
</file>

<file path=ppt/tags/tag12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21.xml><?xml version="1.0" encoding="utf-8"?>
<p:tagLst xmlns:p="http://schemas.openxmlformats.org/presentationml/2006/main">
  <p:tag name="KSO_WM_BEAUTIFY_FLAG" val="#wm#"/>
  <p:tag name="KSO_WM_TEMPLATE_CATEGORY" val="custom"/>
  <p:tag name="KSO_WM_TEMPLATE_INDEX" val="20235098"/>
</p:tagLst>
</file>

<file path=ppt/tags/tag122.xml><?xml version="1.0" encoding="utf-8"?>
<p:tagLst xmlns:p="http://schemas.openxmlformats.org/presentationml/2006/main">
  <p:tag name="AS_NET" val="2.0.50727.5485"/>
  <p:tag name="AS_OS" val="Microsoft Windows NT 6.1.7601 Service Pack 1"/>
  <p:tag name="AS_RELEASE_DATE" val="2018.04.09"/>
  <p:tag name="AS_TITLE" val="Aspose.Slides for .NET 2.0"/>
  <p:tag name="AS_VERSION" val="18.4"/>
  <p:tag name="ISPRING_PRESENTATION_TITLE" val="PowerPoint 演示文稿"/>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8061</Words>
  <Application>WPS 演示</Application>
  <PresentationFormat>全屏显示(16:9)</PresentationFormat>
  <Paragraphs>456</Paragraphs>
  <Slides>32</Slides>
  <Notes>26</Notes>
  <HiddenSlides>0</HiddenSlides>
  <MMClips>7</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32</vt:i4>
      </vt:variant>
    </vt:vector>
  </HeadingPairs>
  <TitlesOfParts>
    <vt:vector size="58" baseType="lpstr">
      <vt:lpstr>Arial</vt:lpstr>
      <vt:lpstr>宋体</vt:lpstr>
      <vt:lpstr>Wingdings</vt:lpstr>
      <vt:lpstr>Verdana</vt:lpstr>
      <vt:lpstr>微软雅黑</vt:lpstr>
      <vt:lpstr>阿里巴巴普惠体 Heavy</vt:lpstr>
      <vt:lpstr>Times New Roman</vt:lpstr>
      <vt:lpstr>等线</vt:lpstr>
      <vt:lpstr>思源黑体 Bold</vt:lpstr>
      <vt:lpstr>黑体</vt:lpstr>
      <vt:lpstr>汉仪旗黑-55简</vt:lpstr>
      <vt:lpstr>Times New Roman</vt:lpstr>
      <vt:lpstr>Calibri</vt:lpstr>
      <vt:lpstr>Arial Unicode MS</vt:lpstr>
      <vt:lpstr>Calibri Light</vt:lpstr>
      <vt:lpstr>Wingdings</vt:lpstr>
      <vt:lpstr>Arial</vt:lpstr>
      <vt:lpstr>Calibri</vt:lpstr>
      <vt:lpstr>华文宋体</vt:lpstr>
      <vt:lpstr>思源黑体 Bold</vt:lpstr>
      <vt:lpstr>思源黑体</vt:lpstr>
      <vt:lpstr>思源黑体</vt:lpstr>
      <vt:lpstr>Gill Sans</vt:lpstr>
      <vt:lpstr>Segoe Print</vt:lpstr>
      <vt:lpstr>Office 主题</vt:lpstr>
      <vt:lpstr>1_Office 主题</vt:lpstr>
      <vt:lpstr>PowerPoint 演示文稿</vt:lpstr>
      <vt:lpstr>PowerPoint 演示文稿</vt:lpstr>
      <vt:lpstr>PowerPoint 演示文稿</vt:lpstr>
      <vt:lpstr>1.公司简介</vt:lpstr>
      <vt:lpstr>1.公司简介</vt:lpstr>
      <vt:lpstr>PowerPoint 演示文稿</vt:lpstr>
      <vt:lpstr>PowerPoint 演示文稿</vt:lpstr>
      <vt:lpstr>PowerPoint 演示文稿</vt:lpstr>
      <vt:lpstr>PowerPoint 演示文稿</vt:lpstr>
      <vt:lpstr>PowerPoint 演示文稿</vt:lpstr>
      <vt:lpstr>6.股权及架构——组织架构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8.部分合作单位与客户</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风云办公PPT模板</dc:title>
  <dc:creator/>
  <cp:keywords>风云办公</cp:keywords>
  <dc:description>风云办公 http://www.ppt118.com</dc:description>
  <cp:lastModifiedBy>鹏</cp:lastModifiedBy>
  <cp:revision>285</cp:revision>
  <dcterms:created xsi:type="dcterms:W3CDTF">2015-12-07T16:40:00Z</dcterms:created>
  <dcterms:modified xsi:type="dcterms:W3CDTF">2026-06-15T08:45:18Z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C7304D9F95BD4835A82FE42DE846ADC6_13</vt:lpwstr>
  </property>
  <property fmtid="{D5CDD505-2E9C-101B-9397-08002B2CF9AE}" pid="3" name="KSOProductBuildVer">
    <vt:lpwstr>2052-12.1.0.26895</vt:lpwstr>
  </property>
</Properties>
</file>