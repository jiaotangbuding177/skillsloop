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7" r:id="rId6"/>
    <p:sldMasterId id="2147483669" r:id="rId7"/>
    <p:sldMasterId id="2147483671" r:id="rId8"/>
  </p:sldMasterIdLst>
  <p:notesMasterIdLst>
    <p:notesMasterId r:id="rId10"/>
  </p:notesMasterIdLst>
  <p:sldIdLst>
    <p:sldId id="256" r:id="rId9"/>
    <p:sldId id="257" r:id="rId11"/>
    <p:sldId id="281" r:id="rId12"/>
    <p:sldId id="258" r:id="rId13"/>
    <p:sldId id="259" r:id="rId14"/>
    <p:sldId id="283" r:id="rId15"/>
    <p:sldId id="261" r:id="rId16"/>
    <p:sldId id="262" r:id="rId17"/>
    <p:sldId id="263" r:id="rId18"/>
    <p:sldId id="267" r:id="rId19"/>
    <p:sldId id="264" r:id="rId20"/>
    <p:sldId id="268" r:id="rId21"/>
    <p:sldId id="269" r:id="rId22"/>
    <p:sldId id="284" r:id="rId23"/>
    <p:sldId id="270" r:id="rId24"/>
    <p:sldId id="274" r:id="rId25"/>
    <p:sldId id="271" r:id="rId26"/>
    <p:sldId id="266" r:id="rId27"/>
    <p:sldId id="273" r:id="rId2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7" userDrawn="1">
          <p15:clr>
            <a:srgbClr val="747775"/>
          </p15:clr>
        </p15:guide>
        <p15:guide id="2" pos="289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7"/>
        <p:guide pos="289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专家，您好。非常荣幸能向您介绍我们的项目——“显微精准磁刺激智能闭环治疗系统”。我是项目负责人孙剑飞。这个项目源于我们团队多年在生物医学工程领域的深耕，旨在解决当前脑疾病治疗领域的痛点，通过原创的“根”技术，为临床带来革命性的解决方案。接下来，我将向您详细汇报我们的技术创新、成果转化进展以及未来的发展规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四个核心部分展开。首先，我将介绍我们项目的核心技术与关键创新点；其次，展示我们在成果转化和市场验证方面取得的进展；接着，介绍我们的核心团队与公司股权架构；最后，将阐述我们未来的合作展望以及希望得到您的专业指导和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四个核心部分展开。首先，我将介绍我们项目的核心技术与关键创新点；其次，展示我们在成果转化和市场验证方面取得的进展；接着，介绍我们的核心团队与公司股权架构；最后，将阐述我们未来的合作展望以及希望得到您的专业指导和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核心技术，是一种全新的“磁性微纳器械介导低场精准刺激”策略。简单来说，我们不再依赖高强度的聚焦磁场去穿透颅骨，而是通过一种极微创的方式，将微小的磁性“放大器”精准递送到大脑深处的病灶区域。这样，我们用一个非常安全的弱磁场，就能在特定靶点产生足够强的治疗效果。这不仅极大地降低了设备的技术门槛和成本，更重要的是，它实现了前所未有的精准度和安全性，为磁刺激治疗开辟了全新的应用前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技术方案是一个完整的闭环系统，从磁场输出、微纳器械、靶向递送到智能反馈，环环相扣。其核心创新点主要体现在三个方面：首先，我们通过“核材融合”策略，突破了传统磁刺激的物理极限，实现了对大脑深部的精准打击。其次，我们的系统能够同时调控多个脑区，这对于治疗复杂的神经精神疾病至关重要。最后，我们建立了一套完整的精准调控治疗体系，有望在抑郁症等疾病的治疗上带来革命性的突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四个核心部分展开。首先，我将介绍我们项目的核心技术与关键创新点；其次，展示我们在成果转化和市场验证方面取得的进展；接着，介绍我们的核心团队与公司股权架构；最后，将阐述我们未来的合作展望以及希望得到您的专业指导和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想向您汇报我们在成果转化方面已经完成的关键步骤。首先，我们的技术已经在十多家科研单位得到了应用和验证，这为我们的技术成熟度提供了有力背书。其次，我们成功入选了江苏省产研院的重大转化项目，并获得了超过2000万的资金支持。最重要的是，我们已经在2024年底正式成立了项目公司——南京济磁再康医疗科技有限公司，全面启动产业化进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知识产权是高科技项目的生命线。我们已经将前期研发积累的核心发明专利，全部转移至新成立的公司名下，构建了坚实的护城河。同时，我们的研发团队并没有停止脚步，目前正在围绕核心技术进行新一轮的专利布局，确保我们在未来的竞争中持续保持领先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优秀的项目离不开一个强大的团队。我本人拥有多年的生物医学工程研究背景和丰富的项目管理经验。更重要的是，我们组建了一支顶级的顾问团队，包括了中科院院士、临床顶尖专家、资深投资人和产业界专家。这支“天团”为我们的技术研发、临床转化和市场推广提供了全方位的智慧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知识产权是高科技项目的生命线。我们已经将前期研发积累的核心发明专利，全部转移至新成立的公司名下，构建了坚实的护城河。同时，我们的研发团队并没有停止脚步，目前正在围绕核心技术进行新一轮的专利布局，确保我们在未来的竞争中持续保持领先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公司目前的股权架构。可以看到，创始人团队持有绝对多数的股份，确保了公司发展战略的稳定性和执行力。同时，我们也引入了江苏省产业研究院和江北新区科技投等战略投资方，他们不仅带来了资金，更带来了宝贵的产业资源和政策支持。这个结构既保证了团队的控制权，又具备了开放合作的格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公司目前的股权架构。可以看到，创始人团队持有绝对多数的股份，确保了公司发展战略的稳定性和执行力。同时，我们也引入了江苏省产业研究院和江北新区科技投等战略投资方，他们不仅带来了资金，更带来了宝贵的产业资源和政策支持。这个结构既保证了团队的控制权，又具备了开放合作的格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领导、专家，下午好。这一页将对我们项目的整体进展进行一个高度概括。在技术层面，我们取得了两大突破：一是成功实现了核心耗材——磁性水凝胶微纳器件的稳定批量制备；二是自主研发了从动物到大动物的两代磁刺激设备，并完成了临床前验证。在市场与荣誉方面，我们的产品已实现近38万元的销售额，市场覆盖全国，同时，项目也获得了“科创江苏”二等奖等多项权威认可。这些成果标志着我们的技术已具备产业化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四个核心部分展开。首先，我将介绍我们项目的核心技术与关键创新点；其次，展示我们在成果转化和市场验证方面取得的进展；接着，介绍我们的核心团队与公司股权架构；最后，将阐述我们未来的合作展望以及希望得到您的专业指导和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我的汇报到此结束。我们坚信，这项源于原理创新的技术，将为医疗健康领域带来真正的价值。再次感谢您的宝贵时间，非常期待能与您进一步交流合作。谢谢！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 id="214748366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6.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7.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4.png"/><Relationship Id="rId17" Type="http://schemas.openxmlformats.org/officeDocument/2006/relationships/notesSlide" Target="../notesSlides/notesSlide7.xml"/><Relationship Id="rId16" Type="http://schemas.openxmlformats.org/officeDocument/2006/relationships/slideLayout" Target="../slideLayouts/slideLayout12.xml"/><Relationship Id="rId15" Type="http://schemas.openxmlformats.org/officeDocument/2006/relationships/image" Target="../media/image21.jpeg"/><Relationship Id="rId14" Type="http://schemas.openxmlformats.org/officeDocument/2006/relationships/image" Target="../media/image20.jpeg"/><Relationship Id="rId13" Type="http://schemas.openxmlformats.org/officeDocument/2006/relationships/image" Target="../media/image19.jpeg"/><Relationship Id="rId12" Type="http://schemas.openxmlformats.org/officeDocument/2006/relationships/image" Target="../media/image18.jpe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25.png"/><Relationship Id="rId6" Type="http://schemas.openxmlformats.org/officeDocument/2006/relationships/tags" Target="../tags/tag1.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8.jpe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27.png"/><Relationship Id="rId3" Type="http://schemas.openxmlformats.org/officeDocument/2006/relationships/tags" Target="../tags/tag2.xml"/><Relationship Id="rId28" Type="http://schemas.openxmlformats.org/officeDocument/2006/relationships/notesSlide" Target="../notesSlides/notesSlide10.xml"/><Relationship Id="rId27" Type="http://schemas.openxmlformats.org/officeDocument/2006/relationships/slideLayout" Target="../slideLayouts/slideLayout13.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image" Target="../media/image32.png"/><Relationship Id="rId23" Type="http://schemas.openxmlformats.org/officeDocument/2006/relationships/tags" Target="../tags/tag17.xml"/><Relationship Id="rId22" Type="http://schemas.openxmlformats.org/officeDocument/2006/relationships/tags" Target="../tags/tag16.xml"/><Relationship Id="rId21" Type="http://schemas.openxmlformats.org/officeDocument/2006/relationships/image" Target="../media/image31.jpeg"/><Relationship Id="rId20" Type="http://schemas.openxmlformats.org/officeDocument/2006/relationships/tags" Target="../tags/tag15.xml"/><Relationship Id="rId2" Type="http://schemas.openxmlformats.org/officeDocument/2006/relationships/image" Target="../media/image4.png"/><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image" Target="../media/image30.jpeg"/><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image" Target="../media/image29.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4.png"/><Relationship Id="rId15" Type="http://schemas.openxmlformats.org/officeDocument/2006/relationships/notesSlide" Target="../notesSlides/notesSlide12.xml"/><Relationship Id="rId14" Type="http://schemas.openxmlformats.org/officeDocument/2006/relationships/slideLayout" Target="../slideLayouts/slideLayout14.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4.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5.xml"/><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5.xml"/><Relationship Id="rId2" Type="http://schemas.openxmlformats.org/officeDocument/2006/relationships/image" Target="../media/image4.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5.xml"/><Relationship Id="rId2" Type="http://schemas.openxmlformats.org/officeDocument/2006/relationships/image" Target="../media/image4.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4.png"/><Relationship Id="rId13" Type="http://schemas.openxmlformats.org/officeDocument/2006/relationships/notesSlide" Target="../notesSlides/notesSlide19.xml"/><Relationship Id="rId12" Type="http://schemas.openxmlformats.org/officeDocument/2006/relationships/slideLayout" Target="../slideLayouts/slideLayout15.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737600" y="6362700"/>
            <a:ext cx="28448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FFFFFF">
                    <a:alpha val="90196"/>
                  </a:srgbClr>
                </a:solidFill>
                <a:latin typeface="Calibri" panose="020F0502020204030204"/>
                <a:ea typeface="Calibri" panose="020F0502020204030204"/>
                <a:cs typeface="Calibri" panose="020F0502020204030204"/>
                <a:sym typeface="Calibri" panose="020F0502020204030204"/>
              </a:rPr>
              <a:t>精准医疗 · 科技创新</a:t>
            </a:r>
            <a:endParaRPr lang="en-US" sz="1100"/>
          </a:p>
        </p:txBody>
      </p:sp>
      <p:sp>
        <p:nvSpPr>
          <p:cNvPr id="3" name="AutoShape 3"/>
          <p:cNvSpPr/>
          <p:nvPr/>
        </p:nvSpPr>
        <p:spPr>
          <a:xfrm rot="10800000" flipV="1">
            <a:off x="0" y="0"/>
            <a:ext cx="12192000" cy="6858000"/>
          </a:xfrm>
          <a:prstGeom prst="roundRect">
            <a:avLst>
              <a:gd name="adj" fmla="val 0"/>
            </a:avLst>
          </a:prstGeom>
          <a:blipFill rotWithShape="1">
            <a:blip r:embed="rId1"/>
            <a:tile tx="0" ty="0" sx="100000" sy="100000" flip="none" algn="tl"/>
          </a:blip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66700" y="1295400"/>
            <a:ext cx="7480300" cy="2438400"/>
          </a:xfrm>
          <a:prstGeom prst="rect">
            <a:avLst/>
          </a:prstGeom>
          <a:noFill/>
          <a:ln w="12700" cap="flat" cmpd="sng">
            <a:noFill/>
            <a:prstDash val="solid"/>
            <a:round/>
          </a:ln>
        </p:spPr>
        <p:txBody>
          <a:bodyPr vert="horz" wrap="square" lIns="127000" tIns="63500" rIns="127000" bIns="63500" rtlCol="0" anchor="t" anchorCtr="0"/>
          <a:lstStyle/>
          <a:p>
            <a:pPr marL="0" indent="0" algn="ctr">
              <a:lnSpc>
                <a:spcPct val="117000"/>
              </a:lnSpc>
              <a:defRPr/>
            </a:pPr>
            <a:r>
              <a:rPr lang="en-US" sz="6000" b="1" i="0" u="none" strike="noStrike">
                <a:ln w="6604">
                  <a:solidFill>
                    <a:srgbClr val="203864">
                      <a:alpha val="100000"/>
                    </a:srgbClr>
                  </a:solidFill>
                </a:ln>
                <a:solidFill>
                  <a:srgbClr val="FFFFFF"/>
                </a:solidFill>
                <a:effectLst>
                  <a:outerShdw blurRad="50800" dist="25400" dir="5220000" algn="tl" rotWithShape="0">
                    <a:srgbClr val="000000">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显微精准磁刺激智能</a:t>
            </a:r>
            <a:endParaRPr lang="en-US" sz="1100"/>
          </a:p>
          <a:p>
            <a:pPr marL="0" indent="0" algn="ctr">
              <a:lnSpc>
                <a:spcPct val="117000"/>
              </a:lnSpc>
            </a:pPr>
            <a:r>
              <a:rPr lang="en-US" sz="6000" b="1" i="0" u="none" strike="noStrike">
                <a:ln w="6604">
                  <a:solidFill>
                    <a:srgbClr val="203864">
                      <a:alpha val="100000"/>
                    </a:srgbClr>
                  </a:solidFill>
                </a:ln>
                <a:solidFill>
                  <a:srgbClr val="FFFFFF"/>
                </a:solidFill>
                <a:effectLst>
                  <a:outerShdw blurRad="50800" dist="25400" dir="5220000" algn="tl" rotWithShape="0">
                    <a:srgbClr val="000000">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闭环治疗系统</a:t>
            </a:r>
            <a:endParaRPr lang="en-US" sz="6000" b="1" i="0" u="none" strike="noStrike">
              <a:ln w="6604">
                <a:solidFill>
                  <a:srgbClr val="203864">
                    <a:alpha val="100000"/>
                  </a:srgbClr>
                </a:solidFill>
              </a:ln>
              <a:solidFill>
                <a:srgbClr val="FFFFFF"/>
              </a:solidFill>
              <a:effectLst>
                <a:outerShdw blurRad="50800" dist="25400" dir="5220000" algn="tl" rotWithShape="0">
                  <a:srgbClr val="000000">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990600" y="4000500"/>
            <a:ext cx="6019800" cy="203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5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孙剑飞 总经理</a:t>
            </a:r>
            <a:r>
              <a:rPr lang="en-US" sz="2800" b="1" i="0" u="none" strike="noStrike">
                <a:solidFill>
                  <a:srgbClr val="FFFFFF"/>
                </a:solidFill>
                <a:latin typeface="Calibri" panose="020F0502020204030204"/>
                <a:ea typeface="Calibri" panose="020F0502020204030204"/>
                <a:cs typeface="Calibri" panose="020F0502020204030204"/>
                <a:sym typeface="Calibri" panose="020F0502020204030204"/>
              </a:rPr>
              <a:t>/</a:t>
            </a: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研究员</a:t>
            </a:r>
            <a:endParaRPr lang="en-US" sz="1100"/>
          </a:p>
          <a:p>
            <a:pPr marL="0" indent="0" algn="ctr">
              <a:lnSpc>
                <a:spcPct val="150000"/>
              </a:lnSpc>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南京济磁再康医疗科技有限公司</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50000"/>
              </a:lnSpc>
            </a:pPr>
            <a:r>
              <a:rPr lang="en-US" sz="2800" b="1" i="0" u="none" strike="noStrike">
                <a:solidFill>
                  <a:srgbClr val="FFFFFF"/>
                </a:solidFill>
                <a:latin typeface="Calibri" panose="020F0502020204030204"/>
                <a:ea typeface="Calibri" panose="020F0502020204030204"/>
                <a:cs typeface="Calibri" panose="020F0502020204030204"/>
                <a:sym typeface="Calibri" panose="020F0502020204030204"/>
              </a:rPr>
              <a:t>2026</a:t>
            </a: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年</a:t>
            </a:r>
            <a:r>
              <a:rPr lang="en-US" sz="2800" b="1" i="0" u="none" strike="noStrike">
                <a:solidFill>
                  <a:srgbClr val="FFFFFF"/>
                </a:solidFill>
                <a:latin typeface="Calibri" panose="020F0502020204030204"/>
                <a:ea typeface="Calibri" panose="020F0502020204030204"/>
                <a:cs typeface="Calibri" panose="020F0502020204030204"/>
                <a:sym typeface="Calibri" panose="020F0502020204030204"/>
              </a:rPr>
              <a:t>6</a:t>
            </a: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月</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2"/>
          <a:srcRect/>
          <a:stretch>
            <a:fillRect/>
          </a:stretch>
        </p:blipFill>
        <p:spPr>
          <a:xfrm>
            <a:off x="25400" y="25400"/>
            <a:ext cx="1092200" cy="10287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algn="l">
              <a:defRPr/>
            </a:pPr>
          </a:p>
        </p:txBody>
      </p:sp>
      <p:sp>
        <p:nvSpPr>
          <p:cNvPr id="6" name="AutoShape 6"/>
          <p:cNvSpPr/>
          <p:nvPr/>
        </p:nvSpPr>
        <p:spPr>
          <a:xfrm>
            <a:off x="3321685" y="1130300"/>
            <a:ext cx="5548630" cy="4279900"/>
          </a:xfrm>
          <a:prstGeom prst="rect">
            <a:avLst/>
          </a:prstGeom>
          <a:noFill/>
          <a:ln w="12700" cap="flat" cmpd="sng">
            <a:noFill/>
            <a:prstDash val="solid"/>
            <a:round/>
          </a:ln>
        </p:spPr>
        <p:txBody>
          <a:bodyPr vert="horz" wrap="square" lIns="88900" tIns="50800" rIns="88900" bIns="50800" rtlCol="0" anchor="t" anchorCtr="0"/>
          <a:lstStyle/>
          <a:p>
            <a:pPr marL="508000" indent="-508000" algn="l">
              <a:lnSpc>
                <a:spcPct val="250000"/>
              </a:lnSpc>
              <a:buClr>
                <a:srgbClr val="000000"/>
              </a:buClr>
              <a:buFont typeface="Arial" panose="020B0604020202020204"/>
              <a:buChar char="•"/>
              <a:defRPr/>
            </a:pPr>
            <a:r>
              <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核心技术与创新亮点</a:t>
            </a:r>
            <a:endPar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转化成果与实施进度</a:t>
            </a:r>
            <a:endPar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后续推进与支持需求</a:t>
            </a:r>
            <a:endPar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54000" y="2374900"/>
            <a:ext cx="2425700" cy="179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75000"/>
              </a:lnSpc>
              <a:defRPr/>
            </a:pPr>
            <a:endParaRPr lang="en-US" sz="1100"/>
          </a:p>
          <a:p>
            <a:pPr marL="571500" indent="0" algn="l">
              <a:lnSpc>
                <a:spcPct val="83000"/>
              </a:lnSpc>
            </a:pPr>
            <a:r>
              <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p>
          <a:p>
            <a:pPr marL="0" indent="0" algn="l">
              <a:lnSpc>
                <a:spcPct val="125000"/>
              </a:lnSpc>
            </a:pPr>
          </a:p>
          <a:p>
            <a:pPr marL="0" indent="0" algn="l">
              <a:lnSpc>
                <a:spcPct val="108000"/>
              </a:lnSpc>
            </a:pPr>
          </a:p>
          <a:p>
            <a:pPr marL="0" indent="0" algn="l">
              <a:lnSpc>
                <a:spcPct val="8000"/>
              </a:lnSpc>
            </a:pPr>
          </a:p>
          <a:p>
            <a:pPr marL="12700" indent="0" algn="l">
              <a:lnSpc>
                <a:spcPct val="83000"/>
              </a:lnSpc>
            </a:pPr>
            <a:r>
              <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rPr>
              <a:t>Contents</a:t>
            </a:r>
            <a:endPar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algn="l">
              <a:defRPr/>
            </a:pPr>
          </a:p>
        </p:txBody>
      </p:sp>
      <p:sp>
        <p:nvSpPr>
          <p:cNvPr id="6" name="AutoShape 6"/>
          <p:cNvSpPr/>
          <p:nvPr/>
        </p:nvSpPr>
        <p:spPr>
          <a:xfrm>
            <a:off x="3321685" y="1130300"/>
            <a:ext cx="5548630" cy="4279900"/>
          </a:xfrm>
          <a:prstGeom prst="rect">
            <a:avLst/>
          </a:prstGeom>
          <a:noFill/>
          <a:ln w="12700" cap="flat" cmpd="sng">
            <a:noFill/>
            <a:prstDash val="solid"/>
            <a:round/>
          </a:ln>
        </p:spPr>
        <p:txBody>
          <a:bodyPr vert="horz" wrap="square" lIns="88900" tIns="50800" rIns="88900" bIns="50800" rtlCol="0" anchor="t" anchorCtr="0"/>
          <a:lstStyle/>
          <a:p>
            <a:pPr marL="508000" indent="-508000" algn="l">
              <a:lnSpc>
                <a:spcPct val="250000"/>
              </a:lnSpc>
              <a:buClr>
                <a:srgbClr val="000000"/>
              </a:buClr>
              <a:buFont typeface="Arial" panose="020B0604020202020204"/>
              <a:buChar char="•"/>
              <a:defRPr/>
            </a:pPr>
            <a:r>
              <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核心技术与创新亮点</a:t>
            </a:r>
            <a:endParaRPr lang="zh-CN" altLang="en-US" sz="4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转化成果与实施进度</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后续推进与支持需求</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54000" y="2374900"/>
            <a:ext cx="2425700" cy="179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75000"/>
              </a:lnSpc>
              <a:defRPr/>
            </a:pPr>
            <a:endParaRPr lang="en-US" sz="1100"/>
          </a:p>
          <a:p>
            <a:pPr marL="571500" indent="0" algn="l">
              <a:lnSpc>
                <a:spcPct val="83000"/>
              </a:lnSpc>
            </a:pPr>
            <a:r>
              <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p>
          <a:p>
            <a:pPr marL="0" indent="0" algn="l">
              <a:lnSpc>
                <a:spcPct val="125000"/>
              </a:lnSpc>
            </a:pPr>
          </a:p>
          <a:p>
            <a:pPr marL="0" indent="0" algn="l">
              <a:lnSpc>
                <a:spcPct val="108000"/>
              </a:lnSpc>
            </a:pPr>
          </a:p>
          <a:p>
            <a:pPr marL="0" indent="0" algn="l">
              <a:lnSpc>
                <a:spcPct val="8000"/>
              </a:lnSpc>
            </a:pPr>
          </a:p>
          <a:p>
            <a:pPr marL="12700" indent="0" algn="l">
              <a:lnSpc>
                <a:spcPct val="83000"/>
              </a:lnSpc>
            </a:pPr>
            <a:r>
              <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rPr>
              <a:t>Contents</a:t>
            </a:r>
            <a:endPar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algn="l">
              <a:defRPr/>
            </a:pPr>
          </a:p>
        </p:txBody>
      </p:sp>
      <p:sp>
        <p:nvSpPr>
          <p:cNvPr id="6" name="AutoShape 6"/>
          <p:cNvSpPr/>
          <p:nvPr/>
        </p:nvSpPr>
        <p:spPr>
          <a:xfrm>
            <a:off x="1473200" y="4229100"/>
            <a:ext cx="8940800" cy="1079500"/>
          </a:xfrm>
          <a:prstGeom prst="roundRect">
            <a:avLst>
              <a:gd name="adj" fmla="val 32941"/>
            </a:avLst>
          </a:prstGeom>
          <a:noFill/>
          <a:ln w="12700" cap="flat" cmpd="sng">
            <a:solidFill>
              <a:srgbClr val="4675C6">
                <a:alpha val="100000"/>
              </a:srgbClr>
            </a:solidFill>
            <a:prstDash val="dash"/>
            <a:miter lim="10000000"/>
          </a:ln>
        </p:spPr>
        <p:txBody>
          <a:bodyPr vert="horz" wrap="square" lIns="63500" tIns="63500" rIns="63500" bIns="63500" rtlCol="0" anchor="ctr"/>
          <a:lstStyle/>
          <a:p>
            <a:pPr algn="ctr">
              <a:defRPr/>
            </a:pPr>
          </a:p>
        </p:txBody>
      </p:sp>
      <p:sp>
        <p:nvSpPr>
          <p:cNvPr id="7" name="AutoShape 7"/>
          <p:cNvSpPr/>
          <p:nvPr/>
        </p:nvSpPr>
        <p:spPr>
          <a:xfrm>
            <a:off x="1257300" y="4229100"/>
            <a:ext cx="9398000" cy="2222500"/>
          </a:xfrm>
          <a:prstGeom prst="roundRect">
            <a:avLst>
              <a:gd name="adj" fmla="val 16571"/>
            </a:avLst>
          </a:prstGeom>
          <a:noFill/>
          <a:ln w="12700" cap="flat" cmpd="sng">
            <a:solidFill>
              <a:srgbClr val="4675C6">
                <a:alpha val="100000"/>
              </a:srgbClr>
            </a:solidFill>
            <a:prstDash val="dash"/>
            <a:miter lim="10000000"/>
          </a:ln>
        </p:spPr>
        <p:txBody>
          <a:bodyPr vert="horz" wrap="square" lIns="63500" tIns="63500" rIns="63500" bIns="63500" rtlCol="0" anchor="ctr"/>
          <a:lstStyle/>
          <a:p>
            <a:pPr algn="ctr">
              <a:defRPr/>
            </a:pPr>
          </a:p>
        </p:txBody>
      </p:sp>
      <p:sp>
        <p:nvSpPr>
          <p:cNvPr id="8" name="AutoShape 8"/>
          <p:cNvSpPr/>
          <p:nvPr/>
        </p:nvSpPr>
        <p:spPr>
          <a:xfrm>
            <a:off x="1511300" y="4737100"/>
            <a:ext cx="4381500" cy="927100"/>
          </a:xfrm>
          <a:prstGeom prst="roundRect">
            <a:avLst>
              <a:gd name="adj" fmla="val 16438"/>
            </a:avLst>
          </a:prstGeom>
          <a:solidFill>
            <a:srgbClr val="DAE3F4">
              <a:alpha val="100000"/>
            </a:srgbClr>
          </a:solidFill>
          <a:ln w="25400" cap="flat" cmpd="sng">
            <a:noFill/>
            <a:prstDash val="solid"/>
            <a:round/>
          </a:ln>
        </p:spPr>
        <p:txBody>
          <a:bodyPr vert="horz" wrap="square" lIns="825500" tIns="50800" rIns="114300" bIns="50800" rtlCol="0" anchor="ctr" anchorCtr="0"/>
          <a:lstStyle/>
          <a:p>
            <a:pPr marL="0" indent="0" algn="just">
              <a:lnSpc>
                <a:spcPct val="100000"/>
              </a:lnSpc>
              <a:defRPr/>
            </a:pPr>
            <a:r>
              <a:rPr lang="en-US" sz="2000" b="1" i="0" u="none" strike="noStrike">
                <a:solidFill>
                  <a:srgbClr val="4675C6"/>
                </a:solidFill>
                <a:latin typeface="黑体" panose="02010609060101010101" charset="-122"/>
                <a:ea typeface="黑体" panose="02010609060101010101" charset="-122"/>
                <a:cs typeface="黑体" panose="02010609060101010101" charset="-122"/>
                <a:sym typeface="黑体" panose="02010609060101010101" charset="-122"/>
              </a:rPr>
              <a:t>通过材料赋能装备</a:t>
            </a:r>
            <a:r>
              <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，显著降低磁场设备技术难度</a:t>
            </a:r>
            <a:endParaRPr lang="en-US" sz="1100"/>
          </a:p>
        </p:txBody>
      </p:sp>
      <p:sp>
        <p:nvSpPr>
          <p:cNvPr id="9" name="AutoShape 9"/>
          <p:cNvSpPr/>
          <p:nvPr/>
        </p:nvSpPr>
        <p:spPr>
          <a:xfrm>
            <a:off x="1879600" y="5016500"/>
            <a:ext cx="393700" cy="381000"/>
          </a:xfrm>
          <a:prstGeom prst="ellipse">
            <a:avLst/>
          </a:prstGeom>
          <a:gradFill rotWithShape="0">
            <a:gsLst>
              <a:gs pos="0">
                <a:srgbClr val="F60001">
                  <a:alpha val="100000"/>
                </a:srgbClr>
              </a:gs>
              <a:gs pos="100000">
                <a:srgbClr val="203864">
                  <a:alpha val="100000"/>
                </a:srgbClr>
              </a:gs>
            </a:gsLst>
            <a:lin ang="0"/>
          </a:gradFill>
          <a:ln w="25400" cap="flat" cmpd="sng">
            <a:noFill/>
            <a:prstDash val="solid"/>
            <a:round/>
          </a:ln>
        </p:spPr>
        <p:txBody>
          <a:bodyPr vert="horz" wrap="none" lIns="88900" tIns="50800" rIns="88900" bIns="50800" rtlCol="0" anchor="ctr" anchorCtr="1"/>
          <a:lstStyle/>
          <a:p>
            <a:pPr marL="0" indent="0" algn="l">
              <a:lnSpc>
                <a:spcPct val="100000"/>
              </a:lnSpc>
              <a:defRPr/>
            </a:pPr>
            <a:r>
              <a:rPr lang="en-US" sz="16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1</a:t>
            </a:r>
            <a:endParaRPr lang="en-US" sz="1100"/>
          </a:p>
        </p:txBody>
      </p:sp>
      <p:sp>
        <p:nvSpPr>
          <p:cNvPr id="10" name="AutoShape 10"/>
          <p:cNvSpPr/>
          <p:nvPr/>
        </p:nvSpPr>
        <p:spPr>
          <a:xfrm>
            <a:off x="1511300" y="5740400"/>
            <a:ext cx="4381500" cy="863600"/>
          </a:xfrm>
          <a:prstGeom prst="roundRect">
            <a:avLst>
              <a:gd name="adj" fmla="val 16176"/>
            </a:avLst>
          </a:prstGeom>
          <a:solidFill>
            <a:srgbClr val="DAE3F4">
              <a:alpha val="100000"/>
            </a:srgbClr>
          </a:solidFill>
          <a:ln w="25400" cap="flat" cmpd="sng">
            <a:noFill/>
            <a:prstDash val="solid"/>
            <a:round/>
          </a:ln>
        </p:spPr>
        <p:txBody>
          <a:bodyPr vert="horz" wrap="square" lIns="825500" tIns="50800" rIns="114300" bIns="50800" rtlCol="0" anchor="ctr" anchorCtr="0"/>
          <a:lstStyle/>
          <a:p>
            <a:pPr marL="0" indent="0" algn="l">
              <a:lnSpc>
                <a:spcPct val="100000"/>
              </a:lnSpc>
              <a:defRPr/>
            </a:pPr>
            <a:endParaRPr lang="en-US" sz="1100"/>
          </a:p>
          <a:p>
            <a:pPr marL="0" indent="0" algn="just">
              <a:lnSpc>
                <a:spcPct val="100000"/>
              </a:lnSpc>
            </a:pPr>
            <a:r>
              <a:rPr lang="en-US" sz="2000" b="1" i="0" u="none" strike="noStrike">
                <a:solidFill>
                  <a:srgbClr val="4675C6"/>
                </a:solidFill>
                <a:latin typeface="黑体" panose="02010609060101010101" charset="-122"/>
                <a:ea typeface="黑体" panose="02010609060101010101" charset="-122"/>
                <a:cs typeface="黑体" panose="02010609060101010101" charset="-122"/>
                <a:sym typeface="黑体" panose="02010609060101010101" charset="-122"/>
              </a:rPr>
              <a:t>极微创</a:t>
            </a:r>
            <a:r>
              <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的可注射磁性微纳器件取代植入式微电极手术</a:t>
            </a:r>
            <a:endPar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endParaRPr>
          </a:p>
          <a:p>
            <a:pPr algn="l">
              <a:lnSpc>
                <a:spcPct val="100000"/>
              </a:lnSpc>
            </a:pPr>
          </a:p>
        </p:txBody>
      </p:sp>
      <p:sp>
        <p:nvSpPr>
          <p:cNvPr id="11" name="AutoShape 11"/>
          <p:cNvSpPr/>
          <p:nvPr/>
        </p:nvSpPr>
        <p:spPr>
          <a:xfrm>
            <a:off x="1879600" y="5994400"/>
            <a:ext cx="393700" cy="381000"/>
          </a:xfrm>
          <a:prstGeom prst="ellipse">
            <a:avLst/>
          </a:prstGeom>
          <a:gradFill rotWithShape="0">
            <a:gsLst>
              <a:gs pos="0">
                <a:srgbClr val="F60001">
                  <a:alpha val="100000"/>
                </a:srgbClr>
              </a:gs>
              <a:gs pos="100000">
                <a:srgbClr val="203864">
                  <a:alpha val="100000"/>
                </a:srgbClr>
              </a:gs>
            </a:gsLst>
            <a:lin ang="0"/>
          </a:gradFill>
          <a:ln w="25400" cap="flat" cmpd="sng">
            <a:noFill/>
            <a:prstDash val="solid"/>
            <a:round/>
          </a:ln>
        </p:spPr>
        <p:txBody>
          <a:bodyPr vert="horz" wrap="none" lIns="88900" tIns="50800" rIns="88900" bIns="50800" rtlCol="0" anchor="ctr" anchorCtr="1"/>
          <a:lstStyle/>
          <a:p>
            <a:pPr marL="0" indent="0" algn="l">
              <a:lnSpc>
                <a:spcPct val="100000"/>
              </a:lnSpc>
              <a:defRPr/>
            </a:pPr>
            <a:r>
              <a:rPr lang="en-US" sz="16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2</a:t>
            </a:r>
            <a:endParaRPr lang="en-US" sz="1100"/>
          </a:p>
        </p:txBody>
      </p:sp>
      <p:sp>
        <p:nvSpPr>
          <p:cNvPr id="12" name="AutoShape 12"/>
          <p:cNvSpPr/>
          <p:nvPr/>
        </p:nvSpPr>
        <p:spPr>
          <a:xfrm>
            <a:off x="5956300" y="4724400"/>
            <a:ext cx="4394200" cy="927100"/>
          </a:xfrm>
          <a:prstGeom prst="roundRect">
            <a:avLst>
              <a:gd name="adj" fmla="val 16438"/>
            </a:avLst>
          </a:prstGeom>
          <a:solidFill>
            <a:srgbClr val="DAE3F4">
              <a:alpha val="100000"/>
            </a:srgbClr>
          </a:solidFill>
          <a:ln w="25400" cap="flat" cmpd="sng">
            <a:noFill/>
            <a:prstDash val="solid"/>
            <a:round/>
          </a:ln>
        </p:spPr>
        <p:txBody>
          <a:bodyPr vert="horz" wrap="square" lIns="825500" tIns="50800" rIns="114300" bIns="50800" rtlCol="0" anchor="ctr" anchorCtr="0"/>
          <a:lstStyle/>
          <a:p>
            <a:pPr marL="0" indent="0" algn="l">
              <a:lnSpc>
                <a:spcPct val="100000"/>
              </a:lnSpc>
              <a:defRPr/>
            </a:pPr>
            <a:r>
              <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既实现对单个深部核团的精准作用，又保留磁刺激的优势</a:t>
            </a:r>
            <a:endParaRPr lang="en-US" sz="1100"/>
          </a:p>
        </p:txBody>
      </p:sp>
      <p:sp>
        <p:nvSpPr>
          <p:cNvPr id="13" name="AutoShape 13"/>
          <p:cNvSpPr/>
          <p:nvPr/>
        </p:nvSpPr>
        <p:spPr>
          <a:xfrm>
            <a:off x="6261100" y="5016500"/>
            <a:ext cx="393700" cy="381000"/>
          </a:xfrm>
          <a:prstGeom prst="ellipse">
            <a:avLst/>
          </a:prstGeom>
          <a:gradFill rotWithShape="0">
            <a:gsLst>
              <a:gs pos="0">
                <a:srgbClr val="F60001">
                  <a:alpha val="100000"/>
                </a:srgbClr>
              </a:gs>
              <a:gs pos="100000">
                <a:srgbClr val="203864">
                  <a:alpha val="100000"/>
                </a:srgbClr>
              </a:gs>
            </a:gsLst>
            <a:lin ang="0"/>
          </a:gradFill>
          <a:ln w="25400" cap="flat" cmpd="sng">
            <a:noFill/>
            <a:prstDash val="solid"/>
            <a:round/>
          </a:ln>
        </p:spPr>
        <p:txBody>
          <a:bodyPr vert="horz" wrap="none" lIns="88900" tIns="50800" rIns="88900" bIns="50800" rtlCol="0" anchor="ctr" anchorCtr="1"/>
          <a:lstStyle/>
          <a:p>
            <a:pPr marL="0" indent="0" algn="l">
              <a:lnSpc>
                <a:spcPct val="100000"/>
              </a:lnSpc>
              <a:defRPr/>
            </a:pPr>
            <a:r>
              <a:rPr lang="en-US" sz="16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3</a:t>
            </a:r>
            <a:endParaRPr lang="en-US" sz="1100"/>
          </a:p>
        </p:txBody>
      </p:sp>
      <p:sp>
        <p:nvSpPr>
          <p:cNvPr id="14" name="AutoShape 14"/>
          <p:cNvSpPr/>
          <p:nvPr/>
        </p:nvSpPr>
        <p:spPr>
          <a:xfrm>
            <a:off x="5969000" y="5740400"/>
            <a:ext cx="4356100" cy="889000"/>
          </a:xfrm>
          <a:prstGeom prst="roundRect">
            <a:avLst>
              <a:gd name="adj" fmla="val 17142"/>
            </a:avLst>
          </a:prstGeom>
          <a:solidFill>
            <a:srgbClr val="DAE3F4">
              <a:alpha val="100000"/>
            </a:srgbClr>
          </a:solidFill>
          <a:ln w="25400" cap="flat" cmpd="sng">
            <a:noFill/>
            <a:prstDash val="solid"/>
            <a:round/>
          </a:ln>
        </p:spPr>
        <p:txBody>
          <a:bodyPr vert="horz" wrap="square" lIns="825500" tIns="50800" rIns="114300" bIns="50800" rtlCol="0" anchor="ctr" anchorCtr="0"/>
          <a:lstStyle/>
          <a:p>
            <a:pPr marL="0" indent="0" algn="l">
              <a:lnSpc>
                <a:spcPct val="100000"/>
              </a:lnSpc>
              <a:defRPr/>
            </a:pPr>
            <a:endParaRPr lang="en-US" sz="1100"/>
          </a:p>
          <a:p>
            <a:pPr marL="0" indent="0" algn="just">
              <a:lnSpc>
                <a:spcPct val="100000"/>
              </a:lnSpc>
            </a:pPr>
            <a:r>
              <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可通过</a:t>
            </a:r>
            <a:r>
              <a:rPr lang="en-US" sz="2000" b="1" i="0" u="none" strike="noStrike">
                <a:solidFill>
                  <a:srgbClr val="4675C6"/>
                </a:solidFill>
                <a:latin typeface="黑体" panose="02010609060101010101" charset="-122"/>
                <a:ea typeface="黑体" panose="02010609060101010101" charset="-122"/>
                <a:cs typeface="黑体" panose="02010609060101010101" charset="-122"/>
                <a:sym typeface="黑体" panose="02010609060101010101" charset="-122"/>
              </a:rPr>
              <a:t>MRI示踪</a:t>
            </a:r>
            <a:r>
              <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，加强了磁刺激治疗的循证依据和准确性</a:t>
            </a:r>
            <a:endParaRPr lang="en-US" sz="20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endParaRPr>
          </a:p>
          <a:p>
            <a:pPr algn="l">
              <a:lnSpc>
                <a:spcPct val="100000"/>
              </a:lnSpc>
            </a:pPr>
          </a:p>
        </p:txBody>
      </p:sp>
      <p:sp>
        <p:nvSpPr>
          <p:cNvPr id="15" name="AutoShape 15"/>
          <p:cNvSpPr/>
          <p:nvPr/>
        </p:nvSpPr>
        <p:spPr>
          <a:xfrm>
            <a:off x="6261100" y="5981700"/>
            <a:ext cx="393700" cy="381000"/>
          </a:xfrm>
          <a:prstGeom prst="ellipse">
            <a:avLst/>
          </a:prstGeom>
          <a:gradFill rotWithShape="0">
            <a:gsLst>
              <a:gs pos="0">
                <a:srgbClr val="F60001">
                  <a:alpha val="100000"/>
                </a:srgbClr>
              </a:gs>
              <a:gs pos="100000">
                <a:srgbClr val="203864">
                  <a:alpha val="100000"/>
                </a:srgbClr>
              </a:gs>
            </a:gsLst>
            <a:lin ang="0"/>
          </a:gradFill>
          <a:ln w="25400" cap="flat" cmpd="sng">
            <a:noFill/>
            <a:prstDash val="solid"/>
            <a:round/>
          </a:ln>
        </p:spPr>
        <p:txBody>
          <a:bodyPr vert="horz" wrap="none" lIns="88900" tIns="50800" rIns="88900" bIns="50800" rtlCol="0" anchor="ctr" anchorCtr="1"/>
          <a:lstStyle/>
          <a:p>
            <a:pPr marL="0" indent="0" algn="l">
              <a:lnSpc>
                <a:spcPct val="100000"/>
              </a:lnSpc>
              <a:defRPr/>
            </a:pPr>
            <a:r>
              <a:rPr lang="en-US" sz="16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4</a:t>
            </a:r>
            <a:endParaRPr lang="en-US" sz="1100"/>
          </a:p>
        </p:txBody>
      </p:sp>
      <p:sp>
        <p:nvSpPr>
          <p:cNvPr id="16" name="AutoShape 16"/>
          <p:cNvSpPr/>
          <p:nvPr/>
        </p:nvSpPr>
        <p:spPr>
          <a:xfrm>
            <a:off x="3822700" y="3556000"/>
            <a:ext cx="4305300" cy="977900"/>
          </a:xfrm>
          <a:prstGeom prst="roundRect">
            <a:avLst>
              <a:gd name="adj" fmla="val 16883"/>
            </a:avLst>
          </a:prstGeom>
          <a:gradFill rotWithShape="0">
            <a:gsLst>
              <a:gs pos="69000">
                <a:srgbClr val="D1DDF1">
                  <a:alpha val="100000"/>
                </a:srgbClr>
              </a:gs>
              <a:gs pos="100000">
                <a:srgbClr val="4675C6">
                  <a:alpha val="100000"/>
                </a:srgbClr>
              </a:gs>
              <a:gs pos="100000">
                <a:srgbClr val="3662AE">
                  <a:alpha val="100000"/>
                </a:srgbClr>
              </a:gs>
            </a:gsLst>
            <a:path path="shape">
              <a:fillToRect l="50000" t="50000" r="50000" b="50000"/>
            </a:path>
            <a:tileRect/>
          </a:gradFill>
          <a:ln w="25400" cap="flat" cmpd="sng">
            <a:noFill/>
            <a:prstDash val="solid"/>
            <a:round/>
          </a:ln>
        </p:spPr>
        <p:txBody>
          <a:bodyPr vert="horz" wrap="square" lIns="88900" tIns="50800" rIns="88900" bIns="50800" rtlCol="0" anchor="ctr" anchorCtr="1"/>
          <a:lstStyle/>
          <a:p>
            <a:pPr marL="0" indent="0" algn="ctr">
              <a:lnSpc>
                <a:spcPts val="3065"/>
              </a:lnSpc>
              <a:spcBef>
                <a:spcPts val="800"/>
              </a:spcBef>
              <a:spcAft>
                <a:spcPts val="800"/>
              </a:spcAft>
              <a:defRPr/>
            </a:pPr>
            <a:r>
              <a:rPr lang="en-US" sz="2800" b="1" i="0" u="none" strike="noStrike">
                <a:solidFill>
                  <a:srgbClr val="262626"/>
                </a:solidFill>
                <a:effectLst>
                  <a:outerShdw blurRad="50800" dist="38100" dir="2700000" algn="tl" rotWithShape="0">
                    <a:srgbClr val="000000">
                      <a:alpha val="40000"/>
                    </a:srgbClr>
                  </a:outerShdw>
                </a:effectLst>
                <a:latin typeface="黑体" panose="02010609060101010101" charset="-122"/>
                <a:ea typeface="黑体" panose="02010609060101010101" charset="-122"/>
                <a:cs typeface="黑体" panose="02010609060101010101" charset="-122"/>
                <a:sym typeface="黑体" panose="02010609060101010101" charset="-122"/>
              </a:rPr>
              <a:t>建立临床磁刺激治疗领域新型“根”技术</a:t>
            </a:r>
            <a:endParaRPr lang="en-US" sz="1100"/>
          </a:p>
        </p:txBody>
      </p:sp>
      <p:sp>
        <p:nvSpPr>
          <p:cNvPr id="17" name="AutoShape 17"/>
          <p:cNvSpPr/>
          <p:nvPr/>
        </p:nvSpPr>
        <p:spPr>
          <a:xfrm rot="10800000" flipV="1">
            <a:off x="508000" y="1257300"/>
            <a:ext cx="1752600" cy="3251200"/>
          </a:xfrm>
          <a:prstGeom prst="roundRect">
            <a:avLst>
              <a:gd name="adj" fmla="val 6521"/>
            </a:avLst>
          </a:prstGeom>
          <a:gradFill rotWithShape="1">
            <a:gsLst>
              <a:gs pos="0">
                <a:srgbClr val="FFF2F2">
                  <a:alpha val="0"/>
                </a:srgbClr>
              </a:gs>
              <a:gs pos="100000">
                <a:srgbClr val="FFCACA">
                  <a:alpha val="100000"/>
                </a:srgbClr>
              </a:gs>
            </a:gsLst>
            <a:lin ang="5400000"/>
          </a:gradFill>
          <a:ln w="12700" cap="flat" cmpd="sng">
            <a:gradFill rotWithShape="1">
              <a:gsLst>
                <a:gs pos="0">
                  <a:srgbClr val="FFCACA">
                    <a:alpha val="100000"/>
                  </a:srgbClr>
                </a:gs>
                <a:gs pos="100000">
                  <a:srgbClr val="FF6161">
                    <a:alpha val="100000"/>
                  </a:srgbClr>
                </a:gs>
              </a:gsLst>
              <a:lin ang="10800000"/>
            </a:gradFill>
            <a:prstDash val="solid"/>
            <a:round/>
          </a:ln>
        </p:spPr>
        <p:txBody>
          <a:bodyPr vert="horz" wrap="square" lIns="63500" tIns="63500" rIns="63500" bIns="63500" rtlCol="0" anchor="ctr"/>
          <a:lstStyle/>
          <a:p>
            <a:pPr algn="ctr">
              <a:defRPr/>
            </a:pPr>
          </a:p>
        </p:txBody>
      </p:sp>
      <p:sp>
        <p:nvSpPr>
          <p:cNvPr id="18" name="Freeform 18"/>
          <p:cNvSpPr/>
          <p:nvPr/>
        </p:nvSpPr>
        <p:spPr>
          <a:xfrm>
            <a:off x="406400" y="3797300"/>
            <a:ext cx="1790873" cy="623226"/>
          </a:xfrm>
          <a:custGeom>
            <a:avLst/>
            <a:gdLst/>
            <a:ahLst/>
            <a:cxnLst/>
            <a:rect l="l" t="t" r="r" b="b"/>
            <a:pathLst>
              <a:path w="1790873" h="623226">
                <a:moveTo>
                  <a:pt x="74479" y="0"/>
                </a:moveTo>
                <a:cubicBezTo>
                  <a:pt x="1790873" y="0"/>
                  <a:pt x="1790873" y="0"/>
                  <a:pt x="1790873" y="0"/>
                </a:cubicBezTo>
                <a:cubicBezTo>
                  <a:pt x="1790873" y="47197"/>
                  <a:pt x="1790873" y="91444"/>
                  <a:pt x="1790873" y="132927"/>
                </a:cubicBezTo>
                <a:lnTo>
                  <a:pt x="1790873" y="148921"/>
                </a:lnTo>
                <a:lnTo>
                  <a:pt x="1790873" y="148921"/>
                </a:lnTo>
                <a:lnTo>
                  <a:pt x="1790873" y="183011"/>
                </a:lnTo>
                <a:cubicBezTo>
                  <a:pt x="1790873" y="501590"/>
                  <a:pt x="1790873" y="501590"/>
                  <a:pt x="1790873" y="501590"/>
                </a:cubicBezTo>
                <a:cubicBezTo>
                  <a:pt x="1790873" y="537068"/>
                  <a:pt x="1750248" y="567477"/>
                  <a:pt x="1702853" y="567477"/>
                </a:cubicBezTo>
                <a:cubicBezTo>
                  <a:pt x="74479" y="567477"/>
                  <a:pt x="74479" y="567477"/>
                  <a:pt x="74479" y="567477"/>
                </a:cubicBezTo>
                <a:cubicBezTo>
                  <a:pt x="33854" y="567477"/>
                  <a:pt x="3386" y="592817"/>
                  <a:pt x="0" y="623226"/>
                </a:cubicBezTo>
                <a:cubicBezTo>
                  <a:pt x="0" y="623226"/>
                  <a:pt x="0" y="424302"/>
                  <a:pt x="0" y="222209"/>
                </a:cubicBezTo>
                <a:lnTo>
                  <a:pt x="0" y="148921"/>
                </a:lnTo>
                <a:lnTo>
                  <a:pt x="0" y="148921"/>
                </a:lnTo>
                <a:lnTo>
                  <a:pt x="0" y="140929"/>
                </a:lnTo>
                <a:cubicBezTo>
                  <a:pt x="0" y="92335"/>
                  <a:pt x="0" y="60502"/>
                  <a:pt x="0" y="55749"/>
                </a:cubicBezTo>
                <a:cubicBezTo>
                  <a:pt x="0" y="25342"/>
                  <a:pt x="33854" y="0"/>
                  <a:pt x="74479" y="0"/>
                </a:cubicBezTo>
                <a:close/>
              </a:path>
            </a:pathLst>
          </a:custGeom>
          <a:solidFill>
            <a:srgbClr val="DFEBF7">
              <a:alpha val="100000"/>
            </a:srgbClr>
          </a:solidFill>
          <a:ln w="25400" cap="flat" cmpd="sng">
            <a:noFill/>
            <a:prstDash val="solid"/>
            <a:round/>
          </a:ln>
          <a:effectLst>
            <a:outerShdw blurRad="76200" dist="50800" dir="5400000" algn="ctr" rotWithShape="0">
              <a:srgbClr val="B90001">
                <a:alpha val="20000"/>
              </a:srgbClr>
            </a:outerShdw>
          </a:effectLst>
        </p:spPr>
        <p:txBody>
          <a:bodyPr vert="horz" wrap="square" lIns="63500" tIns="63500" rIns="63500" bIns="63500" rtlCol="0" anchor="ctr"/>
          <a:lstStyle/>
          <a:p>
            <a:pPr algn="ctr">
              <a:defRPr/>
            </a:pPr>
          </a:p>
        </p:txBody>
      </p:sp>
      <p:sp>
        <p:nvSpPr>
          <p:cNvPr id="19" name="AutoShape 19"/>
          <p:cNvSpPr/>
          <p:nvPr/>
        </p:nvSpPr>
        <p:spPr>
          <a:xfrm>
            <a:off x="469900" y="1282700"/>
            <a:ext cx="1790700" cy="2451100"/>
          </a:xfrm>
          <a:prstGeom prst="rect">
            <a:avLst/>
          </a:prstGeom>
          <a:noFill/>
          <a:ln w="12700" cap="flat" cmpd="sng">
            <a:noFill/>
            <a:prstDash val="solid"/>
            <a:round/>
          </a:ln>
        </p:spPr>
        <p:txBody>
          <a:bodyPr vert="horz" wrap="square" lIns="88900" tIns="50800" rIns="88900" bIns="50800" rtlCol="0" anchor="ctr" anchorCtr="0"/>
          <a:lstStyle/>
          <a:p>
            <a:pPr marL="0" indent="0" algn="just">
              <a:lnSpc>
                <a:spcPts val="2500"/>
              </a:lnSpc>
              <a:spcBef>
                <a:spcPts val="400"/>
              </a:spcBef>
              <a:spcAft>
                <a:spcPts val="400"/>
              </a:spcAft>
              <a:defRPr/>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使用不影响正常脑功能的</a:t>
            </a:r>
            <a:r>
              <a:rPr lang="en-US" sz="18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非聚焦弱磁场</a:t>
            </a:r>
            <a:r>
              <a:rPr lang="en-US" sz="1800" b="1" i="0" u="none" strike="noStrike">
                <a:solidFill>
                  <a:srgbClr val="0033CC"/>
                </a:solidFill>
                <a:latin typeface="黑体" panose="02010609060101010101" charset="-122"/>
                <a:ea typeface="黑体" panose="02010609060101010101" charset="-122"/>
                <a:cs typeface="黑体" panose="02010609060101010101" charset="-122"/>
                <a:sym typeface="黑体" panose="02010609060101010101" charset="-122"/>
              </a:rPr>
              <a:t>，</a:t>
            </a: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在靶区植入磁性微纳器械</a:t>
            </a:r>
            <a:r>
              <a:rPr lang="en-US" sz="18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增强局部磁导率</a:t>
            </a:r>
            <a:r>
              <a:rPr lang="en-US" sz="1800" b="1" i="0" u="none" strike="noStrike">
                <a:solidFill>
                  <a:srgbClr val="0033CC"/>
                </a:solidFill>
                <a:latin typeface="黑体" panose="02010609060101010101" charset="-122"/>
                <a:ea typeface="黑体" panose="02010609060101010101" charset="-122"/>
                <a:cs typeface="黑体" panose="02010609060101010101" charset="-122"/>
                <a:sym typeface="黑体" panose="02010609060101010101" charset="-122"/>
              </a:rPr>
              <a:t>，</a:t>
            </a: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实现对靶区的</a:t>
            </a:r>
            <a:r>
              <a:rPr lang="en-US" sz="18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选择性活化</a:t>
            </a:r>
            <a:endParaRPr lang="en-US" sz="1100"/>
          </a:p>
        </p:txBody>
      </p:sp>
      <p:sp>
        <p:nvSpPr>
          <p:cNvPr id="20" name="AutoShape 20"/>
          <p:cNvSpPr/>
          <p:nvPr/>
        </p:nvSpPr>
        <p:spPr>
          <a:xfrm>
            <a:off x="469900" y="3835400"/>
            <a:ext cx="1727200" cy="469900"/>
          </a:xfrm>
          <a:prstGeom prst="rect">
            <a:avLst/>
          </a:prstGeom>
          <a:noFill/>
          <a:ln w="12700" cap="flat" cmpd="sng">
            <a:noFill/>
            <a:prstDash val="solid"/>
            <a:round/>
          </a:ln>
        </p:spPr>
        <p:txBody>
          <a:bodyPr vert="horz" wrap="square" lIns="88900" tIns="50800" rIns="88900" bIns="0" rtlCol="0" anchor="ctr" anchorCtr="0"/>
          <a:lstStyle/>
          <a:p>
            <a:pPr marL="0" indent="0" algn="ctr">
              <a:lnSpc>
                <a:spcPct val="100000"/>
              </a:lnSpc>
              <a:defRPr/>
            </a:pPr>
            <a:r>
              <a:rPr lang="en-US" sz="2400" b="1" i="0" u="none" strike="noStrike" spc="3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原理创新</a:t>
            </a:r>
            <a:endParaRPr lang="en-US" sz="1100"/>
          </a:p>
        </p:txBody>
      </p:sp>
      <p:sp>
        <p:nvSpPr>
          <p:cNvPr id="21" name="AutoShape 21"/>
          <p:cNvSpPr/>
          <p:nvPr/>
        </p:nvSpPr>
        <p:spPr>
          <a:xfrm rot="10800000" flipV="1">
            <a:off x="10071100" y="1257300"/>
            <a:ext cx="1828800" cy="3238500"/>
          </a:xfrm>
          <a:prstGeom prst="roundRect">
            <a:avLst>
              <a:gd name="adj" fmla="val 6250"/>
            </a:avLst>
          </a:prstGeom>
          <a:gradFill rotWithShape="1">
            <a:gsLst>
              <a:gs pos="0">
                <a:srgbClr val="FFF2F2">
                  <a:alpha val="0"/>
                </a:srgbClr>
              </a:gs>
              <a:gs pos="100000">
                <a:srgbClr val="FFCACA">
                  <a:alpha val="100000"/>
                </a:srgbClr>
              </a:gs>
            </a:gsLst>
            <a:lin ang="5400000"/>
          </a:gradFill>
          <a:ln w="12700" cap="flat" cmpd="sng">
            <a:gradFill rotWithShape="1">
              <a:gsLst>
                <a:gs pos="0">
                  <a:srgbClr val="FFCACA">
                    <a:alpha val="100000"/>
                  </a:srgbClr>
                </a:gs>
                <a:gs pos="100000">
                  <a:srgbClr val="FF6161">
                    <a:alpha val="100000"/>
                  </a:srgbClr>
                </a:gs>
              </a:gsLst>
              <a:lin ang="10800000"/>
            </a:gradFill>
            <a:prstDash val="solid"/>
            <a:round/>
          </a:ln>
        </p:spPr>
        <p:txBody>
          <a:bodyPr vert="horz" wrap="square" lIns="63500" tIns="63500" rIns="63500" bIns="63500" rtlCol="0" anchor="ctr"/>
          <a:lstStyle/>
          <a:p>
            <a:pPr algn="ctr">
              <a:defRPr/>
            </a:pPr>
          </a:p>
        </p:txBody>
      </p:sp>
      <p:sp>
        <p:nvSpPr>
          <p:cNvPr id="22" name="Freeform 22"/>
          <p:cNvSpPr/>
          <p:nvPr/>
        </p:nvSpPr>
        <p:spPr>
          <a:xfrm>
            <a:off x="9982200" y="3835400"/>
            <a:ext cx="1816108" cy="616217"/>
          </a:xfrm>
          <a:custGeom>
            <a:avLst/>
            <a:gdLst/>
            <a:ahLst/>
            <a:cxnLst/>
            <a:rect l="l" t="t" r="r" b="b"/>
            <a:pathLst>
              <a:path w="1816108" h="616217">
                <a:moveTo>
                  <a:pt x="75528" y="0"/>
                </a:moveTo>
                <a:cubicBezTo>
                  <a:pt x="1816108" y="0"/>
                  <a:pt x="1816108" y="0"/>
                  <a:pt x="1816108" y="0"/>
                </a:cubicBezTo>
                <a:cubicBezTo>
                  <a:pt x="1816108" y="46666"/>
                  <a:pt x="1816108" y="90416"/>
                  <a:pt x="1816108" y="131431"/>
                </a:cubicBezTo>
                <a:lnTo>
                  <a:pt x="1816108" y="147246"/>
                </a:lnTo>
                <a:lnTo>
                  <a:pt x="1816108" y="147248"/>
                </a:lnTo>
                <a:lnTo>
                  <a:pt x="1816108" y="180952"/>
                </a:lnTo>
                <a:cubicBezTo>
                  <a:pt x="1816108" y="495949"/>
                  <a:pt x="1816108" y="495949"/>
                  <a:pt x="1816108" y="495949"/>
                </a:cubicBezTo>
                <a:cubicBezTo>
                  <a:pt x="1816108" y="531028"/>
                  <a:pt x="1774911" y="561095"/>
                  <a:pt x="1726847" y="561095"/>
                </a:cubicBezTo>
                <a:cubicBezTo>
                  <a:pt x="75528" y="561095"/>
                  <a:pt x="75528" y="561095"/>
                  <a:pt x="75528" y="561095"/>
                </a:cubicBezTo>
                <a:cubicBezTo>
                  <a:pt x="34332" y="561095"/>
                  <a:pt x="3434" y="586151"/>
                  <a:pt x="0" y="616217"/>
                </a:cubicBezTo>
                <a:cubicBezTo>
                  <a:pt x="0" y="616217"/>
                  <a:pt x="0" y="419529"/>
                  <a:pt x="0" y="219710"/>
                </a:cubicBezTo>
                <a:lnTo>
                  <a:pt x="0" y="147248"/>
                </a:lnTo>
                <a:lnTo>
                  <a:pt x="0" y="147246"/>
                </a:lnTo>
                <a:lnTo>
                  <a:pt x="0" y="139344"/>
                </a:lnTo>
                <a:cubicBezTo>
                  <a:pt x="0" y="91298"/>
                  <a:pt x="0" y="59821"/>
                  <a:pt x="0" y="55123"/>
                </a:cubicBezTo>
                <a:cubicBezTo>
                  <a:pt x="0" y="25056"/>
                  <a:pt x="34332" y="0"/>
                  <a:pt x="75528" y="0"/>
                </a:cubicBezTo>
                <a:close/>
              </a:path>
            </a:pathLst>
          </a:custGeom>
          <a:solidFill>
            <a:srgbClr val="DFEBF7">
              <a:alpha val="100000"/>
            </a:srgbClr>
          </a:solidFill>
          <a:ln w="25400" cap="flat" cmpd="sng">
            <a:noFill/>
            <a:prstDash val="solid"/>
            <a:round/>
          </a:ln>
          <a:effectLst>
            <a:outerShdw blurRad="76200" dist="50800" dir="5400000" algn="ctr" rotWithShape="0">
              <a:srgbClr val="B90001">
                <a:alpha val="20000"/>
              </a:srgbClr>
            </a:outerShdw>
          </a:effectLst>
        </p:spPr>
        <p:txBody>
          <a:bodyPr vert="horz" wrap="square" lIns="63500" tIns="63500" rIns="63500" bIns="63500" rtlCol="0" anchor="ctr"/>
          <a:lstStyle/>
          <a:p>
            <a:pPr algn="ctr">
              <a:defRPr/>
            </a:pPr>
          </a:p>
        </p:txBody>
      </p:sp>
      <p:sp>
        <p:nvSpPr>
          <p:cNvPr id="23" name="AutoShape 23"/>
          <p:cNvSpPr/>
          <p:nvPr/>
        </p:nvSpPr>
        <p:spPr>
          <a:xfrm>
            <a:off x="10147300" y="1320800"/>
            <a:ext cx="1663700" cy="2425700"/>
          </a:xfrm>
          <a:prstGeom prst="rect">
            <a:avLst/>
          </a:prstGeom>
          <a:noFill/>
          <a:ln w="12700" cap="flat" cmpd="sng">
            <a:noFill/>
            <a:prstDash val="solid"/>
            <a:round/>
          </a:ln>
        </p:spPr>
        <p:txBody>
          <a:bodyPr vert="horz" wrap="square" lIns="88900" tIns="50800" rIns="88900" bIns="50800" rtlCol="0" anchor="ctr" anchorCtr="0"/>
          <a:lstStyle/>
          <a:p>
            <a:pPr marL="0" indent="0" algn="just">
              <a:lnSpc>
                <a:spcPts val="2500"/>
              </a:lnSpc>
              <a:spcBef>
                <a:spcPts val="400"/>
              </a:spcBef>
              <a:spcAft>
                <a:spcPts val="400"/>
              </a:spcAft>
              <a:defRPr/>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发挥该系统的</a:t>
            </a:r>
            <a:r>
              <a:rPr lang="en-US" sz="18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平台属性</a:t>
            </a:r>
            <a:r>
              <a:rPr lang="en-US" sz="1800" b="1" i="0" u="none" strike="noStrike">
                <a:solidFill>
                  <a:srgbClr val="0033CC"/>
                </a:solidFill>
                <a:latin typeface="黑体" panose="02010609060101010101" charset="-122"/>
                <a:ea typeface="黑体" panose="02010609060101010101" charset="-122"/>
                <a:cs typeface="黑体" panose="02010609060101010101" charset="-122"/>
                <a:sym typeface="黑体" panose="02010609060101010101" charset="-122"/>
              </a:rPr>
              <a:t>，</a:t>
            </a: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将磁刺激治疗术向其他系统性复杂疾病推广</a:t>
            </a:r>
            <a:r>
              <a:rPr lang="en-US" sz="1800" b="1" i="0" u="none" strike="noStrike">
                <a:solidFill>
                  <a:srgbClr val="0033CC"/>
                </a:solidFill>
                <a:latin typeface="黑体" panose="02010609060101010101" charset="-122"/>
                <a:ea typeface="黑体" panose="02010609060101010101" charset="-122"/>
                <a:cs typeface="黑体" panose="02010609060101010101" charset="-122"/>
                <a:sym typeface="黑体" panose="02010609060101010101" charset="-122"/>
              </a:rPr>
              <a:t>，</a:t>
            </a:r>
            <a:r>
              <a:rPr lang="en-US" sz="1800" b="1" i="0" u="none" strike="noStrike">
                <a:solidFill>
                  <a:srgbClr val="FF0000"/>
                </a:solidFill>
                <a:latin typeface="黑体" panose="02010609060101010101" charset="-122"/>
                <a:ea typeface="黑体" panose="02010609060101010101" charset="-122"/>
                <a:cs typeface="黑体" panose="02010609060101010101" charset="-122"/>
                <a:sym typeface="黑体" panose="02010609060101010101" charset="-122"/>
              </a:rPr>
              <a:t>开辟医疗技术和器械装备的新赛道</a:t>
            </a:r>
            <a:endParaRPr lang="en-US" sz="1100"/>
          </a:p>
        </p:txBody>
      </p:sp>
      <p:sp>
        <p:nvSpPr>
          <p:cNvPr id="24" name="AutoShape 24"/>
          <p:cNvSpPr/>
          <p:nvPr/>
        </p:nvSpPr>
        <p:spPr>
          <a:xfrm>
            <a:off x="10147300" y="3924300"/>
            <a:ext cx="1574800" cy="368300"/>
          </a:xfrm>
          <a:prstGeom prst="rect">
            <a:avLst/>
          </a:prstGeom>
          <a:noFill/>
          <a:ln w="12700" cap="flat" cmpd="sng">
            <a:noFill/>
            <a:prstDash val="solid"/>
            <a:round/>
          </a:ln>
        </p:spPr>
        <p:txBody>
          <a:bodyPr vert="horz" wrap="square" lIns="88900" tIns="50800" rIns="88900" bIns="0" rtlCol="0" anchor="ctr" anchorCtr="0"/>
          <a:lstStyle/>
          <a:p>
            <a:pPr marL="0" indent="0" algn="ctr">
              <a:lnSpc>
                <a:spcPct val="100000"/>
              </a:lnSpc>
              <a:defRPr/>
            </a:pPr>
            <a:r>
              <a:rPr lang="en-US" sz="2400" b="1" i="0" u="none" strike="noStrike" spc="3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应用前景</a:t>
            </a:r>
            <a:endParaRPr lang="en-US" sz="1100"/>
          </a:p>
        </p:txBody>
      </p:sp>
      <p:pic>
        <p:nvPicPr>
          <p:cNvPr id="25" name="Picture 25"/>
          <p:cNvPicPr>
            <a:picLocks noChangeAspect="1"/>
          </p:cNvPicPr>
          <p:nvPr/>
        </p:nvPicPr>
        <p:blipFill>
          <a:blip r:embed="rId3"/>
          <a:srcRect/>
          <a:stretch>
            <a:fillRect/>
          </a:stretch>
        </p:blipFill>
        <p:spPr>
          <a:xfrm>
            <a:off x="2959100" y="1244600"/>
            <a:ext cx="1955800" cy="1917700"/>
          </a:xfrm>
          <a:prstGeom prst="rect">
            <a:avLst/>
          </a:prstGeom>
          <a:noFill/>
          <a:ln w="25400" cap="flat" cmpd="sng">
            <a:noFill/>
            <a:prstDash val="solid"/>
            <a:round/>
          </a:ln>
        </p:spPr>
      </p:pic>
      <p:pic>
        <p:nvPicPr>
          <p:cNvPr id="26" name="Picture 26"/>
          <p:cNvPicPr>
            <a:picLocks noChangeAspect="1"/>
          </p:cNvPicPr>
          <p:nvPr/>
        </p:nvPicPr>
        <p:blipFill>
          <a:blip r:embed="rId4"/>
          <a:srcRect/>
          <a:stretch>
            <a:fillRect/>
          </a:stretch>
        </p:blipFill>
        <p:spPr>
          <a:xfrm>
            <a:off x="7531100" y="1168400"/>
            <a:ext cx="1854200" cy="1955800"/>
          </a:xfrm>
          <a:prstGeom prst="rect">
            <a:avLst/>
          </a:prstGeom>
          <a:noFill/>
          <a:ln w="25400" cap="flat" cmpd="sng">
            <a:noFill/>
            <a:prstDash val="solid"/>
            <a:round/>
          </a:ln>
        </p:spPr>
      </p:pic>
      <p:pic>
        <p:nvPicPr>
          <p:cNvPr id="27" name="Picture 27"/>
          <p:cNvPicPr>
            <a:picLocks noChangeAspect="1"/>
          </p:cNvPicPr>
          <p:nvPr/>
        </p:nvPicPr>
        <p:blipFill>
          <a:blip r:embed="rId5"/>
          <a:srcRect/>
          <a:stretch>
            <a:fillRect/>
          </a:stretch>
        </p:blipFill>
        <p:spPr>
          <a:xfrm>
            <a:off x="5080000" y="1168400"/>
            <a:ext cx="2260600" cy="2032000"/>
          </a:xfrm>
          <a:prstGeom prst="rect">
            <a:avLst/>
          </a:prstGeom>
          <a:noFill/>
          <a:ln w="25400" cap="flat" cmpd="sng">
            <a:noFill/>
            <a:prstDash val="solid"/>
            <a:round/>
          </a:ln>
        </p:spPr>
      </p:pic>
      <p:sp>
        <p:nvSpPr>
          <p:cNvPr id="28" name="AutoShape 28"/>
          <p:cNvSpPr/>
          <p:nvPr/>
        </p:nvSpPr>
        <p:spPr>
          <a:xfrm>
            <a:off x="2806700" y="3213100"/>
            <a:ext cx="6883400" cy="3048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0" i="1" u="none" strike="noStrike">
                <a:solidFill>
                  <a:srgbClr val="000000"/>
                </a:solidFill>
                <a:latin typeface="Arial" panose="020B0604020202020204"/>
                <a:ea typeface="Arial" panose="020B0604020202020204"/>
                <a:cs typeface="Arial" panose="020B0604020202020204"/>
                <a:sym typeface="Arial" panose="020B0604020202020204"/>
              </a:rPr>
              <a:t>Biomed. Phys. &amp; Eng. Express</a:t>
            </a: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2024</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10: 052001.</a:t>
            </a:r>
            <a:r>
              <a:rPr lang="en-US" sz="1400" b="1" i="0" u="none" strike="noStrike">
                <a:solidFill>
                  <a:srgbClr val="000000"/>
                </a:solidFill>
                <a:latin typeface="Songti SC"/>
                <a:ea typeface="Songti SC"/>
                <a:cs typeface="Songti SC"/>
                <a:sym typeface="Songti SC"/>
              </a:rPr>
              <a:t>（</a:t>
            </a: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Feature Review</a:t>
            </a:r>
            <a:r>
              <a:rPr lang="en-US" sz="1400" b="1" i="0" u="none" strike="noStrike">
                <a:solidFill>
                  <a:srgbClr val="000000"/>
                </a:solidFill>
                <a:latin typeface="Songti SC"/>
                <a:ea typeface="Songti SC"/>
                <a:cs typeface="Songti SC"/>
                <a:sym typeface="Songti SC"/>
              </a:rPr>
              <a:t>论文）</a:t>
            </a:r>
            <a:endParaRPr lang="en-US" sz="1100"/>
          </a:p>
        </p:txBody>
      </p:sp>
      <p:sp>
        <p:nvSpPr>
          <p:cNvPr id="29" name="AutoShape 29"/>
          <p:cNvSpPr/>
          <p:nvPr/>
        </p:nvSpPr>
        <p:spPr>
          <a:xfrm>
            <a:off x="177800" y="152400"/>
            <a:ext cx="92075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磁性微纳器械介导低场精准刺激新策略</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技术突破与临床价值</a:t>
            </a:r>
            <a:endParaRPr lang="en-US" sz="1100"/>
          </a:p>
        </p:txBody>
      </p:sp>
      <p:sp>
        <p:nvSpPr>
          <p:cNvPr id="6" name="AutoShape 6"/>
          <p:cNvSpPr/>
          <p:nvPr/>
        </p:nvSpPr>
        <p:spPr>
          <a:xfrm>
            <a:off x="177800" y="152400"/>
            <a:ext cx="92075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核心技术与创新点</a:t>
            </a:r>
            <a:endParaRPr lang="en-US" sz="1100"/>
          </a:p>
        </p:txBody>
      </p:sp>
      <p:sp>
        <p:nvSpPr>
          <p:cNvPr id="7" name="AutoShape 7"/>
          <p:cNvSpPr/>
          <p:nvPr/>
        </p:nvSpPr>
        <p:spPr>
          <a:xfrm>
            <a:off x="469900" y="3784600"/>
            <a:ext cx="5334000" cy="2755900"/>
          </a:xfrm>
          <a:prstGeom prst="roundRect">
            <a:avLst>
              <a:gd name="adj" fmla="val 0"/>
            </a:avLst>
          </a:prstGeom>
          <a:solidFill>
            <a:srgbClr val="FFFFFF">
              <a:alpha val="100000"/>
            </a:srgbClr>
          </a:solidFill>
          <a:ln w="38100" cap="flat" cmpd="sng">
            <a:solidFill>
              <a:srgbClr val="FADBDF">
                <a:alpha val="100000"/>
              </a:srgbClr>
            </a:solidFill>
            <a:prstDash val="solid"/>
            <a:miter lim="8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8" name="AutoShape 8"/>
          <p:cNvSpPr/>
          <p:nvPr/>
        </p:nvSpPr>
        <p:spPr>
          <a:xfrm>
            <a:off x="698500" y="4089400"/>
            <a:ext cx="4864100" cy="2336800"/>
          </a:xfrm>
          <a:prstGeom prst="rect">
            <a:avLst/>
          </a:prstGeom>
          <a:noFill/>
          <a:ln w="12700" cap="flat" cmpd="sng">
            <a:noFill/>
            <a:prstDash val="solid"/>
            <a:round/>
          </a:ln>
        </p:spPr>
        <p:txBody>
          <a:bodyPr vert="horz" wrap="square" lIns="88900" tIns="50800" rIns="88900" bIns="50800" rtlCol="0" anchor="t" anchorCtr="0"/>
          <a:lstStyle/>
          <a:p>
            <a:pPr marL="203200" indent="-203200" algn="just">
              <a:lnSpc>
                <a:spcPts val="2500"/>
              </a:lnSpc>
              <a:buClr>
                <a:srgbClr val="000000"/>
              </a:buClr>
              <a:buFont typeface="Wingdings" panose="05000000000000000000"/>
              <a:buChar char="Ø"/>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针对磁刺激治疗的技术痛点，设计基于磁增强效应的全新治疗平台，系统整合四大核心模块：</a:t>
            </a:r>
            <a:r>
              <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①磁场输出系统；②医用可注射磁增强微纳器械；③脑区/核团靶向递送系统；④智能监测反馈闭环系统。</a:t>
            </a:r>
            <a:endParaRPr lang="en-US" sz="1100"/>
          </a:p>
          <a:p>
            <a:pPr marL="203200" indent="-203200" algn="just">
              <a:lnSpc>
                <a:spcPts val="2500"/>
              </a:lnSpc>
              <a:buClr>
                <a:srgbClr val="000000"/>
              </a:buClr>
              <a:buFont typeface="Wingdings" panose="05000000000000000000"/>
              <a:buChar char="Ø"/>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通过多系统协同实现从磁场发生到疗效反馈的全流程把控，打造全国产化、高集成度的精准磁刺激治疗体系，解决传统设备适配性差、调控模糊的行业难题。</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9" name="Picture 9"/>
          <p:cNvPicPr>
            <a:picLocks noChangeAspect="1"/>
          </p:cNvPicPr>
          <p:nvPr/>
        </p:nvPicPr>
        <p:blipFill>
          <a:blip r:embed="rId3"/>
          <a:srcRect l="1831" t="2617" r="1465"/>
          <a:stretch>
            <a:fillRect/>
          </a:stretch>
        </p:blipFill>
        <p:spPr>
          <a:xfrm>
            <a:off x="177800" y="1143000"/>
            <a:ext cx="6705600" cy="2362200"/>
          </a:xfrm>
          <a:prstGeom prst="rect">
            <a:avLst/>
          </a:prstGeom>
          <a:noFill/>
          <a:ln w="25400" cap="flat" cmpd="sng">
            <a:noFill/>
            <a:prstDash val="solid"/>
            <a:round/>
          </a:ln>
        </p:spPr>
      </p:pic>
      <p:sp>
        <p:nvSpPr>
          <p:cNvPr id="10" name="AutoShape 10"/>
          <p:cNvSpPr/>
          <p:nvPr/>
        </p:nvSpPr>
        <p:spPr>
          <a:xfrm>
            <a:off x="6451600" y="4000500"/>
            <a:ext cx="5219700" cy="2336800"/>
          </a:xfrm>
          <a:prstGeom prst="rect">
            <a:avLst/>
          </a:prstGeom>
          <a:noFill/>
          <a:ln w="12700" cap="flat" cmpd="sng">
            <a:noFill/>
            <a:prstDash val="solid"/>
            <a:round/>
          </a:ln>
        </p:spPr>
        <p:txBody>
          <a:bodyPr vert="horz" wrap="square" lIns="88900" tIns="50800" rIns="88900" bIns="50800" rtlCol="0" anchor="t" anchorCtr="0"/>
          <a:lstStyle/>
          <a:p>
            <a:pPr marL="203200" indent="-203200" algn="l">
              <a:lnSpc>
                <a:spcPts val="2500"/>
              </a:lnSpc>
              <a:buClr>
                <a:srgbClr val="000000"/>
              </a:buClr>
              <a:buFont typeface="Wingdings" panose="05000000000000000000"/>
              <a:buChar char="Ø"/>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首创微创精准刺激深部脑区的“</a:t>
            </a:r>
            <a:r>
              <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核材融合</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”新策略，突破传统磁刺激在聚焦精度与穿透深度上的物理极限，实现深部核团的精准干预。</a:t>
            </a:r>
            <a:endParaRPr lang="en-US" sz="1100"/>
          </a:p>
          <a:p>
            <a:pPr marL="203200" indent="-203200" algn="l">
              <a:lnSpc>
                <a:spcPts val="2500"/>
              </a:lnSpc>
              <a:buClr>
                <a:srgbClr val="000000"/>
              </a:buClr>
              <a:buFont typeface="Wingdings" panose="05000000000000000000"/>
              <a:buChar char="Ø"/>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实现至少2个脑区的同步精准调控，达成</a:t>
            </a:r>
            <a:r>
              <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多脑区功能协同</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，填补了现有技术仅能单一脑区调控的空白，适配复杂神经精神疾病的病理机制。</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03200" indent="-203200" algn="l">
              <a:lnSpc>
                <a:spcPts val="2500"/>
              </a:lnSpc>
              <a:buClr>
                <a:srgbClr val="000000"/>
              </a:buClr>
              <a:buFont typeface="Wingdings" panose="05000000000000000000"/>
              <a:buChar char="Ø"/>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建立靶向深部脑区的精准调控治疗体系，构建高效快速抗抑郁的全新范式，推动神经调控治疗从“经验性”向“精准化”变革。</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nvSpPr>
        <p:spPr>
          <a:xfrm>
            <a:off x="6946900" y="1244600"/>
            <a:ext cx="4699000" cy="2044700"/>
          </a:xfrm>
          <a:prstGeom prst="roundRect">
            <a:avLst>
              <a:gd name="adj" fmla="val 0"/>
            </a:avLst>
          </a:prstGeom>
          <a:noFill/>
          <a:ln w="38100" cap="flat" cmpd="sng">
            <a:solidFill>
              <a:srgbClr val="FADBDF">
                <a:alpha val="100000"/>
              </a:srgbClr>
            </a:solidFill>
            <a:prstDash val="solid"/>
            <a:miter lim="8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12" name="AutoShape 12"/>
          <p:cNvSpPr/>
          <p:nvPr/>
        </p:nvSpPr>
        <p:spPr>
          <a:xfrm>
            <a:off x="8343900" y="977900"/>
            <a:ext cx="1892300" cy="469900"/>
          </a:xfrm>
          <a:prstGeom prst="roundRect">
            <a:avLst>
              <a:gd name="adj" fmla="val 16216"/>
            </a:avLst>
          </a:prstGeom>
          <a:solidFill>
            <a:srgbClr val="3B3BFF">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核心优势</a:t>
            </a:r>
            <a:endParaRPr lang="en-US" sz="1100"/>
          </a:p>
        </p:txBody>
      </p:sp>
      <p:sp>
        <p:nvSpPr>
          <p:cNvPr id="13" name="AutoShape 13"/>
          <p:cNvSpPr/>
          <p:nvPr/>
        </p:nvSpPr>
        <p:spPr>
          <a:xfrm>
            <a:off x="6337300" y="3784600"/>
            <a:ext cx="5334000" cy="2755900"/>
          </a:xfrm>
          <a:prstGeom prst="roundRect">
            <a:avLst>
              <a:gd name="adj" fmla="val 0"/>
            </a:avLst>
          </a:prstGeom>
          <a:noFill/>
          <a:ln w="38100" cap="flat" cmpd="sng">
            <a:solidFill>
              <a:srgbClr val="FADBDF">
                <a:alpha val="100000"/>
              </a:srgbClr>
            </a:solidFill>
            <a:prstDash val="solid"/>
            <a:miter lim="8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14" name="AutoShape 14"/>
          <p:cNvSpPr/>
          <p:nvPr/>
        </p:nvSpPr>
        <p:spPr>
          <a:xfrm>
            <a:off x="6946900" y="1409700"/>
            <a:ext cx="4724400" cy="1841500"/>
          </a:xfrm>
          <a:prstGeom prst="rect">
            <a:avLst/>
          </a:prstGeom>
          <a:noFill/>
          <a:ln w="12700" cap="flat" cmpd="sng">
            <a:noFill/>
            <a:prstDash val="solid"/>
            <a:round/>
          </a:ln>
        </p:spPr>
        <p:txBody>
          <a:bodyPr vert="horz" wrap="square" lIns="88900" tIns="50800" rIns="88900" bIns="50800" rtlCol="0" anchor="t" anchorCtr="0"/>
          <a:lstStyle/>
          <a:p>
            <a:pPr marL="203200" indent="-203200" algn="l">
              <a:lnSpc>
                <a:spcPts val="2500"/>
              </a:lnSpc>
              <a:spcBef>
                <a:spcPts val="600"/>
              </a:spcBef>
              <a:spcAft>
                <a:spcPts val="600"/>
              </a:spcAft>
              <a:buClr>
                <a:srgbClr val="FF0000"/>
              </a:buClr>
              <a:buFont typeface="Wingdings" panose="05000000000000000000"/>
              <a:buChar char="Ø"/>
              <a:defRPr/>
            </a:pPr>
            <a:r>
              <a:rPr lang="en-US" sz="16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破解深部脑区调控难题</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，以磁增强微纳器械为载体，将磁场能量精准锚定目标核团，大幅提升刺激的特异性与安全性。</a:t>
            </a:r>
            <a:endParaRPr lang="en-US" sz="1100"/>
          </a:p>
          <a:p>
            <a:pPr marL="203200" indent="-203200" algn="l">
              <a:lnSpc>
                <a:spcPts val="2500"/>
              </a:lnSpc>
              <a:spcBef>
                <a:spcPts val="600"/>
              </a:spcBef>
              <a:spcAft>
                <a:spcPts val="600"/>
              </a:spcAft>
              <a:buClr>
                <a:srgbClr val="000000"/>
              </a:buClr>
              <a:buFont typeface="Wingdings" panose="05000000000000000000"/>
              <a:buChar char="Ø"/>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打造“感知-解析-决策-调控”的</a:t>
            </a:r>
            <a:r>
              <a:rPr lang="en-US" sz="1600" b="1" i="0" u="none" strike="noStrike">
                <a:solidFill>
                  <a:srgbClr val="F6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全智能闭环系统</a:t>
            </a: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，实时采集脑电信号并动态调整刺激参数，实现个性化、自适应的精准治疗。</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nvSpPr>
        <p:spPr>
          <a:xfrm>
            <a:off x="8153400" y="3505200"/>
            <a:ext cx="1892300" cy="469900"/>
          </a:xfrm>
          <a:prstGeom prst="roundRect">
            <a:avLst>
              <a:gd name="adj" fmla="val 16216"/>
            </a:avLst>
          </a:prstGeom>
          <a:solidFill>
            <a:srgbClr val="3B3BFF">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创新突破</a:t>
            </a:r>
            <a:endParaRPr lang="en-US" sz="1100"/>
          </a:p>
        </p:txBody>
      </p:sp>
      <p:sp>
        <p:nvSpPr>
          <p:cNvPr id="16" name="AutoShape 16"/>
          <p:cNvSpPr/>
          <p:nvPr/>
        </p:nvSpPr>
        <p:spPr>
          <a:xfrm>
            <a:off x="2184400" y="3543300"/>
            <a:ext cx="1892300" cy="469900"/>
          </a:xfrm>
          <a:prstGeom prst="roundRect">
            <a:avLst>
              <a:gd name="adj" fmla="val 16216"/>
            </a:avLst>
          </a:prstGeom>
          <a:solidFill>
            <a:srgbClr val="3B3BFF">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系统架构</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algn="l">
              <a:defRPr/>
            </a:pPr>
          </a:p>
        </p:txBody>
      </p:sp>
      <p:sp>
        <p:nvSpPr>
          <p:cNvPr id="6" name="AutoShape 6"/>
          <p:cNvSpPr/>
          <p:nvPr/>
        </p:nvSpPr>
        <p:spPr>
          <a:xfrm>
            <a:off x="3321685" y="1130300"/>
            <a:ext cx="5548630" cy="4279900"/>
          </a:xfrm>
          <a:prstGeom prst="rect">
            <a:avLst/>
          </a:prstGeom>
          <a:noFill/>
          <a:ln w="12700" cap="flat" cmpd="sng">
            <a:noFill/>
            <a:prstDash val="solid"/>
            <a:round/>
          </a:ln>
        </p:spPr>
        <p:txBody>
          <a:bodyPr vert="horz" wrap="square" lIns="88900" tIns="50800" rIns="88900" bIns="50800" rtlCol="0" anchor="t" anchorCtr="0"/>
          <a:lstStyle/>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核心技术与创新亮点</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转化成果与实施进度</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后续推进与支持需求</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54000" y="2374900"/>
            <a:ext cx="2425700" cy="179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75000"/>
              </a:lnSpc>
              <a:defRPr/>
            </a:pPr>
            <a:endParaRPr lang="en-US" sz="1100"/>
          </a:p>
          <a:p>
            <a:pPr marL="571500" indent="0" algn="l">
              <a:lnSpc>
                <a:spcPct val="83000"/>
              </a:lnSpc>
            </a:pPr>
            <a:r>
              <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p>
          <a:p>
            <a:pPr marL="0" indent="0" algn="l">
              <a:lnSpc>
                <a:spcPct val="125000"/>
              </a:lnSpc>
            </a:pPr>
          </a:p>
          <a:p>
            <a:pPr marL="0" indent="0" algn="l">
              <a:lnSpc>
                <a:spcPct val="108000"/>
              </a:lnSpc>
            </a:pPr>
          </a:p>
          <a:p>
            <a:pPr marL="0" indent="0" algn="l">
              <a:lnSpc>
                <a:spcPct val="8000"/>
              </a:lnSpc>
            </a:pPr>
          </a:p>
          <a:p>
            <a:pPr marL="12700" indent="0" algn="l">
              <a:lnSpc>
                <a:spcPct val="83000"/>
              </a:lnSpc>
            </a:pPr>
            <a:r>
              <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rPr>
              <a:t>Contents</a:t>
            </a:r>
            <a:endPar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93130" y="2393315"/>
            <a:ext cx="267970" cy="1823085"/>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pic>
        <p:nvPicPr>
          <p:cNvPr id="6" name="Picture 6"/>
          <p:cNvPicPr>
            <a:picLocks noChangeAspect="1"/>
          </p:cNvPicPr>
          <p:nvPr/>
        </p:nvPicPr>
        <p:blipFill>
          <a:blip r:embed="rId3"/>
          <a:srcRect/>
          <a:stretch>
            <a:fillRect/>
          </a:stretch>
        </p:blipFill>
        <p:spPr>
          <a:xfrm>
            <a:off x="869950" y="1783080"/>
            <a:ext cx="1174750" cy="1480820"/>
          </a:xfrm>
          <a:prstGeom prst="rect">
            <a:avLst/>
          </a:prstGeom>
          <a:noFill/>
          <a:ln w="12700" cap="flat" cmpd="sng">
            <a:solidFill>
              <a:srgbClr val="000000">
                <a:alpha val="100000"/>
              </a:srgbClr>
            </a:solidFill>
            <a:prstDash val="solid"/>
            <a:miter lim="10000000"/>
            <a:headEnd/>
            <a:tailEnd/>
          </a:ln>
        </p:spPr>
      </p:pic>
      <p:pic>
        <p:nvPicPr>
          <p:cNvPr id="7" name="Picture 7"/>
          <p:cNvPicPr>
            <a:picLocks noChangeAspect="1"/>
          </p:cNvPicPr>
          <p:nvPr/>
        </p:nvPicPr>
        <p:blipFill>
          <a:blip r:embed="rId4"/>
          <a:srcRect l="12295" t="7792" r="9016" b="14285"/>
          <a:stretch>
            <a:fillRect/>
          </a:stretch>
        </p:blipFill>
        <p:spPr>
          <a:xfrm>
            <a:off x="2139950" y="1782445"/>
            <a:ext cx="1174750" cy="1468755"/>
          </a:xfrm>
          <a:prstGeom prst="rect">
            <a:avLst/>
          </a:prstGeom>
          <a:noFill/>
          <a:ln w="12700" cap="flat" cmpd="sng">
            <a:solidFill>
              <a:srgbClr val="000000">
                <a:alpha val="100000"/>
              </a:srgbClr>
            </a:solidFill>
            <a:prstDash val="solid"/>
            <a:miter lim="10000000"/>
            <a:headEnd/>
            <a:tailEnd/>
          </a:ln>
        </p:spPr>
      </p:pic>
      <p:pic>
        <p:nvPicPr>
          <p:cNvPr id="8" name="Picture 8"/>
          <p:cNvPicPr>
            <a:picLocks noChangeAspect="1"/>
          </p:cNvPicPr>
          <p:nvPr/>
        </p:nvPicPr>
        <p:blipFill>
          <a:blip r:embed="rId5"/>
          <a:srcRect/>
          <a:stretch>
            <a:fillRect/>
          </a:stretch>
        </p:blipFill>
        <p:spPr>
          <a:xfrm>
            <a:off x="3409950" y="1781810"/>
            <a:ext cx="1200150" cy="1482090"/>
          </a:xfrm>
          <a:prstGeom prst="rect">
            <a:avLst/>
          </a:prstGeom>
          <a:noFill/>
          <a:ln w="12700" cap="flat" cmpd="sng">
            <a:solidFill>
              <a:srgbClr val="000000">
                <a:alpha val="100000"/>
              </a:srgbClr>
            </a:solidFill>
            <a:prstDash val="solid"/>
            <a:miter lim="10000000"/>
            <a:headEnd/>
            <a:tailEnd/>
          </a:ln>
        </p:spPr>
      </p:pic>
      <p:pic>
        <p:nvPicPr>
          <p:cNvPr id="9" name="Picture 9"/>
          <p:cNvPicPr>
            <a:picLocks noChangeAspect="1"/>
          </p:cNvPicPr>
          <p:nvPr/>
        </p:nvPicPr>
        <p:blipFill>
          <a:blip r:embed="rId6"/>
          <a:srcRect/>
          <a:stretch>
            <a:fillRect/>
          </a:stretch>
        </p:blipFill>
        <p:spPr>
          <a:xfrm>
            <a:off x="869950" y="3371215"/>
            <a:ext cx="1174750" cy="1492885"/>
          </a:xfrm>
          <a:prstGeom prst="rect">
            <a:avLst/>
          </a:prstGeom>
          <a:noFill/>
          <a:ln w="12700" cap="flat" cmpd="sng">
            <a:solidFill>
              <a:srgbClr val="000000">
                <a:alpha val="100000"/>
              </a:srgbClr>
            </a:solidFill>
            <a:prstDash val="solid"/>
            <a:miter lim="10000000"/>
            <a:headEnd/>
            <a:tailEnd/>
          </a:ln>
        </p:spPr>
      </p:pic>
      <p:pic>
        <p:nvPicPr>
          <p:cNvPr id="10" name="Picture 10"/>
          <p:cNvPicPr>
            <a:picLocks noChangeAspect="1"/>
          </p:cNvPicPr>
          <p:nvPr/>
        </p:nvPicPr>
        <p:blipFill>
          <a:blip r:embed="rId7"/>
          <a:srcRect/>
          <a:stretch>
            <a:fillRect/>
          </a:stretch>
        </p:blipFill>
        <p:spPr>
          <a:xfrm>
            <a:off x="2139950" y="3370580"/>
            <a:ext cx="1174750" cy="1480820"/>
          </a:xfrm>
          <a:prstGeom prst="rect">
            <a:avLst/>
          </a:prstGeom>
          <a:noFill/>
          <a:ln w="12700" cap="flat" cmpd="sng">
            <a:solidFill>
              <a:srgbClr val="000000">
                <a:alpha val="100000"/>
              </a:srgbClr>
            </a:solidFill>
            <a:prstDash val="solid"/>
            <a:miter lim="10000000"/>
            <a:headEnd/>
            <a:tailEnd/>
          </a:ln>
        </p:spPr>
      </p:pic>
      <p:pic>
        <p:nvPicPr>
          <p:cNvPr id="11" name="Picture 11"/>
          <p:cNvPicPr>
            <a:picLocks noChangeAspect="1"/>
          </p:cNvPicPr>
          <p:nvPr/>
        </p:nvPicPr>
        <p:blipFill>
          <a:blip r:embed="rId8"/>
          <a:srcRect/>
          <a:stretch>
            <a:fillRect/>
          </a:stretch>
        </p:blipFill>
        <p:spPr>
          <a:xfrm>
            <a:off x="3422650" y="3357245"/>
            <a:ext cx="1200150" cy="1494155"/>
          </a:xfrm>
          <a:prstGeom prst="rect">
            <a:avLst/>
          </a:prstGeom>
          <a:noFill/>
          <a:ln w="12700" cap="flat" cmpd="sng">
            <a:solidFill>
              <a:srgbClr val="000000">
                <a:alpha val="100000"/>
              </a:srgbClr>
            </a:solidFill>
            <a:prstDash val="solid"/>
            <a:miter lim="10000000"/>
            <a:headEnd/>
            <a:tailEnd/>
          </a:ln>
        </p:spPr>
      </p:pic>
      <p:pic>
        <p:nvPicPr>
          <p:cNvPr id="12" name="Picture 12"/>
          <p:cNvPicPr>
            <a:picLocks noChangeAspect="1"/>
          </p:cNvPicPr>
          <p:nvPr/>
        </p:nvPicPr>
        <p:blipFill>
          <a:blip r:embed="rId9"/>
          <a:srcRect/>
          <a:stretch>
            <a:fillRect/>
          </a:stretch>
        </p:blipFill>
        <p:spPr>
          <a:xfrm>
            <a:off x="869950" y="4971415"/>
            <a:ext cx="1174750" cy="1492885"/>
          </a:xfrm>
          <a:prstGeom prst="rect">
            <a:avLst/>
          </a:prstGeom>
          <a:noFill/>
          <a:ln w="12700" cap="flat" cmpd="sng">
            <a:solidFill>
              <a:srgbClr val="000000">
                <a:alpha val="100000"/>
              </a:srgbClr>
            </a:solidFill>
            <a:prstDash val="solid"/>
            <a:miter lim="10000000"/>
            <a:headEnd/>
            <a:tailEnd/>
          </a:ln>
        </p:spPr>
      </p:pic>
      <p:pic>
        <p:nvPicPr>
          <p:cNvPr id="13" name="Picture 13"/>
          <p:cNvPicPr>
            <a:picLocks noChangeAspect="1"/>
          </p:cNvPicPr>
          <p:nvPr/>
        </p:nvPicPr>
        <p:blipFill>
          <a:blip r:embed="rId10"/>
          <a:srcRect l="27014" t="7746" r="27488" b="6338"/>
          <a:stretch>
            <a:fillRect/>
          </a:stretch>
        </p:blipFill>
        <p:spPr>
          <a:xfrm>
            <a:off x="2139950" y="4958715"/>
            <a:ext cx="1174750" cy="1492885"/>
          </a:xfrm>
          <a:prstGeom prst="rect">
            <a:avLst/>
          </a:prstGeom>
          <a:noFill/>
          <a:ln w="12700" cap="flat" cmpd="sng">
            <a:solidFill>
              <a:srgbClr val="000000">
                <a:alpha val="100000"/>
              </a:srgbClr>
            </a:solidFill>
            <a:prstDash val="solid"/>
            <a:miter lim="10000000"/>
            <a:headEnd/>
            <a:tailEnd/>
          </a:ln>
        </p:spPr>
      </p:pic>
      <p:pic>
        <p:nvPicPr>
          <p:cNvPr id="14" name="Picture 14"/>
          <p:cNvPicPr>
            <a:picLocks noChangeAspect="1"/>
          </p:cNvPicPr>
          <p:nvPr/>
        </p:nvPicPr>
        <p:blipFill>
          <a:blip r:embed="rId11"/>
          <a:srcRect l="28925" t="9150" r="30165" b="10457"/>
          <a:stretch>
            <a:fillRect/>
          </a:stretch>
        </p:blipFill>
        <p:spPr>
          <a:xfrm>
            <a:off x="3409950" y="4944745"/>
            <a:ext cx="1212850" cy="1506855"/>
          </a:xfrm>
          <a:prstGeom prst="rect">
            <a:avLst/>
          </a:prstGeom>
          <a:noFill/>
          <a:ln w="12700" cap="flat" cmpd="sng">
            <a:solidFill>
              <a:srgbClr val="000000">
                <a:alpha val="100000"/>
              </a:srgbClr>
            </a:solidFill>
            <a:prstDash val="solid"/>
            <a:miter lim="10000000"/>
            <a:headEnd/>
            <a:tailEnd/>
          </a:ln>
        </p:spPr>
      </p:pic>
      <p:sp>
        <p:nvSpPr>
          <p:cNvPr id="15" name="AutoShape 15"/>
          <p:cNvSpPr/>
          <p:nvPr/>
        </p:nvSpPr>
        <p:spPr>
          <a:xfrm>
            <a:off x="354965" y="1016000"/>
            <a:ext cx="4267835" cy="4572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10余家</a:t>
            </a: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科研院所应用验证</a:t>
            </a:r>
            <a:r>
              <a:rPr lang="en-US" sz="2400" b="1">
                <a:latin typeface="微软雅黑" panose="020B0503020204020204" charset="-122"/>
                <a:ea typeface="微软雅黑" panose="020B0503020204020204" charset="-122"/>
                <a:cs typeface="微软雅黑" panose="020B0503020204020204" charset="-122"/>
                <a:sym typeface="Noto Sans SC" panose="020B0200000000000000" charset="-122"/>
              </a:rPr>
              <a:t>技术成果获行业高度认可</a:t>
            </a:r>
            <a:endParaRPr lang="en-US" sz="2400" b="1">
              <a:latin typeface="微软雅黑" panose="020B0503020204020204" charset="-122"/>
              <a:ea typeface="微软雅黑" panose="020B0503020204020204" charset="-122"/>
              <a:cs typeface="微软雅黑" panose="020B0503020204020204" charset="-122"/>
            </a:endParaRPr>
          </a:p>
          <a:p>
            <a:pPr marL="0" indent="0" algn="ctr">
              <a:lnSpc>
                <a:spcPct val="100000"/>
              </a:lnSpc>
              <a:defRPr/>
            </a:pPr>
            <a:endParaRPr lang="en-US" sz="11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6" name="AutoShape 16"/>
          <p:cNvSpPr/>
          <p:nvPr/>
        </p:nvSpPr>
        <p:spPr>
          <a:xfrm>
            <a:off x="5053965" y="1122680"/>
            <a:ext cx="6833235" cy="4572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江苏省产研院重大转化项目获</a:t>
            </a:r>
            <a:r>
              <a:rPr lang="zh-CN" altLang="en-US" sz="24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千万级</a:t>
            </a:r>
            <a:r>
              <a:rPr lang="en-US" sz="24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资金支持</a:t>
            </a:r>
            <a:endParaRPr lang="en-US" sz="1100"/>
          </a:p>
        </p:txBody>
      </p:sp>
      <p:sp>
        <p:nvSpPr>
          <p:cNvPr id="17" name="AutoShape 17"/>
          <p:cNvSpPr/>
          <p:nvPr/>
        </p:nvSpPr>
        <p:spPr>
          <a:xfrm>
            <a:off x="217170" y="4605020"/>
            <a:ext cx="709930" cy="39878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t>科研</a:t>
            </a:r>
            <a:b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br>
            <a: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t>应用</a:t>
            </a:r>
            <a:endParaRPr lang="en-US" sz="1100"/>
          </a:p>
        </p:txBody>
      </p:sp>
      <p:sp>
        <p:nvSpPr>
          <p:cNvPr id="18" name="AutoShape 18"/>
          <p:cNvSpPr/>
          <p:nvPr/>
        </p:nvSpPr>
        <p:spPr>
          <a:xfrm>
            <a:off x="5169535" y="3604260"/>
            <a:ext cx="418465" cy="131064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t>产业</a:t>
            </a:r>
            <a:b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br>
            <a:r>
              <a:rPr lang="en-US" sz="2800" b="1" i="0" u="none" strike="noStrike">
                <a:solidFill>
                  <a:srgbClr val="0000CC"/>
                </a:solidFill>
                <a:latin typeface="黑体" panose="02010609060101010101" charset="-122"/>
                <a:ea typeface="黑体" panose="02010609060101010101" charset="-122"/>
                <a:cs typeface="黑体" panose="02010609060101010101" charset="-122"/>
                <a:sym typeface="黑体" panose="02010609060101010101" charset="-122"/>
              </a:rPr>
              <a:t>转化</a:t>
            </a:r>
            <a:endParaRPr lang="en-US" sz="1100"/>
          </a:p>
        </p:txBody>
      </p:sp>
      <p:pic>
        <p:nvPicPr>
          <p:cNvPr id="19" name="Picture 19"/>
          <p:cNvPicPr>
            <a:picLocks noChangeAspect="1"/>
          </p:cNvPicPr>
          <p:nvPr/>
        </p:nvPicPr>
        <p:blipFill>
          <a:blip r:embed="rId12"/>
          <a:srcRect/>
          <a:stretch>
            <a:fillRect/>
          </a:stretch>
        </p:blipFill>
        <p:spPr>
          <a:xfrm>
            <a:off x="8151495" y="3828415"/>
            <a:ext cx="2592705" cy="1848485"/>
          </a:xfrm>
          <a:prstGeom prst="rect">
            <a:avLst/>
          </a:prstGeom>
          <a:noFill/>
          <a:ln w="25400" cap="flat" cmpd="sng">
            <a:noFill/>
            <a:prstDash val="solid"/>
            <a:round/>
          </a:ln>
        </p:spPr>
      </p:pic>
      <p:pic>
        <p:nvPicPr>
          <p:cNvPr id="20" name="Picture 20"/>
          <p:cNvPicPr>
            <a:picLocks noChangeAspect="1"/>
          </p:cNvPicPr>
          <p:nvPr/>
        </p:nvPicPr>
        <p:blipFill>
          <a:blip r:embed="rId13"/>
          <a:srcRect/>
          <a:stretch>
            <a:fillRect/>
          </a:stretch>
        </p:blipFill>
        <p:spPr>
          <a:xfrm>
            <a:off x="5718175" y="1822450"/>
            <a:ext cx="1571625" cy="1847850"/>
          </a:xfrm>
          <a:prstGeom prst="rect">
            <a:avLst/>
          </a:prstGeom>
          <a:noFill/>
          <a:ln w="12700" cap="flat" cmpd="sng">
            <a:solidFill>
              <a:srgbClr val="000000">
                <a:alpha val="100000"/>
              </a:srgbClr>
            </a:solidFill>
            <a:prstDash val="solid"/>
            <a:miter lim="10000000"/>
            <a:headEnd/>
            <a:tailEnd/>
          </a:ln>
        </p:spPr>
      </p:pic>
      <p:pic>
        <p:nvPicPr>
          <p:cNvPr id="21" name="Picture 21"/>
          <p:cNvPicPr>
            <a:picLocks noChangeAspect="1"/>
          </p:cNvPicPr>
          <p:nvPr/>
        </p:nvPicPr>
        <p:blipFill>
          <a:blip r:embed="rId13"/>
          <a:srcRect/>
          <a:stretch>
            <a:fillRect/>
          </a:stretch>
        </p:blipFill>
        <p:spPr>
          <a:xfrm>
            <a:off x="7493000" y="1822450"/>
            <a:ext cx="1524000" cy="1860550"/>
          </a:xfrm>
          <a:prstGeom prst="rect">
            <a:avLst/>
          </a:prstGeom>
          <a:noFill/>
          <a:ln w="12700" cap="flat" cmpd="sng">
            <a:solidFill>
              <a:srgbClr val="000000">
                <a:alpha val="100000"/>
              </a:srgbClr>
            </a:solidFill>
            <a:prstDash val="solid"/>
            <a:miter lim="10000000"/>
            <a:headEnd/>
            <a:tailEnd/>
          </a:ln>
        </p:spPr>
      </p:pic>
      <p:pic>
        <p:nvPicPr>
          <p:cNvPr id="22" name="Picture 22"/>
          <p:cNvPicPr>
            <a:picLocks noChangeAspect="1"/>
          </p:cNvPicPr>
          <p:nvPr/>
        </p:nvPicPr>
        <p:blipFill>
          <a:blip r:embed="rId14"/>
          <a:srcRect/>
          <a:stretch>
            <a:fillRect/>
          </a:stretch>
        </p:blipFill>
        <p:spPr>
          <a:xfrm>
            <a:off x="5755005" y="3828415"/>
            <a:ext cx="2207895" cy="1848485"/>
          </a:xfrm>
          <a:prstGeom prst="rect">
            <a:avLst/>
          </a:prstGeom>
          <a:noFill/>
          <a:ln w="12700" cap="flat" cmpd="sng">
            <a:solidFill>
              <a:srgbClr val="000000">
                <a:alpha val="100000"/>
              </a:srgbClr>
            </a:solidFill>
            <a:prstDash val="solid"/>
            <a:miter lim="10000000"/>
            <a:headEnd/>
            <a:tailEnd/>
          </a:ln>
        </p:spPr>
      </p:pic>
      <p:pic>
        <p:nvPicPr>
          <p:cNvPr id="23" name="Picture 23"/>
          <p:cNvPicPr>
            <a:picLocks noChangeAspect="1"/>
          </p:cNvPicPr>
          <p:nvPr/>
        </p:nvPicPr>
        <p:blipFill>
          <a:blip r:embed="rId15"/>
          <a:srcRect/>
          <a:stretch>
            <a:fillRect/>
          </a:stretch>
        </p:blipFill>
        <p:spPr>
          <a:xfrm>
            <a:off x="9243060" y="1834515"/>
            <a:ext cx="1488440" cy="1848485"/>
          </a:xfrm>
          <a:prstGeom prst="rect">
            <a:avLst/>
          </a:prstGeom>
          <a:noFill/>
          <a:ln w="12700" cap="flat" cmpd="sng">
            <a:solidFill>
              <a:srgbClr val="000000">
                <a:alpha val="100000"/>
              </a:srgbClr>
            </a:solidFill>
            <a:prstDash val="solid"/>
            <a:miter lim="10000000"/>
            <a:headEnd/>
            <a:tailEnd/>
          </a:ln>
        </p:spPr>
      </p:pic>
      <p:sp>
        <p:nvSpPr>
          <p:cNvPr id="24" name="AutoShape 24"/>
          <p:cNvSpPr/>
          <p:nvPr/>
        </p:nvSpPr>
        <p:spPr>
          <a:xfrm>
            <a:off x="253365" y="177800"/>
            <a:ext cx="1127252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获批拨投结合项目资金成立实体公司</a:t>
            </a:r>
            <a:endParaRPr lang="en-US" sz="3600" b="1">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5" name="AutoShape 25"/>
          <p:cNvSpPr/>
          <p:nvPr/>
        </p:nvSpPr>
        <p:spPr>
          <a:xfrm>
            <a:off x="5053965" y="5854700"/>
            <a:ext cx="6553835" cy="938530"/>
          </a:xfrm>
          <a:prstGeom prst="rect">
            <a:avLst/>
          </a:prstGeom>
          <a:noFill/>
          <a:ln w="25400" cap="rnd" cmpd="sng">
            <a:solidFill>
              <a:srgbClr val="040AE1">
                <a:alpha val="100000"/>
              </a:srgbClr>
            </a:solidFill>
            <a:prstDash val="solid"/>
            <a:round/>
          </a:ln>
        </p:spPr>
        <p:txBody>
          <a:bodyPr vert="horz" wrap="square" lIns="88900" tIns="50800" rIns="88900" bIns="50800" rtlCol="0" anchor="t" anchorCtr="0"/>
          <a:lstStyle/>
          <a:p>
            <a:pPr marL="0" indent="0" algn="l">
              <a:lnSpc>
                <a:spcPct val="100000"/>
              </a:lnSpc>
              <a:defRPr/>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项目公司“南京济磁再康医疗科技有限公司”于2024年12月在江北新区生物医药谷正式成立，全面开启产业化运营新阶段。</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6" name="AutoShape 6"/>
          <p:cNvSpPr/>
          <p:nvPr/>
        </p:nvSpPr>
        <p:spPr>
          <a:xfrm>
            <a:off x="241300" y="215900"/>
            <a:ext cx="104648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核心发明专利完成权属变更</a:t>
            </a:r>
            <a:endParaRPr lang="en-US" sz="3600" b="1">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7" name="Picture 7"/>
          <p:cNvPicPr>
            <a:picLocks noChangeAspect="1"/>
          </p:cNvPicPr>
          <p:nvPr/>
        </p:nvPicPr>
        <p:blipFill>
          <a:blip r:embed="rId3"/>
          <a:srcRect/>
          <a:stretch>
            <a:fillRect/>
          </a:stretch>
        </p:blipFill>
        <p:spPr>
          <a:xfrm>
            <a:off x="406400" y="1143000"/>
            <a:ext cx="2413000" cy="3467100"/>
          </a:xfrm>
          <a:prstGeom prst="rect">
            <a:avLst/>
          </a:prstGeom>
          <a:noFill/>
          <a:ln w="12700" cap="flat" cmpd="sng">
            <a:solidFill>
              <a:srgbClr val="000000">
                <a:alpha val="100000"/>
              </a:srgbClr>
            </a:solidFill>
            <a:prstDash val="solid"/>
            <a:miter lim="10000000"/>
            <a:headEnd/>
            <a:tailEnd/>
          </a:ln>
        </p:spPr>
      </p:pic>
      <p:pic>
        <p:nvPicPr>
          <p:cNvPr id="8" name="Picture 8"/>
          <p:cNvPicPr>
            <a:picLocks noChangeAspect="1"/>
          </p:cNvPicPr>
          <p:nvPr/>
        </p:nvPicPr>
        <p:blipFill>
          <a:blip r:embed="rId4"/>
          <a:srcRect/>
          <a:stretch>
            <a:fillRect/>
          </a:stretch>
        </p:blipFill>
        <p:spPr>
          <a:xfrm>
            <a:off x="2921000" y="1143000"/>
            <a:ext cx="2400300" cy="3441700"/>
          </a:xfrm>
          <a:prstGeom prst="rect">
            <a:avLst/>
          </a:prstGeom>
          <a:noFill/>
          <a:ln w="12700" cap="flat" cmpd="sng">
            <a:solidFill>
              <a:srgbClr val="000000">
                <a:alpha val="100000"/>
              </a:srgbClr>
            </a:solidFill>
            <a:prstDash val="solid"/>
            <a:miter lim="10000000"/>
            <a:headEnd/>
            <a:tailEnd/>
          </a:ln>
        </p:spPr>
      </p:pic>
      <p:pic>
        <p:nvPicPr>
          <p:cNvPr id="9" name="Picture 9"/>
          <p:cNvPicPr>
            <a:picLocks noChangeAspect="1"/>
          </p:cNvPicPr>
          <p:nvPr/>
        </p:nvPicPr>
        <p:blipFill>
          <a:blip r:embed="rId5"/>
          <a:srcRect/>
          <a:stretch>
            <a:fillRect/>
          </a:stretch>
        </p:blipFill>
        <p:spPr>
          <a:xfrm>
            <a:off x="5435600" y="1143000"/>
            <a:ext cx="2400300" cy="3441700"/>
          </a:xfrm>
          <a:prstGeom prst="rect">
            <a:avLst/>
          </a:prstGeom>
          <a:noFill/>
          <a:ln w="12700" cap="flat" cmpd="sng">
            <a:solidFill>
              <a:srgbClr val="000000">
                <a:alpha val="100000"/>
              </a:srgbClr>
            </a:solidFill>
            <a:prstDash val="solid"/>
            <a:miter lim="10000000"/>
            <a:headEnd/>
            <a:tailEnd/>
          </a:ln>
        </p:spPr>
      </p:pic>
      <p:sp>
        <p:nvSpPr>
          <p:cNvPr id="10" name="AutoShape 10"/>
          <p:cNvSpPr/>
          <p:nvPr/>
        </p:nvSpPr>
        <p:spPr>
          <a:xfrm>
            <a:off x="381000" y="4851400"/>
            <a:ext cx="10185400" cy="584200"/>
          </a:xfrm>
          <a:prstGeom prst="rect">
            <a:avLst/>
          </a:prstGeom>
          <a:solidFill>
            <a:srgbClr val="DFEBF7">
              <a:alpha val="100000"/>
            </a:srgbClr>
          </a:solid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核心发明专利完成权属变更，全面转入济磁再康名下构建壁垒</a:t>
            </a:r>
            <a:endParaRPr lang="en-US" sz="1100"/>
          </a:p>
        </p:txBody>
      </p:sp>
      <p:sp>
        <p:nvSpPr>
          <p:cNvPr id="11" name="AutoShape 11"/>
          <p:cNvSpPr/>
          <p:nvPr/>
        </p:nvSpPr>
        <p:spPr>
          <a:xfrm>
            <a:off x="406400" y="5575300"/>
            <a:ext cx="11442700" cy="1104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持续迭代布局：</a:t>
            </a:r>
            <a:r>
              <a:rPr lang="en-US" sz="16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围绕核心技术完成多项发明专利新申请，包括“一种基于硅钢磁芯与气隙结构的脉冲磁场刺激线圈的设计”“多参数输出可编程磁刺激器”等，确保技术路线的独占性与领先性，为商业化竞争筑牢护城河。</a:t>
            </a:r>
            <a:endParaRPr lang="en-US" sz="1100"/>
          </a:p>
        </p:txBody>
      </p:sp>
      <p:sp>
        <p:nvSpPr>
          <p:cNvPr id="12" name="AutoShape 12"/>
          <p:cNvSpPr/>
          <p:nvPr/>
        </p:nvSpPr>
        <p:spPr>
          <a:xfrm>
            <a:off x="10566400" y="3454400"/>
            <a:ext cx="1016000" cy="1905000"/>
          </a:xfrm>
          <a:prstGeom prst="curvedLeftArrow">
            <a:avLst>
              <a:gd name="adj1" fmla="val 25000"/>
              <a:gd name="adj2" fmla="val 50000"/>
              <a:gd name="adj3" fmla="val 25000"/>
            </a:avLst>
          </a:prstGeom>
          <a:solidFill>
            <a:srgbClr val="537CC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图片 12"/>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7941608" y="1139190"/>
            <a:ext cx="2403812" cy="3443136"/>
          </a:xfrm>
          <a:prstGeom prst="rect">
            <a:avLst/>
          </a:prstGeom>
          <a:ln w="12700">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核心掌舵人 · 深耕医工交叉领域</a:t>
            </a:r>
            <a:endParaRPr lang="en-US" sz="1100"/>
          </a:p>
        </p:txBody>
      </p:sp>
      <p:sp>
        <p:nvSpPr>
          <p:cNvPr id="6" name="AutoShape 6"/>
          <p:cNvSpPr/>
          <p:nvPr/>
        </p:nvSpPr>
        <p:spPr>
          <a:xfrm>
            <a:off x="3352800" y="1092200"/>
            <a:ext cx="7708900" cy="2959100"/>
          </a:xfrm>
          <a:prstGeom prst="rect">
            <a:avLst/>
          </a:prstGeom>
          <a:noFill/>
          <a:ln w="12700" cap="flat" cmpd="sng">
            <a:noFill/>
            <a:prstDash val="solid"/>
            <a:round/>
          </a:ln>
        </p:spPr>
        <p:txBody>
          <a:bodyPr vert="horz" wrap="square" lIns="88900" tIns="50800" rIns="88900" bIns="50800" rtlCol="0" anchor="t" anchorCtr="0"/>
          <a:lstStyle/>
          <a:p>
            <a:pPr marL="0" indent="0" algn="l">
              <a:lnSpc>
                <a:spcPts val="2800"/>
              </a:lnSpc>
              <a:defRPr/>
            </a:pP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核心负责人：孙剑飞 总经理/法人 | 生物医学工程博士</a:t>
            </a:r>
            <a:endParaRPr lang="en-US" sz="1100"/>
          </a:p>
          <a:p>
            <a:pPr marL="0" indent="0" algn="l">
              <a:lnSpc>
                <a:spcPts val="2800"/>
              </a:lnSpc>
            </a:pP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学术背景：东南大学博士，美国密歇根大学、澳大利亚蒙纳什大学访问学者，拥有深厚的医工交叉学科积淀。</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ts val="2800"/>
              </a:lnSpc>
            </a:pP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科研成就：长期从事磁性纳米药物及电磁诊疗研究，发表顶级期刊论文90余篇，获发明专利授权9项，技术成果领先。</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ts val="2800"/>
              </a:lnSpc>
            </a:pP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项目经验：主持/参与国家973、国家重点研发计划等十余项国家级项目，荣获中国医疗器械创新创业大赛全国一等奖。</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3"/>
          <a:srcRect/>
          <a:stretch>
            <a:fillRect/>
          </a:stretch>
        </p:blipFill>
        <p:spPr>
          <a:xfrm>
            <a:off x="1041400" y="1219200"/>
            <a:ext cx="1943100" cy="2667000"/>
          </a:xfrm>
          <a:prstGeom prst="rect">
            <a:avLst/>
          </a:prstGeom>
          <a:noFill/>
          <a:ln w="12700" cap="flat" cmpd="sng">
            <a:solidFill>
              <a:srgbClr val="000000">
                <a:alpha val="100000"/>
              </a:srgbClr>
            </a:solidFill>
            <a:prstDash val="solid"/>
            <a:miter lim="10000000"/>
            <a:headEnd/>
            <a:tailEnd/>
          </a:ln>
        </p:spPr>
      </p:pic>
      <p:sp>
        <p:nvSpPr>
          <p:cNvPr id="8" name="AutoShape 8"/>
          <p:cNvSpPr/>
          <p:nvPr/>
        </p:nvSpPr>
        <p:spPr>
          <a:xfrm>
            <a:off x="241300" y="4051300"/>
            <a:ext cx="11620500" cy="2349500"/>
          </a:xfrm>
          <a:prstGeom prst="rect">
            <a:avLst/>
          </a:prstGeom>
          <a:noFill/>
          <a:ln w="12700" cap="flat" cmpd="sng">
            <a:noFill/>
            <a:prstDash val="solid"/>
            <a:round/>
          </a:ln>
        </p:spPr>
        <p:txBody>
          <a:bodyPr vert="horz" wrap="square" lIns="88900" tIns="50800" rIns="88900" bIns="50800" rtlCol="0" anchor="t" anchorCtr="0"/>
          <a:lstStyle/>
          <a:p>
            <a:pPr marL="228600" indent="-228600" algn="l">
              <a:lnSpc>
                <a:spcPts val="2200"/>
              </a:lnSpc>
              <a:buClr>
                <a:srgbClr val="FF0000"/>
              </a:buClr>
              <a:buFont typeface="Arial" panose="020B0604020202020204"/>
              <a:buChar char="•"/>
              <a:defRPr/>
            </a:pP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首席科学顾问：顾宁 中国科学院院士</a:t>
            </a: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深耕纳米生物医学领域，为技术研发方向提供国家级顶尖学术指导与战略把关。</a:t>
            </a:r>
            <a:endParaRPr lang="en-US" sz="1100"/>
          </a:p>
          <a:p>
            <a:pPr marL="228600" indent="-228600" algn="l">
              <a:lnSpc>
                <a:spcPts val="2200"/>
              </a:lnSpc>
              <a:buClr>
                <a:srgbClr val="FF0000"/>
              </a:buClr>
              <a:buFont typeface="Arial" panose="020B0604020202020204"/>
              <a:buChar char="•"/>
            </a:pP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顶尖临床顾问：张志珺、蒋青 教授</a:t>
            </a: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中华医学会神经病学分会主委与鼓楼医院运动医学科主任联袂，确保产品贴合临床真实需求，加速临床转化落地。</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28600" indent="-228600" algn="l">
              <a:lnSpc>
                <a:spcPts val="2200"/>
              </a:lnSpc>
              <a:buClr>
                <a:srgbClr val="FF0000"/>
              </a:buClr>
              <a:buFont typeface="Arial" panose="020B0604020202020204"/>
              <a:buChar char="•"/>
            </a:pPr>
            <a:r>
              <a:rPr lang="en-US" sz="18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资本与产业顾问：徐振凯、赵阶峰 先生</a:t>
            </a: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江海创盈私募基金董事长提供资本运作支持，四川省健万缘创始人提供医疗器械市场推广与产业化落地的全链路实战经验。</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03200" indent="-203200" algn="l">
              <a:lnSpc>
                <a:spcPts val="2200"/>
              </a:lnSpc>
              <a:buClr>
                <a:srgbClr val="595959"/>
              </a:buClr>
              <a:buFont typeface="Arial" panose="020B0604020202020204"/>
              <a:buChar char="•"/>
            </a:pPr>
            <a:r>
              <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顾问团队实现了“学术引领+临床验证+资本护航+产业落地”的全维度覆盖，构建了项目发展的强大护城河，保障技术创新与商业价值的同步实现。</a:t>
            </a:r>
            <a:endParaRPr lang="en-US" sz="16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241300" y="241300"/>
            <a:ext cx="9510395"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核心团队搭建完成</a:t>
            </a:r>
            <a:r>
              <a:rPr lang="en-US" altLang="zh-CN"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a:t>
            </a: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负责人与顾问团</a:t>
            </a:r>
            <a:r>
              <a:rPr lang="zh-CN" alt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队</a:t>
            </a:r>
            <a:endParaRPr lang="zh-CN" alt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6" name="AutoShape 6"/>
          <p:cNvSpPr/>
          <p:nvPr/>
        </p:nvSpPr>
        <p:spPr>
          <a:xfrm>
            <a:off x="241300" y="215900"/>
            <a:ext cx="104648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核心团队搭建完成</a:t>
            </a:r>
            <a:r>
              <a:rPr lang="en-US" altLang="zh-CN"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r>
              <a:rPr lang="zh-CN" alt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核心团队成员</a:t>
            </a:r>
            <a:endParaRPr lang="zh-CN" alt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4" name="图片 13" descr="男孩在微笑&#10;&#10;描述已自动生成"/>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0222686" y="1370970"/>
            <a:ext cx="1516054" cy="2003464"/>
          </a:xfrm>
          <a:prstGeom prst="rect">
            <a:avLst/>
          </a:prstGeom>
          <a:ln w="12700">
            <a:solidFill>
              <a:schemeClr val="tx1"/>
            </a:solidFill>
          </a:ln>
        </p:spPr>
      </p:pic>
      <p:sp>
        <p:nvSpPr>
          <p:cNvPr id="15" name="圆角矩形 46"/>
          <p:cNvSpPr/>
          <p:nvPr>
            <p:custDataLst>
              <p:tags r:id="rId5"/>
            </p:custDataLst>
          </p:nvPr>
        </p:nvSpPr>
        <p:spPr>
          <a:xfrm>
            <a:off x="10170713"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注册认证专家</a:t>
            </a:r>
            <a:endParaRPr kumimoji="0" lang="zh-CN" altLang="en-US"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4"/>
          <p:cNvPicPr>
            <a:picLocks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6256079" y="1370970"/>
            <a:ext cx="1516054" cy="2003464"/>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
        <p:nvSpPr>
          <p:cNvPr id="17" name="圆角矩形 80"/>
          <p:cNvSpPr/>
          <p:nvPr>
            <p:custDataLst>
              <p:tags r:id="rId8"/>
            </p:custDataLst>
          </p:nvPr>
        </p:nvSpPr>
        <p:spPr>
          <a:xfrm>
            <a:off x="6204106"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技术骨干</a:t>
            </a:r>
            <a:endPar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8" name="TextBox 63"/>
          <p:cNvSpPr txBox="1"/>
          <p:nvPr>
            <p:custDataLst>
              <p:tags r:id="rId9"/>
            </p:custDataLst>
          </p:nvPr>
        </p:nvSpPr>
        <p:spPr>
          <a:xfrm>
            <a:off x="8072756" y="3914616"/>
            <a:ext cx="1913890" cy="1885315"/>
          </a:xfrm>
          <a:prstGeom prst="rect">
            <a:avLst/>
          </a:prstGeom>
          <a:noFill/>
        </p:spPr>
        <p:txBody>
          <a:bodyPr wrap="square" lIns="91436" tIns="45718" rIns="91436" bIns="45718" rtlCol="0">
            <a:spAutoFit/>
          </a:bodyPr>
          <a:p>
            <a:pPr marL="0" marR="0" lvl="0" indent="0" algn="ctr" defTabSz="913765"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祁超（兼职）</a:t>
            </a:r>
            <a:endParaRPr kumimoji="0" lang="en-US" altLang="zh-CN"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just" defTabSz="913765" rtl="0" eaLnBrk="1" fontAlgn="auto" latinLnBrk="0" hangingPunct="1">
              <a:lnSpc>
                <a:spcPts val="2000"/>
              </a:lnSpc>
              <a:spcBef>
                <a:spcPts val="0"/>
              </a:spcBef>
              <a:spcAft>
                <a:spcPts val="0"/>
              </a:spcAft>
              <a:buClrTx/>
              <a:buSzTx/>
              <a:buFontTx/>
              <a:buNone/>
              <a:defRPr/>
            </a:pP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楷体" panose="02010609060101010101" pitchFamily="49" charset="-122"/>
              </a:rPr>
              <a:t>苏州大江医疗公司研发总监。拥有多年医疗设备开发经验。</a:t>
            </a: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楷体" panose="02010609060101010101" pitchFamily="49" charset="-122"/>
                <a:sym typeface="+mn-ea"/>
              </a:rPr>
              <a:t>熟悉产品的构成、工作原理及使用。</a:t>
            </a:r>
            <a:endPar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楷体" panose="02010609060101010101" pitchFamily="49" charset="-122"/>
              <a:sym typeface="+mn-ea"/>
            </a:endParaRPr>
          </a:p>
          <a:p>
            <a:pPr marL="0" marR="0" lvl="0" indent="0" algn="just" defTabSz="913765" rtl="0" eaLnBrk="1" fontAlgn="auto" latinLnBrk="0" hangingPunct="1">
              <a:lnSpc>
                <a:spcPts val="2000"/>
              </a:lnSpc>
              <a:spcBef>
                <a:spcPts val="0"/>
              </a:spcBef>
              <a:spcAft>
                <a:spcPts val="0"/>
              </a:spcAft>
              <a:buClrTx/>
              <a:buSzTx/>
              <a:buFontTx/>
              <a:buNone/>
              <a:defRPr/>
            </a:pPr>
            <a:r>
              <a:rPr kumimoji="0" lang="zh-CN" altLang="en-US" sz="1335" b="1" i="0" u="none" strike="noStrike" kern="0" cap="none" spc="0" normalizeH="0" baseline="0" noProof="0" dirty="0">
                <a:ln>
                  <a:noFill/>
                </a:ln>
                <a:solidFill>
                  <a:srgbClr val="0000FF"/>
                </a:solidFill>
                <a:effectLst/>
                <a:uLnTx/>
                <a:uFillTx/>
                <a:latin typeface="微软雅黑" panose="020B0503020204020204" charset="-122"/>
                <a:ea typeface="微软雅黑" panose="020B0503020204020204" charset="-122"/>
                <a:cs typeface="+mn-cs"/>
              </a:rPr>
              <a:t>负责产品生产及质控</a:t>
            </a:r>
            <a:endParaRPr kumimoji="0" lang="zh-CN" altLang="en-US" sz="1335" b="0" i="0" u="none" strike="noStrike" kern="0" cap="none" spc="0" normalizeH="0" baseline="0" noProof="0" dirty="0">
              <a:ln>
                <a:noFill/>
              </a:ln>
              <a:solidFill>
                <a:srgbClr val="0000FF"/>
              </a:solidFill>
              <a:effectLst/>
              <a:uLnTx/>
              <a:uFillTx/>
              <a:latin typeface="微软雅黑" panose="020B0503020204020204" charset="-122"/>
              <a:ea typeface="微软雅黑" panose="020B0503020204020204" charset="-122"/>
              <a:cs typeface="+mn-cs"/>
            </a:endParaRPr>
          </a:p>
        </p:txBody>
      </p:sp>
      <p:sp>
        <p:nvSpPr>
          <p:cNvPr id="19" name="圆角矩形 70"/>
          <p:cNvSpPr/>
          <p:nvPr>
            <p:custDataLst>
              <p:tags r:id="rId10"/>
            </p:custDataLst>
          </p:nvPr>
        </p:nvSpPr>
        <p:spPr>
          <a:xfrm>
            <a:off x="9941560" y="3809841"/>
            <a:ext cx="2157730" cy="2063750"/>
          </a:xfrm>
          <a:prstGeom prst="roundRect">
            <a:avLst/>
          </a:prstGeom>
          <a:noFill/>
        </p:spPr>
        <p:txBody>
          <a:bodyPr wrap="square" lIns="68577" tIns="34290" rIns="68577" bIns="34290">
            <a:noAutofit/>
          </a:bodyPr>
          <a:p>
            <a:pPr marL="0" marR="0" lvl="0" indent="0" algn="ctr" defTabSz="685165"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舒剑（兼职）</a:t>
            </a:r>
            <a:endParaRPr kumimoji="0" lang="en-US" altLang="zh-CN" sz="1865" b="1" i="0" u="none" strike="noStrike" kern="0" cap="none" spc="0" normalizeH="0" baseline="0" noProof="1">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685165" rtl="0" eaLnBrk="1" fontAlgn="auto" latinLnBrk="0" hangingPunct="1">
              <a:lnSpc>
                <a:spcPts val="2000"/>
              </a:lnSpc>
              <a:spcBef>
                <a:spcPts val="0"/>
              </a:spcBef>
              <a:spcAft>
                <a:spcPts val="0"/>
              </a:spcAft>
              <a:buClrTx/>
              <a:buSzTx/>
              <a:buFontTx/>
              <a:buNone/>
              <a:defRPr/>
            </a:pP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全国医用电器标委会委员，国标</a:t>
            </a:r>
            <a:r>
              <a:rPr kumimoji="0" lang="en-US" altLang="zh-CN"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GB 9706.1-2020</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主要起草人，苏州市医疗器械行业协会特聘</a:t>
            </a: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专家</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、法规部主任。</a:t>
            </a:r>
            <a:endPar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685165" rtl="0" eaLnBrk="1" fontAlgn="auto" latinLnBrk="0" hangingPunct="1">
              <a:lnSpc>
                <a:spcPts val="2000"/>
              </a:lnSpc>
              <a:spcBef>
                <a:spcPts val="0"/>
              </a:spcBef>
              <a:spcAft>
                <a:spcPts val="0"/>
              </a:spcAft>
              <a:buClrTx/>
              <a:buSzTx/>
              <a:buFontTx/>
              <a:buNone/>
              <a:defRPr/>
            </a:pPr>
            <a:r>
              <a:rPr kumimoji="0" lang="zh-CN" altLang="en-US" sz="1335" b="1" i="0" u="none" strike="noStrike" kern="0" cap="none" spc="0" normalizeH="0" baseline="0" noProof="1">
                <a:ln>
                  <a:noFill/>
                </a:ln>
                <a:solidFill>
                  <a:srgbClr val="0000CC"/>
                </a:solidFill>
                <a:effectLst/>
                <a:uLnTx/>
                <a:uFillTx/>
                <a:latin typeface="微软雅黑" panose="020B0503020204020204" charset="-122"/>
                <a:ea typeface="微软雅黑" panose="020B0503020204020204" charset="-122"/>
                <a:cs typeface="微软雅黑" panose="020B0503020204020204" charset="-122"/>
              </a:rPr>
              <a:t>负责产品注册及认证规划</a:t>
            </a:r>
            <a:endParaRPr kumimoji="0" lang="zh-CN" altLang="en-US" sz="1335" b="1" i="0" u="none" strike="noStrike" kern="0" cap="none" spc="0" normalizeH="0" baseline="0" noProof="1">
              <a:ln>
                <a:noFill/>
              </a:ln>
              <a:solidFill>
                <a:srgbClr val="0000CC"/>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20" name="图片 19"/>
          <p:cNvPicPr/>
          <p:nvPr>
            <p:custDataLst>
              <p:tags r:id="rId11"/>
            </p:custDataLst>
          </p:nvPr>
        </p:nvPicPr>
        <p:blipFill>
          <a:blip r:embed="rId12"/>
          <a:stretch>
            <a:fillRect/>
          </a:stretch>
        </p:blipFill>
        <p:spPr>
          <a:xfrm>
            <a:off x="2281555" y="1370965"/>
            <a:ext cx="1595120" cy="2003425"/>
          </a:xfrm>
          <a:prstGeom prst="rect">
            <a:avLst/>
          </a:prstGeom>
          <a:ln w="12700">
            <a:solidFill>
              <a:schemeClr val="tx1"/>
            </a:solidFill>
          </a:ln>
        </p:spPr>
      </p:pic>
      <p:sp>
        <p:nvSpPr>
          <p:cNvPr id="21" name="圆角矩形 46"/>
          <p:cNvSpPr/>
          <p:nvPr>
            <p:custDataLst>
              <p:tags r:id="rId13"/>
            </p:custDataLst>
          </p:nvPr>
        </p:nvSpPr>
        <p:spPr>
          <a:xfrm>
            <a:off x="2268373"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88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运营骨干</a:t>
            </a:r>
            <a:endParaRPr kumimoji="0" lang="zh-CN" altLang="en-US" sz="188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2" name="圆角矩形 70"/>
          <p:cNvSpPr/>
          <p:nvPr>
            <p:custDataLst>
              <p:tags r:id="rId14"/>
            </p:custDataLst>
          </p:nvPr>
        </p:nvSpPr>
        <p:spPr>
          <a:xfrm>
            <a:off x="2062392" y="3807301"/>
            <a:ext cx="2109854" cy="2529840"/>
          </a:xfrm>
          <a:prstGeom prst="roundRect">
            <a:avLst/>
          </a:prstGeom>
          <a:noFill/>
        </p:spPr>
        <p:txBody>
          <a:bodyPr wrap="square" lIns="68577" tIns="34290" rIns="68577" bIns="34290">
            <a:noAutofit/>
          </a:bodyPr>
          <a:p>
            <a:pPr marL="0" marR="0" lvl="0" indent="0" algn="ctr" defTabSz="685165"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1">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张琦（全职）</a:t>
            </a:r>
            <a:endParaRPr kumimoji="0" lang="en-US" altLang="zh-CN" sz="1865" b="1" i="0" u="none" strike="noStrike" kern="0" cap="none" spc="0" normalizeH="0" baseline="0" noProof="1">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685165" rtl="0" eaLnBrk="1" fontAlgn="auto" latinLnBrk="0" hangingPunct="1">
              <a:lnSpc>
                <a:spcPts val="2000"/>
              </a:lnSpc>
              <a:spcBef>
                <a:spcPts val="0"/>
              </a:spcBef>
              <a:spcAft>
                <a:spcPts val="0"/>
              </a:spcAft>
              <a:buClrTx/>
              <a:buSzTx/>
              <a:buFontTx/>
              <a:buNone/>
              <a:defRPr/>
            </a:pP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曾任</a:t>
            </a:r>
            <a:r>
              <a:rPr kumimoji="0" sz="1335" b="0" i="0" u="none" strike="noStrike" kern="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剑桥大学南京科技创新中心项目总监</a:t>
            </a: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及</a:t>
            </a:r>
            <a:r>
              <a:rPr kumimoji="0"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大型</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国际</a:t>
            </a:r>
            <a:r>
              <a:rPr kumimoji="0"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科技公司（世界500强）高级项目经理；</a:t>
            </a:r>
            <a:r>
              <a:rPr kumimoji="0" lang="zh-CN"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高级技术经理人；</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上海交大安泰经管学院</a:t>
            </a:r>
            <a:r>
              <a:rPr kumimoji="0" lang="zh-CN"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技术转移专业硕士</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335" b="1"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defTabSz="685165" rtl="0" eaLnBrk="1" fontAlgn="auto" latinLnBrk="0" hangingPunct="1">
              <a:lnSpc>
                <a:spcPts val="2000"/>
              </a:lnSpc>
              <a:spcBef>
                <a:spcPts val="0"/>
              </a:spcBef>
              <a:spcAft>
                <a:spcPts val="0"/>
              </a:spcAft>
              <a:buClrTx/>
              <a:buSzTx/>
              <a:buFontTx/>
              <a:buNone/>
              <a:defRPr/>
            </a:pPr>
            <a:r>
              <a:rPr kumimoji="0" lang="zh-CN" altLang="en-US" sz="1335" b="1" i="0" u="none" strike="noStrike" kern="0" cap="none" spc="0" normalizeH="0" baseline="0" noProof="1">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负责公司日常运营</a:t>
            </a:r>
            <a:endParaRPr kumimoji="0" lang="zh-CN" altLang="en-US" sz="1335" b="1" i="0" u="none" strike="noStrike" kern="0" cap="none" spc="0" normalizeH="0" baseline="0" noProof="1">
              <a:ln>
                <a:noFill/>
              </a:ln>
              <a:solidFill>
                <a:srgbClr val="0000FF"/>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23" name="图片 -2147482624" descr="曾丽华便装证件"/>
          <p:cNvPicPr>
            <a:picLocks noChangeAspect="1"/>
          </p:cNvPicPr>
          <p:nvPr>
            <p:custDataLst>
              <p:tags r:id="rId15"/>
            </p:custDataLst>
          </p:nvPr>
        </p:nvPicPr>
        <p:blipFill>
          <a:blip r:embed="rId16"/>
          <a:stretch>
            <a:fillRect/>
          </a:stretch>
        </p:blipFill>
        <p:spPr>
          <a:xfrm>
            <a:off x="293586" y="1370970"/>
            <a:ext cx="1516380" cy="2004361"/>
          </a:xfrm>
          <a:prstGeom prst="rect">
            <a:avLst/>
          </a:prstGeom>
          <a:solidFill>
            <a:schemeClr val="bg2">
              <a:lumMod val="95000"/>
            </a:schemeClr>
          </a:solidFill>
          <a:ln w="12700">
            <a:solidFill>
              <a:schemeClr val="tx1"/>
            </a:solidFill>
          </a:ln>
        </p:spPr>
      </p:pic>
      <p:sp>
        <p:nvSpPr>
          <p:cNvPr id="24" name="圆角矩形 80"/>
          <p:cNvSpPr/>
          <p:nvPr>
            <p:custDataLst>
              <p:tags r:id="rId17"/>
            </p:custDataLst>
          </p:nvPr>
        </p:nvSpPr>
        <p:spPr>
          <a:xfrm>
            <a:off x="241776"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技术骨干</a:t>
            </a:r>
            <a:endPar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5" name="TextBox 63"/>
          <p:cNvSpPr txBox="1"/>
          <p:nvPr>
            <p:custDataLst>
              <p:tags r:id="rId18"/>
            </p:custDataLst>
          </p:nvPr>
        </p:nvSpPr>
        <p:spPr>
          <a:xfrm>
            <a:off x="123825" y="3909218"/>
            <a:ext cx="1936957" cy="1756410"/>
          </a:xfrm>
          <a:prstGeom prst="rect">
            <a:avLst/>
          </a:prstGeom>
          <a:noFill/>
        </p:spPr>
        <p:txBody>
          <a:bodyPr wrap="square" lIns="91436" tIns="45718" rIns="91436" bIns="45718" rtlCol="0">
            <a:noAutofit/>
          </a:bodyPr>
          <a:p>
            <a:pPr marL="0" marR="0" lvl="0" indent="0" algn="ctr" defTabSz="913765"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曾丽华（全职）</a:t>
            </a:r>
            <a:endParaRPr kumimoji="0" lang="en-US" altLang="zh-CN"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913765" rtl="0" eaLnBrk="1" fontAlgn="auto" latinLnBrk="0" hangingPunct="1">
              <a:lnSpc>
                <a:spcPts val="2000"/>
              </a:lnSpc>
              <a:spcBef>
                <a:spcPts val="0"/>
              </a:spcBef>
              <a:spcAft>
                <a:spcPts val="0"/>
              </a:spcAft>
              <a:buClrTx/>
              <a:buSzTx/>
              <a:buFontTx/>
              <a:buNone/>
              <a:defRPr/>
            </a:pP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曾任空军军医大学</a:t>
            </a: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军事预防医学系放射医学教研室副教授</a:t>
            </a:r>
            <a:r>
              <a:rPr kumimoji="0" lang="en-US" altLang="zh-CN"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副主任。大动物临床前试验和临床研究专家。</a:t>
            </a:r>
            <a:endParaRPr kumimoji="0" lang="zh-CN" altLang="en-US" sz="1335"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913765" rtl="0" eaLnBrk="1" fontAlgn="auto" latinLnBrk="0" hangingPunct="1">
              <a:lnSpc>
                <a:spcPts val="2000"/>
              </a:lnSpc>
              <a:spcBef>
                <a:spcPts val="0"/>
              </a:spcBef>
              <a:spcAft>
                <a:spcPts val="0"/>
              </a:spcAft>
              <a:buClrTx/>
              <a:buSzTx/>
              <a:buFontTx/>
              <a:buNone/>
              <a:defRPr/>
            </a:pPr>
            <a:r>
              <a:rPr kumimoji="0" lang="zh-CN" altLang="en-US" sz="1335" b="1" i="0" u="none" strike="noStrike" kern="0" cap="none" spc="0" normalizeH="0" baseline="0" noProof="0" dirty="0">
                <a:ln>
                  <a:noFill/>
                </a:ln>
                <a:solidFill>
                  <a:srgbClr val="0000CC"/>
                </a:solidFill>
                <a:effectLst/>
                <a:uLnTx/>
                <a:uFillTx/>
                <a:latin typeface="微软雅黑" panose="020B0503020204020204" charset="-122"/>
                <a:ea typeface="微软雅黑" panose="020B0503020204020204" charset="-122"/>
                <a:cs typeface="微软雅黑" panose="020B0503020204020204" charset="-122"/>
              </a:rPr>
              <a:t>负责产品质量、认证、动物和临床实验</a:t>
            </a:r>
            <a:endParaRPr kumimoji="0" lang="zh-CN" altLang="en-US" sz="1335" b="1" i="0" u="none" strike="noStrike" kern="0" cap="none" spc="0" normalizeH="0" baseline="0" noProof="0" dirty="0">
              <a:ln>
                <a:noFill/>
              </a:ln>
              <a:solidFill>
                <a:srgbClr val="0000CC"/>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19"/>
            </p:custDataLst>
          </p:nvPr>
        </p:nvSpPr>
        <p:spPr>
          <a:xfrm>
            <a:off x="6176497" y="3895566"/>
            <a:ext cx="1795781" cy="2391410"/>
          </a:xfrm>
          <a:prstGeom prst="rect">
            <a:avLst/>
          </a:prstGeom>
          <a:noFill/>
        </p:spPr>
        <p:txBody>
          <a:bodyPr wrap="square" rtlCol="0" anchor="t">
            <a:noAutofit/>
          </a:bodyPr>
          <a:p>
            <a:pPr marL="0" marR="0" lvl="0" indent="0" algn="l" defTabSz="914400"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 陈武（兼职）</a:t>
            </a:r>
            <a:endParaRPr kumimoji="0" lang="zh-CN" altLang="en-US" sz="2000" b="1"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国家优青，东南大学电能技术与装备研究所所长，获教育部自然科学一等奖、江苏省科技进步一等奖等。</a:t>
            </a:r>
            <a:endParaRPr kumimoji="0" lang="zh-CN" altLang="en-US" sz="16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zh-CN" altLang="en-US" sz="1340" b="1" i="0" u="none" strike="noStrike" kern="0" cap="none" spc="0" normalizeH="0" baseline="0" noProof="0" dirty="0">
                <a:ln>
                  <a:noFill/>
                </a:ln>
                <a:solidFill>
                  <a:srgbClr val="0000CC"/>
                </a:solidFill>
                <a:effectLst/>
                <a:uLnTx/>
                <a:uFillTx/>
                <a:latin typeface="微软雅黑" panose="020B0503020204020204" charset="-122"/>
                <a:ea typeface="微软雅黑" panose="020B0503020204020204" charset="-122"/>
                <a:cs typeface="微软雅黑" panose="020B0503020204020204" charset="-122"/>
                <a:sym typeface="+mn-ea"/>
              </a:rPr>
              <a:t>负责电磁设备研制</a:t>
            </a:r>
            <a:endParaRPr kumimoji="0" lang="zh-CN" altLang="en-US" sz="1340" b="1" i="0" u="none" strike="noStrike" kern="0" cap="none" spc="0" normalizeH="0" baseline="0" noProof="0" dirty="0">
              <a:ln>
                <a:noFill/>
              </a:ln>
              <a:solidFill>
                <a:srgbClr val="0000CC"/>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27" name="图片 26" descr="fed689f2273fdd6adb514c706f966cc"/>
          <p:cNvPicPr/>
          <p:nvPr>
            <p:custDataLst>
              <p:tags r:id="rId20"/>
            </p:custDataLst>
          </p:nvPr>
        </p:nvPicPr>
        <p:blipFill>
          <a:blip r:embed="rId21"/>
          <a:stretch>
            <a:fillRect/>
          </a:stretch>
        </p:blipFill>
        <p:spPr>
          <a:xfrm>
            <a:off x="8213396" y="1370970"/>
            <a:ext cx="1516054" cy="2003464"/>
          </a:xfrm>
          <a:prstGeom prst="rect">
            <a:avLst/>
          </a:prstGeom>
          <a:noFill/>
          <a:ln w="12700">
            <a:solidFill>
              <a:schemeClr val="tx1"/>
            </a:solidFill>
          </a:ln>
        </p:spPr>
      </p:pic>
      <p:sp>
        <p:nvSpPr>
          <p:cNvPr id="28" name="圆角矩形 80"/>
          <p:cNvSpPr/>
          <p:nvPr>
            <p:custDataLst>
              <p:tags r:id="rId22"/>
            </p:custDataLst>
          </p:nvPr>
        </p:nvSpPr>
        <p:spPr>
          <a:xfrm>
            <a:off x="8161423"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技术</a:t>
            </a:r>
            <a:r>
              <a:rPr lang="zh-CN" altLang="en-US" sz="1865" b="1" dirty="0">
                <a:solidFill>
                  <a:prstClr val="white"/>
                </a:solidFill>
                <a:latin typeface="微软雅黑" panose="020B0503020204020204" charset="-122"/>
                <a:ea typeface="微软雅黑" panose="020B0503020204020204" charset="-122"/>
              </a:rPr>
              <a:t>支持</a:t>
            </a:r>
            <a:endParaRPr kumimoji="0" lang="zh-CN" altLang="en-US" sz="18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9" name="图片 28"/>
          <p:cNvPicPr/>
          <p:nvPr>
            <p:custDataLst>
              <p:tags r:id="rId23"/>
            </p:custDataLst>
          </p:nvPr>
        </p:nvPicPr>
        <p:blipFill>
          <a:blip r:embed="rId24"/>
          <a:srcRect l="3858" r="3878"/>
          <a:stretch>
            <a:fillRect/>
          </a:stretch>
        </p:blipFill>
        <p:spPr>
          <a:xfrm>
            <a:off x="4295555" y="1370970"/>
            <a:ext cx="1516380" cy="2003464"/>
          </a:xfrm>
          <a:prstGeom prst="rect">
            <a:avLst/>
          </a:prstGeom>
          <a:ln w="12700">
            <a:solidFill>
              <a:schemeClr val="tx1"/>
            </a:solidFill>
          </a:ln>
        </p:spPr>
      </p:pic>
      <p:sp>
        <p:nvSpPr>
          <p:cNvPr id="30" name="圆角矩形 46"/>
          <p:cNvSpPr/>
          <p:nvPr>
            <p:custDataLst>
              <p:tags r:id="rId25"/>
            </p:custDataLst>
          </p:nvPr>
        </p:nvSpPr>
        <p:spPr>
          <a:xfrm>
            <a:off x="4243745" y="3440316"/>
            <a:ext cx="1620000" cy="432000"/>
          </a:xfrm>
          <a:prstGeom prst="roundRect">
            <a:avLst/>
          </a:prstGeom>
          <a:solidFill>
            <a:srgbClr val="6691BA"/>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市场推广骨干</a:t>
            </a:r>
            <a:endParaRPr kumimoji="0" lang="zh-CN" altLang="en-US"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 name="圆角矩形 70"/>
          <p:cNvSpPr/>
          <p:nvPr>
            <p:custDataLst>
              <p:tags r:id="rId26"/>
            </p:custDataLst>
          </p:nvPr>
        </p:nvSpPr>
        <p:spPr>
          <a:xfrm>
            <a:off x="4095897" y="3809841"/>
            <a:ext cx="2014855" cy="1977390"/>
          </a:xfrm>
          <a:prstGeom prst="roundRect">
            <a:avLst/>
          </a:prstGeom>
          <a:noFill/>
        </p:spPr>
        <p:txBody>
          <a:bodyPr wrap="square" lIns="68577" tIns="34290" rIns="68577" bIns="34290">
            <a:noAutofit/>
          </a:bodyPr>
          <a:p>
            <a:pPr marL="0" marR="0" lvl="0" indent="0" algn="ctr" defTabSz="685165" rtl="0" eaLnBrk="1" fontAlgn="auto" latinLnBrk="0" hangingPunct="1">
              <a:lnSpc>
                <a:spcPts val="2000"/>
              </a:lnSpc>
              <a:spcBef>
                <a:spcPts val="0"/>
              </a:spcBef>
              <a:spcAft>
                <a:spcPts val="0"/>
              </a:spcAft>
              <a:buClrTx/>
              <a:buSzTx/>
              <a:buFontTx/>
              <a:buNone/>
              <a:defRPr/>
            </a:pPr>
            <a:r>
              <a:rPr kumimoji="0" lang="zh-CN" altLang="en-US" sz="1865"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开思琪（全职）</a:t>
            </a:r>
            <a:endParaRPr kumimoji="0" lang="en-US" altLang="zh-CN" sz="1865" b="1" i="0" u="none" strike="noStrike" kern="0" cap="none" spc="0" normalizeH="0" baseline="0" noProof="1">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685165" rtl="0" eaLnBrk="1" fontAlgn="auto" latinLnBrk="0" hangingPunct="1">
              <a:lnSpc>
                <a:spcPts val="2000"/>
              </a:lnSpc>
              <a:spcBef>
                <a:spcPts val="0"/>
              </a:spcBef>
              <a:spcAft>
                <a:spcPts val="0"/>
              </a:spcAft>
              <a:buClrTx/>
              <a:buSzTx/>
              <a:buFontTx/>
              <a:buNone/>
              <a:defRPr/>
            </a:pP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曾任正大天晴药业、江苏先声药业产品经理</a:t>
            </a:r>
            <a:r>
              <a:rPr kumimoji="0" lang="en-US" altLang="zh-CN"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品牌专员等，具有丰富的市场推广和品牌策划经验。</a:t>
            </a:r>
            <a:endParaRPr kumimoji="0" lang="zh-CN" altLang="en-US" sz="1335" b="0" i="0" u="none" strike="noStrike" kern="0" cap="none" spc="0" normalizeH="0" baseline="0" noProof="1">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just" defTabSz="685165" rtl="0" eaLnBrk="1" fontAlgn="auto" latinLnBrk="0" hangingPunct="1">
              <a:lnSpc>
                <a:spcPts val="2000"/>
              </a:lnSpc>
              <a:spcBef>
                <a:spcPts val="0"/>
              </a:spcBef>
              <a:spcAft>
                <a:spcPts val="0"/>
              </a:spcAft>
              <a:buClrTx/>
              <a:buSzTx/>
              <a:buFontTx/>
              <a:buNone/>
              <a:defRPr/>
            </a:pPr>
            <a:r>
              <a:rPr kumimoji="0" lang="zh-CN" altLang="en-US" sz="1335" b="1" i="0" u="none" strike="noStrike" kern="0" cap="none" spc="0" normalizeH="0" baseline="0" noProof="1">
                <a:ln>
                  <a:noFill/>
                </a:ln>
                <a:solidFill>
                  <a:srgbClr val="0000CC"/>
                </a:solidFill>
                <a:effectLst/>
                <a:uLnTx/>
                <a:uFillTx/>
                <a:latin typeface="微软雅黑" panose="020B0503020204020204" charset="-122"/>
                <a:ea typeface="微软雅黑" panose="020B0503020204020204" charset="-122"/>
                <a:cs typeface="微软雅黑" panose="020B0503020204020204" charset="-122"/>
              </a:rPr>
              <a:t>负责产品市场推广和品牌策划</a:t>
            </a:r>
            <a:endParaRPr kumimoji="0" lang="zh-CN" altLang="en-US" sz="1335" b="1" i="0" u="none" strike="noStrike" kern="0" cap="none" spc="0" normalizeH="0" baseline="0" noProof="1">
              <a:ln>
                <a:noFill/>
              </a:ln>
              <a:solidFill>
                <a:srgbClr val="0000CC"/>
              </a:solidFill>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6" name="AutoShape 6"/>
          <p:cNvSpPr/>
          <p:nvPr/>
        </p:nvSpPr>
        <p:spPr>
          <a:xfrm>
            <a:off x="2832100" y="2755900"/>
            <a:ext cx="2717800" cy="1016000"/>
          </a:xfrm>
          <a:prstGeom prst="roundRect">
            <a:avLst>
              <a:gd name="adj" fmla="val 16250"/>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南京济磁再康管理咨询合伙企业</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（有限合伙-员工持股平台）</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endParaRPr>
          </a:p>
          <a:p>
            <a:pPr marL="0" indent="0" algn="ctr">
              <a:lnSpc>
                <a:spcPct val="100000"/>
              </a:lnSpc>
            </a:pPr>
            <a:r>
              <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持股平台 70%</a:t>
            </a:r>
            <a:endPar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7" name="AutoShape 7"/>
          <p:cNvSpPr/>
          <p:nvPr/>
        </p:nvSpPr>
        <p:spPr>
          <a:xfrm>
            <a:off x="6197600" y="2755900"/>
            <a:ext cx="2235200" cy="1003300"/>
          </a:xfrm>
          <a:prstGeom prst="roundRect">
            <a:avLst>
              <a:gd name="adj" fmla="val 16455"/>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8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江苏省产业研究院</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8000"/>
              </a:lnSpc>
            </a:pPr>
            <a:r>
              <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战略投资 5%</a:t>
            </a:r>
            <a:endPar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8" name="AutoShape 8"/>
          <p:cNvSpPr/>
          <p:nvPr/>
        </p:nvSpPr>
        <p:spPr>
          <a:xfrm>
            <a:off x="9436100" y="2755900"/>
            <a:ext cx="1892300" cy="1003300"/>
          </a:xfrm>
          <a:prstGeom prst="roundRect">
            <a:avLst>
              <a:gd name="adj" fmla="val 16455"/>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8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江北新区科技投</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8000"/>
              </a:lnSpc>
            </a:pPr>
            <a:r>
              <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战略投资 5%</a:t>
            </a:r>
            <a:endPar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9" name="AutoShape 9"/>
          <p:cNvSpPr/>
          <p:nvPr/>
        </p:nvSpPr>
        <p:spPr>
          <a:xfrm>
            <a:off x="520700" y="1466850"/>
            <a:ext cx="2082800" cy="742950"/>
          </a:xfrm>
          <a:prstGeom prst="roundRect">
            <a:avLst>
              <a:gd name="adj" fmla="val 15909"/>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zh-CN" alt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孙剑飞</a:t>
            </a: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a:t>
            </a:r>
            <a:r>
              <a:rPr lang="zh-CN" altLang="en-US" sz="1600" b="1">
                <a:latin typeface="微软雅黑" panose="020B0503020204020204" charset="-122"/>
                <a:ea typeface="微软雅黑" panose="020B0503020204020204" charset="-122"/>
                <a:cs typeface="微软雅黑" panose="020B0503020204020204" charset="-122"/>
                <a:sym typeface="+mn-ea"/>
              </a:rPr>
              <a:t>含部分预留股权激励</a:t>
            </a: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合计持有 58%</a:t>
            </a:r>
            <a:endPar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10" name="AutoShape 10"/>
          <p:cNvSpPr/>
          <p:nvPr/>
        </p:nvSpPr>
        <p:spPr>
          <a:xfrm>
            <a:off x="3131185" y="1663700"/>
            <a:ext cx="1550035" cy="558800"/>
          </a:xfrm>
          <a:prstGeom prst="roundRect">
            <a:avLst>
              <a:gd name="adj" fmla="val 16666"/>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核心合伙人A</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20%</a:t>
            </a:r>
            <a:endPar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11" name="AutoShape 11"/>
          <p:cNvSpPr/>
          <p:nvPr/>
        </p:nvSpPr>
        <p:spPr>
          <a:xfrm>
            <a:off x="5219700" y="1663700"/>
            <a:ext cx="1527175" cy="558800"/>
          </a:xfrm>
          <a:prstGeom prst="roundRect">
            <a:avLst>
              <a:gd name="adj" fmla="val 15909"/>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核心合伙人B</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12%</a:t>
            </a:r>
            <a:endPar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12" name="AutoShape 12"/>
          <p:cNvSpPr/>
          <p:nvPr/>
        </p:nvSpPr>
        <p:spPr>
          <a:xfrm>
            <a:off x="7200900" y="1663700"/>
            <a:ext cx="1453515" cy="533400"/>
          </a:xfrm>
          <a:prstGeom prst="roundRect">
            <a:avLst>
              <a:gd name="adj" fmla="val 16666"/>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核心合伙人C</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5%</a:t>
            </a:r>
            <a:endPar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sp>
        <p:nvSpPr>
          <p:cNvPr id="13" name="AutoShape 13"/>
          <p:cNvSpPr/>
          <p:nvPr/>
        </p:nvSpPr>
        <p:spPr>
          <a:xfrm>
            <a:off x="4267200" y="5283200"/>
            <a:ext cx="3873500" cy="901700"/>
          </a:xfrm>
          <a:prstGeom prst="roundRect">
            <a:avLst>
              <a:gd name="adj" fmla="val 16901"/>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2000" b="1" i="0" u="none" strike="noStrike">
                <a:solidFill>
                  <a:srgbClr val="000000"/>
                </a:solidFill>
                <a:latin typeface="微软雅黑" panose="020B0503020204020204" charset="-122"/>
                <a:ea typeface="微软雅黑" panose="020B0503020204020204" charset="-122"/>
                <a:cs typeface="等线" panose="02010600030101010101" charset="-122"/>
                <a:sym typeface="等线" panose="02010600030101010101" charset="-122"/>
              </a:rPr>
              <a:t>南京济磁再康医疗科技有限公司</a:t>
            </a:r>
            <a:endParaRPr lang="en-US" sz="1100">
              <a:latin typeface="微软雅黑" panose="020B0503020204020204" charset="-122"/>
              <a:ea typeface="微软雅黑" panose="020B0503020204020204" charset="-122"/>
            </a:endParaRPr>
          </a:p>
          <a:p>
            <a:pPr marL="0" indent="0" algn="ctr">
              <a:lnSpc>
                <a:spcPct val="100000"/>
              </a:lnSpc>
            </a:pPr>
            <a:endParaRPr lang="en-US" sz="1400" b="0" i="0" u="none" strike="noStrike">
              <a:solidFill>
                <a:srgbClr val="595959"/>
              </a:solidFill>
              <a:latin typeface="微软雅黑" panose="020B0503020204020204" charset="-122"/>
              <a:ea typeface="微软雅黑" panose="020B0503020204020204" charset="-122"/>
              <a:cs typeface="Calibri" panose="020F0502020204030204"/>
              <a:sym typeface="Calibri" panose="020F0502020204030204"/>
            </a:endParaRPr>
          </a:p>
        </p:txBody>
      </p:sp>
      <p:cxnSp>
        <p:nvCxnSpPr>
          <p:cNvPr id="14" name="Connector 14"/>
          <p:cNvCxnSpPr/>
          <p:nvPr/>
        </p:nvCxnSpPr>
        <p:spPr>
          <a:xfrm rot="5400000" flipV="1">
            <a:off x="4432300" y="3543300"/>
            <a:ext cx="1524000" cy="1841500"/>
          </a:xfrm>
          <a:prstGeom prst="bentConnector3">
            <a:avLst>
              <a:gd name="adj1" fmla="val 51291"/>
            </a:avLst>
          </a:prstGeom>
          <a:solidFill>
            <a:srgbClr val="DEE0E3">
              <a:alpha val="100000"/>
            </a:srgbClr>
          </a:solidFill>
          <a:ln w="12700" cap="flat" cmpd="sng">
            <a:solidFill>
              <a:srgbClr val="4472C4">
                <a:alpha val="100000"/>
              </a:srgbClr>
            </a:solidFill>
            <a:prstDash val="solid"/>
            <a:miter lim="8000000"/>
            <a:headEnd type="none" w="med" len="med"/>
            <a:tailEnd type="arrow" w="med" len="med"/>
          </a:ln>
        </p:spPr>
      </p:cxnSp>
      <p:cxnSp>
        <p:nvCxnSpPr>
          <p:cNvPr id="15" name="Connector 15"/>
          <p:cNvCxnSpPr/>
          <p:nvPr/>
        </p:nvCxnSpPr>
        <p:spPr>
          <a:xfrm rot="5400000">
            <a:off x="5994400" y="3911600"/>
            <a:ext cx="1460500" cy="1193800"/>
          </a:xfrm>
          <a:prstGeom prst="bentConnector3">
            <a:avLst>
              <a:gd name="adj1" fmla="val 48000"/>
            </a:avLst>
          </a:prstGeom>
          <a:solidFill>
            <a:srgbClr val="DEE0E3">
              <a:alpha val="100000"/>
            </a:srgbClr>
          </a:solidFill>
          <a:ln w="12700" cap="flat" cmpd="sng">
            <a:solidFill>
              <a:srgbClr val="4472C4">
                <a:alpha val="100000"/>
              </a:srgbClr>
            </a:solidFill>
            <a:prstDash val="solid"/>
            <a:miter lim="8000000"/>
            <a:headEnd type="none" w="med" len="med"/>
            <a:tailEnd type="arrow" w="med" len="med"/>
          </a:ln>
        </p:spPr>
      </p:cxnSp>
      <p:sp>
        <p:nvSpPr>
          <p:cNvPr id="16" name="AutoShape 16"/>
          <p:cNvSpPr/>
          <p:nvPr/>
        </p:nvSpPr>
        <p:spPr>
          <a:xfrm>
            <a:off x="9220200" y="1676400"/>
            <a:ext cx="1562100" cy="533400"/>
          </a:xfrm>
          <a:prstGeom prst="roundRect">
            <a:avLst>
              <a:gd name="adj" fmla="val 16666"/>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0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核心合伙人D</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5%</a:t>
            </a:r>
            <a:endParaRPr lang="en-US" sz="16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cxnSp>
        <p:nvCxnSpPr>
          <p:cNvPr id="17" name="Connector 17"/>
          <p:cNvCxnSpPr/>
          <p:nvPr/>
        </p:nvCxnSpPr>
        <p:spPr>
          <a:xfrm rot="5400000" flipV="1">
            <a:off x="2603500" y="1168400"/>
            <a:ext cx="558800" cy="2628900"/>
          </a:xfrm>
          <a:prstGeom prst="bentConnector3">
            <a:avLst>
              <a:gd name="adj1" fmla="val 49000"/>
            </a:avLst>
          </a:prstGeom>
          <a:solidFill>
            <a:srgbClr val="DEE0E3">
              <a:alpha val="100000"/>
            </a:srgbClr>
          </a:solidFill>
          <a:ln w="12700" cap="flat" cmpd="sng">
            <a:solidFill>
              <a:srgbClr val="4472C4">
                <a:alpha val="100000"/>
              </a:srgbClr>
            </a:solidFill>
            <a:prstDash val="solid"/>
            <a:miter lim="8000000"/>
            <a:headEnd type="none" w="med" len="med"/>
            <a:tailEnd type="arrow" w="med" len="med"/>
          </a:ln>
        </p:spPr>
      </p:cxnSp>
      <p:sp>
        <p:nvSpPr>
          <p:cNvPr id="18" name="AutoShape 18"/>
          <p:cNvSpPr/>
          <p:nvPr/>
        </p:nvSpPr>
        <p:spPr>
          <a:xfrm>
            <a:off x="571500" y="2755900"/>
            <a:ext cx="1892300" cy="1028700"/>
          </a:xfrm>
          <a:prstGeom prst="roundRect">
            <a:avLst>
              <a:gd name="adj" fmla="val 16049"/>
            </a:avLst>
          </a:prstGeom>
          <a:noFill/>
          <a:ln w="12700" cap="flat" cmpd="sng">
            <a:solidFill>
              <a:srgbClr val="4472C4">
                <a:alpha val="100000"/>
              </a:srgbClr>
            </a:solidFill>
            <a:prstDash val="solid"/>
            <a:miter lim="8000000"/>
          </a:ln>
        </p:spPr>
        <p:txBody>
          <a:bodyPr vert="horz" wrap="square" lIns="88900" tIns="50800" rIns="88900" bIns="50800" rtlCol="0" anchor="ctr" anchorCtr="0"/>
          <a:lstStyle/>
          <a:p>
            <a:pPr marL="0" indent="0" algn="ctr">
              <a:lnSpc>
                <a:spcPct val="108000"/>
              </a:lnSpc>
              <a:defRPr/>
            </a:pP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等线" panose="02010600030101010101" charset="-122"/>
              </a:rPr>
              <a:t>创始人：孙剑飞</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8000"/>
              </a:lnSpc>
            </a:pPr>
            <a:r>
              <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rPr>
              <a:t>直接持股 20%</a:t>
            </a:r>
            <a:endParaRPr lang="en-US" sz="1800" b="1" i="0" u="none" strike="noStrike">
              <a:solidFill>
                <a:srgbClr val="4472C4"/>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cxnSp>
        <p:nvCxnSpPr>
          <p:cNvPr id="19" name="Connector 19"/>
          <p:cNvCxnSpPr/>
          <p:nvPr/>
        </p:nvCxnSpPr>
        <p:spPr>
          <a:xfrm rot="5400000" flipV="1">
            <a:off x="2552700" y="2743200"/>
            <a:ext cx="698500" cy="2768600"/>
          </a:xfrm>
          <a:prstGeom prst="bentConnector2">
            <a:avLst/>
          </a:prstGeom>
          <a:solidFill>
            <a:srgbClr val="DEE0E3">
              <a:alpha val="100000"/>
            </a:srgbClr>
          </a:solidFill>
          <a:ln w="12700" cap="flat" cmpd="sng">
            <a:solidFill>
              <a:srgbClr val="4472C4">
                <a:alpha val="100000"/>
              </a:srgbClr>
            </a:solidFill>
            <a:prstDash val="solid"/>
            <a:miter lim="8000000"/>
            <a:headEnd type="none" w="med" len="med"/>
            <a:tailEnd type="none" w="med" len="med"/>
          </a:ln>
        </p:spPr>
      </p:cxnSp>
      <p:cxnSp>
        <p:nvCxnSpPr>
          <p:cNvPr id="20" name="Connector 20"/>
          <p:cNvCxnSpPr/>
          <p:nvPr/>
        </p:nvCxnSpPr>
        <p:spPr>
          <a:xfrm rot="5400000">
            <a:off x="8483600" y="2578100"/>
            <a:ext cx="723900" cy="3086100"/>
          </a:xfrm>
          <a:prstGeom prst="bentConnector2">
            <a:avLst/>
          </a:prstGeom>
          <a:solidFill>
            <a:srgbClr val="DEE0E3">
              <a:alpha val="100000"/>
            </a:srgbClr>
          </a:solidFill>
          <a:ln w="12700" cap="flat" cmpd="sng">
            <a:solidFill>
              <a:srgbClr val="4472C4">
                <a:alpha val="100000"/>
              </a:srgbClr>
            </a:solidFill>
            <a:prstDash val="solid"/>
            <a:miter lim="8000000"/>
            <a:headEnd type="none" w="med" len="med"/>
            <a:tailEnd type="none" w="med" len="med"/>
          </a:ln>
        </p:spPr>
      </p:cxnSp>
      <p:sp>
        <p:nvSpPr>
          <p:cNvPr id="21" name="AutoShape 21"/>
          <p:cNvSpPr/>
          <p:nvPr/>
        </p:nvSpPr>
        <p:spPr>
          <a:xfrm>
            <a:off x="393700" y="139700"/>
            <a:ext cx="8038465"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公司股权架构搭建</a:t>
            </a:r>
            <a:r>
              <a:rPr lang="zh-CN" alt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完成</a:t>
            </a:r>
            <a:endParaRPr lang="zh-CN" alt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2" name="Connector 22"/>
          <p:cNvCxnSpPr/>
          <p:nvPr/>
        </p:nvCxnSpPr>
        <p:spPr>
          <a:xfrm rot="5400000">
            <a:off x="6858000" y="-469900"/>
            <a:ext cx="266700" cy="5613400"/>
          </a:xfrm>
          <a:prstGeom prst="bentConnector2">
            <a:avLst/>
          </a:prstGeom>
          <a:solidFill>
            <a:srgbClr val="DEE0E3">
              <a:alpha val="100000"/>
            </a:srgbClr>
          </a:solidFill>
          <a:ln w="12700" cap="flat" cmpd="sng">
            <a:solidFill>
              <a:srgbClr val="4472C4">
                <a:alpha val="100000"/>
              </a:srgbClr>
            </a:solidFill>
            <a:prstDash val="solid"/>
            <a:miter lim="8000000"/>
            <a:headEnd type="none" w="med" len="med"/>
            <a:tailEnd type="none" w="med" len="med"/>
          </a:ln>
        </p:spPr>
      </p:cxnSp>
      <p:cxnSp>
        <p:nvCxnSpPr>
          <p:cNvPr id="23" name="Connector 23"/>
          <p:cNvCxnSpPr/>
          <p:nvPr/>
        </p:nvCxnSpPr>
        <p:spPr>
          <a:xfrm flipH="1">
            <a:off x="6026500" y="2220345"/>
            <a:ext cx="6350" cy="243840"/>
          </a:xfrm>
          <a:prstGeom prst="line">
            <a:avLst/>
          </a:prstGeom>
          <a:solidFill>
            <a:srgbClr val="DEE0E3">
              <a:alpha val="100000"/>
            </a:srgbClr>
          </a:solidFill>
          <a:ln w="12700" cap="flat" cmpd="sng">
            <a:solidFill>
              <a:srgbClr val="5D99D6">
                <a:alpha val="100000"/>
              </a:srgbClr>
            </a:solidFill>
            <a:prstDash val="solid"/>
            <a:miter lim="10000000"/>
            <a:headEnd type="none" w="med" len="med"/>
            <a:tailEnd type="none" w="med" len="med"/>
          </a:ln>
        </p:spPr>
      </p:cxnSp>
      <p:cxnSp>
        <p:nvCxnSpPr>
          <p:cNvPr id="24" name="Connector 24"/>
          <p:cNvCxnSpPr/>
          <p:nvPr/>
        </p:nvCxnSpPr>
        <p:spPr>
          <a:xfrm>
            <a:off x="7937500" y="2203450"/>
            <a:ext cx="1270" cy="290195"/>
          </a:xfrm>
          <a:prstGeom prst="line">
            <a:avLst/>
          </a:prstGeom>
          <a:solidFill>
            <a:srgbClr val="DEE0E3">
              <a:alpha val="100000"/>
            </a:srgbClr>
          </a:solidFill>
          <a:ln w="12700" cap="flat" cmpd="sng">
            <a:solidFill>
              <a:srgbClr val="4675C6">
                <a:alpha val="100000"/>
              </a:srgbClr>
            </a:solidFill>
            <a:prstDash val="solid"/>
            <a:miter lim="10000000"/>
            <a:headEnd type="none" w="med" len="med"/>
            <a:tailEnd type="none" w="med" len="med"/>
          </a:ln>
        </p:spPr>
      </p:cxnSp>
      <p:cxnSp>
        <p:nvCxnSpPr>
          <p:cNvPr id="25" name="Connector 23"/>
          <p:cNvCxnSpPr/>
          <p:nvPr/>
        </p:nvCxnSpPr>
        <p:spPr>
          <a:xfrm>
            <a:off x="3978626" y="2201096"/>
            <a:ext cx="3175" cy="276225"/>
          </a:xfrm>
          <a:prstGeom prst="line">
            <a:avLst/>
          </a:prstGeom>
          <a:solidFill>
            <a:srgbClr val="DEE0E3">
              <a:alpha val="100000"/>
            </a:srgbClr>
          </a:solidFill>
          <a:ln w="12700" cap="flat" cmpd="sng">
            <a:solidFill>
              <a:srgbClr val="5D99D6">
                <a:alpha val="100000"/>
              </a:srgbClr>
            </a:solidFill>
            <a:prstDash val="solid"/>
            <a:miter lim="10000000"/>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21" name="AutoShape 21"/>
          <p:cNvSpPr/>
          <p:nvPr/>
        </p:nvSpPr>
        <p:spPr>
          <a:xfrm>
            <a:off x="393700" y="139700"/>
            <a:ext cx="5549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公司组织架构搭建</a:t>
            </a:r>
            <a:r>
              <a:rPr lang="en-US" sz="3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完成</a:t>
            </a:r>
            <a:endPar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2"/>
          <p:cNvSpPr/>
          <p:nvPr/>
        </p:nvSpPr>
        <p:spPr>
          <a:xfrm>
            <a:off x="4318000" y="1083310"/>
            <a:ext cx="3556000" cy="596265"/>
          </a:xfrm>
          <a:prstGeom prst="roundRect">
            <a:avLst>
              <a:gd name="adj" fmla="val 0"/>
            </a:avLst>
          </a:prstGeom>
          <a:solidFill>
            <a:srgbClr val="F5A623">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董事会</a:t>
            </a:r>
            <a:endParaRPr lang="en-US" sz="20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26" name="Connector 3"/>
          <p:cNvCxnSpPr/>
          <p:nvPr/>
        </p:nvCxnSpPr>
        <p:spPr>
          <a:xfrm rot="5285450">
            <a:off x="5905500" y="1863831"/>
            <a:ext cx="381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27" name="AutoShape 4"/>
          <p:cNvSpPr/>
          <p:nvPr/>
        </p:nvSpPr>
        <p:spPr>
          <a:xfrm>
            <a:off x="4318000" y="2076450"/>
            <a:ext cx="3556000" cy="606425"/>
          </a:xfrm>
          <a:prstGeom prst="roundRect">
            <a:avLst>
              <a:gd name="adj" fmla="val 0"/>
            </a:avLst>
          </a:prstGeom>
          <a:solidFill>
            <a:srgbClr val="F5A623">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总经理（孙剑飞）</a:t>
            </a:r>
            <a:endPar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28" name="Connector 7"/>
          <p:cNvCxnSpPr/>
          <p:nvPr/>
        </p:nvCxnSpPr>
        <p:spPr>
          <a:xfrm rot="5285450">
            <a:off x="5905500" y="2883006"/>
            <a:ext cx="381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29" name="Connector 8"/>
          <p:cNvCxnSpPr/>
          <p:nvPr/>
        </p:nvCxnSpPr>
        <p:spPr>
          <a:xfrm>
            <a:off x="1841500" y="3079749"/>
            <a:ext cx="9152280" cy="8335"/>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30" name="Connector 9"/>
          <p:cNvCxnSpPr/>
          <p:nvPr>
            <p:custDataLst>
              <p:tags r:id="rId3"/>
            </p:custDataLst>
          </p:nvPr>
        </p:nvCxnSpPr>
        <p:spPr>
          <a:xfrm rot="5228255">
            <a:off x="1714500" y="320055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31" name="Connector 10"/>
          <p:cNvCxnSpPr/>
          <p:nvPr>
            <p:custDataLst>
              <p:tags r:id="rId4"/>
            </p:custDataLst>
          </p:nvPr>
        </p:nvCxnSpPr>
        <p:spPr>
          <a:xfrm rot="5228255">
            <a:off x="3643630" y="320055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32" name="Connector 11"/>
          <p:cNvCxnSpPr/>
          <p:nvPr>
            <p:custDataLst>
              <p:tags r:id="rId5"/>
            </p:custDataLst>
          </p:nvPr>
        </p:nvCxnSpPr>
        <p:spPr>
          <a:xfrm rot="5228255">
            <a:off x="7048500" y="320055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33" name="Connector 12"/>
          <p:cNvCxnSpPr/>
          <p:nvPr/>
        </p:nvCxnSpPr>
        <p:spPr>
          <a:xfrm rot="5228255">
            <a:off x="10858500" y="318785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34" name="AutoShape 13"/>
          <p:cNvSpPr/>
          <p:nvPr>
            <p:custDataLst>
              <p:tags r:id="rId6"/>
            </p:custDataLst>
          </p:nvPr>
        </p:nvSpPr>
        <p:spPr>
          <a:xfrm>
            <a:off x="841375" y="3334385"/>
            <a:ext cx="1852295" cy="889000"/>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综合运营部</a:t>
            </a:r>
            <a:endPar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5" name="AutoShape 14"/>
          <p:cNvSpPr/>
          <p:nvPr>
            <p:custDataLst>
              <p:tags r:id="rId7"/>
            </p:custDataLst>
          </p:nvPr>
        </p:nvSpPr>
        <p:spPr>
          <a:xfrm>
            <a:off x="2956560" y="3335020"/>
            <a:ext cx="1778000" cy="888365"/>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质量和法规部</a:t>
            </a:r>
            <a:endPar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6" name="AutoShape 15"/>
          <p:cNvSpPr/>
          <p:nvPr>
            <p:custDataLst>
              <p:tags r:id="rId8"/>
            </p:custDataLst>
          </p:nvPr>
        </p:nvSpPr>
        <p:spPr>
          <a:xfrm>
            <a:off x="4889500" y="3334385"/>
            <a:ext cx="1693545" cy="889000"/>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技术研发部</a:t>
            </a:r>
            <a:endPar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7" name="AutoShape 16"/>
          <p:cNvSpPr/>
          <p:nvPr/>
        </p:nvSpPr>
        <p:spPr>
          <a:xfrm>
            <a:off x="6793865" y="3335020"/>
            <a:ext cx="1508125" cy="889635"/>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医学研究部</a:t>
            </a:r>
            <a:endPar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8" name="AutoShape 24"/>
          <p:cNvSpPr/>
          <p:nvPr>
            <p:custDataLst>
              <p:tags r:id="rId9"/>
            </p:custDataLst>
          </p:nvPr>
        </p:nvSpPr>
        <p:spPr>
          <a:xfrm>
            <a:off x="1003300" y="4730750"/>
            <a:ext cx="1525905" cy="481330"/>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endParaRPr lang="zh-CN" altLang="en-US">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ctr">
              <a:lnSpc>
                <a:spcPct val="125000"/>
              </a:lnSpc>
              <a:defRPr/>
            </a:pPr>
            <a:r>
              <a:rPr lang="zh-CN" altLang="en-US">
                <a:latin typeface="微软雅黑" panose="020B0503020204020204" charset="-122"/>
                <a:ea typeface="微软雅黑" panose="020B0503020204020204" charset="-122"/>
                <a:cs typeface="Noto Sans SC" panose="020B0200000000000000" charset="-122"/>
                <a:sym typeface="Noto Sans SC" panose="020B0200000000000000" charset="-122"/>
              </a:rPr>
              <a:t>人力资源</a:t>
            </a:r>
            <a:endParaRPr lang="zh-CN" altLang="en-US" b="0"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ctr">
              <a:lnSpc>
                <a:spcPct val="125000"/>
              </a:lnSpc>
              <a:defRPr/>
            </a:pPr>
            <a:endParaRPr lang="zh-CN" altLang="en-US" b="0"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9" name="AutoShape 25"/>
          <p:cNvSpPr/>
          <p:nvPr>
            <p:custDataLst>
              <p:tags r:id="rId10"/>
            </p:custDataLst>
          </p:nvPr>
        </p:nvSpPr>
        <p:spPr>
          <a:xfrm>
            <a:off x="1002665" y="5423535"/>
            <a:ext cx="1526540" cy="444500"/>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en-US">
                <a:latin typeface="微软雅黑" panose="020B0503020204020204" charset="-122"/>
                <a:ea typeface="微软雅黑" panose="020B0503020204020204" charset="-122"/>
                <a:cs typeface="Noto Sans SC" panose="020B0200000000000000" charset="-122"/>
                <a:sym typeface="Noto Sans SC" panose="020B0200000000000000" charset="-122"/>
              </a:rPr>
              <a:t>采购</a:t>
            </a:r>
            <a:endParaRPr lang="en-US" altLang="en-US" b="0"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0" name="AutoShape 26"/>
          <p:cNvSpPr/>
          <p:nvPr>
            <p:custDataLst>
              <p:tags r:id="rId11"/>
            </p:custDataLst>
          </p:nvPr>
        </p:nvSpPr>
        <p:spPr>
          <a:xfrm>
            <a:off x="1002030" y="6115685"/>
            <a:ext cx="1526540" cy="453390"/>
          </a:xfrm>
          <a:prstGeom prst="roundRect">
            <a:avLst>
              <a:gd name="adj" fmla="val 0"/>
            </a:avLst>
          </a:prstGeom>
          <a:solidFill>
            <a:srgbClr val="A9D0F5">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zh-CN" altLang="en-US" sz="1400">
                <a:latin typeface="微软雅黑" panose="020B0503020204020204" charset="-122"/>
                <a:ea typeface="微软雅黑" panose="020B0503020204020204" charset="-122"/>
                <a:cs typeface="Noto Sans SC" panose="020B0200000000000000" charset="-122"/>
              </a:rPr>
              <a:t>财务</a:t>
            </a:r>
            <a:endParaRPr lang="zh-CN" altLang="en-US" sz="1400">
              <a:latin typeface="微软雅黑" panose="020B0503020204020204" charset="-122"/>
              <a:ea typeface="微软雅黑" panose="020B0503020204020204" charset="-122"/>
              <a:cs typeface="Noto Sans SC" panose="020B0200000000000000" charset="-122"/>
            </a:endParaRPr>
          </a:p>
        </p:txBody>
      </p:sp>
      <p:sp>
        <p:nvSpPr>
          <p:cNvPr id="41" name="AutoShape 29"/>
          <p:cNvSpPr/>
          <p:nvPr/>
        </p:nvSpPr>
        <p:spPr>
          <a:xfrm>
            <a:off x="4495165" y="5537835"/>
            <a:ext cx="6553835" cy="1124585"/>
          </a:xfrm>
          <a:prstGeom prst="roundRect">
            <a:avLst>
              <a:gd name="adj" fmla="val 0"/>
            </a:avLst>
          </a:prstGeom>
          <a:solidFill>
            <a:srgbClr val="F5A623">
              <a:alpha val="10000"/>
            </a:srgbClr>
          </a:solidFill>
          <a:ln w="12700" cap="flat" cmpd="sng">
            <a:solidFill>
              <a:srgbClr val="F5A623">
                <a:alpha val="30000"/>
              </a:srgbClr>
            </a:solidFill>
            <a:prstDash val="solid"/>
            <a:round/>
          </a:ln>
        </p:spPr>
        <p:txBody>
          <a:bodyPr vert="horz" wrap="square" lIns="0" tIns="0" rIns="0" bIns="0" rtlCol="0" anchor="ctr" anchorCtr="0"/>
          <a:lstStyle/>
          <a:p>
            <a:pPr marL="0" indent="0" algn="l">
              <a:lnSpc>
                <a:spcPct val="100000"/>
              </a:lnSpc>
              <a:defRPr/>
            </a:pPr>
            <a:r>
              <a:rPr lang="en-US" sz="16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注：技术研发部与医学研究部协同运作，共享核心研发资源；</a:t>
            </a:r>
            <a:r>
              <a:rPr lang="zh-CN" altLang="en-US" sz="16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生产及市场销售部待成立；</a:t>
            </a:r>
            <a:r>
              <a:rPr lang="en-US" sz="16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管理者代表对质量管理体系的有效性负责。</a:t>
            </a:r>
            <a:endParaRPr lang="en-US" sz="16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2" name="AutoShape 4"/>
          <p:cNvSpPr/>
          <p:nvPr/>
        </p:nvSpPr>
        <p:spPr>
          <a:xfrm>
            <a:off x="8831580" y="2060575"/>
            <a:ext cx="1941195" cy="645160"/>
          </a:xfrm>
          <a:prstGeom prst="roundRect">
            <a:avLst>
              <a:gd name="adj" fmla="val 0"/>
            </a:avLst>
          </a:prstGeom>
          <a:solidFill>
            <a:srgbClr val="F5A623">
              <a:alpha val="100000"/>
            </a:srgbClr>
          </a:solidFill>
          <a:ln w="12700" cap="flat" cmpd="sng">
            <a:solidFill>
              <a:srgbClr val="000000">
                <a:alpha val="100000"/>
              </a:srgbClr>
            </a:solidFill>
            <a:prstDash val="solid"/>
            <a:round/>
          </a:ln>
        </p:spPr>
        <p:txBody>
          <a:bodyPr vert="horz" wrap="square" lIns="0" tIns="0" rIns="0" bIns="0" rtlCol="0" anchor="ctr" anchorCtr="0"/>
          <a:lstStyle/>
          <a:p>
            <a:pPr marL="0" indent="0" algn="ctr">
              <a:lnSpc>
                <a:spcPct val="125000"/>
              </a:lnSpc>
              <a:defRPr/>
            </a:pPr>
            <a:r>
              <a:rPr lang="zh-CN" alt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管理者代表</a:t>
            </a:r>
            <a:endParaRPr lang="zh-CN" alt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43" name="直接连接符 42"/>
          <p:cNvCxnSpPr>
            <a:stCxn id="27" idx="3"/>
            <a:endCxn id="42" idx="1"/>
          </p:cNvCxnSpPr>
          <p:nvPr/>
        </p:nvCxnSpPr>
        <p:spPr>
          <a:xfrm>
            <a:off x="7874000" y="2379980"/>
            <a:ext cx="957580" cy="3175"/>
          </a:xfrm>
          <a:prstGeom prst="line">
            <a:avLst/>
          </a:prstGeom>
          <a:ln w="12700"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44" name="直接连接符 43"/>
          <p:cNvCxnSpPr>
            <a:stCxn id="34" idx="2"/>
            <a:endCxn id="38" idx="0"/>
          </p:cNvCxnSpPr>
          <p:nvPr/>
        </p:nvCxnSpPr>
        <p:spPr>
          <a:xfrm flipH="1">
            <a:off x="1766570" y="4223385"/>
            <a:ext cx="1270" cy="507365"/>
          </a:xfrm>
          <a:prstGeom prst="line">
            <a:avLst/>
          </a:prstGeom>
          <a:ln w="12700"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45" name="直接连接符 44"/>
          <p:cNvCxnSpPr>
            <a:stCxn id="38" idx="2"/>
            <a:endCxn id="39" idx="0"/>
          </p:cNvCxnSpPr>
          <p:nvPr/>
        </p:nvCxnSpPr>
        <p:spPr>
          <a:xfrm flipH="1">
            <a:off x="1765935" y="5212080"/>
            <a:ext cx="635" cy="21145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6" name="直接连接符 45"/>
          <p:cNvCxnSpPr>
            <a:stCxn id="39" idx="2"/>
            <a:endCxn id="40" idx="0"/>
          </p:cNvCxnSpPr>
          <p:nvPr/>
        </p:nvCxnSpPr>
        <p:spPr>
          <a:xfrm flipH="1">
            <a:off x="1765300" y="5868035"/>
            <a:ext cx="635" cy="24765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47" name="AutoShape 16"/>
          <p:cNvSpPr/>
          <p:nvPr/>
        </p:nvSpPr>
        <p:spPr>
          <a:xfrm>
            <a:off x="8512810" y="3333750"/>
            <a:ext cx="1508125" cy="889635"/>
          </a:xfrm>
          <a:prstGeom prst="roundRect">
            <a:avLst>
              <a:gd name="adj" fmla="val 0"/>
            </a:avLst>
          </a:prstGeom>
          <a:solidFill>
            <a:srgbClr val="A9D0F5">
              <a:alpha val="100000"/>
            </a:srgbClr>
          </a:solidFill>
          <a:ln w="28575" cap="flat" cmpd="sng">
            <a:solidFill>
              <a:schemeClr val="accent1">
                <a:shade val="50000"/>
              </a:schemeClr>
            </a:solidFill>
            <a:prstDash val="sysDash"/>
            <a:round/>
          </a:ln>
        </p:spPr>
        <p:txBody>
          <a:bodyPr vert="horz" wrap="square" lIns="0" tIns="0" rIns="0" bIns="0" rtlCol="0" anchor="ctr" anchorCtr="0"/>
          <a:lstStyle/>
          <a:p>
            <a:pPr marL="0" indent="0" algn="ctr">
              <a:lnSpc>
                <a:spcPct val="125000"/>
              </a:lnSpc>
              <a:defRPr/>
            </a:pPr>
            <a:r>
              <a:rPr lang="zh-CN"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生产</a:t>
            </a:r>
            <a:r>
              <a:rPr lang="en-US" sz="1600" b="1" i="0" u="none" strike="noStrike">
                <a:solidFill>
                  <a:srgbClr val="0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部</a:t>
            </a:r>
            <a:endParaRPr lang="en-US" sz="1100">
              <a:latin typeface="微软雅黑" panose="020B0503020204020204" charset="-122"/>
              <a:ea typeface="微软雅黑" panose="020B0503020204020204" charset="-122"/>
            </a:endParaRPr>
          </a:p>
        </p:txBody>
      </p:sp>
      <p:sp>
        <p:nvSpPr>
          <p:cNvPr id="48" name="AutoShape 16"/>
          <p:cNvSpPr/>
          <p:nvPr/>
        </p:nvSpPr>
        <p:spPr>
          <a:xfrm>
            <a:off x="10231755" y="3335020"/>
            <a:ext cx="1508125" cy="889635"/>
          </a:xfrm>
          <a:prstGeom prst="roundRect">
            <a:avLst>
              <a:gd name="adj" fmla="val 0"/>
            </a:avLst>
          </a:prstGeom>
          <a:solidFill>
            <a:srgbClr val="A9D0F5">
              <a:alpha val="100000"/>
            </a:srgbClr>
          </a:solidFill>
          <a:ln w="28575" cap="flat" cmpd="sng">
            <a:solidFill>
              <a:schemeClr val="accent1">
                <a:shade val="50000"/>
              </a:schemeClr>
            </a:solidFill>
            <a:prstDash val="sysDash"/>
            <a:round/>
          </a:ln>
        </p:spPr>
        <p:txBody>
          <a:bodyPr vert="horz" wrap="square" lIns="0" tIns="0" rIns="0" bIns="0" rtlCol="0" anchor="ctr" anchorCtr="0"/>
          <a:lstStyle/>
          <a:p>
            <a:pPr marL="0" indent="0" algn="ctr">
              <a:lnSpc>
                <a:spcPct val="125000"/>
              </a:lnSpc>
              <a:defRPr/>
            </a:pPr>
            <a:r>
              <a:rPr lang="zh-CN" alt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市场</a:t>
            </a:r>
            <a:r>
              <a:rPr lang="en-US" altLang="zh-CN"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销售</a:t>
            </a:r>
            <a:r>
              <a:rPr lang="en-US" sz="16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部</a:t>
            </a:r>
            <a:endParaRPr lang="en-US" sz="1100">
              <a:latin typeface="微软雅黑" panose="020B0503020204020204" charset="-122"/>
              <a:ea typeface="微软雅黑" panose="020B0503020204020204" charset="-122"/>
              <a:cs typeface="微软雅黑" panose="020B0503020204020204" charset="-122"/>
            </a:endParaRPr>
          </a:p>
        </p:txBody>
      </p:sp>
      <p:cxnSp>
        <p:nvCxnSpPr>
          <p:cNvPr id="49" name="Connector 11"/>
          <p:cNvCxnSpPr/>
          <p:nvPr>
            <p:custDataLst>
              <p:tags r:id="rId12"/>
            </p:custDataLst>
          </p:nvPr>
        </p:nvCxnSpPr>
        <p:spPr>
          <a:xfrm rot="5228255">
            <a:off x="9149080" y="322087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cxnSp>
        <p:nvCxnSpPr>
          <p:cNvPr id="50" name="Connector 11"/>
          <p:cNvCxnSpPr/>
          <p:nvPr>
            <p:custDataLst>
              <p:tags r:id="rId13"/>
            </p:custDataLst>
          </p:nvPr>
        </p:nvCxnSpPr>
        <p:spPr>
          <a:xfrm rot="5228255">
            <a:off x="5628640" y="3211989"/>
            <a:ext cx="254000" cy="12700"/>
          </a:xfrm>
          <a:prstGeom prst="line">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pic>
        <p:nvPicPr>
          <p:cNvPr id="3" name="Picture 3"/>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4" name="AutoShape 4"/>
          <p:cNvSpPr/>
          <p:nvPr/>
        </p:nvSpPr>
        <p:spPr>
          <a:xfrm>
            <a:off x="254000" y="127000"/>
            <a:ext cx="60960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产品核心</a:t>
            </a:r>
            <a:r>
              <a:rPr lang="en-US" sz="3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进展</a:t>
            </a:r>
            <a:endParaRPr lang="en-US" sz="36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nvSpPr>
        <p:spPr>
          <a:xfrm>
            <a:off x="63500" y="1371600"/>
            <a:ext cx="5511800" cy="4635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956300" y="1277620"/>
            <a:ext cx="5918200" cy="1337310"/>
          </a:xfrm>
          <a:prstGeom prst="roundRect">
            <a:avLst>
              <a:gd name="adj" fmla="val 0"/>
            </a:avLst>
          </a:prstGeom>
          <a:solidFill>
            <a:schemeClr val="accent5">
              <a:lumMod val="20000"/>
              <a:lumOff val="80000"/>
            </a:schemeClr>
          </a:solidFill>
          <a:ln w="25400" cap="flat" cmpd="sng">
            <a:noFill/>
            <a:prstDash val="solid"/>
            <a:round/>
          </a:ln>
        </p:spPr>
        <p:txBody>
          <a:bodyPr vert="horz" wrap="square" lIns="88900" tIns="50800" rIns="88900" bIns="50800" rtlCol="0" anchor="t" anchorCtr="0"/>
          <a:lstStyle/>
          <a:p>
            <a:pPr marL="0" indent="0" algn="l">
              <a:lnSpc>
                <a:spcPct val="108000"/>
              </a:lnSpc>
              <a:defRPr/>
            </a:pPr>
            <a:r>
              <a:rPr lang="en-US" sz="1800" b="1" i="0" u="none" strike="noStrike">
                <a:solidFill>
                  <a:srgbClr val="006FC0"/>
                </a:solidFill>
                <a:latin typeface="微软雅黑" panose="020B0503020204020204" charset="-122"/>
                <a:ea typeface="微软雅黑" panose="020B0503020204020204" charset="-122"/>
                <a:cs typeface="微软雅黑" panose="020B0503020204020204" charset="-122"/>
                <a:sym typeface="微软雅黑" panose="020B0503020204020204" charset="-122"/>
              </a:rPr>
              <a:t>01. 关键技术突破：双轮驱动构建核心壁垒</a:t>
            </a:r>
            <a:endParaRPr lang="en-US" sz="1100"/>
          </a:p>
          <a:p>
            <a:pPr marL="0" algn="l">
              <a:lnSpc>
                <a:spcPct val="100000"/>
              </a:lnSpc>
              <a:buSzTx/>
            </a:pPr>
            <a:r>
              <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攻克医用可注射磁性水凝胶微纳器件批量制备难题，尺寸偏差&lt;5%；自主研发两代磁刺激设备，完成大动物安全性与有效性验证，参数达国内领先水平。</a:t>
            </a:r>
            <a:endPar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endPar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854700" y="4342765"/>
            <a:ext cx="5918200" cy="1289050"/>
          </a:xfrm>
          <a:prstGeom prst="roundRect">
            <a:avLst>
              <a:gd name="adj" fmla="val 0"/>
            </a:avLst>
          </a:prstGeom>
          <a:solidFill>
            <a:schemeClr val="accent4">
              <a:lumMod val="20000"/>
              <a:lumOff val="80000"/>
            </a:scheme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956300" y="4375785"/>
            <a:ext cx="5715000" cy="150114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08000"/>
              </a:lnSpc>
              <a:defRPr/>
            </a:pPr>
            <a:r>
              <a:rPr lang="en-US" sz="1800" b="1" i="0" u="none" strike="noStrike">
                <a:solidFill>
                  <a:srgbClr val="0000FF"/>
                </a:solidFill>
                <a:latin typeface="微软雅黑" panose="020B0503020204020204" charset="-122"/>
                <a:ea typeface="微软雅黑" panose="020B0503020204020204" charset="-122"/>
                <a:cs typeface="微软雅黑" panose="020B0503020204020204" charset="-122"/>
                <a:sym typeface="微软雅黑" panose="020B0503020204020204" charset="-122"/>
              </a:rPr>
              <a:t>03. 权威荣誉加持：彰显技术实力与行业地位</a:t>
            </a:r>
            <a:endParaRPr lang="en-US" sz="1100"/>
          </a:p>
          <a:p>
            <a:pPr marL="0" algn="l">
              <a:lnSpc>
                <a:spcPct val="100000"/>
              </a:lnSpc>
              <a:buSzTx/>
            </a:pPr>
            <a:r>
              <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荣获“科创江苏”创新创业大赛二等奖，入选全国高校技术转化典范项目；</a:t>
            </a:r>
            <a:r>
              <a:rPr lang="zh-CN" alt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创始</a:t>
            </a:r>
            <a:r>
              <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人获评“南京市创新创业企业家”，项目技术先进性与产业化潜力获行业高度认可。</a:t>
            </a:r>
            <a:endPar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3"/>
          <a:stretch>
            <a:fillRect/>
          </a:stretch>
        </p:blipFill>
        <p:spPr>
          <a:xfrm>
            <a:off x="10668000" y="6190112"/>
            <a:ext cx="1524000" cy="667888"/>
          </a:xfrm>
          <a:prstGeom prst="rect">
            <a:avLst/>
          </a:prstGeom>
        </p:spPr>
      </p:pic>
      <p:sp>
        <p:nvSpPr>
          <p:cNvPr id="12" name="AutoShape 10"/>
          <p:cNvSpPr/>
          <p:nvPr/>
        </p:nvSpPr>
        <p:spPr>
          <a:xfrm>
            <a:off x="5956300" y="2804160"/>
            <a:ext cx="5715000" cy="1258570"/>
          </a:xfrm>
          <a:prstGeom prst="rect">
            <a:avLst/>
          </a:prstGeom>
          <a:solidFill>
            <a:schemeClr val="accent2">
              <a:lumMod val="20000"/>
              <a:lumOff val="80000"/>
            </a:schemeClr>
          </a:solidFill>
          <a:ln w="12700" cap="flat" cmpd="sng">
            <a:noFill/>
            <a:prstDash val="solid"/>
            <a:round/>
          </a:ln>
        </p:spPr>
        <p:txBody>
          <a:bodyPr vert="horz" wrap="square" lIns="63500" tIns="63500" rIns="63500" bIns="63500" rtlCol="0" anchor="t" anchorCtr="0"/>
          <a:lstStyle/>
          <a:p>
            <a:pPr marL="0" indent="0" algn="l">
              <a:lnSpc>
                <a:spcPct val="108000"/>
              </a:lnSpc>
            </a:pPr>
            <a:r>
              <a:rPr lang="en-US" sz="18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02. 市场拓展成果：商业价值初步验证</a:t>
            </a:r>
            <a:endParaRPr lang="en-US" sz="18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algn="l">
              <a:lnSpc>
                <a:spcPct val="100000"/>
              </a:lnSpc>
              <a:buSzTx/>
            </a:pPr>
            <a:r>
              <a:rPr lang="en-US" sz="160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业务覆盖全国多区域，成功服务江苏省人民医院、山东第一医科大学附属省立医院等多家知名机构，累计实现销售额约38万元，产品市场接受度显著提升。</a:t>
            </a:r>
            <a:endPar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35" name="组合 34" descr="7b0a202020202274657874626f78223a20227b5c2269645c223a32303334383535332c5c227469645c223a5c225c227d220a7d0a"/>
          <p:cNvGrpSpPr/>
          <p:nvPr>
            <p:custDataLst>
              <p:tags r:id="rId4"/>
            </p:custDataLst>
          </p:nvPr>
        </p:nvGrpSpPr>
        <p:grpSpPr>
          <a:xfrm>
            <a:off x="190500" y="1625600"/>
            <a:ext cx="5217795" cy="4131945"/>
            <a:chOff x="6658" y="6371"/>
            <a:chExt cx="8504" cy="4241"/>
          </a:xfrm>
        </p:grpSpPr>
        <p:sp>
          <p:nvSpPr>
            <p:cNvPr id="36" name="文本框 35"/>
            <p:cNvSpPr txBox="1"/>
            <p:nvPr>
              <p:custDataLst>
                <p:tags r:id="rId5"/>
              </p:custDataLst>
            </p:nvPr>
          </p:nvSpPr>
          <p:spPr>
            <a:xfrm>
              <a:off x="7107" y="6691"/>
              <a:ext cx="7488" cy="3601"/>
            </a:xfrm>
            <a:prstGeom prst="rect">
              <a:avLst/>
            </a:prstGeom>
            <a:noFill/>
          </p:spPr>
          <p:txBody>
            <a:bodyPr wrap="square" rtlCol="0" anchor="ctr" anchorCtr="0"/>
            <a:p>
              <a:pPr indent="0" algn="just" fontAlgn="ctr">
                <a:lnSpc>
                  <a:spcPct val="150000"/>
                </a:lnSpc>
                <a:spcBef>
                  <a:spcPts val="0"/>
                </a:spcBef>
                <a:spcAft>
                  <a:spcPts val="0"/>
                </a:spcAft>
              </a:pPr>
              <a:r>
                <a:rPr lang="zh-CN" altLang="en-US" sz="2800" b="1" dirty="0">
                  <a:latin typeface="微软雅黑" panose="020B0503020204020204" charset="-122"/>
                  <a:ea typeface="微软雅黑" panose="020B0503020204020204" charset="-122"/>
                  <a:sym typeface="+mn-ea"/>
                </a:rPr>
                <a:t>核心进展概览</a:t>
              </a:r>
              <a:endParaRPr lang="zh-CN" altLang="en-US" sz="2800" b="1" dirty="0">
                <a:latin typeface="微软雅黑" panose="020B0503020204020204" charset="-122"/>
                <a:ea typeface="微软雅黑" panose="020B0503020204020204" charset="-122"/>
                <a:sym typeface="+mn-ea"/>
              </a:endParaRPr>
            </a:p>
            <a:p>
              <a:pPr indent="0" algn="just" fontAlgn="ctr">
                <a:lnSpc>
                  <a:spcPct val="150000"/>
                </a:lnSpc>
                <a:spcBef>
                  <a:spcPts val="0"/>
                </a:spcBef>
                <a:spcAft>
                  <a:spcPts val="0"/>
                </a:spcAft>
              </a:pPr>
              <a:r>
                <a:rPr lang="zh-CN" altLang="en-US" sz="1800" dirty="0">
                  <a:latin typeface="微软雅黑" panose="020B0503020204020204" charset="-122"/>
                  <a:ea typeface="微软雅黑" panose="020B0503020204020204" charset="-122"/>
                  <a:sym typeface="+mn-ea"/>
                </a:rPr>
                <a:t>项目围绕“微纳器件+磁刺激设备”双核心技术路径，实现了从实验室研发到产业化验证的关键跨越。在技术端突破了批量制备与设备研发瓶颈，在市场端完成了客户覆盖与商业变现，同时获得了多项权威荣誉认可，为后续规模化发展奠定了坚实基础。</a:t>
              </a:r>
              <a:endParaRPr lang="zh-CN" altLang="en-US" sz="1800" dirty="0">
                <a:latin typeface="微软雅黑" panose="020B0503020204020204" charset="-122"/>
                <a:ea typeface="微软雅黑" panose="020B0503020204020204" charset="-122"/>
                <a:sym typeface="+mn-ea"/>
              </a:endParaRPr>
            </a:p>
          </p:txBody>
        </p:sp>
        <p:sp>
          <p:nvSpPr>
            <p:cNvPr id="37" name="任意多边形 36"/>
            <p:cNvSpPr/>
            <p:nvPr>
              <p:custDataLst>
                <p:tags r:id="rId6"/>
              </p:custDataLst>
            </p:nvPr>
          </p:nvSpPr>
          <p:spPr>
            <a:xfrm>
              <a:off x="6856" y="6564"/>
              <a:ext cx="8107" cy="3855"/>
            </a:xfrm>
            <a:custGeom>
              <a:avLst/>
              <a:gdLst>
                <a:gd name="adj" fmla="val 711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735" h="2980">
                  <a:moveTo>
                    <a:pt x="408" y="0"/>
                  </a:moveTo>
                  <a:lnTo>
                    <a:pt x="6328" y="0"/>
                  </a:lnTo>
                  <a:cubicBezTo>
                    <a:pt x="6445" y="0"/>
                    <a:pt x="6540" y="95"/>
                    <a:pt x="6540" y="212"/>
                  </a:cubicBezTo>
                  <a:lnTo>
                    <a:pt x="6540" y="230"/>
                  </a:lnTo>
                  <a:lnTo>
                    <a:pt x="6541" y="230"/>
                  </a:lnTo>
                  <a:cubicBezTo>
                    <a:pt x="6653" y="259"/>
                    <a:pt x="6735" y="360"/>
                    <a:pt x="6735" y="480"/>
                  </a:cubicBezTo>
                  <a:lnTo>
                    <a:pt x="6735" y="2499"/>
                  </a:lnTo>
                  <a:cubicBezTo>
                    <a:pt x="6735" y="2619"/>
                    <a:pt x="6653" y="2720"/>
                    <a:pt x="6541" y="2749"/>
                  </a:cubicBezTo>
                  <a:lnTo>
                    <a:pt x="6540" y="2749"/>
                  </a:lnTo>
                  <a:lnTo>
                    <a:pt x="6540" y="2768"/>
                  </a:lnTo>
                  <a:cubicBezTo>
                    <a:pt x="6540" y="2885"/>
                    <a:pt x="6445" y="2980"/>
                    <a:pt x="6328" y="2980"/>
                  </a:cubicBezTo>
                  <a:lnTo>
                    <a:pt x="408" y="2980"/>
                  </a:lnTo>
                  <a:cubicBezTo>
                    <a:pt x="291" y="2980"/>
                    <a:pt x="196" y="2885"/>
                    <a:pt x="196" y="2768"/>
                  </a:cubicBezTo>
                  <a:lnTo>
                    <a:pt x="196" y="2749"/>
                  </a:lnTo>
                  <a:lnTo>
                    <a:pt x="194" y="2749"/>
                  </a:lnTo>
                  <a:cubicBezTo>
                    <a:pt x="82" y="2720"/>
                    <a:pt x="0" y="2619"/>
                    <a:pt x="0" y="2499"/>
                  </a:cubicBezTo>
                  <a:lnTo>
                    <a:pt x="0" y="480"/>
                  </a:lnTo>
                  <a:cubicBezTo>
                    <a:pt x="0" y="360"/>
                    <a:pt x="82" y="259"/>
                    <a:pt x="194" y="230"/>
                  </a:cubicBezTo>
                  <a:lnTo>
                    <a:pt x="196" y="230"/>
                  </a:lnTo>
                  <a:lnTo>
                    <a:pt x="196" y="212"/>
                  </a:lnTo>
                  <a:cubicBezTo>
                    <a:pt x="196" y="95"/>
                    <a:pt x="291" y="0"/>
                    <a:pt x="408" y="0"/>
                  </a:cubicBezTo>
                  <a:close/>
                </a:path>
              </a:pathLst>
            </a:custGeom>
            <a:noFill/>
            <a:ln w="19050" cmpd="sng">
              <a:solidFill>
                <a:srgbClr val="42B1B7"/>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8" name="任意多边形 37"/>
            <p:cNvSpPr/>
            <p:nvPr>
              <p:custDataLst>
                <p:tags r:id="rId7"/>
              </p:custDataLst>
            </p:nvPr>
          </p:nvSpPr>
          <p:spPr>
            <a:xfrm>
              <a:off x="6658" y="6371"/>
              <a:ext cx="8504" cy="4241"/>
            </a:xfrm>
            <a:custGeom>
              <a:avLst/>
              <a:gdLst>
                <a:gd name="adj" fmla="val 711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735" h="2980">
                  <a:moveTo>
                    <a:pt x="408" y="0"/>
                  </a:moveTo>
                  <a:lnTo>
                    <a:pt x="6328" y="0"/>
                  </a:lnTo>
                  <a:cubicBezTo>
                    <a:pt x="6445" y="0"/>
                    <a:pt x="6540" y="95"/>
                    <a:pt x="6540" y="212"/>
                  </a:cubicBezTo>
                  <a:lnTo>
                    <a:pt x="6540" y="230"/>
                  </a:lnTo>
                  <a:lnTo>
                    <a:pt x="6541" y="230"/>
                  </a:lnTo>
                  <a:cubicBezTo>
                    <a:pt x="6653" y="259"/>
                    <a:pt x="6735" y="360"/>
                    <a:pt x="6735" y="480"/>
                  </a:cubicBezTo>
                  <a:lnTo>
                    <a:pt x="6735" y="2499"/>
                  </a:lnTo>
                  <a:cubicBezTo>
                    <a:pt x="6735" y="2619"/>
                    <a:pt x="6653" y="2720"/>
                    <a:pt x="6541" y="2749"/>
                  </a:cubicBezTo>
                  <a:lnTo>
                    <a:pt x="6540" y="2749"/>
                  </a:lnTo>
                  <a:lnTo>
                    <a:pt x="6540" y="2768"/>
                  </a:lnTo>
                  <a:cubicBezTo>
                    <a:pt x="6540" y="2885"/>
                    <a:pt x="6445" y="2980"/>
                    <a:pt x="6328" y="2980"/>
                  </a:cubicBezTo>
                  <a:lnTo>
                    <a:pt x="408" y="2980"/>
                  </a:lnTo>
                  <a:cubicBezTo>
                    <a:pt x="291" y="2980"/>
                    <a:pt x="196" y="2885"/>
                    <a:pt x="196" y="2768"/>
                  </a:cubicBezTo>
                  <a:lnTo>
                    <a:pt x="196" y="2749"/>
                  </a:lnTo>
                  <a:lnTo>
                    <a:pt x="194" y="2749"/>
                  </a:lnTo>
                  <a:cubicBezTo>
                    <a:pt x="82" y="2720"/>
                    <a:pt x="0" y="2619"/>
                    <a:pt x="0" y="2499"/>
                  </a:cubicBezTo>
                  <a:lnTo>
                    <a:pt x="0" y="480"/>
                  </a:lnTo>
                  <a:cubicBezTo>
                    <a:pt x="0" y="360"/>
                    <a:pt x="82" y="259"/>
                    <a:pt x="194" y="230"/>
                  </a:cubicBezTo>
                  <a:lnTo>
                    <a:pt x="196" y="230"/>
                  </a:lnTo>
                  <a:lnTo>
                    <a:pt x="196" y="212"/>
                  </a:lnTo>
                  <a:cubicBezTo>
                    <a:pt x="196" y="95"/>
                    <a:pt x="291" y="0"/>
                    <a:pt x="408" y="0"/>
                  </a:cubicBezTo>
                  <a:close/>
                </a:path>
              </a:pathLst>
            </a:custGeom>
            <a:noFill/>
            <a:ln w="19050" cmpd="sng">
              <a:solidFill>
                <a:srgbClr val="42B1B7"/>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sp>
        <p:nvSpPr>
          <p:cNvPr id="5" name="AutoShape 5"/>
          <p:cNvSpPr/>
          <p:nvPr/>
        </p:nvSpPr>
        <p:spPr>
          <a:xfrm>
            <a:off x="9334500" y="2806700"/>
            <a:ext cx="4064000" cy="368300"/>
          </a:xfrm>
          <a:prstGeom prst="rect">
            <a:avLst/>
          </a:prstGeom>
          <a:noFill/>
          <a:ln w="12700" cap="flat" cmpd="sng">
            <a:noFill/>
            <a:prstDash val="solid"/>
            <a:round/>
          </a:ln>
        </p:spPr>
        <p:txBody>
          <a:bodyPr vert="horz" wrap="square" lIns="88900" tIns="50800" rIns="88900" bIns="50800" rtlCol="0" anchor="t" anchorCtr="0"/>
          <a:lstStyle/>
          <a:p>
            <a:pPr algn="l">
              <a:defRPr/>
            </a:pPr>
          </a:p>
        </p:txBody>
      </p:sp>
      <p:sp>
        <p:nvSpPr>
          <p:cNvPr id="6" name="AutoShape 6"/>
          <p:cNvSpPr/>
          <p:nvPr/>
        </p:nvSpPr>
        <p:spPr>
          <a:xfrm>
            <a:off x="3321685" y="1130300"/>
            <a:ext cx="5548630" cy="4279900"/>
          </a:xfrm>
          <a:prstGeom prst="rect">
            <a:avLst/>
          </a:prstGeom>
          <a:noFill/>
          <a:ln w="12700" cap="flat" cmpd="sng">
            <a:noFill/>
            <a:prstDash val="solid"/>
            <a:round/>
          </a:ln>
        </p:spPr>
        <p:txBody>
          <a:bodyPr vert="horz" wrap="square" lIns="88900" tIns="50800" rIns="88900" bIns="50800" rtlCol="0" anchor="t" anchorCtr="0"/>
          <a:lstStyle/>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核心技术与创新亮点</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转化成果与实施进度</a:t>
            </a:r>
            <a:endParaRPr lang="zh-CN" altLang="en-US" sz="4000" b="1" i="0" u="none" strike="noStrike">
              <a:solidFill>
                <a:schemeClr val="bg1">
                  <a:lumMod val="8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08000" indent="-508000" algn="l">
              <a:lnSpc>
                <a:spcPct val="250000"/>
              </a:lnSpc>
              <a:buClr>
                <a:srgbClr val="000000"/>
              </a:buClr>
              <a:buFont typeface="Arial" panose="020B0604020202020204"/>
              <a:buChar char="•"/>
              <a:defRPr/>
            </a:pPr>
            <a:r>
              <a:rPr lang="zh-CN" altLang="en-US" sz="40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后续推进与支持需求</a:t>
            </a:r>
            <a:endParaRPr lang="zh-CN" altLang="en-US" sz="40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54000" y="2374900"/>
            <a:ext cx="2425700" cy="179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75000"/>
              </a:lnSpc>
              <a:defRPr/>
            </a:pPr>
            <a:endParaRPr lang="en-US" sz="1100"/>
          </a:p>
          <a:p>
            <a:pPr marL="571500" indent="0" algn="l">
              <a:lnSpc>
                <a:spcPct val="83000"/>
              </a:lnSpc>
            </a:pPr>
            <a:r>
              <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5200" b="1" i="0" u="none" strike="noStrike">
              <a:solidFill>
                <a:srgbClr val="203A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p>
          <a:p>
            <a:pPr marL="0" indent="0" algn="l">
              <a:lnSpc>
                <a:spcPct val="125000"/>
              </a:lnSpc>
            </a:pPr>
          </a:p>
          <a:p>
            <a:pPr marL="0" indent="0" algn="l">
              <a:lnSpc>
                <a:spcPct val="108000"/>
              </a:lnSpc>
            </a:pPr>
          </a:p>
          <a:p>
            <a:pPr marL="0" indent="0" algn="l">
              <a:lnSpc>
                <a:spcPct val="8000"/>
              </a:lnSpc>
            </a:pPr>
          </a:p>
          <a:p>
            <a:pPr marL="12700" indent="0" algn="l">
              <a:lnSpc>
                <a:spcPct val="83000"/>
              </a:lnSpc>
            </a:pPr>
            <a:r>
              <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rPr>
              <a:t>Contents</a:t>
            </a:r>
            <a:endParaRPr lang="en-US" sz="4300" b="1" i="0" u="none" strike="noStrike" spc="20">
              <a:solidFill>
                <a:srgbClr val="262626"/>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buntu/.openclaw/workspace/image3.png"/>
          <p:cNvPicPr>
            <a:picLocks noChangeAspect="1"/>
          </p:cNvPicPr>
          <p:nvPr/>
        </p:nvPicPr>
        <p:blipFill>
          <a:blip r:embed="rId1"/>
          <a:stretch>
            <a:fillRect/>
          </a:stretch>
        </p:blipFill>
        <p:spPr>
          <a:xfrm>
            <a:off x="254203" y="927202"/>
            <a:ext cx="10533888" cy="88697"/>
          </a:xfrm>
          <a:prstGeom prst="rect">
            <a:avLst/>
          </a:prstGeom>
        </p:spPr>
      </p:pic>
      <p:pic>
        <p:nvPicPr>
          <p:cNvPr id="3" name="Image 1" descr="/home/ubuntu/.openclaw/workspace/image4.png"/>
          <p:cNvPicPr>
            <a:picLocks noChangeAspect="1"/>
          </p:cNvPicPr>
          <p:nvPr/>
        </p:nvPicPr>
        <p:blipFill>
          <a:blip r:embed="rId2"/>
          <a:stretch>
            <a:fillRect/>
          </a:stretch>
        </p:blipFill>
        <p:spPr>
          <a:xfrm>
            <a:off x="11018520" y="127102"/>
            <a:ext cx="964692" cy="964692"/>
          </a:xfrm>
          <a:prstGeom prst="rect">
            <a:avLst/>
          </a:prstGeom>
        </p:spPr>
      </p:pic>
      <p:sp>
        <p:nvSpPr>
          <p:cNvPr id="4" name="Shape 0"/>
          <p:cNvSpPr/>
          <p:nvPr/>
        </p:nvSpPr>
        <p:spPr>
          <a:xfrm>
            <a:off x="5952744" y="2121408"/>
            <a:ext cx="109728" cy="2084832"/>
          </a:xfrm>
          <a:prstGeom prst="roundRect">
            <a:avLst/>
          </a:prstGeom>
          <a:solidFill>
            <a:srgbClr val="5B9BD5"/>
          </a:solidFill>
          <a:ln w="12700">
            <a:solidFill>
              <a:srgbClr val="FFFFFF">
                <a:alpha val="0"/>
              </a:srgbClr>
            </a:solidFill>
            <a:prstDash val="solid"/>
          </a:ln>
        </p:spPr>
      </p:sp>
      <p:sp>
        <p:nvSpPr>
          <p:cNvPr id="5" name="Text 1"/>
          <p:cNvSpPr/>
          <p:nvPr/>
        </p:nvSpPr>
        <p:spPr>
          <a:xfrm>
            <a:off x="328803" y="232918"/>
            <a:ext cx="5303520" cy="347472"/>
          </a:xfrm>
          <a:prstGeom prst="rect">
            <a:avLst/>
          </a:prstGeom>
          <a:noFill/>
          <a:ln w="12700" cap="flat" cmpd="sng">
            <a:noFill/>
            <a:prstDash val="solid"/>
            <a:round/>
          </a:ln>
        </p:spPr>
        <p:txBody>
          <a:bodyPr vert="horz" wrap="square" lIns="88900" tIns="50800" rIns="88900" bIns="50800" rtlCol="0" anchor="t" anchorCtr="0">
            <a:noAutofit/>
          </a:bodyPr>
          <a:lstStyle/>
          <a:p>
            <a:pPr lvl="0" algn="l">
              <a:buSzTx/>
              <a:defRPr/>
            </a:pP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待完成事项（</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一</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a:t>
            </a:r>
            <a:endParaRPr lang="en-US" sz="3600" b="1">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6" name="Text 2"/>
          <p:cNvSpPr/>
          <p:nvPr/>
        </p:nvSpPr>
        <p:spPr>
          <a:xfrm>
            <a:off x="749935" y="1261110"/>
            <a:ext cx="4882515" cy="257175"/>
          </a:xfrm>
          <a:prstGeom prst="rect">
            <a:avLst/>
          </a:prstGeom>
          <a:noFill/>
        </p:spPr>
        <p:txBody>
          <a:bodyPr wrap="square" rtlCol="0" anchor="ctr"/>
          <a:lstStyle/>
          <a:p>
            <a:pPr marL="0" indent="0">
              <a:buNone/>
            </a:pPr>
            <a:r>
              <a:rPr 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临床前研究与注册转化准备</a:t>
            </a:r>
            <a:endParaRPr lang="en-US" sz="2800" b="1" dirty="0">
              <a:solidFill>
                <a:srgbClr val="163A63"/>
              </a:solidFill>
              <a:latin typeface="微软雅黑" panose="020B0503020204020204" charset="-122"/>
              <a:ea typeface="微软雅黑" panose="020B0503020204020204" charset="-122"/>
              <a:cs typeface="微软雅黑" panose="020B0503020204020204" pitchFamily="34" charset="-120"/>
            </a:endParaRPr>
          </a:p>
        </p:txBody>
      </p:sp>
      <p:sp>
        <p:nvSpPr>
          <p:cNvPr id="7" name="Shape 3"/>
          <p:cNvSpPr/>
          <p:nvPr/>
        </p:nvSpPr>
        <p:spPr>
          <a:xfrm>
            <a:off x="649605" y="1798955"/>
            <a:ext cx="4919345" cy="4224655"/>
          </a:xfrm>
          <a:prstGeom prst="roundRect">
            <a:avLst>
              <a:gd name="adj" fmla="val 808"/>
            </a:avLst>
          </a:prstGeom>
          <a:solidFill>
            <a:srgbClr val="FFFFFF"/>
          </a:solidFill>
          <a:ln w="12700">
            <a:solidFill>
              <a:srgbClr val="D9E2F3"/>
            </a:solidFill>
            <a:prstDash val="solid"/>
          </a:ln>
        </p:spPr>
      </p:sp>
      <p:sp>
        <p:nvSpPr>
          <p:cNvPr id="8" name="Text 4"/>
          <p:cNvSpPr/>
          <p:nvPr/>
        </p:nvSpPr>
        <p:spPr>
          <a:xfrm>
            <a:off x="749935" y="1901825"/>
            <a:ext cx="4754245" cy="4058285"/>
          </a:xfrm>
          <a:prstGeom prst="rect">
            <a:avLst/>
          </a:prstGeom>
          <a:solidFill>
            <a:schemeClr val="accent1">
              <a:lumMod val="20000"/>
              <a:lumOff val="80000"/>
            </a:schemeClr>
          </a:solidFill>
        </p:spPr>
        <p:txBody>
          <a:bodyPr wrap="square" rtlCol="0" anchor="ctr"/>
          <a:lstStyle/>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charset="-122"/>
              </a:rPr>
              <a:t>聚焦首个适应症，明确临床应用场景和核心疗效评价指标
</a:t>
            </a:r>
            <a:endParaRPr lang="en-US" sz="1500" dirty="0">
              <a:solidFill>
                <a:srgbClr val="1F2937"/>
              </a:solidFill>
              <a:latin typeface="微软雅黑" panose="020B0503020204020204" charset="-122"/>
              <a:ea typeface="微软雅黑" panose="020B0503020204020204" charset="-122"/>
              <a:cs typeface="微软雅黑" panose="020B0503020204020204" charset="-122"/>
            </a:endParaRPr>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charset="-122"/>
              </a:rPr>
              <a:t>开展动物实验及相关临床前研究，验证系统安全性、有效性和闭环调控优势
</a:t>
            </a:r>
            <a:endParaRPr lang="en-US" sz="1500" dirty="0">
              <a:solidFill>
                <a:srgbClr val="1F2937"/>
              </a:solidFill>
              <a:latin typeface="微软雅黑" panose="020B0503020204020204" charset="-122"/>
              <a:ea typeface="微软雅黑" panose="020B0503020204020204" charset="-122"/>
              <a:cs typeface="微软雅黑" panose="020B0503020204020204" charset="-122"/>
            </a:endParaRPr>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charset="-122"/>
              </a:rPr>
              <a:t>梳理产品注册属性、管理类别及潜在法规要求
</a:t>
            </a:r>
            <a:endParaRPr lang="en-US" sz="1500" dirty="0">
              <a:solidFill>
                <a:srgbClr val="1F2937"/>
              </a:solidFill>
              <a:latin typeface="微软雅黑" panose="020B0503020204020204" charset="-122"/>
              <a:ea typeface="微软雅黑" panose="020B0503020204020204" charset="-122"/>
              <a:cs typeface="微软雅黑" panose="020B0503020204020204" charset="-122"/>
            </a:endParaRPr>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charset="-122"/>
              </a:rPr>
              <a:t>提前规划</a:t>
            </a:r>
            <a:r>
              <a:rPr lang="zh-CN" altLang="en-US" sz="1500" dirty="0">
                <a:solidFill>
                  <a:srgbClr val="1F2937"/>
                </a:solidFill>
                <a:latin typeface="微软雅黑" panose="020B0503020204020204" charset="-122"/>
                <a:ea typeface="微软雅黑" panose="020B0503020204020204" charset="-122"/>
                <a:cs typeface="微软雅黑" panose="020B0503020204020204" charset="-122"/>
              </a:rPr>
              <a:t>电气安全规范</a:t>
            </a:r>
            <a:r>
              <a:rPr lang="en-US" sz="1500" dirty="0">
                <a:solidFill>
                  <a:srgbClr val="1F2937"/>
                </a:solidFill>
                <a:latin typeface="微软雅黑" panose="020B0503020204020204" charset="-122"/>
                <a:ea typeface="微软雅黑" panose="020B0503020204020204" charset="-122"/>
                <a:cs typeface="微软雅黑" panose="020B0503020204020204" charset="-122"/>
              </a:rPr>
              <a:t>、电磁兼容、质量体系和</a:t>
            </a:r>
            <a:r>
              <a:rPr lang="zh-CN" altLang="en-US" sz="1500" dirty="0">
                <a:solidFill>
                  <a:srgbClr val="1F2937"/>
                </a:solidFill>
                <a:latin typeface="微软雅黑" panose="020B0503020204020204" charset="-122"/>
                <a:ea typeface="微软雅黑" panose="020B0503020204020204" charset="-122"/>
                <a:cs typeface="微软雅黑" panose="020B0503020204020204" charset="-122"/>
              </a:rPr>
              <a:t>注册</a:t>
            </a:r>
            <a:r>
              <a:rPr lang="en-US" sz="1500" dirty="0">
                <a:solidFill>
                  <a:srgbClr val="1F2937"/>
                </a:solidFill>
                <a:latin typeface="微软雅黑" panose="020B0503020204020204" charset="-122"/>
                <a:ea typeface="微软雅黑" panose="020B0503020204020204" charset="-122"/>
                <a:cs typeface="微软雅黑" panose="020B0503020204020204" charset="-122"/>
              </a:rPr>
              <a:t>申报资料框架</a:t>
            </a:r>
            <a:endParaRPr lang="en-US" sz="1500" dirty="0">
              <a:solidFill>
                <a:srgbClr val="1F2937"/>
              </a:solidFill>
              <a:latin typeface="微软雅黑" panose="020B0503020204020204" charset="-122"/>
              <a:ea typeface="微软雅黑" panose="020B0503020204020204" charset="-122"/>
              <a:cs typeface="微软雅黑" panose="020B0503020204020204" charset="-122"/>
            </a:endParaRPr>
          </a:p>
          <a:p>
            <a:pPr marL="285750" indent="-285750">
              <a:buSzPct val="100000"/>
              <a:buFont typeface="Wingdings" panose="05000000000000000000" charset="0"/>
              <a:buChar char="Ø"/>
            </a:pPr>
            <a:endParaRPr lang="en-US" sz="1500" dirty="0">
              <a:solidFill>
                <a:srgbClr val="1F2937"/>
              </a:solidFill>
              <a:latin typeface="微软雅黑" panose="020B0503020204020204" charset="-122"/>
              <a:ea typeface="微软雅黑" panose="020B0503020204020204" charset="-122"/>
              <a:cs typeface="微软雅黑" panose="020B0503020204020204" charset="-122"/>
            </a:endParaRPr>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charset="-122"/>
              </a:rPr>
              <a:t>建立“临床需求—技术迭代—验证反馈”一体化医工联合机制</a:t>
            </a:r>
            <a:endParaRPr lang="en-US" sz="1500" dirty="0">
              <a:latin typeface="微软雅黑" panose="020B0503020204020204" charset="-122"/>
              <a:ea typeface="微软雅黑" panose="020B0503020204020204" charset="-122"/>
              <a:cs typeface="微软雅黑" panose="020B0503020204020204" charset="-122"/>
            </a:endParaRPr>
          </a:p>
        </p:txBody>
      </p:sp>
      <p:sp>
        <p:nvSpPr>
          <p:cNvPr id="9" name="Shape 5"/>
          <p:cNvSpPr/>
          <p:nvPr/>
        </p:nvSpPr>
        <p:spPr>
          <a:xfrm>
            <a:off x="6272784" y="1664208"/>
            <a:ext cx="4983480" cy="1874520"/>
          </a:xfrm>
          <a:prstGeom prst="roundRect">
            <a:avLst>
              <a:gd name="adj" fmla="val 1951"/>
            </a:avLst>
          </a:prstGeom>
          <a:solidFill>
            <a:srgbClr val="F1F8EC"/>
          </a:solidFill>
          <a:ln w="12700">
            <a:solidFill>
              <a:srgbClr val="CFE6BF"/>
            </a:solidFill>
            <a:prstDash val="solid"/>
          </a:ln>
        </p:spPr>
      </p:sp>
      <p:sp>
        <p:nvSpPr>
          <p:cNvPr id="10" name="Text 6"/>
          <p:cNvSpPr/>
          <p:nvPr/>
        </p:nvSpPr>
        <p:spPr>
          <a:xfrm>
            <a:off x="6510528" y="1901952"/>
            <a:ext cx="1463040" cy="219456"/>
          </a:xfrm>
          <a:prstGeom prst="rect">
            <a:avLst/>
          </a:prstGeom>
          <a:noFill/>
        </p:spPr>
        <p:txBody>
          <a:bodyPr wrap="square" rtlCol="0" anchor="ctr"/>
          <a:lstStyle/>
          <a:p>
            <a:pPr marL="0" indent="0">
              <a:buNone/>
            </a:pPr>
            <a:r>
              <a:rPr lang="en-US" sz="1800" b="1" dirty="0">
                <a:solidFill>
                  <a:srgbClr val="70AD47"/>
                </a:solidFill>
                <a:latin typeface="微软雅黑" panose="020B0503020204020204" charset="-122"/>
                <a:ea typeface="微软雅黑" panose="020B0503020204020204" charset="-122"/>
                <a:cs typeface="微软雅黑" panose="020B0503020204020204" pitchFamily="34" charset="-120"/>
              </a:rPr>
              <a:t>阶段目标</a:t>
            </a:r>
            <a:endParaRPr lang="en-US" sz="1800" dirty="0"/>
          </a:p>
        </p:txBody>
      </p:sp>
      <p:sp>
        <p:nvSpPr>
          <p:cNvPr id="11" name="Text 7"/>
          <p:cNvSpPr/>
          <p:nvPr/>
        </p:nvSpPr>
        <p:spPr>
          <a:xfrm>
            <a:off x="6510655" y="2313940"/>
            <a:ext cx="4160520" cy="904875"/>
          </a:xfrm>
          <a:prstGeom prst="rect">
            <a:avLst/>
          </a:prstGeom>
          <a:noFill/>
        </p:spPr>
        <p:txBody>
          <a:bodyPr wrap="square" rtlCol="0" anchor="ctr"/>
          <a:lstStyle/>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形成首个适应症的临床前证据链。</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明确产品注册</a:t>
            </a:r>
            <a:r>
              <a:rPr lang="zh-CN" altLang="en-US" sz="1450" dirty="0">
                <a:solidFill>
                  <a:srgbClr val="1F2937"/>
                </a:solidFill>
                <a:latin typeface="微软雅黑" panose="020B0503020204020204" charset="-122"/>
                <a:ea typeface="微软雅黑" panose="020B0503020204020204" charset="-122"/>
                <a:cs typeface="微软雅黑" panose="020B0503020204020204" pitchFamily="34" charset="-120"/>
              </a:rPr>
              <a:t>转化</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路径。</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indent="0">
              <a:buSzPct val="100000"/>
              <a:buNone/>
            </a:pPr>
            <a:r>
              <a:rPr lang="en-US" sz="1450" b="1" dirty="0">
                <a:solidFill>
                  <a:srgbClr val="1F2937"/>
                </a:solidFill>
                <a:latin typeface="微软雅黑" panose="020B0503020204020204" charset="-122"/>
                <a:ea typeface="微软雅黑" panose="020B0503020204020204" charset="-122"/>
                <a:cs typeface="微软雅黑" panose="020B0503020204020204" pitchFamily="34" charset="-120"/>
              </a:rPr>
              <a:t>为后续伦理审批、临床试验和申报奠定基础。</a:t>
            </a:r>
            <a:endParaRPr lang="en-US" sz="1450" b="1" dirty="0"/>
          </a:p>
        </p:txBody>
      </p:sp>
      <p:sp>
        <p:nvSpPr>
          <p:cNvPr id="12" name="Shape 8"/>
          <p:cNvSpPr/>
          <p:nvPr/>
        </p:nvSpPr>
        <p:spPr>
          <a:xfrm>
            <a:off x="6272784" y="3721608"/>
            <a:ext cx="4983480" cy="2468880"/>
          </a:xfrm>
          <a:prstGeom prst="roundRect">
            <a:avLst>
              <a:gd name="adj" fmla="val 1481"/>
            </a:avLst>
          </a:prstGeom>
          <a:solidFill>
            <a:srgbClr val="FFF6EE"/>
          </a:solidFill>
          <a:ln w="12700">
            <a:solidFill>
              <a:srgbClr val="F2D4BE"/>
            </a:solidFill>
            <a:prstDash val="solid"/>
          </a:ln>
        </p:spPr>
      </p:sp>
      <p:sp>
        <p:nvSpPr>
          <p:cNvPr id="13" name="Text 9"/>
          <p:cNvSpPr/>
          <p:nvPr/>
        </p:nvSpPr>
        <p:spPr>
          <a:xfrm>
            <a:off x="6510528" y="3968496"/>
            <a:ext cx="2011680" cy="219456"/>
          </a:xfrm>
          <a:prstGeom prst="rect">
            <a:avLst/>
          </a:prstGeom>
          <a:noFill/>
        </p:spPr>
        <p:txBody>
          <a:bodyPr wrap="square" rtlCol="0" anchor="ctr"/>
          <a:lstStyle/>
          <a:p>
            <a:pPr marL="0" indent="0">
              <a:buNone/>
            </a:pPr>
            <a:r>
              <a:rPr lang="en-US" sz="1800" b="1" dirty="0">
                <a:solidFill>
                  <a:srgbClr val="ED7D31"/>
                </a:solidFill>
                <a:latin typeface="微软雅黑" panose="020B0503020204020204" charset="-122"/>
                <a:ea typeface="微软雅黑" panose="020B0503020204020204" charset="-122"/>
                <a:cs typeface="微软雅黑" panose="020B0503020204020204" pitchFamily="34" charset="-120"/>
              </a:rPr>
              <a:t>需要的帮助支持</a:t>
            </a:r>
            <a:endParaRPr lang="en-US" sz="1800" dirty="0"/>
          </a:p>
        </p:txBody>
      </p:sp>
      <p:sp>
        <p:nvSpPr>
          <p:cNvPr id="14" name="Text 10"/>
          <p:cNvSpPr/>
          <p:nvPr/>
        </p:nvSpPr>
        <p:spPr>
          <a:xfrm>
            <a:off x="6510655" y="4279265"/>
            <a:ext cx="4364355" cy="1371600"/>
          </a:xfrm>
          <a:prstGeom prst="rect">
            <a:avLst/>
          </a:prstGeom>
          <a:noFill/>
        </p:spPr>
        <p:txBody>
          <a:bodyPr wrap="square" rtlCol="0" anchor="ctr"/>
          <a:lstStyle/>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临床专家团队和医院资源支持。</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动物实验平台、研究设计与伦理支持。</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医疗器械注册咨询、法规辅导和质量体系建设支持。</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buntu/.openclaw/workspace/image3.png"/>
          <p:cNvPicPr>
            <a:picLocks noChangeAspect="1"/>
          </p:cNvPicPr>
          <p:nvPr/>
        </p:nvPicPr>
        <p:blipFill>
          <a:blip r:embed="rId1"/>
          <a:stretch>
            <a:fillRect/>
          </a:stretch>
        </p:blipFill>
        <p:spPr>
          <a:xfrm>
            <a:off x="254203" y="927202"/>
            <a:ext cx="10533888" cy="88697"/>
          </a:xfrm>
          <a:prstGeom prst="rect">
            <a:avLst/>
          </a:prstGeom>
        </p:spPr>
      </p:pic>
      <p:pic>
        <p:nvPicPr>
          <p:cNvPr id="3" name="Image 1" descr="/home/ubuntu/.openclaw/workspace/image4.png"/>
          <p:cNvPicPr>
            <a:picLocks noChangeAspect="1"/>
          </p:cNvPicPr>
          <p:nvPr/>
        </p:nvPicPr>
        <p:blipFill>
          <a:blip r:embed="rId2"/>
          <a:stretch>
            <a:fillRect/>
          </a:stretch>
        </p:blipFill>
        <p:spPr>
          <a:xfrm>
            <a:off x="11018520" y="127102"/>
            <a:ext cx="964692" cy="964692"/>
          </a:xfrm>
          <a:prstGeom prst="rect">
            <a:avLst/>
          </a:prstGeom>
        </p:spPr>
      </p:pic>
      <p:sp>
        <p:nvSpPr>
          <p:cNvPr id="4" name="Shape 0"/>
          <p:cNvSpPr/>
          <p:nvPr/>
        </p:nvSpPr>
        <p:spPr>
          <a:xfrm>
            <a:off x="5952744" y="2121408"/>
            <a:ext cx="109728" cy="2084832"/>
          </a:xfrm>
          <a:prstGeom prst="roundRect">
            <a:avLst/>
          </a:prstGeom>
          <a:solidFill>
            <a:srgbClr val="5B9BD5"/>
          </a:solidFill>
          <a:ln w="12700">
            <a:solidFill>
              <a:srgbClr val="FFFFFF">
                <a:alpha val="0"/>
              </a:srgbClr>
            </a:solidFill>
            <a:prstDash val="solid"/>
          </a:ln>
        </p:spPr>
      </p:sp>
      <p:sp>
        <p:nvSpPr>
          <p:cNvPr id="5" name="Text 1"/>
          <p:cNvSpPr/>
          <p:nvPr/>
        </p:nvSpPr>
        <p:spPr>
          <a:xfrm>
            <a:off x="484378" y="251968"/>
            <a:ext cx="5303520" cy="347472"/>
          </a:xfrm>
          <a:prstGeom prst="rect">
            <a:avLst/>
          </a:prstGeom>
          <a:noFill/>
          <a:ln w="12700" cap="flat" cmpd="sng">
            <a:noFill/>
            <a:prstDash val="solid"/>
            <a:round/>
          </a:ln>
        </p:spPr>
        <p:txBody>
          <a:bodyPr vert="horz" wrap="square" lIns="88900" tIns="50800" rIns="88900" bIns="50800" rtlCol="0" anchor="t" anchorCtr="0">
            <a:noAutofit/>
          </a:bodyPr>
          <a:lstStyle/>
          <a:p>
            <a:pPr lvl="0" algn="l">
              <a:buSzTx/>
              <a:defRPr/>
            </a:pP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待完成事项（</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二</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a:t>
            </a:r>
            <a:endParaRPr lang="en-US" sz="3600" b="1">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6" name="Text 2"/>
          <p:cNvSpPr/>
          <p:nvPr/>
        </p:nvSpPr>
        <p:spPr>
          <a:xfrm>
            <a:off x="749935" y="1140460"/>
            <a:ext cx="4883150" cy="488315"/>
          </a:xfrm>
          <a:prstGeom prst="rect">
            <a:avLst/>
          </a:prstGeom>
          <a:noFill/>
        </p:spPr>
        <p:txBody>
          <a:bodyPr wrap="square" rtlCol="0" anchor="ctr"/>
          <a:lstStyle/>
          <a:p>
            <a:pPr marL="0" indent="0">
              <a:buNone/>
            </a:pPr>
            <a:r>
              <a:rPr lang="zh-CN" alt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融资规划和资本对接</a:t>
            </a:r>
            <a:endParaRPr lang="zh-CN" altLang="en-US" sz="2800" b="1" dirty="0">
              <a:solidFill>
                <a:srgbClr val="163A63"/>
              </a:solidFill>
              <a:latin typeface="微软雅黑" panose="020B0503020204020204" charset="-122"/>
              <a:ea typeface="微软雅黑" panose="020B0503020204020204" charset="-122"/>
              <a:cs typeface="微软雅黑" panose="020B0503020204020204" pitchFamily="34" charset="-120"/>
            </a:endParaRPr>
          </a:p>
        </p:txBody>
      </p:sp>
      <p:sp>
        <p:nvSpPr>
          <p:cNvPr id="7" name="Shape 3"/>
          <p:cNvSpPr/>
          <p:nvPr/>
        </p:nvSpPr>
        <p:spPr>
          <a:xfrm>
            <a:off x="749935" y="1664335"/>
            <a:ext cx="4677410" cy="4526280"/>
          </a:xfrm>
          <a:prstGeom prst="roundRect">
            <a:avLst>
              <a:gd name="adj" fmla="val 808"/>
            </a:avLst>
          </a:prstGeom>
          <a:solidFill>
            <a:srgbClr val="FFFFFF"/>
          </a:solidFill>
          <a:ln w="12700">
            <a:solidFill>
              <a:srgbClr val="D9E2F3"/>
            </a:solidFill>
            <a:prstDash val="solid"/>
          </a:ln>
        </p:spPr>
      </p:sp>
      <p:sp>
        <p:nvSpPr>
          <p:cNvPr id="8" name="Text 4"/>
          <p:cNvSpPr/>
          <p:nvPr/>
        </p:nvSpPr>
        <p:spPr>
          <a:xfrm>
            <a:off x="941705" y="1750060"/>
            <a:ext cx="4389120" cy="4372610"/>
          </a:xfrm>
          <a:prstGeom prst="rect">
            <a:avLst/>
          </a:prstGeom>
          <a:solidFill>
            <a:schemeClr val="accent1">
              <a:lumMod val="20000"/>
              <a:lumOff val="80000"/>
            </a:schemeClr>
          </a:solidFill>
        </p:spPr>
        <p:txBody>
          <a:bodyPr wrap="square" rtlCol="0" anchor="ctr"/>
          <a:lstStyle/>
          <a:p>
            <a:pPr marL="0" indent="0">
              <a:lnSpc>
                <a:spcPct val="150000"/>
              </a:lnSpc>
              <a:buSzPct val="100000"/>
              <a:buNone/>
            </a:pPr>
            <a:r>
              <a:rPr lang="zh-CN" altLang="en-US" sz="1600" b="1" dirty="0">
                <a:latin typeface="微软雅黑" panose="020B0503020204020204" charset="-122"/>
                <a:ea typeface="微软雅黑" panose="020B0503020204020204" charset="-122"/>
                <a:cs typeface="微软雅黑" panose="020B0503020204020204" charset="-122"/>
              </a:rPr>
              <a:t>融资规划</a:t>
            </a:r>
            <a:endParaRPr lang="zh-CN" altLang="en-US" sz="1600" b="1"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制定分阶段融资安排</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明确重点资金用途</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匹配项目里程碑推进</a:t>
            </a:r>
            <a:endParaRPr lang="zh-CN" altLang="en-US" sz="1500" dirty="0">
              <a:latin typeface="微软雅黑" panose="020B0503020204020204" charset="-122"/>
              <a:ea typeface="微软雅黑" panose="020B0503020204020204" charset="-122"/>
              <a:cs typeface="微软雅黑" panose="020B0503020204020204" charset="-122"/>
            </a:endParaRPr>
          </a:p>
          <a:p>
            <a:pPr marL="0" indent="0">
              <a:lnSpc>
                <a:spcPct val="150000"/>
              </a:lnSpc>
              <a:buSzPct val="100000"/>
              <a:buNone/>
            </a:pPr>
            <a:r>
              <a:rPr lang="zh-CN" altLang="en-US" sz="1600" b="1" dirty="0">
                <a:latin typeface="微软雅黑" panose="020B0503020204020204" charset="-122"/>
                <a:ea typeface="微软雅黑" panose="020B0503020204020204" charset="-122"/>
                <a:cs typeface="微软雅黑" panose="020B0503020204020204" charset="-122"/>
              </a:rPr>
              <a:t>资本对接方向</a:t>
            </a:r>
            <a:endParaRPr lang="zh-CN" altLang="en-US" sz="1600" b="1"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对接产业资本与专业机构</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引入战略投资方</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建立持续沟通机制</a:t>
            </a:r>
            <a:endParaRPr lang="zh-CN" altLang="en-US" sz="1500" dirty="0">
              <a:latin typeface="微软雅黑" panose="020B0503020204020204" charset="-122"/>
              <a:ea typeface="微软雅黑" panose="020B0503020204020204" charset="-122"/>
              <a:cs typeface="微软雅黑" panose="020B0503020204020204" charset="-122"/>
            </a:endParaRPr>
          </a:p>
          <a:p>
            <a:pPr marL="0" algn="l">
              <a:lnSpc>
                <a:spcPct val="150000"/>
              </a:lnSpc>
              <a:buSzTx/>
              <a:buNone/>
            </a:pPr>
            <a:r>
              <a:rPr lang="zh-CN" altLang="en-US" sz="1600" b="1" dirty="0">
                <a:latin typeface="微软雅黑" panose="020B0503020204020204" charset="-122"/>
                <a:ea typeface="微软雅黑" panose="020B0503020204020204" charset="-122"/>
                <a:cs typeface="微软雅黑" panose="020B0503020204020204" charset="-122"/>
              </a:rPr>
              <a:t>资金支持重点</a:t>
            </a:r>
            <a:endParaRPr lang="zh-CN" altLang="en-US" sz="1600" b="1"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技术迭代与样机完善</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临床前研究与注册准备</a:t>
            </a:r>
            <a:endParaRPr lang="zh-CN" altLang="en-US" sz="1500" dirty="0">
              <a:latin typeface="微软雅黑" panose="020B0503020204020204" charset="-122"/>
              <a:ea typeface="微软雅黑" panose="020B0503020204020204" charset="-122"/>
              <a:cs typeface="微软雅黑" panose="020B0503020204020204" charset="-122"/>
            </a:endParaRPr>
          </a:p>
          <a:p>
            <a:pPr marL="285750" indent="-285750">
              <a:lnSpc>
                <a:spcPct val="150000"/>
              </a:lnSpc>
              <a:buSzPct val="100000"/>
              <a:buFont typeface="Wingdings" panose="05000000000000000000" charset="0"/>
              <a:buChar char="Ø"/>
            </a:pPr>
            <a:r>
              <a:rPr lang="zh-CN" altLang="en-US" sz="1500" dirty="0">
                <a:latin typeface="微软雅黑" panose="020B0503020204020204" charset="-122"/>
                <a:ea typeface="微软雅黑" panose="020B0503020204020204" charset="-122"/>
                <a:cs typeface="微软雅黑" panose="020B0503020204020204" charset="-122"/>
              </a:rPr>
              <a:t>市场验证与示范推广</a:t>
            </a:r>
            <a:endParaRPr lang="zh-CN" altLang="en-US" sz="1500" dirty="0">
              <a:latin typeface="微软雅黑" panose="020B0503020204020204" charset="-122"/>
              <a:ea typeface="微软雅黑" panose="020B0503020204020204" charset="-122"/>
              <a:cs typeface="微软雅黑" panose="020B0503020204020204" charset="-122"/>
            </a:endParaRPr>
          </a:p>
        </p:txBody>
      </p:sp>
      <p:sp>
        <p:nvSpPr>
          <p:cNvPr id="9" name="Shape 5"/>
          <p:cNvSpPr/>
          <p:nvPr/>
        </p:nvSpPr>
        <p:spPr>
          <a:xfrm>
            <a:off x="6272784" y="1664208"/>
            <a:ext cx="4983480" cy="1874520"/>
          </a:xfrm>
          <a:prstGeom prst="roundRect">
            <a:avLst>
              <a:gd name="adj" fmla="val 1951"/>
            </a:avLst>
          </a:prstGeom>
          <a:solidFill>
            <a:srgbClr val="F1F8EC"/>
          </a:solidFill>
          <a:ln w="12700">
            <a:solidFill>
              <a:srgbClr val="CFE6BF"/>
            </a:solidFill>
            <a:prstDash val="solid"/>
          </a:ln>
        </p:spPr>
      </p:sp>
      <p:sp>
        <p:nvSpPr>
          <p:cNvPr id="10" name="Text 6"/>
          <p:cNvSpPr/>
          <p:nvPr/>
        </p:nvSpPr>
        <p:spPr>
          <a:xfrm>
            <a:off x="6510528" y="1836547"/>
            <a:ext cx="1463040" cy="219456"/>
          </a:xfrm>
          <a:prstGeom prst="rect">
            <a:avLst/>
          </a:prstGeom>
          <a:noFill/>
        </p:spPr>
        <p:txBody>
          <a:bodyPr wrap="square" rtlCol="0" anchor="ctr"/>
          <a:lstStyle/>
          <a:p>
            <a:pPr marL="0" indent="0">
              <a:buNone/>
            </a:pPr>
            <a:r>
              <a:rPr lang="en-US" sz="1800" b="1" dirty="0">
                <a:solidFill>
                  <a:srgbClr val="70AD47"/>
                </a:solidFill>
                <a:latin typeface="微软雅黑" panose="020B0503020204020204" charset="-122"/>
                <a:ea typeface="微软雅黑" panose="020B0503020204020204" charset="-122"/>
                <a:cs typeface="微软雅黑" panose="020B0503020204020204" pitchFamily="34" charset="-120"/>
              </a:rPr>
              <a:t>阶段目标</a:t>
            </a:r>
            <a:endParaRPr lang="en-US" sz="1800" dirty="0"/>
          </a:p>
        </p:txBody>
      </p:sp>
      <p:sp>
        <p:nvSpPr>
          <p:cNvPr id="11" name="Text 7"/>
          <p:cNvSpPr/>
          <p:nvPr/>
        </p:nvSpPr>
        <p:spPr>
          <a:xfrm>
            <a:off x="6510655" y="2212975"/>
            <a:ext cx="4701540" cy="1215390"/>
          </a:xfrm>
          <a:prstGeom prst="rect">
            <a:avLst/>
          </a:prstGeom>
          <a:noFill/>
        </p:spPr>
        <p:txBody>
          <a:bodyPr wrap="square" rtlCol="0" anchor="ctr"/>
          <a:lstStyle/>
          <a:p>
            <a:pPr marL="0" algn="l">
              <a:lnSpc>
                <a:spcPct val="150000"/>
              </a:lnSpc>
              <a:buSzTx/>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形成清晰的融资路径和资本对接清单。</a:t>
            </a:r>
            <a:endParaRPr lang="en-US" sz="1450" dirty="0">
              <a:solidFill>
                <a:srgbClr val="1F2937"/>
              </a:solidFill>
              <a:latin typeface="微软雅黑" panose="020B0503020204020204" charset="-122"/>
              <a:ea typeface="微软雅黑" panose="020B0503020204020204" charset="-122"/>
              <a:cs typeface="微软雅黑" panose="020B0503020204020204" pitchFamily="34" charset="-120"/>
            </a:endParaRPr>
          </a:p>
          <a:p>
            <a:pPr marL="0" algn="l">
              <a:lnSpc>
                <a:spcPct val="150000"/>
              </a:lnSpc>
              <a:buSzTx/>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完成与重点投资机构的初步接洽。</a:t>
            </a:r>
            <a:endParaRPr lang="en-US" sz="1450" dirty="0">
              <a:solidFill>
                <a:srgbClr val="1F2937"/>
              </a:solidFill>
              <a:latin typeface="微软雅黑" panose="020B0503020204020204" charset="-122"/>
              <a:ea typeface="微软雅黑" panose="020B0503020204020204" charset="-122"/>
              <a:cs typeface="微软雅黑" panose="020B0503020204020204" pitchFamily="34" charset="-120"/>
            </a:endParaRPr>
          </a:p>
          <a:p>
            <a:pPr marL="0" algn="l">
              <a:lnSpc>
                <a:spcPct val="150000"/>
              </a:lnSpc>
              <a:buSzTx/>
              <a:buNone/>
            </a:pPr>
            <a:r>
              <a:rPr lang="en-US" sz="1450" b="1" dirty="0">
                <a:solidFill>
                  <a:srgbClr val="1F2937"/>
                </a:solidFill>
                <a:latin typeface="微软雅黑" panose="020B0503020204020204" charset="-122"/>
                <a:ea typeface="微软雅黑" panose="020B0503020204020204" charset="-122"/>
                <a:cs typeface="微软雅黑" panose="020B0503020204020204" pitchFamily="34" charset="-120"/>
              </a:rPr>
              <a:t>为项目后续研发推进和成果转化落地提供持续资金保障</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a:t>
            </a:r>
            <a:endParaRPr lang="en-US" sz="1450" dirty="0">
              <a:solidFill>
                <a:srgbClr val="1F2937"/>
              </a:solidFill>
              <a:latin typeface="微软雅黑" panose="020B0503020204020204" charset="-122"/>
              <a:ea typeface="微软雅黑" panose="020B0503020204020204" charset="-122"/>
              <a:cs typeface="微软雅黑" panose="020B0503020204020204" pitchFamily="34" charset="-120"/>
            </a:endParaRPr>
          </a:p>
        </p:txBody>
      </p:sp>
      <p:sp>
        <p:nvSpPr>
          <p:cNvPr id="12" name="Shape 8"/>
          <p:cNvSpPr/>
          <p:nvPr/>
        </p:nvSpPr>
        <p:spPr>
          <a:xfrm>
            <a:off x="6272784" y="3721608"/>
            <a:ext cx="4983480" cy="2468880"/>
          </a:xfrm>
          <a:prstGeom prst="roundRect">
            <a:avLst>
              <a:gd name="adj" fmla="val 1481"/>
            </a:avLst>
          </a:prstGeom>
          <a:solidFill>
            <a:srgbClr val="FFF6EE"/>
          </a:solidFill>
          <a:ln w="12700">
            <a:solidFill>
              <a:srgbClr val="F2D4BE"/>
            </a:solidFill>
            <a:prstDash val="solid"/>
          </a:ln>
        </p:spPr>
      </p:sp>
      <p:sp>
        <p:nvSpPr>
          <p:cNvPr id="13" name="Text 9"/>
          <p:cNvSpPr/>
          <p:nvPr/>
        </p:nvSpPr>
        <p:spPr>
          <a:xfrm>
            <a:off x="6510528" y="3968496"/>
            <a:ext cx="2011680" cy="219456"/>
          </a:xfrm>
          <a:prstGeom prst="rect">
            <a:avLst/>
          </a:prstGeom>
          <a:noFill/>
        </p:spPr>
        <p:txBody>
          <a:bodyPr wrap="square" rtlCol="0" anchor="ctr"/>
          <a:lstStyle/>
          <a:p>
            <a:pPr marL="0" indent="0">
              <a:buNone/>
            </a:pPr>
            <a:r>
              <a:rPr lang="en-US" sz="1800" b="1" dirty="0">
                <a:solidFill>
                  <a:srgbClr val="ED7D31"/>
                </a:solidFill>
                <a:latin typeface="微软雅黑" panose="020B0503020204020204" charset="-122"/>
                <a:ea typeface="微软雅黑" panose="020B0503020204020204" charset="-122"/>
                <a:cs typeface="微软雅黑" panose="020B0503020204020204" pitchFamily="34" charset="-120"/>
              </a:rPr>
              <a:t>需要的帮助支持</a:t>
            </a:r>
            <a:endParaRPr lang="en-US" sz="1800" dirty="0"/>
          </a:p>
        </p:txBody>
      </p:sp>
      <p:sp>
        <p:nvSpPr>
          <p:cNvPr id="14" name="Text 10"/>
          <p:cNvSpPr/>
          <p:nvPr/>
        </p:nvSpPr>
        <p:spPr>
          <a:xfrm>
            <a:off x="6510655" y="4415790"/>
            <a:ext cx="4599305" cy="1235075"/>
          </a:xfrm>
          <a:prstGeom prst="rect">
            <a:avLst/>
          </a:prstGeom>
          <a:noFill/>
        </p:spPr>
        <p:txBody>
          <a:bodyPr wrap="square" rtlCol="0" anchor="ctr"/>
          <a:lstStyle/>
          <a:p>
            <a:pPr marL="0" indent="0">
              <a:lnSpc>
                <a:spcPct val="150000"/>
              </a:lnSpc>
              <a:buSzPct val="100000"/>
              <a:buNone/>
            </a:pPr>
            <a:r>
              <a:rPr lang="zh-CN" altLang="en-US" sz="1450" dirty="0">
                <a:latin typeface="微软雅黑" panose="020B0503020204020204" charset="-122"/>
                <a:ea typeface="微软雅黑" panose="020B0503020204020204" charset="-122"/>
              </a:rPr>
              <a:t>对接具备医疗健康投资经验的基金、产业资本及战略合作方。</a:t>
            </a:r>
            <a:endParaRPr lang="zh-CN" altLang="en-US" sz="1450" dirty="0">
              <a:latin typeface="微软雅黑" panose="020B0503020204020204" charset="-122"/>
              <a:ea typeface="微软雅黑" panose="020B0503020204020204" charset="-122"/>
            </a:endParaRPr>
          </a:p>
          <a:p>
            <a:pPr marL="0" indent="0">
              <a:lnSpc>
                <a:spcPct val="150000"/>
              </a:lnSpc>
              <a:buSzPct val="100000"/>
              <a:buNone/>
            </a:pPr>
            <a:r>
              <a:rPr lang="zh-CN" altLang="en-US" sz="1450" dirty="0">
                <a:latin typeface="微软雅黑" panose="020B0503020204020204" charset="-122"/>
                <a:ea typeface="微软雅黑" panose="020B0503020204020204" charset="-122"/>
              </a:rPr>
              <a:t>提供融资顾问、资本规划及估值策略支持。</a:t>
            </a:r>
            <a:endParaRPr lang="zh-CN" altLang="en-US" sz="1450" dirty="0">
              <a:latin typeface="微软雅黑" panose="020B0503020204020204" charset="-122"/>
              <a:ea typeface="微软雅黑" panose="020B0503020204020204" charset="-122"/>
            </a:endParaRPr>
          </a:p>
          <a:p>
            <a:pPr marL="0" indent="0">
              <a:lnSpc>
                <a:spcPct val="150000"/>
              </a:lnSpc>
              <a:buSzPct val="100000"/>
              <a:buNone/>
            </a:pPr>
            <a:r>
              <a:rPr lang="zh-CN" altLang="en-US" sz="1450" dirty="0">
                <a:latin typeface="微软雅黑" panose="020B0503020204020204" charset="-122"/>
                <a:ea typeface="微软雅黑" panose="020B0503020204020204" charset="-122"/>
              </a:rPr>
              <a:t>协助搭建面向投资机构的项目展示和沟通机制。</a:t>
            </a:r>
            <a:endParaRPr lang="zh-CN" altLang="en-US" sz="1450" dirty="0">
              <a:latin typeface="微软雅黑" panose="020B0503020204020204" charset="-122"/>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buntu/.openclaw/workspace/image3.png"/>
          <p:cNvPicPr>
            <a:picLocks noChangeAspect="1"/>
          </p:cNvPicPr>
          <p:nvPr/>
        </p:nvPicPr>
        <p:blipFill>
          <a:blip r:embed="rId1"/>
          <a:stretch>
            <a:fillRect/>
          </a:stretch>
        </p:blipFill>
        <p:spPr>
          <a:xfrm>
            <a:off x="254203" y="927202"/>
            <a:ext cx="10533888" cy="88697"/>
          </a:xfrm>
          <a:prstGeom prst="rect">
            <a:avLst/>
          </a:prstGeom>
        </p:spPr>
      </p:pic>
      <p:pic>
        <p:nvPicPr>
          <p:cNvPr id="3" name="Image 1" descr="/home/ubuntu/.openclaw/workspace/image4.png"/>
          <p:cNvPicPr>
            <a:picLocks noChangeAspect="1"/>
          </p:cNvPicPr>
          <p:nvPr/>
        </p:nvPicPr>
        <p:blipFill>
          <a:blip r:embed="rId2"/>
          <a:stretch>
            <a:fillRect/>
          </a:stretch>
        </p:blipFill>
        <p:spPr>
          <a:xfrm>
            <a:off x="11018520" y="127102"/>
            <a:ext cx="964692" cy="964692"/>
          </a:xfrm>
          <a:prstGeom prst="rect">
            <a:avLst/>
          </a:prstGeom>
        </p:spPr>
      </p:pic>
      <p:sp>
        <p:nvSpPr>
          <p:cNvPr id="4" name="Shape 0"/>
          <p:cNvSpPr/>
          <p:nvPr/>
        </p:nvSpPr>
        <p:spPr>
          <a:xfrm>
            <a:off x="5952744" y="2121408"/>
            <a:ext cx="109728" cy="2084832"/>
          </a:xfrm>
          <a:prstGeom prst="roundRect">
            <a:avLst/>
          </a:prstGeom>
          <a:solidFill>
            <a:srgbClr val="5B9BD5"/>
          </a:solidFill>
          <a:ln w="12700">
            <a:solidFill>
              <a:srgbClr val="FFFFFF">
                <a:alpha val="0"/>
              </a:srgbClr>
            </a:solidFill>
            <a:prstDash val="solid"/>
          </a:ln>
        </p:spPr>
      </p:sp>
      <p:sp>
        <p:nvSpPr>
          <p:cNvPr id="5" name="Text 1"/>
          <p:cNvSpPr/>
          <p:nvPr/>
        </p:nvSpPr>
        <p:spPr>
          <a:xfrm>
            <a:off x="418338" y="211328"/>
            <a:ext cx="5303520" cy="347472"/>
          </a:xfrm>
          <a:prstGeom prst="rect">
            <a:avLst/>
          </a:prstGeom>
          <a:noFill/>
          <a:ln w="12700" cap="flat" cmpd="sng">
            <a:noFill/>
            <a:prstDash val="solid"/>
            <a:round/>
          </a:ln>
        </p:spPr>
        <p:txBody>
          <a:bodyPr vert="horz" wrap="square" lIns="88900" tIns="50800" rIns="88900" bIns="50800" rtlCol="0" anchor="t" anchorCtr="0">
            <a:noAutofit/>
          </a:bodyPr>
          <a:lstStyle/>
          <a:p>
            <a:pPr lvl="0" algn="l">
              <a:buSzTx/>
              <a:defRPr/>
            </a:pP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待完成事项（</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三</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a:t>
            </a:r>
            <a:endParaRPr lang="en-US" sz="3600" b="1">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6" name="Text 2"/>
          <p:cNvSpPr/>
          <p:nvPr/>
        </p:nvSpPr>
        <p:spPr>
          <a:xfrm>
            <a:off x="590550" y="1167130"/>
            <a:ext cx="5641975" cy="345440"/>
          </a:xfrm>
          <a:prstGeom prst="rect">
            <a:avLst/>
          </a:prstGeom>
          <a:noFill/>
        </p:spPr>
        <p:txBody>
          <a:bodyPr wrap="square" rtlCol="0" anchor="ctr"/>
          <a:lstStyle/>
          <a:p>
            <a:pPr marL="0" indent="0">
              <a:buNone/>
            </a:pPr>
            <a:r>
              <a:rPr 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市场导入、</a:t>
            </a:r>
            <a:r>
              <a:rPr lang="zh-CN" alt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试点</a:t>
            </a:r>
            <a:r>
              <a:rPr 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验证与</a:t>
            </a:r>
            <a:r>
              <a:rPr lang="zh-CN" altLang="en-US" sz="2800" b="1" dirty="0">
                <a:solidFill>
                  <a:srgbClr val="163A63"/>
                </a:solidFill>
                <a:latin typeface="微软雅黑" panose="020B0503020204020204" charset="-122"/>
                <a:ea typeface="微软雅黑" panose="020B0503020204020204" charset="-122"/>
                <a:cs typeface="微软雅黑" panose="020B0503020204020204" pitchFamily="34" charset="-120"/>
              </a:rPr>
              <a:t>行业协作</a:t>
            </a:r>
            <a:endParaRPr lang="en-US" sz="2800" b="1" dirty="0">
              <a:solidFill>
                <a:srgbClr val="163A63"/>
              </a:solidFill>
              <a:latin typeface="微软雅黑" panose="020B0503020204020204" charset="-122"/>
              <a:ea typeface="微软雅黑" panose="020B0503020204020204" charset="-122"/>
              <a:cs typeface="微软雅黑" panose="020B0503020204020204" pitchFamily="34" charset="-120"/>
            </a:endParaRPr>
          </a:p>
        </p:txBody>
      </p:sp>
      <p:sp>
        <p:nvSpPr>
          <p:cNvPr id="7" name="Shape 3"/>
          <p:cNvSpPr/>
          <p:nvPr/>
        </p:nvSpPr>
        <p:spPr>
          <a:xfrm>
            <a:off x="615315" y="1861820"/>
            <a:ext cx="4606925" cy="4098925"/>
          </a:xfrm>
          <a:prstGeom prst="roundRect">
            <a:avLst>
              <a:gd name="adj" fmla="val 808"/>
            </a:avLst>
          </a:prstGeom>
          <a:solidFill>
            <a:srgbClr val="FFFFFF"/>
          </a:solidFill>
          <a:ln w="12700">
            <a:solidFill>
              <a:srgbClr val="D9E2F3"/>
            </a:solidFill>
            <a:prstDash val="solid"/>
          </a:ln>
        </p:spPr>
      </p:sp>
      <p:sp>
        <p:nvSpPr>
          <p:cNvPr id="8" name="Text 4"/>
          <p:cNvSpPr/>
          <p:nvPr/>
        </p:nvSpPr>
        <p:spPr>
          <a:xfrm>
            <a:off x="724027" y="2082165"/>
            <a:ext cx="4389120" cy="3657600"/>
          </a:xfrm>
          <a:prstGeom prst="rect">
            <a:avLst/>
          </a:prstGeom>
          <a:solidFill>
            <a:schemeClr val="accent1">
              <a:lumMod val="20000"/>
              <a:lumOff val="80000"/>
            </a:schemeClr>
          </a:solidFill>
        </p:spPr>
        <p:txBody>
          <a:bodyPr wrap="square" rtlCol="0" anchor="ctr"/>
          <a:lstStyle/>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pitchFamily="34" charset="-120"/>
              </a:rPr>
              <a:t>围绕难治性抑郁症等核心场景，明确市场进入顺序、定价逻辑与示范医院策略
</a:t>
            </a:r>
            <a:endParaRPr lang="en-US" sz="1500" dirty="0"/>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pitchFamily="34" charset="-120"/>
              </a:rPr>
              <a:t>建设临床示范点，形成首批真实世界应用案例和转化样板
</a:t>
            </a:r>
            <a:endParaRPr lang="en-US" sz="1500" dirty="0"/>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pitchFamily="34" charset="-120"/>
              </a:rPr>
              <a:t>联动上游关键材料与部件供应商，保障核心器件稳定供应
</a:t>
            </a:r>
            <a:endParaRPr lang="en-US" sz="1500" dirty="0"/>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pitchFamily="34" charset="-120"/>
              </a:rPr>
              <a:t>对接下游三甲医院、专科机构及渠道服务商，搭建应用推广网络
</a:t>
            </a:r>
            <a:endParaRPr lang="en-US" sz="1500" dirty="0"/>
          </a:p>
          <a:p>
            <a:pPr marL="285750" indent="-285750">
              <a:buSzPct val="100000"/>
              <a:buFont typeface="Wingdings" panose="05000000000000000000" charset="0"/>
              <a:buChar char="Ø"/>
            </a:pPr>
            <a:r>
              <a:rPr lang="en-US" sz="1500" dirty="0">
                <a:solidFill>
                  <a:srgbClr val="1F2937"/>
                </a:solidFill>
                <a:latin typeface="微软雅黑" panose="020B0503020204020204" charset="-122"/>
                <a:ea typeface="微软雅黑" panose="020B0503020204020204" charset="-122"/>
                <a:cs typeface="微软雅黑" panose="020B0503020204020204" pitchFamily="34" charset="-120"/>
              </a:rPr>
              <a:t>同步规划品牌传播、专家共识与学术推广，提高行业认知度</a:t>
            </a:r>
            <a:endParaRPr lang="en-US" sz="1500" dirty="0"/>
          </a:p>
        </p:txBody>
      </p:sp>
      <p:sp>
        <p:nvSpPr>
          <p:cNvPr id="9" name="Shape 5"/>
          <p:cNvSpPr/>
          <p:nvPr/>
        </p:nvSpPr>
        <p:spPr>
          <a:xfrm>
            <a:off x="6272784" y="1664208"/>
            <a:ext cx="4983480" cy="1874520"/>
          </a:xfrm>
          <a:prstGeom prst="roundRect">
            <a:avLst>
              <a:gd name="adj" fmla="val 1951"/>
            </a:avLst>
          </a:prstGeom>
          <a:solidFill>
            <a:srgbClr val="F1F8EC"/>
          </a:solidFill>
          <a:ln w="12700">
            <a:solidFill>
              <a:srgbClr val="CFE6BF"/>
            </a:solidFill>
            <a:prstDash val="solid"/>
          </a:ln>
        </p:spPr>
      </p:sp>
      <p:sp>
        <p:nvSpPr>
          <p:cNvPr id="10" name="Text 6"/>
          <p:cNvSpPr/>
          <p:nvPr/>
        </p:nvSpPr>
        <p:spPr>
          <a:xfrm>
            <a:off x="6510528" y="1901952"/>
            <a:ext cx="1463040" cy="219456"/>
          </a:xfrm>
          <a:prstGeom prst="rect">
            <a:avLst/>
          </a:prstGeom>
          <a:noFill/>
        </p:spPr>
        <p:txBody>
          <a:bodyPr wrap="square" rtlCol="0" anchor="ctr"/>
          <a:lstStyle/>
          <a:p>
            <a:pPr marL="0" indent="0">
              <a:buNone/>
            </a:pPr>
            <a:r>
              <a:rPr lang="en-US" sz="1800" b="1" dirty="0">
                <a:solidFill>
                  <a:srgbClr val="70AD47"/>
                </a:solidFill>
                <a:latin typeface="微软雅黑" panose="020B0503020204020204" charset="-122"/>
                <a:ea typeface="微软雅黑" panose="020B0503020204020204" charset="-122"/>
                <a:cs typeface="微软雅黑" panose="020B0503020204020204" pitchFamily="34" charset="-120"/>
              </a:rPr>
              <a:t>阶段目标</a:t>
            </a:r>
            <a:endParaRPr lang="en-US" sz="1800" dirty="0"/>
          </a:p>
        </p:txBody>
      </p:sp>
      <p:sp>
        <p:nvSpPr>
          <p:cNvPr id="11" name="Text 7"/>
          <p:cNvSpPr/>
          <p:nvPr/>
        </p:nvSpPr>
        <p:spPr>
          <a:xfrm>
            <a:off x="6510528" y="2263648"/>
            <a:ext cx="4160520" cy="1005840"/>
          </a:xfrm>
          <a:prstGeom prst="rect">
            <a:avLst/>
          </a:prstGeom>
          <a:noFill/>
        </p:spPr>
        <p:txBody>
          <a:bodyPr wrap="square" rtlCol="0" anchor="ctr"/>
          <a:lstStyle/>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形成示范医院与首批合作场景。</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完成市场导入路径验证。</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indent="0">
              <a:buSzPct val="100000"/>
              <a:buNone/>
            </a:pPr>
            <a:r>
              <a:rPr lang="en-US" sz="1450" b="1" dirty="0">
                <a:solidFill>
                  <a:srgbClr val="1F2937"/>
                </a:solidFill>
                <a:latin typeface="微软雅黑" panose="020B0503020204020204" charset="-122"/>
                <a:ea typeface="微软雅黑" panose="020B0503020204020204" charset="-122"/>
                <a:cs typeface="微软雅黑" panose="020B0503020204020204" pitchFamily="34" charset="-120"/>
              </a:rPr>
              <a:t>建立初步产业链协同基础。</a:t>
            </a:r>
            <a:endParaRPr lang="en-US" sz="1450" b="1" dirty="0"/>
          </a:p>
        </p:txBody>
      </p:sp>
      <p:sp>
        <p:nvSpPr>
          <p:cNvPr id="12" name="Shape 8"/>
          <p:cNvSpPr/>
          <p:nvPr/>
        </p:nvSpPr>
        <p:spPr>
          <a:xfrm>
            <a:off x="6272784" y="3721608"/>
            <a:ext cx="4983480" cy="2468880"/>
          </a:xfrm>
          <a:prstGeom prst="roundRect">
            <a:avLst>
              <a:gd name="adj" fmla="val 1481"/>
            </a:avLst>
          </a:prstGeom>
          <a:solidFill>
            <a:srgbClr val="FFF6EE"/>
          </a:solidFill>
          <a:ln w="12700">
            <a:solidFill>
              <a:srgbClr val="F2D4BE"/>
            </a:solidFill>
            <a:prstDash val="solid"/>
          </a:ln>
        </p:spPr>
      </p:sp>
      <p:sp>
        <p:nvSpPr>
          <p:cNvPr id="13" name="Text 9"/>
          <p:cNvSpPr/>
          <p:nvPr/>
        </p:nvSpPr>
        <p:spPr>
          <a:xfrm>
            <a:off x="6510528" y="3968496"/>
            <a:ext cx="2011680" cy="219456"/>
          </a:xfrm>
          <a:prstGeom prst="rect">
            <a:avLst/>
          </a:prstGeom>
          <a:noFill/>
        </p:spPr>
        <p:txBody>
          <a:bodyPr wrap="square" rtlCol="0" anchor="ctr"/>
          <a:lstStyle/>
          <a:p>
            <a:pPr marL="0" indent="0">
              <a:buNone/>
            </a:pPr>
            <a:r>
              <a:rPr lang="en-US" sz="1800" b="1" dirty="0">
                <a:solidFill>
                  <a:srgbClr val="ED7D31"/>
                </a:solidFill>
                <a:latin typeface="微软雅黑" panose="020B0503020204020204" charset="-122"/>
                <a:ea typeface="微软雅黑" panose="020B0503020204020204" charset="-122"/>
                <a:cs typeface="微软雅黑" panose="020B0503020204020204" pitchFamily="34" charset="-120"/>
              </a:rPr>
              <a:t>需要的帮助支持</a:t>
            </a:r>
            <a:endParaRPr lang="en-US" sz="1800" dirty="0"/>
          </a:p>
        </p:txBody>
      </p:sp>
      <p:sp>
        <p:nvSpPr>
          <p:cNvPr id="14" name="Text 10"/>
          <p:cNvSpPr/>
          <p:nvPr/>
        </p:nvSpPr>
        <p:spPr>
          <a:xfrm>
            <a:off x="6510528" y="4279392"/>
            <a:ext cx="4160520" cy="1371600"/>
          </a:xfrm>
          <a:prstGeom prst="rect">
            <a:avLst/>
          </a:prstGeom>
          <a:noFill/>
        </p:spPr>
        <p:txBody>
          <a:bodyPr wrap="square" rtlCol="0" anchor="ctr"/>
          <a:lstStyle/>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市场策略与定价体系设计支持。</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marL="0"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示范医院、渠道伙伴与产业资源</a:t>
            </a:r>
            <a:r>
              <a:rPr lang="zh-CN" altLang="en-US" sz="1450" dirty="0">
                <a:solidFill>
                  <a:srgbClr val="1F2937"/>
                </a:solidFill>
                <a:latin typeface="微软雅黑" panose="020B0503020204020204" charset="-122"/>
                <a:ea typeface="微软雅黑" panose="020B0503020204020204" charset="-122"/>
                <a:cs typeface="微软雅黑" panose="020B0503020204020204" pitchFamily="34" charset="-120"/>
              </a:rPr>
              <a:t>对接支持</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a:t>
            </a: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
</a:t>
            </a:r>
            <a:endParaRPr lang="en-US" sz="1450" dirty="0"/>
          </a:p>
          <a:p>
            <a:pPr indent="0">
              <a:buSzPct val="100000"/>
              <a:buNone/>
            </a:pPr>
            <a:r>
              <a:rPr lang="en-US" sz="1450" dirty="0">
                <a:solidFill>
                  <a:srgbClr val="1F2937"/>
                </a:solidFill>
                <a:latin typeface="微软雅黑" panose="020B0503020204020204" charset="-122"/>
                <a:ea typeface="微软雅黑" panose="020B0503020204020204" charset="-122"/>
                <a:cs typeface="微软雅黑" panose="020B0503020204020204" pitchFamily="34" charset="-120"/>
              </a:rPr>
              <a:t>品牌推广、学术传播与行业资源对接支持。</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254000" y="927100"/>
            <a:ext cx="10528300" cy="88900"/>
          </a:xfrm>
          <a:prstGeom prst="rect">
            <a:avLst/>
          </a:prstGeom>
          <a:noFill/>
          <a:ln w="25400" cap="flat" cmpd="sng">
            <a:noFill/>
            <a:prstDash val="solid"/>
            <a:round/>
          </a:ln>
        </p:spPr>
      </p:pic>
      <p:sp>
        <p:nvSpPr>
          <p:cNvPr id="3" name="AutoShape 3"/>
          <p:cNvSpPr/>
          <p:nvPr/>
        </p:nvSpPr>
        <p:spPr>
          <a:xfrm>
            <a:off x="5956300" y="2120900"/>
            <a:ext cx="304800" cy="20955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1023600" y="127000"/>
            <a:ext cx="965200" cy="965200"/>
          </a:xfrm>
          <a:prstGeom prst="roundRect">
            <a:avLst>
              <a:gd name="adj" fmla="val 17105"/>
            </a:avLst>
          </a:prstGeom>
          <a:noFill/>
          <a:ln w="25400" cap="flat" cmpd="sng">
            <a:noFill/>
            <a:prstDash val="solid"/>
            <a:round/>
          </a:ln>
        </p:spPr>
      </p:pic>
      <p:pic>
        <p:nvPicPr>
          <p:cNvPr id="5" name="Picture 5"/>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6" name="Freeform 6"/>
          <p:cNvSpPr/>
          <p:nvPr/>
        </p:nvSpPr>
        <p:spPr>
          <a:xfrm>
            <a:off x="0" y="3200400"/>
            <a:ext cx="12191365" cy="3660140"/>
          </a:xfrm>
          <a:custGeom>
            <a:avLst/>
            <a:gdLst/>
            <a:ahLst/>
            <a:cxnLst/>
            <a:rect l="l" t="t" r="r" b="b"/>
            <a:pathLst>
              <a:path w="12191365" h="3660140">
                <a:moveTo>
                  <a:pt x="0" y="0"/>
                </a:moveTo>
                <a:lnTo>
                  <a:pt x="0" y="3660140"/>
                </a:lnTo>
                <a:lnTo>
                  <a:pt x="12191365" y="3660140"/>
                </a:lnTo>
                <a:lnTo>
                  <a:pt x="12191365" y="0"/>
                </a:lnTo>
                <a:lnTo>
                  <a:pt x="0" y="0"/>
                </a:lnTo>
                <a:close/>
              </a:path>
            </a:pathLst>
          </a:custGeom>
          <a:solidFill>
            <a:srgbClr val="20386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89000" y="5524500"/>
            <a:ext cx="5791200" cy="508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3797300"/>
            <a:ext cx="406400" cy="406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srcRect/>
          <a:stretch>
            <a:fillRect/>
          </a:stretch>
        </p:blipFill>
        <p:spPr>
          <a:xfrm>
            <a:off x="0" y="3213100"/>
            <a:ext cx="7213600" cy="3644900"/>
          </a:xfrm>
          <a:prstGeom prst="rect">
            <a:avLst/>
          </a:prstGeom>
          <a:noFill/>
          <a:ln w="25400" cap="flat" cmpd="sng">
            <a:noFill/>
            <a:prstDash val="solid"/>
            <a:round/>
          </a:ln>
        </p:spPr>
      </p:pic>
      <p:sp>
        <p:nvSpPr>
          <p:cNvPr id="10" name="AutoShape 10"/>
          <p:cNvSpPr/>
          <p:nvPr/>
        </p:nvSpPr>
        <p:spPr>
          <a:xfrm>
            <a:off x="279400" y="1422400"/>
            <a:ext cx="11531600" cy="1498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6600" b="1" i="0" u="none" strike="noStrike">
                <a:ln w="12700">
                  <a:solidFill>
                    <a:srgbClr val="5D99D6">
                      <a:alpha val="100000"/>
                    </a:srgbClr>
                  </a:solidFill>
                </a:ln>
                <a:solidFill>
                  <a:srgbClr val="2F73B8"/>
                </a:solidFill>
                <a:effectLst>
                  <a:outerShdw blurRad="50800" dist="38100" dir="13500000" algn="tl" rotWithShape="0">
                    <a:srgbClr val="000000">
                      <a:alpha val="40000"/>
                    </a:srgbClr>
                  </a:outerShdw>
                </a:effectLst>
                <a:latin typeface="黑体" panose="02010609060101010101" charset="-122"/>
                <a:ea typeface="黑体" panose="02010609060101010101" charset="-122"/>
                <a:cs typeface="黑体" panose="02010609060101010101" charset="-122"/>
                <a:sym typeface="黑体" panose="02010609060101010101" charset="-122"/>
              </a:rPr>
              <a:t>原理创新突破 赋能医疗健康</a:t>
            </a:r>
            <a:endParaRPr lang="en-US" sz="1100"/>
          </a:p>
        </p:txBody>
      </p:sp>
      <p:pic>
        <p:nvPicPr>
          <p:cNvPr id="11" name="Picture 11"/>
          <p:cNvPicPr>
            <a:picLocks noChangeAspect="1"/>
          </p:cNvPicPr>
          <p:nvPr/>
        </p:nvPicPr>
        <p:blipFill>
          <a:blip r:embed="rId5"/>
          <a:srcRect/>
          <a:stretch>
            <a:fillRect/>
          </a:stretch>
        </p:blipFill>
        <p:spPr>
          <a:xfrm>
            <a:off x="8331200" y="3568700"/>
            <a:ext cx="2895600" cy="2895600"/>
          </a:xfrm>
          <a:prstGeom prst="rect">
            <a:avLst/>
          </a:prstGeom>
          <a:noFill/>
          <a:ln w="25400" cap="flat" cmpd="sng">
            <a:noFill/>
            <a:prstDash val="solid"/>
            <a:round/>
          </a:ln>
        </p:spPr>
      </p:pic>
      <p:sp>
        <p:nvSpPr>
          <p:cNvPr id="12" name="AutoShape 12"/>
          <p:cNvSpPr/>
          <p:nvPr/>
        </p:nvSpPr>
        <p:spPr>
          <a:xfrm>
            <a:off x="889000" y="4572000"/>
            <a:ext cx="6604000" cy="1016000"/>
          </a:xfrm>
          <a:prstGeom prst="roundRect">
            <a:avLst>
              <a:gd name="adj" fmla="val 0"/>
            </a:avLst>
          </a:prstGeom>
          <a:noFill/>
          <a:ln w="25400" cap="flat" cmpd="sng">
            <a:noFill/>
            <a:prstDash val="solid"/>
            <a:round/>
          </a:ln>
        </p:spPr>
        <p:txBody>
          <a:bodyPr vert="horz" wrap="square" lIns="63500" tIns="127000" rIns="63500" bIns="63500" rtlCol="0" anchor="t" anchorCtr="0"/>
          <a:lstStyle/>
          <a:p>
            <a:pPr marL="0" indent="0" algn="l">
              <a:lnSpc>
                <a:spcPct val="125000"/>
              </a:lnSpc>
              <a:defRPr/>
            </a:pPr>
            <a:r>
              <a:rPr lang="en-US" sz="2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 期待合作</a:t>
            </a:r>
            <a:endParaRPr lang="en-US" sz="1100"/>
          </a:p>
          <a:p>
            <a:pPr marL="0" indent="0" algn="l">
              <a:lnSpc>
                <a:spcPct val="108000"/>
              </a:lnSpc>
            </a:pPr>
            <a:r>
              <a:rPr lang="en-US" sz="1400" b="0" i="0" u="none" strike="noStrike">
                <a:solidFill>
                  <a:srgbClr val="E6E6E6">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我们坚信，源于原理创新的技术将为医疗健康领域带来真正的价值，诚邀您进一步交流探讨，共绘未来蓝图。</a:t>
            </a:r>
            <a:endParaRPr lang="en-US" sz="1400" b="0" i="0" u="none" strike="noStrike">
              <a:solidFill>
                <a:srgbClr val="E6E6E6">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3" name="Picture 13"/>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buntu/.openclaw/workspace/image3.png"/>
          <p:cNvPicPr>
            <a:picLocks noChangeAspect="1"/>
          </p:cNvPicPr>
          <p:nvPr/>
        </p:nvPicPr>
        <p:blipFill>
          <a:blip r:embed="rId1"/>
          <a:stretch>
            <a:fillRect/>
          </a:stretch>
        </p:blipFill>
        <p:spPr>
          <a:xfrm>
            <a:off x="254203" y="927202"/>
            <a:ext cx="10533888" cy="88697"/>
          </a:xfrm>
          <a:prstGeom prst="rect">
            <a:avLst/>
          </a:prstGeom>
        </p:spPr>
      </p:pic>
      <p:pic>
        <p:nvPicPr>
          <p:cNvPr id="3" name="Image 1" descr="/home/ubuntu/.openclaw/workspace/image4.png"/>
          <p:cNvPicPr>
            <a:picLocks noChangeAspect="1"/>
          </p:cNvPicPr>
          <p:nvPr/>
        </p:nvPicPr>
        <p:blipFill>
          <a:blip r:embed="rId2"/>
          <a:stretch>
            <a:fillRect/>
          </a:stretch>
        </p:blipFill>
        <p:spPr>
          <a:xfrm>
            <a:off x="11018520" y="127102"/>
            <a:ext cx="964692" cy="964692"/>
          </a:xfrm>
          <a:prstGeom prst="rect">
            <a:avLst/>
          </a:prstGeom>
        </p:spPr>
      </p:pic>
      <p:sp>
        <p:nvSpPr>
          <p:cNvPr id="5" name="Text 1"/>
          <p:cNvSpPr/>
          <p:nvPr/>
        </p:nvSpPr>
        <p:spPr>
          <a:xfrm>
            <a:off x="566928" y="196088"/>
            <a:ext cx="5303520" cy="347472"/>
          </a:xfrm>
          <a:prstGeom prst="rect">
            <a:avLst/>
          </a:prstGeom>
          <a:noFill/>
          <a:ln w="12700" cap="flat" cmpd="sng">
            <a:noFill/>
            <a:prstDash val="solid"/>
            <a:round/>
          </a:ln>
        </p:spPr>
        <p:txBody>
          <a:bodyPr vert="horz" wrap="square" lIns="88900" tIns="50800" rIns="88900" bIns="50800" rtlCol="0" anchor="t" anchorCtr="0">
            <a:noAutofit/>
          </a:bodyPr>
          <a:lstStyle/>
          <a:p>
            <a:pPr lvl="0" algn="l">
              <a:buSzTx/>
              <a:defRPr/>
            </a:pPr>
            <a:r>
              <a:rPr lang="zh-CN" altLang="en-US" sz="3600" b="1">
                <a:solidFill>
                  <a:srgbClr val="0000FF"/>
                </a:solidFill>
                <a:latin typeface="微软雅黑" panose="020B0503020204020204" charset="-122"/>
                <a:ea typeface="微软雅黑" panose="020B0503020204020204" charset="-122"/>
                <a:cs typeface="微软雅黑" panose="020B0503020204020204" charset="-122"/>
                <a:sym typeface="+mn-ea"/>
              </a:rPr>
              <a:t>总</a:t>
            </a:r>
            <a:r>
              <a:rPr lang="en-US" sz="3600" b="1">
                <a:solidFill>
                  <a:srgbClr val="0000FF"/>
                </a:solidFill>
                <a:latin typeface="微软雅黑" panose="020B0503020204020204" charset="-122"/>
                <a:ea typeface="微软雅黑" panose="020B0503020204020204" charset="-122"/>
                <a:cs typeface="微软雅黑" panose="020B0503020204020204" charset="-122"/>
                <a:sym typeface="+mn-ea"/>
              </a:rPr>
              <a:t>结</a:t>
            </a:r>
            <a:endParaRPr lang="en-US" sz="3600" b="1">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6" name="Shape 2"/>
          <p:cNvSpPr/>
          <p:nvPr>
            <p:custDataLst>
              <p:tags r:id="rId3"/>
            </p:custDataLst>
          </p:nvPr>
        </p:nvSpPr>
        <p:spPr>
          <a:xfrm>
            <a:off x="776478" y="2291080"/>
            <a:ext cx="2514600" cy="1783080"/>
          </a:xfrm>
          <a:prstGeom prst="roundRect">
            <a:avLst>
              <a:gd name="adj" fmla="val 2051"/>
            </a:avLst>
          </a:prstGeom>
          <a:solidFill>
            <a:srgbClr val="F6F9FF"/>
          </a:solidFill>
          <a:ln w="12700">
            <a:solidFill>
              <a:srgbClr val="D9E2F3"/>
            </a:solidFill>
            <a:prstDash val="solid"/>
          </a:ln>
        </p:spPr>
      </p:sp>
      <p:sp>
        <p:nvSpPr>
          <p:cNvPr id="7" name="Text 3"/>
          <p:cNvSpPr/>
          <p:nvPr>
            <p:custDataLst>
              <p:tags r:id="rId4"/>
            </p:custDataLst>
          </p:nvPr>
        </p:nvSpPr>
        <p:spPr>
          <a:xfrm>
            <a:off x="941070" y="2473960"/>
            <a:ext cx="1097280" cy="201168"/>
          </a:xfrm>
          <a:prstGeom prst="rect">
            <a:avLst/>
          </a:prstGeom>
          <a:noFill/>
        </p:spPr>
        <p:txBody>
          <a:bodyPr wrap="square" rtlCol="0" anchor="ctr"/>
          <a:lstStyle/>
          <a:p>
            <a:pPr marL="0" indent="0">
              <a:buNone/>
            </a:pPr>
            <a:r>
              <a:rPr lang="en-US" sz="1800" b="1" dirty="0">
                <a:solidFill>
                  <a:srgbClr val="163A63"/>
                </a:solidFill>
                <a:latin typeface="微软雅黑" panose="020B0503020204020204" charset="-122"/>
                <a:ea typeface="微软雅黑" panose="020B0503020204020204" charset="-122"/>
                <a:cs typeface="微软雅黑" panose="020B0503020204020204" pitchFamily="34" charset="-120"/>
              </a:rPr>
              <a:t>资金支持</a:t>
            </a:r>
            <a:endParaRPr lang="en-US" sz="1800" b="1" dirty="0">
              <a:solidFill>
                <a:srgbClr val="163A63"/>
              </a:solidFill>
              <a:latin typeface="微软雅黑" panose="020B0503020204020204" charset="-122"/>
              <a:ea typeface="微软雅黑" panose="020B0503020204020204" charset="-122"/>
              <a:cs typeface="微软雅黑" panose="020B0503020204020204" pitchFamily="34" charset="-120"/>
            </a:endParaRPr>
          </a:p>
        </p:txBody>
      </p:sp>
      <p:sp>
        <p:nvSpPr>
          <p:cNvPr id="8" name="Text 4"/>
          <p:cNvSpPr/>
          <p:nvPr>
            <p:custDataLst>
              <p:tags r:id="rId5"/>
            </p:custDataLst>
          </p:nvPr>
        </p:nvSpPr>
        <p:spPr>
          <a:xfrm>
            <a:off x="941070" y="2821432"/>
            <a:ext cx="2221992" cy="960120"/>
          </a:xfrm>
          <a:prstGeom prst="rect">
            <a:avLst/>
          </a:prstGeom>
          <a:noFill/>
        </p:spPr>
        <p:txBody>
          <a:bodyPr wrap="square" rtlCol="0" anchor="ctr"/>
          <a:lstStyle/>
          <a:p>
            <a:pPr marL="0" indent="0">
              <a:buNone/>
            </a:pPr>
            <a:r>
              <a:rPr lang="en-US" sz="1430" dirty="0">
                <a:solidFill>
                  <a:srgbClr val="1F2937"/>
                </a:solidFill>
                <a:latin typeface="微软雅黑" panose="020B0503020204020204" charset="-122"/>
                <a:ea typeface="微软雅黑" panose="020B0503020204020204" charset="-122"/>
                <a:cs typeface="微软雅黑" panose="020B0503020204020204" pitchFamily="34" charset="-120"/>
              </a:rPr>
              <a:t>保障技术优化、样机开发、实验验证和注册准备等关键环节投入。</a:t>
            </a:r>
            <a:endParaRPr lang="en-US" sz="1430" dirty="0">
              <a:solidFill>
                <a:srgbClr val="1F2937"/>
              </a:solidFill>
              <a:latin typeface="微软雅黑" panose="020B0503020204020204" charset="-122"/>
              <a:ea typeface="微软雅黑" panose="020B0503020204020204" charset="-122"/>
              <a:cs typeface="微软雅黑" panose="020B0503020204020204" pitchFamily="34" charset="-120"/>
            </a:endParaRPr>
          </a:p>
        </p:txBody>
      </p:sp>
      <p:sp>
        <p:nvSpPr>
          <p:cNvPr id="9" name="Shape 5"/>
          <p:cNvSpPr/>
          <p:nvPr>
            <p:custDataLst>
              <p:tags r:id="rId6"/>
            </p:custDataLst>
          </p:nvPr>
        </p:nvSpPr>
        <p:spPr>
          <a:xfrm>
            <a:off x="3519678" y="2291080"/>
            <a:ext cx="2514600" cy="1783080"/>
          </a:xfrm>
          <a:prstGeom prst="roundRect">
            <a:avLst>
              <a:gd name="adj" fmla="val 2051"/>
            </a:avLst>
          </a:prstGeom>
          <a:solidFill>
            <a:srgbClr val="F1F8EC"/>
          </a:solidFill>
          <a:ln w="12700">
            <a:solidFill>
              <a:srgbClr val="CFE6BF"/>
            </a:solidFill>
            <a:prstDash val="solid"/>
          </a:ln>
        </p:spPr>
      </p:sp>
      <p:sp>
        <p:nvSpPr>
          <p:cNvPr id="10" name="Text 6"/>
          <p:cNvSpPr/>
          <p:nvPr>
            <p:custDataLst>
              <p:tags r:id="rId7"/>
            </p:custDataLst>
          </p:nvPr>
        </p:nvSpPr>
        <p:spPr>
          <a:xfrm>
            <a:off x="3684270" y="2473960"/>
            <a:ext cx="1097280" cy="201168"/>
          </a:xfrm>
          <a:prstGeom prst="rect">
            <a:avLst/>
          </a:prstGeom>
          <a:noFill/>
        </p:spPr>
        <p:txBody>
          <a:bodyPr wrap="square" rtlCol="0" anchor="ctr"/>
          <a:lstStyle/>
          <a:p>
            <a:pPr marL="0" indent="0">
              <a:buNone/>
            </a:pPr>
            <a:r>
              <a:rPr lang="en-US" sz="1800" b="1" dirty="0">
                <a:solidFill>
                  <a:srgbClr val="70AD47"/>
                </a:solidFill>
                <a:latin typeface="微软雅黑" panose="020B0503020204020204" charset="-122"/>
                <a:ea typeface="微软雅黑" panose="020B0503020204020204" charset="-122"/>
                <a:cs typeface="微软雅黑" panose="020B0503020204020204" pitchFamily="34" charset="-120"/>
              </a:rPr>
              <a:t>平台支持</a:t>
            </a:r>
            <a:endParaRPr lang="en-US" sz="1800" b="1" dirty="0">
              <a:solidFill>
                <a:srgbClr val="70AD47"/>
              </a:solidFill>
              <a:latin typeface="微软雅黑" panose="020B0503020204020204" charset="-122"/>
              <a:ea typeface="微软雅黑" panose="020B0503020204020204" charset="-122"/>
              <a:cs typeface="微软雅黑" panose="020B0503020204020204" pitchFamily="34" charset="-120"/>
            </a:endParaRPr>
          </a:p>
        </p:txBody>
      </p:sp>
      <p:sp>
        <p:nvSpPr>
          <p:cNvPr id="11" name="Text 7"/>
          <p:cNvSpPr/>
          <p:nvPr>
            <p:custDataLst>
              <p:tags r:id="rId8"/>
            </p:custDataLst>
          </p:nvPr>
        </p:nvSpPr>
        <p:spPr>
          <a:xfrm>
            <a:off x="3684270" y="2821432"/>
            <a:ext cx="2221992" cy="960120"/>
          </a:xfrm>
          <a:prstGeom prst="rect">
            <a:avLst/>
          </a:prstGeom>
          <a:noFill/>
        </p:spPr>
        <p:txBody>
          <a:bodyPr wrap="square" rtlCol="0" anchor="ctr"/>
          <a:lstStyle/>
          <a:p>
            <a:pPr marL="0" indent="0">
              <a:buNone/>
            </a:pPr>
            <a:r>
              <a:rPr lang="en-US" sz="1430" dirty="0">
                <a:solidFill>
                  <a:srgbClr val="1F2937"/>
                </a:solidFill>
                <a:latin typeface="微软雅黑" panose="020B0503020204020204" charset="-122"/>
                <a:ea typeface="微软雅黑" panose="020B0503020204020204" charset="-122"/>
                <a:cs typeface="微软雅黑" panose="020B0503020204020204" pitchFamily="34" charset="-120"/>
              </a:rPr>
              <a:t>提供测试平台、动物实验平台、医工交叉协作平台和示范应用场景。</a:t>
            </a:r>
            <a:endParaRPr lang="en-US" sz="1430" dirty="0">
              <a:solidFill>
                <a:srgbClr val="1F2937"/>
              </a:solidFill>
              <a:latin typeface="微软雅黑" panose="020B0503020204020204" charset="-122"/>
              <a:ea typeface="微软雅黑" panose="020B0503020204020204" charset="-122"/>
              <a:cs typeface="微软雅黑" panose="020B0503020204020204" pitchFamily="34" charset="-120"/>
            </a:endParaRPr>
          </a:p>
        </p:txBody>
      </p:sp>
      <p:sp>
        <p:nvSpPr>
          <p:cNvPr id="12" name="Shape 8"/>
          <p:cNvSpPr/>
          <p:nvPr>
            <p:custDataLst>
              <p:tags r:id="rId9"/>
            </p:custDataLst>
          </p:nvPr>
        </p:nvSpPr>
        <p:spPr>
          <a:xfrm>
            <a:off x="6196203" y="2291080"/>
            <a:ext cx="2514600" cy="1783080"/>
          </a:xfrm>
          <a:prstGeom prst="roundRect">
            <a:avLst>
              <a:gd name="adj" fmla="val 2051"/>
            </a:avLst>
          </a:prstGeom>
          <a:solidFill>
            <a:srgbClr val="FFF6EE"/>
          </a:solidFill>
          <a:ln w="12700">
            <a:solidFill>
              <a:srgbClr val="F2D4BE"/>
            </a:solidFill>
            <a:prstDash val="solid"/>
          </a:ln>
        </p:spPr>
      </p:sp>
      <p:sp>
        <p:nvSpPr>
          <p:cNvPr id="13" name="Text 9"/>
          <p:cNvSpPr/>
          <p:nvPr>
            <p:custDataLst>
              <p:tags r:id="rId10"/>
            </p:custDataLst>
          </p:nvPr>
        </p:nvSpPr>
        <p:spPr>
          <a:xfrm>
            <a:off x="6427470" y="2473960"/>
            <a:ext cx="1097280" cy="201168"/>
          </a:xfrm>
          <a:prstGeom prst="rect">
            <a:avLst/>
          </a:prstGeom>
          <a:noFill/>
        </p:spPr>
        <p:txBody>
          <a:bodyPr wrap="square" rtlCol="0" anchor="ctr"/>
          <a:lstStyle/>
          <a:p>
            <a:pPr marL="0" indent="0">
              <a:buNone/>
            </a:pPr>
            <a:r>
              <a:rPr lang="en-US" sz="1800" b="1" dirty="0">
                <a:solidFill>
                  <a:srgbClr val="ED7D31"/>
                </a:solidFill>
                <a:latin typeface="微软雅黑" panose="020B0503020204020204" charset="-122"/>
                <a:ea typeface="微软雅黑" panose="020B0503020204020204" charset="-122"/>
                <a:cs typeface="微软雅黑" panose="020B0503020204020204" pitchFamily="34" charset="-120"/>
              </a:rPr>
              <a:t>临床支持</a:t>
            </a:r>
            <a:endParaRPr lang="en-US" sz="1800" b="1" dirty="0">
              <a:solidFill>
                <a:srgbClr val="ED7D31"/>
              </a:solidFill>
              <a:latin typeface="微软雅黑" panose="020B0503020204020204" charset="-122"/>
              <a:ea typeface="微软雅黑" panose="020B0503020204020204" charset="-122"/>
              <a:cs typeface="微软雅黑" panose="020B0503020204020204" pitchFamily="34" charset="-120"/>
            </a:endParaRPr>
          </a:p>
        </p:txBody>
      </p:sp>
      <p:sp>
        <p:nvSpPr>
          <p:cNvPr id="14" name="Text 10"/>
          <p:cNvSpPr/>
          <p:nvPr>
            <p:custDataLst>
              <p:tags r:id="rId11"/>
            </p:custDataLst>
          </p:nvPr>
        </p:nvSpPr>
        <p:spPr>
          <a:xfrm>
            <a:off x="6427470" y="2821432"/>
            <a:ext cx="2221992" cy="960120"/>
          </a:xfrm>
          <a:prstGeom prst="rect">
            <a:avLst/>
          </a:prstGeom>
          <a:noFill/>
        </p:spPr>
        <p:txBody>
          <a:bodyPr wrap="square" rtlCol="0" anchor="ctr"/>
          <a:lstStyle/>
          <a:p>
            <a:pPr marL="0" indent="0">
              <a:buNone/>
            </a:pPr>
            <a:r>
              <a:rPr lang="en-US" sz="1430" dirty="0">
                <a:solidFill>
                  <a:srgbClr val="1F2937"/>
                </a:solidFill>
                <a:latin typeface="微软雅黑" panose="020B0503020204020204" charset="-122"/>
                <a:ea typeface="微软雅黑" panose="020B0503020204020204" charset="-122"/>
                <a:cs typeface="微软雅黑" panose="020B0503020204020204" charset="-122"/>
              </a:rPr>
              <a:t>对接重点医院、核心科室和PI团队，提升临床研究与验证效率。</a:t>
            </a:r>
            <a:endParaRPr lang="en-US" sz="1430" dirty="0">
              <a:solidFill>
                <a:srgbClr val="1F2937"/>
              </a:solidFill>
              <a:latin typeface="微软雅黑" panose="020B0503020204020204" charset="-122"/>
              <a:ea typeface="微软雅黑" panose="020B0503020204020204" charset="-122"/>
              <a:cs typeface="微软雅黑" panose="020B0503020204020204" charset="-122"/>
            </a:endParaRPr>
          </a:p>
        </p:txBody>
      </p:sp>
      <p:sp>
        <p:nvSpPr>
          <p:cNvPr id="15" name="Shape 11"/>
          <p:cNvSpPr/>
          <p:nvPr/>
        </p:nvSpPr>
        <p:spPr>
          <a:xfrm>
            <a:off x="8947785" y="2291080"/>
            <a:ext cx="2160905" cy="1783080"/>
          </a:xfrm>
          <a:prstGeom prst="roundRect">
            <a:avLst>
              <a:gd name="adj" fmla="val 2051"/>
            </a:avLst>
          </a:prstGeom>
          <a:solidFill>
            <a:srgbClr val="F7F8FA"/>
          </a:solidFill>
          <a:ln w="12700">
            <a:solidFill>
              <a:srgbClr val="D9E2F3"/>
            </a:solidFill>
            <a:prstDash val="solid"/>
          </a:ln>
        </p:spPr>
      </p:sp>
      <p:sp>
        <p:nvSpPr>
          <p:cNvPr id="16" name="Text 12"/>
          <p:cNvSpPr/>
          <p:nvPr/>
        </p:nvSpPr>
        <p:spPr>
          <a:xfrm>
            <a:off x="9152255" y="2395855"/>
            <a:ext cx="1097280" cy="201168"/>
          </a:xfrm>
          <a:prstGeom prst="rect">
            <a:avLst/>
          </a:prstGeom>
          <a:noFill/>
        </p:spPr>
        <p:txBody>
          <a:bodyPr wrap="square" rtlCol="0" anchor="ctr"/>
          <a:lstStyle/>
          <a:p>
            <a:pPr marL="0" indent="0">
              <a:buNone/>
            </a:pPr>
            <a:r>
              <a:rPr lang="en-US" sz="1800" b="1" dirty="0">
                <a:solidFill>
                  <a:srgbClr val="4472C4"/>
                </a:solidFill>
                <a:latin typeface="微软雅黑" panose="020B0503020204020204" charset="-122"/>
                <a:ea typeface="微软雅黑" panose="020B0503020204020204" charset="-122"/>
                <a:cs typeface="微软雅黑" panose="020B0503020204020204" pitchFamily="34" charset="-120"/>
              </a:rPr>
              <a:t>产业支持</a:t>
            </a:r>
            <a:endParaRPr lang="en-US" sz="1800" b="1" dirty="0">
              <a:solidFill>
                <a:srgbClr val="4472C4"/>
              </a:solidFill>
              <a:latin typeface="微软雅黑" panose="020B0503020204020204" charset="-122"/>
              <a:ea typeface="微软雅黑" panose="020B0503020204020204" charset="-122"/>
              <a:cs typeface="微软雅黑" panose="020B0503020204020204" pitchFamily="34" charset="-120"/>
            </a:endParaRPr>
          </a:p>
        </p:txBody>
      </p:sp>
      <p:sp>
        <p:nvSpPr>
          <p:cNvPr id="17" name="Text 13"/>
          <p:cNvSpPr/>
          <p:nvPr/>
        </p:nvSpPr>
        <p:spPr>
          <a:xfrm>
            <a:off x="9152255" y="2821432"/>
            <a:ext cx="1627632" cy="960120"/>
          </a:xfrm>
          <a:prstGeom prst="rect">
            <a:avLst/>
          </a:prstGeom>
          <a:noFill/>
        </p:spPr>
        <p:txBody>
          <a:bodyPr wrap="square" rtlCol="0" anchor="ctr"/>
          <a:lstStyle/>
          <a:p>
            <a:pPr marL="0" indent="0">
              <a:buNone/>
            </a:pPr>
            <a:r>
              <a:rPr lang="en-US" sz="1430" dirty="0">
                <a:solidFill>
                  <a:srgbClr val="1F2937"/>
                </a:solidFill>
                <a:latin typeface="微软雅黑" panose="020B0503020204020204" charset="-122"/>
                <a:ea typeface="微软雅黑" panose="020B0503020204020204" charset="-122"/>
                <a:cs typeface="微软雅黑" panose="020B0503020204020204" pitchFamily="34" charset="-120"/>
              </a:rPr>
              <a:t>引入产业合作方，推进制造转化、供应链和质量体系建设。</a:t>
            </a:r>
            <a:endParaRPr lang="en-US" sz="1430" dirty="0">
              <a:solidFill>
                <a:srgbClr val="1F2937"/>
              </a:solidFill>
              <a:latin typeface="微软雅黑" panose="020B0503020204020204" charset="-122"/>
              <a:ea typeface="微软雅黑" panose="020B0503020204020204" charset="-122"/>
              <a:cs typeface="微软雅黑" panose="020B0503020204020204" pitchFamily="34" charset="-120"/>
            </a:endParaRPr>
          </a:p>
        </p:txBody>
      </p:sp>
      <p:sp>
        <p:nvSpPr>
          <p:cNvPr id="21" name="Shape 17"/>
          <p:cNvSpPr/>
          <p:nvPr/>
        </p:nvSpPr>
        <p:spPr>
          <a:xfrm>
            <a:off x="749935" y="5082540"/>
            <a:ext cx="10149840" cy="1076960"/>
          </a:xfrm>
          <a:prstGeom prst="roundRect">
            <a:avLst>
              <a:gd name="adj" fmla="val 3200"/>
            </a:avLst>
          </a:prstGeom>
          <a:solidFill>
            <a:srgbClr val="F6F9FF"/>
          </a:solidFill>
          <a:ln w="12700">
            <a:solidFill>
              <a:srgbClr val="D9E2F3"/>
            </a:solidFill>
            <a:prstDash val="solid"/>
          </a:ln>
        </p:spPr>
      </p:sp>
      <p:sp>
        <p:nvSpPr>
          <p:cNvPr id="22" name="Text 18"/>
          <p:cNvSpPr/>
          <p:nvPr/>
        </p:nvSpPr>
        <p:spPr>
          <a:xfrm>
            <a:off x="987552" y="5586476"/>
            <a:ext cx="1188720" cy="201168"/>
          </a:xfrm>
          <a:prstGeom prst="rect">
            <a:avLst/>
          </a:prstGeom>
          <a:noFill/>
        </p:spPr>
        <p:txBody>
          <a:bodyPr wrap="square" rtlCol="0" anchor="ctr"/>
          <a:lstStyle/>
          <a:p>
            <a:pPr marL="0" indent="0">
              <a:buNone/>
            </a:pPr>
            <a:r>
              <a:rPr lang="en-US" sz="1800" b="1" dirty="0">
                <a:solidFill>
                  <a:srgbClr val="163A63"/>
                </a:solidFill>
                <a:latin typeface="微软雅黑" panose="020B0503020204020204" charset="-122"/>
                <a:ea typeface="微软雅黑" panose="020B0503020204020204" charset="-122"/>
              </a:rPr>
              <a:t>预期成效</a:t>
            </a:r>
            <a:endParaRPr lang="en-US" sz="1800" b="1" dirty="0">
              <a:solidFill>
                <a:srgbClr val="163A63"/>
              </a:solidFill>
              <a:latin typeface="微软雅黑" panose="020B0503020204020204" charset="-122"/>
              <a:ea typeface="微软雅黑" panose="020B0503020204020204" charset="-122"/>
            </a:endParaRPr>
          </a:p>
        </p:txBody>
      </p:sp>
      <p:sp>
        <p:nvSpPr>
          <p:cNvPr id="23" name="Text 19"/>
          <p:cNvSpPr/>
          <p:nvPr/>
        </p:nvSpPr>
        <p:spPr>
          <a:xfrm>
            <a:off x="2184400" y="5375910"/>
            <a:ext cx="8595360" cy="596900"/>
          </a:xfrm>
          <a:prstGeom prst="rect">
            <a:avLst/>
          </a:prstGeom>
          <a:noFill/>
        </p:spPr>
        <p:txBody>
          <a:bodyPr wrap="square" rtlCol="0" anchor="ctr"/>
          <a:lstStyle/>
          <a:p>
            <a:pPr marL="0" indent="0">
              <a:lnSpc>
                <a:spcPct val="150000"/>
              </a:lnSpc>
              <a:buNone/>
            </a:pPr>
            <a:r>
              <a:rPr lang="en-US" sz="1540" dirty="0">
                <a:solidFill>
                  <a:srgbClr val="1F2937"/>
                </a:solidFill>
                <a:latin typeface="微软雅黑" panose="020B0503020204020204" charset="-122"/>
                <a:ea typeface="微软雅黑" panose="020B0503020204020204" charset="-122"/>
              </a:rPr>
              <a:t>加快形成临床前核心证据和工程化成果，提高成果转化效率和注册推进成功率，推动项目尽快形成示范性产品与产业化合作基础。</a:t>
            </a:r>
            <a:endParaRPr lang="en-US" sz="1540" dirty="0">
              <a:solidFill>
                <a:srgbClr val="1F2937"/>
              </a:solidFill>
              <a:latin typeface="微软雅黑" panose="020B0503020204020204" charset="-122"/>
              <a:ea typeface="微软雅黑" panose="020B0503020204020204" charset="-122"/>
            </a:endParaRPr>
          </a:p>
        </p:txBody>
      </p:sp>
      <p:sp>
        <p:nvSpPr>
          <p:cNvPr id="24" name="下箭头 23"/>
          <p:cNvSpPr/>
          <p:nvPr/>
        </p:nvSpPr>
        <p:spPr>
          <a:xfrm>
            <a:off x="5427345" y="4140835"/>
            <a:ext cx="607695" cy="875665"/>
          </a:xfrm>
          <a:prstGeom prst="downArrow">
            <a:avLst/>
          </a:prstGeom>
          <a:solidFill>
            <a:schemeClr val="accent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25" name="Text 20"/>
          <p:cNvSpPr/>
          <p:nvPr/>
        </p:nvSpPr>
        <p:spPr>
          <a:xfrm>
            <a:off x="530225" y="1421765"/>
            <a:ext cx="10241280" cy="377190"/>
          </a:xfrm>
          <a:prstGeom prst="rect">
            <a:avLst/>
          </a:prstGeom>
          <a:noFill/>
        </p:spPr>
        <p:txBody>
          <a:bodyPr wrap="square" rtlCol="0" anchor="ctr"/>
          <a:lstStyle/>
          <a:p>
            <a:pPr marL="0" indent="0">
              <a:buNone/>
            </a:pPr>
            <a:r>
              <a:rPr lang="en-US" sz="2800" b="1" dirty="0">
                <a:solidFill>
                  <a:srgbClr val="5B6573"/>
                </a:solidFill>
                <a:latin typeface="微软雅黑" panose="020B0503020204020204" charset="-122"/>
                <a:ea typeface="微软雅黑" panose="020B0503020204020204" charset="-122"/>
              </a:rPr>
              <a:t>当前项目已具备良好成果转化基础，下一阶段关键在于工程化验证、临床前证据积累与资源协同。</a:t>
            </a:r>
            <a:endParaRPr lang="en-US" sz="2800" b="1" dirty="0">
              <a:solidFill>
                <a:srgbClr val="5B6573"/>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DIAGRAM_VIRTUALLY_FRAME" val="{&quot;height&quot;:282.1499725122108,&quot;left&quot;:50,&quot;top&quot;:220.0000274877892,&quot;width&quot;:610}"/>
</p:tagLst>
</file>

<file path=ppt/tags/tag21.xml><?xml version="1.0" encoding="utf-8"?>
<p:tagLst xmlns:p="http://schemas.openxmlformats.org/presentationml/2006/main">
  <p:tag name="KSO_WM_DIAGRAM_VIRTUALLY_FRAME" val="{&quot;height&quot;:282.1499725122108,&quot;left&quot;:50,&quot;top&quot;:220.0000274877892,&quot;width&quot;:610}"/>
</p:tagLst>
</file>

<file path=ppt/tags/tag22.xml><?xml version="1.0" encoding="utf-8"?>
<p:tagLst xmlns:p="http://schemas.openxmlformats.org/presentationml/2006/main">
  <p:tag name="KSO_WM_DIAGRAM_VIRTUALLY_FRAME" val="{&quot;height&quot;:282.1499725122108,&quot;left&quot;:50,&quot;top&quot;:220.0000274877892,&quot;width&quot;:610}"/>
</p:tagLst>
</file>

<file path=ppt/tags/tag23.xml><?xml version="1.0" encoding="utf-8"?>
<p:tagLst xmlns:p="http://schemas.openxmlformats.org/presentationml/2006/main">
  <p:tag name="KSO_WM_DIAGRAM_VIRTUALLY_FRAME" val="{&quot;height&quot;:282.1499725122108,&quot;left&quot;:50,&quot;top&quot;:220.0000274877892,&quot;width&quot;:610}"/>
</p:tagLst>
</file>

<file path=ppt/tags/tag24.xml><?xml version="1.0" encoding="utf-8"?>
<p:tagLst xmlns:p="http://schemas.openxmlformats.org/presentationml/2006/main">
  <p:tag name="KSO_WM_DIAGRAM_VIRTUALLY_FRAME" val="{&quot;height&quot;:282.1499725122108,&quot;left&quot;:50,&quot;top&quot;:220.0000274877892,&quot;width&quot;:610}"/>
</p:tagLst>
</file>

<file path=ppt/tags/tag25.xml><?xml version="1.0" encoding="utf-8"?>
<p:tagLst xmlns:p="http://schemas.openxmlformats.org/presentationml/2006/main">
  <p:tag name="KSO_WM_DIAGRAM_VIRTUALLY_FRAME" val="{&quot;height&quot;:282.1499725122108,&quot;left&quot;:50,&quot;top&quot;:220.0000274877892,&quot;width&quot;:610}"/>
</p:tagLst>
</file>

<file path=ppt/tags/tag26.xml><?xml version="1.0" encoding="utf-8"?>
<p:tagLst xmlns:p="http://schemas.openxmlformats.org/presentationml/2006/main">
  <p:tag name="KSO_WM_DIAGRAM_VIRTUALLY_FRAME" val="{&quot;height&quot;:282.1499725122108,&quot;left&quot;:50,&quot;top&quot;:220.0000274877892,&quot;width&quot;:610}"/>
</p:tagLst>
</file>

<file path=ppt/tags/tag27.xml><?xml version="1.0" encoding="utf-8"?>
<p:tagLst xmlns:p="http://schemas.openxmlformats.org/presentationml/2006/main">
  <p:tag name="KSO_WM_DIAGRAM_VIRTUALLY_FRAME" val="{&quot;height&quot;:282.1499725122108,&quot;left&quot;:50,&quot;top&quot;:220.0000274877892,&quot;width&quot;:610}"/>
</p:tagLst>
</file>

<file path=ppt/tags/tag28.xml><?xml version="1.0" encoding="utf-8"?>
<p:tagLst xmlns:p="http://schemas.openxmlformats.org/presentationml/2006/main">
  <p:tag name="KSO_WM_DIAGRAM_VIRTUALLY_FRAME" val="{&quot;height&quot;:282.1499725122108,&quot;left&quot;:50,&quot;top&quot;:220.0000274877892,&quot;width&quot;:610}"/>
</p:tagLst>
</file>

<file path=ppt/tags/tag29.xml><?xml version="1.0" encoding="utf-8"?>
<p:tagLst xmlns:p="http://schemas.openxmlformats.org/presentationml/2006/main">
  <p:tag name="KSO_WM_DIAGRAM_VIRTUALLY_FRAME" val="{&quot;height&quot;:282.1499725122108,&quot;left&quot;:50,&quot;top&quot;:220.0000274877892,&quot;width&quot;:610}"/>
</p:tagLst>
</file>

<file path=ppt/tags/tag30.xml><?xml version="1.0" encoding="utf-8"?>
<p:tagLst xmlns:p="http://schemas.openxmlformats.org/presentationml/2006/main">
  <p:tag name="KSO_WM_DIAGRAM_VIRTUALLY_FRAME" val="{&quot;height&quot;:282.1499725122108,&quot;left&quot;:50,&quot;top&quot;:220.0000274877892,&quot;width&quot;:610}"/>
</p:tagLst>
</file>

<file path=ppt/tags/tag31.xml><?xml version="1.0" encoding="utf-8"?>
<p:tagLst xmlns:p="http://schemas.openxmlformats.org/presentationml/2006/main">
  <p:tag name="KSO_DOCER_RESOURCE_TRACE_INFO" val="{&quot;id&quot;:&quot;&quot;,&quot;origin&quot;:0,&quot;type&quot;:&quot;textbox&quot;,&quot;user&quot;:&quot;666427927&quot;}"/>
</p:tagLst>
</file>

<file path=ppt/tags/tag32.xml><?xml version="1.0" encoding="utf-8"?>
<p:tagLst xmlns:p="http://schemas.openxmlformats.org/presentationml/2006/main">
  <p:tag name="KSO_WM_DIAGRAM_VIRTUALLY_FRAME" val="{&quot;height&quot;:473.4,&quot;left&quot;:413.9,&quot;top&quot;:21.55,&quot;width&quot;:425.2}"/>
</p:tagLst>
</file>

<file path=ppt/tags/tag33.xml><?xml version="1.0" encoding="utf-8"?>
<p:tagLst xmlns:p="http://schemas.openxmlformats.org/presentationml/2006/main">
  <p:tag name="KSO_WM_DIAGRAM_VIRTUALLY_FRAME" val="{&quot;height&quot;:473.4,&quot;left&quot;:413.9,&quot;top&quot;:21.55,&quot;width&quot;:425.2}"/>
</p:tagLst>
</file>

<file path=ppt/tags/tag34.xml><?xml version="1.0" encoding="utf-8"?>
<p:tagLst xmlns:p="http://schemas.openxmlformats.org/presentationml/2006/main">
  <p:tag name="KSO_WM_DIAGRAM_VIRTUALLY_FRAME" val="{&quot;height&quot;:473.4,&quot;left&quot;:413.9,&quot;top&quot;:21.55,&quot;width&quot;:425.2}"/>
</p:tagLst>
</file>

<file path=ppt/tags/tag35.xml><?xml version="1.0" encoding="utf-8"?>
<p:tagLst xmlns:p="http://schemas.openxmlformats.org/presentationml/2006/main">
  <p:tag name="KSO_WM_DIAGRAM_VIRTUALLY_FRAME" val="{&quot;height&quot;:140.4,&quot;left&quot;:61.14,&quot;top&quot;:180.4,&quot;width&quot;:630}"/>
</p:tagLst>
</file>

<file path=ppt/tags/tag36.xml><?xml version="1.0" encoding="utf-8"?>
<p:tagLst xmlns:p="http://schemas.openxmlformats.org/presentationml/2006/main">
  <p:tag name="KSO_WM_DIAGRAM_VIRTUALLY_FRAME" val="{&quot;height&quot;:140.4,&quot;left&quot;:61.14,&quot;top&quot;:180.4,&quot;width&quot;:630}"/>
</p:tagLst>
</file>

<file path=ppt/tags/tag37.xml><?xml version="1.0" encoding="utf-8"?>
<p:tagLst xmlns:p="http://schemas.openxmlformats.org/presentationml/2006/main">
  <p:tag name="KSO_WM_DIAGRAM_VIRTUALLY_FRAME" val="{&quot;height&quot;:140.4,&quot;left&quot;:61.14,&quot;top&quot;:180.4,&quot;width&quot;:630}"/>
</p:tagLst>
</file>

<file path=ppt/tags/tag38.xml><?xml version="1.0" encoding="utf-8"?>
<p:tagLst xmlns:p="http://schemas.openxmlformats.org/presentationml/2006/main">
  <p:tag name="KSO_WM_DIAGRAM_VIRTUALLY_FRAME" val="{&quot;height&quot;:140.4,&quot;left&quot;:61.14,&quot;top&quot;:180.4,&quot;width&quot;:630}"/>
</p:tagLst>
</file>

<file path=ppt/tags/tag39.xml><?xml version="1.0" encoding="utf-8"?>
<p:tagLst xmlns:p="http://schemas.openxmlformats.org/presentationml/2006/main">
  <p:tag name="KSO_WM_DIAGRAM_VIRTUALLY_FRAME" val="{&quot;height&quot;:140.4,&quot;left&quot;:61.14,&quot;top&quot;:180.4,&quot;width&quot;:630}"/>
</p:tagLst>
</file>

<file path=ppt/tags/tag40.xml><?xml version="1.0" encoding="utf-8"?>
<p:tagLst xmlns:p="http://schemas.openxmlformats.org/presentationml/2006/main">
  <p:tag name="KSO_WM_DIAGRAM_VIRTUALLY_FRAME" val="{&quot;height&quot;:140.4,&quot;left&quot;:61.14,&quot;top&quot;:180.4,&quot;width&quot;:630}"/>
</p:tagLst>
</file>

<file path=ppt/tags/tag41.xml><?xml version="1.0" encoding="utf-8"?>
<p:tagLst xmlns:p="http://schemas.openxmlformats.org/presentationml/2006/main">
  <p:tag name="KSO_WM_DIAGRAM_VIRTUALLY_FRAME" val="{&quot;height&quot;:140.4,&quot;left&quot;:61.14,&quot;top&quot;:180.4,&quot;width&quot;:630}"/>
</p:tagLst>
</file>

<file path=ppt/tags/tag42.xml><?xml version="1.0" encoding="utf-8"?>
<p:tagLst xmlns:p="http://schemas.openxmlformats.org/presentationml/2006/main">
  <p:tag name="KSO_WM_DIAGRAM_VIRTUALLY_FRAME" val="{&quot;height&quot;:140.4,&quot;left&quot;:61.14,&quot;top&quot;:180.4,&quot;width&quot;:630}"/>
</p:tagLst>
</file>

<file path=ppt/tags/tag43.xml><?xml version="1.0" encoding="utf-8"?>
<p:tagLst xmlns:p="http://schemas.openxmlformats.org/presentationml/2006/main">
  <p:tag name="KSO_WM_DIAGRAM_VIRTUALLY_FRAME" val="{&quot;height&quot;:140.4,&quot;left&quot;:61.14,&quot;top&quot;:180.4,&quot;width&quot;:63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3949</Words>
  <Application>WPS 演示</Application>
  <PresentationFormat/>
  <Paragraphs>356</Paragraphs>
  <Slides>19</Slides>
  <Notes>0</Notes>
  <HiddenSlides>0</HiddenSlides>
  <MMClips>0</MMClips>
  <ScaleCrop>false</ScaleCrop>
  <HeadingPairs>
    <vt:vector size="6" baseType="variant">
      <vt:variant>
        <vt:lpstr>已用的字体</vt:lpstr>
      </vt:variant>
      <vt:variant>
        <vt:i4>18</vt:i4>
      </vt:variant>
      <vt:variant>
        <vt:lpstr>主题</vt:lpstr>
      </vt:variant>
      <vt:variant>
        <vt:i4>7</vt:i4>
      </vt:variant>
      <vt:variant>
        <vt:lpstr>幻灯片标题</vt:lpstr>
      </vt:variant>
      <vt:variant>
        <vt:i4>19</vt:i4>
      </vt:variant>
    </vt:vector>
  </HeadingPairs>
  <TitlesOfParts>
    <vt:vector size="44" baseType="lpstr">
      <vt:lpstr>Arial</vt:lpstr>
      <vt:lpstr>宋体</vt:lpstr>
      <vt:lpstr>Wingdings</vt:lpstr>
      <vt:lpstr>Arial</vt:lpstr>
      <vt:lpstr>Calibri</vt:lpstr>
      <vt:lpstr>微软雅黑</vt:lpstr>
      <vt:lpstr>黑体</vt:lpstr>
      <vt:lpstr>等线</vt:lpstr>
      <vt:lpstr>Songti SC</vt:lpstr>
      <vt:lpstr>Segoe Print</vt:lpstr>
      <vt:lpstr>Wingdings</vt:lpstr>
      <vt:lpstr>Noto Sans SC</vt:lpstr>
      <vt:lpstr>楷体</vt:lpstr>
      <vt:lpstr>微软雅黑</vt:lpstr>
      <vt:lpstr>Wingdings</vt:lpstr>
      <vt:lpstr>Arial Unicode MS</vt:lpstr>
      <vt:lpstr>Calibri</vt:lpstr>
      <vt:lpstr>Songti SC</vt:lpstr>
      <vt:lpstr>Office 主题​​</vt:lpstr>
      <vt:lpstr>默认主题</vt:lpstr>
      <vt:lpstr>1_默认主题</vt:lpstr>
      <vt:lpstr>2_默认主题</vt:lpstr>
      <vt:lpstr>5_默认主题</vt:lpstr>
      <vt:lpstr>7_默认主题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Qi</cp:lastModifiedBy>
  <cp:revision>13</cp:revision>
  <dcterms:created xsi:type="dcterms:W3CDTF">2026-06-10T06:27:00Z</dcterms:created>
  <dcterms:modified xsi:type="dcterms:W3CDTF">2026-06-11T07:15:18Z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{"Label":"1","ContentProducer":"001191110102MACQD9K64010000","ProduceID":"7649292823612722118","ReservedCode1":"","ContentPropagator":"","PropagateID":"","ReservedCode2":""}</vt:lpwstr>
  </property>
  <property fmtid="{D5CDD505-2E9C-101B-9397-08002B2CF9AE}" pid="3" name="KSOProductBuildVer">
    <vt:lpwstr>2052-12.1.0.26375</vt:lpwstr>
  </property>
  <property fmtid="{D5CDD505-2E9C-101B-9397-08002B2CF9AE}" pid="4" name="ICV">
    <vt:lpwstr>1842127314504B0CB836181D344FABEF_12</vt:lpwstr>
  </property>
</Properties>
</file>