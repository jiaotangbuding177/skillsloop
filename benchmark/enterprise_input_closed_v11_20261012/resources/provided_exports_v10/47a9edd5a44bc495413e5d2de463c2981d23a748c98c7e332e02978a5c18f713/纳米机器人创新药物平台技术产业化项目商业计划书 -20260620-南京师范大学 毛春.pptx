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0" r:id="rId4"/>
  </p:sldMasterIdLst>
  <p:notesMasterIdLst>
    <p:notesMasterId r:id="rId6"/>
  </p:notesMasterIdLst>
  <p:handoutMasterIdLst>
    <p:handoutMasterId r:id="rId34"/>
  </p:handoutMasterIdLst>
  <p:sldIdLst>
    <p:sldId id="1711" r:id="rId5"/>
    <p:sldId id="1899" r:id="rId7"/>
    <p:sldId id="2082" r:id="rId8"/>
    <p:sldId id="2090" r:id="rId9"/>
    <p:sldId id="2083" r:id="rId10"/>
    <p:sldId id="2085" r:id="rId11"/>
    <p:sldId id="2084" r:id="rId12"/>
    <p:sldId id="2089" r:id="rId13"/>
    <p:sldId id="2086" r:id="rId14"/>
    <p:sldId id="2087" r:id="rId15"/>
    <p:sldId id="2088" r:id="rId16"/>
    <p:sldId id="2091" r:id="rId17"/>
    <p:sldId id="2092" r:id="rId18"/>
    <p:sldId id="2093" r:id="rId19"/>
    <p:sldId id="2095" r:id="rId20"/>
    <p:sldId id="2094" r:id="rId21"/>
    <p:sldId id="2096" r:id="rId22"/>
    <p:sldId id="2098" r:id="rId23"/>
    <p:sldId id="2097" r:id="rId24"/>
    <p:sldId id="2099" r:id="rId25"/>
    <p:sldId id="2100" r:id="rId26"/>
    <p:sldId id="2101" r:id="rId27"/>
    <p:sldId id="2102" r:id="rId28"/>
    <p:sldId id="2103" r:id="rId29"/>
    <p:sldId id="2104" r:id="rId30"/>
    <p:sldId id="1974" r:id="rId31"/>
    <p:sldId id="2105" r:id="rId32"/>
    <p:sldId id="1609" r:id="rId33"/>
  </p:sldIdLst>
  <p:sldSz cx="12192000" cy="6858000"/>
  <p:notesSz cx="6858000" cy="9144000"/>
  <p:custDataLst>
    <p:tags r:id="rId3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6" userDrawn="1">
          <p15:clr>
            <a:srgbClr val="A4A3A4"/>
          </p15:clr>
        </p15:guide>
        <p15:guide id="2" pos="401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  <p:cmAuthor id="2" name="shao" initials="p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2060"/>
    <a:srgbClr val="CCC1DA"/>
    <a:srgbClr val="FAF81A"/>
    <a:srgbClr val="576387"/>
    <a:srgbClr val="7192D5"/>
    <a:srgbClr val="92DC6E"/>
    <a:srgbClr val="4CF4A3"/>
    <a:srgbClr val="C2E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88" autoAdjust="0"/>
    <p:restoredTop sz="96387" autoAdjust="0"/>
  </p:normalViewPr>
  <p:slideViewPr>
    <p:cSldViewPr showGuides="1">
      <p:cViewPr varScale="1">
        <p:scale>
          <a:sx n="87" d="100"/>
          <a:sy n="87" d="100"/>
        </p:scale>
        <p:origin x="1013" y="77"/>
      </p:cViewPr>
      <p:guideLst>
        <p:guide orient="horz" pos="1716"/>
        <p:guide pos="401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9" Type="http://schemas.openxmlformats.org/officeDocument/2006/relationships/tags" Target="tags/tag54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0180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15365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0D5989B-F4B8-4B0A-B004-F98385050F0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B404A704-5C44-47C9-B02A-1589A84173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4A704-5C44-47C9-B02A-1589A84173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方正舒体" panose="02010601030101010101" pitchFamily="2" charset="-122"/>
              </a:defRPr>
            </a:lvl9pPr>
          </a:lstStyle>
          <a:p>
            <a:fld id="{BC9B2E84-1263-4777-BFEF-8EA35C362580}" type="slidenum">
              <a:rPr lang="zh-CN" altLang="en-US" sz="1200">
                <a:ea typeface="微软雅黑" panose="020B0503020204020204" pitchFamily="34" charset="-122"/>
              </a:rPr>
            </a:fld>
            <a:endParaRPr lang="zh-CN" altLang="en-US" sz="12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4300" y="3533775"/>
            <a:ext cx="6883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组合 16"/>
          <p:cNvGrpSpPr/>
          <p:nvPr/>
        </p:nvGrpSpPr>
        <p:grpSpPr bwMode="auto">
          <a:xfrm>
            <a:off x="3780367" y="-12700"/>
            <a:ext cx="4631267" cy="1428750"/>
            <a:chOff x="3204240" y="276224"/>
            <a:chExt cx="2606010" cy="1429002"/>
          </a:xfrm>
        </p:grpSpPr>
        <p:sp>
          <p:nvSpPr>
            <p:cNvPr id="6" name="椭圆 5"/>
            <p:cNvSpPr>
              <a:spLocks noChangeArrowheads="1"/>
            </p:cNvSpPr>
            <p:nvPr/>
          </p:nvSpPr>
          <p:spPr bwMode="auto">
            <a:xfrm>
              <a:off x="3204240" y="1054236"/>
              <a:ext cx="651503" cy="650990"/>
            </a:xfrm>
            <a:prstGeom prst="ellipse">
              <a:avLst/>
            </a:prstGeom>
            <a:solidFill>
              <a:srgbClr val="ADB6C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3204240" y="276224"/>
              <a:ext cx="651503" cy="1103508"/>
            </a:xfrm>
            <a:prstGeom prst="rect">
              <a:avLst/>
            </a:prstGeom>
            <a:solidFill>
              <a:srgbClr val="ADB6C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椭圆 7"/>
            <p:cNvSpPr>
              <a:spLocks noChangeArrowheads="1"/>
            </p:cNvSpPr>
            <p:nvPr/>
          </p:nvSpPr>
          <p:spPr bwMode="auto">
            <a:xfrm>
              <a:off x="3855743" y="1054236"/>
              <a:ext cx="651502" cy="650990"/>
            </a:xfrm>
            <a:prstGeom prst="ellipse">
              <a:avLst/>
            </a:prstGeom>
            <a:solidFill>
              <a:srgbClr val="097FC8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" name="矩形 8"/>
            <p:cNvSpPr>
              <a:spLocks noChangeArrowheads="1"/>
            </p:cNvSpPr>
            <p:nvPr/>
          </p:nvSpPr>
          <p:spPr bwMode="auto">
            <a:xfrm>
              <a:off x="3855743" y="276224"/>
              <a:ext cx="651502" cy="1103508"/>
            </a:xfrm>
            <a:prstGeom prst="rect">
              <a:avLst/>
            </a:prstGeom>
            <a:solidFill>
              <a:srgbClr val="097FC8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/>
            <p:cNvSpPr>
              <a:spLocks noChangeArrowheads="1"/>
            </p:cNvSpPr>
            <p:nvPr/>
          </p:nvSpPr>
          <p:spPr bwMode="auto">
            <a:xfrm>
              <a:off x="4507245" y="1054236"/>
              <a:ext cx="651503" cy="650990"/>
            </a:xfrm>
            <a:prstGeom prst="ellipse">
              <a:avLst/>
            </a:prstGeom>
            <a:solidFill>
              <a:srgbClr val="CBD1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" name="矩形 10"/>
            <p:cNvSpPr>
              <a:spLocks noChangeArrowheads="1"/>
            </p:cNvSpPr>
            <p:nvPr/>
          </p:nvSpPr>
          <p:spPr bwMode="auto">
            <a:xfrm>
              <a:off x="4507245" y="276224"/>
              <a:ext cx="651503" cy="1103508"/>
            </a:xfrm>
            <a:prstGeom prst="rect">
              <a:avLst/>
            </a:prstGeom>
            <a:solidFill>
              <a:srgbClr val="CBD1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椭圆 11"/>
            <p:cNvSpPr>
              <a:spLocks noChangeArrowheads="1"/>
            </p:cNvSpPr>
            <p:nvPr/>
          </p:nvSpPr>
          <p:spPr bwMode="auto">
            <a:xfrm>
              <a:off x="5158748" y="1054236"/>
              <a:ext cx="651502" cy="650990"/>
            </a:xfrm>
            <a:prstGeom prst="ellipse">
              <a:avLst/>
            </a:prstGeom>
            <a:solidFill>
              <a:srgbClr val="1A1D1F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/>
          </p:nvSpPr>
          <p:spPr bwMode="auto">
            <a:xfrm>
              <a:off x="5158748" y="276224"/>
              <a:ext cx="651502" cy="1103508"/>
            </a:xfrm>
            <a:prstGeom prst="rect">
              <a:avLst/>
            </a:prstGeom>
            <a:solidFill>
              <a:srgbClr val="1A1D1F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6400" y="2190920"/>
            <a:ext cx="10342800" cy="1202400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53743" y="3533720"/>
            <a:ext cx="6884515" cy="499660"/>
          </a:xfrm>
          <a:prstGeom prst="rect">
            <a:avLst/>
          </a:prstGeom>
          <a:noFill/>
        </p:spPr>
        <p:txBody>
          <a:bodyPr anchor="ctr" anchorCtr="0"/>
          <a:lstStyle>
            <a:lvl1pPr marL="0" indent="0" algn="ctr">
              <a:buNone/>
              <a:defRPr sz="240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64431-5C81-48A4-B91D-D7552F73977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</a:defRPr>
            </a:lvl1pPr>
            <a:lvl2pPr>
              <a:defRPr sz="1500" b="0" baseline="0"/>
            </a:lvl2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2"/>
            <a:r>
              <a:rPr lang="zh-CN" altLang="en-US" noProof="1"/>
              <a:t>第二级</a:t>
            </a:r>
            <a:endParaRPr lang="en-US" altLang="zh-CN" noProof="1"/>
          </a:p>
          <a:p>
            <a:pPr lvl="3"/>
            <a:r>
              <a:rPr lang="zh-CN" altLang="en-US" noProof="1"/>
              <a:t>第三级</a:t>
            </a:r>
            <a:endParaRPr lang="en-US" altLang="zh-CN" noProof="1"/>
          </a:p>
          <a:p>
            <a:pPr lvl="4"/>
            <a:r>
              <a:rPr lang="zh-CN" altLang="en-US" noProof="1"/>
              <a:t>第四级</a:t>
            </a:r>
            <a:endParaRPr lang="en-US" altLang="zh-CN" noProof="1"/>
          </a:p>
          <a:p>
            <a:pPr lvl="5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73AF5-6487-40F0-A384-9C56BA91B3B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Others_1"/>
          <p:cNvSpPr/>
          <p:nvPr/>
        </p:nvSpPr>
        <p:spPr>
          <a:xfrm>
            <a:off x="2830129" y="3023770"/>
            <a:ext cx="6630956" cy="19529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  <a:effectLst>
            <a:innerShdw blurRad="114300">
              <a:prstClr val="black">
                <a:alpha val="2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zh-CN" altLang="en-US" sz="2000" noProof="1"/>
          </a:p>
        </p:txBody>
      </p:sp>
      <p:sp>
        <p:nvSpPr>
          <p:cNvPr id="5" name="MH_Others_2"/>
          <p:cNvSpPr/>
          <p:nvPr/>
        </p:nvSpPr>
        <p:spPr>
          <a:xfrm>
            <a:off x="2730916" y="2180404"/>
            <a:ext cx="1139979" cy="843366"/>
          </a:xfrm>
          <a:prstGeom prst="roundRect">
            <a:avLst/>
          </a:prstGeom>
          <a:noFill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9600" b="1" noProof="1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innerShdw blurRad="63500">
                    <a:prstClr val="black">
                      <a:alpha val="20000"/>
                    </a:prstClr>
                  </a:innerShdw>
                </a:effectLst>
                <a:latin typeface="Arial" panose="020B0604020202020204" pitchFamily="34" charset="0"/>
              </a:rPr>
              <a:t>C</a:t>
            </a:r>
            <a:endParaRPr lang="zh-CN" altLang="en-US" sz="9600" b="1" noProof="1">
              <a:solidFill>
                <a:schemeClr val="accent1">
                  <a:lumMod val="40000"/>
                  <a:lumOff val="60000"/>
                </a:schemeClr>
              </a:solidFill>
              <a:effectLst>
                <a:innerShdw blurRad="63500">
                  <a:prstClr val="black">
                    <a:alpha val="20000"/>
                  </a:prstClr>
                </a:innerShdw>
              </a:effectLst>
              <a:ea typeface="宋体" panose="02010600030101010101" pitchFamily="2" charset="-122"/>
            </a:endParaRPr>
          </a:p>
        </p:txBody>
      </p:sp>
      <p:sp>
        <p:nvSpPr>
          <p:cNvPr id="6" name="MH_Others_3"/>
          <p:cNvSpPr txBox="1">
            <a:spLocks noChangeArrowheads="1"/>
          </p:cNvSpPr>
          <p:nvPr/>
        </p:nvSpPr>
        <p:spPr bwMode="auto">
          <a:xfrm flipH="1">
            <a:off x="3591984" y="2668588"/>
            <a:ext cx="2770716" cy="409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zh-CN" sz="2800" spc="200" noProof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t>HAPTER</a:t>
            </a:r>
            <a:endParaRPr lang="zh-CN" altLang="en-US" sz="4400" spc="200" noProof="1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KSO_ST1"/>
          <p:cNvSpPr>
            <a:spLocks noGrp="1"/>
          </p:cNvSpPr>
          <p:nvPr>
            <p:ph type="title"/>
          </p:nvPr>
        </p:nvSpPr>
        <p:spPr>
          <a:xfrm>
            <a:off x="3870895" y="3384000"/>
            <a:ext cx="5590191" cy="1826827"/>
          </a:xfrm>
        </p:spPr>
        <p:txBody>
          <a:bodyPr anchor="b"/>
          <a:lstStyle>
            <a:lvl1pPr algn="l">
              <a:defRPr sz="2400" b="0">
                <a:solidFill>
                  <a:schemeClr val="tx1"/>
                </a:solidFill>
                <a:effectLst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KSO_ST2"/>
          <p:cNvSpPr>
            <a:spLocks noGrp="1"/>
          </p:cNvSpPr>
          <p:nvPr>
            <p:ph type="body" idx="1"/>
          </p:nvPr>
        </p:nvSpPr>
        <p:spPr>
          <a:xfrm>
            <a:off x="4056521" y="5300610"/>
            <a:ext cx="5248052" cy="509877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9C3DA-7AF6-4C90-AA12-837BF7BE6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38200" y="253738"/>
            <a:ext cx="10515600" cy="837774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838200" y="1244602"/>
            <a:ext cx="5080000" cy="49323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2"/>
            <a:r>
              <a:rPr lang="zh-CN" altLang="en-US" noProof="1"/>
              <a:t>第二级</a:t>
            </a:r>
            <a:endParaRPr lang="en-US" altLang="zh-CN" noProof="1"/>
          </a:p>
          <a:p>
            <a:pPr lvl="3"/>
            <a:r>
              <a:rPr lang="zh-CN" altLang="en-US" noProof="1"/>
              <a:t>第三级</a:t>
            </a:r>
            <a:endParaRPr lang="en-US" altLang="zh-CN" noProof="1"/>
          </a:p>
          <a:p>
            <a:pPr lvl="4"/>
            <a:r>
              <a:rPr lang="zh-CN" altLang="en-US" noProof="1"/>
              <a:t>第四级</a:t>
            </a:r>
            <a:endParaRPr lang="en-US" altLang="zh-CN" noProof="1"/>
          </a:p>
          <a:p>
            <a:pPr lvl="5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259684" y="1244603"/>
            <a:ext cx="5094116" cy="49323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2"/>
            <a:r>
              <a:rPr lang="zh-CN" altLang="en-US" noProof="1"/>
              <a:t>第二级</a:t>
            </a:r>
            <a:endParaRPr lang="en-US" altLang="zh-CN" noProof="1"/>
          </a:p>
          <a:p>
            <a:pPr lvl="3"/>
            <a:r>
              <a:rPr lang="zh-CN" altLang="en-US" noProof="1"/>
              <a:t>第三级</a:t>
            </a:r>
            <a:endParaRPr lang="en-US" altLang="zh-CN" noProof="1"/>
          </a:p>
          <a:p>
            <a:pPr lvl="4"/>
            <a:r>
              <a:rPr lang="zh-CN" altLang="en-US" noProof="1"/>
              <a:t>第四级</a:t>
            </a:r>
            <a:endParaRPr lang="en-US" altLang="zh-CN" noProof="1"/>
          </a:p>
          <a:p>
            <a:pPr lvl="5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00A18-E120-473D-B984-47DC00FAF91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2pPr marL="450850" indent="-214630"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 marL="363855" indent="-214630"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579DC2-1831-47EE-A522-5E152332AE9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3111500" y="2936875"/>
            <a:ext cx="3083984" cy="23114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/>
          </a:p>
        </p:txBody>
      </p:sp>
      <p:sp>
        <p:nvSpPr>
          <p:cNvPr id="5" name="椭圆 4"/>
          <p:cNvSpPr/>
          <p:nvPr/>
        </p:nvSpPr>
        <p:spPr>
          <a:xfrm>
            <a:off x="7008284" y="3906838"/>
            <a:ext cx="1756833" cy="1317625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/>
          </a:p>
        </p:txBody>
      </p:sp>
      <p:sp>
        <p:nvSpPr>
          <p:cNvPr id="6" name="椭圆 5"/>
          <p:cNvSpPr/>
          <p:nvPr/>
        </p:nvSpPr>
        <p:spPr>
          <a:xfrm>
            <a:off x="7897284" y="3624263"/>
            <a:ext cx="1183216" cy="889000"/>
          </a:xfrm>
          <a:prstGeom prst="ellipse">
            <a:avLst/>
          </a:prstGeom>
          <a:solidFill>
            <a:schemeClr val="accent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/>
          </a:p>
        </p:txBody>
      </p:sp>
      <p:sp>
        <p:nvSpPr>
          <p:cNvPr id="7" name="椭圆 14"/>
          <p:cNvSpPr/>
          <p:nvPr/>
        </p:nvSpPr>
        <p:spPr>
          <a:xfrm>
            <a:off x="3539067" y="1268413"/>
            <a:ext cx="5403851" cy="4052887"/>
          </a:xfrm>
          <a:prstGeom prst="ellipse">
            <a:avLst/>
          </a:prstGeom>
          <a:solidFill>
            <a:schemeClr val="accent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en-US" altLang="zh-CN" sz="4800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3955093" y="2239496"/>
            <a:ext cx="4572000" cy="1506776"/>
          </a:xfrm>
        </p:spPr>
        <p:txBody>
          <a:bodyPr wrap="none"/>
          <a:lstStyle>
            <a:lvl1pPr algn="ctr">
              <a:defRPr sz="4950" b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13" name="内容占位符 12"/>
          <p:cNvSpPr>
            <a:spLocks noGrp="1"/>
          </p:cNvSpPr>
          <p:nvPr>
            <p:ph sz="quarter" idx="13"/>
          </p:nvPr>
        </p:nvSpPr>
        <p:spPr>
          <a:xfrm>
            <a:off x="3955093" y="3759898"/>
            <a:ext cx="4572000" cy="592798"/>
          </a:xfrm>
        </p:spPr>
        <p:txBody>
          <a:bodyPr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DEF48-C3F5-4C2E-A931-BF6B46DA4F0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AF35D-6B34-43ED-B1A4-2E7CAFD9D19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711200"/>
            <a:ext cx="4262400" cy="160020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52521" y="733425"/>
            <a:ext cx="59712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311400"/>
            <a:ext cx="4262400" cy="3811588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9D12A-C2DE-407E-9566-194A24AD2B0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89" y="327024"/>
            <a:ext cx="1182511" cy="592346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838200" y="327025"/>
            <a:ext cx="9149219" cy="592346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2"/>
            <a:r>
              <a:rPr lang="zh-CN" altLang="en-US" noProof="1"/>
              <a:t>第二级</a:t>
            </a:r>
            <a:endParaRPr lang="en-US" altLang="zh-CN" noProof="1"/>
          </a:p>
          <a:p>
            <a:pPr lvl="3"/>
            <a:r>
              <a:rPr lang="zh-CN" altLang="en-US" noProof="1"/>
              <a:t>第三级</a:t>
            </a:r>
            <a:endParaRPr lang="en-US" altLang="zh-CN" noProof="1"/>
          </a:p>
          <a:p>
            <a:pPr lvl="4"/>
            <a:r>
              <a:rPr lang="zh-CN" altLang="en-US" noProof="1"/>
              <a:t>第四级</a:t>
            </a:r>
            <a:endParaRPr lang="en-US" altLang="zh-CN" noProof="1"/>
          </a:p>
          <a:p>
            <a:pPr lvl="5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6FAFF-D97E-430E-9E7B-0E424D16511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199" y="266700"/>
            <a:ext cx="10515601" cy="59336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2"/>
            <a:r>
              <a:rPr lang="zh-CN" altLang="en-US" noProof="1"/>
              <a:t>第二级</a:t>
            </a:r>
            <a:endParaRPr lang="en-US" altLang="zh-CN" noProof="1"/>
          </a:p>
          <a:p>
            <a:pPr lvl="3"/>
            <a:r>
              <a:rPr lang="zh-CN" altLang="en-US" noProof="1"/>
              <a:t>第三级</a:t>
            </a:r>
            <a:endParaRPr lang="en-US" altLang="zh-CN" noProof="1"/>
          </a:p>
          <a:p>
            <a:pPr lvl="4"/>
            <a:r>
              <a:rPr lang="zh-CN" altLang="en-US" noProof="1"/>
              <a:t>第四级</a:t>
            </a:r>
            <a:endParaRPr lang="en-US" altLang="zh-CN" noProof="1"/>
          </a:p>
          <a:p>
            <a:pPr lvl="5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3" name="KSO_FD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F62F2-DE68-4421-810C-22EC22D41CB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83267" y="2852738"/>
            <a:ext cx="8879417" cy="792162"/>
          </a:xfrm>
        </p:spPr>
        <p:txBody>
          <a:bodyPr/>
          <a:lstStyle>
            <a:lvl1pPr algn="ctr">
              <a:defRPr sz="4400"/>
            </a:lvl1pPr>
          </a:lstStyle>
          <a:p>
            <a:pPr lvl="0"/>
            <a:r>
              <a:rPr lang="zh-CN" altLang="en-US" noProof="0">
                <a:sym typeface="Arial" panose="020B0604020202020204" pitchFamily="34" charset="0"/>
              </a:rPr>
              <a:t>单击此处编辑母版标题样式</a:t>
            </a:r>
            <a:endParaRPr lang="zh-CN" altLang="zh-CN" noProof="0" dirty="0">
              <a:sym typeface="Arial" panose="020B0604020202020204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83267" y="3644900"/>
            <a:ext cx="8879417" cy="576188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rgbClr val="7BC489"/>
                </a:solidFill>
              </a:defRPr>
            </a:lvl1pPr>
          </a:lstStyle>
          <a:p>
            <a:pPr lvl="0"/>
            <a:r>
              <a:rPr lang="zh-CN" altLang="zh-CN" noProof="0" dirty="0">
                <a:sym typeface="Arial" panose="020B0604020202020204" pitchFamily="34" charset="0"/>
              </a:rPr>
              <a:t>单击此处编辑母版副标题样式</a:t>
            </a:r>
            <a:endParaRPr lang="zh-CN" altLang="zh-CN" noProof="0" dirty="0">
              <a:sym typeface="Arial" panose="020B0604020202020204" pitchFamily="34" charset="0"/>
            </a:endParaRP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3DC8F-9F01-4B89-9F70-B1AD966EC5E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67" y="1269999"/>
            <a:ext cx="10286933" cy="723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77304"/>
            <a:ext cx="10972800" cy="3888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B198E-6418-422E-8D9F-27B2470239D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D14BB-6F46-4510-8C34-7D2F9DF780F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 descr="#wm#_43_21_*Z"/>
          <p:cNvGrpSpPr/>
          <p:nvPr/>
        </p:nvGrpSpPr>
        <p:grpSpPr bwMode="auto">
          <a:xfrm>
            <a:off x="1200151" y="977900"/>
            <a:ext cx="2061633" cy="1152525"/>
            <a:chOff x="0" y="0"/>
            <a:chExt cx="2436" cy="1814"/>
          </a:xfrm>
        </p:grpSpPr>
        <p:sp>
          <p:nvSpPr>
            <p:cNvPr id="6" name="Rectangle 4" descr="#wm#_43_21_*Z"/>
            <p:cNvSpPr>
              <a:spLocks noChangeArrowheads="1"/>
            </p:cNvSpPr>
            <p:nvPr/>
          </p:nvSpPr>
          <p:spPr bwMode="auto">
            <a:xfrm>
              <a:off x="0" y="0"/>
              <a:ext cx="1813" cy="1814"/>
            </a:xfrm>
            <a:prstGeom prst="rect">
              <a:avLst/>
            </a:prstGeom>
            <a:noFill/>
            <a:ln w="6350">
              <a:solidFill>
                <a:srgbClr val="0E9651"/>
              </a:solidFill>
              <a:miter lim="800000"/>
            </a:ln>
          </p:spPr>
          <p:txBody>
            <a:bodyPr wrap="none"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4000">
                  <a:solidFill>
                    <a:srgbClr val="0E9651"/>
                  </a:solidFill>
                  <a:latin typeface="Arial" panose="020B0604020202020204" pitchFamily="34" charset="0"/>
                </a:rPr>
                <a:t> </a:t>
              </a:r>
              <a:endParaRPr lang="en-US" altLang="zh-CN" sz="4000">
                <a:solidFill>
                  <a:srgbClr val="0E965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Rectangle 5" descr="#wm#_43_21_*Z"/>
            <p:cNvSpPr>
              <a:spLocks noChangeArrowheads="1"/>
            </p:cNvSpPr>
            <p:nvPr/>
          </p:nvSpPr>
          <p:spPr bwMode="auto">
            <a:xfrm>
              <a:off x="1303" y="340"/>
              <a:ext cx="1133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>
                <a:solidFill>
                  <a:srgbClr val="0E965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64320" y="2568864"/>
            <a:ext cx="3748800" cy="32364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defRPr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defRPr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defRPr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71669" y="2568864"/>
            <a:ext cx="3748800" cy="32364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defRPr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defRPr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defRPr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261269" y="1193232"/>
            <a:ext cx="8059200" cy="7236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9D6EE-B76F-4ECC-A242-86BE6E2E3E7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67" y="908720"/>
            <a:ext cx="10060451" cy="78196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80CF4-5A8A-46B8-9D9C-674A5C229AD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/>
          <p:nvPr/>
        </p:nvGrpSpPr>
        <p:grpSpPr bwMode="auto">
          <a:xfrm>
            <a:off x="7152217" y="4076700"/>
            <a:ext cx="5039783" cy="2752725"/>
            <a:chOff x="0" y="0"/>
            <a:chExt cx="5942" cy="4337"/>
          </a:xfrm>
        </p:grpSpPr>
        <p:sp>
          <p:nvSpPr>
            <p:cNvPr id="4" name="AutoShape 5" descr="#wm#_43_31_*Z"/>
            <p:cNvSpPr>
              <a:spLocks noChangeArrowheads="1"/>
            </p:cNvSpPr>
            <p:nvPr/>
          </p:nvSpPr>
          <p:spPr bwMode="auto">
            <a:xfrm rot="-5400000">
              <a:off x="3878" y="652"/>
              <a:ext cx="2719" cy="1360"/>
            </a:xfrm>
            <a:prstGeom prst="triangle">
              <a:avLst>
                <a:gd name="adj" fmla="val 50000"/>
              </a:avLst>
            </a:prstGeom>
            <a:solidFill>
              <a:srgbClr val="94DE94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" name="AutoShape 6" descr="#wm#_43_31_*Z"/>
            <p:cNvSpPr>
              <a:spLocks noChangeArrowheads="1"/>
            </p:cNvSpPr>
            <p:nvPr/>
          </p:nvSpPr>
          <p:spPr bwMode="auto">
            <a:xfrm rot="10800000">
              <a:off x="0" y="2976"/>
              <a:ext cx="2720" cy="1361"/>
            </a:xfrm>
            <a:prstGeom prst="triangle">
              <a:avLst>
                <a:gd name="adj" fmla="val 50000"/>
              </a:avLst>
            </a:prstGeom>
            <a:solidFill>
              <a:srgbClr val="8EE5C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" name="AutoShape 7" descr="#wm#_43_31_*Z"/>
            <p:cNvSpPr>
              <a:spLocks noChangeArrowheads="1"/>
            </p:cNvSpPr>
            <p:nvPr/>
          </p:nvSpPr>
          <p:spPr bwMode="auto">
            <a:xfrm rot="10800000">
              <a:off x="1565" y="1486"/>
              <a:ext cx="2718" cy="1358"/>
            </a:xfrm>
            <a:prstGeom prst="triangle">
              <a:avLst>
                <a:gd name="adj" fmla="val 50000"/>
              </a:avLst>
            </a:prstGeom>
            <a:solidFill>
              <a:srgbClr val="94DE94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" name="AutoShape 8" descr="#wm#_43_31_*Z"/>
            <p:cNvSpPr>
              <a:spLocks noChangeArrowheads="1"/>
            </p:cNvSpPr>
            <p:nvPr/>
          </p:nvSpPr>
          <p:spPr bwMode="auto">
            <a:xfrm>
              <a:off x="1567" y="2976"/>
              <a:ext cx="2718" cy="1361"/>
            </a:xfrm>
            <a:prstGeom prst="triangle">
              <a:avLst>
                <a:gd name="adj" fmla="val 50000"/>
              </a:avLst>
            </a:prstGeom>
            <a:solidFill>
              <a:srgbClr val="94DE94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" name="AutoShape 9" descr="#wm#_43_31_*Z"/>
            <p:cNvSpPr>
              <a:spLocks noChangeArrowheads="1"/>
            </p:cNvSpPr>
            <p:nvPr/>
          </p:nvSpPr>
          <p:spPr bwMode="auto">
            <a:xfrm>
              <a:off x="3167" y="1483"/>
              <a:ext cx="2718" cy="1358"/>
            </a:xfrm>
            <a:prstGeom prst="triangle">
              <a:avLst>
                <a:gd name="adj" fmla="val 50000"/>
              </a:avLst>
            </a:prstGeom>
            <a:solidFill>
              <a:srgbClr val="8EE5C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AutoShape 10" descr="#wm#_43_31_*Z"/>
            <p:cNvSpPr>
              <a:spLocks noChangeArrowheads="1"/>
            </p:cNvSpPr>
            <p:nvPr/>
          </p:nvSpPr>
          <p:spPr bwMode="auto">
            <a:xfrm rot="10800000">
              <a:off x="3167" y="2976"/>
              <a:ext cx="2718" cy="1361"/>
            </a:xfrm>
            <a:prstGeom prst="triangle">
              <a:avLst>
                <a:gd name="adj" fmla="val 50000"/>
              </a:avLst>
            </a:prstGeom>
            <a:solidFill>
              <a:srgbClr val="EBF09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83265" y="2636912"/>
            <a:ext cx="8880000" cy="1004512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9A017-A2F3-43D1-8614-C8F549A5F56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C98E55-36CF-4F67-B794-5C1E857204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 descr="#wm#_43_21_*Z"/>
          <p:cNvGrpSpPr/>
          <p:nvPr/>
        </p:nvGrpSpPr>
        <p:grpSpPr bwMode="auto">
          <a:xfrm>
            <a:off x="1200151" y="977900"/>
            <a:ext cx="2061633" cy="1152525"/>
            <a:chOff x="0" y="0"/>
            <a:chExt cx="2436" cy="1814"/>
          </a:xfrm>
        </p:grpSpPr>
        <p:sp>
          <p:nvSpPr>
            <p:cNvPr id="6" name="Rectangle 4" descr="#wm#_43_21_*Z"/>
            <p:cNvSpPr>
              <a:spLocks noChangeArrowheads="1"/>
            </p:cNvSpPr>
            <p:nvPr/>
          </p:nvSpPr>
          <p:spPr bwMode="auto">
            <a:xfrm>
              <a:off x="0" y="0"/>
              <a:ext cx="1813" cy="1814"/>
            </a:xfrm>
            <a:prstGeom prst="rect">
              <a:avLst/>
            </a:prstGeom>
            <a:noFill/>
            <a:ln w="6350">
              <a:solidFill>
                <a:srgbClr val="0E9651"/>
              </a:solidFill>
              <a:miter lim="800000"/>
            </a:ln>
          </p:spPr>
          <p:txBody>
            <a:bodyPr wrap="none"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4000">
                  <a:solidFill>
                    <a:srgbClr val="0E9651"/>
                  </a:solidFill>
                  <a:latin typeface="Arial" panose="020B0604020202020204" pitchFamily="34" charset="0"/>
                </a:rPr>
                <a:t> </a:t>
              </a:r>
              <a:endParaRPr lang="en-US" altLang="zh-CN" sz="4000">
                <a:solidFill>
                  <a:srgbClr val="0E965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Rectangle 5" descr="#wm#_43_21_*Z"/>
            <p:cNvSpPr>
              <a:spLocks noChangeArrowheads="1"/>
            </p:cNvSpPr>
            <p:nvPr/>
          </p:nvSpPr>
          <p:spPr bwMode="auto">
            <a:xfrm>
              <a:off x="1303" y="340"/>
              <a:ext cx="1133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lIns="90170" tIns="46990" rIns="90170" bIns="46990"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>
                <a:solidFill>
                  <a:srgbClr val="0E965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60661" y="2662480"/>
            <a:ext cx="6038400" cy="328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56107" y="2673856"/>
            <a:ext cx="3844800" cy="3312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61269" y="1193232"/>
            <a:ext cx="8059200" cy="7236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F9B9F-D69B-4095-B0A1-A8CC4A8C96E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936427" y="1270001"/>
            <a:ext cx="1645973" cy="5111328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70001"/>
            <a:ext cx="9134805" cy="511132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554788"/>
            <a:ext cx="2844800" cy="2587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554788"/>
            <a:ext cx="3860800" cy="2587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554788"/>
            <a:ext cx="2844800" cy="2587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FB4F2-E2E1-4FDC-8D40-48CF55B3BF8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1196751"/>
            <a:ext cx="10516800" cy="50223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C9F1A-864B-4B7C-8FFD-6893B98F429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/>
          <p:nvPr/>
        </p:nvCxnSpPr>
        <p:spPr>
          <a:xfrm>
            <a:off x="624417" y="836613"/>
            <a:ext cx="10847916" cy="0"/>
          </a:xfrm>
          <a:prstGeom prst="line">
            <a:avLst/>
          </a:prstGeom>
          <a:ln w="254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10"/>
          <p:cNvCxnSpPr/>
          <p:nvPr/>
        </p:nvCxnSpPr>
        <p:spPr>
          <a:xfrm>
            <a:off x="624417" y="908050"/>
            <a:ext cx="547158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14"/>
          <p:cNvCxnSpPr/>
          <p:nvPr/>
        </p:nvCxnSpPr>
        <p:spPr>
          <a:xfrm>
            <a:off x="719667" y="6165850"/>
            <a:ext cx="1065741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E4397-5125-45AD-9B61-31D44BBD519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D7BC-A341-4C2C-81FE-C84E020D64D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D81DE-14AE-466D-95C2-33C3967E3B0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878F5-5580-422F-8E2B-1B54682513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0D426-84E9-443D-8541-3C9EDA7578C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CA318-0FFC-4068-A65A-24C36E9025A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50F2B-2446-4BF5-8E9F-45471D0525F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48E24-9CD7-49E3-9387-F1637F38543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0F51D-5B93-4E15-86C7-8DF6922801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DED1A-0D02-4C9B-A434-C37BE56BA5B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6E2E8-A15A-40F6-9D89-24873B4D695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/>
          <p:nvPr/>
        </p:nvCxnSpPr>
        <p:spPr>
          <a:xfrm>
            <a:off x="624417" y="836613"/>
            <a:ext cx="10847916" cy="0"/>
          </a:xfrm>
          <a:prstGeom prst="line">
            <a:avLst/>
          </a:prstGeom>
          <a:ln w="254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10"/>
          <p:cNvCxnSpPr/>
          <p:nvPr/>
        </p:nvCxnSpPr>
        <p:spPr>
          <a:xfrm>
            <a:off x="624417" y="908050"/>
            <a:ext cx="547158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14"/>
          <p:cNvCxnSpPr/>
          <p:nvPr/>
        </p:nvCxnSpPr>
        <p:spPr>
          <a:xfrm>
            <a:off x="719667" y="6165850"/>
            <a:ext cx="1065741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80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EA4302F-D8E1-42F0-9E7C-AAB413792BC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7"/>
          <p:cNvCxnSpPr/>
          <p:nvPr/>
        </p:nvCxnSpPr>
        <p:spPr>
          <a:xfrm>
            <a:off x="624419" y="836613"/>
            <a:ext cx="10847916" cy="0"/>
          </a:xfrm>
          <a:prstGeom prst="line">
            <a:avLst/>
          </a:prstGeom>
          <a:ln w="254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10"/>
          <p:cNvCxnSpPr/>
          <p:nvPr/>
        </p:nvCxnSpPr>
        <p:spPr>
          <a:xfrm>
            <a:off x="624419" y="908050"/>
            <a:ext cx="547158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14"/>
          <p:cNvCxnSpPr/>
          <p:nvPr/>
        </p:nvCxnSpPr>
        <p:spPr>
          <a:xfrm>
            <a:off x="719668" y="6165850"/>
            <a:ext cx="1065741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E4397-5125-45AD-9B61-31D44BBD519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6DA56-BC55-4A16-87AE-7ACFC9FE5E90}" type="slidenum">
              <a:rPr lang="en-US" altLang="zh-CN"/>
            </a:fld>
            <a:endParaRPr lang="en-US" altLang="zh-CN"/>
          </a:p>
        </p:txBody>
      </p:sp>
      <p:sp>
        <p:nvSpPr>
          <p:cNvPr id="8" name="流程图: 数据 7"/>
          <p:cNvSpPr/>
          <p:nvPr userDrawn="1"/>
        </p:nvSpPr>
        <p:spPr>
          <a:xfrm>
            <a:off x="335360" y="150163"/>
            <a:ext cx="352811" cy="352811"/>
          </a:xfrm>
          <a:prstGeom prst="flowChartInputOutp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流程图: 数据 8"/>
          <p:cNvSpPr/>
          <p:nvPr userDrawn="1"/>
        </p:nvSpPr>
        <p:spPr>
          <a:xfrm>
            <a:off x="427888" y="257374"/>
            <a:ext cx="352811" cy="324837"/>
          </a:xfrm>
          <a:prstGeom prst="flowChartInputOutpu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 bwMode="auto">
          <a:xfrm>
            <a:off x="311276" y="692696"/>
            <a:ext cx="11546291" cy="0"/>
          </a:xfrm>
          <a:prstGeom prst="line">
            <a:avLst/>
          </a:prstGeom>
          <a:solidFill>
            <a:schemeClr val="accent1"/>
          </a:solidFill>
          <a:ln w="57150" cap="flat" cmpd="thinThick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882913" y="116632"/>
            <a:ext cx="11069737" cy="533219"/>
          </a:xfrm>
          <a:prstGeom prst="rect">
            <a:avLst/>
          </a:prstGeom>
        </p:spPr>
        <p:txBody>
          <a:bodyPr anchor="ctr" anchorCtr="0"/>
          <a:lstStyle>
            <a:lvl1pPr>
              <a:defRPr sz="21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46DA56-BC55-4A16-87AE-7ACFC9FE5E90}" type="slidenum">
              <a:rPr lang="en-US" altLang="zh-CN"/>
            </a:fld>
            <a:endParaRPr lang="en-US" altLang="zh-CN"/>
          </a:p>
        </p:txBody>
      </p:sp>
      <p:sp>
        <p:nvSpPr>
          <p:cNvPr id="8" name="流程图: 数据 7"/>
          <p:cNvSpPr/>
          <p:nvPr userDrawn="1"/>
        </p:nvSpPr>
        <p:spPr>
          <a:xfrm>
            <a:off x="335360" y="150163"/>
            <a:ext cx="352811" cy="352811"/>
          </a:xfrm>
          <a:prstGeom prst="flowChartInputOutpu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流程图: 数据 8"/>
          <p:cNvSpPr/>
          <p:nvPr userDrawn="1"/>
        </p:nvSpPr>
        <p:spPr>
          <a:xfrm>
            <a:off x="427888" y="257374"/>
            <a:ext cx="352811" cy="324837"/>
          </a:xfrm>
          <a:prstGeom prst="flowChartInputOutpu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 bwMode="auto">
          <a:xfrm>
            <a:off x="311276" y="692696"/>
            <a:ext cx="11546291" cy="0"/>
          </a:xfrm>
          <a:prstGeom prst="line">
            <a:avLst/>
          </a:prstGeom>
          <a:solidFill>
            <a:schemeClr val="accent1"/>
          </a:solidFill>
          <a:ln w="57150" cap="flat" cmpd="thinThick" algn="ctr">
            <a:solidFill>
              <a:srgbClr val="C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882913" y="116632"/>
            <a:ext cx="11069737" cy="533219"/>
          </a:xfrm>
          <a:prstGeom prst="rect">
            <a:avLst/>
          </a:prstGeom>
        </p:spPr>
        <p:txBody>
          <a:bodyPr anchor="ctr" anchorCtr="0"/>
          <a:lstStyle>
            <a:lvl1pPr>
              <a:defRPr sz="21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3.xml"/><Relationship Id="rId20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6677025"/>
            <a:ext cx="3062817" cy="193675"/>
          </a:xfrm>
          <a:prstGeom prst="rect">
            <a:avLst/>
          </a:prstGeom>
          <a:solidFill>
            <a:srgbClr val="ADB6C7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50117" y="6677025"/>
            <a:ext cx="3039533" cy="193675"/>
          </a:xfrm>
          <a:prstGeom prst="rect">
            <a:avLst/>
          </a:prstGeom>
          <a:solidFill>
            <a:srgbClr val="087AC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79067" y="6677025"/>
            <a:ext cx="3062817" cy="193675"/>
          </a:xfrm>
          <a:prstGeom prst="rect">
            <a:avLst/>
          </a:prstGeom>
          <a:solidFill>
            <a:srgbClr val="CBD1DB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129184" y="6677025"/>
            <a:ext cx="3062816" cy="193675"/>
          </a:xfrm>
          <a:prstGeom prst="rect">
            <a:avLst/>
          </a:prstGeom>
          <a:solidFill>
            <a:srgbClr val="2A323E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685800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4182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Tx/>
              <a:buNone/>
              <a:defRPr sz="1200" noProof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4182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Tx/>
              <a:buNone/>
              <a:defRPr sz="1200" noProof="1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418263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2C83C89E-80B9-4719-93FE-C195448A0217}" type="slidenum">
              <a:rPr lang="zh-CN" altLang="en-US"/>
            </a:fld>
            <a:endParaRPr lang="en-US" altLang="zh-CN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38200" y="1120775"/>
            <a:ext cx="10515600" cy="5145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2"/>
            <a:r>
              <a:rPr lang="zh-CN" altLang="en-US" noProof="1"/>
              <a:t>第二级</a:t>
            </a:r>
            <a:endParaRPr lang="en-US" altLang="zh-CN" noProof="1"/>
          </a:p>
          <a:p>
            <a:pPr lvl="3"/>
            <a:r>
              <a:rPr lang="zh-CN" altLang="en-US" noProof="1"/>
              <a:t>第三级</a:t>
            </a:r>
            <a:endParaRPr lang="en-US" altLang="zh-CN" noProof="1"/>
          </a:p>
          <a:p>
            <a:pPr lvl="4"/>
            <a:r>
              <a:rPr lang="zh-CN" altLang="en-US" noProof="1"/>
              <a:t>第四级</a:t>
            </a:r>
            <a:endParaRPr lang="en-US" altLang="zh-CN" noProof="1"/>
          </a:p>
          <a:p>
            <a:pPr lvl="5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38200" y="166688"/>
            <a:ext cx="10515600" cy="801687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271780" indent="-271780" algn="just" defTabSz="514350" rtl="0" eaLnBrk="0" fontAlgn="base" hangingPunct="0">
        <a:lnSpc>
          <a:spcPct val="110000"/>
        </a:lnSpc>
        <a:spcBef>
          <a:spcPts val="225"/>
        </a:spcBef>
        <a:spcAft>
          <a:spcPts val="225"/>
        </a:spcAft>
        <a:buClr>
          <a:schemeClr val="accent1"/>
        </a:buClr>
        <a:buSzPct val="60000"/>
        <a:buFont typeface="Wingdings" panose="05000000000000000000" pitchFamily="2" charset="2"/>
        <a:buChar char="n"/>
        <a:defRPr lang="zh-CN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14630" indent="-214630" algn="just" defTabSz="514350" rtl="0" eaLnBrk="0" fontAlgn="base" hangingPunct="0">
        <a:lnSpc>
          <a:spcPct val="120000"/>
        </a:lnSpc>
        <a:spcBef>
          <a:spcPts val="225"/>
        </a:spcBef>
        <a:spcAft>
          <a:spcPts val="225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0" fontAlgn="base" hangingPunct="0">
        <a:lnSpc>
          <a:spcPct val="90000"/>
        </a:lnSpc>
        <a:spcBef>
          <a:spcPts val="275"/>
        </a:spcBef>
        <a:spcAft>
          <a:spcPts val="225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0" fontAlgn="base" hangingPunct="0">
        <a:lnSpc>
          <a:spcPct val="90000"/>
        </a:lnSpc>
        <a:spcBef>
          <a:spcPts val="275"/>
        </a:spcBef>
        <a:spcAft>
          <a:spcPts val="225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0" fontAlgn="base" hangingPunct="0">
        <a:lnSpc>
          <a:spcPct val="90000"/>
        </a:lnSpc>
        <a:spcBef>
          <a:spcPts val="275"/>
        </a:spcBef>
        <a:spcAft>
          <a:spcPts val="225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2133600"/>
            <a:ext cx="10960100" cy="417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  <a:endParaRPr lang="zh-CN" altLang="zh-CN">
              <a:sym typeface="Arial" panose="020B0604020202020204" pitchFamily="34" charset="0"/>
            </a:endParaRP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  <a:endParaRPr lang="zh-CN" altLang="zh-CN">
              <a:sym typeface="Arial" panose="020B0604020202020204" pitchFamily="34" charset="0"/>
            </a:endParaRP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  <a:endParaRPr lang="zh-CN" altLang="zh-CN">
              <a:sym typeface="Arial" panose="020B0604020202020204" pitchFamily="34" charset="0"/>
            </a:endParaRP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  <a:endParaRPr lang="zh-CN" altLang="zh-CN">
              <a:sym typeface="Arial" panose="020B0604020202020204" pitchFamily="34" charset="0"/>
            </a:endParaRP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  <a:endParaRPr lang="zh-CN" altLang="zh-CN">
              <a:sym typeface="Arial" panose="020B0604020202020204" pitchFamily="34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524625"/>
            <a:ext cx="2844800" cy="260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100" noProof="1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524625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100" noProof="1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524625"/>
            <a:ext cx="2844800" cy="260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10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41F8A16E-7770-455D-BAD4-37579AF41CDB}" type="slidenum">
              <a:rPr lang="zh-CN" altLang="en-US"/>
            </a:fld>
            <a:endParaRPr lang="en-US" altLang="zh-CN"/>
          </a:p>
        </p:txBody>
      </p:sp>
      <p:sp>
        <p:nvSpPr>
          <p:cNvPr id="25606" name="Rectangle 2"/>
          <p:cNvSpPr>
            <a:spLocks noGrp="1" noChangeArrowheads="1"/>
          </p:cNvSpPr>
          <p:nvPr>
            <p:ph type="title" idx="9"/>
          </p:nvPr>
        </p:nvSpPr>
        <p:spPr bwMode="auto">
          <a:xfrm>
            <a:off x="2159000" y="1195388"/>
            <a:ext cx="9410700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单击此处编辑母版标题样式</a:t>
            </a:r>
            <a:endParaRPr lang="zh-CN" altLang="zh-CN"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0E9651"/>
          </a:solidFill>
          <a:latin typeface="+mj-ea"/>
          <a:ea typeface="+mj-ea"/>
          <a:cs typeface="+mj-cs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黑体" panose="02010609060101010101" pitchFamily="49" charset="-122"/>
          <a:ea typeface="黑体" panose="02010609060101010101" pitchFamily="49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黑体" panose="02010609060101010101" pitchFamily="49" charset="-122"/>
          <a:ea typeface="黑体" panose="02010609060101010101" pitchFamily="49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黑体" panose="02010609060101010101" pitchFamily="49" charset="-122"/>
          <a:ea typeface="黑体" panose="02010609060101010101" pitchFamily="49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黑体" panose="02010609060101010101" pitchFamily="49" charset="-122"/>
          <a:ea typeface="黑体" panose="02010609060101010101" pitchFamily="49" charset="-122"/>
          <a:sym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Arial" panose="020B0604020202020204" pitchFamily="34" charset="0"/>
          <a:ea typeface="黑体" panose="02010609060101010101" pitchFamily="49" charset="-122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Arial" panose="020B0604020202020204" pitchFamily="34" charset="0"/>
          <a:ea typeface="黑体" panose="02010609060101010101" pitchFamily="49" charset="-122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Arial" panose="020B0604020202020204" pitchFamily="34" charset="0"/>
          <a:ea typeface="黑体" panose="02010609060101010101" pitchFamily="49" charset="-122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E9651"/>
          </a:solidFill>
          <a:latin typeface="Arial" panose="020B0604020202020204" pitchFamily="34" charset="0"/>
          <a:ea typeface="黑体" panose="02010609060101010101" pitchFamily="49" charset="-122"/>
          <a:sym typeface="Arial" panose="020B0604020202020204" pitchFamily="34" charset="0"/>
        </a:defRPr>
      </a:lvl9pPr>
    </p:titleStyle>
    <p:bodyStyle>
      <a:lvl1pPr marL="15875" indent="-1587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ea"/>
          <a:ea typeface="+mn-ea"/>
          <a:cs typeface="+mn-cs"/>
          <a:sym typeface="Arial" panose="020B0604020202020204" pitchFamily="34" charset="0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ea"/>
          <a:ea typeface="+mn-ea"/>
          <a:cs typeface="+mn-cs"/>
          <a:sym typeface="Arial" panose="020B0604020202020204" pitchFamily="34" charset="0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ea"/>
          <a:ea typeface="+mn-ea"/>
          <a:cs typeface="+mn-cs"/>
          <a:sym typeface="Arial" panose="020B0604020202020204" pitchFamily="34" charset="0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ea"/>
          <a:ea typeface="+mn-ea"/>
          <a:cs typeface="+mn-cs"/>
          <a:sym typeface="Arial" panose="020B0604020202020204" pitchFamily="34" charset="0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ea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686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 noProof="1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 noProof="1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8BE4F99-4FFD-476E-9D16-832832008BD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9.xml"/><Relationship Id="rId4" Type="http://schemas.openxmlformats.org/officeDocument/2006/relationships/image" Target="../media/image6.png"/><Relationship Id="rId3" Type="http://schemas.openxmlformats.org/officeDocument/2006/relationships/tags" Target="../tags/tag1.xml"/><Relationship Id="rId2" Type="http://schemas.openxmlformats.org/officeDocument/2006/relationships/image" Target="../media/image5.GIF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12.png"/><Relationship Id="rId7" Type="http://schemas.openxmlformats.org/officeDocument/2006/relationships/image" Target="../media/image11.jpeg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6" Type="http://schemas.openxmlformats.org/officeDocument/2006/relationships/notesSlide" Target="../notesSlides/notesSlide2.xml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27.xml"/><Relationship Id="rId13" Type="http://schemas.openxmlformats.org/officeDocument/2006/relationships/image" Target="../media/image17.png"/><Relationship Id="rId12" Type="http://schemas.openxmlformats.org/officeDocument/2006/relationships/image" Target="../media/image16.jpeg"/><Relationship Id="rId11" Type="http://schemas.openxmlformats.org/officeDocument/2006/relationships/image" Target="../media/image15.jpeg"/><Relationship Id="rId10" Type="http://schemas.openxmlformats.org/officeDocument/2006/relationships/image" Target="../media/image1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4.xml"/><Relationship Id="rId4" Type="http://schemas.openxmlformats.org/officeDocument/2006/relationships/tags" Target="../tags/tag18.xml"/><Relationship Id="rId3" Type="http://schemas.openxmlformats.org/officeDocument/2006/relationships/image" Target="../media/image19.png"/><Relationship Id="rId2" Type="http://schemas.openxmlformats.org/officeDocument/2006/relationships/tags" Target="../tags/tag17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3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exels-photo-325185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0" y="1"/>
            <a:ext cx="12192000" cy="4324574"/>
          </a:xfrm>
          <a:prstGeom prst="rect">
            <a:avLst/>
          </a:prstGeom>
        </p:spPr>
      </p:pic>
      <p:sp useBgFill="1">
        <p:nvSpPr>
          <p:cNvPr id="6" name="矩形 5"/>
          <p:cNvSpPr/>
          <p:nvPr/>
        </p:nvSpPr>
        <p:spPr>
          <a:xfrm>
            <a:off x="0" y="-95885"/>
            <a:ext cx="12192000" cy="4516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20320" y="5596254"/>
            <a:ext cx="12232640" cy="1261745"/>
          </a:xfrm>
          <a:prstGeom prst="rect">
            <a:avLst/>
          </a:prstGeom>
          <a:solidFill>
            <a:srgbClr val="0F4C8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42110" y="3501502"/>
            <a:ext cx="9144000" cy="542925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zh-CN" altLang="en-US" sz="4335" b="1" spc="300" dirty="0">
                <a:solidFill>
                  <a:srgbClr val="0F4C83"/>
                </a:solidFill>
                <a:latin typeface="+mn-ea"/>
                <a:cs typeface="+mn-ea"/>
                <a:sym typeface="+mn-ea"/>
              </a:rPr>
              <a:t>项目负责人：毛春</a:t>
            </a:r>
            <a:r>
              <a:rPr lang="en-US" altLang="zh-CN" sz="4335" b="1" spc="300" dirty="0">
                <a:solidFill>
                  <a:srgbClr val="0F4C83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4335" b="1" spc="300" dirty="0">
                <a:solidFill>
                  <a:srgbClr val="0F4C83"/>
                </a:solidFill>
                <a:latin typeface="+mn-ea"/>
                <a:cs typeface="+mn-ea"/>
                <a:sym typeface="+mn-ea"/>
              </a:rPr>
              <a:t>博士</a:t>
            </a:r>
            <a:r>
              <a:rPr lang="en-US" altLang="zh-CN" sz="4335" b="1" spc="300" dirty="0">
                <a:solidFill>
                  <a:srgbClr val="0F4C83"/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4335" b="1" spc="300" dirty="0">
                <a:solidFill>
                  <a:srgbClr val="0F4C83"/>
                </a:solidFill>
                <a:latin typeface="+mn-ea"/>
                <a:cs typeface="+mn-ea"/>
                <a:sym typeface="+mn-ea"/>
              </a:rPr>
              <a:t>教授</a:t>
            </a:r>
            <a:endParaRPr lang="zh-CN" altLang="en-US" sz="4335" spc="300" dirty="0">
              <a:solidFill>
                <a:srgbClr val="0F4C83"/>
              </a:solidFill>
              <a:latin typeface="+mn-ea"/>
              <a:cs typeface="+mn-ea"/>
              <a:sym typeface="+mn-ea"/>
            </a:endParaRPr>
          </a:p>
          <a:p>
            <a:endParaRPr lang="zh-CN" altLang="en-US" sz="1800" spc="300" dirty="0">
              <a:solidFill>
                <a:schemeClr val="bg1"/>
              </a:solidFill>
              <a:latin typeface="+mn-ea"/>
              <a:cs typeface="+mn-ea"/>
            </a:endParaRPr>
          </a:p>
          <a:p>
            <a:endParaRPr lang="zh-CN" altLang="en-US" sz="1800" spc="3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33152" y="5739436"/>
            <a:ext cx="5044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南京师范大学</a:t>
            </a:r>
            <a:endParaRPr lang="zh-CN" altLang="en-US" sz="2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 R" panose="0002060004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73697" y="6190995"/>
            <a:ext cx="5626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800" b="1" spc="300" dirty="0">
                <a:solidFill>
                  <a:schemeClr val="bg1"/>
                </a:solidFill>
                <a:latin typeface="+mn-ea"/>
                <a:cs typeface="+mn-ea"/>
                <a:sym typeface="微软雅黑" panose="020B0503020204020204" pitchFamily="34" charset="-122"/>
              </a:rPr>
              <a:t>生物医药功能材料国家地方联合工程研究中心</a:t>
            </a:r>
            <a:endParaRPr lang="zh-CN" sz="1800" b="1" spc="300" dirty="0">
              <a:solidFill>
                <a:schemeClr val="bg1"/>
              </a:solidFill>
              <a:latin typeface="+mn-ea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42331" y="1734438"/>
            <a:ext cx="9627014" cy="1045845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zh-CN" sz="4400" b="1" spc="600" dirty="0">
                <a:solidFill>
                  <a:srgbClr val="0F4C83"/>
                </a:solidFill>
                <a:latin typeface="+mn-ea"/>
                <a:ea typeface="+mn-ea"/>
              </a:rPr>
              <a:t>重大疾病治疗用纳米机器人</a:t>
            </a:r>
            <a:br>
              <a:rPr lang="zh-CN" altLang="zh-CN" sz="4400" b="1" spc="600" dirty="0">
                <a:solidFill>
                  <a:srgbClr val="0F4C83"/>
                </a:solidFill>
                <a:latin typeface="+mn-ea"/>
                <a:ea typeface="+mn-ea"/>
              </a:rPr>
            </a:br>
            <a:r>
              <a:rPr lang="zh-CN" altLang="zh-CN" b="1" spc="600" dirty="0">
                <a:solidFill>
                  <a:srgbClr val="0F4C83"/>
                </a:solidFill>
                <a:latin typeface="+mn-ea"/>
                <a:ea typeface="+mn-ea"/>
                <a:sym typeface="+mn-ea"/>
              </a:rPr>
              <a:t>创新</a:t>
            </a:r>
            <a:r>
              <a:rPr lang="zh-CN" altLang="zh-CN" sz="4400" b="1" spc="600" dirty="0">
                <a:solidFill>
                  <a:srgbClr val="0F4C83"/>
                </a:solidFill>
                <a:latin typeface="+mn-ea"/>
                <a:ea typeface="+mn-ea"/>
              </a:rPr>
              <a:t>药物（平台</a:t>
            </a:r>
            <a:r>
              <a:rPr lang="zh-CN" altLang="zh-CN" b="1" spc="600" dirty="0">
                <a:solidFill>
                  <a:srgbClr val="0F4C83"/>
                </a:solidFill>
                <a:latin typeface="+mn-ea"/>
                <a:ea typeface="+mn-ea"/>
                <a:sym typeface="+mn-ea"/>
              </a:rPr>
              <a:t>）</a:t>
            </a:r>
            <a:r>
              <a:rPr lang="zh-CN" altLang="zh-CN" sz="4400" b="1" spc="600" dirty="0">
                <a:solidFill>
                  <a:srgbClr val="0F4C83"/>
                </a:solidFill>
                <a:latin typeface="+mn-ea"/>
                <a:ea typeface="+mn-ea"/>
              </a:rPr>
              <a:t>技术产业化项目</a:t>
            </a:r>
            <a:br>
              <a:rPr lang="en-US" altLang="zh-CN" sz="4400" spc="600" dirty="0">
                <a:solidFill>
                  <a:srgbClr val="0F4C83"/>
                </a:solidFill>
                <a:latin typeface="+mn-ea"/>
                <a:ea typeface="+mn-ea"/>
              </a:rPr>
            </a:br>
            <a:endParaRPr lang="zh-CN" altLang="en-US" sz="4400" b="1" spc="600" dirty="0">
              <a:solidFill>
                <a:srgbClr val="0F4C83"/>
              </a:solidFill>
              <a:latin typeface="+mn-ea"/>
              <a:ea typeface="+mn-ea"/>
              <a:cs typeface="阿里巴巴普惠体 B" panose="00020600040101010101" charset="-122"/>
              <a:sym typeface="+mn-ea"/>
            </a:endParaRPr>
          </a:p>
        </p:txBody>
      </p:sp>
      <p:sp>
        <p:nvSpPr>
          <p:cNvPr id="7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378551" y="1745218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1127760" y="3002280"/>
            <a:ext cx="1875790" cy="1427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41910" y="4765675"/>
            <a:ext cx="121367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2400" b="1" spc="300" dirty="0">
                <a:solidFill>
                  <a:srgbClr val="0F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2026</a:t>
            </a:r>
            <a:r>
              <a:rPr lang="zh-CN" altLang="en-US" sz="2400" b="1" spc="300" dirty="0">
                <a:solidFill>
                  <a:srgbClr val="0F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</a:t>
            </a:r>
            <a:r>
              <a:rPr lang="en-US" altLang="zh-CN" sz="2400" b="1" spc="300" dirty="0">
                <a:solidFill>
                  <a:srgbClr val="0F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2400" b="1" spc="300" dirty="0">
                <a:solidFill>
                  <a:srgbClr val="0F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</a:t>
            </a:r>
            <a:r>
              <a:rPr lang="en-US" altLang="zh-CN" sz="2400" b="1" spc="300" dirty="0">
                <a:solidFill>
                  <a:srgbClr val="0F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400" b="1" spc="300" dirty="0">
                <a:solidFill>
                  <a:srgbClr val="0F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南京</a:t>
            </a:r>
            <a:endParaRPr lang="zh-CN" altLang="en-US" sz="2400" b="1" spc="300" dirty="0">
              <a:solidFill>
                <a:srgbClr val="0F4C8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9525" y="-95250"/>
            <a:ext cx="12201525" cy="1108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对象 111"/>
          <p:cNvGraphicFramePr/>
          <p:nvPr>
            <p:custDataLst>
              <p:tags r:id="rId1"/>
            </p:custDataLst>
          </p:nvPr>
        </p:nvGraphicFramePr>
        <p:xfrm>
          <a:off x="7415530" y="1090930"/>
          <a:ext cx="1911350" cy="1654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" name="" r:id="rId2" imgW="1866900" imgH="2647950" progId="Paint.Picture">
                  <p:embed/>
                </p:oleObj>
              </mc:Choice>
              <mc:Fallback>
                <p:oleObj name="" r:id="rId2" imgW="1866900" imgH="2647950" progId="Paint.Picture">
                  <p:embed/>
                  <p:pic>
                    <p:nvPicPr>
                      <p:cNvPr id="0" name="图片 9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15530" y="1090930"/>
                        <a:ext cx="1911350" cy="1654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/>
          <p:nvPr/>
        </p:nvPicPr>
        <p:blipFill>
          <a:blip r:embed="rId4"/>
          <a:stretch>
            <a:fillRect/>
          </a:stretch>
        </p:blipFill>
        <p:spPr>
          <a:xfrm>
            <a:off x="10712450" y="4733925"/>
            <a:ext cx="1130400" cy="1620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-5080" y="85996"/>
            <a:ext cx="1219199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项目负责人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2432437" y="848794"/>
            <a:ext cx="4509693" cy="19431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9966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ts val="22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毛春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南京师范大学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教授，博导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ts val="1700"/>
              </a:lnSpc>
              <a:spcAft>
                <a:spcPts val="0"/>
              </a:spcAft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生物医药功能材料国家地方联合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ts val="1700"/>
              </a:lnSpc>
              <a:spcAft>
                <a:spcPts val="0"/>
              </a:spcAft>
              <a:buNone/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工程研究中心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主任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ts val="1700"/>
              </a:lnSpc>
              <a:spcAft>
                <a:spcPts val="0"/>
              </a:spcAft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江苏省药学会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专委会委员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auto">
              <a:lnSpc>
                <a:spcPts val="1700"/>
              </a:lnSpc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南京鼓楼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医院血管外科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特聘专家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ts val="1700"/>
              </a:lnSpc>
              <a:spcAft>
                <a:spcPts val="0"/>
              </a:spcAft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杭州市肿瘤医院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特聘专家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auto">
              <a:lnSpc>
                <a:spcPts val="1700"/>
              </a:lnSpc>
              <a:spcAft>
                <a:spcPts val="0"/>
              </a:spcAft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曾任江苏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省上市公司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科技副总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fontAlgn="auto">
              <a:lnSpc>
                <a:spcPts val="1700"/>
              </a:lnSpc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ts val="2200"/>
              </a:lnSpc>
              <a:spcAft>
                <a:spcPts val="0"/>
              </a:spcAft>
              <a:buNone/>
              <a:defRPr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173990" y="3707765"/>
            <a:ext cx="7224395" cy="318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76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auto">
              <a:lnSpc>
                <a:spcPts val="3860"/>
              </a:lnSpc>
              <a:buFont typeface="Wingdings" panose="05000000000000000000" pitchFamily="2" charset="2"/>
              <a:buChar char="u"/>
              <a:tabLst>
                <a:tab pos="447675" algn="l"/>
                <a:tab pos="447675" algn="l"/>
              </a:tabLst>
            </a:pP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提出化学驱动类纳米机器人生物安全性设计和远程靶向策略</a:t>
            </a:r>
            <a:endParaRPr lang="en-US" altLang="zh-CN" sz="19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3860"/>
              </a:lnSpc>
              <a:buFont typeface="Wingdings" panose="05000000000000000000" pitchFamily="2" charset="2"/>
              <a:buChar char="u"/>
              <a:tabLst>
                <a:tab pos="447675" algn="l"/>
                <a:tab pos="447675" algn="l"/>
              </a:tabLst>
            </a:pPr>
            <a:r>
              <a:rPr lang="zh-CN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9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Nat. Nanotechnol.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19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Sci. Adv.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等期刊上</a:t>
            </a:r>
            <a:r>
              <a:rPr lang="zh-CN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发表论文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80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余</a:t>
            </a:r>
            <a:r>
              <a:rPr lang="zh-CN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篇</a:t>
            </a:r>
            <a:endParaRPr lang="zh-CN" altLang="zh-CN" sz="19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ts val="3860"/>
              </a:lnSpc>
              <a:buFont typeface="Wingdings" panose="05000000000000000000" pitchFamily="2" charset="2"/>
              <a:buChar char="u"/>
              <a:tabLst>
                <a:tab pos="447675" algn="l"/>
                <a:tab pos="447675" algn="l"/>
              </a:tabLst>
            </a:pP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获得</a:t>
            </a:r>
            <a:r>
              <a:rPr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授权国家发明专利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20</a:t>
            </a:r>
            <a:r>
              <a:rPr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件</a:t>
            </a:r>
            <a:r>
              <a:rPr lang="zh-CN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1900" b="1" u="sng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已形成</a:t>
            </a:r>
            <a:r>
              <a:rPr lang="zh-CN" sz="1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纳米机器人核心专利群</a:t>
            </a:r>
            <a:endParaRPr lang="en-US" altLang="zh-CN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3860"/>
              </a:lnSpc>
              <a:buFont typeface="Wingdings" panose="05000000000000000000" pitchFamily="2" charset="2"/>
              <a:buChar char="u"/>
              <a:tabLst>
                <a:tab pos="447675" algn="l"/>
                <a:tab pos="447675" algn="l"/>
              </a:tabLst>
            </a:pPr>
            <a:r>
              <a:rPr lang="en-US" altLang="zh-CN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Wiley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公司出版</a:t>
            </a:r>
            <a:r>
              <a:rPr lang="zh-CN" altLang="en-US" sz="19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疾病治疗用微纳米机器人</a:t>
            </a:r>
            <a:r>
              <a:rPr lang="zh-CN" altLang="en-US" sz="19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英文专著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</a:t>
            </a:r>
            <a:endParaRPr lang="zh-CN" altLang="en-US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3860"/>
              </a:lnSpc>
              <a:buFont typeface="Wingdings" panose="05000000000000000000" pitchFamily="2" charset="2"/>
              <a:buChar char="u"/>
              <a:tabLst>
                <a:tab pos="447675" algn="l"/>
                <a:tab pos="447675" algn="l"/>
              </a:tabLst>
            </a:pP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主要负责制定</a:t>
            </a:r>
            <a:r>
              <a:rPr lang="zh-CN" altLang="en-US" sz="19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中国第一部</a:t>
            </a:r>
            <a:r>
              <a:rPr lang="zh-CN" sz="19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微纳米机器人</a:t>
            </a:r>
            <a:r>
              <a:rPr lang="zh-CN" altLang="en-US" sz="1900" b="1" u="sng" dirty="0">
                <a:solidFill>
                  <a:srgbClr val="C00000"/>
                </a:solidFill>
                <a:latin typeface="+mn-lt"/>
                <a:ea typeface="微软雅黑" panose="020B0503020204020204" pitchFamily="34" charset="-122"/>
                <a:cs typeface="Arial" panose="020B0604020202020204" pitchFamily="34" charset="0"/>
              </a:rPr>
              <a:t>团体标准</a:t>
            </a:r>
            <a:endParaRPr lang="zh-CN" altLang="en-US" sz="1900" b="1" dirty="0">
              <a:solidFill>
                <a:srgbClr val="C00000"/>
              </a:solidFill>
              <a:latin typeface="+mn-lt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fontAlgn="auto">
              <a:lnSpc>
                <a:spcPts val="3860"/>
              </a:lnSpc>
              <a:buFont typeface="Wingdings" panose="05000000000000000000" pitchFamily="2" charset="2"/>
              <a:buChar char="u"/>
              <a:tabLst>
                <a:tab pos="447675" algn="l"/>
                <a:tab pos="447675" algn="l"/>
              </a:tabLst>
            </a:pPr>
            <a:r>
              <a:rPr lang="zh-CN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主持国家及省部级项目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余项</a:t>
            </a:r>
            <a:r>
              <a:rPr lang="zh-CN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获得</a:t>
            </a:r>
            <a:r>
              <a:rPr lang="zh-CN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省部级科技奖</a:t>
            </a:r>
            <a:r>
              <a:rPr 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</a:t>
            </a: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</a:t>
            </a:r>
            <a:endParaRPr lang="zh-CN" sz="19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-5080" y="698449"/>
            <a:ext cx="12192000" cy="72000"/>
          </a:xfrm>
          <a:prstGeom prst="rect">
            <a:avLst/>
          </a:prstGeom>
          <a:solidFill>
            <a:srgbClr val="C2C2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024C89"/>
              </a:solidFill>
              <a:ea typeface="宋体" panose="02010600030101010101" pitchFamily="2" charset="-122"/>
            </a:endParaRPr>
          </a:p>
        </p:txBody>
      </p:sp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/>
          <a:lstStyle/>
          <a:p>
            <a:r>
              <a:rPr lang="en-US" altLang="zh-CN" sz="1400" b="1" dirty="0">
                <a:solidFill>
                  <a:schemeClr val="tx1"/>
                </a:solidFill>
              </a:rPr>
              <a:t>1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pic>
        <p:nvPicPr>
          <p:cNvPr id="1094481032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03285" y="4797425"/>
            <a:ext cx="1131570" cy="15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571196" name="图片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98385" y="4798060"/>
            <a:ext cx="1131570" cy="1595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6" descr="01"/>
          <p:cNvPicPr/>
          <p:nvPr/>
        </p:nvPicPr>
        <p:blipFill>
          <a:blip r:embed="rId7"/>
          <a:srcRect t="2172" b="1460"/>
          <a:stretch>
            <a:fillRect/>
          </a:stretch>
        </p:blipFill>
        <p:spPr>
          <a:xfrm>
            <a:off x="9366885" y="1114425"/>
            <a:ext cx="1234440" cy="1620000"/>
          </a:xfrm>
          <a:prstGeom prst="rect">
            <a:avLst/>
          </a:prstGeom>
        </p:spPr>
      </p:pic>
      <p:pic>
        <p:nvPicPr>
          <p:cNvPr id="13" name="图片 4"/>
          <p:cNvPicPr/>
          <p:nvPr/>
        </p:nvPicPr>
        <p:blipFill>
          <a:blip r:embed="rId8"/>
          <a:srcRect l="4795" t="3816" r="6530" b="3553"/>
          <a:stretch>
            <a:fillRect/>
          </a:stretch>
        </p:blipFill>
        <p:spPr>
          <a:xfrm>
            <a:off x="10601325" y="1087755"/>
            <a:ext cx="1233805" cy="1650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518641" name="图片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27235" y="4773295"/>
            <a:ext cx="1131570" cy="1620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447039" name="图片 1"/>
          <p:cNvPicPr/>
          <p:nvPr/>
        </p:nvPicPr>
        <p:blipFill>
          <a:blip r:embed="rId10"/>
          <a:stretch>
            <a:fillRect/>
          </a:stretch>
        </p:blipFill>
        <p:spPr>
          <a:xfrm>
            <a:off x="8928100" y="3002915"/>
            <a:ext cx="1485900" cy="16198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992745" y="2366645"/>
            <a:ext cx="1461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英文专著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975850" y="2376170"/>
            <a:ext cx="13817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省部级奖项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76490" y="5958205"/>
            <a:ext cx="31578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纳米机器人核心专利群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9" name="图片 18"/>
          <p:cNvPicPr/>
          <p:nvPr/>
        </p:nvPicPr>
        <p:blipFill>
          <a:blip r:embed="rId11"/>
          <a:srcRect l="3757" t="10636" r="8379" b="12148"/>
          <a:stretch>
            <a:fillRect/>
          </a:stretch>
        </p:blipFill>
        <p:spPr>
          <a:xfrm>
            <a:off x="10442575" y="3005455"/>
            <a:ext cx="1391920" cy="162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198735" y="4245610"/>
            <a:ext cx="18808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团体标准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02290" y="5967095"/>
            <a:ext cx="12712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产业合同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57310" y="4253865"/>
            <a:ext cx="15786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研究论文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7" name="组合 6"/>
          <p:cNvGrpSpPr>
            <a:grpSpLocks noChangeAspect="1"/>
          </p:cNvGrpSpPr>
          <p:nvPr/>
        </p:nvGrpSpPr>
        <p:grpSpPr>
          <a:xfrm>
            <a:off x="7398019" y="3001744"/>
            <a:ext cx="1525322" cy="1615991"/>
            <a:chOff x="685" y="1824"/>
            <a:chExt cx="6739" cy="6852"/>
          </a:xfrm>
        </p:grpSpPr>
        <p:pic>
          <p:nvPicPr>
            <p:cNvPr id="23" name="图片 22"/>
            <p:cNvPicPr/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" y="1824"/>
              <a:ext cx="6565" cy="6852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/>
          </p:nvSpPr>
          <p:spPr>
            <a:xfrm>
              <a:off x="982" y="4102"/>
              <a:ext cx="6413" cy="9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口服</a:t>
              </a:r>
              <a:r>
                <a:rPr lang="zh-CN" altLang="en-US" sz="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天然</a:t>
              </a: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线粒体纳米机器人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85" y="7637"/>
              <a:ext cx="6739" cy="10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sz="9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N</a:t>
              </a:r>
              <a:r>
                <a:rPr sz="1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ature Nanotechnology</a:t>
              </a:r>
              <a:endParaRPr lang="zh-CN" alt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815" y="996315"/>
            <a:ext cx="1486535" cy="20110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1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摘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1030" y="1097915"/>
            <a:ext cx="1087945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项目名称：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MitoRobot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基于人工线粒体纳米机器人技术的缺血性心脏病精准治疗药物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600"/>
              </a:spcAft>
            </a:pPr>
            <a:r>
              <a:rPr lang="zh-CN" altLang="en-US" sz="24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核心产品：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一种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驱动的、可主动趋化并重构心肌细胞能量网络的纳米机器人系统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目标市场：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全球缺血性心脏病药物市场，特别针对早期缺血性心脏病患者，防止其进展到心肌梗死；也可用于</a:t>
            </a:r>
            <a:r>
              <a:rPr lang="zh-CN" altLang="en-US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急性心肌梗死再灌注治疗术后修复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融资需求：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轮融资</a:t>
            </a:r>
            <a:r>
              <a:rPr lang="zh-CN" altLang="en-US" sz="24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三千万元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人民币，用于核心技术转化、</a:t>
            </a:r>
            <a:r>
              <a:rPr 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临床试验申报</a:t>
            </a:r>
            <a:r>
              <a:rPr 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及临床一期试验验证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600"/>
              </a:spcAft>
            </a:pPr>
            <a:r>
              <a:rPr lang="zh-CN" altLang="en-US" sz="24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项目亮点：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全球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首创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将“纳米机器人主动驱动力”与“线粒体能量代谢重构”相结合，实现从“被动靶向”到“主动修复”的跨越，有望彻底逆转心肌能量匮乏这一核心病理环节。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298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景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析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1.1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景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1030" y="1097915"/>
            <a:ext cx="1087945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缺血性心脏病的本质 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是心肌细胞因缺血缺氧导致的能量代谢危机。现有治疗（药物支架、抗凝药物）主要关注血运重建，却忽视了受损线粒体这一“细胞能量工厂” 的修复。线粒体功能障碍导致活性氧（ROS）爆发、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ATP合成骤停，进而诱发细胞凋亡和纤维化，最终导致器官衰竭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本项目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提出的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人工线粒体纳米机器人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核心理念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在于：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just" eaLnBrk="1" latinLnBrk="0" hangingPunct="1"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zh-CN" altLang="en-US" sz="24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仿生驱动：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利用内源性物质作为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燃料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，驱动纳米机器人</a:t>
            </a:r>
            <a:r>
              <a:rPr lang="zh-CN" altLang="en-US" sz="2400" b="0" i="0" u="sng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主动精准靶向受损心肌并穿透组织屏障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just" eaLnBrk="1" latinLnBrk="0" hangingPunct="1"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zh-CN" altLang="en-US" sz="24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功能替代：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携带高能量官能团，进入受损心肌细胞后，部分替代并修复原有线粒体的能量合成功能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1.2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求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析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1030" y="1097915"/>
            <a:ext cx="1087945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未被满足的</a:t>
            </a: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巨大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临床需求：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缺血性心脏病发展至终末期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心力衰竭的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年死亡率高达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50%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。现有标准治疗（如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ACEI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受体阻滞剂）</a:t>
            </a:r>
            <a:r>
              <a:rPr lang="zh-CN" altLang="en-US" sz="24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仅能延缓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心室重构，</a:t>
            </a:r>
            <a:r>
              <a:rPr lang="zh-CN" altLang="en-US" sz="24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无法逆转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已受损的心肌能量代谢。临床上亟需一种能够从根本上提升心肌细胞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储备的治疗手段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技术迭代的必然性：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传统纳米药物因肝脏和脾脏的网状内皮系统截留，到达心脏靶区的效率不足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1%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。此外，由于心肌收缩力的存在，导致心肌给药难度加大。纳米机器人因其自主运动能力，已被证实可以突破上述生物屏障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1.3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户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群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体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1815" y="977265"/>
            <a:ext cx="1087945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核心终端患者：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早期</a:t>
            </a:r>
            <a:r>
              <a:rPr lang="zh-CN" altLang="en-US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缺血性心脏病患者、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急性心肌梗死再灌注治疗术后患者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（预防心衰）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医疗机构：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具备心脏介入中心和监护病房的三级甲等医院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战略客户：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研发管线中心血管布局薄弱，急需引进颠覆性技术的跨国制药企业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潜在客户：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高原中短期旅游者、高原驻军等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412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   新   亮   点   和   竞   争   优   势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术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核心技术：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驱动的人工线粒体纳米机器人创新药物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本项目的技术架构</a:t>
            </a:r>
            <a:r>
              <a:rPr 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基于人工线粒体概念和纳米机器人技术创新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，并针对缺血性心脏病治疗应用进行深度优化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仿生引擎系统</a:t>
            </a:r>
            <a:endParaRPr lang="zh-CN" altLang="en-US" sz="20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化学驱动：纳米机器人可在心肌梗死区域特殊化学物质高表达的刺激下，产生</a:t>
            </a:r>
            <a:r>
              <a:rPr 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响应并形成趋化能力，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增强纳米机器人在粘稠心肌组织中的扩散和穿透能力；同时所释放的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作为一种气体信号分子，可抑制线粒体氧化磷酸化的过度激活，减轻再灌注损伤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just" eaLnBrk="1" latinLnBrk="0" hangingPunct="1">
              <a:spcAft>
                <a:spcPts val="1200"/>
              </a:spcAft>
              <a:buClrTx/>
              <a:buSzTx/>
              <a:buFontTx/>
            </a:pPr>
            <a:r>
              <a:rPr lang="zh-CN" altLang="en-US" sz="20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人工线粒体功能模块</a:t>
            </a:r>
            <a:endParaRPr lang="zh-CN" altLang="en-US" sz="20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18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能量补给：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封装具有生物活性的</a:t>
            </a:r>
            <a:r>
              <a:rPr 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高能量官能团</a:t>
            </a:r>
            <a:r>
              <a:rPr 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化合物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，利用纳米机器人递送至受损心肌细胞。进入细胞后，一方面释放的高能量官能团可参与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生成，一方面还可修复心肌细胞能量网络</a:t>
            </a:r>
            <a:endParaRPr lang="en-US" altLang="zh-CN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1800" b="1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自由基清除：</a:t>
            </a:r>
            <a:r>
              <a:rPr lang="en-US" altLang="zh-CN" sz="20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纳米机器人</a:t>
            </a:r>
            <a:r>
              <a:rPr lang="zh-CN" altLang="en-US" sz="20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本身</a:t>
            </a:r>
            <a:r>
              <a:rPr lang="en-US" altLang="zh-CN" sz="20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ROS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清除能力，在运动过程中实时中和病灶局部过量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ROS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，保护周边健康心肌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工程化创新：协同修复的纳米机器人治疗平台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6753860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时空协同递送：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区别于单一功能的纳米粒，本系统实现了“趋化运动-靶向-能量重建治疗-清除”的时序协同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级联放大效应：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通过构建正反馈回路——当</a:t>
            </a:r>
            <a:r>
              <a:rPr lang="en-US" altLang="zh-CN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 MitoRobot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穿透多重生理屏障到达受损心脏后，能快速产生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ATP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，减轻线粒体负担，恢复细胞活性，同时减轻受损部位炎症并促进线粒体活性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——实现“1+1&gt;2”的治疗效果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325" y="1059815"/>
            <a:ext cx="3677285" cy="48126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 竞   争   优   势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43560" y="1224280"/>
          <a:ext cx="11015980" cy="4616450"/>
        </p:xfrm>
        <a:graphic>
          <a:graphicData uri="http://schemas.openxmlformats.org/drawingml/2006/table">
            <a:tbl>
              <a:tblPr/>
              <a:tblGrid>
                <a:gridCol w="1581150"/>
                <a:gridCol w="2637790"/>
                <a:gridCol w="3073400"/>
                <a:gridCol w="3723640"/>
              </a:tblGrid>
              <a:tr h="923290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传统小分子药物</a:t>
                      </a:r>
                      <a:endParaRPr lang="zh-CN" altLang="en-US" sz="2000" b="0" i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常规纳米递送系统</a:t>
                      </a:r>
                      <a:endParaRPr lang="zh-CN" altLang="en-US" sz="2000" b="0" i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1" i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本项目人工线粒体纳米机器人</a:t>
                      </a:r>
                      <a:endParaRPr lang="zh-CN" altLang="en-US" sz="2000" b="1" i="0">
                        <a:solidFill>
                          <a:srgbClr val="0070C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329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递送效率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被动扩散，全身分布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依赖</a:t>
                      </a:r>
                      <a:r>
                        <a:rPr 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被动扩散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，肝脏截留严重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主动运动，穿透力强，克服生物屏障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329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靶向精度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无特异性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无特异性</a:t>
                      </a:r>
                      <a:endParaRPr 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亚细胞器（线粒体）水平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329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治疗机制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单一信号通路阻断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药物增溶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缓释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重构能量代谢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修复受损环境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2329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生物相容性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常有肝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肾毒性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载体可能引起免疫反应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生物相容，延长循环时间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215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运营模式：技术平台化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适应症拓展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核心技术</a:t>
            </a: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平台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人工线粒体纳米机器人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技术平台，包含三大部分：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1) 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不同燃料驱动的机器人核心库（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驱动、</a:t>
            </a:r>
            <a:r>
              <a:rPr lang="en-US" altLang="zh-CN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GSH</a:t>
            </a:r>
            <a:r>
              <a:rPr lang="zh-CN" altLang="en-US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驱动等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2) 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线粒体靶向模块库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3) 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功能性生物制剂载荷库（高能量官能团化合物、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mRNA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、小分子、蛋白）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开发策略：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初期聚焦缺血性心脏病这一高价值适应症，建立临床概念验证数据。后期将平台拓展至其他线粒体功能障碍相关疾病，如</a:t>
            </a:r>
            <a:r>
              <a:rPr lang="zh-CN" altLang="en-US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骨关节炎、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神经退行性疾病（帕金森病）</a:t>
            </a:r>
            <a:r>
              <a:rPr lang="zh-CN" altLang="en-US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等疾病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</a:t>
            </a:r>
            <a:endParaRPr 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9142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第一阶段（1-2年）：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概念验证与平台搭建（已完成）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 MitoRobot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在缺血性心脏病小鼠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大鼠模型中的药效学和初步安全性评价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提交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PCT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国际专利申请（已完成）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第二阶段（3-4年）：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临床前开发与</a:t>
            </a:r>
            <a:r>
              <a:rPr lang="en-US" altLang="zh-CN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申报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开展GLP compliant的毒理学和药代动力学研究（大动物模型）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通过委外合作，完成GMP级中试放大，</a:t>
            </a:r>
            <a:r>
              <a:rPr lang="zh-CN" altLang="en-US" sz="20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建立稳定的药物质控体系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与国家药监局进行Pre-IND沟通，申请临床试验批件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第三阶段（5-8年）：</a:t>
            </a:r>
            <a:r>
              <a:rPr lang="zh-CN" altLang="en-US" sz="24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临床试验与价值兑现</a:t>
            </a: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启动I/II期临床试验，验证安全性和初步疗效（主要终点：心肌灌注改善、左心室射血分数提升等）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000" b="1" i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开展对外技术授权合作（License-out），将平台技术授权给其他疾病领域的药企</a:t>
            </a:r>
            <a:endParaRPr lang="zh-CN" altLang="en-US" sz="2000" b="1" i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025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筹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措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预算概算（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轮，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个月执行期）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852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43560" y="1024890"/>
          <a:ext cx="11046460" cy="4796155"/>
        </p:xfrm>
        <a:graphic>
          <a:graphicData uri="http://schemas.openxmlformats.org/drawingml/2006/table">
            <a:tbl>
              <a:tblPr/>
              <a:tblGrid>
                <a:gridCol w="2063750"/>
                <a:gridCol w="2073275"/>
                <a:gridCol w="1637665"/>
                <a:gridCol w="5271770"/>
              </a:tblGrid>
              <a:tr h="583565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用途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金额（万元）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占比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具体内容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678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研发与临床前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1,800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大动物模型药效实验、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GLP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毒理、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PK/PD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研究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临床一期试验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805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工艺与生产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13.4%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GMP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中试委外生成、</a:t>
                      </a:r>
                      <a:r>
                        <a:rPr 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放大生成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工艺开发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741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团队与人力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16.6%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引进纳米药剂生产、药理毒理及注册专家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678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运营与预备金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办公场地租赁、知识产权维护、差旅及不可预见费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356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3,000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endParaRPr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筹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措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9142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股权融资（A轮）：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拟出让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0%股份，募集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3000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万元。重点引入具有纳米技术或心血管领域投资经验的医疗专业基金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政府科研项目：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申请国家及省部级自然科学基金重大研究计划、科技部“纳米前沿”重点专项，争取1000-2000万元配套资金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产业合作：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与大型医药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医疗器械公司探索联合开发，获取早期研发支持资金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025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析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术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</a:t>
            </a:r>
            <a:endParaRPr 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9142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安全性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风险：纳米材料的长期体内蓄积毒性未知；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气体在心脏局部浓度不可控，可能导致血压骤降或心肌抑制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对策：开发可生物降解的有机材料；构建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按需释放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控释系统，确保仅在病变部位环境下触发释放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递送与规模化风险</a:t>
            </a:r>
            <a:endParaRPr lang="en-US" altLang="zh-CN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风险：纳米机器人的批次间一致性难以保证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对策：采用微流控技术实现纳米粒的连续化、自动化合成；开发冻干制剂处方，提高长期储存稳定性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</a:t>
            </a:r>
            <a:endParaRPr 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9142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监管与法规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风险：作为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人工线粒体</a:t>
            </a:r>
            <a:r>
              <a:rPr lang="en-US" altLang="zh-CN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纳米机器人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的组合产品，属国际首创，监管路径不明确，分类可能面临药械组合产品认定困惑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对策：早期介入，聘请具有创新药物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审评经验的法规顾问；主动寻求监管机构的科学建议，争取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快速通道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突破性疗法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资格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知识产权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</a:t>
            </a:r>
            <a:endParaRPr lang="en-US" altLang="zh-CN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风险：围绕人工线粒体、纳米机器人结构等基础专利可能存在被同业竞争者封锁的风险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对策：</a:t>
            </a:r>
            <a:r>
              <a:rPr 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国内率先申请并获批了该项目所涉及技术的国家发明专利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，并已经形成核心专利保护层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025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施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施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</a:t>
            </a:r>
            <a:endParaRPr 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9142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48005" y="965835"/>
          <a:ext cx="11061065" cy="4940300"/>
        </p:xfrm>
        <a:graphic>
          <a:graphicData uri="http://schemas.openxmlformats.org/drawingml/2006/table">
            <a:tbl>
              <a:tblPr/>
              <a:tblGrid>
                <a:gridCol w="1858010"/>
                <a:gridCol w="2644140"/>
                <a:gridCol w="6558915"/>
              </a:tblGrid>
              <a:tr h="504825"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时间节点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里程碑任务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关键产出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成果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613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1-6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个月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核心组分筛选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筛选最优</a:t>
                      </a:r>
                      <a:r>
                        <a:rPr 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条件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；确定</a:t>
                      </a:r>
                      <a:r>
                        <a:rPr lang="en-US" altLang="zh-CN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 MitoRobot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配方（已完成）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613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7-12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个月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小动物药效验证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在小鼠缺血性心脏病模型中证明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LVEF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改善、梗死面积缩小、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ATP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水平恢复</a:t>
                      </a:r>
                      <a:r>
                        <a:rPr lang="zh-CN" altLang="en-US" sz="200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（已完成）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613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13-18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个月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生产工艺锁定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完成微流控合成工艺参数优化；三批中试放大产品稳定性考察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613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19-24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个月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GLP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毒理研究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在啮齿类和非啮齿类动物中完成急毒、长毒和生殖毒性研究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4825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25-30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个月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IND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申报准备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撰写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IND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申报资料包；与国家药监局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召开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Pre-IND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会议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613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31-36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个月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临床启动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获得临床试验批件；筛选首家临床研究中心，启动</a:t>
                      </a:r>
                      <a:r>
                        <a:rPr lang="en-US" altLang="zh-CN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</a:t>
                      </a:r>
                      <a:r>
                        <a:rPr lang="zh-CN" altLang="en-US" sz="2000" b="0" i="0">
                          <a:solidFill>
                            <a:srgbClr val="0F11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期临床试验患者入组</a:t>
                      </a:r>
                      <a:endParaRPr lang="zh-CN" altLang="en-US" sz="2000" b="0" i="0">
                        <a:solidFill>
                          <a:srgbClr val="0F11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025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益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9142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近期收益（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年）：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通过技术平台授权，向神经科学、肿瘤学领域的药企输出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人工线粒体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技术，预计获得技术许可收入累计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5000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万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亿元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中期收益（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年）：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核心产品完成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II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期临床试验，数据读出后价值大幅提升。此时可选择将中国区权益以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15-18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亿元的首付款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里程碑付款转让给国内大型药企或者</a:t>
            </a:r>
            <a:r>
              <a:rPr lang="zh-CN" altLang="en-US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诺华、阿斯利康等心血管巨头药企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远期收益（</a:t>
            </a:r>
            <a:r>
              <a:rPr lang="en-US" altLang="zh-CN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年以上）：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产品成功上市，占据中国缺血性心脏病治疗市场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10%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份额，预计年销售额突破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亿元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6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425" y="977265"/>
            <a:ext cx="11090275" cy="49142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IPO退出：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目标在科创板或香港上市。参考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2025-2026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Biotech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回暖趋势，选择市场窗口期发行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en-US" altLang="zh-CN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并购退出：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项目进入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II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期临床后，成为</a:t>
            </a:r>
            <a:r>
              <a:rPr lang="zh-CN" altLang="en-US" sz="240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国内大型药企或者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诺华、阿斯利康等心血管巨头药企的理想并购标的。预计并购估值可达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15-18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亿元人民币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endParaRPr lang="zh-CN" altLang="en-US" sz="2400" b="1" i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eaLnBrk="1" latinLnBrk="0" hangingPunct="1">
              <a:spcAft>
                <a:spcPts val="1200"/>
              </a:spcAft>
            </a:pPr>
            <a:r>
              <a:rPr lang="zh-CN" altLang="en-US" sz="2400" b="1" i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股权转让：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在后续</a:t>
            </a:r>
            <a:r>
              <a:rPr lang="en-US" altLang="zh-CN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B/C</a:t>
            </a:r>
            <a:r>
              <a:rPr lang="zh-CN" altLang="en-US" sz="2400" i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轮融资中，允许早期投资者通过老股转让实现部分退出，引入产业资本接力</a:t>
            </a:r>
            <a:endParaRPr lang="zh-CN" altLang="en-US" sz="2400" i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291510" y="6480000"/>
            <a:ext cx="2743200" cy="365125"/>
          </a:xfrm>
        </p:spPr>
        <p:txBody>
          <a:bodyPr/>
          <a:lstStyle/>
          <a:p>
            <a:r>
              <a:rPr lang="en-US" altLang="zh-CN" sz="1400" b="1" dirty="0">
                <a:solidFill>
                  <a:schemeClr val="tx1"/>
                </a:solidFill>
              </a:rPr>
              <a:t>29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818464"/>
            <a:ext cx="12192000" cy="72000"/>
          </a:xfrm>
          <a:prstGeom prst="rect">
            <a:avLst/>
          </a:prstGeom>
          <a:solidFill>
            <a:srgbClr val="C2C2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024C89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305" y="967249"/>
            <a:ext cx="11216754" cy="57081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77" y="146280"/>
            <a:ext cx="12191999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defTabSz="457200" fontAlgn="auto">
              <a:lnSpc>
                <a:spcPts val="3700"/>
              </a:lnSpc>
              <a:spcBef>
                <a:spcPts val="600"/>
              </a:spcBef>
              <a:defRPr/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纳米机器人创新药物体系的先进性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457200" fontAlgn="auto">
              <a:lnSpc>
                <a:spcPts val="3700"/>
              </a:lnSpc>
              <a:spcBef>
                <a:spcPts val="600"/>
              </a:spcBef>
              <a:defRPr/>
            </a:pP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45135" y="6116955"/>
            <a:ext cx="11232000" cy="61214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突破性治疗药物  First-in-Class</a:t>
            </a:r>
            <a:r>
              <a:rPr lang="en-US" altLang="zh-CN" sz="2800" dirty="0">
                <a:solidFill>
                  <a:srgbClr val="0F4C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世界首创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55370" y="1054100"/>
            <a:ext cx="98933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我们制备的纳米机器人创新药物，拥有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最先进</a:t>
            </a: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的药物递送体系</a:t>
            </a:r>
            <a:endParaRPr lang="zh-CN" altLang="en-US" sz="2800" b="1" dirty="0">
              <a:solidFill>
                <a:srgbClr val="00206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marL="0" indent="0" algn="ctr" eaLnBrk="1" latinLnBrk="0" hangingPunct="1">
              <a:spcBef>
                <a:spcPts val="120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可实现</a:t>
            </a:r>
            <a:endParaRPr lang="zh-CN" altLang="en-US" sz="2800" b="1" dirty="0">
              <a:solidFill>
                <a:srgbClr val="00206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algn="ctr"/>
            <a:r>
              <a:rPr lang="zh-CN" altLang="en-US" sz="2400" b="1" dirty="0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提高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药物针对病变组织的靶向性</a:t>
            </a:r>
            <a:endParaRPr lang="zh-CN" altLang="en-US" sz="2400" b="1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 eaLnBrk="0" hangingPunct="0"/>
            <a:r>
              <a:rPr lang="zh-CN" altLang="en-US" sz="2400" b="1" dirty="0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提高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药物针对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病变组织的滞留率</a:t>
            </a:r>
            <a:endParaRPr lang="zh-CN" altLang="en-US" sz="2400" b="1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 eaLnBrk="0" hangingPunct="0"/>
            <a:r>
              <a:rPr lang="zh-CN" altLang="en-US" sz="2400" b="1" dirty="0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提高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药物针对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病变组织的渗透性</a:t>
            </a:r>
            <a:endParaRPr lang="zh-CN" altLang="en-US" sz="2400" b="1" dirty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algn="ctr" eaLnBrk="0" hangingPunct="0"/>
            <a:r>
              <a:rPr lang="zh-CN" altLang="en-US" sz="2400" b="1" dirty="0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提高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药物针对</a:t>
            </a:r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病变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细胞的吸收率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13" name="下箭头 79"/>
          <p:cNvSpPr/>
          <p:nvPr/>
        </p:nvSpPr>
        <p:spPr>
          <a:xfrm flipH="1">
            <a:off x="5735955" y="3696970"/>
            <a:ext cx="525145" cy="360000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5135" y="4078605"/>
            <a:ext cx="1117917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获得更好的治疗效果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我们的愿景：</a:t>
            </a: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让药物更安全、更有效</a:t>
            </a:r>
            <a:endParaRPr lang="zh-CN" altLang="en-US" sz="2400" b="1" dirty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实现精准医疗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并期待，与世界先进药企联合，建立战略联盟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一起推进并打造重大疾病治疗用纳米机器人创新药物产业高地</a:t>
            </a:r>
            <a:endParaRPr lang="zh-CN" altLang="en-US" sz="2400" b="1" dirty="0">
              <a:solidFill>
                <a:srgbClr val="00206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32" name="椭圆 31"/>
          <p:cNvSpPr/>
          <p:nvPr>
            <p:custDataLst>
              <p:tags r:id="rId1"/>
            </p:custDataLst>
          </p:nvPr>
        </p:nvSpPr>
        <p:spPr>
          <a:xfrm rot="650306">
            <a:off x="9012555" y="2187575"/>
            <a:ext cx="1404620" cy="128397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95000">
                <a:schemeClr val="accent1">
                  <a:lumMod val="40000"/>
                  <a:lumOff val="60000"/>
                </a:schemeClr>
              </a:gs>
            </a:gsLst>
            <a:lin ang="2700000" scaled="1"/>
            <a:tileRect/>
          </a:gradFill>
          <a:ln w="952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"/>
            </p:custDataLst>
          </p:nvPr>
        </p:nvSpPr>
        <p:spPr>
          <a:xfrm>
            <a:off x="9048750" y="2277110"/>
            <a:ext cx="1343025" cy="1273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药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到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病除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等腰三角形 40"/>
          <p:cNvSpPr/>
          <p:nvPr>
            <p:custDataLst>
              <p:tags r:id="rId3"/>
            </p:custDataLst>
          </p:nvPr>
        </p:nvSpPr>
        <p:spPr>
          <a:xfrm rot="5400000" flipH="1">
            <a:off x="7374008" y="2664146"/>
            <a:ext cx="2268000" cy="360000"/>
          </a:xfrm>
          <a:prstGeom prst="triangl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1000">
                <a:srgbClr val="EDF2F8"/>
              </a:gs>
              <a:gs pos="100000">
                <a:schemeClr val="bg1"/>
              </a:gs>
              <a:gs pos="48000">
                <a:schemeClr val="accent1">
                  <a:lumMod val="45000"/>
                  <a:lumOff val="55000"/>
                </a:schemeClr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4" descr="http://img3.imgtn.bdimg.com/it/u=169095664,118367087&amp;fm=26&amp;gp=0.jpg"/>
          <p:cNvSpPr>
            <a:spLocks noChangeAspect="1" noChangeArrowheads="1"/>
          </p:cNvSpPr>
          <p:nvPr/>
        </p:nvSpPr>
        <p:spPr bwMode="auto">
          <a:xfrm>
            <a:off x="264017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0" dirty="0">
              <a:ea typeface="微软雅黑" panose="020B0503020204020204" pitchFamily="34" charset="-122"/>
            </a:endParaRPr>
          </a:p>
        </p:txBody>
      </p:sp>
      <p:pic>
        <p:nvPicPr>
          <p:cNvPr id="1073742851" name="图片 1073742850"/>
          <p:cNvPicPr>
            <a:picLocks noChangeAspect="1"/>
          </p:cNvPicPr>
          <p:nvPr/>
        </p:nvPicPr>
        <p:blipFill>
          <a:blip r:embed="rId1"/>
          <a:srcRect l="917" t="4268" b="4101"/>
          <a:stretch>
            <a:fillRect/>
          </a:stretch>
        </p:blipFill>
        <p:spPr>
          <a:xfrm>
            <a:off x="263525" y="104140"/>
            <a:ext cx="537210" cy="497205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/>
            </a:outerShdw>
          </a:effectLst>
        </p:spPr>
      </p:pic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330212" y="6444614"/>
            <a:ext cx="2743200" cy="36512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lvl="0" algn="r">
              <a:buClrTx/>
              <a:buSzTx/>
            </a:pPr>
            <a:r>
              <a:rPr lang="en-US" altLang="zh-CN" sz="1400" b="1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14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170" y="930275"/>
            <a:ext cx="11216640" cy="50025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eaLnBrk="1" latinLnBrk="0" hangingPunct="1"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本项目立足于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最先进的纳米机器人技术与线粒体医学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latinLnBrk="0" hangingPunct="1"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交叉学科成果，致力于解决缺血性心脏病治疗中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latinLnBrk="0" hangingPunct="1"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最根本的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能量代谢障碍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latinLnBrk="0" hangingPunct="1"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我们诚邀具备远见卓识的投资人加入，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latinLnBrk="0" hangingPunct="1">
              <a:lnSpc>
                <a:spcPct val="15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共同开启心血管精准治疗的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纳米机器人创新药物时代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67"/>
          <p:cNvSpPr>
            <a:spLocks noChangeArrowheads="1"/>
          </p:cNvSpPr>
          <p:nvPr/>
        </p:nvSpPr>
        <p:spPr bwMode="auto">
          <a:xfrm>
            <a:off x="465261" y="5959351"/>
            <a:ext cx="11232000" cy="68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7"/>
          <p:cNvSpPr txBox="1"/>
          <p:nvPr>
            <p:custDataLst>
              <p:tags r:id="rId2"/>
            </p:custDataLst>
          </p:nvPr>
        </p:nvSpPr>
        <p:spPr>
          <a:xfrm>
            <a:off x="946150" y="188049"/>
            <a:ext cx="4123055" cy="392888"/>
          </a:xfrm>
          <a:prstGeom prst="roundRect">
            <a:avLst>
              <a:gd name="adj" fmla="val 13995"/>
            </a:avLst>
          </a:prstGeom>
          <a:gradFill flip="none" rotWithShape="1">
            <a:gsLst>
              <a:gs pos="0">
                <a:srgbClr val="1F497D">
                  <a:shade val="30000"/>
                  <a:satMod val="115000"/>
                  <a:lumMod val="95000"/>
                  <a:lumOff val="5000"/>
                </a:srgbClr>
              </a:gs>
              <a:gs pos="50000">
                <a:srgbClr val="1F497D">
                  <a:shade val="67500"/>
                  <a:satMod val="115000"/>
                  <a:lumMod val="93000"/>
                  <a:lumOff val="7000"/>
                </a:srgbClr>
              </a:gs>
              <a:gs pos="100000">
                <a:srgbClr val="1F497D">
                  <a:lumMod val="85000"/>
                  <a:lumOff val="15000"/>
                </a:srgbClr>
              </a:gs>
            </a:gsLst>
            <a:lin ang="16200000" scaled="1"/>
            <a:tileRect/>
          </a:gradFill>
          <a:ln w="28575" cap="flat" cmpd="sng" algn="ctr">
            <a:solidFill>
              <a:schemeClr val="bg1"/>
            </a:solidFill>
            <a:prstDash val="solid"/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tIns="27000" bIns="27000" rtlCol="0" anchor="ctr">
            <a:spAutoFit/>
          </a:bodyPr>
          <a:lstStyle>
            <a:defPPr>
              <a:defRPr lang="zh-CN"/>
            </a:defPPr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800" kern="0">
                <a:solidFill>
                  <a:sysClr val="window" lastClr="FFFFFF"/>
                </a:solidFill>
                <a:latin typeface="Calibri" panose="020F0502020204030204"/>
                <a:ea typeface="等线" panose="02010600030101010101" pitchFamily="2" charset="-122"/>
              </a:defRPr>
            </a:lvl1pPr>
          </a:lstStyle>
          <a:p>
            <a:pPr algn="l"/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MitoRobot</a:t>
            </a:r>
            <a:r>
              <a:rPr lang="en-US" altLang="zh-CN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项目</a:t>
            </a:r>
            <a:endParaRPr lang="zh-CN" altLang="en-US" sz="20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3080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07035" y="984250"/>
            <a:ext cx="5973445" cy="173990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8400000" algn="tr" rotWithShape="0">
              <a:prstClr val="black">
                <a:alpha val="60000"/>
              </a:prstClr>
            </a:outerShdw>
          </a:effectLst>
        </p:spPr>
        <p:txBody>
          <a:bodyPr/>
          <a:lstStyle/>
          <a:p>
            <a:pPr marL="469900" indent="-469900" algn="ctr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4800" b="1" kern="0" noProof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敬请指导与支持！</a:t>
            </a:r>
            <a:endParaRPr lang="zh-CN" altLang="en-US" sz="4800" b="1" kern="0" noProof="1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69900" indent="-469900" algn="ctr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4800" b="1" kern="0" noProof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期待携手共进！</a:t>
            </a:r>
            <a:endParaRPr lang="zh-CN" altLang="en-US" sz="4800" b="1" kern="0" noProof="1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00415" y="44450"/>
            <a:ext cx="370776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联系方式：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maochun@njnu.edu.cn</a:t>
            </a:r>
            <a:endParaRPr lang="en-US" altLang="zh-CN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endParaRPr lang="en-US" altLang="zh-CN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Tel: 13675135728 </a:t>
            </a:r>
            <a:r>
              <a:rPr lang="zh-CN" altLang="en-US" sz="1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毛春</a:t>
            </a:r>
            <a:endParaRPr lang="zh-CN" altLang="en-US" sz="1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IMING" val="|6.3|4.3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IMING" val="|6.3|4.3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IMING" val="|6.3|4.3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TIMING" val="|6.3|4.3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TIMING" val="|6.3|4.3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TIMING" val="|6.3|4.3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TIMING" val="|6.3|4.3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TIMING" val="|6.3|4.3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TIMING" val="|6.3|4.3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TIMING" val="|6.3|4.3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TIMING" val="|6.3|4.3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TIMING" val="|6.3|4.3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TIMING" val="|6.3|4.3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TIMING" val="|6.3|4.3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TIMING" val="|6.3|4.3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TIMING" val="|6.3|4.3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TIMING" val="|6.3|4.3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TIMING" val="|6.3|4.3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TIMING" val="|6.3|4.3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TIMING" val="|6.3|4.3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TIMING" val="|6.3|4.3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TIMING" val="|6.3|4.3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TIMING" val="|6.3|4.3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DIAGRAM_VIRTUALLY_FRAME" val="{&quot;height&quot;:351.8251181102362,&quot;left&quot;:31.031102362204727,&quot;top&quot;:138.8748818897638,&quot;width&quot;:892.0188976377952}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TIMING" val="|6.3|4.3"/>
</p:tagLst>
</file>

<file path=ppt/tags/tag54.xml><?xml version="1.0" encoding="utf-8"?>
<p:tagLst xmlns:p="http://schemas.openxmlformats.org/presentationml/2006/main">
  <p:tag name="KSO_WPP_MARK_KEY" val="35d4f6cd-ddb3-4584-be86-d4bcaf3a9c48"/>
  <p:tag name="COMMONDATA" val="eyJoZGlkIjoiYmU3NjQ5M2Y2MTIyYzc5ZWExODlhMWM3MTJlZmZkZjIifQ=="/>
  <p:tag name="commondata" val="eyJoZGlkIjoiMTczZDhiYzE0OTI1YzBkYTViZTc5ZWU2YTE3MTY5Y2QifQ=="/>
</p:tagLst>
</file>

<file path=ppt/theme/theme1.xml><?xml version="1.0" encoding="utf-8"?>
<a:theme xmlns:a="http://schemas.openxmlformats.org/drawingml/2006/main" name="A000120140530A99PPBG">
  <a:themeElements>
    <a:clrScheme name="KSO_BLUE3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0070C0"/>
      </a:accent1>
      <a:accent2>
        <a:srgbClr val="6A63CB"/>
      </a:accent2>
      <a:accent3>
        <a:srgbClr val="4040A2"/>
      </a:accent3>
      <a:accent4>
        <a:srgbClr val="AACC03"/>
      </a:accent4>
      <a:accent5>
        <a:srgbClr val="8542A0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_2">
  <a:themeElements>
    <a:clrScheme name="自定义 42">
      <a:dk1>
        <a:srgbClr val="000000"/>
      </a:dk1>
      <a:lt1>
        <a:srgbClr val="FFFFFF"/>
      </a:lt1>
      <a:dk2>
        <a:srgbClr val="0E9651"/>
      </a:dk2>
      <a:lt2>
        <a:srgbClr val="808080"/>
      </a:lt2>
      <a:accent1>
        <a:srgbClr val="EBF092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_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自定义设计方案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5044</Words>
  <Application>WPS 演示</Application>
  <PresentationFormat>全屏显示(4:3)</PresentationFormat>
  <Paragraphs>467</Paragraphs>
  <Slides>28</Slides>
  <Notes>30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Calibri</vt:lpstr>
      <vt:lpstr>微软雅黑</vt:lpstr>
      <vt:lpstr>Calibri</vt:lpstr>
      <vt:lpstr>黑体</vt:lpstr>
      <vt:lpstr>阿里巴巴普惠体 R</vt:lpstr>
      <vt:lpstr>阿里巴巴普惠体 B</vt:lpstr>
      <vt:lpstr>Times New Roman</vt:lpstr>
      <vt:lpstr>等线</vt:lpstr>
      <vt:lpstr>方正舒体</vt:lpstr>
      <vt:lpstr>Wingdings</vt:lpstr>
      <vt:lpstr>Arial Unicode MS</vt:lpstr>
      <vt:lpstr>华文楷体</vt:lpstr>
      <vt:lpstr>Arial</vt:lpstr>
      <vt:lpstr>A000120140530A99PPBG</vt:lpstr>
      <vt:lpstr>自定义设计方案_2</vt:lpstr>
      <vt:lpstr>1_Office 主题</vt:lpstr>
      <vt:lpstr>Paint.Picture</vt:lpstr>
      <vt:lpstr>重大疾病治疗用纳米机器人 创新药物（平台）技术产业化项目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春风化雨</cp:lastModifiedBy>
  <cp:revision>3531</cp:revision>
  <dcterms:created xsi:type="dcterms:W3CDTF">2016-06-01T10:36:00Z</dcterms:created>
  <dcterms:modified xsi:type="dcterms:W3CDTF">2026-06-15T02:54:25Z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7C0DA441402148B0A9A8DB861BA7C040</vt:lpwstr>
  </property>
</Properties>
</file>